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56" r:id="rId2"/>
    <p:sldId id="393" r:id="rId3"/>
    <p:sldId id="455" r:id="rId4"/>
    <p:sldId id="452" r:id="rId5"/>
    <p:sldId id="456" r:id="rId6"/>
    <p:sldId id="457" r:id="rId7"/>
    <p:sldId id="459" r:id="rId8"/>
    <p:sldId id="460" r:id="rId9"/>
    <p:sldId id="458" r:id="rId10"/>
    <p:sldId id="439" r:id="rId11"/>
    <p:sldId id="454" r:id="rId12"/>
    <p:sldId id="451" r:id="rId13"/>
    <p:sldId id="453" r:id="rId14"/>
    <p:sldId id="257"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B37F"/>
    <a:srgbClr val="ABCFDB"/>
    <a:srgbClr val="B2D6E4"/>
    <a:srgbClr val="ECCA5E"/>
    <a:srgbClr val="E4C35B"/>
    <a:srgbClr val="ABD7D1"/>
    <a:srgbClr val="E0AC7B"/>
    <a:srgbClr val="B8E6E0"/>
    <a:srgbClr val="FFDA66"/>
    <a:srgbClr val="FFC6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40"/>
    <p:restoredTop sz="94624"/>
  </p:normalViewPr>
  <p:slideViewPr>
    <p:cSldViewPr snapToGrid="0" snapToObjects="1" showGuides="1">
      <p:cViewPr varScale="1">
        <p:scale>
          <a:sx n="110" d="100"/>
          <a:sy n="110" d="100"/>
        </p:scale>
        <p:origin x="1952" y="168"/>
      </p:cViewPr>
      <p:guideLst>
        <p:guide orient="horz" pos="213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CCDC2-C448-5942-B3C6-FAFA0B7166CF}" type="datetimeFigureOut">
              <a:rPr kumimoji="1" lang="ja-JP" altLang="en-US" smtClean="0"/>
              <a:t>2020/6/21</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68E3D-F587-EC48-9825-EB28F1280931}" type="slidenum">
              <a:rPr kumimoji="1" lang="ja-JP" altLang="en-US" smtClean="0"/>
              <a:t>‹#›</a:t>
            </a:fld>
            <a:endParaRPr kumimoji="1" lang="ja-JP" altLang="en-US"/>
          </a:p>
        </p:txBody>
      </p:sp>
    </p:spTree>
    <p:extLst>
      <p:ext uri="{BB962C8B-B14F-4D97-AF65-F5344CB8AC3E}">
        <p14:creationId xmlns:p14="http://schemas.microsoft.com/office/powerpoint/2010/main" val="27973734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D7740A0-10A2-AC4B-9E37-89A047D63AA9}"/>
              </a:ext>
            </a:extLst>
          </p:cNvPr>
          <p:cNvSpPr/>
          <p:nvPr userDrawn="1"/>
        </p:nvSpPr>
        <p:spPr>
          <a:xfrm>
            <a:off x="-18000" y="1735015"/>
            <a:ext cx="9180000" cy="341141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130302" y="1368546"/>
            <a:ext cx="9404604" cy="2387600"/>
          </a:xfrm>
        </p:spPr>
        <p:txBody>
          <a:bodyPr anchor="b"/>
          <a:lstStyle>
            <a:lvl1pPr algn="ctr">
              <a:defRPr sz="600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418818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DC2C275-3977-4849-BBDE-F9BC93110E65}" type="datetime1">
              <a:rPr kumimoji="1" lang="ja-JP" altLang="en-US" smtClean="0"/>
              <a:t>2020/6/21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10" name="角丸四角形 9">
            <a:extLst>
              <a:ext uri="{FF2B5EF4-FFF2-40B4-BE49-F238E27FC236}">
                <a16:creationId xmlns:a16="http://schemas.microsoft.com/office/drawing/2014/main" id="{EE0A9B93-3B75-BD4C-97FF-D428AE5ADB8E}"/>
              </a:ext>
            </a:extLst>
          </p:cNvPr>
          <p:cNvSpPr/>
          <p:nvPr userDrawn="1"/>
        </p:nvSpPr>
        <p:spPr>
          <a:xfrm>
            <a:off x="562708" y="3934582"/>
            <a:ext cx="8006861" cy="72000"/>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2891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番号なし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953EA1E6-C3B8-DE4D-A346-09EF080BA12A}" type="datetime1">
              <a:rPr kumimoji="1" lang="ja-JP" altLang="en-US" smtClean="0"/>
              <a:t>2020/6/21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388139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番号あり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3" name="Content Placeholder 2"/>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4" name="Date Placeholder 3"/>
          <p:cNvSpPr>
            <a:spLocks noGrp="1"/>
          </p:cNvSpPr>
          <p:nvPr>
            <p:ph type="dt" sz="half" idx="10"/>
          </p:nvPr>
        </p:nvSpPr>
        <p:spPr/>
        <p:txBody>
          <a:bodyPr/>
          <a:lstStyle/>
          <a:p>
            <a:fld id="{24B158CC-F5BE-2345-99BA-C49B60654C2B}" type="datetime1">
              <a:rPr kumimoji="1" lang="ja-JP" altLang="en-US" smtClean="0"/>
              <a:t>2020/6/21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Tree>
    <p:extLst>
      <p:ext uri="{BB962C8B-B14F-4D97-AF65-F5344CB8AC3E}">
        <p14:creationId xmlns:p14="http://schemas.microsoft.com/office/powerpoint/2010/main" val="2057242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番号なし＿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FD99470E-4BC5-1945-9506-A510EA67C3DE}" type="datetime1">
              <a:rPr kumimoji="1" lang="ja-JP" altLang="en-US" smtClean="0"/>
              <a:t>2020/6/21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602699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番号あり_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484468A3-0919-F54E-B59A-E9ED9FABFE93}" type="datetime1">
              <a:rPr kumimoji="1" lang="ja-JP" altLang="en-US" smtClean="0"/>
              <a:t>2020/6/21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
        <p:nvSpPr>
          <p:cNvPr id="10" name="Content Placeholder 2">
            <a:extLst>
              <a:ext uri="{FF2B5EF4-FFF2-40B4-BE49-F238E27FC236}">
                <a16:creationId xmlns:a16="http://schemas.microsoft.com/office/drawing/2014/main" id="{008DC9C3-5553-BD40-9933-0A4D05E8ED7A}"/>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356271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09F3555-E93B-3A4D-AF4E-8776BA7B7879}" type="datetime1">
              <a:rPr kumimoji="1" lang="ja-JP" altLang="en-US" smtClean="0"/>
              <a:t>2020/6/21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74559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41D34DB-DCA4-3E46-8E9A-438514557B03}" type="datetime1">
              <a:rPr kumimoji="1" lang="ja-JP" altLang="en-US" smtClean="0"/>
              <a:t>2020/6/21</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376941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29C2B0B-3EB1-7D48-BCB2-B34EB8C22E6E}" type="datetime1">
              <a:rPr kumimoji="1" lang="ja-JP" altLang="en-US" smtClean="0"/>
              <a:t>2020/6/21</a:t>
            </a:fld>
            <a:endParaRPr kumimoji="1" lang="ja-JP" altLang="en-US"/>
          </a:p>
        </p:txBody>
      </p:sp>
      <p:sp>
        <p:nvSpPr>
          <p:cNvPr id="8" name="Footer Placeholder 7"/>
          <p:cNvSpPr>
            <a:spLocks noGrp="1"/>
          </p:cNvSpPr>
          <p:nvPr>
            <p:ph type="ftr" sz="quarter" idx="11"/>
          </p:nvPr>
        </p:nvSpPr>
        <p:spPr/>
        <p:txBody>
          <a:bodyPr/>
          <a:lstStyle/>
          <a:p>
            <a:r>
              <a:rPr kumimoji="1" lang="ja-JP" altLang="en-US"/>
              <a:t>進捗報告</a:t>
            </a:r>
          </a:p>
        </p:txBody>
      </p:sp>
      <p:sp>
        <p:nvSpPr>
          <p:cNvPr id="9" name="Slide Number Placeholder 8"/>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241846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0CE9526-C6B6-3C4B-B48C-57A5608CC1DE}" type="datetime1">
              <a:rPr kumimoji="1" lang="ja-JP" altLang="en-US" smtClean="0"/>
              <a:t>2020/6/21</a:t>
            </a:fld>
            <a:endParaRPr kumimoji="1" lang="ja-JP" altLang="en-US"/>
          </a:p>
        </p:txBody>
      </p:sp>
      <p:sp>
        <p:nvSpPr>
          <p:cNvPr id="4" name="Footer Placeholder 3"/>
          <p:cNvSpPr>
            <a:spLocks noGrp="1"/>
          </p:cNvSpPr>
          <p:nvPr>
            <p:ph type="ftr" sz="quarter" idx="11"/>
          </p:nvPr>
        </p:nvSpPr>
        <p:spPr/>
        <p:txBody>
          <a:bodyPr/>
          <a:lstStyle/>
          <a:p>
            <a:r>
              <a:rPr kumimoji="1" lang="ja-JP" altLang="en-US"/>
              <a:t>進捗報告</a:t>
            </a:r>
          </a:p>
        </p:txBody>
      </p:sp>
      <p:sp>
        <p:nvSpPr>
          <p:cNvPr id="5" name="Slide Number Placeholder 4"/>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01404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ピー用">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DE972-7F9F-8545-A12B-9CBEE476963D}" type="datetime1">
              <a:rPr kumimoji="1" lang="ja-JP" altLang="en-US" smtClean="0"/>
              <a:t>2020/6/21</a:t>
            </a:fld>
            <a:endParaRPr kumimoji="1" lang="ja-JP" altLang="en-US"/>
          </a:p>
        </p:txBody>
      </p:sp>
      <p:sp>
        <p:nvSpPr>
          <p:cNvPr id="3" name="Footer Placeholder 2"/>
          <p:cNvSpPr>
            <a:spLocks noGrp="1"/>
          </p:cNvSpPr>
          <p:nvPr>
            <p:ph type="ftr" sz="quarter" idx="11"/>
          </p:nvPr>
        </p:nvSpPr>
        <p:spPr/>
        <p:txBody>
          <a:bodyPr/>
          <a:lstStyle/>
          <a:p>
            <a:r>
              <a:rPr kumimoji="1" lang="ja-JP" altLang="en-US"/>
              <a:t>進捗報告</a:t>
            </a:r>
          </a:p>
        </p:txBody>
      </p:sp>
      <p:sp>
        <p:nvSpPr>
          <p:cNvPr id="4" name="Slide Number Placeholder 3"/>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grpSp>
        <p:nvGrpSpPr>
          <p:cNvPr id="5" name="グループ化 4">
            <a:extLst>
              <a:ext uri="{FF2B5EF4-FFF2-40B4-BE49-F238E27FC236}">
                <a16:creationId xmlns:a16="http://schemas.microsoft.com/office/drawing/2014/main" id="{BF48DF8D-E5BC-9044-9980-A872104EC9D1}"/>
              </a:ext>
            </a:extLst>
          </p:cNvPr>
          <p:cNvGrpSpPr/>
          <p:nvPr userDrawn="1"/>
        </p:nvGrpSpPr>
        <p:grpSpPr>
          <a:xfrm>
            <a:off x="2438030" y="3497736"/>
            <a:ext cx="513617" cy="487974"/>
            <a:chOff x="5777279" y="1326905"/>
            <a:chExt cx="513617" cy="487974"/>
          </a:xfrm>
          <a:solidFill>
            <a:schemeClr val="accent1"/>
          </a:solidFill>
        </p:grpSpPr>
        <p:sp>
          <p:nvSpPr>
            <p:cNvPr id="6" name="三角形 5">
              <a:extLst>
                <a:ext uri="{FF2B5EF4-FFF2-40B4-BE49-F238E27FC236}">
                  <a16:creationId xmlns:a16="http://schemas.microsoft.com/office/drawing/2014/main" id="{3DC6B543-7F25-FF44-97B2-229A862B52F5}"/>
                </a:ext>
              </a:extLst>
            </p:cNvPr>
            <p:cNvSpPr/>
            <p:nvPr userDrawn="1"/>
          </p:nvSpPr>
          <p:spPr>
            <a:xfrm rot="5400000">
              <a:off x="5882786" y="140677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39018809-A256-1446-9BCB-F9BC0B2CEFC5}"/>
                </a:ext>
              </a:extLst>
            </p:cNvPr>
            <p:cNvSpPr/>
            <p:nvPr userDrawn="1"/>
          </p:nvSpPr>
          <p:spPr>
            <a:xfrm rot="5400000">
              <a:off x="5697415" y="1406769"/>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EEA83C1B-5795-FE4D-8A70-6E249896CB42}"/>
              </a:ext>
            </a:extLst>
          </p:cNvPr>
          <p:cNvGrpSpPr/>
          <p:nvPr userDrawn="1"/>
        </p:nvGrpSpPr>
        <p:grpSpPr>
          <a:xfrm>
            <a:off x="697504" y="3453857"/>
            <a:ext cx="686164" cy="488219"/>
            <a:chOff x="5159252" y="1181176"/>
            <a:chExt cx="686164" cy="488219"/>
          </a:xfrm>
          <a:solidFill>
            <a:schemeClr val="accent1"/>
          </a:solidFill>
        </p:grpSpPr>
        <p:sp>
          <p:nvSpPr>
            <p:cNvPr id="9" name="三角形 8">
              <a:extLst>
                <a:ext uri="{FF2B5EF4-FFF2-40B4-BE49-F238E27FC236}">
                  <a16:creationId xmlns:a16="http://schemas.microsoft.com/office/drawing/2014/main" id="{C16B67FE-3CD0-2140-8383-24074EDF5FCE}"/>
                </a:ext>
              </a:extLst>
            </p:cNvPr>
            <p:cNvSpPr/>
            <p:nvPr userDrawn="1"/>
          </p:nvSpPr>
          <p:spPr>
            <a:xfrm rot="5400000">
              <a:off x="5437306" y="126104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0" name="三角形 9">
              <a:extLst>
                <a:ext uri="{FF2B5EF4-FFF2-40B4-BE49-F238E27FC236}">
                  <a16:creationId xmlns:a16="http://schemas.microsoft.com/office/drawing/2014/main" id="{460DA42C-3A8C-854B-87D3-67D552964AF8}"/>
                </a:ext>
              </a:extLst>
            </p:cNvPr>
            <p:cNvSpPr/>
            <p:nvPr userDrawn="1"/>
          </p:nvSpPr>
          <p:spPr>
            <a:xfrm rot="5400000">
              <a:off x="5264759" y="1261286"/>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1" name="三角形 10">
              <a:extLst>
                <a:ext uri="{FF2B5EF4-FFF2-40B4-BE49-F238E27FC236}">
                  <a16:creationId xmlns:a16="http://schemas.microsoft.com/office/drawing/2014/main" id="{9E4FAB19-4805-5048-B3D0-482B1B63211B}"/>
                </a:ext>
              </a:extLst>
            </p:cNvPr>
            <p:cNvSpPr/>
            <p:nvPr userDrawn="1"/>
          </p:nvSpPr>
          <p:spPr>
            <a:xfrm rot="5400000">
              <a:off x="5079388" y="1261285"/>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grpSp>
      <p:sp>
        <p:nvSpPr>
          <p:cNvPr id="12" name="三角形 11">
            <a:extLst>
              <a:ext uri="{FF2B5EF4-FFF2-40B4-BE49-F238E27FC236}">
                <a16:creationId xmlns:a16="http://schemas.microsoft.com/office/drawing/2014/main" id="{2C762878-2D1B-CD44-AFDF-6B039A7E14AE}"/>
              </a:ext>
            </a:extLst>
          </p:cNvPr>
          <p:cNvSpPr/>
          <p:nvPr userDrawn="1"/>
        </p:nvSpPr>
        <p:spPr>
          <a:xfrm rot="5400000">
            <a:off x="3707109" y="3508864"/>
            <a:ext cx="487973" cy="328246"/>
          </a:xfrm>
          <a:prstGeom prst="triangl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D0F0539D-82B8-914D-9DE6-05B3A42AEE90}"/>
              </a:ext>
            </a:extLst>
          </p:cNvPr>
          <p:cNvGrpSpPr/>
          <p:nvPr userDrawn="1"/>
        </p:nvGrpSpPr>
        <p:grpSpPr>
          <a:xfrm>
            <a:off x="163626" y="1160115"/>
            <a:ext cx="4103574" cy="680876"/>
            <a:chOff x="163626" y="1160115"/>
            <a:chExt cx="4103574" cy="680876"/>
          </a:xfrm>
        </p:grpSpPr>
        <p:cxnSp>
          <p:nvCxnSpPr>
            <p:cNvPr id="14" name="直線コネクタ 13">
              <a:extLst>
                <a:ext uri="{FF2B5EF4-FFF2-40B4-BE49-F238E27FC236}">
                  <a16:creationId xmlns:a16="http://schemas.microsoft.com/office/drawing/2014/main" id="{CCB3DF71-233C-784B-A40E-F763DAF7410E}"/>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CA15AE55-A3D1-3048-9E8F-3A81DFB0C41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プレースホルダー 12">
            <a:extLst>
              <a:ext uri="{FF2B5EF4-FFF2-40B4-BE49-F238E27FC236}">
                <a16:creationId xmlns:a16="http://schemas.microsoft.com/office/drawing/2014/main" id="{3013F31D-8B87-584D-8A56-225A22C7C61E}"/>
              </a:ext>
            </a:extLst>
          </p:cNvPr>
          <p:cNvSpPr>
            <a:spLocks noGrp="1"/>
          </p:cNvSpPr>
          <p:nvPr>
            <p:ph type="body" sz="quarter" idx="14" hasCustomPrompt="1"/>
          </p:nvPr>
        </p:nvSpPr>
        <p:spPr>
          <a:xfrm>
            <a:off x="404691" y="1192726"/>
            <a:ext cx="8147050" cy="680876"/>
          </a:xfrm>
        </p:spPr>
        <p:txBody>
          <a:bodyPr/>
          <a:lstStyle>
            <a:lvl1pPr marL="0" indent="0">
              <a:buNone/>
              <a:defRPr sz="3200"/>
            </a:lvl1pPr>
          </a:lstStyle>
          <a:p>
            <a:pPr lvl="0"/>
            <a:r>
              <a:rPr kumimoji="1" lang="ja-JP" altLang="en-US"/>
              <a:t>テキスト</a:t>
            </a:r>
          </a:p>
        </p:txBody>
      </p:sp>
    </p:spTree>
    <p:extLst>
      <p:ext uri="{BB962C8B-B14F-4D97-AF65-F5344CB8AC3E}">
        <p14:creationId xmlns:p14="http://schemas.microsoft.com/office/powerpoint/2010/main" val="524085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215014-30FE-CC43-81CB-CE71B2D66247}" type="datetime1">
              <a:rPr kumimoji="1" lang="ja-JP" altLang="en-US" smtClean="0"/>
              <a:t>2020/6/21</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834546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0862DB-EF94-E646-B694-C43CC85D160D}" type="datetime1">
              <a:rPr kumimoji="1" lang="ja-JP" altLang="en-US" smtClean="0"/>
              <a:t>2020/6/21</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217150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DB0722B-D148-BE44-BF67-6510CE43B9F9}" type="datetime1">
              <a:rPr kumimoji="1" lang="ja-JP" altLang="en-US" smtClean="0"/>
              <a:t>2020/6/21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528114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3608DE0-8C54-1A48-96D9-0CB1F61C3B86}" type="datetime1">
              <a:rPr kumimoji="1" lang="ja-JP" altLang="en-US" smtClean="0"/>
              <a:t>2020/6/21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699014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464C4851-9044-7944-A997-D3E4769EC61B}"/>
              </a:ext>
            </a:extLst>
          </p:cNvPr>
          <p:cNvSpPr/>
          <p:nvPr userDrawn="1"/>
        </p:nvSpPr>
        <p:spPr>
          <a:xfrm>
            <a:off x="-11723" y="-8304"/>
            <a:ext cx="9180000" cy="7692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7" name="正方形/長方形 6">
            <a:extLst>
              <a:ext uri="{FF2B5EF4-FFF2-40B4-BE49-F238E27FC236}">
                <a16:creationId xmlns:a16="http://schemas.microsoft.com/office/drawing/2014/main" id="{B65581C3-683F-974B-B777-1906334DD7D8}"/>
              </a:ext>
            </a:extLst>
          </p:cNvPr>
          <p:cNvSpPr/>
          <p:nvPr userDrawn="1"/>
        </p:nvSpPr>
        <p:spPr>
          <a:xfrm>
            <a:off x="-11723" y="6624072"/>
            <a:ext cx="9180000" cy="245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34" name="フリーフォーム 33">
            <a:extLst>
              <a:ext uri="{FF2B5EF4-FFF2-40B4-BE49-F238E27FC236}">
                <a16:creationId xmlns:a16="http://schemas.microsoft.com/office/drawing/2014/main" id="{2D285060-24CD-0E41-A3F1-0099B6A8A897}"/>
              </a:ext>
            </a:extLst>
          </p:cNvPr>
          <p:cNvSpPr/>
          <p:nvPr userDrawn="1"/>
        </p:nvSpPr>
        <p:spPr>
          <a:xfrm flipH="1">
            <a:off x="8258747" y="6381627"/>
            <a:ext cx="973705" cy="546179"/>
          </a:xfrm>
          <a:custGeom>
            <a:avLst/>
            <a:gdLst>
              <a:gd name="connsiteX0" fmla="*/ 0 w 1209192"/>
              <a:gd name="connsiteY0" fmla="*/ 0 h 245119"/>
              <a:gd name="connsiteX1" fmla="*/ 1077529 w 1209192"/>
              <a:gd name="connsiteY1" fmla="*/ 0 h 245119"/>
              <a:gd name="connsiteX2" fmla="*/ 1209192 w 1209192"/>
              <a:gd name="connsiteY2" fmla="*/ 245119 h 245119"/>
              <a:gd name="connsiteX3" fmla="*/ 0 w 1209192"/>
              <a:gd name="connsiteY3" fmla="*/ 245119 h 245119"/>
            </a:gdLst>
            <a:ahLst/>
            <a:cxnLst>
              <a:cxn ang="0">
                <a:pos x="connsiteX0" y="connsiteY0"/>
              </a:cxn>
              <a:cxn ang="0">
                <a:pos x="connsiteX1" y="connsiteY1"/>
              </a:cxn>
              <a:cxn ang="0">
                <a:pos x="connsiteX2" y="connsiteY2"/>
              </a:cxn>
              <a:cxn ang="0">
                <a:pos x="connsiteX3" y="connsiteY3"/>
              </a:cxn>
            </a:cxnLst>
            <a:rect l="l" t="t" r="r" b="b"/>
            <a:pathLst>
              <a:path w="1209192" h="245119">
                <a:moveTo>
                  <a:pt x="0" y="0"/>
                </a:moveTo>
                <a:lnTo>
                  <a:pt x="1077529" y="0"/>
                </a:lnTo>
                <a:lnTo>
                  <a:pt x="1209192" y="245119"/>
                </a:lnTo>
                <a:lnTo>
                  <a:pt x="0" y="24511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Hiragino Kaku Gothic Pro W3" panose="020B0300000000000000" pitchFamily="34" charset="-128"/>
              <a:ea typeface="Hiragino Kaku Gothic Pro W3" panose="020B0300000000000000" pitchFamily="34" charset="-128"/>
            </a:endParaRPr>
          </a:p>
        </p:txBody>
      </p:sp>
      <p:sp>
        <p:nvSpPr>
          <p:cNvPr id="2" name="Title Placeholder 1"/>
          <p:cNvSpPr>
            <a:spLocks noGrp="1"/>
          </p:cNvSpPr>
          <p:nvPr>
            <p:ph type="title"/>
          </p:nvPr>
        </p:nvSpPr>
        <p:spPr>
          <a:xfrm>
            <a:off x="734160" y="-154601"/>
            <a:ext cx="7886700" cy="109550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76960" y="1825625"/>
            <a:ext cx="7886700" cy="4351338"/>
          </a:xfrm>
          <a:prstGeom prst="rect">
            <a:avLst/>
          </a:prstGeom>
        </p:spPr>
        <p:txBody>
          <a:bodyPr vert="horz" lIns="91440" tIns="45720" rIns="91440" bIns="45720" rtlCol="0">
            <a:no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endParaRPr lang="en-US" dirty="0"/>
          </a:p>
        </p:txBody>
      </p:sp>
      <p:sp>
        <p:nvSpPr>
          <p:cNvPr id="4" name="Date Placeholder 3"/>
          <p:cNvSpPr>
            <a:spLocks noGrp="1"/>
          </p:cNvSpPr>
          <p:nvPr>
            <p:ph type="dt" sz="half" idx="2"/>
          </p:nvPr>
        </p:nvSpPr>
        <p:spPr>
          <a:xfrm>
            <a:off x="22577" y="6565457"/>
            <a:ext cx="2057400" cy="365125"/>
          </a:xfrm>
          <a:prstGeom prst="rect">
            <a:avLst/>
          </a:prstGeom>
        </p:spPr>
        <p:txBody>
          <a:bodyPr vert="horz" lIns="91440" tIns="45720" rIns="91440" bIns="45720" rtlCol="0" anchor="ctr"/>
          <a:lstStyle>
            <a:lvl1pPr algn="l">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fld id="{848FC433-A65A-5E4B-A542-B4358B331384}" type="datetime1">
              <a:rPr lang="ja-JP" altLang="en-US" smtClean="0"/>
              <a:t>2020/6/21</a:t>
            </a:fld>
            <a:endParaRPr lang="ja-JP" altLang="en-US"/>
          </a:p>
        </p:txBody>
      </p:sp>
      <p:sp>
        <p:nvSpPr>
          <p:cNvPr id="5" name="Footer Placeholder 4"/>
          <p:cNvSpPr>
            <a:spLocks noGrp="1"/>
          </p:cNvSpPr>
          <p:nvPr>
            <p:ph type="ftr" sz="quarter" idx="3"/>
          </p:nvPr>
        </p:nvSpPr>
        <p:spPr>
          <a:xfrm>
            <a:off x="3028950" y="6567365"/>
            <a:ext cx="3086100" cy="365125"/>
          </a:xfrm>
          <a:prstGeom prst="rect">
            <a:avLst/>
          </a:prstGeom>
        </p:spPr>
        <p:txBody>
          <a:bodyPr vert="horz" lIns="91440" tIns="45720" rIns="91440" bIns="45720" rtlCol="0" anchor="ctr"/>
          <a:lstStyle>
            <a:lvl1pPr algn="ctr">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r>
              <a:rPr lang="ja-JP" altLang="en-US"/>
              <a:t>進捗報告</a:t>
            </a:r>
            <a:endParaRPr lang="en-US" altLang="ja-JP" dirty="0"/>
          </a:p>
        </p:txBody>
      </p:sp>
      <p:sp>
        <p:nvSpPr>
          <p:cNvPr id="6" name="Slide Number Placeholder 5"/>
          <p:cNvSpPr>
            <a:spLocks noGrp="1"/>
          </p:cNvSpPr>
          <p:nvPr>
            <p:ph type="sldNum" sz="quarter" idx="4"/>
          </p:nvPr>
        </p:nvSpPr>
        <p:spPr>
          <a:xfrm>
            <a:off x="8419588" y="6485304"/>
            <a:ext cx="595955" cy="365125"/>
          </a:xfrm>
          <a:prstGeom prst="rect">
            <a:avLst/>
          </a:prstGeom>
        </p:spPr>
        <p:txBody>
          <a:bodyPr vert="horz" lIns="91440" tIns="45720" rIns="91440" bIns="45720" rtlCol="0" anchor="ctr"/>
          <a:lstStyle>
            <a:lvl1pPr algn="r">
              <a:defRPr sz="2400" b="0" i="0">
                <a:solidFill>
                  <a:schemeClr val="bg1"/>
                </a:solidFill>
                <a:latin typeface="Hiragino Kaku Gothic Pro W3" panose="020B0300000000000000" pitchFamily="34" charset="-128"/>
                <a:ea typeface="Hiragino Kaku Gothic Pro W3" panose="020B0300000000000000" pitchFamily="34" charset="-128"/>
              </a:defRPr>
            </a:lvl1pPr>
          </a:lstStyle>
          <a:p>
            <a:fld id="{2981C279-7323-A845-8A27-BB5908B2F04D}" type="slidenum">
              <a:rPr lang="ja-JP" altLang="en-US" smtClean="0"/>
              <a:pPr/>
              <a:t>‹#›</a:t>
            </a:fld>
            <a:endParaRPr lang="ja-JP" altLang="en-US"/>
          </a:p>
        </p:txBody>
      </p:sp>
    </p:spTree>
    <p:extLst>
      <p:ext uri="{BB962C8B-B14F-4D97-AF65-F5344CB8AC3E}">
        <p14:creationId xmlns:p14="http://schemas.microsoft.com/office/powerpoint/2010/main" val="631777835"/>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76" r:id="rId3"/>
    <p:sldLayoutId id="2147483673" r:id="rId4"/>
    <p:sldLayoutId id="2147483674"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hdr="0"/>
  <p:txStyles>
    <p:titleStyle>
      <a:lvl1pPr algn="l" defTabSz="914400" rtl="0" eaLnBrk="1" latinLnBrk="0" hangingPunct="1">
        <a:lnSpc>
          <a:spcPct val="90000"/>
        </a:lnSpc>
        <a:spcBef>
          <a:spcPct val="0"/>
        </a:spcBef>
        <a:buNone/>
        <a:defRPr kumimoji="1" sz="4400" b="0" i="0" kern="1200">
          <a:solidFill>
            <a:schemeClr val="tx1"/>
          </a:solidFill>
          <a:latin typeface="Hiragino Kaku Gothic Pro W3" panose="020B0300000000000000" pitchFamily="34" charset="-128"/>
          <a:ea typeface="Hiragino Kaku Gothic Pro W3" panose="020B0300000000000000" pitchFamily="34" charset="-128"/>
          <a:cs typeface="+mj-cs"/>
        </a:defRPr>
      </a:lvl1pPr>
    </p:titleStyle>
    <p:bodyStyle>
      <a:lvl1pPr marL="231775" indent="-231775" algn="l" defTabSz="914400" rtl="0" eaLnBrk="1" latinLnBrk="0" hangingPunct="1">
        <a:lnSpc>
          <a:spcPct val="90000"/>
        </a:lnSpc>
        <a:spcBef>
          <a:spcPts val="1000"/>
        </a:spcBef>
        <a:buSzPct val="100000"/>
        <a:buFontTx/>
        <a:buBlip>
          <a:blip r:embed="rId16"/>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17"/>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18"/>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5.emf"/><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9.emf"/><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NULL"/><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5.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0.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8396D-C709-8246-8286-094B8839C3C3}"/>
              </a:ext>
            </a:extLst>
          </p:cNvPr>
          <p:cNvSpPr>
            <a:spLocks noGrp="1"/>
          </p:cNvSpPr>
          <p:nvPr>
            <p:ph type="ctrTitle"/>
          </p:nvPr>
        </p:nvSpPr>
        <p:spPr/>
        <p:txBody>
          <a:bodyPr/>
          <a:lstStyle/>
          <a:p>
            <a:r>
              <a:rPr kumimoji="1" lang="ja-JP" altLang="en-US"/>
              <a:t>進捗報告</a:t>
            </a:r>
          </a:p>
        </p:txBody>
      </p:sp>
      <p:sp>
        <p:nvSpPr>
          <p:cNvPr id="3" name="字幕 2">
            <a:extLst>
              <a:ext uri="{FF2B5EF4-FFF2-40B4-BE49-F238E27FC236}">
                <a16:creationId xmlns:a16="http://schemas.microsoft.com/office/drawing/2014/main" id="{64C8C94E-7F42-E549-B498-1831334F572C}"/>
              </a:ext>
            </a:extLst>
          </p:cNvPr>
          <p:cNvSpPr>
            <a:spLocks noGrp="1"/>
          </p:cNvSpPr>
          <p:nvPr>
            <p:ph type="subTitle" idx="1"/>
          </p:nvPr>
        </p:nvSpPr>
        <p:spPr/>
        <p:txBody>
          <a:bodyPr/>
          <a:lstStyle/>
          <a:p>
            <a:r>
              <a:rPr kumimoji="1" lang="ja-JP" altLang="en-US"/>
              <a:t>松下昌悟</a:t>
            </a:r>
          </a:p>
        </p:txBody>
      </p:sp>
      <p:sp>
        <p:nvSpPr>
          <p:cNvPr id="4" name="日付プレースホルダー 3">
            <a:extLst>
              <a:ext uri="{FF2B5EF4-FFF2-40B4-BE49-F238E27FC236}">
                <a16:creationId xmlns:a16="http://schemas.microsoft.com/office/drawing/2014/main" id="{D039C715-D20B-D647-B48B-59A4FF41D99B}"/>
              </a:ext>
            </a:extLst>
          </p:cNvPr>
          <p:cNvSpPr>
            <a:spLocks noGrp="1"/>
          </p:cNvSpPr>
          <p:nvPr>
            <p:ph type="dt" sz="half" idx="10"/>
          </p:nvPr>
        </p:nvSpPr>
        <p:spPr/>
        <p:txBody>
          <a:bodyPr/>
          <a:lstStyle/>
          <a:p>
            <a:fld id="{81355CFD-0C13-B64F-8475-2B9C4937D230}" type="datetime1">
              <a:rPr kumimoji="1" lang="ja-JP" altLang="en-US" smtClean="0"/>
              <a:t>2020/6/21</a:t>
            </a:fld>
            <a:endParaRPr kumimoji="1" lang="ja-JP" altLang="en-US"/>
          </a:p>
        </p:txBody>
      </p:sp>
      <p:sp>
        <p:nvSpPr>
          <p:cNvPr id="5" name="フッター プレースホルダー 4">
            <a:extLst>
              <a:ext uri="{FF2B5EF4-FFF2-40B4-BE49-F238E27FC236}">
                <a16:creationId xmlns:a16="http://schemas.microsoft.com/office/drawing/2014/main" id="{2C3DFF42-E302-8446-A693-A684C0738F3F}"/>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0B3A790D-E0F0-AA4D-9672-14F1BBCAA13C}"/>
              </a:ext>
            </a:extLst>
          </p:cNvPr>
          <p:cNvSpPr>
            <a:spLocks noGrp="1"/>
          </p:cNvSpPr>
          <p:nvPr>
            <p:ph type="sldNum" sz="quarter" idx="12"/>
          </p:nvPr>
        </p:nvSpPr>
        <p:spPr/>
        <p:txBody>
          <a:bodyPr/>
          <a:lstStyle/>
          <a:p>
            <a:fld id="{2981C279-7323-A845-8A27-BB5908B2F04D}" type="slidenum">
              <a:rPr kumimoji="1" lang="ja-JP" altLang="en-US" smtClean="0"/>
              <a:t>1</a:t>
            </a:fld>
            <a:endParaRPr kumimoji="1" lang="ja-JP" altLang="en-US"/>
          </a:p>
        </p:txBody>
      </p:sp>
    </p:spTree>
    <p:extLst>
      <p:ext uri="{BB962C8B-B14F-4D97-AF65-F5344CB8AC3E}">
        <p14:creationId xmlns:p14="http://schemas.microsoft.com/office/powerpoint/2010/main" val="4187363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BIG5</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2020/6/21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2</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2"/>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026409" cy="680876"/>
            <a:chOff x="163626" y="1160115"/>
            <a:chExt cx="4026409"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02640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普通カテゴリをベースとして</a:t>
            </a:r>
            <a:br>
              <a:rPr lang="en-US" altLang="ja-JP" dirty="0"/>
            </a:br>
            <a:r>
              <a:rPr lang="ja-JP" altLang="en-US"/>
              <a:t>他のカテゴリの度合いを考慮</a:t>
            </a:r>
            <a:endParaRPr lang="en-US" altLang="ja-JP" dirty="0"/>
          </a:p>
          <a:p>
            <a:pPr lvl="1"/>
            <a:r>
              <a:rPr lang="ja-JP" altLang="en-US"/>
              <a:t>各カテゴリを表す</a:t>
            </a:r>
            <a:r>
              <a:rPr lang="ja-JP" altLang="en-US">
                <a:solidFill>
                  <a:schemeClr val="accent2"/>
                </a:solidFill>
              </a:rPr>
              <a:t>ベクトルとの</a:t>
            </a:r>
            <a:br>
              <a:rPr lang="en-US" altLang="ja-JP" dirty="0">
                <a:solidFill>
                  <a:schemeClr val="accent2"/>
                </a:solidFill>
              </a:rPr>
            </a:br>
            <a:r>
              <a:rPr lang="ja-JP" altLang="en-US">
                <a:solidFill>
                  <a:schemeClr val="accent2"/>
                </a:solidFill>
              </a:rPr>
              <a:t>類似度</a:t>
            </a:r>
            <a:r>
              <a:rPr lang="ja-JP" altLang="en-US"/>
              <a:t>で譲歩速度などを変更</a:t>
            </a:r>
          </a:p>
        </p:txBody>
      </p:sp>
      <p:grpSp>
        <p:nvGrpSpPr>
          <p:cNvPr id="13" name="グループ化 12">
            <a:extLst>
              <a:ext uri="{FF2B5EF4-FFF2-40B4-BE49-F238E27FC236}">
                <a16:creationId xmlns:a16="http://schemas.microsoft.com/office/drawing/2014/main" id="{4F60C014-F75B-2D42-97F5-CA5AE770834B}"/>
              </a:ext>
            </a:extLst>
          </p:cNvPr>
          <p:cNvGrpSpPr/>
          <p:nvPr/>
        </p:nvGrpSpPr>
        <p:grpSpPr>
          <a:xfrm>
            <a:off x="6221903" y="3913192"/>
            <a:ext cx="2727199" cy="708075"/>
            <a:chOff x="2662580" y="3750198"/>
            <a:chExt cx="2727199" cy="708075"/>
          </a:xfrm>
        </p:grpSpPr>
        <p:cxnSp>
          <p:nvCxnSpPr>
            <p:cNvPr id="11" name="直線矢印コネクタ 10">
              <a:extLst>
                <a:ext uri="{FF2B5EF4-FFF2-40B4-BE49-F238E27FC236}">
                  <a16:creationId xmlns:a16="http://schemas.microsoft.com/office/drawing/2014/main" id="{B7BBCFA0-F342-3040-91B5-A571B2FA5E9F}"/>
                </a:ext>
              </a:extLst>
            </p:cNvPr>
            <p:cNvCxnSpPr/>
            <p:nvPr/>
          </p:nvCxnSpPr>
          <p:spPr>
            <a:xfrm>
              <a:off x="3028950" y="3750198"/>
              <a:ext cx="1994463" cy="0"/>
            </a:xfrm>
            <a:prstGeom prst="straightConnector1">
              <a:avLst/>
            </a:prstGeom>
            <a:ln w="57150">
              <a:solidFill>
                <a:srgbClr val="D7991B"/>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6A91C07F-E09B-6646-8E3C-D8F5F512DE87}"/>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わがまま</a:t>
              </a:r>
            </a:p>
          </p:txBody>
        </p:sp>
        <mc:AlternateContent xmlns:mc="http://schemas.openxmlformats.org/markup-compatibility/2006">
          <mc:Choice xmlns:a14="http://schemas.microsoft.com/office/drawing/2010/main" Requires="a14">
            <p:sp>
              <p:nvSpPr>
                <p:cNvPr id="22" name="テキスト ボックス 21">
                  <a:extLst>
                    <a:ext uri="{FF2B5EF4-FFF2-40B4-BE49-F238E27FC236}">
                      <a16:creationId xmlns:a16="http://schemas.microsoft.com/office/drawing/2014/main" id="{B4CB7D27-CD72-4248-9428-C83B4E0F2D07}"/>
                    </a:ext>
                  </a:extLst>
                </p:cNvPr>
                <p:cNvSpPr txBox="1"/>
                <p:nvPr/>
              </p:nvSpPr>
              <p:spPr>
                <a:xfrm>
                  <a:off x="2662580" y="4087659"/>
                  <a:ext cx="2727199" cy="3706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[−0.2,0.6,−0.6,−0.5,−0.4]</m:t>
                        </m:r>
                      </m:oMath>
                    </m:oMathPara>
                  </a14:m>
                  <a:endParaRPr kumimoji="1" lang="ja-JP" altLang="en-US"/>
                </a:p>
              </p:txBody>
            </p:sp>
          </mc:Choice>
          <mc:Fallback>
            <p:sp>
              <p:nvSpPr>
                <p:cNvPr id="22" name="テキスト ボックス 21">
                  <a:extLst>
                    <a:ext uri="{FF2B5EF4-FFF2-40B4-BE49-F238E27FC236}">
                      <a16:creationId xmlns:a16="http://schemas.microsoft.com/office/drawing/2014/main" id="{B4CB7D27-CD72-4248-9428-C83B4E0F2D07}"/>
                    </a:ext>
                  </a:extLst>
                </p:cNvPr>
                <p:cNvSpPr txBox="1">
                  <a:spLocks noRot="1" noChangeAspect="1" noMove="1" noResize="1" noEditPoints="1" noAdjustHandles="1" noChangeArrowheads="1" noChangeShapeType="1" noTextEdit="1"/>
                </p:cNvSpPr>
                <p:nvPr/>
              </p:nvSpPr>
              <p:spPr>
                <a:xfrm>
                  <a:off x="2662580" y="4087659"/>
                  <a:ext cx="2727199" cy="370614"/>
                </a:xfrm>
                <a:prstGeom prst="rect">
                  <a:avLst/>
                </a:prstGeom>
                <a:blipFill>
                  <a:blip r:embed="rId5"/>
                  <a:stretch>
                    <a:fillRect l="-4167" r="-926" b="-16667"/>
                  </a:stretch>
                </a:blipFill>
              </p:spPr>
              <p:txBody>
                <a:bodyPr/>
                <a:lstStyle/>
                <a:p>
                  <a:r>
                    <a:rPr lang="ja-JP" altLang="en-US">
                      <a:noFill/>
                    </a:rPr>
                    <a:t> </a:t>
                  </a:r>
                </a:p>
              </p:txBody>
            </p:sp>
          </mc:Fallback>
        </mc:AlternateContent>
      </p:grpSp>
      <p:grpSp>
        <p:nvGrpSpPr>
          <p:cNvPr id="26" name="グループ化 25">
            <a:extLst>
              <a:ext uri="{FF2B5EF4-FFF2-40B4-BE49-F238E27FC236}">
                <a16:creationId xmlns:a16="http://schemas.microsoft.com/office/drawing/2014/main" id="{E38DC07B-36A3-854B-A9BC-66B0250F37A6}"/>
              </a:ext>
            </a:extLst>
          </p:cNvPr>
          <p:cNvGrpSpPr/>
          <p:nvPr/>
        </p:nvGrpSpPr>
        <p:grpSpPr>
          <a:xfrm>
            <a:off x="3209317" y="3913192"/>
            <a:ext cx="2727199" cy="706793"/>
            <a:chOff x="2662580" y="3750198"/>
            <a:chExt cx="2727199" cy="706793"/>
          </a:xfrm>
        </p:grpSpPr>
        <p:cxnSp>
          <p:nvCxnSpPr>
            <p:cNvPr id="27" name="直線矢印コネクタ 26">
              <a:extLst>
                <a:ext uri="{FF2B5EF4-FFF2-40B4-BE49-F238E27FC236}">
                  <a16:creationId xmlns:a16="http://schemas.microsoft.com/office/drawing/2014/main" id="{7E68F4C0-CDA0-2D49-863F-046E0660CECA}"/>
                </a:ext>
              </a:extLst>
            </p:cNvPr>
            <p:cNvCxnSpPr/>
            <p:nvPr/>
          </p:nvCxnSpPr>
          <p:spPr>
            <a:xfrm>
              <a:off x="3028950" y="3750198"/>
              <a:ext cx="1994463" cy="0"/>
            </a:xfrm>
            <a:prstGeom prst="straightConnector1">
              <a:avLst/>
            </a:prstGeom>
            <a:ln w="57150">
              <a:solidFill>
                <a:srgbClr val="4BC44D"/>
              </a:solidFill>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FAE3B4F8-77E2-7E42-A294-59F5CC4A27E5}"/>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つつましい</a:t>
              </a:r>
            </a:p>
          </p:txBody>
        </p:sp>
        <mc:AlternateContent xmlns:mc="http://schemas.openxmlformats.org/markup-compatibility/2006">
          <mc:Choice xmlns:a14="http://schemas.microsoft.com/office/drawing/2010/main" Requires="a14">
            <p:sp>
              <p:nvSpPr>
                <p:cNvPr id="29" name="テキスト ボックス 28">
                  <a:extLst>
                    <a:ext uri="{FF2B5EF4-FFF2-40B4-BE49-F238E27FC236}">
                      <a16:creationId xmlns:a16="http://schemas.microsoft.com/office/drawing/2014/main" id="{54B1649E-17F5-CC40-946A-5A2AF629AFCE}"/>
                    </a:ext>
                  </a:extLst>
                </p:cNvPr>
                <p:cNvSpPr txBox="1"/>
                <p:nvPr/>
              </p:nvSpPr>
              <p:spPr>
                <a:xfrm>
                  <a:off x="2662580" y="4087659"/>
                  <a:ext cx="272719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[−0.5,−0.1,−0.6,0.1,0.2]</m:t>
                        </m:r>
                      </m:oMath>
                    </m:oMathPara>
                  </a14:m>
                  <a:endParaRPr kumimoji="1" lang="ja-JP" altLang="en-US"/>
                </a:p>
              </p:txBody>
            </p:sp>
          </mc:Choice>
          <mc:Fallback>
            <p:sp>
              <p:nvSpPr>
                <p:cNvPr id="29" name="テキスト ボックス 28">
                  <a:extLst>
                    <a:ext uri="{FF2B5EF4-FFF2-40B4-BE49-F238E27FC236}">
                      <a16:creationId xmlns:a16="http://schemas.microsoft.com/office/drawing/2014/main" id="{54B1649E-17F5-CC40-946A-5A2AF629AFCE}"/>
                    </a:ext>
                  </a:extLst>
                </p:cNvPr>
                <p:cNvSpPr txBox="1">
                  <a:spLocks noRot="1" noChangeAspect="1" noMove="1" noResize="1" noEditPoints="1" noAdjustHandles="1" noChangeArrowheads="1" noChangeShapeType="1" noTextEdit="1"/>
                </p:cNvSpPr>
                <p:nvPr/>
              </p:nvSpPr>
              <p:spPr>
                <a:xfrm>
                  <a:off x="2662580" y="4087659"/>
                  <a:ext cx="2727199" cy="369332"/>
                </a:xfrm>
                <a:prstGeom prst="rect">
                  <a:avLst/>
                </a:prstGeom>
                <a:blipFill>
                  <a:blip r:embed="rId6"/>
                  <a:stretch>
                    <a:fillRect b="-16667"/>
                  </a:stretch>
                </a:blipFill>
              </p:spPr>
              <p:txBody>
                <a:bodyPr/>
                <a:lstStyle/>
                <a:p>
                  <a:r>
                    <a:rPr lang="ja-JP" altLang="en-US">
                      <a:noFill/>
                    </a:rPr>
                    <a:t> </a:t>
                  </a:r>
                </a:p>
              </p:txBody>
            </p:sp>
          </mc:Fallback>
        </mc:AlternateContent>
      </p:grpSp>
      <p:grpSp>
        <p:nvGrpSpPr>
          <p:cNvPr id="30" name="グループ化 29">
            <a:extLst>
              <a:ext uri="{FF2B5EF4-FFF2-40B4-BE49-F238E27FC236}">
                <a16:creationId xmlns:a16="http://schemas.microsoft.com/office/drawing/2014/main" id="{C107D668-4769-B845-8A0B-82A239B39EE3}"/>
              </a:ext>
            </a:extLst>
          </p:cNvPr>
          <p:cNvGrpSpPr/>
          <p:nvPr/>
        </p:nvGrpSpPr>
        <p:grpSpPr>
          <a:xfrm>
            <a:off x="254606" y="3902926"/>
            <a:ext cx="2727199" cy="706793"/>
            <a:chOff x="2662580" y="3750198"/>
            <a:chExt cx="2727199" cy="706793"/>
          </a:xfrm>
        </p:grpSpPr>
        <p:cxnSp>
          <p:nvCxnSpPr>
            <p:cNvPr id="31" name="直線矢印コネクタ 30">
              <a:extLst>
                <a:ext uri="{FF2B5EF4-FFF2-40B4-BE49-F238E27FC236}">
                  <a16:creationId xmlns:a16="http://schemas.microsoft.com/office/drawing/2014/main" id="{7D02F1D3-E8D6-D748-ADBD-31B0AB3534B8}"/>
                </a:ext>
              </a:extLst>
            </p:cNvPr>
            <p:cNvCxnSpPr/>
            <p:nvPr/>
          </p:nvCxnSpPr>
          <p:spPr>
            <a:xfrm>
              <a:off x="3028950" y="3750198"/>
              <a:ext cx="1994463" cy="0"/>
            </a:xfrm>
            <a:prstGeom prst="straightConnector1">
              <a:avLst/>
            </a:prstGeom>
            <a:ln w="57150">
              <a:solidFill>
                <a:srgbClr val="FF734B"/>
              </a:solidFill>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930B05F1-51A1-6749-ABE9-5C3AE86B2500}"/>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模範的</a:t>
              </a:r>
            </a:p>
          </p:txBody>
        </p:sp>
        <mc:AlternateContent xmlns:mc="http://schemas.openxmlformats.org/markup-compatibility/2006">
          <mc:Choice xmlns:a14="http://schemas.microsoft.com/office/drawing/2010/main" Requires="a14">
            <p:sp>
              <p:nvSpPr>
                <p:cNvPr id="33" name="テキスト ボックス 32">
                  <a:extLst>
                    <a:ext uri="{FF2B5EF4-FFF2-40B4-BE49-F238E27FC236}">
                      <a16:creationId xmlns:a16="http://schemas.microsoft.com/office/drawing/2014/main" id="{C8E8D5C4-2AAA-E74D-AADD-AE34A6E426D4}"/>
                    </a:ext>
                  </a:extLst>
                </p:cNvPr>
                <p:cNvSpPr txBox="1"/>
                <p:nvPr/>
              </p:nvSpPr>
              <p:spPr>
                <a:xfrm>
                  <a:off x="2662580" y="4087659"/>
                  <a:ext cx="272719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[−0.6,0.5,0.2,0.6,0.7]</m:t>
                        </m:r>
                      </m:oMath>
                    </m:oMathPara>
                  </a14:m>
                  <a:endParaRPr kumimoji="1" lang="ja-JP" altLang="en-US"/>
                </a:p>
              </p:txBody>
            </p:sp>
          </mc:Choice>
          <mc:Fallback>
            <p:sp>
              <p:nvSpPr>
                <p:cNvPr id="33" name="テキスト ボックス 32">
                  <a:extLst>
                    <a:ext uri="{FF2B5EF4-FFF2-40B4-BE49-F238E27FC236}">
                      <a16:creationId xmlns:a16="http://schemas.microsoft.com/office/drawing/2014/main" id="{C8E8D5C4-2AAA-E74D-AADD-AE34A6E426D4}"/>
                    </a:ext>
                  </a:extLst>
                </p:cNvPr>
                <p:cNvSpPr txBox="1">
                  <a:spLocks noRot="1" noChangeAspect="1" noMove="1" noResize="1" noEditPoints="1" noAdjustHandles="1" noChangeArrowheads="1" noChangeShapeType="1" noTextEdit="1"/>
                </p:cNvSpPr>
                <p:nvPr/>
              </p:nvSpPr>
              <p:spPr>
                <a:xfrm>
                  <a:off x="2662580" y="4087659"/>
                  <a:ext cx="2727199" cy="369332"/>
                </a:xfrm>
                <a:prstGeom prst="rect">
                  <a:avLst/>
                </a:prstGeom>
                <a:blipFill>
                  <a:blip r:embed="rId7"/>
                  <a:stretch>
                    <a:fillRect b="-16667"/>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379730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BIG5</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2020/6/21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3</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2"/>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5218602" cy="680876"/>
            <a:chOff x="163626" y="1160115"/>
            <a:chExt cx="5218602"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52186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エージェントの戦略まとめ</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a:t>
            </a:r>
            <a:br>
              <a:rPr lang="en-US" altLang="ja-JP" dirty="0"/>
            </a:br>
            <a:r>
              <a:rPr lang="ja-JP" altLang="en-US"/>
              <a:t>相手の</a:t>
            </a:r>
            <a:r>
              <a:rPr lang="ja-JP" altLang="en-US">
                <a:solidFill>
                  <a:schemeClr val="accent1"/>
                </a:solidFill>
              </a:rPr>
              <a:t>特性</a:t>
            </a:r>
            <a:r>
              <a:rPr lang="en-US" altLang="ja-JP" dirty="0">
                <a:solidFill>
                  <a:schemeClr val="accent1"/>
                </a:solidFill>
              </a:rPr>
              <a:t>5</a:t>
            </a:r>
            <a:r>
              <a:rPr lang="ja-JP" altLang="en-US">
                <a:solidFill>
                  <a:schemeClr val="accent1"/>
                </a:solidFill>
              </a:rPr>
              <a:t>因子の値を求める</a:t>
            </a:r>
            <a:endParaRPr lang="en-US" altLang="ja-JP" dirty="0">
              <a:solidFill>
                <a:schemeClr val="accent1"/>
              </a:solidFill>
            </a:endParaRPr>
          </a:p>
          <a:p>
            <a:pPr lvl="1"/>
            <a:r>
              <a:rPr lang="ja-JP" altLang="en-US"/>
              <a:t>移動平均を用いる</a:t>
            </a:r>
            <a:endParaRPr lang="en-US" altLang="ja-JP" dirty="0"/>
          </a:p>
          <a:p>
            <a:r>
              <a:rPr lang="ja-JP" altLang="en-US"/>
              <a:t>算出した特性</a:t>
            </a:r>
            <a:r>
              <a:rPr lang="en-US" altLang="ja-JP" dirty="0"/>
              <a:t>5</a:t>
            </a:r>
            <a:r>
              <a:rPr lang="ja-JP" altLang="en-US"/>
              <a:t>因子の値と</a:t>
            </a:r>
            <a:br>
              <a:rPr lang="en-US" altLang="ja-JP" dirty="0"/>
            </a:br>
            <a:r>
              <a:rPr lang="ja-JP" altLang="en-US"/>
              <a:t>各カテゴリの</a:t>
            </a:r>
            <a:r>
              <a:rPr lang="ja-JP" altLang="en-US">
                <a:solidFill>
                  <a:schemeClr val="accent1"/>
                </a:solidFill>
              </a:rPr>
              <a:t>ベクトルの類似度を計算</a:t>
            </a:r>
            <a:endParaRPr lang="en-US" altLang="ja-JP" dirty="0">
              <a:solidFill>
                <a:schemeClr val="accent1"/>
              </a:solidFill>
            </a:endParaRPr>
          </a:p>
          <a:p>
            <a:r>
              <a:rPr lang="ja-JP" altLang="en-US"/>
              <a:t>類似度を元に</a:t>
            </a:r>
            <a:r>
              <a:rPr lang="ja-JP" altLang="en-US">
                <a:solidFill>
                  <a:schemeClr val="accent2"/>
                </a:solidFill>
              </a:rPr>
              <a:t>譲歩速度などを変化</a:t>
            </a:r>
            <a:endParaRPr lang="en-US" altLang="ja-JP" dirty="0">
              <a:solidFill>
                <a:schemeClr val="accent2"/>
              </a:solidFill>
            </a:endParaRPr>
          </a:p>
          <a:p>
            <a:endParaRPr lang="ja-JP" altLang="en-US"/>
          </a:p>
        </p:txBody>
      </p:sp>
      <p:grpSp>
        <p:nvGrpSpPr>
          <p:cNvPr id="54" name="グループ化 53">
            <a:extLst>
              <a:ext uri="{FF2B5EF4-FFF2-40B4-BE49-F238E27FC236}">
                <a16:creationId xmlns:a16="http://schemas.microsoft.com/office/drawing/2014/main" id="{2165357C-4927-174B-A170-E6830385DABB}"/>
              </a:ext>
            </a:extLst>
          </p:cNvPr>
          <p:cNvGrpSpPr/>
          <p:nvPr/>
        </p:nvGrpSpPr>
        <p:grpSpPr>
          <a:xfrm>
            <a:off x="521549" y="4444355"/>
            <a:ext cx="7635927" cy="1963886"/>
            <a:chOff x="359501" y="4444355"/>
            <a:chExt cx="7635927" cy="1963886"/>
          </a:xfrm>
        </p:grpSpPr>
        <p:grpSp>
          <p:nvGrpSpPr>
            <p:cNvPr id="8" name="グループ化 7">
              <a:extLst>
                <a:ext uri="{FF2B5EF4-FFF2-40B4-BE49-F238E27FC236}">
                  <a16:creationId xmlns:a16="http://schemas.microsoft.com/office/drawing/2014/main" id="{9065FB69-4CE3-514C-9F03-5515861C1717}"/>
                </a:ext>
              </a:extLst>
            </p:cNvPr>
            <p:cNvGrpSpPr/>
            <p:nvPr/>
          </p:nvGrpSpPr>
          <p:grpSpPr>
            <a:xfrm>
              <a:off x="3504593" y="5114930"/>
              <a:ext cx="1994463" cy="1016312"/>
              <a:chOff x="3369630" y="5195061"/>
              <a:chExt cx="1994463" cy="1016312"/>
            </a:xfrm>
          </p:grpSpPr>
          <p:cxnSp>
            <p:nvCxnSpPr>
              <p:cNvPr id="34" name="直線矢印コネクタ 33">
                <a:extLst>
                  <a:ext uri="{FF2B5EF4-FFF2-40B4-BE49-F238E27FC236}">
                    <a16:creationId xmlns:a16="http://schemas.microsoft.com/office/drawing/2014/main" id="{9E583E9C-DB90-884C-99DF-09A11BC1D48E}"/>
                  </a:ext>
                </a:extLst>
              </p:cNvPr>
              <p:cNvCxnSpPr/>
              <p:nvPr/>
            </p:nvCxnSpPr>
            <p:spPr>
              <a:xfrm>
                <a:off x="3369630" y="5665274"/>
                <a:ext cx="1994463" cy="0"/>
              </a:xfrm>
              <a:prstGeom prst="straightConnector1">
                <a:avLst/>
              </a:prstGeom>
              <a:ln w="57150">
                <a:solidFill>
                  <a:srgbClr val="FF734B"/>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12B7248F-DDEE-FE4A-B38E-EF63F9BF85B3}"/>
                  </a:ext>
                </a:extLst>
              </p:cNvPr>
              <p:cNvCxnSpPr>
                <a:cxnSpLocks/>
              </p:cNvCxnSpPr>
              <p:nvPr/>
            </p:nvCxnSpPr>
            <p:spPr>
              <a:xfrm flipV="1">
                <a:off x="3381205" y="5195061"/>
                <a:ext cx="878278" cy="48397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627BEEDC-207D-C44D-95A9-8A6F91AE249E}"/>
                  </a:ext>
                </a:extLst>
              </p:cNvPr>
              <p:cNvSpPr txBox="1"/>
              <p:nvPr/>
            </p:nvSpPr>
            <p:spPr>
              <a:xfrm>
                <a:off x="3483386" y="5842041"/>
                <a:ext cx="1766949" cy="369332"/>
              </a:xfrm>
              <a:prstGeom prst="rect">
                <a:avLst/>
              </a:prstGeom>
              <a:noFill/>
            </p:spPr>
            <p:txBody>
              <a:bodyPr wrap="square" rtlCol="0">
                <a:spAutoFit/>
              </a:bodyPr>
              <a:lstStyle/>
              <a:p>
                <a:pPr algn="ctr"/>
                <a:r>
                  <a:rPr kumimoji="1" lang="ja-JP" altLang="en-US"/>
                  <a:t>類似度を計算</a:t>
                </a:r>
              </a:p>
            </p:txBody>
          </p:sp>
        </p:grpSp>
        <p:grpSp>
          <p:nvGrpSpPr>
            <p:cNvPr id="16" name="グループ化 15">
              <a:extLst>
                <a:ext uri="{FF2B5EF4-FFF2-40B4-BE49-F238E27FC236}">
                  <a16:creationId xmlns:a16="http://schemas.microsoft.com/office/drawing/2014/main" id="{FB165451-849D-2B49-B364-C5F08F4247C9}"/>
                </a:ext>
              </a:extLst>
            </p:cNvPr>
            <p:cNvGrpSpPr/>
            <p:nvPr/>
          </p:nvGrpSpPr>
          <p:grpSpPr>
            <a:xfrm>
              <a:off x="359501" y="4814410"/>
              <a:ext cx="2458762" cy="1316832"/>
              <a:chOff x="339969" y="4814410"/>
              <a:chExt cx="2458762" cy="1316832"/>
            </a:xfrm>
          </p:grpSpPr>
          <p:cxnSp>
            <p:nvCxnSpPr>
              <p:cNvPr id="41" name="直線矢印コネクタ 40">
                <a:extLst>
                  <a:ext uri="{FF2B5EF4-FFF2-40B4-BE49-F238E27FC236}">
                    <a16:creationId xmlns:a16="http://schemas.microsoft.com/office/drawing/2014/main" id="{23D81F44-AB32-3647-92FF-C03E93EBE9F5}"/>
                  </a:ext>
                </a:extLst>
              </p:cNvPr>
              <p:cNvCxnSpPr>
                <a:cxnSpLocks/>
              </p:cNvCxnSpPr>
              <p:nvPr/>
            </p:nvCxnSpPr>
            <p:spPr>
              <a:xfrm flipV="1">
                <a:off x="1884604" y="5101167"/>
                <a:ext cx="878278" cy="48397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2234BD33-AC73-2047-8967-E43F42409BAC}"/>
                  </a:ext>
                </a:extLst>
              </p:cNvPr>
              <p:cNvSpPr txBox="1"/>
              <p:nvPr/>
            </p:nvSpPr>
            <p:spPr>
              <a:xfrm>
                <a:off x="339969" y="5761910"/>
                <a:ext cx="2458762" cy="369332"/>
              </a:xfrm>
              <a:prstGeom prst="rect">
                <a:avLst/>
              </a:prstGeom>
              <a:noFill/>
            </p:spPr>
            <p:txBody>
              <a:bodyPr wrap="square" rtlCol="0">
                <a:spAutoFit/>
              </a:bodyPr>
              <a:lstStyle/>
              <a:p>
                <a:pPr algn="ctr"/>
                <a:r>
                  <a:rPr kumimoji="1" lang="ja-JP" altLang="en-US"/>
                  <a:t>特性</a:t>
                </a:r>
                <a:r>
                  <a:rPr kumimoji="1" lang="en-US" altLang="ja-JP" dirty="0"/>
                  <a:t>5</a:t>
                </a:r>
                <a:r>
                  <a:rPr kumimoji="1" lang="ja-JP" altLang="en-US"/>
                  <a:t>因子の値を推定</a:t>
                </a:r>
              </a:p>
            </p:txBody>
          </p:sp>
          <p:sp>
            <p:nvSpPr>
              <p:cNvPr id="10" name="三角形 9">
                <a:extLst>
                  <a:ext uri="{FF2B5EF4-FFF2-40B4-BE49-F238E27FC236}">
                    <a16:creationId xmlns:a16="http://schemas.microsoft.com/office/drawing/2014/main" id="{18949641-2187-F240-8DAD-8825D7C150CC}"/>
                  </a:ext>
                </a:extLst>
              </p:cNvPr>
              <p:cNvSpPr/>
              <p:nvPr/>
            </p:nvSpPr>
            <p:spPr>
              <a:xfrm rot="5400000">
                <a:off x="1510580" y="5227874"/>
                <a:ext cx="296135" cy="12757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9E63192B-E0B8-CC41-8960-CB2D243F5B00}"/>
                  </a:ext>
                </a:extLst>
              </p:cNvPr>
              <p:cNvGrpSpPr/>
              <p:nvPr/>
            </p:nvGrpSpPr>
            <p:grpSpPr>
              <a:xfrm>
                <a:off x="616773" y="4814410"/>
                <a:ext cx="861781" cy="947500"/>
                <a:chOff x="674235" y="4814508"/>
                <a:chExt cx="861781" cy="947500"/>
              </a:xfrm>
            </p:grpSpPr>
            <p:sp>
              <p:nvSpPr>
                <p:cNvPr id="14" name="メモ 13">
                  <a:extLst>
                    <a:ext uri="{FF2B5EF4-FFF2-40B4-BE49-F238E27FC236}">
                      <a16:creationId xmlns:a16="http://schemas.microsoft.com/office/drawing/2014/main" id="{503DC9A0-EF36-AF4F-AF5B-D83DF52730DC}"/>
                    </a:ext>
                  </a:extLst>
                </p:cNvPr>
                <p:cNvSpPr/>
                <p:nvPr/>
              </p:nvSpPr>
              <p:spPr>
                <a:xfrm rot="10800000">
                  <a:off x="763672" y="4814508"/>
                  <a:ext cx="682907" cy="947500"/>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71842217-B5CD-E14A-BAAE-83F80AC392CB}"/>
                    </a:ext>
                  </a:extLst>
                </p:cNvPr>
                <p:cNvSpPr txBox="1"/>
                <p:nvPr/>
              </p:nvSpPr>
              <p:spPr>
                <a:xfrm>
                  <a:off x="674235" y="5172252"/>
                  <a:ext cx="861781" cy="369332"/>
                </a:xfrm>
                <a:prstGeom prst="rect">
                  <a:avLst/>
                </a:prstGeom>
                <a:noFill/>
              </p:spPr>
              <p:txBody>
                <a:bodyPr wrap="square" rtlCol="0">
                  <a:spAutoFit/>
                </a:bodyPr>
                <a:lstStyle/>
                <a:p>
                  <a:pPr algn="ctr"/>
                  <a:r>
                    <a:rPr kumimoji="1" lang="en-US" altLang="ja-JP" dirty="0"/>
                    <a:t>Offer</a:t>
                  </a:r>
                  <a:endParaRPr kumimoji="1" lang="ja-JP" altLang="en-US"/>
                </a:p>
              </p:txBody>
            </p:sp>
          </p:grpSp>
        </p:grpSp>
        <p:sp>
          <p:nvSpPr>
            <p:cNvPr id="17" name="右矢印 16">
              <a:extLst>
                <a:ext uri="{FF2B5EF4-FFF2-40B4-BE49-F238E27FC236}">
                  <a16:creationId xmlns:a16="http://schemas.microsoft.com/office/drawing/2014/main" id="{B4942326-2527-5F4D-8CFC-5F502952CC8A}"/>
                </a:ext>
              </a:extLst>
            </p:cNvPr>
            <p:cNvSpPr/>
            <p:nvPr/>
          </p:nvSpPr>
          <p:spPr>
            <a:xfrm>
              <a:off x="3082921"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右矢印 44">
              <a:extLst>
                <a:ext uri="{FF2B5EF4-FFF2-40B4-BE49-F238E27FC236}">
                  <a16:creationId xmlns:a16="http://schemas.microsoft.com/office/drawing/2014/main" id="{9FF18A30-A3C7-1E47-B8A4-C9BBA76EB2BB}"/>
                </a:ext>
              </a:extLst>
            </p:cNvPr>
            <p:cNvSpPr/>
            <p:nvPr/>
          </p:nvSpPr>
          <p:spPr>
            <a:xfrm>
              <a:off x="5815896"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3" name="グループ化 52">
              <a:extLst>
                <a:ext uri="{FF2B5EF4-FFF2-40B4-BE49-F238E27FC236}">
                  <a16:creationId xmlns:a16="http://schemas.microsoft.com/office/drawing/2014/main" id="{8BB40CDB-767C-F846-81FC-D50EEBDEDF91}"/>
                </a:ext>
              </a:extLst>
            </p:cNvPr>
            <p:cNvGrpSpPr/>
            <p:nvPr/>
          </p:nvGrpSpPr>
          <p:grpSpPr>
            <a:xfrm>
              <a:off x="6051784" y="4444355"/>
              <a:ext cx="1943644" cy="1963886"/>
              <a:chOff x="6051784" y="4444355"/>
              <a:chExt cx="1943644" cy="1963886"/>
            </a:xfrm>
          </p:grpSpPr>
          <p:grpSp>
            <p:nvGrpSpPr>
              <p:cNvPr id="47" name="グループ化 46">
                <a:extLst>
                  <a:ext uri="{FF2B5EF4-FFF2-40B4-BE49-F238E27FC236}">
                    <a16:creationId xmlns:a16="http://schemas.microsoft.com/office/drawing/2014/main" id="{E11C1039-7584-2B4C-9170-7D257ECA1741}"/>
                  </a:ext>
                </a:extLst>
              </p:cNvPr>
              <p:cNvGrpSpPr/>
              <p:nvPr/>
            </p:nvGrpSpPr>
            <p:grpSpPr>
              <a:xfrm>
                <a:off x="6388405" y="4444355"/>
                <a:ext cx="1270404" cy="1270404"/>
                <a:chOff x="6886936" y="4676172"/>
                <a:chExt cx="1270404" cy="1270404"/>
              </a:xfrm>
            </p:grpSpPr>
            <p:cxnSp>
              <p:nvCxnSpPr>
                <p:cNvPr id="19" name="直線コネクタ 18">
                  <a:extLst>
                    <a:ext uri="{FF2B5EF4-FFF2-40B4-BE49-F238E27FC236}">
                      <a16:creationId xmlns:a16="http://schemas.microsoft.com/office/drawing/2014/main" id="{D49C790C-D481-A24A-9980-4FEB10221937}"/>
                    </a:ext>
                  </a:extLst>
                </p:cNvPr>
                <p:cNvCxnSpPr/>
                <p:nvPr/>
              </p:nvCxnSpPr>
              <p:spPr>
                <a:xfrm>
                  <a:off x="6898511" y="4676172"/>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C968865-7C68-CB40-8073-AB077F3C966A}"/>
                    </a:ext>
                  </a:extLst>
                </p:cNvPr>
                <p:cNvCxnSpPr>
                  <a:cxnSpLocks/>
                </p:cNvCxnSpPr>
                <p:nvPr/>
              </p:nvCxnSpPr>
              <p:spPr>
                <a:xfrm rot="16200000">
                  <a:off x="7522138" y="5299799"/>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フリーフォーム 48">
                <a:extLst>
                  <a:ext uri="{FF2B5EF4-FFF2-40B4-BE49-F238E27FC236}">
                    <a16:creationId xmlns:a16="http://schemas.microsoft.com/office/drawing/2014/main" id="{9797452E-93E4-384C-A78F-0C76A4DB72E2}"/>
                  </a:ext>
                </a:extLst>
              </p:cNvPr>
              <p:cNvSpPr/>
              <p:nvPr/>
            </p:nvSpPr>
            <p:spPr>
              <a:xfrm>
                <a:off x="6412375" y="48142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50">
                <a:extLst>
                  <a:ext uri="{FF2B5EF4-FFF2-40B4-BE49-F238E27FC236}">
                    <a16:creationId xmlns:a16="http://schemas.microsoft.com/office/drawing/2014/main" id="{C576183D-2D5C-7A4C-9BC3-1A9E844828EA}"/>
                  </a:ext>
                </a:extLst>
              </p:cNvPr>
              <p:cNvSpPr/>
              <p:nvPr/>
            </p:nvSpPr>
            <p:spPr>
              <a:xfrm>
                <a:off x="6412375" y="48497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1A01385F-3EAD-0E4A-8145-56BB2A51EBE7}"/>
                  </a:ext>
                </a:extLst>
              </p:cNvPr>
              <p:cNvSpPr txBox="1"/>
              <p:nvPr/>
            </p:nvSpPr>
            <p:spPr>
              <a:xfrm>
                <a:off x="6051784" y="5761910"/>
                <a:ext cx="1943644" cy="646331"/>
              </a:xfrm>
              <a:prstGeom prst="rect">
                <a:avLst/>
              </a:prstGeom>
              <a:noFill/>
            </p:spPr>
            <p:txBody>
              <a:bodyPr wrap="square" rtlCol="0">
                <a:spAutoFit/>
              </a:bodyPr>
              <a:lstStyle/>
              <a:p>
                <a:pPr algn="ctr"/>
                <a:r>
                  <a:rPr kumimoji="1" lang="ja-JP" altLang="en-US"/>
                  <a:t>譲歩速度の変更</a:t>
                </a:r>
              </a:p>
            </p:txBody>
          </p:sp>
        </p:grpSp>
      </p:grpSp>
    </p:spTree>
    <p:extLst>
      <p:ext uri="{BB962C8B-B14F-4D97-AF65-F5344CB8AC3E}">
        <p14:creationId xmlns:p14="http://schemas.microsoft.com/office/powerpoint/2010/main" val="1655483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TKI</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妥協カテゴリをベースとして他の</a:t>
            </a:r>
            <a:br>
              <a:rPr lang="en-US" altLang="ja-JP" dirty="0"/>
            </a:br>
            <a:r>
              <a:rPr lang="ja-JP" altLang="en-US"/>
              <a:t>カテゴリの度合いを考慮</a:t>
            </a:r>
            <a:endParaRPr lang="en-US" altLang="ja-JP" dirty="0"/>
          </a:p>
          <a:p>
            <a:pPr lvl="1"/>
            <a:r>
              <a:rPr lang="ja-JP" altLang="en-US"/>
              <a:t>各カテゴリを表す</a:t>
            </a:r>
            <a:r>
              <a:rPr lang="ja-JP" altLang="en-US">
                <a:solidFill>
                  <a:schemeClr val="accent2"/>
                </a:solidFill>
              </a:rPr>
              <a:t>ベクトルとの類似度</a:t>
            </a:r>
            <a:r>
              <a:rPr lang="ja-JP" altLang="en-US"/>
              <a:t>で</a:t>
            </a:r>
            <a:br>
              <a:rPr lang="en-US" altLang="ja-JP" dirty="0"/>
            </a:br>
            <a:r>
              <a:rPr lang="ja-JP" altLang="en-US"/>
              <a:t>譲歩速度などを変更</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2020/6/21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4</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2"/>
          <a:stretch>
            <a:fillRect/>
          </a:stretch>
        </p:blipFill>
        <p:spPr>
          <a:xfrm>
            <a:off x="6847144" y="1030556"/>
            <a:ext cx="2222334" cy="2750219"/>
          </a:xfrm>
          <a:prstGeom prst="rect">
            <a:avLst/>
          </a:prstGeom>
        </p:spPr>
      </p:pic>
      <p:sp>
        <p:nvSpPr>
          <p:cNvPr id="21" name="テキスト プレースホルダー 12">
            <a:extLst>
              <a:ext uri="{FF2B5EF4-FFF2-40B4-BE49-F238E27FC236}">
                <a16:creationId xmlns:a16="http://schemas.microsoft.com/office/drawing/2014/main" id="{67C6B88C-5AB3-2842-86B2-570E76EF5956}"/>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p>
        </p:txBody>
      </p:sp>
      <p:grpSp>
        <p:nvGrpSpPr>
          <p:cNvPr id="15" name="グループ化 14">
            <a:extLst>
              <a:ext uri="{FF2B5EF4-FFF2-40B4-BE49-F238E27FC236}">
                <a16:creationId xmlns:a16="http://schemas.microsoft.com/office/drawing/2014/main" id="{E0CC4C29-4A4E-B34B-8F55-3FA6D3A707FB}"/>
              </a:ext>
            </a:extLst>
          </p:cNvPr>
          <p:cNvGrpSpPr/>
          <p:nvPr/>
        </p:nvGrpSpPr>
        <p:grpSpPr>
          <a:xfrm>
            <a:off x="4865779" y="3902926"/>
            <a:ext cx="1813148" cy="708075"/>
            <a:chOff x="3119607" y="3750198"/>
            <a:chExt cx="1813148" cy="708075"/>
          </a:xfrm>
        </p:grpSpPr>
        <p:cxnSp>
          <p:nvCxnSpPr>
            <p:cNvPr id="16" name="直線矢印コネクタ 15">
              <a:extLst>
                <a:ext uri="{FF2B5EF4-FFF2-40B4-BE49-F238E27FC236}">
                  <a16:creationId xmlns:a16="http://schemas.microsoft.com/office/drawing/2014/main" id="{EF378C48-9E55-A44F-8E67-4460D4C2993C}"/>
                </a:ext>
              </a:extLst>
            </p:cNvPr>
            <p:cNvCxnSpPr/>
            <p:nvPr/>
          </p:nvCxnSpPr>
          <p:spPr>
            <a:xfrm>
              <a:off x="3119607" y="3750198"/>
              <a:ext cx="1813148" cy="0"/>
            </a:xfrm>
            <a:prstGeom prst="straightConnector1">
              <a:avLst/>
            </a:prstGeom>
            <a:ln w="57150">
              <a:solidFill>
                <a:srgbClr val="ABD7D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4389AF56-1B63-874E-9FB2-D23CD155400B}"/>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回避</a:t>
              </a:r>
            </a:p>
          </p:txBody>
        </p:sp>
        <mc:AlternateContent xmlns:mc="http://schemas.openxmlformats.org/markup-compatibility/2006">
          <mc:Choice xmlns:a14="http://schemas.microsoft.com/office/drawing/2010/main" Requires="a14">
            <p:sp>
              <p:nvSpPr>
                <p:cNvPr id="19" name="テキスト ボックス 18">
                  <a:extLst>
                    <a:ext uri="{FF2B5EF4-FFF2-40B4-BE49-F238E27FC236}">
                      <a16:creationId xmlns:a16="http://schemas.microsoft.com/office/drawing/2014/main" id="{91EAAEEF-440A-AA4A-A1EB-3E58B7AF8B2C}"/>
                    </a:ext>
                  </a:extLst>
                </p:cNvPr>
                <p:cNvSpPr txBox="1"/>
                <p:nvPr/>
              </p:nvSpPr>
              <p:spPr>
                <a:xfrm>
                  <a:off x="3326437" y="4087659"/>
                  <a:ext cx="1399485" cy="3706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[0.0,0.0]</m:t>
                        </m:r>
                      </m:oMath>
                    </m:oMathPara>
                  </a14:m>
                  <a:endParaRPr kumimoji="1" lang="ja-JP" altLang="en-US"/>
                </a:p>
              </p:txBody>
            </p:sp>
          </mc:Choice>
          <mc:Fallback>
            <p:sp>
              <p:nvSpPr>
                <p:cNvPr id="19" name="テキスト ボックス 18">
                  <a:extLst>
                    <a:ext uri="{FF2B5EF4-FFF2-40B4-BE49-F238E27FC236}">
                      <a16:creationId xmlns:a16="http://schemas.microsoft.com/office/drawing/2014/main" id="{91EAAEEF-440A-AA4A-A1EB-3E58B7AF8B2C}"/>
                    </a:ext>
                  </a:extLst>
                </p:cNvPr>
                <p:cNvSpPr txBox="1">
                  <a:spLocks noRot="1" noChangeAspect="1" noMove="1" noResize="1" noEditPoints="1" noAdjustHandles="1" noChangeArrowheads="1" noChangeShapeType="1" noTextEdit="1"/>
                </p:cNvSpPr>
                <p:nvPr/>
              </p:nvSpPr>
              <p:spPr>
                <a:xfrm>
                  <a:off x="3326437" y="4087659"/>
                  <a:ext cx="1399485" cy="370614"/>
                </a:xfrm>
                <a:prstGeom prst="rect">
                  <a:avLst/>
                </a:prstGeom>
                <a:blipFill>
                  <a:blip r:embed="rId5"/>
                  <a:stretch>
                    <a:fillRect b="-16667"/>
                  </a:stretch>
                </a:blipFill>
              </p:spPr>
              <p:txBody>
                <a:bodyPr/>
                <a:lstStyle/>
                <a:p>
                  <a:r>
                    <a:rPr lang="ja-JP" altLang="en-US">
                      <a:noFill/>
                    </a:rPr>
                    <a:t> </a:t>
                  </a:r>
                </a:p>
              </p:txBody>
            </p:sp>
          </mc:Fallback>
        </mc:AlternateContent>
      </p:grpSp>
      <p:grpSp>
        <p:nvGrpSpPr>
          <p:cNvPr id="22" name="グループ化 21">
            <a:extLst>
              <a:ext uri="{FF2B5EF4-FFF2-40B4-BE49-F238E27FC236}">
                <a16:creationId xmlns:a16="http://schemas.microsoft.com/office/drawing/2014/main" id="{AB43DF24-E4B9-2A47-8326-5259FDBD2808}"/>
              </a:ext>
            </a:extLst>
          </p:cNvPr>
          <p:cNvGrpSpPr/>
          <p:nvPr/>
        </p:nvGrpSpPr>
        <p:grpSpPr>
          <a:xfrm>
            <a:off x="2609298" y="3902926"/>
            <a:ext cx="1813148" cy="706793"/>
            <a:chOff x="3119607" y="3750198"/>
            <a:chExt cx="1813148" cy="706793"/>
          </a:xfrm>
        </p:grpSpPr>
        <p:cxnSp>
          <p:nvCxnSpPr>
            <p:cNvPr id="23" name="直線矢印コネクタ 22">
              <a:extLst>
                <a:ext uri="{FF2B5EF4-FFF2-40B4-BE49-F238E27FC236}">
                  <a16:creationId xmlns:a16="http://schemas.microsoft.com/office/drawing/2014/main" id="{5A14FC19-A473-6A4B-B124-698A3BA4BC41}"/>
                </a:ext>
              </a:extLst>
            </p:cNvPr>
            <p:cNvCxnSpPr/>
            <p:nvPr/>
          </p:nvCxnSpPr>
          <p:spPr>
            <a:xfrm>
              <a:off x="3119607" y="3750198"/>
              <a:ext cx="1813148" cy="0"/>
            </a:xfrm>
            <a:prstGeom prst="straightConnector1">
              <a:avLst/>
            </a:prstGeom>
            <a:ln w="57150">
              <a:solidFill>
                <a:srgbClr val="ECCA5E"/>
              </a:solidFill>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BF0CD999-DA6C-B64E-90B9-E4E21AD432AD}"/>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共存</a:t>
              </a:r>
            </a:p>
          </p:txBody>
        </p:sp>
        <mc:AlternateContent xmlns:mc="http://schemas.openxmlformats.org/markup-compatibility/2006">
          <mc:Choice xmlns:a14="http://schemas.microsoft.com/office/drawing/2010/main" Requires="a14">
            <p:sp>
              <p:nvSpPr>
                <p:cNvPr id="25" name="テキスト ボックス 24">
                  <a:extLst>
                    <a:ext uri="{FF2B5EF4-FFF2-40B4-BE49-F238E27FC236}">
                      <a16:creationId xmlns:a16="http://schemas.microsoft.com/office/drawing/2014/main" id="{A3D2BBC0-F2F6-6248-BC09-864CAF4FDC74}"/>
                    </a:ext>
                  </a:extLst>
                </p:cNvPr>
                <p:cNvSpPr txBox="1"/>
                <p:nvPr/>
              </p:nvSpPr>
              <p:spPr>
                <a:xfrm>
                  <a:off x="3326437" y="4087659"/>
                  <a:ext cx="1399485"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[1.0,1.0]</m:t>
                        </m:r>
                      </m:oMath>
                    </m:oMathPara>
                  </a14:m>
                  <a:endParaRPr kumimoji="1" lang="ja-JP" altLang="en-US"/>
                </a:p>
              </p:txBody>
            </p:sp>
          </mc:Choice>
          <mc:Fallback>
            <p:sp>
              <p:nvSpPr>
                <p:cNvPr id="25" name="テキスト ボックス 24">
                  <a:extLst>
                    <a:ext uri="{FF2B5EF4-FFF2-40B4-BE49-F238E27FC236}">
                      <a16:creationId xmlns:a16="http://schemas.microsoft.com/office/drawing/2014/main" id="{A3D2BBC0-F2F6-6248-BC09-864CAF4FDC74}"/>
                    </a:ext>
                  </a:extLst>
                </p:cNvPr>
                <p:cNvSpPr txBox="1">
                  <a:spLocks noRot="1" noChangeAspect="1" noMove="1" noResize="1" noEditPoints="1" noAdjustHandles="1" noChangeArrowheads="1" noChangeShapeType="1" noTextEdit="1"/>
                </p:cNvSpPr>
                <p:nvPr/>
              </p:nvSpPr>
              <p:spPr>
                <a:xfrm>
                  <a:off x="3326437" y="4087659"/>
                  <a:ext cx="1399485" cy="369332"/>
                </a:xfrm>
                <a:prstGeom prst="rect">
                  <a:avLst/>
                </a:prstGeom>
                <a:blipFill>
                  <a:blip r:embed="rId6"/>
                  <a:stretch>
                    <a:fillRect b="-16667"/>
                  </a:stretch>
                </a:blipFill>
              </p:spPr>
              <p:txBody>
                <a:bodyPr/>
                <a:lstStyle/>
                <a:p>
                  <a:r>
                    <a:rPr lang="ja-JP" altLang="en-US">
                      <a:noFill/>
                    </a:rPr>
                    <a:t> </a:t>
                  </a:r>
                </a:p>
              </p:txBody>
            </p:sp>
          </mc:Fallback>
        </mc:AlternateContent>
      </p:grpSp>
      <p:grpSp>
        <p:nvGrpSpPr>
          <p:cNvPr id="26" name="グループ化 25">
            <a:extLst>
              <a:ext uri="{FF2B5EF4-FFF2-40B4-BE49-F238E27FC236}">
                <a16:creationId xmlns:a16="http://schemas.microsoft.com/office/drawing/2014/main" id="{07051DCB-E807-2D49-AA0C-D1DC10F3A657}"/>
              </a:ext>
            </a:extLst>
          </p:cNvPr>
          <p:cNvGrpSpPr/>
          <p:nvPr/>
        </p:nvGrpSpPr>
        <p:grpSpPr>
          <a:xfrm>
            <a:off x="352817" y="3902926"/>
            <a:ext cx="1813148" cy="706793"/>
            <a:chOff x="3119607" y="3750198"/>
            <a:chExt cx="1813148" cy="706793"/>
          </a:xfrm>
        </p:grpSpPr>
        <p:cxnSp>
          <p:nvCxnSpPr>
            <p:cNvPr id="27" name="直線矢印コネクタ 26">
              <a:extLst>
                <a:ext uri="{FF2B5EF4-FFF2-40B4-BE49-F238E27FC236}">
                  <a16:creationId xmlns:a16="http://schemas.microsoft.com/office/drawing/2014/main" id="{73679C77-E45E-0A49-9E8B-6B8D038425A2}"/>
                </a:ext>
              </a:extLst>
            </p:cNvPr>
            <p:cNvCxnSpPr/>
            <p:nvPr/>
          </p:nvCxnSpPr>
          <p:spPr>
            <a:xfrm>
              <a:off x="3119607" y="3750198"/>
              <a:ext cx="1813148" cy="0"/>
            </a:xfrm>
            <a:prstGeom prst="straightConnector1">
              <a:avLst/>
            </a:prstGeom>
            <a:ln w="57150">
              <a:solidFill>
                <a:srgbClr val="EAB37F"/>
              </a:solidFill>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A18C06EB-59C1-B54E-ABF3-42F7CE3A7842}"/>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競争</a:t>
              </a:r>
            </a:p>
          </p:txBody>
        </p:sp>
        <mc:AlternateContent xmlns:mc="http://schemas.openxmlformats.org/markup-compatibility/2006">
          <mc:Choice xmlns:a14="http://schemas.microsoft.com/office/drawing/2010/main" Requires="a14">
            <p:sp>
              <p:nvSpPr>
                <p:cNvPr id="29" name="テキスト ボックス 28">
                  <a:extLst>
                    <a:ext uri="{FF2B5EF4-FFF2-40B4-BE49-F238E27FC236}">
                      <a16:creationId xmlns:a16="http://schemas.microsoft.com/office/drawing/2014/main" id="{34D82CFC-6F72-A04F-A566-42462BB3D4C5}"/>
                    </a:ext>
                  </a:extLst>
                </p:cNvPr>
                <p:cNvSpPr txBox="1"/>
                <p:nvPr/>
              </p:nvSpPr>
              <p:spPr>
                <a:xfrm>
                  <a:off x="3256463" y="4087659"/>
                  <a:ext cx="1539433"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[1.0,0.0]</m:t>
                        </m:r>
                      </m:oMath>
                    </m:oMathPara>
                  </a14:m>
                  <a:endParaRPr kumimoji="1" lang="ja-JP" altLang="en-US"/>
                </a:p>
              </p:txBody>
            </p:sp>
          </mc:Choice>
          <mc:Fallback>
            <p:sp>
              <p:nvSpPr>
                <p:cNvPr id="29" name="テキスト ボックス 28">
                  <a:extLst>
                    <a:ext uri="{FF2B5EF4-FFF2-40B4-BE49-F238E27FC236}">
                      <a16:creationId xmlns:a16="http://schemas.microsoft.com/office/drawing/2014/main" id="{34D82CFC-6F72-A04F-A566-42462BB3D4C5}"/>
                    </a:ext>
                  </a:extLst>
                </p:cNvPr>
                <p:cNvSpPr txBox="1">
                  <a:spLocks noRot="1" noChangeAspect="1" noMove="1" noResize="1" noEditPoints="1" noAdjustHandles="1" noChangeArrowheads="1" noChangeShapeType="1" noTextEdit="1"/>
                </p:cNvSpPr>
                <p:nvPr/>
              </p:nvSpPr>
              <p:spPr>
                <a:xfrm>
                  <a:off x="3256463" y="4087659"/>
                  <a:ext cx="1539433" cy="369332"/>
                </a:xfrm>
                <a:prstGeom prst="rect">
                  <a:avLst/>
                </a:prstGeom>
                <a:blipFill>
                  <a:blip r:embed="rId7"/>
                  <a:stretch>
                    <a:fillRect b="-16667"/>
                  </a:stretch>
                </a:blipFill>
              </p:spPr>
              <p:txBody>
                <a:bodyPr/>
                <a:lstStyle/>
                <a:p>
                  <a:r>
                    <a:rPr lang="ja-JP" altLang="en-US">
                      <a:noFill/>
                    </a:rPr>
                    <a:t> </a:t>
                  </a:r>
                </a:p>
              </p:txBody>
            </p:sp>
          </mc:Fallback>
        </mc:AlternateContent>
      </p:grpSp>
      <p:grpSp>
        <p:nvGrpSpPr>
          <p:cNvPr id="30" name="グループ化 29">
            <a:extLst>
              <a:ext uri="{FF2B5EF4-FFF2-40B4-BE49-F238E27FC236}">
                <a16:creationId xmlns:a16="http://schemas.microsoft.com/office/drawing/2014/main" id="{80587428-C239-4245-93E6-BDFCF0C6AA59}"/>
              </a:ext>
            </a:extLst>
          </p:cNvPr>
          <p:cNvGrpSpPr/>
          <p:nvPr/>
        </p:nvGrpSpPr>
        <p:grpSpPr>
          <a:xfrm>
            <a:off x="163626" y="1160115"/>
            <a:ext cx="4026409" cy="680876"/>
            <a:chOff x="163626" y="1160115"/>
            <a:chExt cx="4026409" cy="680876"/>
          </a:xfrm>
        </p:grpSpPr>
        <p:cxnSp>
          <p:nvCxnSpPr>
            <p:cNvPr id="31" name="直線コネクタ 30">
              <a:extLst>
                <a:ext uri="{FF2B5EF4-FFF2-40B4-BE49-F238E27FC236}">
                  <a16:creationId xmlns:a16="http://schemas.microsoft.com/office/drawing/2014/main" id="{88099B39-C473-AA4E-9AA9-437159A36075}"/>
                </a:ext>
              </a:extLst>
            </p:cNvPr>
            <p:cNvCxnSpPr>
              <a:cxnSpLocks/>
            </p:cNvCxnSpPr>
            <p:nvPr userDrawn="1"/>
          </p:nvCxnSpPr>
          <p:spPr>
            <a:xfrm>
              <a:off x="163626" y="1699846"/>
              <a:ext cx="402640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2" name="正方形/長方形 31">
              <a:extLst>
                <a:ext uri="{FF2B5EF4-FFF2-40B4-BE49-F238E27FC236}">
                  <a16:creationId xmlns:a16="http://schemas.microsoft.com/office/drawing/2014/main" id="{32D90C07-887B-EF41-ADD0-379122F86B8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95AB70AD-1A49-EB4C-9063-85DA2EBD6226}"/>
              </a:ext>
            </a:extLst>
          </p:cNvPr>
          <p:cNvGrpSpPr/>
          <p:nvPr/>
        </p:nvGrpSpPr>
        <p:grpSpPr>
          <a:xfrm>
            <a:off x="7122260" y="3903012"/>
            <a:ext cx="1813148" cy="708075"/>
            <a:chOff x="3119607" y="3750198"/>
            <a:chExt cx="1813148" cy="708075"/>
          </a:xfrm>
        </p:grpSpPr>
        <p:cxnSp>
          <p:nvCxnSpPr>
            <p:cNvPr id="34" name="直線矢印コネクタ 33">
              <a:extLst>
                <a:ext uri="{FF2B5EF4-FFF2-40B4-BE49-F238E27FC236}">
                  <a16:creationId xmlns:a16="http://schemas.microsoft.com/office/drawing/2014/main" id="{61DAE481-D94E-7342-AFD1-99152610E7DF}"/>
                </a:ext>
              </a:extLst>
            </p:cNvPr>
            <p:cNvCxnSpPr/>
            <p:nvPr/>
          </p:nvCxnSpPr>
          <p:spPr>
            <a:xfrm>
              <a:off x="3119607" y="3750198"/>
              <a:ext cx="1813148" cy="0"/>
            </a:xfrm>
            <a:prstGeom prst="straightConnector1">
              <a:avLst/>
            </a:prstGeom>
            <a:ln w="57150">
              <a:solidFill>
                <a:srgbClr val="ABCFDB"/>
              </a:solidFill>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4C5CF0EA-7CE8-D849-848E-364EACAC12F5}"/>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順応</a:t>
              </a:r>
            </a:p>
          </p:txBody>
        </p:sp>
        <mc:AlternateContent xmlns:mc="http://schemas.openxmlformats.org/markup-compatibility/2006">
          <mc:Choice xmlns:a14="http://schemas.microsoft.com/office/drawing/2010/main" Requires="a14">
            <p:sp>
              <p:nvSpPr>
                <p:cNvPr id="36" name="テキスト ボックス 35">
                  <a:extLst>
                    <a:ext uri="{FF2B5EF4-FFF2-40B4-BE49-F238E27FC236}">
                      <a16:creationId xmlns:a16="http://schemas.microsoft.com/office/drawing/2014/main" id="{24AA0743-1755-3E4C-AD49-A34430B6BC71}"/>
                    </a:ext>
                  </a:extLst>
                </p:cNvPr>
                <p:cNvSpPr txBox="1"/>
                <p:nvPr/>
              </p:nvSpPr>
              <p:spPr>
                <a:xfrm>
                  <a:off x="3326437" y="4087659"/>
                  <a:ext cx="1399485" cy="3706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[0.0,1.0]</m:t>
                        </m:r>
                      </m:oMath>
                    </m:oMathPara>
                  </a14:m>
                  <a:endParaRPr kumimoji="1" lang="ja-JP" altLang="en-US"/>
                </a:p>
              </p:txBody>
            </p:sp>
          </mc:Choice>
          <mc:Fallback>
            <p:sp>
              <p:nvSpPr>
                <p:cNvPr id="36" name="テキスト ボックス 35">
                  <a:extLst>
                    <a:ext uri="{FF2B5EF4-FFF2-40B4-BE49-F238E27FC236}">
                      <a16:creationId xmlns:a16="http://schemas.microsoft.com/office/drawing/2014/main" id="{24AA0743-1755-3E4C-AD49-A34430B6BC71}"/>
                    </a:ext>
                  </a:extLst>
                </p:cNvPr>
                <p:cNvSpPr txBox="1">
                  <a:spLocks noRot="1" noChangeAspect="1" noMove="1" noResize="1" noEditPoints="1" noAdjustHandles="1" noChangeArrowheads="1" noChangeShapeType="1" noTextEdit="1"/>
                </p:cNvSpPr>
                <p:nvPr/>
              </p:nvSpPr>
              <p:spPr>
                <a:xfrm>
                  <a:off x="3326437" y="4087659"/>
                  <a:ext cx="1399485" cy="370614"/>
                </a:xfrm>
                <a:prstGeom prst="rect">
                  <a:avLst/>
                </a:prstGeom>
                <a:blipFill>
                  <a:blip r:embed="rId8"/>
                  <a:stretch>
                    <a:fillRect b="-16667"/>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271237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en-US" altLang="ja-JP" dirty="0"/>
              <a:t>TKI</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2020/6/21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5</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5218602" cy="680876"/>
            <a:chOff x="163626" y="1160115"/>
            <a:chExt cx="5218602"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52186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エージェントの戦略まとめ</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a:t>
            </a:r>
            <a:br>
              <a:rPr lang="en-US" altLang="ja-JP" dirty="0"/>
            </a:br>
            <a:r>
              <a:rPr lang="ja-JP" altLang="en-US"/>
              <a:t>相手の</a:t>
            </a:r>
            <a:r>
              <a:rPr lang="ja-JP" altLang="en-US">
                <a:solidFill>
                  <a:schemeClr val="accent1"/>
                </a:solidFill>
              </a:rPr>
              <a:t>積極性・協調性の値を求める</a:t>
            </a:r>
            <a:endParaRPr lang="en-US" altLang="ja-JP" dirty="0">
              <a:solidFill>
                <a:schemeClr val="accent1"/>
              </a:solidFill>
            </a:endParaRPr>
          </a:p>
          <a:p>
            <a:pPr lvl="1"/>
            <a:r>
              <a:rPr lang="ja-JP" altLang="en-US"/>
              <a:t>移動平均を用いる</a:t>
            </a:r>
            <a:endParaRPr lang="en-US" altLang="ja-JP" dirty="0"/>
          </a:p>
          <a:p>
            <a:r>
              <a:rPr lang="ja-JP" altLang="en-US"/>
              <a:t>算出した</a:t>
            </a:r>
            <a:r>
              <a:rPr lang="en-US" altLang="ja-JP" dirty="0"/>
              <a:t>2</a:t>
            </a:r>
            <a:r>
              <a:rPr lang="ja-JP" altLang="en-US"/>
              <a:t>つの尺度の値と</a:t>
            </a:r>
            <a:br>
              <a:rPr lang="en-US" altLang="ja-JP" dirty="0"/>
            </a:br>
            <a:r>
              <a:rPr lang="ja-JP" altLang="en-US"/>
              <a:t>各カテゴリの</a:t>
            </a:r>
            <a:r>
              <a:rPr lang="ja-JP" altLang="en-US">
                <a:solidFill>
                  <a:schemeClr val="accent1"/>
                </a:solidFill>
              </a:rPr>
              <a:t>ベクトルの類似度を計算</a:t>
            </a:r>
            <a:endParaRPr lang="en-US" altLang="ja-JP" dirty="0">
              <a:solidFill>
                <a:schemeClr val="accent1"/>
              </a:solidFill>
            </a:endParaRPr>
          </a:p>
          <a:p>
            <a:r>
              <a:rPr lang="ja-JP" altLang="en-US"/>
              <a:t>類似度を元に</a:t>
            </a:r>
            <a:r>
              <a:rPr lang="ja-JP" altLang="en-US">
                <a:solidFill>
                  <a:schemeClr val="accent2"/>
                </a:solidFill>
              </a:rPr>
              <a:t>譲歩速度などを変化</a:t>
            </a:r>
            <a:endParaRPr lang="en-US" altLang="ja-JP" dirty="0">
              <a:solidFill>
                <a:schemeClr val="accent2"/>
              </a:solidFill>
            </a:endParaRPr>
          </a:p>
          <a:p>
            <a:endParaRPr lang="ja-JP" altLang="en-US"/>
          </a:p>
        </p:txBody>
      </p:sp>
      <p:grpSp>
        <p:nvGrpSpPr>
          <p:cNvPr id="54" name="グループ化 53">
            <a:extLst>
              <a:ext uri="{FF2B5EF4-FFF2-40B4-BE49-F238E27FC236}">
                <a16:creationId xmlns:a16="http://schemas.microsoft.com/office/drawing/2014/main" id="{2165357C-4927-174B-A170-E6830385DABB}"/>
              </a:ext>
            </a:extLst>
          </p:cNvPr>
          <p:cNvGrpSpPr/>
          <p:nvPr/>
        </p:nvGrpSpPr>
        <p:grpSpPr>
          <a:xfrm>
            <a:off x="398611" y="4444355"/>
            <a:ext cx="7758865" cy="1963886"/>
            <a:chOff x="236563" y="4444355"/>
            <a:chExt cx="7758865" cy="1963886"/>
          </a:xfrm>
        </p:grpSpPr>
        <p:grpSp>
          <p:nvGrpSpPr>
            <p:cNvPr id="8" name="グループ化 7">
              <a:extLst>
                <a:ext uri="{FF2B5EF4-FFF2-40B4-BE49-F238E27FC236}">
                  <a16:creationId xmlns:a16="http://schemas.microsoft.com/office/drawing/2014/main" id="{9065FB69-4CE3-514C-9F03-5515861C1717}"/>
                </a:ext>
              </a:extLst>
            </p:cNvPr>
            <p:cNvGrpSpPr/>
            <p:nvPr/>
          </p:nvGrpSpPr>
          <p:grpSpPr>
            <a:xfrm>
              <a:off x="3504593" y="5114930"/>
              <a:ext cx="1994463" cy="1016312"/>
              <a:chOff x="3369630" y="5195061"/>
              <a:chExt cx="1994463" cy="1016312"/>
            </a:xfrm>
          </p:grpSpPr>
          <p:cxnSp>
            <p:nvCxnSpPr>
              <p:cNvPr id="34" name="直線矢印コネクタ 33">
                <a:extLst>
                  <a:ext uri="{FF2B5EF4-FFF2-40B4-BE49-F238E27FC236}">
                    <a16:creationId xmlns:a16="http://schemas.microsoft.com/office/drawing/2014/main" id="{9E583E9C-DB90-884C-99DF-09A11BC1D48E}"/>
                  </a:ext>
                </a:extLst>
              </p:cNvPr>
              <p:cNvCxnSpPr/>
              <p:nvPr/>
            </p:nvCxnSpPr>
            <p:spPr>
              <a:xfrm>
                <a:off x="3369630" y="5665274"/>
                <a:ext cx="1994463" cy="0"/>
              </a:xfrm>
              <a:prstGeom prst="straightConnector1">
                <a:avLst/>
              </a:prstGeom>
              <a:ln w="57150">
                <a:solidFill>
                  <a:srgbClr val="EAB37F"/>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12B7248F-DDEE-FE4A-B38E-EF63F9BF85B3}"/>
                  </a:ext>
                </a:extLst>
              </p:cNvPr>
              <p:cNvCxnSpPr>
                <a:cxnSpLocks/>
              </p:cNvCxnSpPr>
              <p:nvPr/>
            </p:nvCxnSpPr>
            <p:spPr>
              <a:xfrm flipV="1">
                <a:off x="3381205" y="5195061"/>
                <a:ext cx="878278" cy="48397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627BEEDC-207D-C44D-95A9-8A6F91AE249E}"/>
                  </a:ext>
                </a:extLst>
              </p:cNvPr>
              <p:cNvSpPr txBox="1"/>
              <p:nvPr/>
            </p:nvSpPr>
            <p:spPr>
              <a:xfrm>
                <a:off x="3483386" y="5842041"/>
                <a:ext cx="1766949" cy="369332"/>
              </a:xfrm>
              <a:prstGeom prst="rect">
                <a:avLst/>
              </a:prstGeom>
              <a:noFill/>
            </p:spPr>
            <p:txBody>
              <a:bodyPr wrap="square" rtlCol="0">
                <a:spAutoFit/>
              </a:bodyPr>
              <a:lstStyle/>
              <a:p>
                <a:pPr algn="ctr"/>
                <a:r>
                  <a:rPr kumimoji="1" lang="ja-JP" altLang="en-US"/>
                  <a:t>類似度を計算</a:t>
                </a:r>
              </a:p>
            </p:txBody>
          </p:sp>
        </p:grpSp>
        <p:grpSp>
          <p:nvGrpSpPr>
            <p:cNvPr id="16" name="グループ化 15">
              <a:extLst>
                <a:ext uri="{FF2B5EF4-FFF2-40B4-BE49-F238E27FC236}">
                  <a16:creationId xmlns:a16="http://schemas.microsoft.com/office/drawing/2014/main" id="{FB165451-849D-2B49-B364-C5F08F4247C9}"/>
                </a:ext>
              </a:extLst>
            </p:cNvPr>
            <p:cNvGrpSpPr/>
            <p:nvPr/>
          </p:nvGrpSpPr>
          <p:grpSpPr>
            <a:xfrm>
              <a:off x="236563" y="4814410"/>
              <a:ext cx="2704638" cy="1593831"/>
              <a:chOff x="217031" y="4814410"/>
              <a:chExt cx="2704638" cy="1593831"/>
            </a:xfrm>
          </p:grpSpPr>
          <p:cxnSp>
            <p:nvCxnSpPr>
              <p:cNvPr id="41" name="直線矢印コネクタ 40">
                <a:extLst>
                  <a:ext uri="{FF2B5EF4-FFF2-40B4-BE49-F238E27FC236}">
                    <a16:creationId xmlns:a16="http://schemas.microsoft.com/office/drawing/2014/main" id="{23D81F44-AB32-3647-92FF-C03E93EBE9F5}"/>
                  </a:ext>
                </a:extLst>
              </p:cNvPr>
              <p:cNvCxnSpPr>
                <a:cxnSpLocks/>
              </p:cNvCxnSpPr>
              <p:nvPr/>
            </p:nvCxnSpPr>
            <p:spPr>
              <a:xfrm flipV="1">
                <a:off x="1884604" y="5101167"/>
                <a:ext cx="878278" cy="48397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2234BD33-AC73-2047-8967-E43F42409BAC}"/>
                  </a:ext>
                </a:extLst>
              </p:cNvPr>
              <p:cNvSpPr txBox="1"/>
              <p:nvPr/>
            </p:nvSpPr>
            <p:spPr>
              <a:xfrm>
                <a:off x="217031" y="5761910"/>
                <a:ext cx="2704638" cy="646331"/>
              </a:xfrm>
              <a:prstGeom prst="rect">
                <a:avLst/>
              </a:prstGeom>
              <a:noFill/>
            </p:spPr>
            <p:txBody>
              <a:bodyPr wrap="square" rtlCol="0">
                <a:spAutoFit/>
              </a:bodyPr>
              <a:lstStyle/>
              <a:p>
                <a:pPr algn="ctr"/>
                <a:r>
                  <a:rPr kumimoji="1" lang="ja-JP" altLang="en-US"/>
                  <a:t>積極性・協調性を推定</a:t>
                </a:r>
              </a:p>
            </p:txBody>
          </p:sp>
          <p:sp>
            <p:nvSpPr>
              <p:cNvPr id="10" name="三角形 9">
                <a:extLst>
                  <a:ext uri="{FF2B5EF4-FFF2-40B4-BE49-F238E27FC236}">
                    <a16:creationId xmlns:a16="http://schemas.microsoft.com/office/drawing/2014/main" id="{18949641-2187-F240-8DAD-8825D7C150CC}"/>
                  </a:ext>
                </a:extLst>
              </p:cNvPr>
              <p:cNvSpPr/>
              <p:nvPr/>
            </p:nvSpPr>
            <p:spPr>
              <a:xfrm rot="5400000">
                <a:off x="1510580" y="5227874"/>
                <a:ext cx="296135" cy="12757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9E63192B-E0B8-CC41-8960-CB2D243F5B00}"/>
                  </a:ext>
                </a:extLst>
              </p:cNvPr>
              <p:cNvGrpSpPr/>
              <p:nvPr/>
            </p:nvGrpSpPr>
            <p:grpSpPr>
              <a:xfrm>
                <a:off x="616773" y="4814410"/>
                <a:ext cx="861781" cy="947500"/>
                <a:chOff x="674235" y="4814508"/>
                <a:chExt cx="861781" cy="947500"/>
              </a:xfrm>
            </p:grpSpPr>
            <p:sp>
              <p:nvSpPr>
                <p:cNvPr id="14" name="メモ 13">
                  <a:extLst>
                    <a:ext uri="{FF2B5EF4-FFF2-40B4-BE49-F238E27FC236}">
                      <a16:creationId xmlns:a16="http://schemas.microsoft.com/office/drawing/2014/main" id="{503DC9A0-EF36-AF4F-AF5B-D83DF52730DC}"/>
                    </a:ext>
                  </a:extLst>
                </p:cNvPr>
                <p:cNvSpPr/>
                <p:nvPr/>
              </p:nvSpPr>
              <p:spPr>
                <a:xfrm rot="10800000">
                  <a:off x="763672" y="4814508"/>
                  <a:ext cx="682907" cy="947500"/>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71842217-B5CD-E14A-BAAE-83F80AC392CB}"/>
                    </a:ext>
                  </a:extLst>
                </p:cNvPr>
                <p:cNvSpPr txBox="1"/>
                <p:nvPr/>
              </p:nvSpPr>
              <p:spPr>
                <a:xfrm>
                  <a:off x="674235" y="5172252"/>
                  <a:ext cx="861781" cy="369332"/>
                </a:xfrm>
                <a:prstGeom prst="rect">
                  <a:avLst/>
                </a:prstGeom>
                <a:noFill/>
              </p:spPr>
              <p:txBody>
                <a:bodyPr wrap="square" rtlCol="0">
                  <a:spAutoFit/>
                </a:bodyPr>
                <a:lstStyle/>
                <a:p>
                  <a:pPr algn="ctr"/>
                  <a:r>
                    <a:rPr kumimoji="1" lang="en-US" altLang="ja-JP" dirty="0"/>
                    <a:t>Offer</a:t>
                  </a:r>
                  <a:endParaRPr kumimoji="1" lang="ja-JP" altLang="en-US"/>
                </a:p>
              </p:txBody>
            </p:sp>
          </p:grpSp>
        </p:grpSp>
        <p:sp>
          <p:nvSpPr>
            <p:cNvPr id="17" name="右矢印 16">
              <a:extLst>
                <a:ext uri="{FF2B5EF4-FFF2-40B4-BE49-F238E27FC236}">
                  <a16:creationId xmlns:a16="http://schemas.microsoft.com/office/drawing/2014/main" id="{B4942326-2527-5F4D-8CFC-5F502952CC8A}"/>
                </a:ext>
              </a:extLst>
            </p:cNvPr>
            <p:cNvSpPr/>
            <p:nvPr/>
          </p:nvSpPr>
          <p:spPr>
            <a:xfrm>
              <a:off x="3082921"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右矢印 44">
              <a:extLst>
                <a:ext uri="{FF2B5EF4-FFF2-40B4-BE49-F238E27FC236}">
                  <a16:creationId xmlns:a16="http://schemas.microsoft.com/office/drawing/2014/main" id="{9FF18A30-A3C7-1E47-B8A4-C9BBA76EB2BB}"/>
                </a:ext>
              </a:extLst>
            </p:cNvPr>
            <p:cNvSpPr/>
            <p:nvPr/>
          </p:nvSpPr>
          <p:spPr>
            <a:xfrm>
              <a:off x="5815896"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3" name="グループ化 52">
              <a:extLst>
                <a:ext uri="{FF2B5EF4-FFF2-40B4-BE49-F238E27FC236}">
                  <a16:creationId xmlns:a16="http://schemas.microsoft.com/office/drawing/2014/main" id="{8BB40CDB-767C-F846-81FC-D50EEBDEDF91}"/>
                </a:ext>
              </a:extLst>
            </p:cNvPr>
            <p:cNvGrpSpPr/>
            <p:nvPr/>
          </p:nvGrpSpPr>
          <p:grpSpPr>
            <a:xfrm>
              <a:off x="6051784" y="4444355"/>
              <a:ext cx="1943644" cy="1963886"/>
              <a:chOff x="6051784" y="4444355"/>
              <a:chExt cx="1943644" cy="1963886"/>
            </a:xfrm>
          </p:grpSpPr>
          <p:grpSp>
            <p:nvGrpSpPr>
              <p:cNvPr id="47" name="グループ化 46">
                <a:extLst>
                  <a:ext uri="{FF2B5EF4-FFF2-40B4-BE49-F238E27FC236}">
                    <a16:creationId xmlns:a16="http://schemas.microsoft.com/office/drawing/2014/main" id="{E11C1039-7584-2B4C-9170-7D257ECA1741}"/>
                  </a:ext>
                </a:extLst>
              </p:cNvPr>
              <p:cNvGrpSpPr/>
              <p:nvPr/>
            </p:nvGrpSpPr>
            <p:grpSpPr>
              <a:xfrm>
                <a:off x="6388405" y="4444355"/>
                <a:ext cx="1270404" cy="1270404"/>
                <a:chOff x="6886936" y="4676172"/>
                <a:chExt cx="1270404" cy="1270404"/>
              </a:xfrm>
            </p:grpSpPr>
            <p:cxnSp>
              <p:nvCxnSpPr>
                <p:cNvPr id="19" name="直線コネクタ 18">
                  <a:extLst>
                    <a:ext uri="{FF2B5EF4-FFF2-40B4-BE49-F238E27FC236}">
                      <a16:creationId xmlns:a16="http://schemas.microsoft.com/office/drawing/2014/main" id="{D49C790C-D481-A24A-9980-4FEB10221937}"/>
                    </a:ext>
                  </a:extLst>
                </p:cNvPr>
                <p:cNvCxnSpPr/>
                <p:nvPr/>
              </p:nvCxnSpPr>
              <p:spPr>
                <a:xfrm>
                  <a:off x="6898511" y="4676172"/>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C968865-7C68-CB40-8073-AB077F3C966A}"/>
                    </a:ext>
                  </a:extLst>
                </p:cNvPr>
                <p:cNvCxnSpPr>
                  <a:cxnSpLocks/>
                </p:cNvCxnSpPr>
                <p:nvPr/>
              </p:nvCxnSpPr>
              <p:spPr>
                <a:xfrm rot="16200000">
                  <a:off x="7522138" y="5299799"/>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フリーフォーム 48">
                <a:extLst>
                  <a:ext uri="{FF2B5EF4-FFF2-40B4-BE49-F238E27FC236}">
                    <a16:creationId xmlns:a16="http://schemas.microsoft.com/office/drawing/2014/main" id="{9797452E-93E4-384C-A78F-0C76A4DB72E2}"/>
                  </a:ext>
                </a:extLst>
              </p:cNvPr>
              <p:cNvSpPr/>
              <p:nvPr/>
            </p:nvSpPr>
            <p:spPr>
              <a:xfrm>
                <a:off x="6412375" y="48142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50">
                <a:extLst>
                  <a:ext uri="{FF2B5EF4-FFF2-40B4-BE49-F238E27FC236}">
                    <a16:creationId xmlns:a16="http://schemas.microsoft.com/office/drawing/2014/main" id="{C576183D-2D5C-7A4C-9BC3-1A9E844828EA}"/>
                  </a:ext>
                </a:extLst>
              </p:cNvPr>
              <p:cNvSpPr/>
              <p:nvPr/>
            </p:nvSpPr>
            <p:spPr>
              <a:xfrm>
                <a:off x="6412375" y="48497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1A01385F-3EAD-0E4A-8145-56BB2A51EBE7}"/>
                  </a:ext>
                </a:extLst>
              </p:cNvPr>
              <p:cNvSpPr txBox="1"/>
              <p:nvPr/>
            </p:nvSpPr>
            <p:spPr>
              <a:xfrm>
                <a:off x="6051784" y="5761910"/>
                <a:ext cx="1943644" cy="646331"/>
              </a:xfrm>
              <a:prstGeom prst="rect">
                <a:avLst/>
              </a:prstGeom>
              <a:noFill/>
            </p:spPr>
            <p:txBody>
              <a:bodyPr wrap="square" rtlCol="0">
                <a:spAutoFit/>
              </a:bodyPr>
              <a:lstStyle/>
              <a:p>
                <a:pPr algn="ctr"/>
                <a:r>
                  <a:rPr kumimoji="1" lang="ja-JP" altLang="en-US"/>
                  <a:t>譲歩速度の変更</a:t>
                </a:r>
              </a:p>
            </p:txBody>
          </p:sp>
        </p:grpSp>
      </p:grpSp>
      <p:pic>
        <p:nvPicPr>
          <p:cNvPr id="36" name="図 35">
            <a:extLst>
              <a:ext uri="{FF2B5EF4-FFF2-40B4-BE49-F238E27FC236}">
                <a16:creationId xmlns:a16="http://schemas.microsoft.com/office/drawing/2014/main" id="{F19E9765-88FB-7C46-84B8-E05BB0CAFEED}"/>
              </a:ext>
            </a:extLst>
          </p:cNvPr>
          <p:cNvPicPr>
            <a:picLocks noChangeAspect="1"/>
          </p:cNvPicPr>
          <p:nvPr/>
        </p:nvPicPr>
        <p:blipFill>
          <a:blip r:embed="rId4"/>
          <a:stretch>
            <a:fillRect/>
          </a:stretch>
        </p:blipFill>
        <p:spPr>
          <a:xfrm>
            <a:off x="6847144" y="1030556"/>
            <a:ext cx="2222334" cy="2750219"/>
          </a:xfrm>
          <a:prstGeom prst="rect">
            <a:avLst/>
          </a:prstGeom>
        </p:spPr>
      </p:pic>
    </p:spTree>
    <p:extLst>
      <p:ext uri="{BB962C8B-B14F-4D97-AF65-F5344CB8AC3E}">
        <p14:creationId xmlns:p14="http://schemas.microsoft.com/office/powerpoint/2010/main" val="3744786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kumimoji="1" lang="ja-JP" altLang="en-US"/>
              <a:t>今後について</a:t>
            </a:r>
          </a:p>
        </p:txBody>
      </p:sp>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3463117"/>
          </a:xfrm>
        </p:spPr>
        <p:txBody>
          <a:bodyPr/>
          <a:lstStyle/>
          <a:p>
            <a:r>
              <a:rPr kumimoji="1" lang="en-US" altLang="ja-JP" dirty="0"/>
              <a:t>TKI</a:t>
            </a:r>
            <a:r>
              <a:rPr lang="ja-JP" altLang="en-US"/>
              <a:t>における</a:t>
            </a:r>
            <a:r>
              <a:rPr kumimoji="1" lang="ja-JP" altLang="en-US"/>
              <a:t>各尺度の計算</a:t>
            </a:r>
            <a:endParaRPr kumimoji="1" lang="en-US" altLang="ja-JP" dirty="0"/>
          </a:p>
          <a:p>
            <a:pPr lvl="1"/>
            <a:r>
              <a:rPr lang="en-US" altLang="ja-JP" dirty="0"/>
              <a:t>bid</a:t>
            </a:r>
            <a:r>
              <a:rPr lang="ja-JP" altLang="en-US"/>
              <a:t>の分散と平均で積極性と協調性を計算する方針でいいのか？</a:t>
            </a:r>
            <a:endParaRPr lang="en-US" altLang="ja-JP" dirty="0"/>
          </a:p>
          <a:p>
            <a:pPr lvl="1"/>
            <a:r>
              <a:rPr lang="ja-JP" altLang="en-US"/>
              <a:t>他にいいものが思いつかない</a:t>
            </a:r>
            <a:endParaRPr lang="en-US" altLang="ja-JP" dirty="0"/>
          </a:p>
          <a:p>
            <a:r>
              <a:rPr lang="en-US" altLang="ja-JP" dirty="0"/>
              <a:t>BIG5</a:t>
            </a:r>
            <a:r>
              <a:rPr lang="ja-JP" altLang="en-US"/>
              <a:t>における各尺度の計算</a:t>
            </a:r>
            <a:endParaRPr lang="en-US" altLang="ja-JP" dirty="0"/>
          </a:p>
          <a:p>
            <a:r>
              <a:rPr lang="ja-JP" altLang="en-US"/>
              <a:t>類似度の選定</a:t>
            </a:r>
            <a:endParaRPr lang="en-US" altLang="ja-JP" dirty="0"/>
          </a:p>
          <a:p>
            <a:pPr lvl="1"/>
            <a:r>
              <a:rPr lang="en-US" altLang="ja-JP" dirty="0"/>
              <a:t>cos</a:t>
            </a:r>
            <a:r>
              <a:rPr lang="ja-JP" altLang="en-US"/>
              <a:t>類似度？</a:t>
            </a:r>
            <a:endParaRPr lang="en-US" altLang="ja-JP" dirty="0"/>
          </a:p>
          <a:p>
            <a:r>
              <a:rPr lang="ja-JP" altLang="en-US"/>
              <a:t>譲歩速度などの具体的な値</a:t>
            </a:r>
            <a:endParaRPr lang="en-US" altLang="ja-JP" dirty="0"/>
          </a:p>
          <a:p>
            <a:endParaRPr lang="en-US" altLang="ja-JP" dirty="0"/>
          </a:p>
          <a:p>
            <a:endParaRPr kumimoji="1" lang="ja-JP" altLang="en-US"/>
          </a:p>
        </p:txBody>
      </p:sp>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2020/6/21</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6</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3679169" cy="680876"/>
            <a:chOff x="163626" y="1160115"/>
            <a:chExt cx="3679169"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367916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現在考え中のもの</a:t>
            </a:r>
          </a:p>
        </p:txBody>
      </p:sp>
    </p:spTree>
    <p:extLst>
      <p:ext uri="{BB962C8B-B14F-4D97-AF65-F5344CB8AC3E}">
        <p14:creationId xmlns:p14="http://schemas.microsoft.com/office/powerpoint/2010/main" val="2430591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kumimoji="1" lang="ja-JP" altLang="en-US"/>
              <a:t>今後について</a:t>
            </a:r>
          </a:p>
        </p:txBody>
      </p:sp>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3"/>
            <a:ext cx="8859709" cy="4507313"/>
          </a:xfrm>
        </p:spPr>
        <p:txBody>
          <a:bodyPr/>
          <a:lstStyle/>
          <a:p>
            <a:r>
              <a:rPr lang="ja-JP" altLang="en-US"/>
              <a:t>長期的な交渉ではやはり相手とのコミットメントを築くことが重要</a:t>
            </a:r>
            <a:endParaRPr lang="en-US" altLang="ja-JP" dirty="0"/>
          </a:p>
          <a:p>
            <a:r>
              <a:rPr lang="ja-JP" altLang="en-US"/>
              <a:t>戦略</a:t>
            </a:r>
            <a:r>
              <a:rPr lang="en-US" altLang="ja-JP" dirty="0"/>
              <a:t>1</a:t>
            </a:r>
            <a:r>
              <a:rPr lang="ja-JP" altLang="en-US"/>
              <a:t>：人間っぽく振る舞う</a:t>
            </a:r>
            <a:endParaRPr lang="en-US" altLang="ja-JP" dirty="0"/>
          </a:p>
          <a:p>
            <a:pPr lvl="1"/>
            <a:r>
              <a:rPr lang="ja-JP" altLang="en-US"/>
              <a:t>相手がコンピュータだとわかるとコミットメントを築く</a:t>
            </a:r>
            <a:br>
              <a:rPr lang="en-US" altLang="ja-JP" dirty="0"/>
            </a:br>
            <a:r>
              <a:rPr lang="ja-JP" altLang="en-US"/>
              <a:t>方向に向かわないのではないか？</a:t>
            </a:r>
            <a:endParaRPr lang="en-US" altLang="ja-JP" dirty="0"/>
          </a:p>
          <a:p>
            <a:pPr lvl="1"/>
            <a:r>
              <a:rPr lang="ja-JP" altLang="en-US"/>
              <a:t>人間の認知過程を模倣してみる？</a:t>
            </a:r>
            <a:endParaRPr lang="en-US" altLang="ja-JP" dirty="0"/>
          </a:p>
          <a:p>
            <a:pPr lvl="1"/>
            <a:r>
              <a:rPr lang="ja-JP" altLang="en-US"/>
              <a:t>認知資源が多い時</a:t>
            </a:r>
            <a:r>
              <a:rPr lang="en-US" altLang="ja-JP" dirty="0"/>
              <a:t>(</a:t>
            </a:r>
            <a:r>
              <a:rPr lang="ja-JP" altLang="en-US"/>
              <a:t>交渉序盤</a:t>
            </a:r>
            <a:r>
              <a:rPr lang="en-US" altLang="ja-JP" dirty="0"/>
              <a:t>)</a:t>
            </a:r>
          </a:p>
          <a:p>
            <a:pPr lvl="2"/>
            <a:r>
              <a:rPr lang="ja-JP" altLang="en-US"/>
              <a:t>人間は複雑な処理を行う</a:t>
            </a:r>
            <a:r>
              <a:rPr lang="en-US" altLang="ja-JP" dirty="0"/>
              <a:t>(</a:t>
            </a:r>
            <a:r>
              <a:rPr lang="ja-JP" altLang="en-US"/>
              <a:t>複数の情報を組み合わせた処理</a:t>
            </a:r>
            <a:r>
              <a:rPr lang="en-US" altLang="ja-JP" dirty="0"/>
              <a:t>)</a:t>
            </a:r>
          </a:p>
          <a:p>
            <a:pPr lvl="1"/>
            <a:r>
              <a:rPr lang="ja-JP" altLang="en-US"/>
              <a:t>認知資源が少ない時</a:t>
            </a:r>
            <a:r>
              <a:rPr lang="en-US" altLang="ja-JP" dirty="0"/>
              <a:t>(</a:t>
            </a:r>
            <a:r>
              <a:rPr lang="ja-JP" altLang="en-US"/>
              <a:t>交渉終盤</a:t>
            </a:r>
            <a:r>
              <a:rPr lang="en-US" altLang="ja-JP" dirty="0"/>
              <a:t>)</a:t>
            </a:r>
          </a:p>
          <a:p>
            <a:pPr lvl="2"/>
            <a:r>
              <a:rPr lang="ja-JP" altLang="en-US"/>
              <a:t>人間は簡便な処理を行う</a:t>
            </a:r>
            <a:r>
              <a:rPr lang="en-US" altLang="ja-JP" dirty="0"/>
              <a:t>(</a:t>
            </a:r>
            <a:r>
              <a:rPr lang="ja-JP" altLang="en-US"/>
              <a:t>カテゴリ化・ステレオタイプ等</a:t>
            </a:r>
            <a:r>
              <a:rPr lang="en-US" altLang="ja-JP" dirty="0"/>
              <a:t>)</a:t>
            </a:r>
          </a:p>
          <a:p>
            <a:pPr lvl="1"/>
            <a:r>
              <a:rPr lang="ja-JP" altLang="en-US"/>
              <a:t>考えては見たもののちょっと面倒そうだし</a:t>
            </a:r>
            <a:r>
              <a:rPr lang="ja-JP" altLang="en-US">
                <a:solidFill>
                  <a:schemeClr val="accent2"/>
                </a:solidFill>
              </a:rPr>
              <a:t>効果がなさそう</a:t>
            </a:r>
            <a:endParaRPr lang="en-US" altLang="ja-JP" dirty="0">
              <a:solidFill>
                <a:schemeClr val="accent2"/>
              </a:solidFill>
            </a:endParaRPr>
          </a:p>
          <a:p>
            <a:endParaRPr lang="en-US" altLang="ja-JP" dirty="0"/>
          </a:p>
          <a:p>
            <a:endParaRPr kumimoji="1" lang="ja-JP" altLang="en-US"/>
          </a:p>
        </p:txBody>
      </p:sp>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2020/6/21</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7</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1630450" cy="680876"/>
            <a:chOff x="163626" y="1160115"/>
            <a:chExt cx="1630450"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163045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ANAC</a:t>
            </a:r>
            <a:endParaRPr lang="ja-JP" altLang="en-US"/>
          </a:p>
        </p:txBody>
      </p:sp>
    </p:spTree>
    <p:extLst>
      <p:ext uri="{BB962C8B-B14F-4D97-AF65-F5344CB8AC3E}">
        <p14:creationId xmlns:p14="http://schemas.microsoft.com/office/powerpoint/2010/main" val="3403629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kumimoji="1" lang="ja-JP" altLang="en-US"/>
              <a:t>今後について</a:t>
            </a:r>
          </a:p>
        </p:txBody>
      </p:sp>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4342794"/>
          </a:xfrm>
        </p:spPr>
        <p:txBody>
          <a:bodyPr/>
          <a:lstStyle/>
          <a:p>
            <a:r>
              <a:rPr lang="ja-JP" altLang="en-US"/>
              <a:t>長期的な交渉ではやはり相手とのコミットメントを築くことが重要</a:t>
            </a:r>
            <a:endParaRPr lang="en-US" altLang="ja-JP" dirty="0"/>
          </a:p>
          <a:p>
            <a:r>
              <a:rPr lang="ja-JP" altLang="en-US"/>
              <a:t>戦略</a:t>
            </a:r>
            <a:r>
              <a:rPr lang="en-US" altLang="ja-JP" dirty="0"/>
              <a:t>2</a:t>
            </a:r>
            <a:r>
              <a:rPr lang="ja-JP" altLang="en-US"/>
              <a:t>：</a:t>
            </a:r>
            <a:r>
              <a:rPr lang="en-US" altLang="ja-JP" dirty="0"/>
              <a:t>BIG5</a:t>
            </a:r>
            <a:r>
              <a:rPr lang="ja-JP" altLang="en-US"/>
              <a:t>を使った戦略</a:t>
            </a:r>
            <a:endParaRPr lang="en-US" altLang="ja-JP" dirty="0"/>
          </a:p>
          <a:p>
            <a:pPr lvl="1"/>
            <a:r>
              <a:rPr lang="ja-JP" altLang="en-US"/>
              <a:t>特性</a:t>
            </a:r>
            <a:r>
              <a:rPr lang="en-US" altLang="ja-JP" dirty="0"/>
              <a:t>5</a:t>
            </a:r>
            <a:r>
              <a:rPr lang="ja-JP" altLang="en-US"/>
              <a:t>因子の値は測定する期間が空いても変動が少ない</a:t>
            </a:r>
            <a:endParaRPr lang="en-US" altLang="ja-JP" dirty="0"/>
          </a:p>
          <a:p>
            <a:pPr lvl="2"/>
            <a:r>
              <a:rPr lang="ja-JP" altLang="en-US"/>
              <a:t>長期的な交渉に向いているのでは？</a:t>
            </a:r>
            <a:endParaRPr lang="en-US" altLang="ja-JP" dirty="0"/>
          </a:p>
          <a:p>
            <a:pPr lvl="1"/>
            <a:r>
              <a:rPr lang="ja-JP" altLang="en-US"/>
              <a:t>カテゴリ分類とかはせずに単純に相手の特性</a:t>
            </a:r>
            <a:r>
              <a:rPr lang="en-US" altLang="ja-JP" dirty="0"/>
              <a:t>5</a:t>
            </a:r>
            <a:r>
              <a:rPr lang="ja-JP" altLang="en-US"/>
              <a:t>因子の値によって行動を決める</a:t>
            </a:r>
            <a:endParaRPr lang="en-US" altLang="ja-JP" dirty="0"/>
          </a:p>
          <a:p>
            <a:pPr lvl="2"/>
            <a:r>
              <a:rPr lang="ja-JP" altLang="en-US"/>
              <a:t>例</a:t>
            </a:r>
            <a:r>
              <a:rPr lang="en-US" altLang="ja-JP" dirty="0"/>
              <a:t>1</a:t>
            </a:r>
            <a:r>
              <a:rPr lang="ja-JP" altLang="en-US"/>
              <a:t>：外向性が低い相手には</a:t>
            </a:r>
            <a:r>
              <a:rPr lang="en-US" altLang="ja-JP" dirty="0"/>
              <a:t>Offer</a:t>
            </a:r>
            <a:r>
              <a:rPr lang="ja-JP" altLang="en-US"/>
              <a:t>を多く送ってあげる</a:t>
            </a:r>
            <a:endParaRPr lang="en-US" altLang="ja-JP" dirty="0"/>
          </a:p>
          <a:p>
            <a:pPr lvl="2"/>
            <a:r>
              <a:rPr kumimoji="1" lang="ja-JP" altLang="en-US"/>
              <a:t>例</a:t>
            </a:r>
            <a:r>
              <a:rPr kumimoji="1" lang="en-US" altLang="ja-JP" dirty="0"/>
              <a:t>2</a:t>
            </a:r>
            <a:r>
              <a:rPr kumimoji="1" lang="ja-JP" altLang="en-US"/>
              <a:t>：神経症傾向が高い相手には公平な</a:t>
            </a:r>
            <a:r>
              <a:rPr kumimoji="1" lang="en-US" altLang="ja-JP" dirty="0"/>
              <a:t>Offer</a:t>
            </a:r>
            <a:r>
              <a:rPr kumimoji="1" lang="ja-JP" altLang="en-US"/>
              <a:t>を多く送る</a:t>
            </a:r>
            <a:endParaRPr kumimoji="1" lang="en-US" altLang="ja-JP" dirty="0"/>
          </a:p>
        </p:txBody>
      </p:sp>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2020/6/21</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8</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1630450" cy="680876"/>
            <a:chOff x="163626" y="1160115"/>
            <a:chExt cx="1630450"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163045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ANAC</a:t>
            </a:r>
            <a:endParaRPr lang="ja-JP" altLang="en-US"/>
          </a:p>
        </p:txBody>
      </p:sp>
    </p:spTree>
    <p:extLst>
      <p:ext uri="{BB962C8B-B14F-4D97-AF65-F5344CB8AC3E}">
        <p14:creationId xmlns:p14="http://schemas.microsoft.com/office/powerpoint/2010/main" val="2262094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補足</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9791"/>
              </a:xfrm>
            </p:spPr>
            <p:txBody>
              <a:bodyPr/>
              <a:lstStyle/>
              <a:p>
                <a:r>
                  <a:rPr lang="en-US" altLang="ja-JP" dirty="0"/>
                  <a:t>BIG5</a:t>
                </a:r>
                <a:r>
                  <a:rPr lang="ja-JP" altLang="en-US"/>
                  <a:t>は</a:t>
                </a:r>
                <a:r>
                  <a:rPr lang="en-US" altLang="ja-JP" dirty="0"/>
                  <a:t>Offer</a:t>
                </a:r>
                <a:r>
                  <a:rPr lang="ja-JP" altLang="en-US"/>
                  <a:t>とそれ以外の行動</a:t>
                </a:r>
                <a:br>
                  <a:rPr lang="en-US" altLang="ja-JP" dirty="0"/>
                </a:br>
                <a:r>
                  <a:rPr lang="ja-JP" altLang="en-US"/>
                  <a:t>どちらも考慮しようと思う</a:t>
                </a:r>
                <a:endParaRPr lang="en-US" altLang="ja-JP" dirty="0"/>
              </a:p>
              <a:p>
                <a:r>
                  <a:rPr lang="ja-JP" altLang="en-US"/>
                  <a:t>こっちの協調性は行動に対する</a:t>
                </a:r>
                <a:br>
                  <a:rPr lang="en-US" altLang="ja-JP" dirty="0"/>
                </a:br>
                <a:r>
                  <a:rPr lang="ja-JP" altLang="en-US"/>
                  <a:t>感受性を用いても面白そう</a:t>
                </a:r>
                <a:endParaRPr lang="en-US" altLang="ja-JP" dirty="0"/>
              </a:p>
              <a:p>
                <a:pPr marL="0" indent="0">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𝐵𝑒h𝑎𝑣𝑠𝑒𝑛𝑠</m:t>
                      </m:r>
                      <m:r>
                        <a:rPr lang="en-US" altLang="ja-JP" i="1">
                          <a:latin typeface="Cambria Math" panose="02040503050406030204" pitchFamily="18" charset="0"/>
                        </a:rPr>
                        <m:t>= </m:t>
                      </m:r>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𝐹𝑜𝑟𝑡𝑢𝑛𝑎𝑡𝑒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𝑁𝑖𝑐𝑒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𝐶𝑜𝑛𝑐𝑒𝑠𝑠𝑖𝑜𝑛</m:t>
                              </m:r>
                            </m:sub>
                          </m:sSub>
                        </m:num>
                        <m:den>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𝑆𝑒𝑙𝑓𝑖𝑠h</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𝑈𝑛𝑓𝑜𝑟𝑡𝑢𝑛𝑎𝑡𝑒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𝑆𝑖𝑙𝑒𝑛𝑡</m:t>
                              </m:r>
                            </m:sub>
                          </m:sSub>
                        </m:den>
                      </m:f>
                    </m:oMath>
                  </m:oMathPara>
                </a14:m>
                <a:endParaRPr lang="en-US" altLang="ja-JP" dirty="0"/>
              </a:p>
              <a:p>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3949791"/>
              </a:xfrm>
              <a:blipFill>
                <a:blip r:embed="rId2"/>
                <a:stretch>
                  <a:fillRect t="-2244"/>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2020/6/21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9</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0</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3"/>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2753194" cy="680876"/>
            <a:chOff x="163626" y="1160115"/>
            <a:chExt cx="275319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275319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p>
        </p:txBody>
      </p:sp>
      <mc:AlternateContent xmlns:mc="http://schemas.openxmlformats.org/markup-compatibility/2006" xmlns:a14="http://schemas.microsoft.com/office/drawing/2010/main">
        <mc:Choice Requires="a14">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685632522"/>
                      </a:ext>
                    </a:extLst>
                  </a:tr>
                </a:tbl>
              </a:graphicData>
            </a:graphic>
          </p:graphicFrame>
        </mc:Choice>
        <mc:Fallback xmlns="">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108696" r="-102041" b="-517391"/>
                          </a:stretch>
                        </a:blipFill>
                      </a:tcPr>
                    </a:tc>
                    <a:tc>
                      <a:txBody>
                        <a:bodyPr/>
                        <a:lstStyle/>
                        <a:p>
                          <a:endParaRPr lang="ja-JP"/>
                        </a:p>
                      </a:txBody>
                      <a:tcPr marL="75570" marR="75570">
                        <a:blipFill>
                          <a:blip r:embed="rId6"/>
                          <a:stretch>
                            <a:fillRect l="-163514" t="-108696" r="-1351" b="-517391"/>
                          </a:stretch>
                        </a:blipFill>
                      </a:tcPr>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200000" r="-102041" b="-395833"/>
                          </a:stretch>
                        </a:blipFill>
                      </a:tcPr>
                    </a:tc>
                    <a:tc>
                      <a:txBody>
                        <a:bodyPr/>
                        <a:lstStyle/>
                        <a:p>
                          <a:endParaRPr lang="ja-JP"/>
                        </a:p>
                      </a:txBody>
                      <a:tcPr marL="75570" marR="75570">
                        <a:blipFill>
                          <a:blip r:embed="rId6"/>
                          <a:stretch>
                            <a:fillRect l="-163514" t="-200000" r="-1351" b="-395833"/>
                          </a:stretch>
                        </a:blipFill>
                      </a:tcPr>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13043" r="-102041" b="-313043"/>
                          </a:stretch>
                        </a:blipFill>
                      </a:tcPr>
                    </a:tc>
                    <a:tc>
                      <a:txBody>
                        <a:bodyPr/>
                        <a:lstStyle/>
                        <a:p>
                          <a:endParaRPr lang="ja-JP"/>
                        </a:p>
                      </a:txBody>
                      <a:tcPr marL="75570" marR="75570">
                        <a:blipFill>
                          <a:blip r:embed="rId6"/>
                          <a:stretch>
                            <a:fillRect l="-163514" t="-313043" r="-1351" b="-313043"/>
                          </a:stretch>
                        </a:blipFill>
                      </a:tcPr>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95833" r="-102041" b="-200000"/>
                          </a:stretch>
                        </a:blipFill>
                      </a:tcPr>
                    </a:tc>
                    <a:tc>
                      <a:txBody>
                        <a:bodyPr/>
                        <a:lstStyle/>
                        <a:p>
                          <a:endParaRPr lang="ja-JP"/>
                        </a:p>
                      </a:txBody>
                      <a:tcPr marL="75570" marR="75570">
                        <a:blipFill>
                          <a:blip r:embed="rId6"/>
                          <a:stretch>
                            <a:fillRect l="-163514" t="-395833" r="-1351" b="-200000"/>
                          </a:stretch>
                        </a:blipFill>
                      </a:tcPr>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17391" r="-102041" b="-108696"/>
                          </a:stretch>
                        </a:blipFill>
                      </a:tcPr>
                    </a:tc>
                    <a:tc>
                      <a:txBody>
                        <a:bodyPr/>
                        <a:lstStyle/>
                        <a:p>
                          <a:endParaRPr lang="ja-JP"/>
                        </a:p>
                      </a:txBody>
                      <a:tcPr marL="75570" marR="75570">
                        <a:blipFill>
                          <a:blip r:embed="rId6"/>
                          <a:stretch>
                            <a:fillRect l="-163514" t="-517391" r="-1351" b="-108696"/>
                          </a:stretch>
                        </a:blipFill>
                      </a:tcPr>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91667" r="-102041" b="-4167"/>
                          </a:stretch>
                        </a:blipFill>
                      </a:tcPr>
                    </a:tc>
                    <a:tc>
                      <a:txBody>
                        <a:bodyPr/>
                        <a:lstStyle/>
                        <a:p>
                          <a:endParaRPr lang="ja-JP"/>
                        </a:p>
                      </a:txBody>
                      <a:tcPr marL="75570" marR="75570">
                        <a:blipFill>
                          <a:blip r:embed="rId6"/>
                          <a:stretch>
                            <a:fillRect l="-163514" t="-591667" r="-1351" b="-4167"/>
                          </a:stretch>
                        </a:blipFill>
                      </a:tcPr>
                    </a:tc>
                    <a:extLst>
                      <a:ext uri="{0D108BD9-81ED-4DB2-BD59-A6C34878D82A}">
                        <a16:rowId xmlns:a16="http://schemas.microsoft.com/office/drawing/2014/main" val="2685632522"/>
                      </a:ext>
                    </a:extLst>
                  </a:tr>
                </a:tbl>
              </a:graphicData>
            </a:graphic>
          </p:graphicFrame>
        </mc:Fallback>
      </mc:AlternateContent>
    </p:spTree>
    <p:extLst>
      <p:ext uri="{BB962C8B-B14F-4D97-AF65-F5344CB8AC3E}">
        <p14:creationId xmlns:p14="http://schemas.microsoft.com/office/powerpoint/2010/main" val="1007859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補足</a:t>
            </a:r>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7779"/>
          </a:xfrm>
        </p:spPr>
        <p:txBody>
          <a:bodyPr/>
          <a:lstStyle/>
          <a:p>
            <a:r>
              <a:rPr lang="ja-JP" altLang="en-US"/>
              <a:t>神経症的傾向</a:t>
            </a:r>
            <a:endParaRPr lang="en-US" altLang="ja-JP" dirty="0"/>
          </a:p>
          <a:p>
            <a:pPr lvl="1"/>
            <a:r>
              <a:rPr lang="ja-JP" altLang="en-US"/>
              <a:t>ストレス耐性の高さ</a:t>
            </a:r>
          </a:p>
          <a:p>
            <a:r>
              <a:rPr lang="ja-JP" altLang="en-US"/>
              <a:t>外向性</a:t>
            </a:r>
            <a:endParaRPr lang="en-US" altLang="ja-JP" dirty="0"/>
          </a:p>
          <a:p>
            <a:pPr lvl="1"/>
            <a:r>
              <a:rPr lang="ja-JP" altLang="en-US"/>
              <a:t>社交性，積極性の高さ</a:t>
            </a:r>
          </a:p>
          <a:p>
            <a:r>
              <a:rPr lang="ja-JP" altLang="en-US"/>
              <a:t>経験への開放性</a:t>
            </a:r>
            <a:endParaRPr lang="en-US" altLang="ja-JP" dirty="0"/>
          </a:p>
          <a:p>
            <a:pPr lvl="1"/>
            <a:r>
              <a:rPr lang="ja-JP" altLang="en-US"/>
              <a:t>知的好奇心の強さ</a:t>
            </a:r>
          </a:p>
          <a:p>
            <a:r>
              <a:rPr lang="ja-JP" altLang="en-US"/>
              <a:t>誠実性</a:t>
            </a:r>
            <a:endParaRPr lang="en-US" altLang="ja-JP" dirty="0"/>
          </a:p>
          <a:p>
            <a:pPr lvl="1"/>
            <a:r>
              <a:rPr lang="ja-JP" altLang="en-US"/>
              <a:t>計画性の高さ・真面目さ</a:t>
            </a:r>
          </a:p>
          <a:p>
            <a:endParaRPr lang="ja-JP" altLang="en-US"/>
          </a:p>
          <a:p>
            <a:endParaRPr lang="ja-JP" altLang="en-US"/>
          </a:p>
          <a:p>
            <a:endParaRPr lang="en-US" altLang="ja-JP" dirty="0"/>
          </a:p>
          <a:p>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2020/6/21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10</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0</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2"/>
          <a:stretch>
            <a:fillRect/>
          </a:stretch>
        </p:blipFill>
        <p:spPr>
          <a:xfrm>
            <a:off x="5499056" y="1052532"/>
            <a:ext cx="3673279" cy="2316536"/>
          </a:xfrm>
          <a:prstGeom prst="rect">
            <a:avLst/>
          </a:prstGeom>
        </p:spPr>
      </p:pic>
      <p:sp>
        <p:nvSpPr>
          <p:cNvPr id="18" name="テキスト プレースホルダー 12">
            <a:extLst>
              <a:ext uri="{FF2B5EF4-FFF2-40B4-BE49-F238E27FC236}">
                <a16:creationId xmlns:a16="http://schemas.microsoft.com/office/drawing/2014/main" id="{B1673F2D-B405-CB4D-8F59-80842B8ACB15}"/>
              </a:ext>
            </a:extLst>
          </p:cNvPr>
          <p:cNvSpPr txBox="1">
            <a:spLocks/>
          </p:cNvSpPr>
          <p:nvPr/>
        </p:nvSpPr>
        <p:spPr>
          <a:xfrm>
            <a:off x="404691" y="2876210"/>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a:p>
        </p:txBody>
      </p:sp>
      <p:sp>
        <p:nvSpPr>
          <p:cNvPr id="32" name="角丸四角形吹き出し 31">
            <a:extLst>
              <a:ext uri="{FF2B5EF4-FFF2-40B4-BE49-F238E27FC236}">
                <a16:creationId xmlns:a16="http://schemas.microsoft.com/office/drawing/2014/main" id="{F27DA7FE-B30A-5944-8380-F455330215A8}"/>
              </a:ext>
            </a:extLst>
          </p:cNvPr>
          <p:cNvSpPr/>
          <p:nvPr/>
        </p:nvSpPr>
        <p:spPr>
          <a:xfrm>
            <a:off x="1542599" y="5394770"/>
            <a:ext cx="4572451" cy="896345"/>
          </a:xfrm>
          <a:prstGeom prst="wedgeRoundRectCallout">
            <a:avLst>
              <a:gd name="adj1" fmla="val -55108"/>
              <a:gd name="adj2" fmla="val -39015"/>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bg2"/>
                </a:solidFill>
              </a:rPr>
              <a:t>bid</a:t>
            </a:r>
            <a:r>
              <a:rPr kumimoji="1" lang="ja-JP" altLang="en-US">
                <a:solidFill>
                  <a:schemeClr val="bg2"/>
                </a:solidFill>
              </a:rPr>
              <a:t>の分散</a:t>
            </a:r>
            <a:r>
              <a:rPr kumimoji="1" lang="en-US" altLang="ja-JP" dirty="0">
                <a:solidFill>
                  <a:schemeClr val="bg2"/>
                </a:solidFill>
              </a:rPr>
              <a:t>(</a:t>
            </a:r>
            <a:r>
              <a:rPr kumimoji="1" lang="ja-JP" altLang="en-US">
                <a:solidFill>
                  <a:schemeClr val="bg2"/>
                </a:solidFill>
              </a:rPr>
              <a:t>計画性の高さ</a:t>
            </a:r>
            <a:r>
              <a:rPr kumimoji="1" lang="en-US" altLang="ja-JP" dirty="0">
                <a:solidFill>
                  <a:schemeClr val="bg2"/>
                </a:solidFill>
              </a:rPr>
              <a:t>)</a:t>
            </a:r>
          </a:p>
          <a:p>
            <a:r>
              <a:rPr kumimoji="1" lang="en-US" altLang="ja-JP" dirty="0">
                <a:solidFill>
                  <a:schemeClr val="bg2"/>
                </a:solidFill>
              </a:rPr>
              <a:t>- </a:t>
            </a:r>
            <a:r>
              <a:rPr kumimoji="1" lang="ja-JP" altLang="en-US">
                <a:solidFill>
                  <a:schemeClr val="bg2"/>
                </a:solidFill>
              </a:rPr>
              <a:t>選好に関して嘘をついた回数</a:t>
            </a:r>
            <a:r>
              <a:rPr kumimoji="1" lang="en-US" altLang="ja-JP" dirty="0">
                <a:solidFill>
                  <a:schemeClr val="bg2"/>
                </a:solidFill>
              </a:rPr>
              <a:t>(</a:t>
            </a:r>
            <a:r>
              <a:rPr kumimoji="1" lang="ja-JP" altLang="en-US">
                <a:solidFill>
                  <a:schemeClr val="bg2"/>
                </a:solidFill>
              </a:rPr>
              <a:t>真面目さ</a:t>
            </a:r>
            <a:r>
              <a:rPr kumimoji="1" lang="en-US" altLang="ja-JP" dirty="0">
                <a:solidFill>
                  <a:schemeClr val="bg2"/>
                </a:solidFill>
              </a:rPr>
              <a:t>)</a:t>
            </a:r>
            <a:endParaRPr kumimoji="1" lang="ja-JP" altLang="en-US">
              <a:solidFill>
                <a:schemeClr val="bg2"/>
              </a:solidFill>
            </a:endParaRPr>
          </a:p>
        </p:txBody>
      </p:sp>
      <p:sp>
        <p:nvSpPr>
          <p:cNvPr id="33" name="角丸四角形吹き出し 32">
            <a:extLst>
              <a:ext uri="{FF2B5EF4-FFF2-40B4-BE49-F238E27FC236}">
                <a16:creationId xmlns:a16="http://schemas.microsoft.com/office/drawing/2014/main" id="{ED39F5FF-EC58-6E4E-84CB-97EC3A835CDA}"/>
              </a:ext>
            </a:extLst>
          </p:cNvPr>
          <p:cNvSpPr/>
          <p:nvPr/>
        </p:nvSpPr>
        <p:spPr>
          <a:xfrm>
            <a:off x="4202611" y="3000841"/>
            <a:ext cx="2592890" cy="740781"/>
          </a:xfrm>
          <a:prstGeom prst="wedgeRoundRectCallout">
            <a:avLst>
              <a:gd name="adj1" fmla="val -56681"/>
              <a:gd name="adj2" fmla="val 12445"/>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行動の頻度</a:t>
            </a:r>
            <a:r>
              <a:rPr kumimoji="1" lang="en-US" altLang="ja-JP" dirty="0">
                <a:solidFill>
                  <a:schemeClr val="bg2"/>
                </a:solidFill>
              </a:rPr>
              <a:t>(</a:t>
            </a:r>
            <a:r>
              <a:rPr kumimoji="1" lang="ja-JP" altLang="en-US">
                <a:solidFill>
                  <a:schemeClr val="bg2"/>
                </a:solidFill>
              </a:rPr>
              <a:t>社交性</a:t>
            </a:r>
            <a:r>
              <a:rPr kumimoji="1" lang="en-US" altLang="ja-JP" dirty="0">
                <a:solidFill>
                  <a:schemeClr val="bg2"/>
                </a:solidFill>
              </a:rPr>
              <a:t>)</a:t>
            </a:r>
            <a:br>
              <a:rPr kumimoji="1" lang="en-US" altLang="ja-JP" dirty="0">
                <a:solidFill>
                  <a:schemeClr val="bg2"/>
                </a:solidFill>
              </a:rPr>
            </a:br>
            <a:r>
              <a:rPr kumimoji="1" lang="en-US" altLang="ja-JP" dirty="0">
                <a:solidFill>
                  <a:schemeClr val="bg2"/>
                </a:solidFill>
              </a:rPr>
              <a:t>+Selfish</a:t>
            </a:r>
            <a:r>
              <a:rPr kumimoji="1" lang="ja-JP" altLang="en-US">
                <a:solidFill>
                  <a:schemeClr val="bg2"/>
                </a:solidFill>
              </a:rPr>
              <a:t>の値</a:t>
            </a:r>
            <a:r>
              <a:rPr kumimoji="1" lang="en-US" altLang="ja-JP" dirty="0">
                <a:solidFill>
                  <a:schemeClr val="bg2"/>
                </a:solidFill>
              </a:rPr>
              <a:t>(</a:t>
            </a:r>
            <a:r>
              <a:rPr kumimoji="1" lang="ja-JP" altLang="en-US">
                <a:solidFill>
                  <a:schemeClr val="bg2"/>
                </a:solidFill>
              </a:rPr>
              <a:t>積極性</a:t>
            </a:r>
            <a:r>
              <a:rPr kumimoji="1" lang="en-US" altLang="ja-JP" dirty="0">
                <a:solidFill>
                  <a:schemeClr val="bg2"/>
                </a:solidFill>
              </a:rPr>
              <a:t>)</a:t>
            </a:r>
            <a:endParaRPr kumimoji="1" lang="ja-JP" altLang="en-US">
              <a:solidFill>
                <a:schemeClr val="bg2"/>
              </a:solidFill>
            </a:endParaRPr>
          </a:p>
        </p:txBody>
      </p:sp>
      <p:sp>
        <p:nvSpPr>
          <p:cNvPr id="34" name="角丸四角形吹き出し 33">
            <a:extLst>
              <a:ext uri="{FF2B5EF4-FFF2-40B4-BE49-F238E27FC236}">
                <a16:creationId xmlns:a16="http://schemas.microsoft.com/office/drawing/2014/main" id="{8DE2AEC0-38A1-2148-9CF5-A38F7A433182}"/>
              </a:ext>
            </a:extLst>
          </p:cNvPr>
          <p:cNvSpPr/>
          <p:nvPr/>
        </p:nvSpPr>
        <p:spPr>
          <a:xfrm>
            <a:off x="3980454" y="1997304"/>
            <a:ext cx="3508365" cy="740781"/>
          </a:xfrm>
          <a:prstGeom prst="wedgeRoundRectCallout">
            <a:avLst>
              <a:gd name="adj1" fmla="val -56111"/>
              <a:gd name="adj2" fmla="val 20257"/>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行動</a:t>
            </a:r>
            <a:r>
              <a:rPr kumimoji="1" lang="en-US" altLang="ja-JP" dirty="0">
                <a:solidFill>
                  <a:schemeClr val="bg2"/>
                </a:solidFill>
              </a:rPr>
              <a:t>(</a:t>
            </a:r>
            <a:r>
              <a:rPr kumimoji="1" lang="ja-JP" altLang="en-US">
                <a:solidFill>
                  <a:schemeClr val="bg2"/>
                </a:solidFill>
              </a:rPr>
              <a:t>主に感情</a:t>
            </a:r>
            <a:r>
              <a:rPr kumimoji="1" lang="en-US" altLang="ja-JP" dirty="0">
                <a:solidFill>
                  <a:schemeClr val="bg2"/>
                </a:solidFill>
              </a:rPr>
              <a:t>)</a:t>
            </a:r>
            <a:r>
              <a:rPr kumimoji="1" lang="ja-JP" altLang="en-US">
                <a:solidFill>
                  <a:schemeClr val="bg2"/>
                </a:solidFill>
              </a:rPr>
              <a:t>の分散の逆数</a:t>
            </a:r>
            <a:br>
              <a:rPr kumimoji="1" lang="en-US" altLang="ja-JP" dirty="0">
                <a:solidFill>
                  <a:schemeClr val="bg2"/>
                </a:solidFill>
              </a:rPr>
            </a:br>
            <a:r>
              <a:rPr kumimoji="1" lang="en-US" altLang="ja-JP" dirty="0">
                <a:solidFill>
                  <a:schemeClr val="bg2"/>
                </a:solidFill>
              </a:rPr>
              <a:t>+Selfish</a:t>
            </a:r>
            <a:r>
              <a:rPr kumimoji="1" lang="ja-JP" altLang="en-US">
                <a:solidFill>
                  <a:schemeClr val="bg2"/>
                </a:solidFill>
              </a:rPr>
              <a:t>な</a:t>
            </a:r>
            <a:r>
              <a:rPr kumimoji="1" lang="en-US" altLang="ja-JP" dirty="0">
                <a:solidFill>
                  <a:schemeClr val="bg2"/>
                </a:solidFill>
              </a:rPr>
              <a:t>Offer</a:t>
            </a:r>
            <a:r>
              <a:rPr kumimoji="1" lang="ja-JP" altLang="en-US">
                <a:solidFill>
                  <a:schemeClr val="bg2"/>
                </a:solidFill>
              </a:rPr>
              <a:t>に対する反応</a:t>
            </a:r>
          </a:p>
        </p:txBody>
      </p:sp>
      <p:sp>
        <p:nvSpPr>
          <p:cNvPr id="36" name="角丸四角形吹き出し 35">
            <a:extLst>
              <a:ext uri="{FF2B5EF4-FFF2-40B4-BE49-F238E27FC236}">
                <a16:creationId xmlns:a16="http://schemas.microsoft.com/office/drawing/2014/main" id="{FB75BBCD-2363-EF47-8BA3-B4253D5A03CC}"/>
              </a:ext>
            </a:extLst>
          </p:cNvPr>
          <p:cNvSpPr/>
          <p:nvPr/>
        </p:nvSpPr>
        <p:spPr>
          <a:xfrm>
            <a:off x="3622929" y="3952450"/>
            <a:ext cx="3553376" cy="896345"/>
          </a:xfrm>
          <a:prstGeom prst="wedgeRoundRectCallout">
            <a:avLst>
              <a:gd name="adj1" fmla="val -54851"/>
              <a:gd name="adj2" fmla="val -18354"/>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選好に関して質問してきた回数</a:t>
            </a:r>
            <a:endParaRPr kumimoji="1" lang="en-US" altLang="ja-JP" dirty="0">
              <a:solidFill>
                <a:schemeClr val="bg2"/>
              </a:solidFill>
            </a:endParaRPr>
          </a:p>
          <a:p>
            <a:r>
              <a:rPr kumimoji="1" lang="en-US" altLang="ja-JP" dirty="0">
                <a:solidFill>
                  <a:schemeClr val="bg2"/>
                </a:solidFill>
              </a:rPr>
              <a:t>+ bid</a:t>
            </a:r>
            <a:r>
              <a:rPr kumimoji="1" lang="ja-JP" altLang="en-US">
                <a:solidFill>
                  <a:schemeClr val="bg2"/>
                </a:solidFill>
              </a:rPr>
              <a:t>の動き</a:t>
            </a:r>
          </a:p>
        </p:txBody>
      </p:sp>
      <p:grpSp>
        <p:nvGrpSpPr>
          <p:cNvPr id="19" name="グループ化 18">
            <a:extLst>
              <a:ext uri="{FF2B5EF4-FFF2-40B4-BE49-F238E27FC236}">
                <a16:creationId xmlns:a16="http://schemas.microsoft.com/office/drawing/2014/main" id="{5B570E13-591A-0C46-A125-DB9B991BFA39}"/>
              </a:ext>
            </a:extLst>
          </p:cNvPr>
          <p:cNvGrpSpPr/>
          <p:nvPr/>
        </p:nvGrpSpPr>
        <p:grpSpPr>
          <a:xfrm>
            <a:off x="163626" y="1160115"/>
            <a:ext cx="2961539" cy="680876"/>
            <a:chOff x="163626" y="1160115"/>
            <a:chExt cx="2961539" cy="680876"/>
          </a:xfrm>
        </p:grpSpPr>
        <p:cxnSp>
          <p:nvCxnSpPr>
            <p:cNvPr id="22" name="直線コネクタ 21">
              <a:extLst>
                <a:ext uri="{FF2B5EF4-FFF2-40B4-BE49-F238E27FC236}">
                  <a16:creationId xmlns:a16="http://schemas.microsoft.com/office/drawing/2014/main" id="{472F047A-45BB-DF4A-93BA-6CB593900DC7}"/>
                </a:ext>
              </a:extLst>
            </p:cNvPr>
            <p:cNvCxnSpPr>
              <a:cxnSpLocks/>
            </p:cNvCxnSpPr>
            <p:nvPr userDrawn="1"/>
          </p:nvCxnSpPr>
          <p:spPr>
            <a:xfrm>
              <a:off x="163626" y="1699846"/>
              <a:ext cx="296153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570C4BA7-7A2C-CC48-B012-410C523B058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6" name="テキスト プレースホルダー 12">
            <a:extLst>
              <a:ext uri="{FF2B5EF4-FFF2-40B4-BE49-F238E27FC236}">
                <a16:creationId xmlns:a16="http://schemas.microsoft.com/office/drawing/2014/main" id="{7B7F527F-C47B-3643-889D-282D604F7CC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について</a:t>
            </a:r>
          </a:p>
        </p:txBody>
      </p:sp>
    </p:spTree>
    <p:extLst>
      <p:ext uri="{BB962C8B-B14F-4D97-AF65-F5344CB8AC3E}">
        <p14:creationId xmlns:p14="http://schemas.microsoft.com/office/powerpoint/2010/main" val="1801245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103724-ACA8-DF4D-A385-1BC4F784F6F2}"/>
              </a:ext>
            </a:extLst>
          </p:cNvPr>
          <p:cNvSpPr>
            <a:spLocks noGrp="1"/>
          </p:cNvSpPr>
          <p:nvPr>
            <p:ph type="title"/>
          </p:nvPr>
        </p:nvSpPr>
        <p:spPr/>
        <p:txBody>
          <a:bodyPr/>
          <a:lstStyle/>
          <a:p>
            <a:r>
              <a:rPr kumimoji="1" lang="ja-JP" altLang="en-US"/>
              <a:t>補足</a:t>
            </a:r>
          </a:p>
        </p:txBody>
      </p:sp>
      <p:sp>
        <p:nvSpPr>
          <p:cNvPr id="3" name="日付プレースホルダー 2">
            <a:extLst>
              <a:ext uri="{FF2B5EF4-FFF2-40B4-BE49-F238E27FC236}">
                <a16:creationId xmlns:a16="http://schemas.microsoft.com/office/drawing/2014/main" id="{FEADFD89-D45F-C942-8216-965C37C5123E}"/>
              </a:ext>
            </a:extLst>
          </p:cNvPr>
          <p:cNvSpPr>
            <a:spLocks noGrp="1"/>
          </p:cNvSpPr>
          <p:nvPr>
            <p:ph type="dt" sz="half" idx="10"/>
          </p:nvPr>
        </p:nvSpPr>
        <p:spPr/>
        <p:txBody>
          <a:bodyPr/>
          <a:lstStyle/>
          <a:p>
            <a:fld id="{484468A3-0919-F54E-B59A-E9ED9FABFE93}" type="datetime1">
              <a:rPr kumimoji="1" lang="ja-JP" altLang="en-US" smtClean="0"/>
              <a:t>2020/6/21</a:t>
            </a:fld>
            <a:endParaRPr kumimoji="1" lang="ja-JP" altLang="en-US"/>
          </a:p>
        </p:txBody>
      </p:sp>
      <p:sp>
        <p:nvSpPr>
          <p:cNvPr id="4" name="フッター プレースホルダー 3">
            <a:extLst>
              <a:ext uri="{FF2B5EF4-FFF2-40B4-BE49-F238E27FC236}">
                <a16:creationId xmlns:a16="http://schemas.microsoft.com/office/drawing/2014/main" id="{CCB8B864-6FF2-414F-B809-58F3F2AAB863}"/>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8CB50CC8-05A9-654B-AEA0-335555BA58A5}"/>
              </a:ext>
            </a:extLst>
          </p:cNvPr>
          <p:cNvSpPr>
            <a:spLocks noGrp="1"/>
          </p:cNvSpPr>
          <p:nvPr>
            <p:ph type="sldNum" sz="quarter" idx="12"/>
          </p:nvPr>
        </p:nvSpPr>
        <p:spPr/>
        <p:txBody>
          <a:bodyPr/>
          <a:lstStyle/>
          <a:p>
            <a:fld id="{2981C279-7323-A845-8A27-BB5908B2F04D}" type="slidenum">
              <a:rPr kumimoji="1" lang="ja-JP" altLang="en-US" smtClean="0"/>
              <a:t>11</a:t>
            </a:fld>
            <a:endParaRPr kumimoji="1" lang="ja-JP" altLang="en-US"/>
          </a:p>
        </p:txBody>
      </p:sp>
      <p:sp>
        <p:nvSpPr>
          <p:cNvPr id="6" name="テキスト プレースホルダー 5">
            <a:extLst>
              <a:ext uri="{FF2B5EF4-FFF2-40B4-BE49-F238E27FC236}">
                <a16:creationId xmlns:a16="http://schemas.microsoft.com/office/drawing/2014/main" id="{3345BB60-32A5-0A47-89A1-B112566F6997}"/>
              </a:ext>
            </a:extLst>
          </p:cNvPr>
          <p:cNvSpPr>
            <a:spLocks noGrp="1"/>
          </p:cNvSpPr>
          <p:nvPr>
            <p:ph type="body" sz="quarter" idx="13"/>
          </p:nvPr>
        </p:nvSpPr>
        <p:spPr/>
        <p:txBody>
          <a:bodyPr/>
          <a:lstStyle/>
          <a:p>
            <a:r>
              <a:rPr kumimoji="1" lang="en-US" altLang="ja-JP" dirty="0"/>
              <a:t>0</a:t>
            </a:r>
            <a:endParaRPr kumimoji="1" lang="ja-JP" altLang="en-US"/>
          </a:p>
        </p:txBody>
      </p:sp>
      <p:pic>
        <p:nvPicPr>
          <p:cNvPr id="8" name="図 7">
            <a:extLst>
              <a:ext uri="{FF2B5EF4-FFF2-40B4-BE49-F238E27FC236}">
                <a16:creationId xmlns:a16="http://schemas.microsoft.com/office/drawing/2014/main" id="{9E33E308-7F92-9F4D-92B7-F943A6AE3C2A}"/>
              </a:ext>
            </a:extLst>
          </p:cNvPr>
          <p:cNvPicPr>
            <a:picLocks noChangeAspect="1"/>
          </p:cNvPicPr>
          <p:nvPr/>
        </p:nvPicPr>
        <p:blipFill>
          <a:blip r:embed="rId2"/>
          <a:stretch>
            <a:fillRect/>
          </a:stretch>
        </p:blipFill>
        <p:spPr>
          <a:xfrm>
            <a:off x="1155700" y="2027604"/>
            <a:ext cx="6832600" cy="4457700"/>
          </a:xfrm>
          <a:prstGeom prst="rect">
            <a:avLst/>
          </a:prstGeom>
        </p:spPr>
      </p:pic>
      <p:grpSp>
        <p:nvGrpSpPr>
          <p:cNvPr id="11" name="グループ化 10">
            <a:extLst>
              <a:ext uri="{FF2B5EF4-FFF2-40B4-BE49-F238E27FC236}">
                <a16:creationId xmlns:a16="http://schemas.microsoft.com/office/drawing/2014/main" id="{B8CFE30F-3219-9146-9460-D520FAF0DE7B}"/>
              </a:ext>
            </a:extLst>
          </p:cNvPr>
          <p:cNvGrpSpPr/>
          <p:nvPr/>
        </p:nvGrpSpPr>
        <p:grpSpPr>
          <a:xfrm>
            <a:off x="163626" y="1160115"/>
            <a:ext cx="4987108" cy="680876"/>
            <a:chOff x="163626" y="1160115"/>
            <a:chExt cx="4987108" cy="680876"/>
          </a:xfrm>
        </p:grpSpPr>
        <p:cxnSp>
          <p:nvCxnSpPr>
            <p:cNvPr id="12" name="直線コネクタ 11">
              <a:extLst>
                <a:ext uri="{FF2B5EF4-FFF2-40B4-BE49-F238E27FC236}">
                  <a16:creationId xmlns:a16="http://schemas.microsoft.com/office/drawing/2014/main" id="{DEB0C066-9DE6-7648-9334-E4615AF10790}"/>
                </a:ext>
              </a:extLst>
            </p:cNvPr>
            <p:cNvCxnSpPr>
              <a:cxnSpLocks/>
            </p:cNvCxnSpPr>
            <p:nvPr userDrawn="1"/>
          </p:nvCxnSpPr>
          <p:spPr>
            <a:xfrm>
              <a:off x="163626" y="1699846"/>
              <a:ext cx="4987108"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30049B49-0802-B04E-AC36-0E24108CE572}"/>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4" name="テキスト プレースホルダー 12">
            <a:extLst>
              <a:ext uri="{FF2B5EF4-FFF2-40B4-BE49-F238E27FC236}">
                <a16:creationId xmlns:a16="http://schemas.microsoft.com/office/drawing/2014/main" id="{DE351FF0-BB2B-074D-86F2-EF8E3D35EE2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によるカテゴリ分類</a:t>
            </a:r>
          </a:p>
        </p:txBody>
      </p:sp>
    </p:spTree>
    <p:extLst>
      <p:ext uri="{BB962C8B-B14F-4D97-AF65-F5344CB8AC3E}">
        <p14:creationId xmlns:p14="http://schemas.microsoft.com/office/powerpoint/2010/main" val="2792762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補足</a:t>
            </a:r>
            <a:endParaRPr kumimoji="1" lang="ja-JP" altLang="en-US"/>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507316"/>
              </a:xfrm>
            </p:spPr>
            <p:txBody>
              <a:bodyPr/>
              <a:lstStyle/>
              <a:p>
                <a:r>
                  <a:rPr lang="ja-JP" altLang="en-US"/>
                  <a:t>譲歩速度</a:t>
                </a:r>
                <a:endParaRPr lang="en-US" altLang="ja-JP" dirty="0"/>
              </a:p>
              <a:p>
                <a:pPr lvl="1"/>
                <a:r>
                  <a:rPr lang="ja-JP" altLang="en-US"/>
                  <a:t>わがまま</a:t>
                </a:r>
                <a14:m>
                  <m:oMath xmlns:m="http://schemas.openxmlformats.org/officeDocument/2006/math">
                    <m:r>
                      <a:rPr lang="en-US" altLang="ja-JP" b="0" i="1" smtClean="0">
                        <a:latin typeface="Cambria Math" panose="02040503050406030204" pitchFamily="18" charset="0"/>
                      </a:rPr>
                      <m:t>&gt;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のパターン</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m:t>
                    </m:r>
                  </m:oMath>
                </a14:m>
                <a:r>
                  <a:rPr lang="ja-JP" altLang="en-US"/>
                  <a:t>わがまま</a:t>
                </a:r>
                <a14:m>
                  <m:oMath xmlns:m="http://schemas.openxmlformats.org/officeDocument/2006/math">
                    <m:r>
                      <a:rPr lang="en-US" altLang="ja-JP" i="1">
                        <a:latin typeface="Cambria Math" panose="02040503050406030204" pitchFamily="18" charset="0"/>
                      </a:rPr>
                      <m: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・行動頻度</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普通</a:t>
                </a:r>
                <a14:m>
                  <m:oMath xmlns:m="http://schemas.openxmlformats.org/officeDocument/2006/math">
                    <m:r>
                      <a:rPr lang="en-US" altLang="ja-JP" b="0" i="1" smtClean="0">
                        <a:latin typeface="Cambria Math" panose="02040503050406030204" pitchFamily="18" charset="0"/>
                      </a:rPr>
                      <m:t>≥</m:t>
                    </m:r>
                  </m:oMath>
                </a14:m>
                <a:r>
                  <a:rPr lang="ja-JP" altLang="en-US"/>
                  <a:t>模範</a:t>
                </a:r>
                <a14:m>
                  <m:oMath xmlns:m="http://schemas.openxmlformats.org/officeDocument/2006/math">
                    <m:r>
                      <a:rPr lang="en-US" altLang="ja-JP" i="1" smtClean="0">
                        <a:latin typeface="Cambria Math" panose="02040503050406030204" pitchFamily="18" charset="0"/>
                      </a:rPr>
                      <m:t>&gt;</m:t>
                    </m:r>
                  </m:oMath>
                </a14:m>
                <a:r>
                  <a:rPr lang="ja-JP" altLang="en-US"/>
                  <a:t>わがまま</a:t>
                </a:r>
                <a:endParaRPr lang="en-US" altLang="ja-JP" dirty="0"/>
              </a:p>
              <a:p>
                <a:pPr lvl="1"/>
                <a:endParaRPr lang="en-US" altLang="ja-JP" dirty="0"/>
              </a:p>
            </p:txBody>
          </p:sp>
        </mc:Choice>
        <mc:Fallback>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4507316"/>
              </a:xfrm>
              <a:blipFill>
                <a:blip r:embed="rId2"/>
                <a:stretch>
                  <a:fillRect t="-1966"/>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2020/6/21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12</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0</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3"/>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836637" cy="680876"/>
            <a:chOff x="163626" y="1160115"/>
            <a:chExt cx="4836637"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3494119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補足</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譲歩速度</a:t>
                </a:r>
                <a:endParaRPr lang="en-US" altLang="ja-JP" dirty="0"/>
              </a:p>
              <a:p>
                <a:pPr lvl="1"/>
                <a14:m>
                  <m:oMath xmlns:m="http://schemas.openxmlformats.org/officeDocument/2006/math">
                    <m:r>
                      <a:rPr lang="ja-JP" altLang="en-US" b="0" i="1" dirty="0">
                        <a:latin typeface="Cambria Math" panose="02040503050406030204" pitchFamily="18" charset="0"/>
                      </a:rPr>
                      <m:t>競争</m:t>
                    </m:r>
                    <m:r>
                      <a:rPr lang="en-US" altLang="ja-JP" b="0" i="0" smtClean="0">
                        <a:latin typeface="Cambria Math" panose="02040503050406030204" pitchFamily="18" charset="0"/>
                      </a:rPr>
                      <m:t>&gt;</m:t>
                    </m:r>
                    <m:r>
                      <a:rPr lang="ja-JP" altLang="en-US" i="1">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共存</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b="0" i="1" smtClean="0">
                        <a:latin typeface="Cambria Math" panose="02040503050406030204" pitchFamily="18" charset="0"/>
                      </a:rPr>
                      <m:t>&gt;</m:t>
                    </m:r>
                    <m:r>
                      <a:rPr lang="ja-JP" altLang="en-US" i="1">
                        <a:latin typeface="Cambria Math" panose="02040503050406030204" pitchFamily="18" charset="0"/>
                      </a:rPr>
                      <m:t>適応</m:t>
                    </m:r>
                  </m:oMath>
                </a14:m>
                <a:endParaRPr lang="en-US" altLang="ja-JP" dirty="0"/>
              </a:p>
              <a:p>
                <a:r>
                  <a:rPr lang="en-US" altLang="ja-JP" dirty="0"/>
                  <a:t>Offer</a:t>
                </a:r>
                <a:r>
                  <a:rPr lang="ja-JP" altLang="en-US"/>
                  <a:t>のパターン</a:t>
                </a:r>
                <a:endParaRPr lang="en-US" altLang="ja-JP" dirty="0"/>
              </a:p>
              <a:p>
                <a:pPr lvl="1"/>
                <a14:m>
                  <m:oMath xmlns:m="http://schemas.openxmlformats.org/officeDocument/2006/math">
                    <m:r>
                      <a:rPr lang="ja-JP" altLang="en-US" i="1" smtClean="0">
                        <a:latin typeface="Cambria Math" panose="02040503050406030204" pitchFamily="18" charset="0"/>
                      </a:rPr>
                      <m:t>回避</m:t>
                    </m:r>
                    <m:r>
                      <a:rPr lang="en-US" altLang="ja-JP" i="1">
                        <a:latin typeface="Cambria Math" panose="02040503050406030204" pitchFamily="18" charset="0"/>
                      </a:rPr>
                      <m:t>≥</m:t>
                    </m:r>
                    <m:r>
                      <a:rPr lang="ja-JP" altLang="en-US" i="1">
                        <a:latin typeface="Cambria Math" panose="02040503050406030204" pitchFamily="18" charset="0"/>
                      </a:rPr>
                      <m:t>適応</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i="1">
                        <a:latin typeface="Cambria Math" panose="02040503050406030204" pitchFamily="18" charset="0"/>
                      </a:rPr>
                      <m:t>&gt;</m:t>
                    </m:r>
                    <m:r>
                      <a:rPr lang="ja-JP" altLang="en-US" i="1">
                        <a:latin typeface="Cambria Math" panose="02040503050406030204" pitchFamily="18" charset="0"/>
                      </a:rPr>
                      <m:t>競争</m:t>
                    </m:r>
                    <m:r>
                      <a:rPr lang="en-US" altLang="ja-JP" i="1">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r>
                  <a:rPr lang="en-US" altLang="ja-JP" dirty="0"/>
                  <a:t>Offer</a:t>
                </a:r>
                <a:r>
                  <a:rPr lang="ja-JP" altLang="en-US"/>
                  <a:t>・行動頻度</a:t>
                </a:r>
                <a:endParaRPr lang="en-US" altLang="ja-JP" dirty="0"/>
              </a:p>
              <a:p>
                <a:pPr lvl="1"/>
                <a14:m>
                  <m:oMath xmlns:m="http://schemas.openxmlformats.org/officeDocument/2006/math">
                    <m:r>
                      <a:rPr lang="ja-JP" altLang="en-US" b="0" i="1" dirty="0">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適応</m:t>
                    </m:r>
                    <m:r>
                      <a:rPr lang="en-US" altLang="ja-JP" b="0" i="1" smtClean="0">
                        <a:latin typeface="Cambria Math" panose="02040503050406030204" pitchFamily="18" charset="0"/>
                      </a:rPr>
                      <m:t>&gt;</m:t>
                    </m:r>
                    <m:r>
                      <a:rPr lang="ja-JP" altLang="en-US" i="1" smtClean="0">
                        <a:latin typeface="Cambria Math" panose="02040503050406030204" pitchFamily="18" charset="0"/>
                      </a:rPr>
                      <m:t>妥協</m:t>
                    </m:r>
                    <m:r>
                      <a:rPr lang="en-US" altLang="ja-JP" i="1">
                        <a:latin typeface="Cambria Math" panose="02040503050406030204" pitchFamily="18" charset="0"/>
                      </a:rPr>
                      <m:t>&gt;</m:t>
                    </m:r>
                    <m:r>
                      <a:rPr lang="ja-JP" altLang="en-US" i="1" smtClean="0">
                        <a:latin typeface="Cambria Math" panose="02040503050406030204" pitchFamily="18" charset="0"/>
                      </a:rPr>
                      <m:t>競争</m:t>
                    </m:r>
                    <m:r>
                      <a:rPr lang="en-US" altLang="ja-JP" b="0" i="1" smtClean="0">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blipFill>
                <a:blip r:embed="rId2"/>
                <a:stretch>
                  <a:fillRect t="-1887"/>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2020/6/21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13</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0</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3"/>
          <a:stretch>
            <a:fillRect/>
          </a:stretch>
        </p:blipFill>
        <p:spPr>
          <a:xfrm>
            <a:off x="6847144" y="1030556"/>
            <a:ext cx="2222334" cy="2750219"/>
          </a:xfrm>
          <a:prstGeom prst="rect">
            <a:avLst/>
          </a:prstGeom>
        </p:spPr>
      </p:pic>
      <p:grpSp>
        <p:nvGrpSpPr>
          <p:cNvPr id="15" name="グループ化 14">
            <a:extLst>
              <a:ext uri="{FF2B5EF4-FFF2-40B4-BE49-F238E27FC236}">
                <a16:creationId xmlns:a16="http://schemas.microsoft.com/office/drawing/2014/main" id="{C5C466F6-7EB0-2B4C-8B9F-5F351C14C7EF}"/>
              </a:ext>
            </a:extLst>
          </p:cNvPr>
          <p:cNvGrpSpPr/>
          <p:nvPr/>
        </p:nvGrpSpPr>
        <p:grpSpPr>
          <a:xfrm>
            <a:off x="163626" y="1160115"/>
            <a:ext cx="4836637" cy="680876"/>
            <a:chOff x="163626" y="1160115"/>
            <a:chExt cx="4836637" cy="680876"/>
          </a:xfrm>
        </p:grpSpPr>
        <p:cxnSp>
          <p:nvCxnSpPr>
            <p:cNvPr id="16" name="直線コネクタ 15">
              <a:extLst>
                <a:ext uri="{FF2B5EF4-FFF2-40B4-BE49-F238E27FC236}">
                  <a16:creationId xmlns:a16="http://schemas.microsoft.com/office/drawing/2014/main" id="{5C6C6833-EA00-AB40-8A4B-3EC05B9F5CFB}"/>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869924E9-9C77-4D4D-BB8F-6AC927DE52B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9" name="テキスト プレースホルダー 12">
            <a:extLst>
              <a:ext uri="{FF2B5EF4-FFF2-40B4-BE49-F238E27FC236}">
                <a16:creationId xmlns:a16="http://schemas.microsoft.com/office/drawing/2014/main" id="{EB0876A5-390F-D744-AF2F-7706ACC6B6B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1463895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3BB963-1B76-4E44-9F6F-44B6F068ACC2}"/>
              </a:ext>
            </a:extLst>
          </p:cNvPr>
          <p:cNvSpPr>
            <a:spLocks noGrp="1"/>
          </p:cNvSpPr>
          <p:nvPr>
            <p:ph type="title"/>
          </p:nvPr>
        </p:nvSpPr>
        <p:spPr/>
        <p:txBody>
          <a:bodyPr/>
          <a:lstStyle/>
          <a:p>
            <a:endParaRPr kumimoji="1" lang="ja-JP" altLang="en-US"/>
          </a:p>
        </p:txBody>
      </p:sp>
      <p:sp>
        <p:nvSpPr>
          <p:cNvPr id="3" name="日付プレースホルダー 2">
            <a:extLst>
              <a:ext uri="{FF2B5EF4-FFF2-40B4-BE49-F238E27FC236}">
                <a16:creationId xmlns:a16="http://schemas.microsoft.com/office/drawing/2014/main" id="{B7F9CA9F-EF66-F648-A38A-F9C42ADC3D4C}"/>
              </a:ext>
            </a:extLst>
          </p:cNvPr>
          <p:cNvSpPr>
            <a:spLocks noGrp="1"/>
          </p:cNvSpPr>
          <p:nvPr>
            <p:ph type="dt" sz="half" idx="10"/>
          </p:nvPr>
        </p:nvSpPr>
        <p:spPr/>
        <p:txBody>
          <a:bodyPr/>
          <a:lstStyle/>
          <a:p>
            <a:fld id="{4341EA7C-D461-6041-8E0E-F656A44343A5}" type="datetime1">
              <a:rPr kumimoji="1" lang="ja-JP" altLang="en-US" smtClean="0"/>
              <a:t>2020/6/21</a:t>
            </a:fld>
            <a:endParaRPr kumimoji="1" lang="ja-JP" altLang="en-US"/>
          </a:p>
        </p:txBody>
      </p:sp>
      <p:sp>
        <p:nvSpPr>
          <p:cNvPr id="4" name="フッター プレースホルダー 3">
            <a:extLst>
              <a:ext uri="{FF2B5EF4-FFF2-40B4-BE49-F238E27FC236}">
                <a16:creationId xmlns:a16="http://schemas.microsoft.com/office/drawing/2014/main" id="{D50E35C6-CDAF-164F-A217-3A80030B0AC0}"/>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EDC7A173-3A23-3240-A54F-0FBA70C820A4}"/>
              </a:ext>
            </a:extLst>
          </p:cNvPr>
          <p:cNvSpPr>
            <a:spLocks noGrp="1"/>
          </p:cNvSpPr>
          <p:nvPr>
            <p:ph type="sldNum" sz="quarter" idx="12"/>
          </p:nvPr>
        </p:nvSpPr>
        <p:spPr/>
        <p:txBody>
          <a:bodyPr/>
          <a:lstStyle/>
          <a:p>
            <a:fld id="{2981C279-7323-A845-8A27-BB5908B2F04D}" type="slidenum">
              <a:rPr kumimoji="1" lang="ja-JP" altLang="en-US" smtClean="0"/>
              <a:t>14</a:t>
            </a:fld>
            <a:endParaRPr kumimoji="1" lang="ja-JP" altLang="en-US"/>
          </a:p>
        </p:txBody>
      </p:sp>
      <p:grpSp>
        <p:nvGrpSpPr>
          <p:cNvPr id="6" name="グループ化 5">
            <a:extLst>
              <a:ext uri="{FF2B5EF4-FFF2-40B4-BE49-F238E27FC236}">
                <a16:creationId xmlns:a16="http://schemas.microsoft.com/office/drawing/2014/main" id="{90D18F01-2BBF-C84B-8485-C7E7243E88D8}"/>
              </a:ext>
            </a:extLst>
          </p:cNvPr>
          <p:cNvGrpSpPr/>
          <p:nvPr/>
        </p:nvGrpSpPr>
        <p:grpSpPr>
          <a:xfrm>
            <a:off x="163626" y="1160115"/>
            <a:ext cx="4103574" cy="680876"/>
            <a:chOff x="163626" y="1160115"/>
            <a:chExt cx="4103574" cy="680876"/>
          </a:xfrm>
        </p:grpSpPr>
        <p:cxnSp>
          <p:nvCxnSpPr>
            <p:cNvPr id="7" name="直線コネクタ 6">
              <a:extLst>
                <a:ext uri="{FF2B5EF4-FFF2-40B4-BE49-F238E27FC236}">
                  <a16:creationId xmlns:a16="http://schemas.microsoft.com/office/drawing/2014/main" id="{E7C6A173-0964-134D-947E-15DC34060103}"/>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FB915536-105B-5D47-8AEA-1D668ACAEC6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テキスト プレースホルダー 12">
            <a:extLst>
              <a:ext uri="{FF2B5EF4-FFF2-40B4-BE49-F238E27FC236}">
                <a16:creationId xmlns:a16="http://schemas.microsoft.com/office/drawing/2014/main" id="{B9E78AD1-3EAD-ED4C-A870-F775161359E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テキスト</a:t>
            </a:r>
          </a:p>
        </p:txBody>
      </p:sp>
    </p:spTree>
    <p:extLst>
      <p:ext uri="{BB962C8B-B14F-4D97-AF65-F5344CB8AC3E}">
        <p14:creationId xmlns:p14="http://schemas.microsoft.com/office/powerpoint/2010/main" val="2314095881"/>
      </p:ext>
    </p:extLst>
  </p:cSld>
  <p:clrMapOvr>
    <a:masterClrMapping/>
  </p:clrMapOvr>
</p:sld>
</file>

<file path=ppt/theme/theme1.xml><?xml version="1.0" encoding="utf-8"?>
<a:theme xmlns:a="http://schemas.openxmlformats.org/drawingml/2006/main" name="Office テーマ">
  <a:themeElements>
    <a:clrScheme name="ユーザー定義 1">
      <a:dk1>
        <a:srgbClr val="1D1D1D"/>
      </a:dk1>
      <a:lt1>
        <a:srgbClr val="E4E4E4"/>
      </a:lt1>
      <a:dk2>
        <a:srgbClr val="44546A"/>
      </a:dk2>
      <a:lt2>
        <a:srgbClr val="E7E6E6"/>
      </a:lt2>
      <a:accent1>
        <a:srgbClr val="3090C4"/>
      </a:accent1>
      <a:accent2>
        <a:srgbClr val="D68126"/>
      </a:accent2>
      <a:accent3>
        <a:srgbClr val="42A544"/>
      </a:accent3>
      <a:accent4>
        <a:srgbClr val="FFC000"/>
      </a:accent4>
      <a:accent5>
        <a:srgbClr val="5B9BD5"/>
      </a:accent5>
      <a:accent6>
        <a:srgbClr val="70AD47"/>
      </a:accent6>
      <a:hlink>
        <a:srgbClr val="0563C1"/>
      </a:hlink>
      <a:folHlink>
        <a:srgbClr val="954F72"/>
      </a:folHlink>
    </a:clrScheme>
    <a:fontScheme name="ヒラギノ角ゴシック Pro W3">
      <a:majorFont>
        <a:latin typeface="Hiragino Kaku Gothic ProN W3"/>
        <a:ea typeface="Hiragino Kaku Gothic ProN W3"/>
        <a:cs typeface=""/>
      </a:majorFont>
      <a:minorFont>
        <a:latin typeface="Hiragino Kaku Gothic ProN W3"/>
        <a:ea typeface="Hiragino Kaku Gothic ProN W3"/>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 id="{9EB16A4D-D7F9-2340-A8EA-104836EA809B}" vid="{4F111AF7-2BB2-9640-B3FE-4B3A89EAF97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1070</TotalTime>
  <Words>854</Words>
  <Application>Microsoft Macintosh PowerPoint</Application>
  <PresentationFormat>画面に合わせる (4:3)</PresentationFormat>
  <Paragraphs>189</Paragraphs>
  <Slides>14</Slides>
  <Notes>0</Notes>
  <HiddenSlides>1</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14</vt:i4>
      </vt:variant>
    </vt:vector>
  </HeadingPairs>
  <TitlesOfParts>
    <vt:vector size="21" baseType="lpstr">
      <vt:lpstr>Hiragino Kaku Gothic Pro W3</vt:lpstr>
      <vt:lpstr>Hiragino Kaku Gothic ProN W3</vt:lpstr>
      <vt:lpstr>Hiragino Sans W4</vt:lpstr>
      <vt:lpstr>游ゴシック</vt:lpstr>
      <vt:lpstr>Arial</vt:lpstr>
      <vt:lpstr>Cambria Math</vt:lpstr>
      <vt:lpstr>Office テーマ</vt:lpstr>
      <vt:lpstr>進捗報告</vt:lpstr>
      <vt:lpstr>BIG5</vt:lpstr>
      <vt:lpstr>BIG5</vt:lpstr>
      <vt:lpstr>TKI</vt:lpstr>
      <vt:lpstr>TKI</vt:lpstr>
      <vt:lpstr>今後について</vt:lpstr>
      <vt:lpstr>今後について</vt:lpstr>
      <vt:lpstr>今後について</vt:lpstr>
      <vt:lpstr>補足</vt:lpstr>
      <vt:lpstr>補足</vt:lpstr>
      <vt:lpstr>補足</vt:lpstr>
      <vt:lpstr>補足</vt:lpstr>
      <vt:lpstr>補足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dc:title>
  <dc:creator>昌悟 松下</dc:creator>
  <cp:lastModifiedBy>昌悟 松下</cp:lastModifiedBy>
  <cp:revision>70</cp:revision>
  <dcterms:created xsi:type="dcterms:W3CDTF">2020-04-19T09:33:40Z</dcterms:created>
  <dcterms:modified xsi:type="dcterms:W3CDTF">2020-06-21T14:53:51Z</dcterms:modified>
</cp:coreProperties>
</file>