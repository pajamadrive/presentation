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6" r:id="rId2"/>
    <p:sldId id="475" r:id="rId3"/>
    <p:sldId id="478" r:id="rId4"/>
    <p:sldId id="479" r:id="rId5"/>
    <p:sldId id="480" r:id="rId6"/>
    <p:sldId id="483" r:id="rId7"/>
    <p:sldId id="485" r:id="rId8"/>
    <p:sldId id="486" r:id="rId9"/>
    <p:sldId id="455" r:id="rId10"/>
    <p:sldId id="468" r:id="rId11"/>
    <p:sldId id="481" r:id="rId12"/>
    <p:sldId id="462" r:id="rId13"/>
    <p:sldId id="463" r:id="rId14"/>
    <p:sldId id="469" r:id="rId15"/>
    <p:sldId id="482" r:id="rId16"/>
    <p:sldId id="465" r:id="rId17"/>
    <p:sldId id="487" r:id="rId18"/>
    <p:sldId id="476" r:id="rId19"/>
    <p:sldId id="484" r:id="rId20"/>
    <p:sldId id="257"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7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8ED6"/>
    <a:srgbClr val="42A544"/>
    <a:srgbClr val="5B9BD6"/>
    <a:srgbClr val="EAB37F"/>
    <a:srgbClr val="ABCFDB"/>
    <a:srgbClr val="B2D6E4"/>
    <a:srgbClr val="ECCA5E"/>
    <a:srgbClr val="E4C35B"/>
    <a:srgbClr val="ABD7D1"/>
    <a:srgbClr val="E0AC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937"/>
    <p:restoredTop sz="94624"/>
  </p:normalViewPr>
  <p:slideViewPr>
    <p:cSldViewPr snapToGrid="0" snapToObjects="1" showGuides="1">
      <p:cViewPr varScale="1">
        <p:scale>
          <a:sx n="109" d="100"/>
          <a:sy n="109" d="100"/>
        </p:scale>
        <p:origin x="184" y="208"/>
      </p:cViewPr>
      <p:guideLst>
        <p:guide orient="horz" pos="397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2020/9/11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DC2C275-3977-4849-BBDE-F9BC93110E65}" type="datetime1">
              <a:rPr kumimoji="1" lang="ja-JP" altLang="en-US" smtClean="0"/>
              <a:t>2020/9/11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953EA1E6-C3B8-DE4D-A346-09EF080BA12A}" type="datetime1">
              <a:rPr kumimoji="1" lang="ja-JP" altLang="en-US" smtClean="0"/>
              <a:t>2020/9/11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D99470E-4BC5-1945-9506-A510EA67C3DE}" type="datetime1">
              <a:rPr kumimoji="1" lang="ja-JP" altLang="en-US" smtClean="0"/>
              <a:t>2020/9/11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484468A3-0919-F54E-B59A-E9ED9FABFE93}" type="datetime1">
              <a:rPr kumimoji="1" lang="ja-JP" altLang="en-US" smtClean="0"/>
              <a:t>2020/9/11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09F3555-E93B-3A4D-AF4E-8776BA7B7879}" type="datetime1">
              <a:rPr kumimoji="1" lang="ja-JP" altLang="en-US" smtClean="0"/>
              <a:t>2020/9/11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41D34DB-DCA4-3E46-8E9A-438514557B03}" type="datetime1">
              <a:rPr kumimoji="1" lang="ja-JP" altLang="en-US" smtClean="0"/>
              <a:t>2020/9/11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29C2B0B-3EB1-7D48-BCB2-B34EB8C22E6E}" type="datetime1">
              <a:rPr kumimoji="1" lang="ja-JP" altLang="en-US" smtClean="0"/>
              <a:t>2020/9/11</a:t>
            </a:fld>
            <a:endParaRPr kumimoji="1" lang="ja-JP" altLang="en-US"/>
          </a:p>
        </p:txBody>
      </p:sp>
      <p:sp>
        <p:nvSpPr>
          <p:cNvPr id="8" name="Footer Placeholder 7"/>
          <p:cNvSpPr>
            <a:spLocks noGrp="1"/>
          </p:cNvSpPr>
          <p:nvPr>
            <p:ph type="ftr" sz="quarter" idx="11"/>
          </p:nvPr>
        </p:nvSpPr>
        <p:spPr/>
        <p:txBody>
          <a:bodyPr/>
          <a:lstStyle/>
          <a:p>
            <a:r>
              <a:rPr kumimoji="1" lang="ja-JP" altLang="en-US"/>
              <a:t>進捗報告</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CE9526-C6B6-3C4B-B48C-57A5608CC1DE}" type="datetime1">
              <a:rPr kumimoji="1" lang="ja-JP" altLang="en-US" smtClean="0"/>
              <a:t>2020/9/11</a:t>
            </a:fld>
            <a:endParaRPr kumimoji="1" lang="ja-JP" altLang="en-US"/>
          </a:p>
        </p:txBody>
      </p:sp>
      <p:sp>
        <p:nvSpPr>
          <p:cNvPr id="4" name="Footer Placeholder 3"/>
          <p:cNvSpPr>
            <a:spLocks noGrp="1"/>
          </p:cNvSpPr>
          <p:nvPr>
            <p:ph type="ftr" sz="quarter" idx="11"/>
          </p:nvPr>
        </p:nvSpPr>
        <p:spPr/>
        <p:txBody>
          <a:bodyPr/>
          <a:lstStyle/>
          <a:p>
            <a:r>
              <a:rPr kumimoji="1" lang="ja-JP" altLang="en-US"/>
              <a:t>進捗報告</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E972-7F9F-8545-A12B-9CBEE476963D}" type="datetime1">
              <a:rPr kumimoji="1" lang="ja-JP" altLang="en-US" smtClean="0"/>
              <a:t>2020/9/11</a:t>
            </a:fld>
            <a:endParaRPr kumimoji="1" lang="ja-JP" altLang="en-US"/>
          </a:p>
        </p:txBody>
      </p:sp>
      <p:sp>
        <p:nvSpPr>
          <p:cNvPr id="3" name="Footer Placeholder 2"/>
          <p:cNvSpPr>
            <a:spLocks noGrp="1"/>
          </p:cNvSpPr>
          <p:nvPr>
            <p:ph type="ftr" sz="quarter" idx="11"/>
          </p:nvPr>
        </p:nvSpPr>
        <p:spPr/>
        <p:txBody>
          <a:bodyPr/>
          <a:lstStyle/>
          <a:p>
            <a:r>
              <a:rPr kumimoji="1" lang="ja-JP" altLang="en-US"/>
              <a:t>進捗報告</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215014-30FE-CC43-81CB-CE71B2D66247}" type="datetime1">
              <a:rPr kumimoji="1" lang="ja-JP" altLang="en-US" smtClean="0"/>
              <a:t>2020/9/11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0862DB-EF94-E646-B694-C43CC85D160D}" type="datetime1">
              <a:rPr kumimoji="1" lang="ja-JP" altLang="en-US" smtClean="0"/>
              <a:t>2020/9/11</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DB0722B-D148-BE44-BF67-6510CE43B9F9}" type="datetime1">
              <a:rPr kumimoji="1" lang="ja-JP" altLang="en-US" smtClean="0"/>
              <a:t>2020/9/11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608DE0-8C54-1A48-96D9-0CB1F61C3B86}" type="datetime1">
              <a:rPr kumimoji="1" lang="ja-JP" altLang="en-US" smtClean="0"/>
              <a:t>2020/9/11</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848FC433-A65A-5E4B-A542-B4358B331384}" type="datetime1">
              <a:rPr lang="ja-JP" altLang="en-US" smtClean="0"/>
              <a:t>2020/9/11</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進捗報告</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5.emf"/><Relationship Id="rId5" Type="http://schemas.openxmlformats.org/officeDocument/2006/relationships/image" Target="../media/image7.tiff"/><Relationship Id="rId4" Type="http://schemas.openxmlformats.org/officeDocument/2006/relationships/image" Target="../media/image6.tif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0.tiff"/><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5.emf"/><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10.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7.tiff"/><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5.emf"/><Relationship Id="rId5" Type="http://schemas.openxmlformats.org/officeDocument/2006/relationships/image" Target="../media/image23.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normAutofit/>
          </a:bodyPr>
          <a:lstStyle/>
          <a:p>
            <a:r>
              <a:rPr lang="ja-JP" altLang="en-US" sz="4000"/>
              <a:t>人間とエージェントの交渉における</a:t>
            </a:r>
            <a:br>
              <a:rPr lang="en-US" altLang="ja-JP" sz="4000" dirty="0"/>
            </a:br>
            <a:r>
              <a:rPr lang="ja-JP" altLang="en-US" sz="4000"/>
              <a:t>プロファイリングを用いた交渉戦略</a:t>
            </a:r>
            <a:endParaRPr kumimoji="1" lang="ja-JP" altLang="en-US" sz="4000"/>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r>
              <a:rPr kumimoji="1" lang="en-US" altLang="ja-JP" dirty="0"/>
              <a:t>19646029  </a:t>
            </a:r>
            <a:r>
              <a:rPr kumimoji="1" lang="ja-JP" altLang="en-US"/>
              <a:t>藤田桂英研究室</a:t>
            </a:r>
            <a:endParaRPr lang="en-US" altLang="ja-JP" dirty="0"/>
          </a:p>
          <a:p>
            <a:r>
              <a:rPr kumimoji="1" lang="ja-JP" altLang="en-US"/>
              <a:t>松下昌悟</a:t>
            </a:r>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81355CFD-0C13-B64F-8475-2B9C4937D230}"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3B8F9A-9C49-D748-9219-42ABC8E34521}"/>
              </a:ext>
            </a:extLst>
          </p:cNvPr>
          <p:cNvSpPr>
            <a:spLocks noGrp="1"/>
          </p:cNvSpPr>
          <p:nvPr>
            <p:ph type="title"/>
          </p:nvPr>
        </p:nvSpPr>
        <p:spPr/>
        <p:txBody>
          <a:bodyPr/>
          <a:lstStyle/>
          <a:p>
            <a:r>
              <a:rPr kumimoji="1" lang="ja-JP" altLang="en-US"/>
              <a:t>はじめに</a:t>
            </a:r>
          </a:p>
        </p:txBody>
      </p:sp>
      <p:sp>
        <p:nvSpPr>
          <p:cNvPr id="3" name="コンテンツ プレースホルダー 2">
            <a:extLst>
              <a:ext uri="{FF2B5EF4-FFF2-40B4-BE49-F238E27FC236}">
                <a16:creationId xmlns:a16="http://schemas.microsoft.com/office/drawing/2014/main" id="{39B2F77A-06B0-934E-AC65-F1CBC1CB73BD}"/>
              </a:ext>
            </a:extLst>
          </p:cNvPr>
          <p:cNvSpPr>
            <a:spLocks noGrp="1"/>
          </p:cNvSpPr>
          <p:nvPr>
            <p:ph idx="1"/>
          </p:nvPr>
        </p:nvSpPr>
        <p:spPr/>
        <p:txBody>
          <a:bodyPr/>
          <a:lstStyle/>
          <a:p>
            <a:r>
              <a:rPr lang="ja-JP" altLang="en-US"/>
              <a:t>エージェント同士の合意形成を行う手段として</a:t>
            </a:r>
            <a:r>
              <a:rPr lang="ja-JP" altLang="en-US">
                <a:solidFill>
                  <a:schemeClr val="accent2"/>
                </a:solidFill>
              </a:rPr>
              <a:t>自動交渉</a:t>
            </a:r>
            <a:r>
              <a:rPr lang="ja-JP" altLang="en-US"/>
              <a:t>が注目されている</a:t>
            </a:r>
            <a:endParaRPr lang="en-US" altLang="ja-JP" dirty="0"/>
          </a:p>
          <a:p>
            <a:r>
              <a:rPr lang="ja-JP" altLang="en-US">
                <a:solidFill>
                  <a:schemeClr val="accent2"/>
                </a:solidFill>
              </a:rPr>
              <a:t>人間とエージェントの交渉</a:t>
            </a:r>
            <a:r>
              <a:rPr lang="ja-JP" altLang="en-US"/>
              <a:t>への関心が高まっている</a:t>
            </a:r>
            <a:endParaRPr lang="en-US" altLang="ja-JP" dirty="0"/>
          </a:p>
          <a:p>
            <a:pPr lvl="1"/>
            <a:r>
              <a:rPr lang="ja-JP" altLang="en-US"/>
              <a:t>交渉の仲介・衝突解消</a:t>
            </a:r>
            <a:endParaRPr lang="en-US" altLang="ja-JP" dirty="0"/>
          </a:p>
          <a:p>
            <a:pPr lvl="1"/>
            <a:r>
              <a:rPr lang="ja-JP" altLang="en-US"/>
              <a:t>交渉技術の訓練</a:t>
            </a:r>
            <a:endParaRPr lang="en-US" altLang="ja-JP" dirty="0"/>
          </a:p>
          <a:p>
            <a:r>
              <a:rPr lang="ja-JP" altLang="en-US"/>
              <a:t>自動交渉で用いられるエージェントを人間との交渉に用いることは困難</a:t>
            </a:r>
            <a:endParaRPr lang="en-US" altLang="ja-JP" dirty="0"/>
          </a:p>
          <a:p>
            <a:r>
              <a:rPr lang="ja-JP" altLang="en-US"/>
              <a:t>相手の提案内容に応じて</a:t>
            </a:r>
            <a:r>
              <a:rPr lang="ja-JP" altLang="en-US">
                <a:solidFill>
                  <a:schemeClr val="accent2"/>
                </a:solidFill>
              </a:rPr>
              <a:t>相手をカテゴリ分け</a:t>
            </a:r>
            <a:r>
              <a:rPr lang="ja-JP" altLang="en-US"/>
              <a:t>する戦略は効果が高い</a:t>
            </a:r>
            <a:r>
              <a:rPr lang="en-US" altLang="ja-JP" dirty="0"/>
              <a:t>[1]</a:t>
            </a:r>
            <a:endParaRPr lang="ja-JP" altLang="en-US"/>
          </a:p>
        </p:txBody>
      </p:sp>
      <p:sp>
        <p:nvSpPr>
          <p:cNvPr id="4" name="日付プレースホルダー 3">
            <a:extLst>
              <a:ext uri="{FF2B5EF4-FFF2-40B4-BE49-F238E27FC236}">
                <a16:creationId xmlns:a16="http://schemas.microsoft.com/office/drawing/2014/main" id="{EAA32442-7E92-0A48-918D-C30BCCAF9AA2}"/>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602AE7A9-1F8D-FD4F-93CB-614973BC946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95C9F8FE-1DCC-8542-8F36-6893B86CC773}"/>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7" name="テキスト プレースホルダー 6">
            <a:extLst>
              <a:ext uri="{FF2B5EF4-FFF2-40B4-BE49-F238E27FC236}">
                <a16:creationId xmlns:a16="http://schemas.microsoft.com/office/drawing/2014/main" id="{DA8BC238-EAB6-9C42-8C28-59E783743B3C}"/>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A20F7DC3-C0AA-D24D-A983-899F4CD2867F}"/>
              </a:ext>
            </a:extLst>
          </p:cNvPr>
          <p:cNvGrpSpPr/>
          <p:nvPr/>
        </p:nvGrpSpPr>
        <p:grpSpPr>
          <a:xfrm>
            <a:off x="163626" y="1160115"/>
            <a:ext cx="1290037" cy="680876"/>
            <a:chOff x="163626" y="1160115"/>
            <a:chExt cx="1290037" cy="680876"/>
          </a:xfrm>
        </p:grpSpPr>
        <p:cxnSp>
          <p:nvCxnSpPr>
            <p:cNvPr id="9" name="直線コネクタ 8">
              <a:extLst>
                <a:ext uri="{FF2B5EF4-FFF2-40B4-BE49-F238E27FC236}">
                  <a16:creationId xmlns:a16="http://schemas.microsoft.com/office/drawing/2014/main" id="{476AC9B1-7536-3847-91E0-B8335C1722A6}"/>
                </a:ext>
              </a:extLst>
            </p:cNvPr>
            <p:cNvCxnSpPr>
              <a:cxnSpLocks/>
            </p:cNvCxnSpPr>
            <p:nvPr userDrawn="1"/>
          </p:nvCxnSpPr>
          <p:spPr>
            <a:xfrm>
              <a:off x="163626" y="1699846"/>
              <a:ext cx="12900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E98DBD5D-EA17-3444-8D0C-5E95E4D9FEFD}"/>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3C512D8B-4CAB-2346-839F-7CDBAE4349E0}"/>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背景</a:t>
            </a:r>
          </a:p>
        </p:txBody>
      </p:sp>
      <p:sp>
        <p:nvSpPr>
          <p:cNvPr id="13" name="正方形/長方形 12">
            <a:extLst>
              <a:ext uri="{FF2B5EF4-FFF2-40B4-BE49-F238E27FC236}">
                <a16:creationId xmlns:a16="http://schemas.microsoft.com/office/drawing/2014/main" id="{88059BF6-9EE9-984E-AD81-56039718D29E}"/>
              </a:ext>
            </a:extLst>
          </p:cNvPr>
          <p:cNvSpPr/>
          <p:nvPr/>
        </p:nvSpPr>
        <p:spPr>
          <a:xfrm>
            <a:off x="194898" y="5944983"/>
            <a:ext cx="8330195" cy="577081"/>
          </a:xfrm>
          <a:prstGeom prst="rect">
            <a:avLst/>
          </a:prstGeom>
        </p:spPr>
        <p:txBody>
          <a:bodyPr wrap="square">
            <a:spAutoFit/>
          </a:bodyPr>
          <a:lstStyle/>
          <a:p>
            <a:r>
              <a:rPr lang="en" altLang="ja-JP" sz="1050" dirty="0"/>
              <a:t>[1] Gaurav </a:t>
            </a:r>
            <a:r>
              <a:rPr lang="en" altLang="ja-JP" sz="1050" dirty="0" err="1"/>
              <a:t>Koley</a:t>
            </a:r>
            <a:r>
              <a:rPr lang="en" altLang="ja-JP" sz="1050" dirty="0"/>
              <a:t> and </a:t>
            </a:r>
            <a:r>
              <a:rPr lang="en" altLang="ja-JP" sz="1050" dirty="0" err="1"/>
              <a:t>Shrisha</a:t>
            </a:r>
            <a:r>
              <a:rPr lang="en" altLang="ja-JP" sz="1050" dirty="0"/>
              <a:t> Rao. ”Adaptive Human-Agent Multi-Issue Bilateral Negotiation Using the Thomas-Kilmann Conflict Mode Instrument.” 2018 IEEE/ACM 22nd International Symposium on Distributed Simulation and Real Time Applications (DS-RT),2018</a:t>
            </a:r>
          </a:p>
        </p:txBody>
      </p:sp>
    </p:spTree>
    <p:extLst>
      <p:ext uri="{BB962C8B-B14F-4D97-AF65-F5344CB8AC3E}">
        <p14:creationId xmlns:p14="http://schemas.microsoft.com/office/powerpoint/2010/main" val="1644741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はじめに</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既存研究では</a:t>
            </a:r>
            <a:r>
              <a:rPr lang="ja-JP" altLang="en-US">
                <a:solidFill>
                  <a:schemeClr val="accent2"/>
                </a:solidFill>
              </a:rPr>
              <a:t>現在の</a:t>
            </a:r>
            <a:r>
              <a:rPr lang="en" altLang="ja-JP" dirty="0">
                <a:solidFill>
                  <a:schemeClr val="accent2"/>
                </a:solidFill>
              </a:rPr>
              <a:t>offer</a:t>
            </a:r>
            <a:r>
              <a:rPr lang="ja-JP" altLang="en-US">
                <a:solidFill>
                  <a:schemeClr val="accent2"/>
                </a:solidFill>
              </a:rPr>
              <a:t>を過去の</a:t>
            </a:r>
            <a:r>
              <a:rPr lang="en" altLang="ja-JP" dirty="0">
                <a:solidFill>
                  <a:schemeClr val="accent2"/>
                </a:solidFill>
              </a:rPr>
              <a:t>offer</a:t>
            </a:r>
            <a:r>
              <a:rPr lang="ja-JP" altLang="en-US">
                <a:solidFill>
                  <a:schemeClr val="accent2"/>
                </a:solidFill>
              </a:rPr>
              <a:t>と比べる</a:t>
            </a:r>
            <a:r>
              <a:rPr lang="ja-JP" altLang="en-US"/>
              <a:t>という点のみで譲歩するかを判断している</a:t>
            </a:r>
          </a:p>
          <a:p>
            <a:pPr lvl="1"/>
            <a:r>
              <a:rPr lang="ja-JP" altLang="en-US">
                <a:solidFill>
                  <a:schemeClr val="accent1"/>
                </a:solidFill>
              </a:rPr>
              <a:t>極端な</a:t>
            </a:r>
            <a:r>
              <a:rPr lang="en" altLang="ja-JP" dirty="0">
                <a:solidFill>
                  <a:schemeClr val="accent1"/>
                </a:solidFill>
              </a:rPr>
              <a:t>offer</a:t>
            </a:r>
            <a:r>
              <a:rPr lang="ja-JP" altLang="en-US"/>
              <a:t>が来た時に対応が困難</a:t>
            </a:r>
            <a:endParaRPr lang="en-US" altLang="ja-JP" dirty="0"/>
          </a:p>
          <a:p>
            <a:pPr lvl="1"/>
            <a:r>
              <a:rPr lang="ja-JP" altLang="en-US"/>
              <a:t>俯瞰的に</a:t>
            </a:r>
            <a:r>
              <a:rPr lang="ja-JP" altLang="en-US">
                <a:solidFill>
                  <a:schemeClr val="accent1"/>
                </a:solidFill>
              </a:rPr>
              <a:t>相手の特徴を把握</a:t>
            </a:r>
            <a:r>
              <a:rPr lang="ja-JP" altLang="en-US"/>
              <a:t>するのが困難</a:t>
            </a:r>
            <a:endParaRPr lang="en-US" altLang="ja-JP" dirty="0"/>
          </a:p>
          <a:p>
            <a:pPr lvl="1"/>
            <a:r>
              <a:rPr lang="en" altLang="ja-JP" dirty="0"/>
              <a:t>offer</a:t>
            </a:r>
            <a:r>
              <a:rPr lang="ja-JP" altLang="en-US"/>
              <a:t>の送信以外の行動も人間の交渉では行われる</a:t>
            </a:r>
            <a:endParaRPr lang="en-US" altLang="ja-JP" dirty="0"/>
          </a:p>
          <a:p>
            <a:r>
              <a:rPr lang="ja-JP" altLang="en-US"/>
              <a:t>交渉では相手と</a:t>
            </a:r>
            <a:r>
              <a:rPr lang="ja-JP" altLang="en-US">
                <a:solidFill>
                  <a:schemeClr val="accent2"/>
                </a:solidFill>
              </a:rPr>
              <a:t>コミットメント</a:t>
            </a:r>
            <a:r>
              <a:rPr lang="ja-JP" altLang="en-US"/>
              <a:t>を築くことも重要</a:t>
            </a:r>
          </a:p>
          <a:p>
            <a:pPr lvl="1"/>
            <a:r>
              <a:rPr lang="en-US" altLang="ja-JP" dirty="0"/>
              <a:t>offer</a:t>
            </a:r>
            <a:r>
              <a:rPr lang="ja-JP" altLang="en-US"/>
              <a:t>以外の要素も加味することで良い関係構築を行うことが期待できる</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3574997" cy="680876"/>
            <a:chOff x="163626" y="1160115"/>
            <a:chExt cx="3574997"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357499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spTree>
    <p:extLst>
      <p:ext uri="{BB962C8B-B14F-4D97-AF65-F5344CB8AC3E}">
        <p14:creationId xmlns:p14="http://schemas.microsoft.com/office/powerpoint/2010/main" val="369591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はじめに</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4"/>
            <a:ext cx="8859709" cy="1310439"/>
          </a:xfrm>
        </p:spPr>
        <p:txBody>
          <a:bodyPr/>
          <a:lstStyle/>
          <a:p>
            <a:r>
              <a:rPr lang="en" altLang="ja-JP" dirty="0"/>
              <a:t>TKI</a:t>
            </a:r>
            <a:r>
              <a:rPr lang="ja-JP" altLang="en-US"/>
              <a:t>だけで</a:t>
            </a:r>
            <a:r>
              <a:rPr lang="ja-JP" altLang="en-US">
                <a:solidFill>
                  <a:schemeClr val="accent2"/>
                </a:solidFill>
              </a:rPr>
              <a:t>相手の特性を把握</a:t>
            </a:r>
            <a:r>
              <a:rPr lang="ja-JP" altLang="en-US"/>
              <a:t>することは困難</a:t>
            </a:r>
          </a:p>
          <a:p>
            <a:pPr lvl="1"/>
            <a:r>
              <a:rPr lang="ja-JP" altLang="en-US"/>
              <a:t>特定のカテゴリに入ったときの戦略しか考えられていない</a:t>
            </a:r>
          </a:p>
          <a:p>
            <a:pPr lvl="1"/>
            <a:r>
              <a:rPr lang="ja-JP" altLang="en-US"/>
              <a:t>人間の特徴をより具体的に評価できる指標が必要</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1</a:t>
            </a:r>
            <a:endParaRPr kumimoji="1" lang="ja-JP" altLang="en-US"/>
          </a:p>
        </p:txBody>
      </p:sp>
      <p:grpSp>
        <p:nvGrpSpPr>
          <p:cNvPr id="12" name="グループ化 11">
            <a:extLst>
              <a:ext uri="{FF2B5EF4-FFF2-40B4-BE49-F238E27FC236}">
                <a16:creationId xmlns:a16="http://schemas.microsoft.com/office/drawing/2014/main" id="{41081C47-C264-2A43-8A63-A3887EEA2F66}"/>
              </a:ext>
            </a:extLst>
          </p:cNvPr>
          <p:cNvGrpSpPr/>
          <p:nvPr/>
        </p:nvGrpSpPr>
        <p:grpSpPr>
          <a:xfrm>
            <a:off x="163626" y="1160115"/>
            <a:ext cx="3574997" cy="680876"/>
            <a:chOff x="163626" y="1160115"/>
            <a:chExt cx="3574997" cy="680876"/>
          </a:xfrm>
        </p:grpSpPr>
        <p:cxnSp>
          <p:nvCxnSpPr>
            <p:cNvPr id="13" name="直線コネクタ 12">
              <a:extLst>
                <a:ext uri="{FF2B5EF4-FFF2-40B4-BE49-F238E27FC236}">
                  <a16:creationId xmlns:a16="http://schemas.microsoft.com/office/drawing/2014/main" id="{984F55B4-45B4-D142-AFA2-A75B083F1005}"/>
                </a:ext>
              </a:extLst>
            </p:cNvPr>
            <p:cNvCxnSpPr>
              <a:cxnSpLocks/>
            </p:cNvCxnSpPr>
            <p:nvPr userDrawn="1"/>
          </p:nvCxnSpPr>
          <p:spPr>
            <a:xfrm>
              <a:off x="163626" y="1699846"/>
              <a:ext cx="357499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2E260634-5BB9-C44A-ABB5-A96B1B9F882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プレースホルダー 12">
            <a:extLst>
              <a:ext uri="{FF2B5EF4-FFF2-40B4-BE49-F238E27FC236}">
                <a16:creationId xmlns:a16="http://schemas.microsoft.com/office/drawing/2014/main" id="{9F94A460-BFC4-B34A-9E57-1AD88BF085B1}"/>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grpSp>
        <p:nvGrpSpPr>
          <p:cNvPr id="283" name="グループ化 282">
            <a:extLst>
              <a:ext uri="{FF2B5EF4-FFF2-40B4-BE49-F238E27FC236}">
                <a16:creationId xmlns:a16="http://schemas.microsoft.com/office/drawing/2014/main" id="{57E43264-7AC5-3342-8A8B-C313A091A861}"/>
              </a:ext>
            </a:extLst>
          </p:cNvPr>
          <p:cNvGrpSpPr/>
          <p:nvPr/>
        </p:nvGrpSpPr>
        <p:grpSpPr>
          <a:xfrm>
            <a:off x="1366225" y="3291324"/>
            <a:ext cx="6388466" cy="3266002"/>
            <a:chOff x="1224873" y="3291324"/>
            <a:chExt cx="6388466" cy="3266002"/>
          </a:xfrm>
        </p:grpSpPr>
        <p:grpSp>
          <p:nvGrpSpPr>
            <p:cNvPr id="282" name="グループ化 281">
              <a:extLst>
                <a:ext uri="{FF2B5EF4-FFF2-40B4-BE49-F238E27FC236}">
                  <a16:creationId xmlns:a16="http://schemas.microsoft.com/office/drawing/2014/main" id="{B714F0E0-272E-C644-BA15-EB99C38C69F4}"/>
                </a:ext>
              </a:extLst>
            </p:cNvPr>
            <p:cNvGrpSpPr/>
            <p:nvPr/>
          </p:nvGrpSpPr>
          <p:grpSpPr>
            <a:xfrm>
              <a:off x="1224873" y="3557524"/>
              <a:ext cx="2647273" cy="2999802"/>
              <a:chOff x="1224873" y="3557524"/>
              <a:chExt cx="2647273" cy="2999802"/>
            </a:xfrm>
          </p:grpSpPr>
          <p:grpSp>
            <p:nvGrpSpPr>
              <p:cNvPr id="145" name="グループ化 144">
                <a:extLst>
                  <a:ext uri="{FF2B5EF4-FFF2-40B4-BE49-F238E27FC236}">
                    <a16:creationId xmlns:a16="http://schemas.microsoft.com/office/drawing/2014/main" id="{1C08F236-43F1-D645-874D-498F0FAB60DF}"/>
                  </a:ext>
                </a:extLst>
              </p:cNvPr>
              <p:cNvGrpSpPr/>
              <p:nvPr/>
            </p:nvGrpSpPr>
            <p:grpSpPr>
              <a:xfrm>
                <a:off x="1224873" y="3557524"/>
                <a:ext cx="2647273" cy="2611244"/>
                <a:chOff x="7826296" y="19015474"/>
                <a:chExt cx="5463582" cy="5389221"/>
              </a:xfrm>
            </p:grpSpPr>
            <p:pic>
              <p:nvPicPr>
                <p:cNvPr id="148" name="図 147">
                  <a:extLst>
                    <a:ext uri="{FF2B5EF4-FFF2-40B4-BE49-F238E27FC236}">
                      <a16:creationId xmlns:a16="http://schemas.microsoft.com/office/drawing/2014/main" id="{D45E0D51-BC06-DB4C-978F-39ED6CC22F30}"/>
                    </a:ext>
                  </a:extLst>
                </p:cNvPr>
                <p:cNvPicPr>
                  <a:picLocks noChangeAspect="1"/>
                </p:cNvPicPr>
                <p:nvPr/>
              </p:nvPicPr>
              <p:blipFill rotWithShape="1">
                <a:blip r:embed="rId4"/>
                <a:srcRect l="10972" t="1550" r="-1061" b="21005"/>
                <a:stretch/>
              </p:blipFill>
              <p:spPr>
                <a:xfrm>
                  <a:off x="8648581" y="19015474"/>
                  <a:ext cx="4641297" cy="4492610"/>
                </a:xfrm>
                <a:prstGeom prst="rect">
                  <a:avLst/>
                </a:prstGeom>
              </p:spPr>
            </p:pic>
            <p:cxnSp>
              <p:nvCxnSpPr>
                <p:cNvPr id="149" name="直線矢印コネクタ 148">
                  <a:extLst>
                    <a:ext uri="{FF2B5EF4-FFF2-40B4-BE49-F238E27FC236}">
                      <a16:creationId xmlns:a16="http://schemas.microsoft.com/office/drawing/2014/main" id="{53336714-7AC3-8240-8EB2-DFB7C13418AF}"/>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0" name="直線矢印コネクタ 149">
                  <a:extLst>
                    <a:ext uri="{FF2B5EF4-FFF2-40B4-BE49-F238E27FC236}">
                      <a16:creationId xmlns:a16="http://schemas.microsoft.com/office/drawing/2014/main" id="{2B2527DE-9AD5-8C45-84D5-6220C7A09034}"/>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1" name="テキスト ボックス 150">
                  <a:extLst>
                    <a:ext uri="{FF2B5EF4-FFF2-40B4-BE49-F238E27FC236}">
                      <a16:creationId xmlns:a16="http://schemas.microsoft.com/office/drawing/2014/main" id="{67E000EF-C758-A449-8F94-FD3F6C327EC9}"/>
                    </a:ext>
                  </a:extLst>
                </p:cNvPr>
                <p:cNvSpPr txBox="1"/>
                <p:nvPr/>
              </p:nvSpPr>
              <p:spPr>
                <a:xfrm>
                  <a:off x="9420397" y="23769489"/>
                  <a:ext cx="2490051" cy="635206"/>
                </a:xfrm>
                <a:prstGeom prst="rect">
                  <a:avLst/>
                </a:prstGeom>
                <a:noFill/>
              </p:spPr>
              <p:txBody>
                <a:bodyPr wrap="square" rtlCol="0">
                  <a:spAutoFit/>
                </a:bodyPr>
                <a:lstStyle/>
                <a:p>
                  <a:pPr algn="ctr"/>
                  <a:r>
                    <a:rPr kumimoji="1" lang="ja-JP" altLang="en-US" sz="1400">
                      <a:latin typeface="Meiryo" panose="020B0604030504040204" pitchFamily="34" charset="-128"/>
                      <a:ea typeface="Meiryo" panose="020B0604030504040204" pitchFamily="34" charset="-128"/>
                    </a:rPr>
                    <a:t>協調性</a:t>
                  </a:r>
                </a:p>
              </p:txBody>
            </p:sp>
            <p:sp>
              <p:nvSpPr>
                <p:cNvPr id="152" name="テキスト ボックス 151">
                  <a:extLst>
                    <a:ext uri="{FF2B5EF4-FFF2-40B4-BE49-F238E27FC236}">
                      <a16:creationId xmlns:a16="http://schemas.microsoft.com/office/drawing/2014/main" id="{0009238C-17F3-594A-9E74-4B6CE931EDE8}"/>
                    </a:ext>
                  </a:extLst>
                </p:cNvPr>
                <p:cNvSpPr txBox="1"/>
                <p:nvPr/>
              </p:nvSpPr>
              <p:spPr>
                <a:xfrm rot="16200000">
                  <a:off x="6898875" y="21239507"/>
                  <a:ext cx="2490050" cy="635207"/>
                </a:xfrm>
                <a:prstGeom prst="rect">
                  <a:avLst/>
                </a:prstGeom>
                <a:noFill/>
              </p:spPr>
              <p:txBody>
                <a:bodyPr wrap="square" rtlCol="0">
                  <a:spAutoFit/>
                </a:bodyPr>
                <a:lstStyle/>
                <a:p>
                  <a:pPr algn="ctr"/>
                  <a:r>
                    <a:rPr kumimoji="1" lang="ja-JP" altLang="en-US" sz="1400">
                      <a:latin typeface="Meiryo" panose="020B0604030504040204" pitchFamily="34" charset="-128"/>
                      <a:ea typeface="Meiryo" panose="020B0604030504040204" pitchFamily="34" charset="-128"/>
                    </a:rPr>
                    <a:t>積極性</a:t>
                  </a:r>
                </a:p>
              </p:txBody>
            </p:sp>
          </p:grpSp>
          <p:sp>
            <p:nvSpPr>
              <p:cNvPr id="249" name="テキスト ボックス 248">
                <a:extLst>
                  <a:ext uri="{FF2B5EF4-FFF2-40B4-BE49-F238E27FC236}">
                    <a16:creationId xmlns:a16="http://schemas.microsoft.com/office/drawing/2014/main" id="{84E76C39-BC4C-BC48-8295-95AFC2AF1A34}"/>
                  </a:ext>
                </a:extLst>
              </p:cNvPr>
              <p:cNvSpPr txBox="1"/>
              <p:nvPr/>
            </p:nvSpPr>
            <p:spPr>
              <a:xfrm>
                <a:off x="2356971" y="6218772"/>
                <a:ext cx="513282" cy="338554"/>
              </a:xfrm>
              <a:prstGeom prst="rect">
                <a:avLst/>
              </a:prstGeom>
              <a:noFill/>
            </p:spPr>
            <p:txBody>
              <a:bodyPr wrap="none" rtlCol="0">
                <a:spAutoFit/>
              </a:bodyPr>
              <a:lstStyle/>
              <a:p>
                <a:r>
                  <a:rPr kumimoji="1" lang="en-US" altLang="ja-JP" sz="1600" dirty="0"/>
                  <a:t>TKI</a:t>
                </a:r>
                <a:endParaRPr kumimoji="1" lang="ja-JP" altLang="en-US" sz="1600"/>
              </a:p>
            </p:txBody>
          </p:sp>
        </p:grpSp>
        <p:grpSp>
          <p:nvGrpSpPr>
            <p:cNvPr id="281" name="グループ化 280">
              <a:extLst>
                <a:ext uri="{FF2B5EF4-FFF2-40B4-BE49-F238E27FC236}">
                  <a16:creationId xmlns:a16="http://schemas.microsoft.com/office/drawing/2014/main" id="{D0990163-CBA3-E440-AB15-A528BCC4C1F9}"/>
                </a:ext>
              </a:extLst>
            </p:cNvPr>
            <p:cNvGrpSpPr/>
            <p:nvPr/>
          </p:nvGrpSpPr>
          <p:grpSpPr>
            <a:xfrm>
              <a:off x="4420335" y="3291324"/>
              <a:ext cx="3193004" cy="3261920"/>
              <a:chOff x="4288255" y="3311644"/>
              <a:chExt cx="3193004" cy="3261920"/>
            </a:xfrm>
          </p:grpSpPr>
          <p:sp>
            <p:nvSpPr>
              <p:cNvPr id="220" name="テキスト ボックス 219">
                <a:extLst>
                  <a:ext uri="{FF2B5EF4-FFF2-40B4-BE49-F238E27FC236}">
                    <a16:creationId xmlns:a16="http://schemas.microsoft.com/office/drawing/2014/main" id="{F859C044-4DDF-4E45-9A02-1B84E4C973AD}"/>
                  </a:ext>
                </a:extLst>
              </p:cNvPr>
              <p:cNvSpPr txBox="1"/>
              <p:nvPr/>
            </p:nvSpPr>
            <p:spPr>
              <a:xfrm>
                <a:off x="5336117" y="3311644"/>
                <a:ext cx="1082348" cy="523220"/>
              </a:xfrm>
              <a:prstGeom prst="rect">
                <a:avLst/>
              </a:prstGeom>
              <a:noFill/>
            </p:spPr>
            <p:txBody>
              <a:bodyPr wrap="none" rtlCol="0">
                <a:spAutoFit/>
              </a:bodyPr>
              <a:lstStyle/>
              <a:p>
                <a:pPr algn="ctr"/>
                <a:r>
                  <a:rPr kumimoji="1" lang="ja-JP" altLang="en-US" sz="1400"/>
                  <a:t>神経症傾向</a:t>
                </a:r>
                <a:endParaRPr kumimoji="1" lang="en-US" altLang="ja-JP" sz="1400" dirty="0"/>
              </a:p>
              <a:p>
                <a:pPr algn="ctr"/>
                <a:r>
                  <a:rPr kumimoji="1" lang="en-US" altLang="ja-JP" sz="1400" dirty="0"/>
                  <a:t>(N)</a:t>
                </a:r>
                <a:endParaRPr kumimoji="1" lang="ja-JP" altLang="en-US" sz="1400"/>
              </a:p>
            </p:txBody>
          </p:sp>
          <p:sp>
            <p:nvSpPr>
              <p:cNvPr id="221" name="テキスト ボックス 220">
                <a:extLst>
                  <a:ext uri="{FF2B5EF4-FFF2-40B4-BE49-F238E27FC236}">
                    <a16:creationId xmlns:a16="http://schemas.microsoft.com/office/drawing/2014/main" id="{E2D14D1B-77DF-C74F-AFEA-148F5CE2951E}"/>
                  </a:ext>
                </a:extLst>
              </p:cNvPr>
              <p:cNvSpPr txBox="1"/>
              <p:nvPr/>
            </p:nvSpPr>
            <p:spPr>
              <a:xfrm>
                <a:off x="5821836" y="5682852"/>
                <a:ext cx="1441419" cy="523220"/>
              </a:xfrm>
              <a:prstGeom prst="rect">
                <a:avLst/>
              </a:prstGeom>
              <a:noFill/>
            </p:spPr>
            <p:txBody>
              <a:bodyPr wrap="none" rtlCol="0">
                <a:spAutoFit/>
              </a:bodyPr>
              <a:lstStyle/>
              <a:p>
                <a:pPr algn="ctr"/>
                <a:r>
                  <a:rPr kumimoji="1" lang="ja-JP" altLang="en-US" sz="1400"/>
                  <a:t>経験への開放性</a:t>
                </a:r>
                <a:endParaRPr kumimoji="1" lang="en-US" altLang="ja-JP" sz="1400" dirty="0"/>
              </a:p>
              <a:p>
                <a:pPr algn="ctr"/>
                <a:r>
                  <a:rPr kumimoji="1" lang="en-US" altLang="ja-JP" sz="1400" dirty="0"/>
                  <a:t>(O)</a:t>
                </a:r>
                <a:endParaRPr kumimoji="1" lang="ja-JP" altLang="en-US" sz="1400"/>
              </a:p>
            </p:txBody>
          </p:sp>
          <p:sp>
            <p:nvSpPr>
              <p:cNvPr id="222" name="テキスト ボックス 221">
                <a:extLst>
                  <a:ext uri="{FF2B5EF4-FFF2-40B4-BE49-F238E27FC236}">
                    <a16:creationId xmlns:a16="http://schemas.microsoft.com/office/drawing/2014/main" id="{2A2318EA-5A19-8D4F-869A-197020D2B0DE}"/>
                  </a:ext>
                </a:extLst>
              </p:cNvPr>
              <p:cNvSpPr txBox="1"/>
              <p:nvPr/>
            </p:nvSpPr>
            <p:spPr>
              <a:xfrm>
                <a:off x="6757984" y="4236252"/>
                <a:ext cx="723275" cy="523220"/>
              </a:xfrm>
              <a:prstGeom prst="rect">
                <a:avLst/>
              </a:prstGeom>
              <a:noFill/>
            </p:spPr>
            <p:txBody>
              <a:bodyPr wrap="none" rtlCol="0">
                <a:spAutoFit/>
              </a:bodyPr>
              <a:lstStyle/>
              <a:p>
                <a:pPr algn="ctr"/>
                <a:r>
                  <a:rPr kumimoji="1" lang="ja-JP" altLang="en-US" sz="1400"/>
                  <a:t>外向性</a:t>
                </a:r>
                <a:endParaRPr kumimoji="1" lang="en-US" altLang="ja-JP" sz="1400" dirty="0"/>
              </a:p>
              <a:p>
                <a:pPr algn="ctr"/>
                <a:r>
                  <a:rPr kumimoji="1" lang="en-US" altLang="ja-JP" sz="1400" dirty="0"/>
                  <a:t>(E)</a:t>
                </a:r>
                <a:endParaRPr kumimoji="1" lang="ja-JP" altLang="en-US" sz="1400"/>
              </a:p>
            </p:txBody>
          </p:sp>
          <p:sp>
            <p:nvSpPr>
              <p:cNvPr id="223" name="テキスト ボックス 222">
                <a:extLst>
                  <a:ext uri="{FF2B5EF4-FFF2-40B4-BE49-F238E27FC236}">
                    <a16:creationId xmlns:a16="http://schemas.microsoft.com/office/drawing/2014/main" id="{7BFE0E4A-EB60-454A-A7A2-D7847F997FB7}"/>
                  </a:ext>
                </a:extLst>
              </p:cNvPr>
              <p:cNvSpPr txBox="1"/>
              <p:nvPr/>
            </p:nvSpPr>
            <p:spPr>
              <a:xfrm>
                <a:off x="4780760" y="5685181"/>
                <a:ext cx="723275" cy="523220"/>
              </a:xfrm>
              <a:prstGeom prst="rect">
                <a:avLst/>
              </a:prstGeom>
              <a:noFill/>
            </p:spPr>
            <p:txBody>
              <a:bodyPr wrap="none" rtlCol="0">
                <a:spAutoFit/>
              </a:bodyPr>
              <a:lstStyle/>
              <a:p>
                <a:pPr algn="ctr"/>
                <a:r>
                  <a:rPr kumimoji="1" lang="ja-JP" altLang="en-US" sz="1400"/>
                  <a:t>協調性</a:t>
                </a:r>
                <a:endParaRPr kumimoji="1" lang="en-US" altLang="ja-JP" sz="1400" dirty="0"/>
              </a:p>
              <a:p>
                <a:pPr algn="ctr"/>
                <a:r>
                  <a:rPr kumimoji="1" lang="en-US" altLang="ja-JP" sz="1400" dirty="0"/>
                  <a:t>(A)</a:t>
                </a:r>
                <a:endParaRPr kumimoji="1" lang="ja-JP" altLang="en-US" sz="1400"/>
              </a:p>
            </p:txBody>
          </p:sp>
          <p:sp>
            <p:nvSpPr>
              <p:cNvPr id="224" name="テキスト ボックス 223">
                <a:extLst>
                  <a:ext uri="{FF2B5EF4-FFF2-40B4-BE49-F238E27FC236}">
                    <a16:creationId xmlns:a16="http://schemas.microsoft.com/office/drawing/2014/main" id="{7F42A8AD-528E-134D-84D7-3207638447B3}"/>
                  </a:ext>
                </a:extLst>
              </p:cNvPr>
              <p:cNvSpPr txBox="1"/>
              <p:nvPr/>
            </p:nvSpPr>
            <p:spPr>
              <a:xfrm>
                <a:off x="4288255" y="4236252"/>
                <a:ext cx="723275" cy="523220"/>
              </a:xfrm>
              <a:prstGeom prst="rect">
                <a:avLst/>
              </a:prstGeom>
              <a:noFill/>
            </p:spPr>
            <p:txBody>
              <a:bodyPr wrap="none" rtlCol="0">
                <a:spAutoFit/>
              </a:bodyPr>
              <a:lstStyle/>
              <a:p>
                <a:r>
                  <a:rPr kumimoji="1" lang="ja-JP" altLang="en-US" sz="1400"/>
                  <a:t>誠実性</a:t>
                </a:r>
                <a:endParaRPr kumimoji="1" lang="en-US" altLang="ja-JP" sz="1400" dirty="0"/>
              </a:p>
              <a:p>
                <a:pPr algn="ctr"/>
                <a:r>
                  <a:rPr kumimoji="1" lang="en-US" altLang="ja-JP" sz="1400" dirty="0"/>
                  <a:t>(C)</a:t>
                </a:r>
                <a:endParaRPr kumimoji="1" lang="ja-JP" altLang="en-US" sz="1400"/>
              </a:p>
            </p:txBody>
          </p:sp>
          <p:sp>
            <p:nvSpPr>
              <p:cNvPr id="218" name="テキスト ボックス 217">
                <a:extLst>
                  <a:ext uri="{FF2B5EF4-FFF2-40B4-BE49-F238E27FC236}">
                    <a16:creationId xmlns:a16="http://schemas.microsoft.com/office/drawing/2014/main" id="{F6C77B38-F60C-A54B-A76F-26DF765B9CA2}"/>
                  </a:ext>
                </a:extLst>
              </p:cNvPr>
              <p:cNvSpPr txBox="1"/>
              <p:nvPr/>
            </p:nvSpPr>
            <p:spPr>
              <a:xfrm>
                <a:off x="5029549" y="6235010"/>
                <a:ext cx="1620957" cy="338554"/>
              </a:xfrm>
              <a:prstGeom prst="rect">
                <a:avLst/>
              </a:prstGeom>
              <a:noFill/>
            </p:spPr>
            <p:txBody>
              <a:bodyPr wrap="none" rtlCol="0">
                <a:spAutoFit/>
              </a:bodyPr>
              <a:lstStyle/>
              <a:p>
                <a:pPr algn="ctr"/>
                <a:r>
                  <a:rPr kumimoji="1" lang="ja-JP" altLang="en-US" sz="1600"/>
                  <a:t>ビッグファイブ</a:t>
                </a:r>
              </a:p>
            </p:txBody>
          </p:sp>
          <p:grpSp>
            <p:nvGrpSpPr>
              <p:cNvPr id="280" name="グループ化 279">
                <a:extLst>
                  <a:ext uri="{FF2B5EF4-FFF2-40B4-BE49-F238E27FC236}">
                    <a16:creationId xmlns:a16="http://schemas.microsoft.com/office/drawing/2014/main" id="{15E27822-0C1C-B24F-999A-D29E78F2B11E}"/>
                  </a:ext>
                </a:extLst>
              </p:cNvPr>
              <p:cNvGrpSpPr/>
              <p:nvPr/>
            </p:nvGrpSpPr>
            <p:grpSpPr>
              <a:xfrm>
                <a:off x="4938565" y="3795935"/>
                <a:ext cx="1865455" cy="1865455"/>
                <a:chOff x="4938565" y="3795935"/>
                <a:chExt cx="1865455" cy="1865455"/>
              </a:xfrm>
            </p:grpSpPr>
            <p:sp>
              <p:nvSpPr>
                <p:cNvPr id="219" name="五角形 218">
                  <a:extLst>
                    <a:ext uri="{FF2B5EF4-FFF2-40B4-BE49-F238E27FC236}">
                      <a16:creationId xmlns:a16="http://schemas.microsoft.com/office/drawing/2014/main" id="{8E5805A6-38A9-714E-AE2B-5F34F991D780}"/>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2" name="直線コネクタ 251">
                  <a:extLst>
                    <a:ext uri="{FF2B5EF4-FFF2-40B4-BE49-F238E27FC236}">
                      <a16:creationId xmlns:a16="http://schemas.microsoft.com/office/drawing/2014/main" id="{C896F8F6-DAB1-5C40-B7E4-CAB4251D76DB}"/>
                    </a:ext>
                  </a:extLst>
                </p:cNvPr>
                <p:cNvCxnSpPr>
                  <a:cxnSpLocks/>
                  <a:stCxn id="219" idx="0"/>
                  <a:endCxn id="271"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55" name="直線コネクタ 254">
                  <a:extLst>
                    <a:ext uri="{FF2B5EF4-FFF2-40B4-BE49-F238E27FC236}">
                      <a16:creationId xmlns:a16="http://schemas.microsoft.com/office/drawing/2014/main" id="{3AA56CE1-0635-394E-BAF4-B6CBA5F2F13B}"/>
                    </a:ext>
                  </a:extLst>
                </p:cNvPr>
                <p:cNvCxnSpPr>
                  <a:cxnSpLocks/>
                  <a:stCxn id="271" idx="3"/>
                  <a:endCxn id="219"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59" name="直線コネクタ 258">
                  <a:extLst>
                    <a:ext uri="{FF2B5EF4-FFF2-40B4-BE49-F238E27FC236}">
                      <a16:creationId xmlns:a16="http://schemas.microsoft.com/office/drawing/2014/main" id="{EB82DE28-A1AE-0445-A111-31AD3D9696B4}"/>
                    </a:ext>
                  </a:extLst>
                </p:cNvPr>
                <p:cNvCxnSpPr>
                  <a:cxnSpLocks/>
                  <a:stCxn id="271" idx="5"/>
                  <a:endCxn id="219"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62" name="直線コネクタ 261">
                  <a:extLst>
                    <a:ext uri="{FF2B5EF4-FFF2-40B4-BE49-F238E27FC236}">
                      <a16:creationId xmlns:a16="http://schemas.microsoft.com/office/drawing/2014/main" id="{31369290-C0E5-524C-ADD1-6201BEC49298}"/>
                    </a:ext>
                  </a:extLst>
                </p:cNvPr>
                <p:cNvCxnSpPr>
                  <a:cxnSpLocks/>
                  <a:stCxn id="271" idx="6"/>
                  <a:endCxn id="219"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67" name="直線コネクタ 266">
                  <a:extLst>
                    <a:ext uri="{FF2B5EF4-FFF2-40B4-BE49-F238E27FC236}">
                      <a16:creationId xmlns:a16="http://schemas.microsoft.com/office/drawing/2014/main" id="{58774C51-018B-EC45-80CA-65F4ACAB4003}"/>
                    </a:ext>
                  </a:extLst>
                </p:cNvPr>
                <p:cNvCxnSpPr>
                  <a:cxnSpLocks/>
                  <a:stCxn id="219" idx="1"/>
                  <a:endCxn id="271"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71" name="円/楕円 270">
                  <a:extLst>
                    <a:ext uri="{FF2B5EF4-FFF2-40B4-BE49-F238E27FC236}">
                      <a16:creationId xmlns:a16="http://schemas.microsoft.com/office/drawing/2014/main" id="{301E45D3-919D-1244-81EA-E8806D0CC92A}"/>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9" name="五角形 278">
                  <a:extLst>
                    <a:ext uri="{FF2B5EF4-FFF2-40B4-BE49-F238E27FC236}">
                      <a16:creationId xmlns:a16="http://schemas.microsoft.com/office/drawing/2014/main" id="{2D620F06-35F3-2648-8FD5-B1A76289A089}"/>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spTree>
    <p:extLst>
      <p:ext uri="{BB962C8B-B14F-4D97-AF65-F5344CB8AC3E}">
        <p14:creationId xmlns:p14="http://schemas.microsoft.com/office/powerpoint/2010/main" val="869042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EF07BE-F7C5-254D-BD90-BEE921E39240}"/>
              </a:ext>
            </a:extLst>
          </p:cNvPr>
          <p:cNvSpPr>
            <a:spLocks noGrp="1"/>
          </p:cNvSpPr>
          <p:nvPr>
            <p:ph type="title"/>
          </p:nvPr>
        </p:nvSpPr>
        <p:spPr/>
        <p:txBody>
          <a:bodyPr/>
          <a:lstStyle/>
          <a:p>
            <a:r>
              <a:rPr lang="ja-JP" altLang="en-US"/>
              <a:t>はじめに</a:t>
            </a:r>
            <a:endParaRPr kumimoji="1" lang="ja-JP" altLang="en-US"/>
          </a:p>
        </p:txBody>
      </p:sp>
      <p:sp>
        <p:nvSpPr>
          <p:cNvPr id="3" name="コンテンツ プレースホルダー 2">
            <a:extLst>
              <a:ext uri="{FF2B5EF4-FFF2-40B4-BE49-F238E27FC236}">
                <a16:creationId xmlns:a16="http://schemas.microsoft.com/office/drawing/2014/main" id="{A10AEE10-C814-C742-9CB1-7EB68924CEEF}"/>
              </a:ext>
            </a:extLst>
          </p:cNvPr>
          <p:cNvSpPr>
            <a:spLocks noGrp="1"/>
          </p:cNvSpPr>
          <p:nvPr>
            <p:ph idx="1"/>
          </p:nvPr>
        </p:nvSpPr>
        <p:spPr/>
        <p:txBody>
          <a:bodyPr/>
          <a:lstStyle/>
          <a:p>
            <a:r>
              <a:rPr lang="ja-JP" altLang="en-US"/>
              <a:t>本研究では</a:t>
            </a:r>
            <a:r>
              <a:rPr lang="ja-JP" altLang="en-US">
                <a:solidFill>
                  <a:schemeClr val="accent2"/>
                </a:solidFill>
              </a:rPr>
              <a:t>曖昧性を持たせたカテゴリ分類</a:t>
            </a:r>
            <a:r>
              <a:rPr lang="ja-JP" altLang="en-US"/>
              <a:t>を提案</a:t>
            </a:r>
            <a:endParaRPr lang="en-US" altLang="ja-JP" dirty="0"/>
          </a:p>
          <a:p>
            <a:pPr lvl="1"/>
            <a:r>
              <a:rPr lang="ja-JP" altLang="en-US"/>
              <a:t>既存のカテゴリ分類による交渉戦略の問題点を解決する</a:t>
            </a:r>
          </a:p>
          <a:p>
            <a:pPr marL="0" indent="0">
              <a:buNone/>
            </a:pPr>
            <a:endParaRPr kumimoji="1" lang="ja-JP" altLang="en-US"/>
          </a:p>
        </p:txBody>
      </p:sp>
      <p:sp>
        <p:nvSpPr>
          <p:cNvPr id="4" name="日付プレースホルダー 3">
            <a:extLst>
              <a:ext uri="{FF2B5EF4-FFF2-40B4-BE49-F238E27FC236}">
                <a16:creationId xmlns:a16="http://schemas.microsoft.com/office/drawing/2014/main" id="{F69A9420-748A-344E-AE41-9ECEDC30EF79}"/>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2AF3FB64-1368-FD4C-A937-B8BB9B87959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E88A5960-7A3A-F544-ADA4-CE3F151E122D}"/>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61367AC1-6856-DA4E-A1DF-833FDA310218}"/>
              </a:ext>
            </a:extLst>
          </p:cNvPr>
          <p:cNvSpPr>
            <a:spLocks noGrp="1"/>
          </p:cNvSpPr>
          <p:nvPr>
            <p:ph type="body" sz="quarter" idx="13"/>
          </p:nvPr>
        </p:nvSpPr>
        <p:spPr/>
        <p:txBody>
          <a:bodyPr/>
          <a:lstStyle/>
          <a:p>
            <a:r>
              <a:rPr kumimoji="1" lang="en-US" altLang="ja-JP" dirty="0"/>
              <a:t>1</a:t>
            </a:r>
            <a:endParaRPr kumimoji="1" lang="ja-JP" altLang="en-US"/>
          </a:p>
        </p:txBody>
      </p:sp>
      <p:grpSp>
        <p:nvGrpSpPr>
          <p:cNvPr id="9" name="グループ化 8">
            <a:extLst>
              <a:ext uri="{FF2B5EF4-FFF2-40B4-BE49-F238E27FC236}">
                <a16:creationId xmlns:a16="http://schemas.microsoft.com/office/drawing/2014/main" id="{A82D0715-977F-0548-8823-9EAB025A8165}"/>
              </a:ext>
            </a:extLst>
          </p:cNvPr>
          <p:cNvGrpSpPr/>
          <p:nvPr/>
        </p:nvGrpSpPr>
        <p:grpSpPr>
          <a:xfrm>
            <a:off x="163626" y="1160115"/>
            <a:ext cx="2417528" cy="680876"/>
            <a:chOff x="163626" y="1160115"/>
            <a:chExt cx="2417528" cy="680876"/>
          </a:xfrm>
        </p:grpSpPr>
        <p:cxnSp>
          <p:nvCxnSpPr>
            <p:cNvPr id="10" name="直線コネクタ 9">
              <a:extLst>
                <a:ext uri="{FF2B5EF4-FFF2-40B4-BE49-F238E27FC236}">
                  <a16:creationId xmlns:a16="http://schemas.microsoft.com/office/drawing/2014/main" id="{0D9B70FE-5A7B-CB41-9B9B-93FA6532E027}"/>
                </a:ext>
              </a:extLst>
            </p:cNvPr>
            <p:cNvCxnSpPr>
              <a:cxnSpLocks/>
            </p:cNvCxnSpPr>
            <p:nvPr userDrawn="1"/>
          </p:nvCxnSpPr>
          <p:spPr>
            <a:xfrm>
              <a:off x="163626" y="1699846"/>
              <a:ext cx="241752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8D2FE1F1-07E6-3947-AE08-C170AC052FD0}"/>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テキスト プレースホルダー 12">
            <a:extLst>
              <a:ext uri="{FF2B5EF4-FFF2-40B4-BE49-F238E27FC236}">
                <a16:creationId xmlns:a16="http://schemas.microsoft.com/office/drawing/2014/main" id="{3A031E20-0E3B-7B48-9F5D-47677AB1B18C}"/>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研究の目的</a:t>
            </a:r>
          </a:p>
        </p:txBody>
      </p:sp>
      <p:grpSp>
        <p:nvGrpSpPr>
          <p:cNvPr id="8" name="グループ化 7">
            <a:extLst>
              <a:ext uri="{FF2B5EF4-FFF2-40B4-BE49-F238E27FC236}">
                <a16:creationId xmlns:a16="http://schemas.microsoft.com/office/drawing/2014/main" id="{2698052D-A205-2445-9703-310454C36303}"/>
              </a:ext>
            </a:extLst>
          </p:cNvPr>
          <p:cNvGrpSpPr/>
          <p:nvPr/>
        </p:nvGrpSpPr>
        <p:grpSpPr>
          <a:xfrm>
            <a:off x="1369637" y="2714058"/>
            <a:ext cx="6505547" cy="3967510"/>
            <a:chOff x="1369637" y="2714058"/>
            <a:chExt cx="6505547" cy="3967510"/>
          </a:xfrm>
        </p:grpSpPr>
        <p:grpSp>
          <p:nvGrpSpPr>
            <p:cNvPr id="56" name="グループ化 55">
              <a:extLst>
                <a:ext uri="{FF2B5EF4-FFF2-40B4-BE49-F238E27FC236}">
                  <a16:creationId xmlns:a16="http://schemas.microsoft.com/office/drawing/2014/main" id="{138777B2-D1F2-164E-8FB5-64E9AC645E23}"/>
                </a:ext>
              </a:extLst>
            </p:cNvPr>
            <p:cNvGrpSpPr/>
            <p:nvPr/>
          </p:nvGrpSpPr>
          <p:grpSpPr>
            <a:xfrm>
              <a:off x="1369637" y="2728561"/>
              <a:ext cx="2682192" cy="3953007"/>
              <a:chOff x="1645453" y="2677223"/>
              <a:chExt cx="2582421" cy="3805965"/>
            </a:xfrm>
          </p:grpSpPr>
          <p:grpSp>
            <p:nvGrpSpPr>
              <p:cNvPr id="16" name="グループ化 15">
                <a:extLst>
                  <a:ext uri="{FF2B5EF4-FFF2-40B4-BE49-F238E27FC236}">
                    <a16:creationId xmlns:a16="http://schemas.microsoft.com/office/drawing/2014/main" id="{0CA23127-DBD3-E746-9D72-209481107C26}"/>
                  </a:ext>
                </a:extLst>
              </p:cNvPr>
              <p:cNvGrpSpPr/>
              <p:nvPr/>
            </p:nvGrpSpPr>
            <p:grpSpPr>
              <a:xfrm>
                <a:off x="1748477" y="2677223"/>
                <a:ext cx="2203288" cy="1530155"/>
                <a:chOff x="16999257" y="21804986"/>
                <a:chExt cx="4722944" cy="3280023"/>
              </a:xfrm>
            </p:grpSpPr>
            <p:pic>
              <p:nvPicPr>
                <p:cNvPr id="44" name="図 43">
                  <a:extLst>
                    <a:ext uri="{FF2B5EF4-FFF2-40B4-BE49-F238E27FC236}">
                      <a16:creationId xmlns:a16="http://schemas.microsoft.com/office/drawing/2014/main" id="{BE04AD06-663A-264B-8296-B50E0E51EF43}"/>
                    </a:ext>
                  </a:extLst>
                </p:cNvPr>
                <p:cNvPicPr>
                  <a:picLocks noChangeAspect="1"/>
                </p:cNvPicPr>
                <p:nvPr/>
              </p:nvPicPr>
              <p:blipFill>
                <a:blip r:embed="rId4"/>
                <a:stretch>
                  <a:fillRect/>
                </a:stretch>
              </p:blipFill>
              <p:spPr>
                <a:xfrm>
                  <a:off x="17564363" y="22957177"/>
                  <a:ext cx="1362076" cy="1612984"/>
                </a:xfrm>
                <a:prstGeom prst="rect">
                  <a:avLst/>
                </a:prstGeom>
              </p:spPr>
            </p:pic>
            <p:sp>
              <p:nvSpPr>
                <p:cNvPr id="45" name="雲形吹き出し 44">
                  <a:extLst>
                    <a:ext uri="{FF2B5EF4-FFF2-40B4-BE49-F238E27FC236}">
                      <a16:creationId xmlns:a16="http://schemas.microsoft.com/office/drawing/2014/main" id="{60216C4F-5A0B-8E41-8FA8-891AD5F7792A}"/>
                    </a:ext>
                  </a:extLst>
                </p:cNvPr>
                <p:cNvSpPr/>
                <p:nvPr/>
              </p:nvSpPr>
              <p:spPr>
                <a:xfrm rot="316483">
                  <a:off x="17835808" y="21804986"/>
                  <a:ext cx="3189024" cy="1142307"/>
                </a:xfrm>
                <a:prstGeom prst="cloudCallout">
                  <a:avLst>
                    <a:gd name="adj1" fmla="val -17108"/>
                    <a:gd name="adj2" fmla="val 794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46" name="図 45">
                  <a:extLst>
                    <a:ext uri="{FF2B5EF4-FFF2-40B4-BE49-F238E27FC236}">
                      <a16:creationId xmlns:a16="http://schemas.microsoft.com/office/drawing/2014/main" id="{F7BB162B-967F-EA48-B73E-17B09831C77A}"/>
                    </a:ext>
                  </a:extLst>
                </p:cNvPr>
                <p:cNvPicPr>
                  <a:picLocks noChangeAspect="1"/>
                </p:cNvPicPr>
                <p:nvPr/>
              </p:nvPicPr>
              <p:blipFill>
                <a:blip r:embed="rId5"/>
                <a:stretch>
                  <a:fillRect/>
                </a:stretch>
              </p:blipFill>
              <p:spPr>
                <a:xfrm>
                  <a:off x="20676515" y="22999681"/>
                  <a:ext cx="923637" cy="1574380"/>
                </a:xfrm>
                <a:prstGeom prst="rect">
                  <a:avLst/>
                </a:prstGeom>
              </p:spPr>
            </p:pic>
            <p:sp>
              <p:nvSpPr>
                <p:cNvPr id="47" name="正方形/長方形 46">
                  <a:extLst>
                    <a:ext uri="{FF2B5EF4-FFF2-40B4-BE49-F238E27FC236}">
                      <a16:creationId xmlns:a16="http://schemas.microsoft.com/office/drawing/2014/main" id="{488834DF-A317-1947-987C-D52C0945F525}"/>
                    </a:ext>
                  </a:extLst>
                </p:cNvPr>
                <p:cNvSpPr/>
                <p:nvPr/>
              </p:nvSpPr>
              <p:spPr>
                <a:xfrm>
                  <a:off x="18158861" y="21981620"/>
                  <a:ext cx="2899354" cy="774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積極的だな・・・</a:t>
                  </a:r>
                </a:p>
              </p:txBody>
            </p:sp>
            <p:sp>
              <p:nvSpPr>
                <p:cNvPr id="48" name="右矢印 47">
                  <a:extLst>
                    <a:ext uri="{FF2B5EF4-FFF2-40B4-BE49-F238E27FC236}">
                      <a16:creationId xmlns:a16="http://schemas.microsoft.com/office/drawing/2014/main" id="{0E5F3B1B-5293-5648-B308-A121459F9D68}"/>
                    </a:ext>
                  </a:extLst>
                </p:cNvPr>
                <p:cNvSpPr/>
                <p:nvPr/>
              </p:nvSpPr>
              <p:spPr>
                <a:xfrm rot="10800000">
                  <a:off x="18944144" y="23702387"/>
                  <a:ext cx="1591855" cy="334213"/>
                </a:xfrm>
                <a:prstGeom prst="rightArrow">
                  <a:avLst>
                    <a:gd name="adj1" fmla="val 68693"/>
                    <a:gd name="adj2" fmla="val 98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49" name="グループ化 48">
                  <a:extLst>
                    <a:ext uri="{FF2B5EF4-FFF2-40B4-BE49-F238E27FC236}">
                      <a16:creationId xmlns:a16="http://schemas.microsoft.com/office/drawing/2014/main" id="{4B164105-7478-CF4C-A11E-113E21F54BA6}"/>
                    </a:ext>
                  </a:extLst>
                </p:cNvPr>
                <p:cNvGrpSpPr/>
                <p:nvPr/>
              </p:nvGrpSpPr>
              <p:grpSpPr>
                <a:xfrm>
                  <a:off x="19256898" y="23257700"/>
                  <a:ext cx="1188125" cy="1086339"/>
                  <a:chOff x="1985286" y="3724205"/>
                  <a:chExt cx="1188126" cy="987581"/>
                </a:xfrm>
                <a:solidFill>
                  <a:schemeClr val="accent2"/>
                </a:solidFill>
              </p:grpSpPr>
              <p:sp>
                <p:nvSpPr>
                  <p:cNvPr id="52" name="メモ 51">
                    <a:extLst>
                      <a:ext uri="{FF2B5EF4-FFF2-40B4-BE49-F238E27FC236}">
                        <a16:creationId xmlns:a16="http://schemas.microsoft.com/office/drawing/2014/main" id="{55AF4180-6D28-4C41-BD82-679BE3BAD6E2}"/>
                      </a:ext>
                    </a:extLst>
                  </p:cNvPr>
                  <p:cNvSpPr/>
                  <p:nvPr/>
                </p:nvSpPr>
                <p:spPr>
                  <a:xfrm rot="10800000">
                    <a:off x="2174915" y="3724205"/>
                    <a:ext cx="809527" cy="987581"/>
                  </a:xfrm>
                  <a:prstGeom prst="foldedCorner">
                    <a:avLst>
                      <a:gd name="adj" fmla="val 3313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ysClr val="windowText" lastClr="000000"/>
                      </a:solidFill>
                    </a:endParaRPr>
                  </a:p>
                </p:txBody>
              </p:sp>
              <p:sp>
                <p:nvSpPr>
                  <p:cNvPr id="53" name="正方形/長方形 52">
                    <a:extLst>
                      <a:ext uri="{FF2B5EF4-FFF2-40B4-BE49-F238E27FC236}">
                        <a16:creationId xmlns:a16="http://schemas.microsoft.com/office/drawing/2014/main" id="{2A3094A5-D7EA-BC49-AD61-2E9ED73D4CA8}"/>
                      </a:ext>
                    </a:extLst>
                  </p:cNvPr>
                  <p:cNvSpPr/>
                  <p:nvPr/>
                </p:nvSpPr>
                <p:spPr>
                  <a:xfrm>
                    <a:off x="1985286" y="3957406"/>
                    <a:ext cx="1188126" cy="526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ysClr val="windowText" lastClr="000000"/>
                        </a:solidFill>
                      </a:rPr>
                      <a:t>Offer</a:t>
                    </a:r>
                    <a:endParaRPr kumimoji="1" lang="ja-JP" altLang="en-US" sz="900">
                      <a:solidFill>
                        <a:sysClr val="windowText" lastClr="000000"/>
                      </a:solidFill>
                    </a:endParaRPr>
                  </a:p>
                </p:txBody>
              </p:sp>
            </p:grpSp>
            <p:sp>
              <p:nvSpPr>
                <p:cNvPr id="50" name="テキスト ボックス 49">
                  <a:extLst>
                    <a:ext uri="{FF2B5EF4-FFF2-40B4-BE49-F238E27FC236}">
                      <a16:creationId xmlns:a16="http://schemas.microsoft.com/office/drawing/2014/main" id="{80BA0035-B13B-1E44-842B-B4E786D49DB8}"/>
                    </a:ext>
                  </a:extLst>
                </p:cNvPr>
                <p:cNvSpPr txBox="1"/>
                <p:nvPr/>
              </p:nvSpPr>
              <p:spPr>
                <a:xfrm>
                  <a:off x="16999257" y="24560964"/>
                  <a:ext cx="2436145" cy="524045"/>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エージェント</a:t>
                  </a:r>
                </a:p>
              </p:txBody>
            </p:sp>
            <p:sp>
              <p:nvSpPr>
                <p:cNvPr id="51" name="テキスト ボックス 50">
                  <a:extLst>
                    <a:ext uri="{FF2B5EF4-FFF2-40B4-BE49-F238E27FC236}">
                      <a16:creationId xmlns:a16="http://schemas.microsoft.com/office/drawing/2014/main" id="{95F7886B-B245-5B4E-97AC-029079F82DB7}"/>
                    </a:ext>
                  </a:extLst>
                </p:cNvPr>
                <p:cNvSpPr txBox="1"/>
                <p:nvPr/>
              </p:nvSpPr>
              <p:spPr>
                <a:xfrm>
                  <a:off x="20585722" y="24556709"/>
                  <a:ext cx="1136479" cy="524045"/>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人間</a:t>
                  </a:r>
                </a:p>
              </p:txBody>
            </p:sp>
          </p:grpSp>
          <p:grpSp>
            <p:nvGrpSpPr>
              <p:cNvPr id="18" name="グループ化 17">
                <a:extLst>
                  <a:ext uri="{FF2B5EF4-FFF2-40B4-BE49-F238E27FC236}">
                    <a16:creationId xmlns:a16="http://schemas.microsoft.com/office/drawing/2014/main" id="{F96B6F0E-D291-CA4F-A0C7-8D0B0982CC5F}"/>
                  </a:ext>
                </a:extLst>
              </p:cNvPr>
              <p:cNvGrpSpPr/>
              <p:nvPr/>
            </p:nvGrpSpPr>
            <p:grpSpPr>
              <a:xfrm>
                <a:off x="1645453" y="4013525"/>
                <a:ext cx="2582421" cy="2469663"/>
                <a:chOff x="16778417" y="24751133"/>
                <a:chExt cx="5535649" cy="5293938"/>
              </a:xfrm>
            </p:grpSpPr>
            <p:grpSp>
              <p:nvGrpSpPr>
                <p:cNvPr id="30" name="グループ化 29">
                  <a:extLst>
                    <a:ext uri="{FF2B5EF4-FFF2-40B4-BE49-F238E27FC236}">
                      <a16:creationId xmlns:a16="http://schemas.microsoft.com/office/drawing/2014/main" id="{A209DB85-5C39-EB42-8D8C-25B08924636E}"/>
                    </a:ext>
                  </a:extLst>
                </p:cNvPr>
                <p:cNvGrpSpPr/>
                <p:nvPr/>
              </p:nvGrpSpPr>
              <p:grpSpPr>
                <a:xfrm>
                  <a:off x="16778417" y="24751133"/>
                  <a:ext cx="5415941" cy="5293938"/>
                  <a:chOff x="7873938" y="19015474"/>
                  <a:chExt cx="5415940" cy="5293939"/>
                </a:xfrm>
              </p:grpSpPr>
              <p:pic>
                <p:nvPicPr>
                  <p:cNvPr id="33" name="図 32">
                    <a:extLst>
                      <a:ext uri="{FF2B5EF4-FFF2-40B4-BE49-F238E27FC236}">
                        <a16:creationId xmlns:a16="http://schemas.microsoft.com/office/drawing/2014/main" id="{F04A27CE-F26D-C944-BBFE-55822DCDC06B}"/>
                      </a:ext>
                    </a:extLst>
                  </p:cNvPr>
                  <p:cNvPicPr>
                    <a:picLocks noChangeAspect="1"/>
                  </p:cNvPicPr>
                  <p:nvPr/>
                </p:nvPicPr>
                <p:blipFill rotWithShape="1">
                  <a:blip r:embed="rId6"/>
                  <a:srcRect l="10972" t="1550" r="-1061" b="21005"/>
                  <a:stretch/>
                </p:blipFill>
                <p:spPr>
                  <a:xfrm>
                    <a:off x="8648581" y="19015474"/>
                    <a:ext cx="4641297" cy="4492610"/>
                  </a:xfrm>
                  <a:prstGeom prst="rect">
                    <a:avLst/>
                  </a:prstGeom>
                </p:spPr>
              </p:pic>
              <p:cxnSp>
                <p:nvCxnSpPr>
                  <p:cNvPr id="34" name="直線矢印コネクタ 33">
                    <a:extLst>
                      <a:ext uri="{FF2B5EF4-FFF2-40B4-BE49-F238E27FC236}">
                        <a16:creationId xmlns:a16="http://schemas.microsoft.com/office/drawing/2014/main" id="{D2A808A9-D0C6-4A4E-BF91-A2E3772A1086}"/>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8BED0B37-A6DD-BA4D-940B-016A612B40FC}"/>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B2C9E413-7FAB-7148-8FBA-9EB3CB5DC808}"/>
                      </a:ext>
                    </a:extLst>
                  </p:cNvPr>
                  <p:cNvSpPr txBox="1"/>
                  <p:nvPr/>
                </p:nvSpPr>
                <p:spPr>
                  <a:xfrm>
                    <a:off x="9420397" y="23769489"/>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37" name="テキスト ボックス 36">
                    <a:extLst>
                      <a:ext uri="{FF2B5EF4-FFF2-40B4-BE49-F238E27FC236}">
                        <a16:creationId xmlns:a16="http://schemas.microsoft.com/office/drawing/2014/main" id="{9770035D-8474-3C44-AA27-C3EDCAEE4E87}"/>
                      </a:ext>
                    </a:extLst>
                  </p:cNvPr>
                  <p:cNvSpPr txBox="1"/>
                  <p:nvPr/>
                </p:nvSpPr>
                <p:spPr>
                  <a:xfrm rot="16200000">
                    <a:off x="6898875" y="21287147"/>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31" name="図 30">
                  <a:extLst>
                    <a:ext uri="{FF2B5EF4-FFF2-40B4-BE49-F238E27FC236}">
                      <a16:creationId xmlns:a16="http://schemas.microsoft.com/office/drawing/2014/main" id="{745206E1-DD41-4F48-9237-BE37B794AB7B}"/>
                    </a:ext>
                  </a:extLst>
                </p:cNvPr>
                <p:cNvPicPr>
                  <a:picLocks noChangeAspect="1"/>
                </p:cNvPicPr>
                <p:nvPr/>
              </p:nvPicPr>
              <p:blipFill>
                <a:blip r:embed="rId5">
                  <a:duotone>
                    <a:prstClr val="black"/>
                    <a:schemeClr val="accent1">
                      <a:tint val="45000"/>
                      <a:satMod val="400000"/>
                    </a:schemeClr>
                  </a:duotone>
                </a:blip>
                <a:stretch>
                  <a:fillRect/>
                </a:stretch>
              </p:blipFill>
              <p:spPr>
                <a:xfrm>
                  <a:off x="19324672" y="26733403"/>
                  <a:ext cx="473971" cy="807904"/>
                </a:xfrm>
                <a:prstGeom prst="rect">
                  <a:avLst/>
                </a:prstGeom>
              </p:spPr>
            </p:pic>
            <p:sp>
              <p:nvSpPr>
                <p:cNvPr id="32" name="角丸四角形吹き出し 31">
                  <a:extLst>
                    <a:ext uri="{FF2B5EF4-FFF2-40B4-BE49-F238E27FC236}">
                      <a16:creationId xmlns:a16="http://schemas.microsoft.com/office/drawing/2014/main" id="{0CEB9DE5-6220-C94A-8928-1BD6EBBAE53E}"/>
                    </a:ext>
                  </a:extLst>
                </p:cNvPr>
                <p:cNvSpPr/>
                <p:nvPr/>
              </p:nvSpPr>
              <p:spPr>
                <a:xfrm>
                  <a:off x="18834709" y="27807434"/>
                  <a:ext cx="3479357" cy="587372"/>
                </a:xfrm>
                <a:prstGeom prst="wedgeRoundRectCallout">
                  <a:avLst>
                    <a:gd name="adj1" fmla="val -32032"/>
                    <a:gd name="adj2" fmla="val -73269"/>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エージェントの予想</a:t>
                  </a:r>
                </a:p>
              </p:txBody>
            </p:sp>
          </p:grpSp>
        </p:grpSp>
        <p:grpSp>
          <p:nvGrpSpPr>
            <p:cNvPr id="57" name="グループ化 56">
              <a:extLst>
                <a:ext uri="{FF2B5EF4-FFF2-40B4-BE49-F238E27FC236}">
                  <a16:creationId xmlns:a16="http://schemas.microsoft.com/office/drawing/2014/main" id="{617A3631-A9B4-0E4F-9E16-AF92CC1E4695}"/>
                </a:ext>
              </a:extLst>
            </p:cNvPr>
            <p:cNvGrpSpPr/>
            <p:nvPr/>
          </p:nvGrpSpPr>
          <p:grpSpPr>
            <a:xfrm>
              <a:off x="5250993" y="2714058"/>
              <a:ext cx="2624191" cy="3960732"/>
              <a:chOff x="4936666" y="2663259"/>
              <a:chExt cx="2526577" cy="3813403"/>
            </a:xfrm>
          </p:grpSpPr>
          <p:grpSp>
            <p:nvGrpSpPr>
              <p:cNvPr id="17" name="グループ化 16">
                <a:extLst>
                  <a:ext uri="{FF2B5EF4-FFF2-40B4-BE49-F238E27FC236}">
                    <a16:creationId xmlns:a16="http://schemas.microsoft.com/office/drawing/2014/main" id="{04D69B55-4D29-C140-9946-32A5311B9987}"/>
                  </a:ext>
                </a:extLst>
              </p:cNvPr>
              <p:cNvGrpSpPr/>
              <p:nvPr/>
            </p:nvGrpSpPr>
            <p:grpSpPr>
              <a:xfrm>
                <a:off x="4976999" y="2663259"/>
                <a:ext cx="2203286" cy="1542851"/>
                <a:chOff x="16999261" y="21777783"/>
                <a:chExt cx="4722940" cy="3307241"/>
              </a:xfrm>
            </p:grpSpPr>
            <p:pic>
              <p:nvPicPr>
                <p:cNvPr id="38" name="図 37">
                  <a:extLst>
                    <a:ext uri="{FF2B5EF4-FFF2-40B4-BE49-F238E27FC236}">
                      <a16:creationId xmlns:a16="http://schemas.microsoft.com/office/drawing/2014/main" id="{56CDCD58-415A-424A-8FE7-A6C942E5859C}"/>
                    </a:ext>
                  </a:extLst>
                </p:cNvPr>
                <p:cNvPicPr>
                  <a:picLocks noChangeAspect="1"/>
                </p:cNvPicPr>
                <p:nvPr/>
              </p:nvPicPr>
              <p:blipFill>
                <a:blip r:embed="rId4"/>
                <a:stretch>
                  <a:fillRect/>
                </a:stretch>
              </p:blipFill>
              <p:spPr>
                <a:xfrm>
                  <a:off x="17564364" y="22957194"/>
                  <a:ext cx="1362076" cy="1612985"/>
                </a:xfrm>
                <a:prstGeom prst="rect">
                  <a:avLst/>
                </a:prstGeom>
              </p:spPr>
            </p:pic>
            <p:sp>
              <p:nvSpPr>
                <p:cNvPr id="39" name="雲形吹き出し 38">
                  <a:extLst>
                    <a:ext uri="{FF2B5EF4-FFF2-40B4-BE49-F238E27FC236}">
                      <a16:creationId xmlns:a16="http://schemas.microsoft.com/office/drawing/2014/main" id="{B38305C4-E93C-984A-9B80-8AAFE6D15818}"/>
                    </a:ext>
                  </a:extLst>
                </p:cNvPr>
                <p:cNvSpPr/>
                <p:nvPr/>
              </p:nvSpPr>
              <p:spPr>
                <a:xfrm rot="316483">
                  <a:off x="17835810" y="21777783"/>
                  <a:ext cx="3189024" cy="1142309"/>
                </a:xfrm>
                <a:prstGeom prst="cloudCallout">
                  <a:avLst>
                    <a:gd name="adj1" fmla="val -17108"/>
                    <a:gd name="adj2" fmla="val 794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40" name="図 39">
                  <a:extLst>
                    <a:ext uri="{FF2B5EF4-FFF2-40B4-BE49-F238E27FC236}">
                      <a16:creationId xmlns:a16="http://schemas.microsoft.com/office/drawing/2014/main" id="{DEEE85B1-A0AB-0A43-AC79-3A3C06574953}"/>
                    </a:ext>
                  </a:extLst>
                </p:cNvPr>
                <p:cNvPicPr>
                  <a:picLocks noChangeAspect="1"/>
                </p:cNvPicPr>
                <p:nvPr/>
              </p:nvPicPr>
              <p:blipFill>
                <a:blip r:embed="rId5"/>
                <a:stretch>
                  <a:fillRect/>
                </a:stretch>
              </p:blipFill>
              <p:spPr>
                <a:xfrm>
                  <a:off x="20676518" y="22999699"/>
                  <a:ext cx="923636" cy="1574380"/>
                </a:xfrm>
                <a:prstGeom prst="rect">
                  <a:avLst/>
                </a:prstGeom>
              </p:spPr>
            </p:pic>
            <p:sp>
              <p:nvSpPr>
                <p:cNvPr id="41" name="正方形/長方形 40">
                  <a:extLst>
                    <a:ext uri="{FF2B5EF4-FFF2-40B4-BE49-F238E27FC236}">
                      <a16:creationId xmlns:a16="http://schemas.microsoft.com/office/drawing/2014/main" id="{248F4A03-8BC8-CE42-8E67-572DE4063A34}"/>
                    </a:ext>
                  </a:extLst>
                </p:cNvPr>
                <p:cNvSpPr/>
                <p:nvPr/>
              </p:nvSpPr>
              <p:spPr>
                <a:xfrm>
                  <a:off x="18158863" y="21954423"/>
                  <a:ext cx="2517656" cy="774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多分この辺り</a:t>
                  </a:r>
                  <a:br>
                    <a:rPr kumimoji="1" lang="en-US" altLang="ja-JP" sz="1050" dirty="0">
                      <a:solidFill>
                        <a:schemeClr val="bg1"/>
                      </a:solidFill>
                      <a:latin typeface="Meiryo" panose="020B0604030504040204" pitchFamily="34" charset="-128"/>
                      <a:ea typeface="Meiryo" panose="020B0604030504040204" pitchFamily="34" charset="-128"/>
                    </a:rPr>
                  </a:br>
                  <a:r>
                    <a:rPr kumimoji="1" lang="ja-JP" altLang="en-US" sz="1050">
                      <a:solidFill>
                        <a:schemeClr val="bg1"/>
                      </a:solidFill>
                      <a:latin typeface="Meiryo" panose="020B0604030504040204" pitchFamily="34" charset="-128"/>
                      <a:ea typeface="Meiryo" panose="020B0604030504040204" pitchFamily="34" charset="-128"/>
                    </a:rPr>
                    <a:t>だろう</a:t>
                  </a:r>
                </a:p>
              </p:txBody>
            </p:sp>
            <p:sp>
              <p:nvSpPr>
                <p:cNvPr id="42" name="テキスト ボックス 41">
                  <a:extLst>
                    <a:ext uri="{FF2B5EF4-FFF2-40B4-BE49-F238E27FC236}">
                      <a16:creationId xmlns:a16="http://schemas.microsoft.com/office/drawing/2014/main" id="{4864350F-5C3C-F742-A4C6-BBF5002388ED}"/>
                    </a:ext>
                  </a:extLst>
                </p:cNvPr>
                <p:cNvSpPr txBox="1"/>
                <p:nvPr/>
              </p:nvSpPr>
              <p:spPr>
                <a:xfrm>
                  <a:off x="16999261" y="24560978"/>
                  <a:ext cx="2436145" cy="524046"/>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エージェント</a:t>
                  </a:r>
                </a:p>
              </p:txBody>
            </p:sp>
            <p:sp>
              <p:nvSpPr>
                <p:cNvPr id="43" name="テキスト ボックス 42">
                  <a:extLst>
                    <a:ext uri="{FF2B5EF4-FFF2-40B4-BE49-F238E27FC236}">
                      <a16:creationId xmlns:a16="http://schemas.microsoft.com/office/drawing/2014/main" id="{D2087C14-6DEC-5B44-B82A-731B2520F9CE}"/>
                    </a:ext>
                  </a:extLst>
                </p:cNvPr>
                <p:cNvSpPr txBox="1"/>
                <p:nvPr/>
              </p:nvSpPr>
              <p:spPr>
                <a:xfrm>
                  <a:off x="20585722" y="24556708"/>
                  <a:ext cx="1136479" cy="524046"/>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人間</a:t>
                  </a:r>
                </a:p>
              </p:txBody>
            </p:sp>
          </p:grpSp>
          <p:grpSp>
            <p:nvGrpSpPr>
              <p:cNvPr id="19" name="グループ化 18">
                <a:extLst>
                  <a:ext uri="{FF2B5EF4-FFF2-40B4-BE49-F238E27FC236}">
                    <a16:creationId xmlns:a16="http://schemas.microsoft.com/office/drawing/2014/main" id="{CC7230FE-10C9-B440-8E14-88F9B2DA2F36}"/>
                  </a:ext>
                </a:extLst>
              </p:cNvPr>
              <p:cNvGrpSpPr/>
              <p:nvPr/>
            </p:nvGrpSpPr>
            <p:grpSpPr>
              <a:xfrm>
                <a:off x="4936666" y="4006999"/>
                <a:ext cx="2526577" cy="2469663"/>
                <a:chOff x="23334278" y="24707724"/>
                <a:chExt cx="5415940" cy="5293939"/>
              </a:xfrm>
            </p:grpSpPr>
            <p:grpSp>
              <p:nvGrpSpPr>
                <p:cNvPr id="22" name="グループ化 21">
                  <a:extLst>
                    <a:ext uri="{FF2B5EF4-FFF2-40B4-BE49-F238E27FC236}">
                      <a16:creationId xmlns:a16="http://schemas.microsoft.com/office/drawing/2014/main" id="{A3EB3B29-0685-C044-A4FD-86C526F463AC}"/>
                    </a:ext>
                  </a:extLst>
                </p:cNvPr>
                <p:cNvGrpSpPr/>
                <p:nvPr/>
              </p:nvGrpSpPr>
              <p:grpSpPr>
                <a:xfrm>
                  <a:off x="23334278" y="24707724"/>
                  <a:ext cx="5415940" cy="5293939"/>
                  <a:chOff x="7873938" y="19015474"/>
                  <a:chExt cx="5415940" cy="5293939"/>
                </a:xfrm>
              </p:grpSpPr>
              <p:pic>
                <p:nvPicPr>
                  <p:cNvPr id="25" name="図 24">
                    <a:extLst>
                      <a:ext uri="{FF2B5EF4-FFF2-40B4-BE49-F238E27FC236}">
                        <a16:creationId xmlns:a16="http://schemas.microsoft.com/office/drawing/2014/main" id="{8DE426AD-AE2F-3E42-A4D2-E04D19FC0C77}"/>
                      </a:ext>
                    </a:extLst>
                  </p:cNvPr>
                  <p:cNvPicPr>
                    <a:picLocks noChangeAspect="1"/>
                  </p:cNvPicPr>
                  <p:nvPr/>
                </p:nvPicPr>
                <p:blipFill rotWithShape="1">
                  <a:blip r:embed="rId6"/>
                  <a:srcRect l="10972" t="1550" r="-1061" b="21005"/>
                  <a:stretch/>
                </p:blipFill>
                <p:spPr>
                  <a:xfrm>
                    <a:off x="8648581" y="19015474"/>
                    <a:ext cx="4641297" cy="4492610"/>
                  </a:xfrm>
                  <a:prstGeom prst="rect">
                    <a:avLst/>
                  </a:prstGeom>
                </p:spPr>
              </p:pic>
              <p:cxnSp>
                <p:nvCxnSpPr>
                  <p:cNvPr id="26" name="直線矢印コネクタ 25">
                    <a:extLst>
                      <a:ext uri="{FF2B5EF4-FFF2-40B4-BE49-F238E27FC236}">
                        <a16:creationId xmlns:a16="http://schemas.microsoft.com/office/drawing/2014/main" id="{00D15694-BFAA-6B4E-8DAC-26D7DA660458}"/>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F5AFD016-8B34-0F40-8F6D-AC147ADE97D9}"/>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53A24B8E-D153-9644-8116-7BAAA5282BEE}"/>
                      </a:ext>
                    </a:extLst>
                  </p:cNvPr>
                  <p:cNvSpPr txBox="1"/>
                  <p:nvPr/>
                </p:nvSpPr>
                <p:spPr>
                  <a:xfrm>
                    <a:off x="9420403" y="23769489"/>
                    <a:ext cx="2490052"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29" name="テキスト ボックス 28">
                    <a:extLst>
                      <a:ext uri="{FF2B5EF4-FFF2-40B4-BE49-F238E27FC236}">
                        <a16:creationId xmlns:a16="http://schemas.microsoft.com/office/drawing/2014/main" id="{A275D16A-CF35-C54E-8709-90C62B985F4F}"/>
                      </a:ext>
                    </a:extLst>
                  </p:cNvPr>
                  <p:cNvSpPr txBox="1"/>
                  <p:nvPr/>
                </p:nvSpPr>
                <p:spPr>
                  <a:xfrm rot="16200000">
                    <a:off x="6898875" y="21287145"/>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23" name="図 22">
                  <a:extLst>
                    <a:ext uri="{FF2B5EF4-FFF2-40B4-BE49-F238E27FC236}">
                      <a16:creationId xmlns:a16="http://schemas.microsoft.com/office/drawing/2014/main" id="{F673A903-953F-3040-B015-BE9E0A47A9EA}"/>
                    </a:ext>
                  </a:extLst>
                </p:cNvPr>
                <p:cNvPicPr>
                  <a:picLocks noChangeAspect="1"/>
                </p:cNvPicPr>
                <p:nvPr/>
              </p:nvPicPr>
              <p:blipFill>
                <a:blip r:embed="rId5">
                  <a:duotone>
                    <a:prstClr val="black"/>
                    <a:schemeClr val="accent2">
                      <a:tint val="45000"/>
                      <a:satMod val="400000"/>
                    </a:schemeClr>
                  </a:duotone>
                </a:blip>
                <a:stretch>
                  <a:fillRect/>
                </a:stretch>
              </p:blipFill>
              <p:spPr>
                <a:xfrm>
                  <a:off x="25869169" y="25446244"/>
                  <a:ext cx="473971" cy="807905"/>
                </a:xfrm>
                <a:prstGeom prst="rect">
                  <a:avLst/>
                </a:prstGeom>
              </p:spPr>
            </p:pic>
            <p:sp>
              <p:nvSpPr>
                <p:cNvPr id="24" name="角丸四角形吹き出し 23">
                  <a:extLst>
                    <a:ext uri="{FF2B5EF4-FFF2-40B4-BE49-F238E27FC236}">
                      <a16:creationId xmlns:a16="http://schemas.microsoft.com/office/drawing/2014/main" id="{450D7322-F144-4646-B3FB-51BB48FB7AFF}"/>
                    </a:ext>
                  </a:extLst>
                </p:cNvPr>
                <p:cNvSpPr/>
                <p:nvPr/>
              </p:nvSpPr>
              <p:spPr>
                <a:xfrm>
                  <a:off x="25685946" y="26488665"/>
                  <a:ext cx="2875500" cy="587372"/>
                </a:xfrm>
                <a:prstGeom prst="wedgeRoundRectCallout">
                  <a:avLst>
                    <a:gd name="adj1" fmla="val -32032"/>
                    <a:gd name="adj2" fmla="val -73269"/>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予想を修正</a:t>
                  </a:r>
                  <a:endParaRPr kumimoji="1" lang="en-US" altLang="ja-JP" sz="1050" dirty="0">
                    <a:solidFill>
                      <a:schemeClr val="bg1"/>
                    </a:solidFill>
                    <a:latin typeface="Meiryo" panose="020B0604030504040204" pitchFamily="34" charset="-128"/>
                    <a:ea typeface="Meiryo" panose="020B0604030504040204" pitchFamily="34" charset="-128"/>
                  </a:endParaRPr>
                </a:p>
              </p:txBody>
            </p:sp>
          </p:grpSp>
        </p:grpSp>
        <p:sp>
          <p:nvSpPr>
            <p:cNvPr id="20" name="右矢印 19">
              <a:extLst>
                <a:ext uri="{FF2B5EF4-FFF2-40B4-BE49-F238E27FC236}">
                  <a16:creationId xmlns:a16="http://schemas.microsoft.com/office/drawing/2014/main" id="{882395A2-8D03-C24B-8248-C592D16A1AD8}"/>
                </a:ext>
              </a:extLst>
            </p:cNvPr>
            <p:cNvSpPr/>
            <p:nvPr/>
          </p:nvSpPr>
          <p:spPr>
            <a:xfrm>
              <a:off x="4226229" y="5157322"/>
              <a:ext cx="526810" cy="195944"/>
            </a:xfrm>
            <a:prstGeom prst="rightArrow">
              <a:avLst>
                <a:gd name="adj1" fmla="val 68693"/>
                <a:gd name="adj2" fmla="val 982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1" name="テキスト ボックス 20">
              <a:extLst>
                <a:ext uri="{FF2B5EF4-FFF2-40B4-BE49-F238E27FC236}">
                  <a16:creationId xmlns:a16="http://schemas.microsoft.com/office/drawing/2014/main" id="{4F6E6A1D-7753-704F-88E9-E7E026FA5D5E}"/>
                </a:ext>
              </a:extLst>
            </p:cNvPr>
            <p:cNvSpPr txBox="1"/>
            <p:nvPr/>
          </p:nvSpPr>
          <p:spPr>
            <a:xfrm>
              <a:off x="3673062" y="4803817"/>
              <a:ext cx="1532595" cy="431551"/>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人間の行動に応じて予想を修正</a:t>
              </a:r>
            </a:p>
          </p:txBody>
        </p:sp>
      </p:grpSp>
    </p:spTree>
    <p:extLst>
      <p:ext uri="{BB962C8B-B14F-4D97-AF65-F5344CB8AC3E}">
        <p14:creationId xmlns:p14="http://schemas.microsoft.com/office/powerpoint/2010/main" val="460696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EF07BE-F7C5-254D-BD90-BEE921E39240}"/>
              </a:ext>
            </a:extLst>
          </p:cNvPr>
          <p:cNvSpPr>
            <a:spLocks noGrp="1"/>
          </p:cNvSpPr>
          <p:nvPr>
            <p:ph type="title"/>
          </p:nvPr>
        </p:nvSpPr>
        <p:spPr/>
        <p:txBody>
          <a:bodyPr/>
          <a:lstStyle/>
          <a:p>
            <a:r>
              <a:rPr lang="ja-JP" altLang="en-US"/>
              <a:t>人間とエージェントの交渉</a:t>
            </a:r>
            <a:endParaRPr kumimoji="1" lang="ja-JP" altLang="en-US"/>
          </a:p>
        </p:txBody>
      </p:sp>
      <p:sp>
        <p:nvSpPr>
          <p:cNvPr id="3" name="コンテンツ プレースホルダー 2">
            <a:extLst>
              <a:ext uri="{FF2B5EF4-FFF2-40B4-BE49-F238E27FC236}">
                <a16:creationId xmlns:a16="http://schemas.microsoft.com/office/drawing/2014/main" id="{A10AEE10-C814-C742-9CB1-7EB68924CEEF}"/>
              </a:ext>
            </a:extLst>
          </p:cNvPr>
          <p:cNvSpPr>
            <a:spLocks noGrp="1"/>
          </p:cNvSpPr>
          <p:nvPr>
            <p:ph idx="1"/>
          </p:nvPr>
        </p:nvSpPr>
        <p:spPr/>
        <p:txBody>
          <a:bodyPr/>
          <a:lstStyle/>
          <a:p>
            <a:r>
              <a:rPr kumimoji="1" lang="ja-JP" altLang="en-US"/>
              <a:t>人間と交渉を行う際に用いられるプラットフォーム</a:t>
            </a:r>
            <a:endParaRPr kumimoji="1" lang="en-US" altLang="ja-JP" dirty="0"/>
          </a:p>
          <a:p>
            <a:pPr lvl="1"/>
            <a:r>
              <a:rPr lang="ja-JP" altLang="en-US"/>
              <a:t>自動交渉の競技会でも使用されている</a:t>
            </a:r>
            <a:endParaRPr kumimoji="1" lang="ja-JP" altLang="en-US"/>
          </a:p>
        </p:txBody>
      </p:sp>
      <p:sp>
        <p:nvSpPr>
          <p:cNvPr id="4" name="日付プレースホルダー 3">
            <a:extLst>
              <a:ext uri="{FF2B5EF4-FFF2-40B4-BE49-F238E27FC236}">
                <a16:creationId xmlns:a16="http://schemas.microsoft.com/office/drawing/2014/main" id="{F69A9420-748A-344E-AE41-9ECEDC30EF79}"/>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2AF3FB64-1368-FD4C-A937-B8BB9B87959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E88A5960-7A3A-F544-ADA4-CE3F151E122D}"/>
              </a:ext>
            </a:extLst>
          </p:cNvPr>
          <p:cNvSpPr>
            <a:spLocks noGrp="1"/>
          </p:cNvSpPr>
          <p:nvPr>
            <p:ph type="sldNum" sz="quarter" idx="12"/>
          </p:nvPr>
        </p:nvSpPr>
        <p:spPr/>
        <p:txBody>
          <a:bodyPr/>
          <a:lstStyle/>
          <a:p>
            <a:fld id="{2981C279-7323-A845-8A27-BB5908B2F04D}" type="slidenum">
              <a:rPr kumimoji="1" lang="ja-JP" altLang="en-US" smtClean="0"/>
              <a:t>6</a:t>
            </a:fld>
            <a:endParaRPr kumimoji="1" lang="ja-JP" altLang="en-US"/>
          </a:p>
        </p:txBody>
      </p:sp>
      <p:sp>
        <p:nvSpPr>
          <p:cNvPr id="7" name="テキスト プレースホルダー 6">
            <a:extLst>
              <a:ext uri="{FF2B5EF4-FFF2-40B4-BE49-F238E27FC236}">
                <a16:creationId xmlns:a16="http://schemas.microsoft.com/office/drawing/2014/main" id="{61367AC1-6856-DA4E-A1DF-833FDA310218}"/>
              </a:ext>
            </a:extLst>
          </p:cNvPr>
          <p:cNvSpPr>
            <a:spLocks noGrp="1"/>
          </p:cNvSpPr>
          <p:nvPr>
            <p:ph type="body" sz="quarter" idx="13"/>
          </p:nvPr>
        </p:nvSpPr>
        <p:spPr/>
        <p:txBody>
          <a:bodyPr/>
          <a:lstStyle/>
          <a:p>
            <a:r>
              <a:rPr lang="en-US" altLang="ja-JP" dirty="0"/>
              <a:t>2</a:t>
            </a:r>
            <a:endParaRPr kumimoji="1" lang="ja-JP" altLang="en-US"/>
          </a:p>
        </p:txBody>
      </p:sp>
      <p:grpSp>
        <p:nvGrpSpPr>
          <p:cNvPr id="9" name="グループ化 8">
            <a:extLst>
              <a:ext uri="{FF2B5EF4-FFF2-40B4-BE49-F238E27FC236}">
                <a16:creationId xmlns:a16="http://schemas.microsoft.com/office/drawing/2014/main" id="{A82D0715-977F-0548-8823-9EAB025A8165}"/>
              </a:ext>
            </a:extLst>
          </p:cNvPr>
          <p:cNvGrpSpPr/>
          <p:nvPr/>
        </p:nvGrpSpPr>
        <p:grpSpPr>
          <a:xfrm>
            <a:off x="163626" y="1160115"/>
            <a:ext cx="1475061" cy="680876"/>
            <a:chOff x="163626" y="1160115"/>
            <a:chExt cx="1475061" cy="680876"/>
          </a:xfrm>
        </p:grpSpPr>
        <p:cxnSp>
          <p:nvCxnSpPr>
            <p:cNvPr id="10" name="直線コネクタ 9">
              <a:extLst>
                <a:ext uri="{FF2B5EF4-FFF2-40B4-BE49-F238E27FC236}">
                  <a16:creationId xmlns:a16="http://schemas.microsoft.com/office/drawing/2014/main" id="{0D9B70FE-5A7B-CB41-9B9B-93FA6532E027}"/>
                </a:ext>
              </a:extLst>
            </p:cNvPr>
            <p:cNvCxnSpPr>
              <a:cxnSpLocks/>
            </p:cNvCxnSpPr>
            <p:nvPr userDrawn="1"/>
          </p:nvCxnSpPr>
          <p:spPr>
            <a:xfrm>
              <a:off x="163626" y="1699846"/>
              <a:ext cx="1475061"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8D2FE1F1-07E6-3947-AE08-C170AC052FD0}"/>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テキスト プレースホルダー 12">
            <a:extLst>
              <a:ext uri="{FF2B5EF4-FFF2-40B4-BE49-F238E27FC236}">
                <a16:creationId xmlns:a16="http://schemas.microsoft.com/office/drawing/2014/main" id="{3A031E20-0E3B-7B48-9F5D-47677AB1B18C}"/>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IAGO</a:t>
            </a:r>
          </a:p>
        </p:txBody>
      </p:sp>
      <p:pic>
        <p:nvPicPr>
          <p:cNvPr id="14" name="図 13" descr="スクリーンショットの画面&#10;&#10;自動的に生成された説明">
            <a:extLst>
              <a:ext uri="{FF2B5EF4-FFF2-40B4-BE49-F238E27FC236}">
                <a16:creationId xmlns:a16="http://schemas.microsoft.com/office/drawing/2014/main" id="{35A215BB-E40B-C647-A168-6E065746FA0D}"/>
              </a:ext>
            </a:extLst>
          </p:cNvPr>
          <p:cNvPicPr>
            <a:picLocks noChangeAspect="1"/>
          </p:cNvPicPr>
          <p:nvPr/>
        </p:nvPicPr>
        <p:blipFill>
          <a:blip r:embed="rId4"/>
          <a:stretch>
            <a:fillRect/>
          </a:stretch>
        </p:blipFill>
        <p:spPr>
          <a:xfrm>
            <a:off x="1739599" y="3005999"/>
            <a:ext cx="5677705" cy="3100543"/>
          </a:xfrm>
          <a:prstGeom prst="rect">
            <a:avLst/>
          </a:prstGeom>
        </p:spPr>
      </p:pic>
      <p:sp>
        <p:nvSpPr>
          <p:cNvPr id="15" name="テキスト ボックス 14">
            <a:extLst>
              <a:ext uri="{FF2B5EF4-FFF2-40B4-BE49-F238E27FC236}">
                <a16:creationId xmlns:a16="http://schemas.microsoft.com/office/drawing/2014/main" id="{10643696-0DF8-DE49-8B27-BDE772D56BA0}"/>
              </a:ext>
            </a:extLst>
          </p:cNvPr>
          <p:cNvSpPr txBox="1"/>
          <p:nvPr/>
        </p:nvSpPr>
        <p:spPr>
          <a:xfrm>
            <a:off x="3262186" y="6190152"/>
            <a:ext cx="2619628" cy="369332"/>
          </a:xfrm>
          <a:prstGeom prst="rect">
            <a:avLst/>
          </a:prstGeom>
          <a:noFill/>
        </p:spPr>
        <p:txBody>
          <a:bodyPr wrap="none" rtlCol="0">
            <a:spAutoFit/>
          </a:bodyPr>
          <a:lstStyle/>
          <a:p>
            <a:r>
              <a:rPr kumimoji="1" lang="en-US" altLang="ja-JP" dirty="0"/>
              <a:t>IAGO</a:t>
            </a:r>
            <a:r>
              <a:rPr kumimoji="1" lang="ja-JP" altLang="en-US"/>
              <a:t>のインタフェース</a:t>
            </a:r>
          </a:p>
        </p:txBody>
      </p:sp>
    </p:spTree>
    <p:extLst>
      <p:ext uri="{BB962C8B-B14F-4D97-AF65-F5344CB8AC3E}">
        <p14:creationId xmlns:p14="http://schemas.microsoft.com/office/powerpoint/2010/main" val="3314735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EF07BE-F7C5-254D-BD90-BEE921E39240}"/>
              </a:ext>
            </a:extLst>
          </p:cNvPr>
          <p:cNvSpPr>
            <a:spLocks noGrp="1"/>
          </p:cNvSpPr>
          <p:nvPr>
            <p:ph type="title"/>
          </p:nvPr>
        </p:nvSpPr>
        <p:spPr/>
        <p:txBody>
          <a:bodyPr/>
          <a:lstStyle/>
          <a:p>
            <a:r>
              <a:rPr lang="ja-JP" altLang="en-US"/>
              <a:t>人間とエージェントの交渉</a:t>
            </a:r>
            <a:endParaRPr kumimoji="1" lang="ja-JP" altLang="en-US"/>
          </a:p>
        </p:txBody>
      </p:sp>
      <p:sp>
        <p:nvSpPr>
          <p:cNvPr id="3" name="コンテンツ プレースホルダー 2">
            <a:extLst>
              <a:ext uri="{FF2B5EF4-FFF2-40B4-BE49-F238E27FC236}">
                <a16:creationId xmlns:a16="http://schemas.microsoft.com/office/drawing/2014/main" id="{A10AEE10-C814-C742-9CB1-7EB68924CEEF}"/>
              </a:ext>
            </a:extLst>
          </p:cNvPr>
          <p:cNvSpPr>
            <a:spLocks noGrp="1"/>
          </p:cNvSpPr>
          <p:nvPr>
            <p:ph idx="1"/>
          </p:nvPr>
        </p:nvSpPr>
        <p:spPr/>
        <p:txBody>
          <a:bodyPr/>
          <a:lstStyle/>
          <a:p>
            <a:r>
              <a:rPr lang="ja-JP" altLang="en-US"/>
              <a:t>保険の契約</a:t>
            </a:r>
            <a:endParaRPr lang="en-US" altLang="ja-JP" dirty="0"/>
          </a:p>
          <a:p>
            <a:pPr lvl="1"/>
            <a:r>
              <a:rPr lang="ja-JP" altLang="en-US"/>
              <a:t>エージェントが人間の選好を知ることができる</a:t>
            </a:r>
            <a:endParaRPr lang="en-US" altLang="ja-JP" dirty="0"/>
          </a:p>
          <a:p>
            <a:pPr lvl="1"/>
            <a:r>
              <a:rPr lang="ja-JP" altLang="en-US"/>
              <a:t>買い手が</a:t>
            </a:r>
            <a:r>
              <a:rPr lang="ja-JP" altLang="en-US">
                <a:solidFill>
                  <a:schemeClr val="accent2"/>
                </a:solidFill>
              </a:rPr>
              <a:t>エージェント</a:t>
            </a:r>
            <a:endParaRPr lang="en-US" altLang="ja-JP" dirty="0">
              <a:solidFill>
                <a:schemeClr val="accent2"/>
              </a:solidFill>
            </a:endParaRPr>
          </a:p>
          <a:p>
            <a:pPr lvl="1"/>
            <a:r>
              <a:rPr lang="ja-JP" altLang="en-US"/>
              <a:t>売り手が</a:t>
            </a:r>
            <a:r>
              <a:rPr lang="ja-JP" altLang="en-US">
                <a:solidFill>
                  <a:schemeClr val="accent1"/>
                </a:solidFill>
              </a:rPr>
              <a:t>人間</a:t>
            </a:r>
            <a:endParaRPr lang="en-US" altLang="ja-JP" dirty="0">
              <a:solidFill>
                <a:schemeClr val="accent1"/>
              </a:solidFill>
            </a:endParaRPr>
          </a:p>
          <a:p>
            <a:pPr marL="457200" lvl="1" indent="0">
              <a:buNone/>
            </a:pPr>
            <a:endParaRPr lang="en-US" altLang="ja-JP" dirty="0"/>
          </a:p>
        </p:txBody>
      </p:sp>
      <p:sp>
        <p:nvSpPr>
          <p:cNvPr id="4" name="日付プレースホルダー 3">
            <a:extLst>
              <a:ext uri="{FF2B5EF4-FFF2-40B4-BE49-F238E27FC236}">
                <a16:creationId xmlns:a16="http://schemas.microsoft.com/office/drawing/2014/main" id="{F69A9420-748A-344E-AE41-9ECEDC30EF79}"/>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2AF3FB64-1368-FD4C-A937-B8BB9B87959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E88A5960-7A3A-F544-ADA4-CE3F151E122D}"/>
              </a:ext>
            </a:extLst>
          </p:cNvPr>
          <p:cNvSpPr>
            <a:spLocks noGrp="1"/>
          </p:cNvSpPr>
          <p:nvPr>
            <p:ph type="sldNum" sz="quarter" idx="12"/>
          </p:nvPr>
        </p:nvSpPr>
        <p:spPr/>
        <p:txBody>
          <a:bodyPr/>
          <a:lstStyle/>
          <a:p>
            <a:fld id="{2981C279-7323-A845-8A27-BB5908B2F04D}" type="slidenum">
              <a:rPr kumimoji="1" lang="ja-JP" altLang="en-US" smtClean="0"/>
              <a:t>7</a:t>
            </a:fld>
            <a:endParaRPr kumimoji="1" lang="ja-JP" altLang="en-US"/>
          </a:p>
        </p:txBody>
      </p:sp>
      <p:sp>
        <p:nvSpPr>
          <p:cNvPr id="7" name="テキスト プレースホルダー 6">
            <a:extLst>
              <a:ext uri="{FF2B5EF4-FFF2-40B4-BE49-F238E27FC236}">
                <a16:creationId xmlns:a16="http://schemas.microsoft.com/office/drawing/2014/main" id="{61367AC1-6856-DA4E-A1DF-833FDA310218}"/>
              </a:ext>
            </a:extLst>
          </p:cNvPr>
          <p:cNvSpPr>
            <a:spLocks noGrp="1"/>
          </p:cNvSpPr>
          <p:nvPr>
            <p:ph type="body" sz="quarter" idx="13"/>
          </p:nvPr>
        </p:nvSpPr>
        <p:spPr/>
        <p:txBody>
          <a:bodyPr/>
          <a:lstStyle/>
          <a:p>
            <a:r>
              <a:rPr lang="en-US" altLang="ja-JP" dirty="0"/>
              <a:t>2</a:t>
            </a:r>
            <a:endParaRPr kumimoji="1" lang="ja-JP" altLang="en-US"/>
          </a:p>
        </p:txBody>
      </p:sp>
      <p:grpSp>
        <p:nvGrpSpPr>
          <p:cNvPr id="9" name="グループ化 8">
            <a:extLst>
              <a:ext uri="{FF2B5EF4-FFF2-40B4-BE49-F238E27FC236}">
                <a16:creationId xmlns:a16="http://schemas.microsoft.com/office/drawing/2014/main" id="{A82D0715-977F-0548-8823-9EAB025A8165}"/>
              </a:ext>
            </a:extLst>
          </p:cNvPr>
          <p:cNvGrpSpPr/>
          <p:nvPr/>
        </p:nvGrpSpPr>
        <p:grpSpPr>
          <a:xfrm>
            <a:off x="163626" y="1160115"/>
            <a:ext cx="1916351" cy="680876"/>
            <a:chOff x="163626" y="1160115"/>
            <a:chExt cx="1916351" cy="680876"/>
          </a:xfrm>
        </p:grpSpPr>
        <p:cxnSp>
          <p:nvCxnSpPr>
            <p:cNvPr id="10" name="直線コネクタ 9">
              <a:extLst>
                <a:ext uri="{FF2B5EF4-FFF2-40B4-BE49-F238E27FC236}">
                  <a16:creationId xmlns:a16="http://schemas.microsoft.com/office/drawing/2014/main" id="{0D9B70FE-5A7B-CB41-9B9B-93FA6532E027}"/>
                </a:ext>
              </a:extLst>
            </p:cNvPr>
            <p:cNvCxnSpPr>
              <a:cxnSpLocks/>
            </p:cNvCxnSpPr>
            <p:nvPr userDrawn="1"/>
          </p:nvCxnSpPr>
          <p:spPr>
            <a:xfrm>
              <a:off x="163626" y="1699846"/>
              <a:ext cx="1916351"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8D2FE1F1-07E6-3947-AE08-C170AC052FD0}"/>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テキスト プレースホルダー 12">
            <a:extLst>
              <a:ext uri="{FF2B5EF4-FFF2-40B4-BE49-F238E27FC236}">
                <a16:creationId xmlns:a16="http://schemas.microsoft.com/office/drawing/2014/main" id="{3A031E20-0E3B-7B48-9F5D-47677AB1B18C}"/>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問題設定</a:t>
            </a:r>
            <a:endParaRPr lang="en-US" altLang="ja-JP" dirty="0"/>
          </a:p>
        </p:txBody>
      </p:sp>
      <p:graphicFrame>
        <p:nvGraphicFramePr>
          <p:cNvPr id="16" name="表 15">
            <a:extLst>
              <a:ext uri="{FF2B5EF4-FFF2-40B4-BE49-F238E27FC236}">
                <a16:creationId xmlns:a16="http://schemas.microsoft.com/office/drawing/2014/main" id="{E3B430B1-3D39-F344-AE2C-E3B8DA342A40}"/>
              </a:ext>
            </a:extLst>
          </p:cNvPr>
          <p:cNvGraphicFramePr>
            <a:graphicFrameLocks noGrp="1"/>
          </p:cNvGraphicFramePr>
          <p:nvPr>
            <p:extLst>
              <p:ext uri="{D42A27DB-BD31-4B8C-83A1-F6EECF244321}">
                <p14:modId xmlns:p14="http://schemas.microsoft.com/office/powerpoint/2010/main" val="3994905909"/>
              </p:ext>
            </p:extLst>
          </p:nvPr>
        </p:nvGraphicFramePr>
        <p:xfrm>
          <a:off x="874845" y="4684047"/>
          <a:ext cx="7428735" cy="1685635"/>
        </p:xfrm>
        <a:graphic>
          <a:graphicData uri="http://schemas.openxmlformats.org/drawingml/2006/table">
            <a:tbl>
              <a:tblPr firstRow="1" firstCol="1" bandRow="1">
                <a:tableStyleId>{5C22544A-7EE6-4342-B048-85BDC9FD1C3A}</a:tableStyleId>
              </a:tblPr>
              <a:tblGrid>
                <a:gridCol w="1053747">
                  <a:extLst>
                    <a:ext uri="{9D8B030D-6E8A-4147-A177-3AD203B41FA5}">
                      <a16:colId xmlns:a16="http://schemas.microsoft.com/office/drawing/2014/main" val="839403089"/>
                    </a:ext>
                  </a:extLst>
                </a:gridCol>
                <a:gridCol w="1053747">
                  <a:extLst>
                    <a:ext uri="{9D8B030D-6E8A-4147-A177-3AD203B41FA5}">
                      <a16:colId xmlns:a16="http://schemas.microsoft.com/office/drawing/2014/main" val="316063321"/>
                    </a:ext>
                  </a:extLst>
                </a:gridCol>
                <a:gridCol w="1080000">
                  <a:extLst>
                    <a:ext uri="{9D8B030D-6E8A-4147-A177-3AD203B41FA5}">
                      <a16:colId xmlns:a16="http://schemas.microsoft.com/office/drawing/2014/main" val="828750057"/>
                    </a:ext>
                  </a:extLst>
                </a:gridCol>
                <a:gridCol w="1053747">
                  <a:extLst>
                    <a:ext uri="{9D8B030D-6E8A-4147-A177-3AD203B41FA5}">
                      <a16:colId xmlns:a16="http://schemas.microsoft.com/office/drawing/2014/main" val="3790308961"/>
                    </a:ext>
                  </a:extLst>
                </a:gridCol>
                <a:gridCol w="1080000">
                  <a:extLst>
                    <a:ext uri="{9D8B030D-6E8A-4147-A177-3AD203B41FA5}">
                      <a16:colId xmlns:a16="http://schemas.microsoft.com/office/drawing/2014/main" val="288253547"/>
                    </a:ext>
                  </a:extLst>
                </a:gridCol>
                <a:gridCol w="1053747">
                  <a:extLst>
                    <a:ext uri="{9D8B030D-6E8A-4147-A177-3AD203B41FA5}">
                      <a16:colId xmlns:a16="http://schemas.microsoft.com/office/drawing/2014/main" val="3396473503"/>
                    </a:ext>
                  </a:extLst>
                </a:gridCol>
                <a:gridCol w="1053747">
                  <a:extLst>
                    <a:ext uri="{9D8B030D-6E8A-4147-A177-3AD203B41FA5}">
                      <a16:colId xmlns:a16="http://schemas.microsoft.com/office/drawing/2014/main" val="3564305167"/>
                    </a:ext>
                  </a:extLst>
                </a:gridCol>
              </a:tblGrid>
              <a:tr h="337127">
                <a:tc rowSpan="2">
                  <a:txBody>
                    <a:bodyPr/>
                    <a:lstStyle/>
                    <a:p>
                      <a:endParaRPr kumimoji="1" lang="ja-JP" altLang="en-US" sz="1500"/>
                    </a:p>
                  </a:txBody>
                  <a:tcPr marL="83127" marR="83127" marT="41564" marB="41564"/>
                </a:tc>
                <a:tc gridSpan="2">
                  <a:txBody>
                    <a:bodyPr/>
                    <a:lstStyle/>
                    <a:p>
                      <a:pPr algn="ctr"/>
                      <a:r>
                        <a:rPr kumimoji="1" lang="ja-JP" altLang="en-US" sz="1500"/>
                        <a:t>生命保険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損害保険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医療保険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360431693"/>
                  </a:ext>
                </a:extLst>
              </a:tr>
              <a:tr h="337127">
                <a:tc vMerge="1">
                  <a:txBody>
                    <a:bodyPr/>
                    <a:lstStyle/>
                    <a:p>
                      <a:endParaRPr kumimoji="1" lang="ja-JP" altLang="en-US"/>
                    </a:p>
                  </a:txBody>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39599213"/>
                  </a:ext>
                </a:extLst>
              </a:tr>
              <a:tr h="337127">
                <a:tc>
                  <a:txBody>
                    <a:bodyPr/>
                    <a:lstStyle/>
                    <a:p>
                      <a:r>
                        <a:rPr kumimoji="1" lang="ja-JP" altLang="en-US" sz="1500"/>
                        <a:t>レベル</a:t>
                      </a:r>
                      <a:r>
                        <a:rPr kumimoji="1" lang="en-US" altLang="ja-JP" sz="1500" dirty="0"/>
                        <a:t>1</a:t>
                      </a:r>
                      <a:endParaRPr kumimoji="1" lang="ja-JP" altLang="en-US" sz="1500"/>
                    </a:p>
                  </a:txBody>
                  <a:tcPr marL="83127" marR="83127" marT="41564" marB="41564"/>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50000/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10000/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endParaRPr kumimoji="1" lang="en-US" altLang="ja-JP" sz="1500" dirty="0"/>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3000/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757409057"/>
                  </a:ext>
                </a:extLst>
              </a:tr>
              <a:tr h="337127">
                <a:tc>
                  <a:txBody>
                    <a:bodyPr/>
                    <a:lstStyle/>
                    <a:p>
                      <a:r>
                        <a:rPr kumimoji="1" lang="ja-JP" altLang="en-US" sz="1500"/>
                        <a:t>レベル</a:t>
                      </a:r>
                      <a:r>
                        <a:rPr kumimoji="1" lang="en-US" altLang="ja-JP" sz="1500" dirty="0"/>
                        <a:t>2</a:t>
                      </a:r>
                      <a:endParaRPr kumimoji="1" lang="ja-JP" altLang="en-US" sz="1500"/>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60000/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20000/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5000/</a:t>
                      </a:r>
                      <a:r>
                        <a:rPr kumimoji="1" lang="ja-JP" altLang="en-US" sz="1500"/>
                        <a:t>月</a:t>
                      </a:r>
                    </a:p>
                  </a:txBody>
                  <a:tcPr marL="83127" marR="83127" marT="41564" marB="41564"/>
                </a:tc>
                <a:extLst>
                  <a:ext uri="{0D108BD9-81ED-4DB2-BD59-A6C34878D82A}">
                    <a16:rowId xmlns:a16="http://schemas.microsoft.com/office/drawing/2014/main" val="142469566"/>
                  </a:ext>
                </a:extLst>
              </a:tr>
              <a:tr h="337127">
                <a:tc>
                  <a:txBody>
                    <a:bodyPr/>
                    <a:lstStyle/>
                    <a:p>
                      <a:r>
                        <a:rPr kumimoji="1" lang="ja-JP" altLang="en-US" sz="1500"/>
                        <a:t>レベル</a:t>
                      </a:r>
                      <a:r>
                        <a:rPr kumimoji="1" lang="en-US" altLang="ja-JP" sz="1500" dirty="0"/>
                        <a:t>3</a:t>
                      </a:r>
                      <a:endParaRPr kumimoji="1" lang="ja-JP" altLang="en-US" sz="1500"/>
                    </a:p>
                  </a:txBody>
                  <a:tcPr marL="83127" marR="83127" marT="41564" marB="41564"/>
                </a:tc>
                <a:tc>
                  <a:txBody>
                    <a:bodyPr/>
                    <a:lstStyle/>
                    <a:p>
                      <a:pPr algn="ctr"/>
                      <a:r>
                        <a:rPr kumimoji="1" lang="ja-JP" altLang="en-US" sz="1500"/>
                        <a:t>秀</a:t>
                      </a:r>
                      <a:endParaRPr kumimoji="1" lang="en-US" altLang="ja-JP" sz="1500" dirty="0"/>
                    </a:p>
                  </a:txBody>
                  <a:tcPr marL="83127" marR="83127" marT="41564" marB="41564"/>
                </a:tc>
                <a:tc>
                  <a:txBody>
                    <a:bodyPr/>
                    <a:lstStyle/>
                    <a:p>
                      <a:pPr algn="ctr"/>
                      <a:r>
                        <a:rPr kumimoji="1" lang="en-US" altLang="ja-JP" sz="1500" dirty="0"/>
                        <a:t>70000/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30000/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7000/</a:t>
                      </a:r>
                      <a:r>
                        <a:rPr kumimoji="1" lang="ja-JP" altLang="en-US" sz="1500"/>
                        <a:t>月</a:t>
                      </a:r>
                    </a:p>
                  </a:txBody>
                  <a:tcPr marL="83127" marR="83127" marT="41564" marB="41564"/>
                </a:tc>
                <a:extLst>
                  <a:ext uri="{0D108BD9-81ED-4DB2-BD59-A6C34878D82A}">
                    <a16:rowId xmlns:a16="http://schemas.microsoft.com/office/drawing/2014/main" val="2493777769"/>
                  </a:ext>
                </a:extLst>
              </a:tr>
            </a:tbl>
          </a:graphicData>
        </a:graphic>
      </p:graphicFrame>
      <p:grpSp>
        <p:nvGrpSpPr>
          <p:cNvPr id="17" name="グループ化 16">
            <a:extLst>
              <a:ext uri="{FF2B5EF4-FFF2-40B4-BE49-F238E27FC236}">
                <a16:creationId xmlns:a16="http://schemas.microsoft.com/office/drawing/2014/main" id="{5508D28A-F70B-DD49-BD3C-7978891D1D7C}"/>
              </a:ext>
            </a:extLst>
          </p:cNvPr>
          <p:cNvGrpSpPr/>
          <p:nvPr/>
        </p:nvGrpSpPr>
        <p:grpSpPr>
          <a:xfrm>
            <a:off x="7402190" y="2870451"/>
            <a:ext cx="1077768" cy="1455164"/>
            <a:chOff x="1777460" y="7716381"/>
            <a:chExt cx="4952308" cy="6686441"/>
          </a:xfrm>
        </p:grpSpPr>
        <p:pic>
          <p:nvPicPr>
            <p:cNvPr id="18" name="図 17">
              <a:extLst>
                <a:ext uri="{FF2B5EF4-FFF2-40B4-BE49-F238E27FC236}">
                  <a16:creationId xmlns:a16="http://schemas.microsoft.com/office/drawing/2014/main" id="{F7759FD4-0F45-D044-86A6-F23852B79CA7}"/>
                </a:ext>
              </a:extLst>
            </p:cNvPr>
            <p:cNvPicPr>
              <a:picLocks noChangeAspect="1"/>
            </p:cNvPicPr>
            <p:nvPr/>
          </p:nvPicPr>
          <p:blipFill>
            <a:blip r:embed="rId4"/>
            <a:stretch>
              <a:fillRect/>
            </a:stretch>
          </p:blipFill>
          <p:spPr>
            <a:xfrm>
              <a:off x="2449331" y="7716381"/>
              <a:ext cx="3608570" cy="3922357"/>
            </a:xfrm>
            <a:prstGeom prst="rect">
              <a:avLst/>
            </a:prstGeom>
          </p:spPr>
        </p:pic>
        <p:sp>
          <p:nvSpPr>
            <p:cNvPr id="19" name="テキスト ボックス 18">
              <a:extLst>
                <a:ext uri="{FF2B5EF4-FFF2-40B4-BE49-F238E27FC236}">
                  <a16:creationId xmlns:a16="http://schemas.microsoft.com/office/drawing/2014/main" id="{0C0A2D1B-8B4A-D343-81D9-84186D47C144}"/>
                </a:ext>
              </a:extLst>
            </p:cNvPr>
            <p:cNvSpPr txBox="1"/>
            <p:nvPr/>
          </p:nvSpPr>
          <p:spPr>
            <a:xfrm>
              <a:off x="1777460" y="11715796"/>
              <a:ext cx="4952308" cy="2687026"/>
            </a:xfrm>
            <a:prstGeom prst="rect">
              <a:avLst/>
            </a:prstGeom>
            <a:noFill/>
          </p:spPr>
          <p:txBody>
            <a:bodyPr wrap="square" rtlCol="0">
              <a:spAutoFit/>
            </a:bodyPr>
            <a:lstStyle/>
            <a:p>
              <a:pPr algn="ctr"/>
              <a:r>
                <a:rPr lang="ja-JP" altLang="en-US" sz="1600"/>
                <a:t>売り</a:t>
              </a:r>
              <a:r>
                <a:rPr kumimoji="1" lang="ja-JP" altLang="en-US" sz="1600"/>
                <a:t>手</a:t>
              </a:r>
              <a:endParaRPr kumimoji="1" lang="en-US" altLang="ja-JP" sz="1600" dirty="0"/>
            </a:p>
            <a:p>
              <a:pPr algn="ctr"/>
              <a:r>
                <a:rPr kumimoji="1" lang="en-US" altLang="ja-JP" sz="1600" dirty="0"/>
                <a:t>(</a:t>
              </a:r>
              <a:r>
                <a:rPr kumimoji="1" lang="ja-JP" altLang="en-US" sz="1600"/>
                <a:t>人間</a:t>
              </a:r>
              <a:r>
                <a:rPr kumimoji="1" lang="en-US" altLang="ja-JP" sz="1600" dirty="0"/>
                <a:t>)</a:t>
              </a:r>
              <a:endParaRPr kumimoji="1" lang="ja-JP" altLang="en-US" sz="1600"/>
            </a:p>
          </p:txBody>
        </p:sp>
      </p:grpSp>
      <p:grpSp>
        <p:nvGrpSpPr>
          <p:cNvPr id="20" name="グループ化 19">
            <a:extLst>
              <a:ext uri="{FF2B5EF4-FFF2-40B4-BE49-F238E27FC236}">
                <a16:creationId xmlns:a16="http://schemas.microsoft.com/office/drawing/2014/main" id="{670A7530-B45D-E846-8FD2-B961880AF639}"/>
              </a:ext>
            </a:extLst>
          </p:cNvPr>
          <p:cNvGrpSpPr/>
          <p:nvPr/>
        </p:nvGrpSpPr>
        <p:grpSpPr>
          <a:xfrm>
            <a:off x="5458878" y="3060302"/>
            <a:ext cx="1577961" cy="1267497"/>
            <a:chOff x="589000" y="2554772"/>
            <a:chExt cx="2795459" cy="2245447"/>
          </a:xfrm>
        </p:grpSpPr>
        <p:sp>
          <p:nvSpPr>
            <p:cNvPr id="21" name="テキスト ボックス 20">
              <a:extLst>
                <a:ext uri="{FF2B5EF4-FFF2-40B4-BE49-F238E27FC236}">
                  <a16:creationId xmlns:a16="http://schemas.microsoft.com/office/drawing/2014/main" id="{A325B6E7-28A5-884A-B07F-B3821D4102B3}"/>
                </a:ext>
              </a:extLst>
            </p:cNvPr>
            <p:cNvSpPr txBox="1"/>
            <p:nvPr/>
          </p:nvSpPr>
          <p:spPr>
            <a:xfrm>
              <a:off x="589000" y="3764255"/>
              <a:ext cx="2795459" cy="1035964"/>
            </a:xfrm>
            <a:prstGeom prst="rect">
              <a:avLst/>
            </a:prstGeom>
            <a:noFill/>
          </p:spPr>
          <p:txBody>
            <a:bodyPr wrap="square" rtlCol="0">
              <a:spAutoFit/>
            </a:bodyPr>
            <a:lstStyle/>
            <a:p>
              <a:pPr algn="ctr"/>
              <a:r>
                <a:rPr lang="ja-JP" altLang="en-US" sz="1600"/>
                <a:t>買い</a:t>
              </a:r>
              <a:r>
                <a:rPr kumimoji="1" lang="ja-JP" altLang="en-US" sz="1600"/>
                <a:t>手</a:t>
              </a:r>
              <a:endParaRPr kumimoji="1" lang="en-US" altLang="ja-JP" sz="1600" dirty="0"/>
            </a:p>
            <a:p>
              <a:pPr algn="ctr"/>
              <a:r>
                <a:rPr kumimoji="1" lang="en-US" altLang="ja-JP" sz="1600" dirty="0"/>
                <a:t>(</a:t>
              </a:r>
              <a:r>
                <a:rPr kumimoji="1" lang="ja-JP" altLang="en-US" sz="1600"/>
                <a:t>エージェント</a:t>
              </a:r>
              <a:r>
                <a:rPr kumimoji="1" lang="en-US" altLang="ja-JP" sz="1600" dirty="0"/>
                <a:t>)</a:t>
              </a:r>
              <a:endParaRPr kumimoji="1" lang="ja-JP" altLang="en-US" sz="1600"/>
            </a:p>
          </p:txBody>
        </p:sp>
        <p:pic>
          <p:nvPicPr>
            <p:cNvPr id="22" name="図 21">
              <a:extLst>
                <a:ext uri="{FF2B5EF4-FFF2-40B4-BE49-F238E27FC236}">
                  <a16:creationId xmlns:a16="http://schemas.microsoft.com/office/drawing/2014/main" id="{7745D732-72D1-834D-8A35-60A261EB1C38}"/>
                </a:ext>
              </a:extLst>
            </p:cNvPr>
            <p:cNvPicPr>
              <a:picLocks noChangeAspect="1"/>
            </p:cNvPicPr>
            <p:nvPr/>
          </p:nvPicPr>
          <p:blipFill>
            <a:blip r:embed="rId5"/>
            <a:stretch>
              <a:fillRect/>
            </a:stretch>
          </p:blipFill>
          <p:spPr>
            <a:xfrm>
              <a:off x="1276892" y="2554772"/>
              <a:ext cx="1419672" cy="1235115"/>
            </a:xfrm>
            <a:prstGeom prst="rect">
              <a:avLst/>
            </a:prstGeom>
          </p:spPr>
        </p:pic>
      </p:grpSp>
      <p:sp>
        <p:nvSpPr>
          <p:cNvPr id="23" name="テキスト ボックス 22">
            <a:extLst>
              <a:ext uri="{FF2B5EF4-FFF2-40B4-BE49-F238E27FC236}">
                <a16:creationId xmlns:a16="http://schemas.microsoft.com/office/drawing/2014/main" id="{5638D6DB-035B-3343-8643-C0A08A22920C}"/>
              </a:ext>
            </a:extLst>
          </p:cNvPr>
          <p:cNvSpPr txBox="1"/>
          <p:nvPr/>
        </p:nvSpPr>
        <p:spPr>
          <a:xfrm>
            <a:off x="3800146" y="4292430"/>
            <a:ext cx="1577961" cy="369332"/>
          </a:xfrm>
          <a:prstGeom prst="rect">
            <a:avLst/>
          </a:prstGeom>
          <a:noFill/>
        </p:spPr>
        <p:txBody>
          <a:bodyPr wrap="square" rtlCol="0">
            <a:spAutoFit/>
          </a:bodyPr>
          <a:lstStyle/>
          <a:p>
            <a:pPr algn="ctr"/>
            <a:r>
              <a:rPr lang="ja-JP" altLang="en-US"/>
              <a:t>交渉内容</a:t>
            </a:r>
            <a:endParaRPr kumimoji="1" lang="ja-JP" altLang="en-US"/>
          </a:p>
        </p:txBody>
      </p:sp>
    </p:spTree>
    <p:extLst>
      <p:ext uri="{BB962C8B-B14F-4D97-AF65-F5344CB8AC3E}">
        <p14:creationId xmlns:p14="http://schemas.microsoft.com/office/powerpoint/2010/main" val="637204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EF07BE-F7C5-254D-BD90-BEE921E39240}"/>
              </a:ext>
            </a:extLst>
          </p:cNvPr>
          <p:cNvSpPr>
            <a:spLocks noGrp="1"/>
          </p:cNvSpPr>
          <p:nvPr>
            <p:ph type="title"/>
          </p:nvPr>
        </p:nvSpPr>
        <p:spPr/>
        <p:txBody>
          <a:bodyPr/>
          <a:lstStyle/>
          <a:p>
            <a:r>
              <a:rPr kumimoji="1" lang="ja-JP" altLang="en-US"/>
              <a:t>プロファイリング</a:t>
            </a:r>
            <a:r>
              <a:rPr lang="ja-JP" altLang="en-US"/>
              <a:t>の手法</a:t>
            </a:r>
            <a:endParaRPr kumimoji="1" lang="ja-JP" altLang="en-US"/>
          </a:p>
        </p:txBody>
      </p:sp>
      <p:sp>
        <p:nvSpPr>
          <p:cNvPr id="3" name="コンテンツ プレースホルダー 2">
            <a:extLst>
              <a:ext uri="{FF2B5EF4-FFF2-40B4-BE49-F238E27FC236}">
                <a16:creationId xmlns:a16="http://schemas.microsoft.com/office/drawing/2014/main" id="{A10AEE10-C814-C742-9CB1-7EB68924CEEF}"/>
              </a:ext>
            </a:extLst>
          </p:cNvPr>
          <p:cNvSpPr>
            <a:spLocks noGrp="1"/>
          </p:cNvSpPr>
          <p:nvPr>
            <p:ph idx="1"/>
          </p:nvPr>
        </p:nvSpPr>
        <p:spPr>
          <a:xfrm>
            <a:off x="194898" y="1884384"/>
            <a:ext cx="8859709" cy="1215065"/>
          </a:xfrm>
        </p:spPr>
        <p:txBody>
          <a:bodyPr/>
          <a:lstStyle/>
          <a:p>
            <a:r>
              <a:rPr lang="ja-JP" altLang="en-US"/>
              <a:t>対立状態の時にどのように対応するか</a:t>
            </a:r>
            <a:br>
              <a:rPr lang="en-US" altLang="ja-JP" dirty="0"/>
            </a:br>
            <a:r>
              <a:rPr lang="ja-JP" altLang="en-US"/>
              <a:t>をカテゴリ分け</a:t>
            </a:r>
            <a:endParaRPr lang="en-US" altLang="ja-JP" dirty="0"/>
          </a:p>
          <a:p>
            <a:pPr lvl="1"/>
            <a:r>
              <a:rPr lang="ja-JP" altLang="en-US"/>
              <a:t>積極性・協調性によって分類</a:t>
            </a:r>
            <a:endParaRPr lang="en-US" altLang="ja-JP" dirty="0"/>
          </a:p>
        </p:txBody>
      </p:sp>
      <p:sp>
        <p:nvSpPr>
          <p:cNvPr id="4" name="日付プレースホルダー 3">
            <a:extLst>
              <a:ext uri="{FF2B5EF4-FFF2-40B4-BE49-F238E27FC236}">
                <a16:creationId xmlns:a16="http://schemas.microsoft.com/office/drawing/2014/main" id="{F69A9420-748A-344E-AE41-9ECEDC30EF79}"/>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2AF3FB64-1368-FD4C-A937-B8BB9B87959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E88A5960-7A3A-F544-ADA4-CE3F151E122D}"/>
              </a:ext>
            </a:extLst>
          </p:cNvPr>
          <p:cNvSpPr>
            <a:spLocks noGrp="1"/>
          </p:cNvSpPr>
          <p:nvPr>
            <p:ph type="sldNum" sz="quarter" idx="12"/>
          </p:nvPr>
        </p:nvSpPr>
        <p:spPr/>
        <p:txBody>
          <a:bodyPr/>
          <a:lstStyle/>
          <a:p>
            <a:fld id="{2981C279-7323-A845-8A27-BB5908B2F04D}" type="slidenum">
              <a:rPr kumimoji="1" lang="ja-JP" altLang="en-US" smtClean="0"/>
              <a:t>8</a:t>
            </a:fld>
            <a:endParaRPr kumimoji="1" lang="ja-JP" altLang="en-US"/>
          </a:p>
        </p:txBody>
      </p:sp>
      <p:sp>
        <p:nvSpPr>
          <p:cNvPr id="7" name="テキスト プレースホルダー 6">
            <a:extLst>
              <a:ext uri="{FF2B5EF4-FFF2-40B4-BE49-F238E27FC236}">
                <a16:creationId xmlns:a16="http://schemas.microsoft.com/office/drawing/2014/main" id="{61367AC1-6856-DA4E-A1DF-833FDA310218}"/>
              </a:ext>
            </a:extLst>
          </p:cNvPr>
          <p:cNvSpPr>
            <a:spLocks noGrp="1"/>
          </p:cNvSpPr>
          <p:nvPr>
            <p:ph type="body" sz="quarter" idx="13"/>
          </p:nvPr>
        </p:nvSpPr>
        <p:spPr/>
        <p:txBody>
          <a:bodyPr/>
          <a:lstStyle/>
          <a:p>
            <a:r>
              <a:rPr kumimoji="1" lang="en-US" altLang="ja-JP" dirty="0"/>
              <a:t>3</a:t>
            </a:r>
            <a:endParaRPr kumimoji="1" lang="ja-JP" altLang="en-US"/>
          </a:p>
        </p:txBody>
      </p:sp>
      <p:grpSp>
        <p:nvGrpSpPr>
          <p:cNvPr id="9" name="グループ化 8">
            <a:extLst>
              <a:ext uri="{FF2B5EF4-FFF2-40B4-BE49-F238E27FC236}">
                <a16:creationId xmlns:a16="http://schemas.microsoft.com/office/drawing/2014/main" id="{A82D0715-977F-0548-8823-9EAB025A8165}"/>
              </a:ext>
            </a:extLst>
          </p:cNvPr>
          <p:cNvGrpSpPr/>
          <p:nvPr/>
        </p:nvGrpSpPr>
        <p:grpSpPr>
          <a:xfrm>
            <a:off x="163626" y="1160115"/>
            <a:ext cx="1016008" cy="680876"/>
            <a:chOff x="163626" y="1160115"/>
            <a:chExt cx="1016008" cy="680876"/>
          </a:xfrm>
        </p:grpSpPr>
        <p:cxnSp>
          <p:nvCxnSpPr>
            <p:cNvPr id="10" name="直線コネクタ 9">
              <a:extLst>
                <a:ext uri="{FF2B5EF4-FFF2-40B4-BE49-F238E27FC236}">
                  <a16:creationId xmlns:a16="http://schemas.microsoft.com/office/drawing/2014/main" id="{0D9B70FE-5A7B-CB41-9B9B-93FA6532E027}"/>
                </a:ext>
              </a:extLst>
            </p:cNvPr>
            <p:cNvCxnSpPr>
              <a:cxnSpLocks/>
            </p:cNvCxnSpPr>
            <p:nvPr userDrawn="1"/>
          </p:nvCxnSpPr>
          <p:spPr>
            <a:xfrm>
              <a:off x="163626" y="1699846"/>
              <a:ext cx="101600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8D2FE1F1-07E6-3947-AE08-C170AC052FD0}"/>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テキスト プレースホルダー 12">
            <a:extLst>
              <a:ext uri="{FF2B5EF4-FFF2-40B4-BE49-F238E27FC236}">
                <a16:creationId xmlns:a16="http://schemas.microsoft.com/office/drawing/2014/main" id="{3A031E20-0E3B-7B48-9F5D-47677AB1B18C}"/>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TKI</a:t>
            </a:r>
          </a:p>
        </p:txBody>
      </p:sp>
      <p:sp>
        <p:nvSpPr>
          <p:cNvPr id="24" name="コンテンツ プレースホルダー 2">
            <a:extLst>
              <a:ext uri="{FF2B5EF4-FFF2-40B4-BE49-F238E27FC236}">
                <a16:creationId xmlns:a16="http://schemas.microsoft.com/office/drawing/2014/main" id="{E10F01B7-FB5D-2A48-98C8-A5809598069E}"/>
              </a:ext>
            </a:extLst>
          </p:cNvPr>
          <p:cNvSpPr txBox="1">
            <a:spLocks/>
          </p:cNvSpPr>
          <p:nvPr/>
        </p:nvSpPr>
        <p:spPr>
          <a:xfrm>
            <a:off x="194898" y="4009921"/>
            <a:ext cx="8859709" cy="2475381"/>
          </a:xfrm>
          <a:prstGeom prst="rect">
            <a:avLst/>
          </a:prstGeom>
        </p:spPr>
        <p:txBody>
          <a:bodyPr vert="horz" lIns="91440" tIns="45720" rIns="91440" bIns="45720" rtlCol="0">
            <a:noAutofit/>
          </a:bodyPr>
          <a:lstStyle>
            <a:lvl1pPr marL="231775" indent="-231775" algn="l" defTabSz="914400" rtl="0" eaLnBrk="1" latinLnBrk="0" hangingPunct="1">
              <a:lnSpc>
                <a:spcPct val="90000"/>
              </a:lnSpc>
              <a:spcBef>
                <a:spcPts val="1000"/>
              </a:spcBef>
              <a:buSzPct val="100000"/>
              <a:buFontTx/>
              <a:buBlip>
                <a:blip r:embed="rId4"/>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10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人の性格を</a:t>
            </a:r>
            <a:r>
              <a:rPr lang="en-US" altLang="ja-JP" dirty="0"/>
              <a:t>5</a:t>
            </a:r>
            <a:r>
              <a:rPr lang="ja-JP" altLang="en-US"/>
              <a:t>つの因子の程度で分類する</a:t>
            </a:r>
            <a:endParaRPr lang="en-US" altLang="ja-JP" dirty="0"/>
          </a:p>
          <a:p>
            <a:pPr lvl="1"/>
            <a:r>
              <a:rPr lang="ja-JP" altLang="en-US"/>
              <a:t>神経症的傾向</a:t>
            </a:r>
            <a:r>
              <a:rPr lang="en-US" altLang="ja-JP" dirty="0"/>
              <a:t>(Neuroticism)</a:t>
            </a:r>
          </a:p>
          <a:p>
            <a:pPr lvl="1"/>
            <a:r>
              <a:rPr lang="ja-JP" altLang="en-US"/>
              <a:t>外向性</a:t>
            </a:r>
            <a:r>
              <a:rPr lang="en-US" altLang="ja-JP" dirty="0"/>
              <a:t>(Extraversion)</a:t>
            </a:r>
          </a:p>
          <a:p>
            <a:pPr lvl="1"/>
            <a:r>
              <a:rPr lang="ja-JP" altLang="en-US"/>
              <a:t>経験への開放性</a:t>
            </a:r>
            <a:r>
              <a:rPr lang="en-US" altLang="ja-JP" dirty="0"/>
              <a:t>(Openness)</a:t>
            </a:r>
          </a:p>
          <a:p>
            <a:pPr lvl="1"/>
            <a:r>
              <a:rPr lang="ja-JP" altLang="en-US"/>
              <a:t>協調性</a:t>
            </a:r>
            <a:r>
              <a:rPr lang="en-US" altLang="ja-JP" dirty="0"/>
              <a:t>(Agreeableness)</a:t>
            </a:r>
          </a:p>
          <a:p>
            <a:pPr lvl="1"/>
            <a:r>
              <a:rPr lang="ja-JP" altLang="en-US"/>
              <a:t>誠実性</a:t>
            </a:r>
            <a:r>
              <a:rPr lang="en-US" altLang="ja-JP" dirty="0"/>
              <a:t>(Conscientiousness)</a:t>
            </a:r>
          </a:p>
        </p:txBody>
      </p:sp>
      <p:grpSp>
        <p:nvGrpSpPr>
          <p:cNvPr id="25" name="グループ化 24">
            <a:extLst>
              <a:ext uri="{FF2B5EF4-FFF2-40B4-BE49-F238E27FC236}">
                <a16:creationId xmlns:a16="http://schemas.microsoft.com/office/drawing/2014/main" id="{13498887-3C14-6B46-BEE7-F26A39EF4166}"/>
              </a:ext>
            </a:extLst>
          </p:cNvPr>
          <p:cNvGrpSpPr/>
          <p:nvPr/>
        </p:nvGrpSpPr>
        <p:grpSpPr>
          <a:xfrm>
            <a:off x="163626" y="3285653"/>
            <a:ext cx="3102088" cy="680876"/>
            <a:chOff x="163626" y="1160115"/>
            <a:chExt cx="3102088" cy="680876"/>
          </a:xfrm>
        </p:grpSpPr>
        <p:cxnSp>
          <p:nvCxnSpPr>
            <p:cNvPr id="26" name="直線コネクタ 25">
              <a:extLst>
                <a:ext uri="{FF2B5EF4-FFF2-40B4-BE49-F238E27FC236}">
                  <a16:creationId xmlns:a16="http://schemas.microsoft.com/office/drawing/2014/main" id="{E5402D35-A92B-2340-8FD4-505DA4AC5D20}"/>
                </a:ext>
              </a:extLst>
            </p:cNvPr>
            <p:cNvCxnSpPr>
              <a:cxnSpLocks/>
            </p:cNvCxnSpPr>
            <p:nvPr userDrawn="1"/>
          </p:nvCxnSpPr>
          <p:spPr>
            <a:xfrm>
              <a:off x="163626" y="1699846"/>
              <a:ext cx="310208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7" name="正方形/長方形 26">
              <a:extLst>
                <a:ext uri="{FF2B5EF4-FFF2-40B4-BE49-F238E27FC236}">
                  <a16:creationId xmlns:a16="http://schemas.microsoft.com/office/drawing/2014/main" id="{6D2033EE-3CEC-F147-B8DC-F5E09FC762D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8" name="テキスト プレースホルダー 12">
            <a:extLst>
              <a:ext uri="{FF2B5EF4-FFF2-40B4-BE49-F238E27FC236}">
                <a16:creationId xmlns:a16="http://schemas.microsoft.com/office/drawing/2014/main" id="{734AE307-9C50-8F4E-80FC-F03D1CE6D594}"/>
              </a:ext>
            </a:extLst>
          </p:cNvPr>
          <p:cNvSpPr txBox="1">
            <a:spLocks/>
          </p:cNvSpPr>
          <p:nvPr/>
        </p:nvSpPr>
        <p:spPr>
          <a:xfrm>
            <a:off x="404691" y="3318264"/>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ビッグファイブ</a:t>
            </a:r>
            <a:endParaRPr lang="en-US" altLang="ja-JP" dirty="0"/>
          </a:p>
        </p:txBody>
      </p:sp>
      <p:grpSp>
        <p:nvGrpSpPr>
          <p:cNvPr id="30" name="グループ化 29">
            <a:extLst>
              <a:ext uri="{FF2B5EF4-FFF2-40B4-BE49-F238E27FC236}">
                <a16:creationId xmlns:a16="http://schemas.microsoft.com/office/drawing/2014/main" id="{E08B9788-7216-C147-9D4F-12F57E0344A6}"/>
              </a:ext>
            </a:extLst>
          </p:cNvPr>
          <p:cNvGrpSpPr/>
          <p:nvPr/>
        </p:nvGrpSpPr>
        <p:grpSpPr>
          <a:xfrm>
            <a:off x="6785580" y="989972"/>
            <a:ext cx="2199147" cy="2507155"/>
            <a:chOff x="1211179" y="3557524"/>
            <a:chExt cx="2660968" cy="3033659"/>
          </a:xfrm>
        </p:grpSpPr>
        <p:grpSp>
          <p:nvGrpSpPr>
            <p:cNvPr id="47" name="グループ化 46">
              <a:extLst>
                <a:ext uri="{FF2B5EF4-FFF2-40B4-BE49-F238E27FC236}">
                  <a16:creationId xmlns:a16="http://schemas.microsoft.com/office/drawing/2014/main" id="{6DA49783-2DDD-F646-B006-FD467210982F}"/>
                </a:ext>
              </a:extLst>
            </p:cNvPr>
            <p:cNvGrpSpPr/>
            <p:nvPr/>
          </p:nvGrpSpPr>
          <p:grpSpPr>
            <a:xfrm>
              <a:off x="1211179" y="3557524"/>
              <a:ext cx="2660968" cy="2638636"/>
              <a:chOff x="7798032" y="19015474"/>
              <a:chExt cx="5491846" cy="5445754"/>
            </a:xfrm>
          </p:grpSpPr>
          <p:pic>
            <p:nvPicPr>
              <p:cNvPr id="49" name="図 48">
                <a:extLst>
                  <a:ext uri="{FF2B5EF4-FFF2-40B4-BE49-F238E27FC236}">
                    <a16:creationId xmlns:a16="http://schemas.microsoft.com/office/drawing/2014/main" id="{85406AC0-10F6-0045-A719-DAA09F4FA253}"/>
                  </a:ext>
                </a:extLst>
              </p:cNvPr>
              <p:cNvPicPr>
                <a:picLocks noChangeAspect="1"/>
              </p:cNvPicPr>
              <p:nvPr/>
            </p:nvPicPr>
            <p:blipFill rotWithShape="1">
              <a:blip r:embed="rId5"/>
              <a:srcRect l="10972" t="1550" r="-1061" b="21005"/>
              <a:stretch/>
            </p:blipFill>
            <p:spPr>
              <a:xfrm>
                <a:off x="8648581" y="19015474"/>
                <a:ext cx="4641297" cy="4492610"/>
              </a:xfrm>
              <a:prstGeom prst="rect">
                <a:avLst/>
              </a:prstGeom>
            </p:spPr>
          </p:pic>
          <p:cxnSp>
            <p:nvCxnSpPr>
              <p:cNvPr id="50" name="直線矢印コネクタ 49">
                <a:extLst>
                  <a:ext uri="{FF2B5EF4-FFF2-40B4-BE49-F238E27FC236}">
                    <a16:creationId xmlns:a16="http://schemas.microsoft.com/office/drawing/2014/main" id="{945A4330-463B-D046-95F8-A78470E1E101}"/>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9C907015-3208-7348-8567-7E4B7CD778E8}"/>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E87CA5EF-A5B6-394B-AE49-5E85175CFA99}"/>
                  </a:ext>
                </a:extLst>
              </p:cNvPr>
              <p:cNvSpPr txBox="1"/>
              <p:nvPr/>
            </p:nvSpPr>
            <p:spPr>
              <a:xfrm>
                <a:off x="9420398" y="23769489"/>
                <a:ext cx="2490050"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協調性</a:t>
                </a:r>
              </a:p>
            </p:txBody>
          </p:sp>
          <p:sp>
            <p:nvSpPr>
              <p:cNvPr id="53" name="テキスト ボックス 52">
                <a:extLst>
                  <a:ext uri="{FF2B5EF4-FFF2-40B4-BE49-F238E27FC236}">
                    <a16:creationId xmlns:a16="http://schemas.microsoft.com/office/drawing/2014/main" id="{D88AB604-2C5E-E740-A102-87A0A702FF6B}"/>
                  </a:ext>
                </a:extLst>
              </p:cNvPr>
              <p:cNvSpPr txBox="1"/>
              <p:nvPr/>
            </p:nvSpPr>
            <p:spPr>
              <a:xfrm rot="16200000">
                <a:off x="6898876" y="21211240"/>
                <a:ext cx="2490051"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積極性</a:t>
                </a:r>
              </a:p>
            </p:txBody>
          </p:sp>
        </p:grpSp>
        <p:sp>
          <p:nvSpPr>
            <p:cNvPr id="48" name="テキスト ボックス 47">
              <a:extLst>
                <a:ext uri="{FF2B5EF4-FFF2-40B4-BE49-F238E27FC236}">
                  <a16:creationId xmlns:a16="http://schemas.microsoft.com/office/drawing/2014/main" id="{53951D1E-316D-D448-A777-159FEC78722F}"/>
                </a:ext>
              </a:extLst>
            </p:cNvPr>
            <p:cNvSpPr txBox="1"/>
            <p:nvPr/>
          </p:nvSpPr>
          <p:spPr>
            <a:xfrm>
              <a:off x="2356970" y="6218772"/>
              <a:ext cx="572579" cy="372410"/>
            </a:xfrm>
            <a:prstGeom prst="rect">
              <a:avLst/>
            </a:prstGeom>
            <a:noFill/>
          </p:spPr>
          <p:txBody>
            <a:bodyPr wrap="none" rtlCol="0">
              <a:spAutoFit/>
            </a:bodyPr>
            <a:lstStyle/>
            <a:p>
              <a:r>
                <a:rPr kumimoji="1" lang="en-US" altLang="ja-JP" sz="1400" dirty="0"/>
                <a:t>TKI</a:t>
              </a:r>
              <a:endParaRPr kumimoji="1" lang="ja-JP" altLang="en-US" sz="1400"/>
            </a:p>
          </p:txBody>
        </p:sp>
      </p:grpSp>
      <p:grpSp>
        <p:nvGrpSpPr>
          <p:cNvPr id="31" name="グループ化 30">
            <a:extLst>
              <a:ext uri="{FF2B5EF4-FFF2-40B4-BE49-F238E27FC236}">
                <a16:creationId xmlns:a16="http://schemas.microsoft.com/office/drawing/2014/main" id="{111C1389-2B0F-984A-B1C8-D851BC923697}"/>
              </a:ext>
            </a:extLst>
          </p:cNvPr>
          <p:cNvGrpSpPr/>
          <p:nvPr/>
        </p:nvGrpSpPr>
        <p:grpSpPr>
          <a:xfrm>
            <a:off x="6298657" y="3825223"/>
            <a:ext cx="2686889" cy="2759407"/>
            <a:chOff x="4259517" y="3268537"/>
            <a:chExt cx="3251136" cy="3338883"/>
          </a:xfrm>
        </p:grpSpPr>
        <p:sp>
          <p:nvSpPr>
            <p:cNvPr id="32" name="テキスト ボックス 31">
              <a:extLst>
                <a:ext uri="{FF2B5EF4-FFF2-40B4-BE49-F238E27FC236}">
                  <a16:creationId xmlns:a16="http://schemas.microsoft.com/office/drawing/2014/main" id="{4DCE16AC-9375-AC45-B3F7-C08D5D39B045}"/>
                </a:ext>
              </a:extLst>
            </p:cNvPr>
            <p:cNvSpPr txBox="1"/>
            <p:nvPr/>
          </p:nvSpPr>
          <p:spPr>
            <a:xfrm>
              <a:off x="5300057" y="3268537"/>
              <a:ext cx="1154469" cy="558615"/>
            </a:xfrm>
            <a:prstGeom prst="rect">
              <a:avLst/>
            </a:prstGeom>
            <a:noFill/>
          </p:spPr>
          <p:txBody>
            <a:bodyPr wrap="none" rtlCol="0">
              <a:spAutoFit/>
            </a:bodyPr>
            <a:lstStyle/>
            <a:p>
              <a:pPr algn="ctr"/>
              <a:r>
                <a:rPr kumimoji="1" lang="ja-JP" altLang="en-US" sz="1200"/>
                <a:t>神経症傾向</a:t>
              </a:r>
              <a:endParaRPr kumimoji="1" lang="en-US" altLang="ja-JP" sz="1200" dirty="0"/>
            </a:p>
            <a:p>
              <a:pPr algn="ctr"/>
              <a:r>
                <a:rPr kumimoji="1" lang="en-US" altLang="ja-JP" sz="1200" dirty="0"/>
                <a:t>(N)</a:t>
              </a:r>
              <a:endParaRPr kumimoji="1" lang="ja-JP" altLang="en-US" sz="1200"/>
            </a:p>
          </p:txBody>
        </p:sp>
        <p:sp>
          <p:nvSpPr>
            <p:cNvPr id="33" name="テキスト ボックス 32">
              <a:extLst>
                <a:ext uri="{FF2B5EF4-FFF2-40B4-BE49-F238E27FC236}">
                  <a16:creationId xmlns:a16="http://schemas.microsoft.com/office/drawing/2014/main" id="{EF3CC3C4-8327-CB48-A78C-FAE01D460C9E}"/>
                </a:ext>
              </a:extLst>
            </p:cNvPr>
            <p:cNvSpPr txBox="1"/>
            <p:nvPr/>
          </p:nvSpPr>
          <p:spPr>
            <a:xfrm>
              <a:off x="5779106" y="5682852"/>
              <a:ext cx="1526880" cy="558615"/>
            </a:xfrm>
            <a:prstGeom prst="rect">
              <a:avLst/>
            </a:prstGeom>
            <a:noFill/>
          </p:spPr>
          <p:txBody>
            <a:bodyPr wrap="none" rtlCol="0">
              <a:spAutoFit/>
            </a:bodyPr>
            <a:lstStyle/>
            <a:p>
              <a:pPr algn="ctr"/>
              <a:r>
                <a:rPr kumimoji="1" lang="ja-JP" altLang="en-US" sz="1200"/>
                <a:t>経験への開放性</a:t>
              </a:r>
              <a:endParaRPr kumimoji="1" lang="en-US" altLang="ja-JP" sz="1200" dirty="0"/>
            </a:p>
            <a:p>
              <a:pPr algn="ctr"/>
              <a:r>
                <a:rPr kumimoji="1" lang="en-US" altLang="ja-JP" sz="1200" dirty="0"/>
                <a:t>(O)</a:t>
              </a:r>
              <a:endParaRPr kumimoji="1" lang="ja-JP" altLang="en-US" sz="1200"/>
            </a:p>
          </p:txBody>
        </p:sp>
        <p:sp>
          <p:nvSpPr>
            <p:cNvPr id="34" name="テキスト ボックス 33">
              <a:extLst>
                <a:ext uri="{FF2B5EF4-FFF2-40B4-BE49-F238E27FC236}">
                  <a16:creationId xmlns:a16="http://schemas.microsoft.com/office/drawing/2014/main" id="{06E30B68-9A8D-8D4D-B489-2E5A15096F2A}"/>
                </a:ext>
              </a:extLst>
            </p:cNvPr>
            <p:cNvSpPr txBox="1"/>
            <p:nvPr/>
          </p:nvSpPr>
          <p:spPr>
            <a:xfrm>
              <a:off x="6728591" y="4236252"/>
              <a:ext cx="782062" cy="558615"/>
            </a:xfrm>
            <a:prstGeom prst="rect">
              <a:avLst/>
            </a:prstGeom>
            <a:noFill/>
          </p:spPr>
          <p:txBody>
            <a:bodyPr wrap="none" rtlCol="0">
              <a:spAutoFit/>
            </a:bodyPr>
            <a:lstStyle/>
            <a:p>
              <a:pPr algn="ctr"/>
              <a:r>
                <a:rPr kumimoji="1" lang="ja-JP" altLang="en-US" sz="1200"/>
                <a:t>外向性</a:t>
              </a:r>
              <a:endParaRPr kumimoji="1" lang="en-US" altLang="ja-JP" sz="1200" dirty="0"/>
            </a:p>
            <a:p>
              <a:pPr algn="ctr"/>
              <a:r>
                <a:rPr kumimoji="1" lang="en-US" altLang="ja-JP" sz="1200" dirty="0"/>
                <a:t>(E)</a:t>
              </a:r>
              <a:endParaRPr kumimoji="1" lang="ja-JP" altLang="en-US" sz="1200"/>
            </a:p>
          </p:txBody>
        </p:sp>
        <p:sp>
          <p:nvSpPr>
            <p:cNvPr id="35" name="テキスト ボックス 34">
              <a:extLst>
                <a:ext uri="{FF2B5EF4-FFF2-40B4-BE49-F238E27FC236}">
                  <a16:creationId xmlns:a16="http://schemas.microsoft.com/office/drawing/2014/main" id="{4E2D9FC5-5B4B-4947-8EC9-5168A56FB0AC}"/>
                </a:ext>
              </a:extLst>
            </p:cNvPr>
            <p:cNvSpPr txBox="1"/>
            <p:nvPr/>
          </p:nvSpPr>
          <p:spPr>
            <a:xfrm>
              <a:off x="4751367" y="5685181"/>
              <a:ext cx="782062" cy="558615"/>
            </a:xfrm>
            <a:prstGeom prst="rect">
              <a:avLst/>
            </a:prstGeom>
            <a:noFill/>
          </p:spPr>
          <p:txBody>
            <a:bodyPr wrap="none" rtlCol="0">
              <a:spAutoFit/>
            </a:bodyPr>
            <a:lstStyle/>
            <a:p>
              <a:pPr algn="ctr"/>
              <a:r>
                <a:rPr kumimoji="1" lang="ja-JP" altLang="en-US" sz="1200"/>
                <a:t>協調性</a:t>
              </a:r>
              <a:endParaRPr kumimoji="1" lang="en-US" altLang="ja-JP" sz="1200" dirty="0"/>
            </a:p>
            <a:p>
              <a:pPr algn="ctr"/>
              <a:r>
                <a:rPr kumimoji="1" lang="en-US" altLang="ja-JP" sz="1200" dirty="0"/>
                <a:t>(A)</a:t>
              </a:r>
              <a:endParaRPr kumimoji="1" lang="ja-JP" altLang="en-US" sz="1200"/>
            </a:p>
          </p:txBody>
        </p:sp>
        <p:sp>
          <p:nvSpPr>
            <p:cNvPr id="36" name="テキスト ボックス 35">
              <a:extLst>
                <a:ext uri="{FF2B5EF4-FFF2-40B4-BE49-F238E27FC236}">
                  <a16:creationId xmlns:a16="http://schemas.microsoft.com/office/drawing/2014/main" id="{66750377-2A6B-E742-B8AB-6D1C41D7D291}"/>
                </a:ext>
              </a:extLst>
            </p:cNvPr>
            <p:cNvSpPr txBox="1"/>
            <p:nvPr/>
          </p:nvSpPr>
          <p:spPr>
            <a:xfrm>
              <a:off x="4259517" y="4236252"/>
              <a:ext cx="782061" cy="558615"/>
            </a:xfrm>
            <a:prstGeom prst="rect">
              <a:avLst/>
            </a:prstGeom>
            <a:noFill/>
          </p:spPr>
          <p:txBody>
            <a:bodyPr wrap="none" rtlCol="0">
              <a:spAutoFit/>
            </a:bodyPr>
            <a:lstStyle/>
            <a:p>
              <a:r>
                <a:rPr kumimoji="1" lang="ja-JP" altLang="en-US" sz="1200"/>
                <a:t>誠実性</a:t>
              </a:r>
              <a:endParaRPr kumimoji="1" lang="en-US" altLang="ja-JP" sz="1200" dirty="0"/>
            </a:p>
            <a:p>
              <a:pPr algn="ctr"/>
              <a:r>
                <a:rPr kumimoji="1" lang="en-US" altLang="ja-JP" sz="1200" dirty="0"/>
                <a:t>(C)</a:t>
              </a:r>
              <a:endParaRPr kumimoji="1" lang="ja-JP" altLang="en-US" sz="1200"/>
            </a:p>
          </p:txBody>
        </p:sp>
        <p:sp>
          <p:nvSpPr>
            <p:cNvPr id="37" name="テキスト ボックス 36">
              <a:extLst>
                <a:ext uri="{FF2B5EF4-FFF2-40B4-BE49-F238E27FC236}">
                  <a16:creationId xmlns:a16="http://schemas.microsoft.com/office/drawing/2014/main" id="{3FF03E74-FE7D-7345-A734-203A785BA539}"/>
                </a:ext>
              </a:extLst>
            </p:cNvPr>
            <p:cNvSpPr txBox="1"/>
            <p:nvPr/>
          </p:nvSpPr>
          <p:spPr>
            <a:xfrm>
              <a:off x="5015490" y="6235010"/>
              <a:ext cx="1744118" cy="372410"/>
            </a:xfrm>
            <a:prstGeom prst="rect">
              <a:avLst/>
            </a:prstGeom>
            <a:noFill/>
          </p:spPr>
          <p:txBody>
            <a:bodyPr wrap="none" rtlCol="0">
              <a:spAutoFit/>
            </a:bodyPr>
            <a:lstStyle/>
            <a:p>
              <a:r>
                <a:rPr kumimoji="1" lang="ja-JP" altLang="en-US" sz="1400"/>
                <a:t>ビッグファイブ</a:t>
              </a:r>
            </a:p>
          </p:txBody>
        </p:sp>
        <p:grpSp>
          <p:nvGrpSpPr>
            <p:cNvPr id="38" name="グループ化 37">
              <a:extLst>
                <a:ext uri="{FF2B5EF4-FFF2-40B4-BE49-F238E27FC236}">
                  <a16:creationId xmlns:a16="http://schemas.microsoft.com/office/drawing/2014/main" id="{582072E6-AD03-E24A-8FAB-15477E069627}"/>
                </a:ext>
              </a:extLst>
            </p:cNvPr>
            <p:cNvGrpSpPr/>
            <p:nvPr/>
          </p:nvGrpSpPr>
          <p:grpSpPr>
            <a:xfrm>
              <a:off x="4938565" y="3795935"/>
              <a:ext cx="1865455" cy="1865455"/>
              <a:chOff x="4938565" y="3795935"/>
              <a:chExt cx="1865455" cy="1865455"/>
            </a:xfrm>
          </p:grpSpPr>
          <p:sp>
            <p:nvSpPr>
              <p:cNvPr id="39" name="五角形 38">
                <a:extLst>
                  <a:ext uri="{FF2B5EF4-FFF2-40B4-BE49-F238E27FC236}">
                    <a16:creationId xmlns:a16="http://schemas.microsoft.com/office/drawing/2014/main" id="{02ED3078-AFD4-6B4E-B58C-25F7160F35C8}"/>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40" name="直線コネクタ 39">
                <a:extLst>
                  <a:ext uri="{FF2B5EF4-FFF2-40B4-BE49-F238E27FC236}">
                    <a16:creationId xmlns:a16="http://schemas.microsoft.com/office/drawing/2014/main" id="{7F0309AE-A2A1-EB4F-B4CF-D5AABA8E9431}"/>
                  </a:ext>
                </a:extLst>
              </p:cNvPr>
              <p:cNvCxnSpPr>
                <a:cxnSpLocks/>
                <a:stCxn id="39" idx="0"/>
                <a:endCxn id="45"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08865689-CE86-6145-B9EB-9E2724729136}"/>
                  </a:ext>
                </a:extLst>
              </p:cNvPr>
              <p:cNvCxnSpPr>
                <a:cxnSpLocks/>
                <a:stCxn id="45" idx="3"/>
                <a:endCxn id="39"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C1B9D68C-C0AE-034F-9229-1E3EFF6390D3}"/>
                  </a:ext>
                </a:extLst>
              </p:cNvPr>
              <p:cNvCxnSpPr>
                <a:cxnSpLocks/>
                <a:stCxn id="45" idx="5"/>
                <a:endCxn id="39"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E67A6B7C-3159-0F47-B582-6E971176BCA7}"/>
                  </a:ext>
                </a:extLst>
              </p:cNvPr>
              <p:cNvCxnSpPr>
                <a:cxnSpLocks/>
                <a:stCxn id="45" idx="6"/>
                <a:endCxn id="39"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1D971169-0668-FE4D-81A1-1AC148BA685A}"/>
                  </a:ext>
                </a:extLst>
              </p:cNvPr>
              <p:cNvCxnSpPr>
                <a:cxnSpLocks/>
                <a:stCxn id="39" idx="1"/>
                <a:endCxn id="45"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5" name="円/楕円 44">
                <a:extLst>
                  <a:ext uri="{FF2B5EF4-FFF2-40B4-BE49-F238E27FC236}">
                    <a16:creationId xmlns:a16="http://schemas.microsoft.com/office/drawing/2014/main" id="{4EAD594A-2867-CE4D-890F-C03C0785294E}"/>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46" name="五角形 278">
                <a:extLst>
                  <a:ext uri="{FF2B5EF4-FFF2-40B4-BE49-F238E27FC236}">
                    <a16:creationId xmlns:a16="http://schemas.microsoft.com/office/drawing/2014/main" id="{C354399B-8874-6140-AEC7-FB447D5BC5DB}"/>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spTree>
    <p:extLst>
      <p:ext uri="{BB962C8B-B14F-4D97-AF65-F5344CB8AC3E}">
        <p14:creationId xmlns:p14="http://schemas.microsoft.com/office/powerpoint/2010/main" val="563485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9</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4</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013416" cy="680876"/>
            <a:chOff x="163626" y="1160115"/>
            <a:chExt cx="4013416"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01341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a:xfrm>
            <a:off x="194898" y="1884384"/>
            <a:ext cx="8949102" cy="4692114"/>
          </a:xfrm>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特性を推定</a:t>
            </a:r>
            <a:endParaRPr lang="en-US" altLang="ja-JP" dirty="0">
              <a:solidFill>
                <a:schemeClr val="accent1"/>
              </a:solidFill>
            </a:endParaRPr>
          </a:p>
          <a:p>
            <a:pPr lvl="1"/>
            <a:r>
              <a:rPr lang="en-US" altLang="ja-JP" dirty="0"/>
              <a:t>TKI</a:t>
            </a:r>
            <a:r>
              <a:rPr lang="ja-JP" altLang="en-US"/>
              <a:t>・ビッグファイブを使用</a:t>
            </a:r>
            <a:endParaRPr lang="en-US" altLang="ja-JP" dirty="0"/>
          </a:p>
          <a:p>
            <a:r>
              <a:rPr lang="ja-JP" altLang="en-US"/>
              <a:t>相手の特性に応じて戦略を決定し</a:t>
            </a:r>
            <a:r>
              <a:rPr lang="ja-JP" altLang="en-US">
                <a:solidFill>
                  <a:schemeClr val="accent2"/>
                </a:solidFill>
              </a:rPr>
              <a:t>譲歩速度などを変更</a:t>
            </a:r>
            <a:endParaRPr lang="en-US" altLang="ja-JP" dirty="0">
              <a:solidFill>
                <a:schemeClr val="accent2"/>
              </a:solidFill>
            </a:endParaRPr>
          </a:p>
        </p:txBody>
      </p:sp>
      <p:grpSp>
        <p:nvGrpSpPr>
          <p:cNvPr id="11" name="グループ化 10">
            <a:extLst>
              <a:ext uri="{FF2B5EF4-FFF2-40B4-BE49-F238E27FC236}">
                <a16:creationId xmlns:a16="http://schemas.microsoft.com/office/drawing/2014/main" id="{1D135611-B0ED-8D4A-9A63-88F20A9EA521}"/>
              </a:ext>
            </a:extLst>
          </p:cNvPr>
          <p:cNvGrpSpPr/>
          <p:nvPr/>
        </p:nvGrpSpPr>
        <p:grpSpPr>
          <a:xfrm>
            <a:off x="550036" y="3173202"/>
            <a:ext cx="8320259" cy="3469822"/>
            <a:chOff x="550036" y="3173202"/>
            <a:chExt cx="8320259" cy="3469822"/>
          </a:xfrm>
        </p:grpSpPr>
        <p:grpSp>
          <p:nvGrpSpPr>
            <p:cNvPr id="66" name="グループ化 65">
              <a:extLst>
                <a:ext uri="{FF2B5EF4-FFF2-40B4-BE49-F238E27FC236}">
                  <a16:creationId xmlns:a16="http://schemas.microsoft.com/office/drawing/2014/main" id="{673C226A-777A-114C-A3E5-1D508F8101DD}"/>
                </a:ext>
              </a:extLst>
            </p:cNvPr>
            <p:cNvGrpSpPr/>
            <p:nvPr/>
          </p:nvGrpSpPr>
          <p:grpSpPr>
            <a:xfrm>
              <a:off x="4356590" y="3173202"/>
              <a:ext cx="1892023" cy="3469822"/>
              <a:chOff x="4413087" y="1977116"/>
              <a:chExt cx="2081225" cy="3816804"/>
            </a:xfrm>
          </p:grpSpPr>
          <p:grpSp>
            <p:nvGrpSpPr>
              <p:cNvPr id="67" name="グループ化 66">
                <a:extLst>
                  <a:ext uri="{FF2B5EF4-FFF2-40B4-BE49-F238E27FC236}">
                    <a16:creationId xmlns:a16="http://schemas.microsoft.com/office/drawing/2014/main" id="{60492FC5-150C-1E4C-AC1A-08BDBE7983DD}"/>
                  </a:ext>
                </a:extLst>
              </p:cNvPr>
              <p:cNvGrpSpPr/>
              <p:nvPr/>
            </p:nvGrpSpPr>
            <p:grpSpPr>
              <a:xfrm>
                <a:off x="4523967" y="4040862"/>
                <a:ext cx="1784334" cy="1753058"/>
                <a:chOff x="4570837" y="3435932"/>
                <a:chExt cx="2612443" cy="2566656"/>
              </a:xfrm>
            </p:grpSpPr>
            <p:sp>
              <p:nvSpPr>
                <p:cNvPr id="79" name="テキスト ボックス 78">
                  <a:extLst>
                    <a:ext uri="{FF2B5EF4-FFF2-40B4-BE49-F238E27FC236}">
                      <a16:creationId xmlns:a16="http://schemas.microsoft.com/office/drawing/2014/main" id="{A4DAD8B4-B27F-4C47-AF2A-3804F0C63F50}"/>
                    </a:ext>
                  </a:extLst>
                </p:cNvPr>
                <p:cNvSpPr txBox="1"/>
                <p:nvPr/>
              </p:nvSpPr>
              <p:spPr>
                <a:xfrm>
                  <a:off x="5663480" y="3435932"/>
                  <a:ext cx="427617" cy="383024"/>
                </a:xfrm>
                <a:prstGeom prst="rect">
                  <a:avLst/>
                </a:prstGeom>
                <a:noFill/>
              </p:spPr>
              <p:txBody>
                <a:bodyPr wrap="none" rtlCol="0">
                  <a:spAutoFit/>
                </a:bodyPr>
                <a:lstStyle/>
                <a:p>
                  <a:pPr algn="ctr"/>
                  <a:r>
                    <a:rPr kumimoji="1" lang="en-US" altLang="ja-JP" sz="1100" dirty="0">
                      <a:latin typeface="+mn-ea"/>
                    </a:rPr>
                    <a:t>N</a:t>
                  </a:r>
                  <a:endParaRPr kumimoji="1" lang="ja-JP" altLang="en-US" sz="1100">
                    <a:latin typeface="+mn-ea"/>
                  </a:endParaRPr>
                </a:p>
              </p:txBody>
            </p:sp>
            <p:sp>
              <p:nvSpPr>
                <p:cNvPr id="80" name="テキスト ボックス 79">
                  <a:extLst>
                    <a:ext uri="{FF2B5EF4-FFF2-40B4-BE49-F238E27FC236}">
                      <a16:creationId xmlns:a16="http://schemas.microsoft.com/office/drawing/2014/main" id="{10FECF18-320F-FE45-8949-3A307C4C47BC}"/>
                    </a:ext>
                  </a:extLst>
                </p:cNvPr>
                <p:cNvSpPr txBox="1"/>
                <p:nvPr/>
              </p:nvSpPr>
              <p:spPr>
                <a:xfrm>
                  <a:off x="6342603" y="5619564"/>
                  <a:ext cx="434656" cy="383024"/>
                </a:xfrm>
                <a:prstGeom prst="rect">
                  <a:avLst/>
                </a:prstGeom>
                <a:noFill/>
              </p:spPr>
              <p:txBody>
                <a:bodyPr wrap="none" rtlCol="0">
                  <a:spAutoFit/>
                </a:bodyPr>
                <a:lstStyle/>
                <a:p>
                  <a:pPr algn="ctr"/>
                  <a:r>
                    <a:rPr kumimoji="1" lang="en-US" altLang="ja-JP" sz="1100" dirty="0">
                      <a:latin typeface="+mn-ea"/>
                    </a:rPr>
                    <a:t>O</a:t>
                  </a:r>
                  <a:endParaRPr kumimoji="1" lang="ja-JP" altLang="en-US" sz="1100">
                    <a:latin typeface="+mn-ea"/>
                  </a:endParaRPr>
                </a:p>
              </p:txBody>
            </p:sp>
            <p:sp>
              <p:nvSpPr>
                <p:cNvPr id="81" name="テキスト ボックス 80">
                  <a:extLst>
                    <a:ext uri="{FF2B5EF4-FFF2-40B4-BE49-F238E27FC236}">
                      <a16:creationId xmlns:a16="http://schemas.microsoft.com/office/drawing/2014/main" id="{A9CFFB8A-A746-7840-AC04-033879A69539}"/>
                    </a:ext>
                  </a:extLst>
                </p:cNvPr>
                <p:cNvSpPr txBox="1"/>
                <p:nvPr/>
              </p:nvSpPr>
              <p:spPr>
                <a:xfrm>
                  <a:off x="6774439" y="4335437"/>
                  <a:ext cx="408841" cy="383024"/>
                </a:xfrm>
                <a:prstGeom prst="rect">
                  <a:avLst/>
                </a:prstGeom>
                <a:noFill/>
              </p:spPr>
              <p:txBody>
                <a:bodyPr wrap="none" rtlCol="0">
                  <a:spAutoFit/>
                </a:bodyPr>
                <a:lstStyle/>
                <a:p>
                  <a:pPr algn="ctr"/>
                  <a:r>
                    <a:rPr kumimoji="1" lang="en-US" altLang="ja-JP" sz="1100" dirty="0">
                      <a:latin typeface="+mn-ea"/>
                    </a:rPr>
                    <a:t>E</a:t>
                  </a:r>
                  <a:endParaRPr kumimoji="1" lang="ja-JP" altLang="en-US" sz="1100">
                    <a:latin typeface="+mn-ea"/>
                  </a:endParaRPr>
                </a:p>
              </p:txBody>
            </p:sp>
            <p:sp>
              <p:nvSpPr>
                <p:cNvPr id="82" name="テキスト ボックス 81">
                  <a:extLst>
                    <a:ext uri="{FF2B5EF4-FFF2-40B4-BE49-F238E27FC236}">
                      <a16:creationId xmlns:a16="http://schemas.microsoft.com/office/drawing/2014/main" id="{09A34BE7-285B-7141-AA2C-14AFD7178F7A}"/>
                    </a:ext>
                  </a:extLst>
                </p:cNvPr>
                <p:cNvSpPr txBox="1"/>
                <p:nvPr/>
              </p:nvSpPr>
              <p:spPr>
                <a:xfrm>
                  <a:off x="4949531" y="5610807"/>
                  <a:ext cx="422923" cy="383024"/>
                </a:xfrm>
                <a:prstGeom prst="rect">
                  <a:avLst/>
                </a:prstGeom>
                <a:noFill/>
              </p:spPr>
              <p:txBody>
                <a:bodyPr wrap="none" rtlCol="0">
                  <a:spAutoFit/>
                </a:bodyPr>
                <a:lstStyle/>
                <a:p>
                  <a:pPr algn="ctr"/>
                  <a:r>
                    <a:rPr kumimoji="1" lang="en-US" altLang="ja-JP" sz="1100" dirty="0">
                      <a:latin typeface="+mn-ea"/>
                    </a:rPr>
                    <a:t>A</a:t>
                  </a:r>
                  <a:endParaRPr kumimoji="1" lang="ja-JP" altLang="en-US" sz="1100">
                    <a:latin typeface="+mn-ea"/>
                  </a:endParaRPr>
                </a:p>
              </p:txBody>
            </p:sp>
            <p:sp>
              <p:nvSpPr>
                <p:cNvPr id="83" name="テキスト ボックス 82">
                  <a:extLst>
                    <a:ext uri="{FF2B5EF4-FFF2-40B4-BE49-F238E27FC236}">
                      <a16:creationId xmlns:a16="http://schemas.microsoft.com/office/drawing/2014/main" id="{50119230-9738-C546-8927-BFE27E3AFC95}"/>
                    </a:ext>
                  </a:extLst>
                </p:cNvPr>
                <p:cNvSpPr txBox="1"/>
                <p:nvPr/>
              </p:nvSpPr>
              <p:spPr>
                <a:xfrm>
                  <a:off x="4570837" y="4333534"/>
                  <a:ext cx="425268" cy="383024"/>
                </a:xfrm>
                <a:prstGeom prst="rect">
                  <a:avLst/>
                </a:prstGeom>
                <a:noFill/>
              </p:spPr>
              <p:txBody>
                <a:bodyPr wrap="none" rtlCol="0">
                  <a:spAutoFit/>
                </a:bodyPr>
                <a:lstStyle/>
                <a:p>
                  <a:r>
                    <a:rPr kumimoji="1" lang="en-US" altLang="ja-JP" sz="1100" dirty="0">
                      <a:latin typeface="+mn-ea"/>
                    </a:rPr>
                    <a:t>C</a:t>
                  </a:r>
                  <a:endParaRPr kumimoji="1" lang="ja-JP" altLang="en-US" sz="1100">
                    <a:latin typeface="+mn-ea"/>
                  </a:endParaRPr>
                </a:p>
              </p:txBody>
            </p:sp>
            <p:grpSp>
              <p:nvGrpSpPr>
                <p:cNvPr id="84" name="グループ化 83">
                  <a:extLst>
                    <a:ext uri="{FF2B5EF4-FFF2-40B4-BE49-F238E27FC236}">
                      <a16:creationId xmlns:a16="http://schemas.microsoft.com/office/drawing/2014/main" id="{AFDCCA73-209F-5648-B310-E245D1D8AC68}"/>
                    </a:ext>
                  </a:extLst>
                </p:cNvPr>
                <p:cNvGrpSpPr/>
                <p:nvPr/>
              </p:nvGrpSpPr>
              <p:grpSpPr>
                <a:xfrm>
                  <a:off x="4938565" y="3795935"/>
                  <a:ext cx="1865455" cy="1865455"/>
                  <a:chOff x="4938565" y="3795935"/>
                  <a:chExt cx="1865455" cy="1865455"/>
                </a:xfrm>
              </p:grpSpPr>
              <p:sp>
                <p:nvSpPr>
                  <p:cNvPr id="85" name="五角形 278">
                    <a:extLst>
                      <a:ext uri="{FF2B5EF4-FFF2-40B4-BE49-F238E27FC236}">
                        <a16:creationId xmlns:a16="http://schemas.microsoft.com/office/drawing/2014/main" id="{3860706C-51D2-4440-A664-E501F189C591}"/>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n-ea"/>
                    </a:endParaRPr>
                  </a:p>
                </p:txBody>
              </p:sp>
              <p:sp>
                <p:nvSpPr>
                  <p:cNvPr id="86" name="五角形 85">
                    <a:extLst>
                      <a:ext uri="{FF2B5EF4-FFF2-40B4-BE49-F238E27FC236}">
                        <a16:creationId xmlns:a16="http://schemas.microsoft.com/office/drawing/2014/main" id="{089EE16E-2238-BB4D-9059-F3D0254F6B63}"/>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n-ea"/>
                    </a:endParaRPr>
                  </a:p>
                </p:txBody>
              </p:sp>
              <p:cxnSp>
                <p:nvCxnSpPr>
                  <p:cNvPr id="87" name="直線コネクタ 86">
                    <a:extLst>
                      <a:ext uri="{FF2B5EF4-FFF2-40B4-BE49-F238E27FC236}">
                        <a16:creationId xmlns:a16="http://schemas.microsoft.com/office/drawing/2014/main" id="{F819C728-2F16-914B-B617-88A35EFD6761}"/>
                      </a:ext>
                    </a:extLst>
                  </p:cNvPr>
                  <p:cNvCxnSpPr>
                    <a:cxnSpLocks/>
                    <a:stCxn id="86" idx="0"/>
                    <a:endCxn id="92"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EB861C35-9490-A943-8119-489DAA5554AD}"/>
                      </a:ext>
                    </a:extLst>
                  </p:cNvPr>
                  <p:cNvCxnSpPr>
                    <a:cxnSpLocks/>
                    <a:stCxn id="92" idx="3"/>
                    <a:endCxn id="86"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1BDE7CFD-8DE1-A148-A3FC-2A62AB308288}"/>
                      </a:ext>
                    </a:extLst>
                  </p:cNvPr>
                  <p:cNvCxnSpPr>
                    <a:cxnSpLocks/>
                    <a:stCxn id="92" idx="5"/>
                    <a:endCxn id="86"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C29B51D1-97E2-4A40-A06A-7CBB0928F1A5}"/>
                      </a:ext>
                    </a:extLst>
                  </p:cNvPr>
                  <p:cNvCxnSpPr>
                    <a:cxnSpLocks/>
                    <a:stCxn id="92" idx="6"/>
                    <a:endCxn id="86"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79CB8437-C6D0-A54E-96A6-5C708BE4F7CF}"/>
                      </a:ext>
                    </a:extLst>
                  </p:cNvPr>
                  <p:cNvCxnSpPr>
                    <a:cxnSpLocks/>
                    <a:stCxn id="86" idx="1"/>
                    <a:endCxn id="92"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92" name="円/楕円 91">
                    <a:extLst>
                      <a:ext uri="{FF2B5EF4-FFF2-40B4-BE49-F238E27FC236}">
                        <a16:creationId xmlns:a16="http://schemas.microsoft.com/office/drawing/2014/main" id="{1F7FD298-55C2-6446-8E38-32D361946A22}"/>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n-ea"/>
                    </a:endParaRPr>
                  </a:p>
                </p:txBody>
              </p:sp>
            </p:grpSp>
          </p:grpSp>
          <p:grpSp>
            <p:nvGrpSpPr>
              <p:cNvPr id="68" name="グループ化 67">
                <a:extLst>
                  <a:ext uri="{FF2B5EF4-FFF2-40B4-BE49-F238E27FC236}">
                    <a16:creationId xmlns:a16="http://schemas.microsoft.com/office/drawing/2014/main" id="{38001981-D5C8-6648-9C53-FC2F10B4C480}"/>
                  </a:ext>
                </a:extLst>
              </p:cNvPr>
              <p:cNvGrpSpPr/>
              <p:nvPr/>
            </p:nvGrpSpPr>
            <p:grpSpPr>
              <a:xfrm>
                <a:off x="4413087" y="1977116"/>
                <a:ext cx="2081225" cy="1997949"/>
                <a:chOff x="8311692" y="20185942"/>
                <a:chExt cx="4295341" cy="4123471"/>
              </a:xfrm>
            </p:grpSpPr>
            <p:pic>
              <p:nvPicPr>
                <p:cNvPr id="69" name="図 68">
                  <a:extLst>
                    <a:ext uri="{FF2B5EF4-FFF2-40B4-BE49-F238E27FC236}">
                      <a16:creationId xmlns:a16="http://schemas.microsoft.com/office/drawing/2014/main" id="{93C7A169-4239-B847-B108-D5E0A9FB80CC}"/>
                    </a:ext>
                  </a:extLst>
                </p:cNvPr>
                <p:cNvPicPr>
                  <a:picLocks noChangeAspect="1"/>
                </p:cNvPicPr>
                <p:nvPr/>
              </p:nvPicPr>
              <p:blipFill rotWithShape="1">
                <a:blip r:embed="rId4"/>
                <a:srcRect l="10972" t="1550" r="-1061" b="21005"/>
                <a:stretch/>
              </p:blipFill>
              <p:spPr>
                <a:xfrm>
                  <a:off x="9119958" y="20185942"/>
                  <a:ext cx="3487075" cy="3375364"/>
                </a:xfrm>
                <a:prstGeom prst="rect">
                  <a:avLst/>
                </a:prstGeom>
              </p:spPr>
            </p:pic>
            <p:cxnSp>
              <p:nvCxnSpPr>
                <p:cNvPr id="70" name="直線矢印コネクタ 69">
                  <a:extLst>
                    <a:ext uri="{FF2B5EF4-FFF2-40B4-BE49-F238E27FC236}">
                      <a16:creationId xmlns:a16="http://schemas.microsoft.com/office/drawing/2014/main" id="{EE3B1248-410C-C841-B60C-F89C3DC434BC}"/>
                    </a:ext>
                  </a:extLst>
                </p:cNvPr>
                <p:cNvCxnSpPr/>
                <p:nvPr/>
              </p:nvCxnSpPr>
              <p:spPr>
                <a:xfrm>
                  <a:off x="9171425" y="23717323"/>
                  <a:ext cx="2987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B3989CC9-DA8F-AC46-9CD2-3AE6662F6FB2}"/>
                    </a:ext>
                  </a:extLst>
                </p:cNvPr>
                <p:cNvCxnSpPr>
                  <a:cxnSpLocks/>
                </p:cNvCxnSpPr>
                <p:nvPr/>
              </p:nvCxnSpPr>
              <p:spPr>
                <a:xfrm rot="16200000">
                  <a:off x="7320230" y="22064335"/>
                  <a:ext cx="3095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F6248A31-7934-B444-B891-EA1D1FC3D4E6}"/>
                    </a:ext>
                  </a:extLst>
                </p:cNvPr>
                <p:cNvSpPr txBox="1"/>
                <p:nvPr/>
              </p:nvSpPr>
              <p:spPr>
                <a:xfrm>
                  <a:off x="9420397" y="23769489"/>
                  <a:ext cx="2490051" cy="539924"/>
                </a:xfrm>
                <a:prstGeom prst="rect">
                  <a:avLst/>
                </a:prstGeom>
                <a:noFill/>
              </p:spPr>
              <p:txBody>
                <a:bodyPr wrap="square" rtlCol="0">
                  <a:spAutoFit/>
                </a:bodyPr>
                <a:lstStyle/>
                <a:p>
                  <a:pPr algn="ctr"/>
                  <a:r>
                    <a:rPr kumimoji="1" lang="ja-JP" altLang="en-US" sz="1100">
                      <a:latin typeface="+mn-ea"/>
                    </a:rPr>
                    <a:t>協調性</a:t>
                  </a:r>
                </a:p>
              </p:txBody>
            </p:sp>
            <p:sp>
              <p:nvSpPr>
                <p:cNvPr id="78" name="テキスト ボックス 77">
                  <a:extLst>
                    <a:ext uri="{FF2B5EF4-FFF2-40B4-BE49-F238E27FC236}">
                      <a16:creationId xmlns:a16="http://schemas.microsoft.com/office/drawing/2014/main" id="{FD5B616F-1F66-9E44-B8DA-75E3D3D2FE58}"/>
                    </a:ext>
                  </a:extLst>
                </p:cNvPr>
                <p:cNvSpPr txBox="1"/>
                <p:nvPr/>
              </p:nvSpPr>
              <p:spPr>
                <a:xfrm rot="16200000">
                  <a:off x="7336629" y="21867195"/>
                  <a:ext cx="2490049" cy="539924"/>
                </a:xfrm>
                <a:prstGeom prst="rect">
                  <a:avLst/>
                </a:prstGeom>
                <a:noFill/>
              </p:spPr>
              <p:txBody>
                <a:bodyPr wrap="square" rtlCol="0">
                  <a:spAutoFit/>
                </a:bodyPr>
                <a:lstStyle/>
                <a:p>
                  <a:pPr algn="ctr"/>
                  <a:r>
                    <a:rPr kumimoji="1" lang="ja-JP" altLang="en-US" sz="1100">
                      <a:latin typeface="+mn-ea"/>
                    </a:rPr>
                    <a:t>積極性</a:t>
                  </a:r>
                </a:p>
              </p:txBody>
            </p:sp>
          </p:grpSp>
        </p:grpSp>
        <p:sp>
          <p:nvSpPr>
            <p:cNvPr id="117" name="右矢印 116">
              <a:extLst>
                <a:ext uri="{FF2B5EF4-FFF2-40B4-BE49-F238E27FC236}">
                  <a16:creationId xmlns:a16="http://schemas.microsoft.com/office/drawing/2014/main" id="{9473B563-08FB-9D42-9551-E1AE10EF0CAE}"/>
                </a:ext>
              </a:extLst>
            </p:cNvPr>
            <p:cNvSpPr/>
            <p:nvPr/>
          </p:nvSpPr>
          <p:spPr>
            <a:xfrm>
              <a:off x="6440380" y="46977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8" name="グループ化 117">
              <a:extLst>
                <a:ext uri="{FF2B5EF4-FFF2-40B4-BE49-F238E27FC236}">
                  <a16:creationId xmlns:a16="http://schemas.microsoft.com/office/drawing/2014/main" id="{DA910568-B2D3-2144-B433-83F63C8B1C28}"/>
                </a:ext>
              </a:extLst>
            </p:cNvPr>
            <p:cNvGrpSpPr/>
            <p:nvPr/>
          </p:nvGrpSpPr>
          <p:grpSpPr>
            <a:xfrm>
              <a:off x="6518486" y="4056304"/>
              <a:ext cx="2351809" cy="2580537"/>
              <a:chOff x="6518486" y="4094404"/>
              <a:chExt cx="2351809" cy="2580537"/>
            </a:xfrm>
          </p:grpSpPr>
          <p:grpSp>
            <p:nvGrpSpPr>
              <p:cNvPr id="150" name="グループ化 149">
                <a:extLst>
                  <a:ext uri="{FF2B5EF4-FFF2-40B4-BE49-F238E27FC236}">
                    <a16:creationId xmlns:a16="http://schemas.microsoft.com/office/drawing/2014/main" id="{7BDF7EAA-3F34-5248-B647-E0D0E9351E57}"/>
                  </a:ext>
                </a:extLst>
              </p:cNvPr>
              <p:cNvGrpSpPr/>
              <p:nvPr/>
            </p:nvGrpSpPr>
            <p:grpSpPr>
              <a:xfrm>
                <a:off x="6848937" y="4094404"/>
                <a:ext cx="1690907" cy="1690907"/>
                <a:chOff x="6848937" y="4094404"/>
                <a:chExt cx="1690907" cy="1690907"/>
              </a:xfrm>
            </p:grpSpPr>
            <p:grpSp>
              <p:nvGrpSpPr>
                <p:cNvPr id="152" name="グループ化 151">
                  <a:extLst>
                    <a:ext uri="{FF2B5EF4-FFF2-40B4-BE49-F238E27FC236}">
                      <a16:creationId xmlns:a16="http://schemas.microsoft.com/office/drawing/2014/main" id="{945BFC76-44EF-664D-BD66-FEC0A8501A68}"/>
                    </a:ext>
                  </a:extLst>
                </p:cNvPr>
                <p:cNvGrpSpPr/>
                <p:nvPr/>
              </p:nvGrpSpPr>
              <p:grpSpPr>
                <a:xfrm>
                  <a:off x="6848937" y="4094404"/>
                  <a:ext cx="1690907" cy="1690907"/>
                  <a:chOff x="6676684" y="4465921"/>
                  <a:chExt cx="1690907" cy="1690907"/>
                </a:xfrm>
              </p:grpSpPr>
              <p:cxnSp>
                <p:nvCxnSpPr>
                  <p:cNvPr id="155" name="直線コネクタ 154">
                    <a:extLst>
                      <a:ext uri="{FF2B5EF4-FFF2-40B4-BE49-F238E27FC236}">
                        <a16:creationId xmlns:a16="http://schemas.microsoft.com/office/drawing/2014/main" id="{8C48261A-C50C-054B-8E41-9DB7967446B7}"/>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CD82E1D2-5BDF-4540-9429-6506C5B1D223}"/>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3" name="フリーフォーム 152">
                  <a:extLst>
                    <a:ext uri="{FF2B5EF4-FFF2-40B4-BE49-F238E27FC236}">
                      <a16:creationId xmlns:a16="http://schemas.microsoft.com/office/drawing/2014/main" id="{7D6E467E-4B63-B941-A160-2AC6A542A077}"/>
                    </a:ext>
                  </a:extLst>
                </p:cNvPr>
                <p:cNvSpPr/>
                <p:nvPr/>
              </p:nvSpPr>
              <p:spPr>
                <a:xfrm>
                  <a:off x="7083159" y="46745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4" name="フリーフォーム 153">
                  <a:extLst>
                    <a:ext uri="{FF2B5EF4-FFF2-40B4-BE49-F238E27FC236}">
                      <a16:creationId xmlns:a16="http://schemas.microsoft.com/office/drawing/2014/main" id="{F1DB9AF0-62F2-A748-BDFB-E9868E73091F}"/>
                    </a:ext>
                  </a:extLst>
                </p:cNvPr>
                <p:cNvSpPr/>
                <p:nvPr/>
              </p:nvSpPr>
              <p:spPr>
                <a:xfrm>
                  <a:off x="7083159" y="47100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1" name="テキスト ボックス 150">
                <a:extLst>
                  <a:ext uri="{FF2B5EF4-FFF2-40B4-BE49-F238E27FC236}">
                    <a16:creationId xmlns:a16="http://schemas.microsoft.com/office/drawing/2014/main" id="{10F83C39-4FE5-A94D-BB39-AB54A5D33582}"/>
                  </a:ext>
                </a:extLst>
              </p:cNvPr>
              <p:cNvSpPr txBox="1"/>
              <p:nvPr/>
            </p:nvSpPr>
            <p:spPr>
              <a:xfrm>
                <a:off x="6518486" y="6028610"/>
                <a:ext cx="2351809" cy="646331"/>
              </a:xfrm>
              <a:prstGeom prst="rect">
                <a:avLst/>
              </a:prstGeom>
              <a:noFill/>
            </p:spPr>
            <p:txBody>
              <a:bodyPr wrap="square" rtlCol="0">
                <a:spAutoFit/>
              </a:bodyPr>
              <a:lstStyle/>
              <a:p>
                <a:pPr algn="ctr"/>
                <a:r>
                  <a:rPr kumimoji="1" lang="ja-JP" altLang="en-US"/>
                  <a:t>譲歩速度などの変更</a:t>
                </a:r>
              </a:p>
            </p:txBody>
          </p:sp>
        </p:grpSp>
        <p:sp>
          <p:nvSpPr>
            <p:cNvPr id="122" name="三角形 121">
              <a:extLst>
                <a:ext uri="{FF2B5EF4-FFF2-40B4-BE49-F238E27FC236}">
                  <a16:creationId xmlns:a16="http://schemas.microsoft.com/office/drawing/2014/main" id="{37109B60-64E8-C049-8E55-3B8E35E9AD1D}"/>
                </a:ext>
              </a:extLst>
            </p:cNvPr>
            <p:cNvSpPr/>
            <p:nvPr/>
          </p:nvSpPr>
          <p:spPr>
            <a:xfrm rot="5400000">
              <a:off x="4127496" y="4778664"/>
              <a:ext cx="296135" cy="12757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 name="グループ化 2">
              <a:extLst>
                <a:ext uri="{FF2B5EF4-FFF2-40B4-BE49-F238E27FC236}">
                  <a16:creationId xmlns:a16="http://schemas.microsoft.com/office/drawing/2014/main" id="{12E4EBFB-357B-194C-98B1-BF4100B2FFF3}"/>
                </a:ext>
              </a:extLst>
            </p:cNvPr>
            <p:cNvGrpSpPr/>
            <p:nvPr/>
          </p:nvGrpSpPr>
          <p:grpSpPr>
            <a:xfrm>
              <a:off x="550036" y="3879486"/>
              <a:ext cx="3627006" cy="2495100"/>
              <a:chOff x="550036" y="3879486"/>
              <a:chExt cx="3627006" cy="2495100"/>
            </a:xfrm>
          </p:grpSpPr>
          <p:sp>
            <p:nvSpPr>
              <p:cNvPr id="120" name="テキスト ボックス 119">
                <a:extLst>
                  <a:ext uri="{FF2B5EF4-FFF2-40B4-BE49-F238E27FC236}">
                    <a16:creationId xmlns:a16="http://schemas.microsoft.com/office/drawing/2014/main" id="{5E8BCF12-E3EA-7143-88E5-871C04347301}"/>
                  </a:ext>
                </a:extLst>
              </p:cNvPr>
              <p:cNvSpPr txBox="1"/>
              <p:nvPr/>
            </p:nvSpPr>
            <p:spPr>
              <a:xfrm>
                <a:off x="835959" y="6005254"/>
                <a:ext cx="3272612" cy="369332"/>
              </a:xfrm>
              <a:prstGeom prst="rect">
                <a:avLst/>
              </a:prstGeom>
              <a:noFill/>
            </p:spPr>
            <p:txBody>
              <a:bodyPr wrap="square" rtlCol="0">
                <a:spAutoFit/>
              </a:bodyPr>
              <a:lstStyle/>
              <a:p>
                <a:pPr algn="ctr"/>
                <a:r>
                  <a:rPr kumimoji="1" lang="ja-JP" altLang="en-US"/>
                  <a:t>相手の行動から特性を推定</a:t>
                </a:r>
              </a:p>
            </p:txBody>
          </p:sp>
          <p:grpSp>
            <p:nvGrpSpPr>
              <p:cNvPr id="124" name="グループ化 123">
                <a:extLst>
                  <a:ext uri="{FF2B5EF4-FFF2-40B4-BE49-F238E27FC236}">
                    <a16:creationId xmlns:a16="http://schemas.microsoft.com/office/drawing/2014/main" id="{E3346A3E-8BCE-054E-A9E0-4EF64BE2956B}"/>
                  </a:ext>
                </a:extLst>
              </p:cNvPr>
              <p:cNvGrpSpPr/>
              <p:nvPr/>
            </p:nvGrpSpPr>
            <p:grpSpPr>
              <a:xfrm>
                <a:off x="550036" y="3879486"/>
                <a:ext cx="3627006" cy="2281087"/>
                <a:chOff x="626236" y="3930286"/>
                <a:chExt cx="3627006" cy="2281087"/>
              </a:xfrm>
            </p:grpSpPr>
            <p:sp>
              <p:nvSpPr>
                <p:cNvPr id="125" name="右矢印 124">
                  <a:extLst>
                    <a:ext uri="{FF2B5EF4-FFF2-40B4-BE49-F238E27FC236}">
                      <a16:creationId xmlns:a16="http://schemas.microsoft.com/office/drawing/2014/main" id="{FBB58A81-76B9-B040-93ED-52353016EFB0}"/>
                    </a:ext>
                  </a:extLst>
                </p:cNvPr>
                <p:cNvSpPr/>
                <p:nvPr/>
              </p:nvSpPr>
              <p:spPr>
                <a:xfrm rot="10800000">
                  <a:off x="1907824" y="4652867"/>
                  <a:ext cx="1503049" cy="462024"/>
                </a:xfrm>
                <a:prstGeom prst="rightArrow">
                  <a:avLst>
                    <a:gd name="adj1" fmla="val 48737"/>
                    <a:gd name="adj2" fmla="val 716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126" name="グループ化 125">
                  <a:extLst>
                    <a:ext uri="{FF2B5EF4-FFF2-40B4-BE49-F238E27FC236}">
                      <a16:creationId xmlns:a16="http://schemas.microsoft.com/office/drawing/2014/main" id="{9AADC3BF-E16E-D149-BB03-EC453F01D1E1}"/>
                    </a:ext>
                  </a:extLst>
                </p:cNvPr>
                <p:cNvGrpSpPr/>
                <p:nvPr/>
              </p:nvGrpSpPr>
              <p:grpSpPr>
                <a:xfrm>
                  <a:off x="2279956" y="4474964"/>
                  <a:ext cx="861781" cy="783058"/>
                  <a:chOff x="1647102" y="4614762"/>
                  <a:chExt cx="861781" cy="783058"/>
                </a:xfrm>
              </p:grpSpPr>
              <p:sp>
                <p:nvSpPr>
                  <p:cNvPr id="134" name="メモ 133">
                    <a:extLst>
                      <a:ext uri="{FF2B5EF4-FFF2-40B4-BE49-F238E27FC236}">
                        <a16:creationId xmlns:a16="http://schemas.microsoft.com/office/drawing/2014/main" id="{7AF73B74-6A24-E847-9C13-7A7AF0B8E968}"/>
                      </a:ext>
                    </a:extLst>
                  </p:cNvPr>
                  <p:cNvSpPr/>
                  <p:nvPr/>
                </p:nvSpPr>
                <p:spPr>
                  <a:xfrm rot="10800000">
                    <a:off x="1736538" y="4614762"/>
                    <a:ext cx="682908" cy="783058"/>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テキスト ボックス 134">
                    <a:extLst>
                      <a:ext uri="{FF2B5EF4-FFF2-40B4-BE49-F238E27FC236}">
                        <a16:creationId xmlns:a16="http://schemas.microsoft.com/office/drawing/2014/main" id="{0AD94711-D375-A74D-94A1-136674932708}"/>
                      </a:ext>
                    </a:extLst>
                  </p:cNvPr>
                  <p:cNvSpPr txBox="1"/>
                  <p:nvPr/>
                </p:nvSpPr>
                <p:spPr>
                  <a:xfrm>
                    <a:off x="1647102" y="4884235"/>
                    <a:ext cx="861781" cy="305233"/>
                  </a:xfrm>
                  <a:prstGeom prst="rect">
                    <a:avLst/>
                  </a:prstGeom>
                  <a:noFill/>
                </p:spPr>
                <p:txBody>
                  <a:bodyPr wrap="square" rtlCol="0">
                    <a:spAutoFit/>
                  </a:bodyPr>
                  <a:lstStyle/>
                  <a:p>
                    <a:pPr algn="ctr"/>
                    <a:r>
                      <a:rPr kumimoji="1" lang="en-US" altLang="ja-JP" dirty="0"/>
                      <a:t>Offer</a:t>
                    </a:r>
                    <a:endParaRPr kumimoji="1" lang="ja-JP" altLang="en-US"/>
                  </a:p>
                </p:txBody>
              </p:sp>
            </p:grpSp>
            <p:pic>
              <p:nvPicPr>
                <p:cNvPr id="127" name="図 126">
                  <a:extLst>
                    <a:ext uri="{FF2B5EF4-FFF2-40B4-BE49-F238E27FC236}">
                      <a16:creationId xmlns:a16="http://schemas.microsoft.com/office/drawing/2014/main" id="{0CF515C7-E7F5-D84A-9F64-F50EC9404441}"/>
                    </a:ext>
                  </a:extLst>
                </p:cNvPr>
                <p:cNvPicPr>
                  <a:picLocks noChangeAspect="1"/>
                </p:cNvPicPr>
                <p:nvPr/>
              </p:nvPicPr>
              <p:blipFill>
                <a:blip r:embed="rId5"/>
                <a:stretch>
                  <a:fillRect/>
                </a:stretch>
              </p:blipFill>
              <p:spPr>
                <a:xfrm>
                  <a:off x="710926" y="4073984"/>
                  <a:ext cx="1286093" cy="1523000"/>
                </a:xfrm>
                <a:prstGeom prst="rect">
                  <a:avLst/>
                </a:prstGeom>
              </p:spPr>
            </p:pic>
            <p:pic>
              <p:nvPicPr>
                <p:cNvPr id="128" name="図 127">
                  <a:extLst>
                    <a:ext uri="{FF2B5EF4-FFF2-40B4-BE49-F238E27FC236}">
                      <a16:creationId xmlns:a16="http://schemas.microsoft.com/office/drawing/2014/main" id="{180A694E-1CF9-F744-995D-DC8543379F71}"/>
                    </a:ext>
                  </a:extLst>
                </p:cNvPr>
                <p:cNvPicPr>
                  <a:picLocks noChangeAspect="1"/>
                </p:cNvPicPr>
                <p:nvPr/>
              </p:nvPicPr>
              <p:blipFill>
                <a:blip r:embed="rId6"/>
                <a:stretch>
                  <a:fillRect/>
                </a:stretch>
              </p:blipFill>
              <p:spPr>
                <a:xfrm>
                  <a:off x="3381133" y="4115316"/>
                  <a:ext cx="872109" cy="1486553"/>
                </a:xfrm>
                <a:prstGeom prst="rect">
                  <a:avLst/>
                </a:prstGeom>
              </p:spPr>
            </p:pic>
            <p:sp>
              <p:nvSpPr>
                <p:cNvPr id="129" name="テキスト ボックス 128">
                  <a:extLst>
                    <a:ext uri="{FF2B5EF4-FFF2-40B4-BE49-F238E27FC236}">
                      <a16:creationId xmlns:a16="http://schemas.microsoft.com/office/drawing/2014/main" id="{FCB0468E-08A5-0045-974C-0A0A309320F9}"/>
                    </a:ext>
                  </a:extLst>
                </p:cNvPr>
                <p:cNvSpPr txBox="1"/>
                <p:nvPr/>
              </p:nvSpPr>
              <p:spPr>
                <a:xfrm>
                  <a:off x="626236" y="5602798"/>
                  <a:ext cx="1428269"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エージェント</a:t>
                  </a:r>
                </a:p>
              </p:txBody>
            </p:sp>
            <p:sp>
              <p:nvSpPr>
                <p:cNvPr id="130" name="テキスト ボックス 129">
                  <a:extLst>
                    <a:ext uri="{FF2B5EF4-FFF2-40B4-BE49-F238E27FC236}">
                      <a16:creationId xmlns:a16="http://schemas.microsoft.com/office/drawing/2014/main" id="{10A2E681-F286-154A-A33F-17EA45A3589B}"/>
                    </a:ext>
                  </a:extLst>
                </p:cNvPr>
                <p:cNvSpPr txBox="1"/>
                <p:nvPr/>
              </p:nvSpPr>
              <p:spPr>
                <a:xfrm>
                  <a:off x="3441925" y="5626598"/>
                  <a:ext cx="666298"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人間</a:t>
                  </a:r>
                </a:p>
              </p:txBody>
            </p:sp>
            <p:sp>
              <p:nvSpPr>
                <p:cNvPr id="131" name="角丸四角形吹き出し 130">
                  <a:extLst>
                    <a:ext uri="{FF2B5EF4-FFF2-40B4-BE49-F238E27FC236}">
                      <a16:creationId xmlns:a16="http://schemas.microsoft.com/office/drawing/2014/main" id="{61EC7586-4E24-1A4D-B4A5-A356C2878959}"/>
                    </a:ext>
                  </a:extLst>
                </p:cNvPr>
                <p:cNvSpPr/>
                <p:nvPr/>
              </p:nvSpPr>
              <p:spPr>
                <a:xfrm>
                  <a:off x="2190377" y="3930286"/>
                  <a:ext cx="1072368" cy="466765"/>
                </a:xfrm>
                <a:prstGeom prst="wedgeRoundRectCallout">
                  <a:avLst>
                    <a:gd name="adj1" fmla="val 65620"/>
                    <a:gd name="adj2" fmla="val 40733"/>
                    <a:gd name="adj3" fmla="val 1666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Hello</a:t>
                  </a:r>
                  <a:endParaRPr kumimoji="1" lang="ja-JP" altLang="en-US"/>
                </a:p>
              </p:txBody>
            </p:sp>
            <p:sp>
              <p:nvSpPr>
                <p:cNvPr id="132" name="円形吹き出し 131">
                  <a:extLst>
                    <a:ext uri="{FF2B5EF4-FFF2-40B4-BE49-F238E27FC236}">
                      <a16:creationId xmlns:a16="http://schemas.microsoft.com/office/drawing/2014/main" id="{16CD47B2-62C2-FF45-8CE3-B217544B291D}"/>
                    </a:ext>
                  </a:extLst>
                </p:cNvPr>
                <p:cNvSpPr/>
                <p:nvPr/>
              </p:nvSpPr>
              <p:spPr>
                <a:xfrm>
                  <a:off x="2157495" y="5338387"/>
                  <a:ext cx="1042362" cy="578966"/>
                </a:xfrm>
                <a:prstGeom prst="wedgeEllipseCallout">
                  <a:avLst>
                    <a:gd name="adj1" fmla="val 66669"/>
                    <a:gd name="adj2" fmla="val -35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3" name="グラフィックス 132" descr="悲しそうな顔 (塗りつぶし)">
                  <a:extLst>
                    <a:ext uri="{FF2B5EF4-FFF2-40B4-BE49-F238E27FC236}">
                      <a16:creationId xmlns:a16="http://schemas.microsoft.com/office/drawing/2014/main" id="{AC43545B-DFDC-264C-AB46-8B0FFD1E7E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42035" y="5393594"/>
                  <a:ext cx="469232" cy="469232"/>
                </a:xfrm>
                <a:prstGeom prst="rect">
                  <a:avLst/>
                </a:prstGeom>
              </p:spPr>
            </p:pic>
          </p:grpSp>
        </p:grpSp>
      </p:grpSp>
    </p:spTree>
    <p:extLst>
      <p:ext uri="{BB962C8B-B14F-4D97-AF65-F5344CB8AC3E}">
        <p14:creationId xmlns:p14="http://schemas.microsoft.com/office/powerpoint/2010/main" val="3177065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kumimoji="1" lang="ja-JP" altLang="en-US"/>
              <a:t>提案手法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r>
                  <a:rPr kumimoji="1" lang="ja-JP" altLang="en-US"/>
                  <a:t>既存研究で用いている譲歩関数</a:t>
                </a:r>
                <a:r>
                  <a:rPr lang="ja-JP" altLang="en-US"/>
                  <a:t>を用いる</a:t>
                </a:r>
                <a:endParaRPr lang="en-US" altLang="ja-JP" dirty="0"/>
              </a:p>
              <a:p>
                <a:pPr lvl="1"/>
                <a14:m>
                  <m:oMath xmlns:m="http://schemas.openxmlformats.org/officeDocument/2006/math">
                    <m:r>
                      <a:rPr kumimoji="1" lang="en-US" altLang="ja-JP" b="0" i="1" smtClean="0">
                        <a:latin typeface="Cambria Math" panose="02040503050406030204" pitchFamily="18" charset="0"/>
                      </a:rPr>
                      <m:t>𝛼</m:t>
                    </m:r>
                  </m:oMath>
                </a14:m>
                <a:r>
                  <a:rPr kumimoji="1" lang="ja-JP" altLang="en-US"/>
                  <a:t>の値を相手の特性によって</a:t>
                </a:r>
                <a:br>
                  <a:rPr kumimoji="1" lang="en-US" altLang="ja-JP" dirty="0"/>
                </a:br>
                <a:r>
                  <a:rPr lang="ja-JP" altLang="en-US"/>
                  <a:t>変化させていく</a:t>
                </a:r>
                <a:endParaRPr kumimoji="1" lang="en-US" altLang="ja-JP" dirty="0"/>
              </a:p>
              <a:p>
                <a:pPr lvl="2"/>
                <a14:m>
                  <m:oMath xmlns:m="http://schemas.openxmlformats.org/officeDocument/2006/math">
                    <m:r>
                      <a:rPr lang="en-US" altLang="ja-JP" b="0" i="1" smtClean="0">
                        <a:latin typeface="Cambria Math" panose="02040503050406030204" pitchFamily="18" charset="0"/>
                      </a:rPr>
                      <m:t>𝑡𝑎𝑟𝑔𝑒𝑡</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max</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=1−</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𝑈</m:t>
                        </m:r>
                      </m:e>
                      <m:sub>
                        <m:r>
                          <a:rPr lang="en-US" altLang="ja-JP" b="0" i="1" smtClean="0">
                            <a:latin typeface="Cambria Math" panose="02040503050406030204" pitchFamily="18" charset="0"/>
                          </a:rPr>
                          <m:t>𝐴</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𝑏𝑖</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𝑑</m:t>
                            </m:r>
                          </m:e>
                          <m:sub>
                            <m:r>
                              <a:rPr lang="en-US" altLang="ja-JP" b="0" i="1" smtClean="0">
                                <a:latin typeface="Cambria Math" panose="02040503050406030204" pitchFamily="18" charset="0"/>
                              </a:rPr>
                              <m:t>𝑡</m:t>
                            </m:r>
                            <m:r>
                              <a:rPr lang="en-US" altLang="ja-JP" b="0" i="1" smtClean="0">
                                <a:latin typeface="Cambria Math" panose="02040503050406030204" pitchFamily="18" charset="0"/>
                              </a:rPr>
                              <m:t>−1</m:t>
                            </m:r>
                          </m:sub>
                        </m:sSub>
                      </m:e>
                    </m:d>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d>
                          <m:dPr>
                            <m:ctrlPr>
                              <a:rPr lang="en-US" altLang="ja-JP" b="0" i="1" smtClean="0">
                                <a:latin typeface="Cambria Math" panose="02040503050406030204" pitchFamily="18" charset="0"/>
                              </a:rPr>
                            </m:ctrlPr>
                          </m:dPr>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𝑡</m:t>
                                </m:r>
                              </m:num>
                              <m:den>
                                <m:r>
                                  <a:rPr lang="en-US" altLang="ja-JP" b="0" i="1" smtClean="0">
                                    <a:latin typeface="Cambria Math" panose="02040503050406030204" pitchFamily="18" charset="0"/>
                                  </a:rPr>
                                  <m:t>𝑛</m:t>
                                </m:r>
                              </m:den>
                            </m:f>
                          </m:e>
                        </m:d>
                      </m:e>
                      <m:sup>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𝛼</m:t>
                            </m:r>
                          </m:den>
                        </m:f>
                      </m:sup>
                    </m:sSup>
                  </m:oMath>
                </a14:m>
                <a:endParaRPr lang="en-US" altLang="ja-JP" b="0" dirty="0"/>
              </a:p>
            </p:txBody>
          </p:sp>
        </mc:Choice>
        <mc:Fallback xmlns="">
          <p:sp>
            <p:nvSpPr>
              <p:cNvPr id="3" name="コンテンツ プレースホルダー 2">
                <a:extLst>
                  <a:ext uri="{FF2B5EF4-FFF2-40B4-BE49-F238E27FC236}">
                    <a16:creationId xmlns:a16="http://schemas.microsoft.com/office/drawing/2014/main" id="{6229DDA1-6C79-D941-87FB-D426CD549B15}"/>
                  </a:ext>
                </a:extLst>
              </p:cNvPr>
              <p:cNvSpPr>
                <a:spLocks noGrp="1" noRot="1" noChangeAspect="1" noMove="1" noResize="1" noEditPoints="1" noAdjustHandles="1" noChangeArrowheads="1" noChangeShapeType="1" noTextEdit="1"/>
              </p:cNvSpPr>
              <p:nvPr>
                <p:ph idx="1"/>
              </p:nvPr>
            </p:nvSpPr>
            <p:spPr>
              <a:xfrm>
                <a:off x="194898" y="1884384"/>
                <a:ext cx="8859709" cy="3463117"/>
              </a:xfrm>
              <a:blipFill>
                <a:blip r:embed="rId2"/>
                <a:stretch>
                  <a:fillRect t="-2555"/>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10</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4</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2080810" cy="680876"/>
            <a:chOff x="163626" y="1160115"/>
            <a:chExt cx="2080810"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208081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譲歩速度</a:t>
            </a:r>
          </a:p>
        </p:txBody>
      </p:sp>
      <p:pic>
        <p:nvPicPr>
          <p:cNvPr id="14" name="図 13" descr="テキスト, 地図 が含まれている画像&#10;&#10;自動的に生成された説明">
            <a:extLst>
              <a:ext uri="{FF2B5EF4-FFF2-40B4-BE49-F238E27FC236}">
                <a16:creationId xmlns:a16="http://schemas.microsoft.com/office/drawing/2014/main" id="{7BBBCA6A-D968-9246-8E2E-D89E5B6033A6}"/>
              </a:ext>
            </a:extLst>
          </p:cNvPr>
          <p:cNvPicPr>
            <a:picLocks noChangeAspect="1"/>
          </p:cNvPicPr>
          <p:nvPr/>
        </p:nvPicPr>
        <p:blipFill>
          <a:blip r:embed="rId5"/>
          <a:stretch>
            <a:fillRect/>
          </a:stretch>
        </p:blipFill>
        <p:spPr>
          <a:xfrm>
            <a:off x="5369963" y="2408064"/>
            <a:ext cx="3700660" cy="3463117"/>
          </a:xfrm>
          <a:prstGeom prst="rect">
            <a:avLst/>
          </a:prstGeom>
        </p:spPr>
      </p:pic>
      <p:grpSp>
        <p:nvGrpSpPr>
          <p:cNvPr id="18" name="グループ化 17">
            <a:extLst>
              <a:ext uri="{FF2B5EF4-FFF2-40B4-BE49-F238E27FC236}">
                <a16:creationId xmlns:a16="http://schemas.microsoft.com/office/drawing/2014/main" id="{34ADD1CD-BAD9-824B-953D-3EA3E7286022}"/>
              </a:ext>
            </a:extLst>
          </p:cNvPr>
          <p:cNvGrpSpPr/>
          <p:nvPr/>
        </p:nvGrpSpPr>
        <p:grpSpPr>
          <a:xfrm>
            <a:off x="542923" y="4629150"/>
            <a:ext cx="4585875" cy="1830524"/>
            <a:chOff x="542923" y="4514848"/>
            <a:chExt cx="4585875" cy="1830524"/>
          </a:xfrm>
        </p:grpSpPr>
        <p:sp>
          <p:nvSpPr>
            <p:cNvPr id="15" name="角丸四角形 14">
              <a:extLst>
                <a:ext uri="{FF2B5EF4-FFF2-40B4-BE49-F238E27FC236}">
                  <a16:creationId xmlns:a16="http://schemas.microsoft.com/office/drawing/2014/main" id="{E267E99A-BE26-E94E-AD62-F2132A1EC497}"/>
                </a:ext>
              </a:extLst>
            </p:cNvPr>
            <p:cNvSpPr/>
            <p:nvPr/>
          </p:nvSpPr>
          <p:spPr>
            <a:xfrm>
              <a:off x="542923" y="4514848"/>
              <a:ext cx="4585875" cy="1830524"/>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C0128703-E186-C442-8F79-E1B1F3A9B551}"/>
                    </a:ext>
                  </a:extLst>
                </p:cNvPr>
                <p:cNvSpPr txBox="1"/>
                <p:nvPr/>
              </p:nvSpPr>
              <p:spPr>
                <a:xfrm>
                  <a:off x="644490" y="4572001"/>
                  <a:ext cx="4455732" cy="177337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ja-JP" altLang="en-US" i="1">
                            <a:latin typeface="Cambria Math" panose="02040503050406030204" pitchFamily="18" charset="0"/>
                          </a:rPr>
                          <m:t>現在の</m:t>
                        </m:r>
                        <m:r>
                          <a:rPr kumimoji="1" lang="ja-JP" altLang="en-US" i="1" smtClean="0">
                            <a:latin typeface="Cambria Math" panose="02040503050406030204" pitchFamily="18" charset="0"/>
                          </a:rPr>
                          <m:t>ラウンド</m:t>
                        </m:r>
                      </m:oMath>
                    </m:oMathPara>
                  </a14:m>
                  <a:endParaRPr kumimoji="1" lang="en-US" altLang="ja-JP"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ja-JP" altLang="en-US" i="1">
                            <a:latin typeface="Cambria Math" panose="02040503050406030204" pitchFamily="18" charset="0"/>
                          </a:rPr>
                          <m:t>ラウンドの</m:t>
                        </m:r>
                        <m:r>
                          <a:rPr kumimoji="1" lang="ja-JP" altLang="en-US" i="1" smtClean="0">
                            <a:latin typeface="Cambria Math" panose="02040503050406030204" pitchFamily="18" charset="0"/>
                          </a:rPr>
                          <m:t>総数</m:t>
                        </m:r>
                      </m:oMath>
                    </m:oMathPara>
                  </a14:m>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𝛾</m:t>
                          </m:r>
                        </m:e>
                        <m:sub>
                          <m:r>
                            <m:rPr>
                              <m:sty m:val="p"/>
                            </m:rPr>
                            <a:rPr kumimoji="1" lang="en-US" altLang="ja-JP" b="0" i="0" smtClean="0">
                              <a:latin typeface="Cambria Math" panose="02040503050406030204" pitchFamily="18" charset="0"/>
                            </a:rPr>
                            <m:t>min</m:t>
                          </m:r>
                        </m:sub>
                      </m:sSub>
                      <m:r>
                        <a:rPr kumimoji="1" lang="en-US" altLang="ja-JP" b="0" i="1" smtClean="0">
                          <a:latin typeface="Cambria Math" panose="02040503050406030204" pitchFamily="18" charset="0"/>
                        </a:rPr>
                        <m:t>:</m:t>
                      </m:r>
                      <m:r>
                        <a:rPr kumimoji="1" lang="ja-JP" altLang="en-US" i="1">
                          <a:latin typeface="Cambria Math" panose="02040503050406030204" pitchFamily="18" charset="0"/>
                        </a:rPr>
                        <m:t>エージェントの</m:t>
                      </m:r>
                    </m:oMath>
                  </a14:m>
                  <a:r>
                    <a:rPr kumimoji="1" lang="ja-JP" altLang="en-US" dirty="0"/>
                    <a:t>最小</a:t>
                  </a:r>
                  <a:r>
                    <a:rPr kumimoji="1" lang="ja-JP" altLang="en-US"/>
                    <a:t>目標効用</a:t>
                  </a:r>
                  <a:endParaRPr kumimoji="1" lang="en-US" altLang="ja-JP" dirty="0"/>
                </a:p>
                <a:p>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a:latin typeface="Cambria Math" panose="02040503050406030204" pitchFamily="18" charset="0"/>
                            </a:rPr>
                            <m:t>𝛾</m:t>
                          </m:r>
                        </m:e>
                        <m:sub>
                          <m:r>
                            <m:rPr>
                              <m:sty m:val="p"/>
                            </m:rPr>
                            <a:rPr kumimoji="1" lang="en-US" altLang="ja-JP">
                              <a:latin typeface="Cambria Math" panose="02040503050406030204" pitchFamily="18" charset="0"/>
                            </a:rPr>
                            <m:t>m</m:t>
                          </m:r>
                          <m:r>
                            <m:rPr>
                              <m:sty m:val="p"/>
                            </m:rPr>
                            <a:rPr kumimoji="1" lang="en-US" altLang="ja-JP" b="0" i="0" smtClean="0">
                              <a:latin typeface="Cambria Math" panose="02040503050406030204" pitchFamily="18" charset="0"/>
                            </a:rPr>
                            <m:t>ax</m:t>
                          </m:r>
                        </m:sub>
                      </m:sSub>
                      <m:r>
                        <a:rPr kumimoji="1" lang="en-US" altLang="ja-JP" i="1">
                          <a:latin typeface="Cambria Math" panose="02040503050406030204" pitchFamily="18" charset="0"/>
                        </a:rPr>
                        <m:t>:</m:t>
                      </m:r>
                      <m:r>
                        <a:rPr kumimoji="1" lang="ja-JP" altLang="en-US" i="1">
                          <a:latin typeface="Cambria Math" panose="02040503050406030204" pitchFamily="18" charset="0"/>
                        </a:rPr>
                        <m:t>エージェントの最大</m:t>
                      </m:r>
                    </m:oMath>
                  </a14:m>
                  <a:r>
                    <a:rPr kumimoji="1" lang="ja-JP" altLang="en-US"/>
                    <a:t>目標効用</a:t>
                  </a:r>
                  <a:endParaRPr kumimoji="1" lang="en-US" altLang="ja-JP" dirty="0"/>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𝐴</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𝑏𝑖</m:t>
                          </m:r>
                          <m:sSub>
                            <m:sSubPr>
                              <m:ctrlPr>
                                <a:rPr lang="en-US" altLang="ja-JP" i="1">
                                  <a:latin typeface="Cambria Math" panose="02040503050406030204" pitchFamily="18" charset="0"/>
                                </a:rPr>
                              </m:ctrlPr>
                            </m:sSubPr>
                            <m:e>
                              <m:r>
                                <a:rPr lang="en-US" altLang="ja-JP" i="1">
                                  <a:latin typeface="Cambria Math" panose="02040503050406030204" pitchFamily="18" charset="0"/>
                                </a:rPr>
                                <m:t>𝑑</m:t>
                              </m:r>
                            </m:e>
                            <m:sub>
                              <m:r>
                                <a:rPr lang="en-US" altLang="ja-JP" i="1">
                                  <a:latin typeface="Cambria Math" panose="02040503050406030204" pitchFamily="18" charset="0"/>
                                </a:rPr>
                                <m:t>𝑡</m:t>
                              </m:r>
                              <m:r>
                                <a:rPr lang="en-US" altLang="ja-JP" i="1">
                                  <a:latin typeface="Cambria Math" panose="02040503050406030204" pitchFamily="18" charset="0"/>
                                </a:rPr>
                                <m:t>−1</m:t>
                              </m:r>
                            </m:sub>
                          </m:sSub>
                        </m:e>
                      </m:d>
                    </m:oMath>
                  </a14:m>
                  <a:r>
                    <a:rPr kumimoji="1" lang="en-US" altLang="ja-JP" dirty="0"/>
                    <a:t>:</a:t>
                  </a:r>
                  <a:r>
                    <a:rPr kumimoji="1" lang="ja-JP" altLang="en-US"/>
                    <a:t>直前の</a:t>
                  </a:r>
                  <a:r>
                    <a:rPr kumimoji="1" lang="en-US" altLang="ja-JP" dirty="0"/>
                    <a:t>offer</a:t>
                  </a:r>
                  <a:r>
                    <a:rPr kumimoji="1" lang="ja-JP" altLang="en-US"/>
                    <a:t>でエージェントが</a:t>
                  </a:r>
                  <a:br>
                    <a:rPr kumimoji="1" lang="en-US" altLang="ja-JP" dirty="0"/>
                  </a:br>
                  <a:r>
                    <a:rPr kumimoji="1" lang="ja-JP" altLang="en-US"/>
                    <a:t>　　　　　得られる効用</a:t>
                  </a:r>
                  <a:endParaRPr kumimoji="1" lang="en-US" altLang="ja-JP" dirty="0"/>
                </a:p>
              </p:txBody>
            </p:sp>
          </mc:Choice>
          <mc:Fallback xmlns="">
            <p:sp>
              <p:nvSpPr>
                <p:cNvPr id="16" name="テキスト ボックス 15">
                  <a:extLst>
                    <a:ext uri="{FF2B5EF4-FFF2-40B4-BE49-F238E27FC236}">
                      <a16:creationId xmlns:a16="http://schemas.microsoft.com/office/drawing/2014/main" id="{C0128703-E186-C442-8F79-E1B1F3A9B551}"/>
                    </a:ext>
                  </a:extLst>
                </p:cNvPr>
                <p:cNvSpPr txBox="1">
                  <a:spLocks noRot="1" noChangeAspect="1" noMove="1" noResize="1" noEditPoints="1" noAdjustHandles="1" noChangeArrowheads="1" noChangeShapeType="1" noTextEdit="1"/>
                </p:cNvSpPr>
                <p:nvPr/>
              </p:nvSpPr>
              <p:spPr>
                <a:xfrm>
                  <a:off x="644490" y="4572001"/>
                  <a:ext cx="4455732" cy="1773371"/>
                </a:xfrm>
                <a:prstGeom prst="rect">
                  <a:avLst/>
                </a:prstGeom>
                <a:blipFill>
                  <a:blip r:embed="rId6"/>
                  <a:stretch>
                    <a:fillRect b="-4255"/>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735877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11</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4</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602174" cy="680876"/>
            <a:chOff x="163626" y="1160115"/>
            <a:chExt cx="56021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6021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ビッグファイブを用いた戦略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a:t>
            </a:r>
            <a:r>
              <a:rPr lang="ja-JP" altLang="en-US"/>
              <a:t>の値を求める</a:t>
            </a:r>
            <a:endParaRPr lang="en-US" altLang="ja-JP" dirty="0"/>
          </a:p>
          <a:p>
            <a:r>
              <a:rPr lang="ja-JP" altLang="en-US"/>
              <a:t>特性</a:t>
            </a:r>
            <a:r>
              <a:rPr lang="en-US" altLang="ja-JP" dirty="0"/>
              <a:t>5</a:t>
            </a:r>
            <a:r>
              <a:rPr lang="ja-JP" altLang="en-US"/>
              <a:t>因子の値に応じて戦略を決定し</a:t>
            </a:r>
            <a:r>
              <a:rPr lang="ja-JP" altLang="en-US">
                <a:solidFill>
                  <a:schemeClr val="accent2"/>
                </a:solidFill>
              </a:rPr>
              <a:t>譲歩速度などを変更</a:t>
            </a:r>
            <a:endParaRPr lang="en-US" altLang="ja-JP" dirty="0">
              <a:solidFill>
                <a:schemeClr val="accent2"/>
              </a:solidFill>
            </a:endParaRPr>
          </a:p>
        </p:txBody>
      </p:sp>
      <p:graphicFrame>
        <p:nvGraphicFramePr>
          <p:cNvPr id="53" name="表 52">
            <a:extLst>
              <a:ext uri="{FF2B5EF4-FFF2-40B4-BE49-F238E27FC236}">
                <a16:creationId xmlns:a16="http://schemas.microsoft.com/office/drawing/2014/main" id="{AAE25FE5-48B1-2B41-B6EA-D2ECDCA30E37}"/>
              </a:ext>
            </a:extLst>
          </p:cNvPr>
          <p:cNvGraphicFramePr>
            <a:graphicFrameLocks noGrp="1"/>
          </p:cNvGraphicFramePr>
          <p:nvPr>
            <p:extLst>
              <p:ext uri="{D42A27DB-BD31-4B8C-83A1-F6EECF244321}">
                <p14:modId xmlns:p14="http://schemas.microsoft.com/office/powerpoint/2010/main" val="3953956465"/>
              </p:ext>
            </p:extLst>
          </p:nvPr>
        </p:nvGraphicFramePr>
        <p:xfrm>
          <a:off x="933820" y="5029406"/>
          <a:ext cx="3584990" cy="1112520"/>
        </p:xfrm>
        <a:graphic>
          <a:graphicData uri="http://schemas.openxmlformats.org/drawingml/2006/table">
            <a:tbl>
              <a:tblPr firstRow="1" bandRow="1">
                <a:tableStyleId>{5C22544A-7EE6-4342-B048-85BDC9FD1C3A}</a:tableStyleId>
              </a:tblPr>
              <a:tblGrid>
                <a:gridCol w="1792495">
                  <a:extLst>
                    <a:ext uri="{9D8B030D-6E8A-4147-A177-3AD203B41FA5}">
                      <a16:colId xmlns:a16="http://schemas.microsoft.com/office/drawing/2014/main" val="2450102447"/>
                    </a:ext>
                  </a:extLst>
                </a:gridCol>
                <a:gridCol w="1792495">
                  <a:extLst>
                    <a:ext uri="{9D8B030D-6E8A-4147-A177-3AD203B41FA5}">
                      <a16:colId xmlns:a16="http://schemas.microsoft.com/office/drawing/2014/main" val="3506212313"/>
                    </a:ext>
                  </a:extLst>
                </a:gridCol>
              </a:tblGrid>
              <a:tr h="370840">
                <a:tc gridSpan="2">
                  <a:txBody>
                    <a:bodyPr/>
                    <a:lstStyle/>
                    <a:p>
                      <a:pPr algn="ctr"/>
                      <a:r>
                        <a:rPr kumimoji="1" lang="ja-JP" altLang="en-US" sz="1600"/>
                        <a:t>神経症傾向</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extLst>
                  <a:ext uri="{0D108BD9-81ED-4DB2-BD59-A6C34878D82A}">
                    <a16:rowId xmlns:a16="http://schemas.microsoft.com/office/drawing/2014/main" val="1780244524"/>
                  </a:ext>
                </a:extLst>
              </a:tr>
              <a:tr h="370840">
                <a:tc>
                  <a:txBody>
                    <a:bodyPr/>
                    <a:lstStyle/>
                    <a:p>
                      <a:pPr algn="ctr"/>
                      <a:r>
                        <a:rPr kumimoji="1" lang="ja-JP" altLang="en-US" sz="1600">
                          <a:solidFill>
                            <a:schemeClr val="accent3"/>
                          </a:solidFill>
                        </a:rPr>
                        <a:t>譲歩速度遅い</a:t>
                      </a:r>
                    </a:p>
                  </a:txBody>
                  <a:tcPr marL="68700" marR="68700"/>
                </a:tc>
                <a:tc>
                  <a:txBody>
                    <a:bodyPr/>
                    <a:lstStyle/>
                    <a:p>
                      <a:pPr algn="ctr"/>
                      <a:r>
                        <a:rPr kumimoji="1" lang="ja-JP" altLang="en-US" sz="1600">
                          <a:solidFill>
                            <a:schemeClr val="accent2"/>
                          </a:solidFill>
                        </a:rPr>
                        <a:t>譲歩速度早い</a:t>
                      </a:r>
                    </a:p>
                  </a:txBody>
                  <a:tcPr marL="68700" marR="68700"/>
                </a:tc>
                <a:extLst>
                  <a:ext uri="{0D108BD9-81ED-4DB2-BD59-A6C34878D82A}">
                    <a16:rowId xmlns:a16="http://schemas.microsoft.com/office/drawing/2014/main" val="2956610254"/>
                  </a:ext>
                </a:extLst>
              </a:tr>
            </a:tbl>
          </a:graphicData>
        </a:graphic>
      </p:graphicFrame>
      <p:grpSp>
        <p:nvGrpSpPr>
          <p:cNvPr id="54" name="グループ化 53">
            <a:extLst>
              <a:ext uri="{FF2B5EF4-FFF2-40B4-BE49-F238E27FC236}">
                <a16:creationId xmlns:a16="http://schemas.microsoft.com/office/drawing/2014/main" id="{7E81AD11-8E95-CD41-B27A-F531255634EE}"/>
              </a:ext>
            </a:extLst>
          </p:cNvPr>
          <p:cNvGrpSpPr/>
          <p:nvPr/>
        </p:nvGrpSpPr>
        <p:grpSpPr>
          <a:xfrm>
            <a:off x="1192329" y="3525906"/>
            <a:ext cx="2897962" cy="1296851"/>
            <a:chOff x="6168486" y="4671682"/>
            <a:chExt cx="2634511" cy="1071777"/>
          </a:xfrm>
        </p:grpSpPr>
        <p:grpSp>
          <p:nvGrpSpPr>
            <p:cNvPr id="63" name="グループ化 62">
              <a:extLst>
                <a:ext uri="{FF2B5EF4-FFF2-40B4-BE49-F238E27FC236}">
                  <a16:creationId xmlns:a16="http://schemas.microsoft.com/office/drawing/2014/main" id="{39BD6B05-FCFB-E54F-B1F0-8770414A6073}"/>
                </a:ext>
              </a:extLst>
            </p:cNvPr>
            <p:cNvGrpSpPr/>
            <p:nvPr/>
          </p:nvGrpSpPr>
          <p:grpSpPr>
            <a:xfrm>
              <a:off x="6168486" y="4671682"/>
              <a:ext cx="2634511" cy="725056"/>
              <a:chOff x="6355605" y="4669288"/>
              <a:chExt cx="2634511" cy="725056"/>
            </a:xfrm>
          </p:grpSpPr>
          <p:grpSp>
            <p:nvGrpSpPr>
              <p:cNvPr id="65" name="グループ化 64">
                <a:extLst>
                  <a:ext uri="{FF2B5EF4-FFF2-40B4-BE49-F238E27FC236}">
                    <a16:creationId xmlns:a16="http://schemas.microsoft.com/office/drawing/2014/main" id="{0A525616-ECE3-784F-A7BC-3B7921C73CDA}"/>
                  </a:ext>
                </a:extLst>
              </p:cNvPr>
              <p:cNvGrpSpPr/>
              <p:nvPr/>
            </p:nvGrpSpPr>
            <p:grpSpPr>
              <a:xfrm>
                <a:off x="6355605" y="4669288"/>
                <a:ext cx="2634511" cy="725056"/>
                <a:chOff x="2747713" y="3353410"/>
                <a:chExt cx="2634511" cy="725056"/>
              </a:xfrm>
            </p:grpSpPr>
            <p:cxnSp>
              <p:nvCxnSpPr>
                <p:cNvPr id="67" name="直線矢印コネクタ 66">
                  <a:extLst>
                    <a:ext uri="{FF2B5EF4-FFF2-40B4-BE49-F238E27FC236}">
                      <a16:creationId xmlns:a16="http://schemas.microsoft.com/office/drawing/2014/main" id="{62D60359-C60E-2F47-80B7-B8A71FE237BA}"/>
                    </a:ext>
                  </a:extLst>
                </p:cNvPr>
                <p:cNvCxnSpPr/>
                <p:nvPr/>
              </p:nvCxnSpPr>
              <p:spPr>
                <a:xfrm>
                  <a:off x="3086825" y="3750198"/>
                  <a:ext cx="1994463"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E190EBD6-0D22-3C45-B717-2E5EC2800257}"/>
                    </a:ext>
                  </a:extLst>
                </p:cNvPr>
                <p:cNvSpPr txBox="1"/>
                <p:nvPr/>
              </p:nvSpPr>
              <p:spPr>
                <a:xfrm>
                  <a:off x="2747713" y="3798669"/>
                  <a:ext cx="2634511" cy="279797"/>
                </a:xfrm>
                <a:prstGeom prst="rect">
                  <a:avLst/>
                </a:prstGeom>
                <a:noFill/>
              </p:spPr>
              <p:txBody>
                <a:bodyPr wrap="square" rtlCol="0">
                  <a:spAutoFit/>
                </a:bodyPr>
                <a:lstStyle/>
                <a:p>
                  <a:pPr algn="ctr"/>
                  <a:r>
                    <a:rPr kumimoji="1" lang="en-US" altLang="ja-JP" sz="1600" dirty="0"/>
                    <a:t>1.0                          -1.0</a:t>
                  </a:r>
                  <a:endParaRPr kumimoji="1" lang="ja-JP" altLang="en-US" sz="1600"/>
                </a:p>
              </p:txBody>
            </p:sp>
            <p:sp>
              <p:nvSpPr>
                <p:cNvPr id="69" name="テキスト ボックス 68">
                  <a:extLst>
                    <a:ext uri="{FF2B5EF4-FFF2-40B4-BE49-F238E27FC236}">
                      <a16:creationId xmlns:a16="http://schemas.microsoft.com/office/drawing/2014/main" id="{5834BC9D-4CB3-DA4D-A6B7-77C10C7DBF20}"/>
                    </a:ext>
                  </a:extLst>
                </p:cNvPr>
                <p:cNvSpPr txBox="1"/>
                <p:nvPr/>
              </p:nvSpPr>
              <p:spPr>
                <a:xfrm>
                  <a:off x="4099525" y="3353410"/>
                  <a:ext cx="789973" cy="338554"/>
                </a:xfrm>
                <a:prstGeom prst="rect">
                  <a:avLst/>
                </a:prstGeom>
                <a:noFill/>
              </p:spPr>
              <p:txBody>
                <a:bodyPr wrap="square" rtlCol="0">
                  <a:spAutoFit/>
                </a:bodyPr>
                <a:lstStyle/>
                <a:p>
                  <a:pPr algn="ctr"/>
                  <a:r>
                    <a:rPr kumimoji="1" lang="en-US" altLang="ja-JP" sz="1600" dirty="0"/>
                    <a:t>-0.5</a:t>
                  </a:r>
                  <a:endParaRPr kumimoji="1" lang="ja-JP" altLang="en-US" sz="1600"/>
                </a:p>
              </p:txBody>
            </p:sp>
          </p:grpSp>
          <p:cxnSp>
            <p:nvCxnSpPr>
              <p:cNvPr id="66" name="直線矢印コネクタ 65">
                <a:extLst>
                  <a:ext uri="{FF2B5EF4-FFF2-40B4-BE49-F238E27FC236}">
                    <a16:creationId xmlns:a16="http://schemas.microsoft.com/office/drawing/2014/main" id="{40FCA554-8EEA-8447-8C0B-8D61B1EFAB4C}"/>
                  </a:ext>
                </a:extLst>
              </p:cNvPr>
              <p:cNvCxnSpPr>
                <a:cxnSpLocks/>
              </p:cNvCxnSpPr>
              <p:nvPr/>
            </p:nvCxnSpPr>
            <p:spPr>
              <a:xfrm>
                <a:off x="8125496" y="4944538"/>
                <a:ext cx="0" cy="244723"/>
              </a:xfrm>
              <a:prstGeom prst="straightConnector1">
                <a:avLst/>
              </a:prstGeom>
              <a:ln w="38100">
                <a:solidFill>
                  <a:srgbClr val="FF7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4" name="テキスト ボックス 63">
              <a:extLst>
                <a:ext uri="{FF2B5EF4-FFF2-40B4-BE49-F238E27FC236}">
                  <a16:creationId xmlns:a16="http://schemas.microsoft.com/office/drawing/2014/main" id="{F316BEF9-4EB3-9E41-9635-1F3261AB445C}"/>
                </a:ext>
              </a:extLst>
            </p:cNvPr>
            <p:cNvSpPr txBox="1"/>
            <p:nvPr/>
          </p:nvSpPr>
          <p:spPr>
            <a:xfrm>
              <a:off x="6479579" y="5438226"/>
              <a:ext cx="2050500" cy="305233"/>
            </a:xfrm>
            <a:prstGeom prst="rect">
              <a:avLst/>
            </a:prstGeom>
            <a:noFill/>
          </p:spPr>
          <p:txBody>
            <a:bodyPr wrap="square" rtlCol="0">
              <a:spAutoFit/>
            </a:bodyPr>
            <a:lstStyle/>
            <a:p>
              <a:pPr algn="ctr"/>
              <a:r>
                <a:rPr kumimoji="1" lang="ja-JP" altLang="en-US"/>
                <a:t>相手の神経症傾向</a:t>
              </a:r>
            </a:p>
          </p:txBody>
        </p:sp>
      </p:grpSp>
      <p:sp>
        <p:nvSpPr>
          <p:cNvPr id="70" name="左矢印 69">
            <a:extLst>
              <a:ext uri="{FF2B5EF4-FFF2-40B4-BE49-F238E27FC236}">
                <a16:creationId xmlns:a16="http://schemas.microsoft.com/office/drawing/2014/main" id="{9465C0F9-7CEB-DB4D-BC4B-BA57E162E70E}"/>
              </a:ext>
            </a:extLst>
          </p:cNvPr>
          <p:cNvSpPr/>
          <p:nvPr/>
        </p:nvSpPr>
        <p:spPr>
          <a:xfrm flipH="1">
            <a:off x="4894227" y="4672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テキスト ボックス 76">
            <a:extLst>
              <a:ext uri="{FF2B5EF4-FFF2-40B4-BE49-F238E27FC236}">
                <a16:creationId xmlns:a16="http://schemas.microsoft.com/office/drawing/2014/main" id="{130C713D-6762-7E40-9609-E2E728E46A57}"/>
              </a:ext>
            </a:extLst>
          </p:cNvPr>
          <p:cNvSpPr txBox="1"/>
          <p:nvPr/>
        </p:nvSpPr>
        <p:spPr>
          <a:xfrm>
            <a:off x="1466946" y="6184426"/>
            <a:ext cx="2481105" cy="369332"/>
          </a:xfrm>
          <a:prstGeom prst="rect">
            <a:avLst/>
          </a:prstGeom>
          <a:noFill/>
        </p:spPr>
        <p:txBody>
          <a:bodyPr wrap="square" rtlCol="0">
            <a:spAutoFit/>
          </a:bodyPr>
          <a:lstStyle/>
          <a:p>
            <a:pPr algn="ctr"/>
            <a:r>
              <a:rPr kumimoji="1" lang="ja-JP" altLang="en-US"/>
              <a:t>エージェントの戦略</a:t>
            </a:r>
          </a:p>
        </p:txBody>
      </p:sp>
      <p:grpSp>
        <p:nvGrpSpPr>
          <p:cNvPr id="33" name="グループ化 32">
            <a:extLst>
              <a:ext uri="{FF2B5EF4-FFF2-40B4-BE49-F238E27FC236}">
                <a16:creationId xmlns:a16="http://schemas.microsoft.com/office/drawing/2014/main" id="{B1D5C2A7-0506-6B46-8689-69E4507F2C37}"/>
              </a:ext>
            </a:extLst>
          </p:cNvPr>
          <p:cNvGrpSpPr/>
          <p:nvPr/>
        </p:nvGrpSpPr>
        <p:grpSpPr>
          <a:xfrm>
            <a:off x="5430251" y="3882263"/>
            <a:ext cx="2067461" cy="2448664"/>
            <a:chOff x="4947651" y="3882263"/>
            <a:chExt cx="2067461" cy="2448664"/>
          </a:xfrm>
        </p:grpSpPr>
        <p:sp>
          <p:nvSpPr>
            <p:cNvPr id="75" name="テキスト ボックス 74">
              <a:extLst>
                <a:ext uri="{FF2B5EF4-FFF2-40B4-BE49-F238E27FC236}">
                  <a16:creationId xmlns:a16="http://schemas.microsoft.com/office/drawing/2014/main" id="{FC39D4F9-0F71-6B40-9EA0-55A5D68A2FD3}"/>
                </a:ext>
              </a:extLst>
            </p:cNvPr>
            <p:cNvSpPr txBox="1"/>
            <p:nvPr/>
          </p:nvSpPr>
          <p:spPr>
            <a:xfrm>
              <a:off x="4947651" y="5684596"/>
              <a:ext cx="2067461" cy="646331"/>
            </a:xfrm>
            <a:prstGeom prst="rect">
              <a:avLst/>
            </a:prstGeom>
            <a:noFill/>
          </p:spPr>
          <p:txBody>
            <a:bodyPr wrap="square" rtlCol="0">
              <a:spAutoFit/>
            </a:bodyPr>
            <a:lstStyle/>
            <a:p>
              <a:pPr algn="ctr"/>
              <a:r>
                <a:rPr kumimoji="1" lang="ja-JP" altLang="en-US"/>
                <a:t>譲歩速度</a:t>
              </a:r>
              <a:r>
                <a:rPr kumimoji="1" lang="ja-JP" altLang="en-US">
                  <a:solidFill>
                    <a:schemeClr val="accent3"/>
                  </a:solidFill>
                </a:rPr>
                <a:t>やや早め</a:t>
              </a:r>
              <a:endParaRPr kumimoji="1" lang="en-US" altLang="ja-JP" dirty="0">
                <a:solidFill>
                  <a:schemeClr val="accent3"/>
                </a:solidFill>
              </a:endParaRPr>
            </a:p>
            <a:p>
              <a:pPr algn="ctr"/>
              <a:r>
                <a:rPr kumimoji="1" lang="en-US" altLang="ja-JP" dirty="0"/>
                <a:t>(</a:t>
              </a:r>
              <a:r>
                <a:rPr kumimoji="1" lang="ja-JP" altLang="en-US"/>
                <a:t>混合比</a:t>
              </a:r>
              <a:r>
                <a:rPr kumimoji="1" lang="en-US" altLang="ja-JP" dirty="0"/>
                <a:t>1:3)</a:t>
              </a:r>
              <a:endParaRPr kumimoji="1" lang="ja-JP" altLang="en-US"/>
            </a:p>
          </p:txBody>
        </p:sp>
        <p:grpSp>
          <p:nvGrpSpPr>
            <p:cNvPr id="32" name="グループ化 31">
              <a:extLst>
                <a:ext uri="{FF2B5EF4-FFF2-40B4-BE49-F238E27FC236}">
                  <a16:creationId xmlns:a16="http://schemas.microsoft.com/office/drawing/2014/main" id="{4F67E7B6-1F7A-BB4E-9FF2-1E1B69153F97}"/>
                </a:ext>
              </a:extLst>
            </p:cNvPr>
            <p:cNvGrpSpPr/>
            <p:nvPr/>
          </p:nvGrpSpPr>
          <p:grpSpPr>
            <a:xfrm>
              <a:off x="5048817" y="3882263"/>
              <a:ext cx="1690907" cy="1690907"/>
              <a:chOff x="5048817" y="3742563"/>
              <a:chExt cx="1690907" cy="1690907"/>
            </a:xfrm>
          </p:grpSpPr>
          <p:sp>
            <p:nvSpPr>
              <p:cNvPr id="12" name="フリーフォーム 11">
                <a:extLst>
                  <a:ext uri="{FF2B5EF4-FFF2-40B4-BE49-F238E27FC236}">
                    <a16:creationId xmlns:a16="http://schemas.microsoft.com/office/drawing/2014/main" id="{255EBEE5-0FCF-3944-BABC-28D97302D816}"/>
                  </a:ext>
                </a:extLst>
              </p:cNvPr>
              <p:cNvSpPr/>
              <p:nvPr/>
            </p:nvSpPr>
            <p:spPr>
              <a:xfrm rot="382539">
                <a:off x="5245190" y="4101304"/>
                <a:ext cx="1224000" cy="260728"/>
              </a:xfrm>
              <a:custGeom>
                <a:avLst/>
                <a:gdLst>
                  <a:gd name="connsiteX0" fmla="*/ 0 w 1206500"/>
                  <a:gd name="connsiteY0" fmla="*/ 32128 h 260728"/>
                  <a:gd name="connsiteX1" fmla="*/ 838200 w 1206500"/>
                  <a:gd name="connsiteY1" fmla="*/ 19428 h 260728"/>
                  <a:gd name="connsiteX2" fmla="*/ 1206500 w 1206500"/>
                  <a:gd name="connsiteY2" fmla="*/ 260728 h 260728"/>
                </a:gdLst>
                <a:ahLst/>
                <a:cxnLst>
                  <a:cxn ang="0">
                    <a:pos x="connsiteX0" y="connsiteY0"/>
                  </a:cxn>
                  <a:cxn ang="0">
                    <a:pos x="connsiteX1" y="connsiteY1"/>
                  </a:cxn>
                  <a:cxn ang="0">
                    <a:pos x="connsiteX2" y="connsiteY2"/>
                  </a:cxn>
                </a:cxnLst>
                <a:rect l="l" t="t" r="r" b="b"/>
                <a:pathLst>
                  <a:path w="1206500" h="260728">
                    <a:moveTo>
                      <a:pt x="0" y="32128"/>
                    </a:moveTo>
                    <a:cubicBezTo>
                      <a:pt x="318558" y="6728"/>
                      <a:pt x="637117" y="-18672"/>
                      <a:pt x="838200" y="19428"/>
                    </a:cubicBezTo>
                    <a:cubicBezTo>
                      <a:pt x="1039283" y="57528"/>
                      <a:pt x="1122891" y="159128"/>
                      <a:pt x="1206500" y="260728"/>
                    </a:cubicBezTo>
                  </a:path>
                </a:pathLst>
              </a:custGeom>
              <a:noFill/>
              <a:ln w="190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フリーフォーム 15">
                <a:extLst>
                  <a:ext uri="{FF2B5EF4-FFF2-40B4-BE49-F238E27FC236}">
                    <a16:creationId xmlns:a16="http://schemas.microsoft.com/office/drawing/2014/main" id="{2A476589-3D49-904A-89A7-DB12DC364FFD}"/>
                  </a:ext>
                </a:extLst>
              </p:cNvPr>
              <p:cNvSpPr/>
              <p:nvPr/>
            </p:nvSpPr>
            <p:spPr>
              <a:xfrm>
                <a:off x="5270500" y="4089400"/>
                <a:ext cx="1193800" cy="800100"/>
              </a:xfrm>
              <a:custGeom>
                <a:avLst/>
                <a:gdLst>
                  <a:gd name="connsiteX0" fmla="*/ 0 w 1193800"/>
                  <a:gd name="connsiteY0" fmla="*/ 0 h 800100"/>
                  <a:gd name="connsiteX1" fmla="*/ 749300 w 1193800"/>
                  <a:gd name="connsiteY1" fmla="*/ 292100 h 800100"/>
                  <a:gd name="connsiteX2" fmla="*/ 1193800 w 1193800"/>
                  <a:gd name="connsiteY2" fmla="*/ 800100 h 800100"/>
                </a:gdLst>
                <a:ahLst/>
                <a:cxnLst>
                  <a:cxn ang="0">
                    <a:pos x="connsiteX0" y="connsiteY0"/>
                  </a:cxn>
                  <a:cxn ang="0">
                    <a:pos x="connsiteX1" y="connsiteY1"/>
                  </a:cxn>
                  <a:cxn ang="0">
                    <a:pos x="connsiteX2" y="connsiteY2"/>
                  </a:cxn>
                </a:cxnLst>
                <a:rect l="l" t="t" r="r" b="b"/>
                <a:pathLst>
                  <a:path w="1193800" h="800100">
                    <a:moveTo>
                      <a:pt x="0" y="0"/>
                    </a:moveTo>
                    <a:cubicBezTo>
                      <a:pt x="275166" y="79375"/>
                      <a:pt x="550333" y="158750"/>
                      <a:pt x="749300" y="292100"/>
                    </a:cubicBezTo>
                    <a:cubicBezTo>
                      <a:pt x="948267" y="425450"/>
                      <a:pt x="1071033" y="612775"/>
                      <a:pt x="1193800" y="800100"/>
                    </a:cubicBezTo>
                  </a:path>
                </a:pathLst>
              </a:cu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フリーフォーム 29">
                <a:extLst>
                  <a:ext uri="{FF2B5EF4-FFF2-40B4-BE49-F238E27FC236}">
                    <a16:creationId xmlns:a16="http://schemas.microsoft.com/office/drawing/2014/main" id="{915E6077-41FB-4645-8ECF-A82F1B24A2FF}"/>
                  </a:ext>
                </a:extLst>
              </p:cNvPr>
              <p:cNvSpPr/>
              <p:nvPr/>
            </p:nvSpPr>
            <p:spPr>
              <a:xfrm>
                <a:off x="5283200" y="4089400"/>
                <a:ext cx="1193800" cy="723900"/>
              </a:xfrm>
              <a:custGeom>
                <a:avLst/>
                <a:gdLst>
                  <a:gd name="connsiteX0" fmla="*/ 0 w 1193800"/>
                  <a:gd name="connsiteY0" fmla="*/ 0 h 723900"/>
                  <a:gd name="connsiteX1" fmla="*/ 800100 w 1193800"/>
                  <a:gd name="connsiteY1" fmla="*/ 203200 h 723900"/>
                  <a:gd name="connsiteX2" fmla="*/ 1193800 w 1193800"/>
                  <a:gd name="connsiteY2" fmla="*/ 723900 h 723900"/>
                  <a:gd name="connsiteX3" fmla="*/ 1193800 w 1193800"/>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1193800" h="723900">
                    <a:moveTo>
                      <a:pt x="0" y="0"/>
                    </a:moveTo>
                    <a:cubicBezTo>
                      <a:pt x="300566" y="41275"/>
                      <a:pt x="601133" y="82550"/>
                      <a:pt x="800100" y="203200"/>
                    </a:cubicBezTo>
                    <a:cubicBezTo>
                      <a:pt x="999067" y="323850"/>
                      <a:pt x="1193800" y="723900"/>
                      <a:pt x="1193800" y="723900"/>
                    </a:cubicBezTo>
                    <a:lnTo>
                      <a:pt x="1193800" y="723900"/>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8" name="グループ化 87">
                <a:extLst>
                  <a:ext uri="{FF2B5EF4-FFF2-40B4-BE49-F238E27FC236}">
                    <a16:creationId xmlns:a16="http://schemas.microsoft.com/office/drawing/2014/main" id="{27E52103-D35B-F64C-BA37-373A055FC2E0}"/>
                  </a:ext>
                </a:extLst>
              </p:cNvPr>
              <p:cNvGrpSpPr/>
              <p:nvPr/>
            </p:nvGrpSpPr>
            <p:grpSpPr>
              <a:xfrm>
                <a:off x="5048817" y="3742563"/>
                <a:ext cx="1690907" cy="1690907"/>
                <a:chOff x="6676684" y="4465921"/>
                <a:chExt cx="1690907" cy="1690907"/>
              </a:xfrm>
            </p:grpSpPr>
            <p:cxnSp>
              <p:nvCxnSpPr>
                <p:cNvPr id="92" name="直線コネクタ 91">
                  <a:extLst>
                    <a:ext uri="{FF2B5EF4-FFF2-40B4-BE49-F238E27FC236}">
                      <a16:creationId xmlns:a16="http://schemas.microsoft.com/office/drawing/2014/main" id="{1AB141FB-2EEA-B943-9B96-BE302C0D0490}"/>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F0ED9622-D24D-5D4F-93C2-5D1049BFE3EC}"/>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604947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提案手法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9791"/>
              </a:xfrm>
            </p:spPr>
            <p:txBody>
              <a:bodyPr/>
              <a:lstStyle/>
              <a:p>
                <a:r>
                  <a:rPr lang="en-US" altLang="ja-JP" dirty="0"/>
                  <a:t>offer</a:t>
                </a:r>
                <a:r>
                  <a:rPr lang="ja-JP" altLang="en-US"/>
                  <a:t>とそれ以外の行動どちらも</a:t>
                </a:r>
                <a:br>
                  <a:rPr lang="en-US" altLang="ja-JP" dirty="0"/>
                </a:br>
                <a:r>
                  <a:rPr lang="ja-JP" altLang="en-US"/>
                  <a:t>考慮する</a:t>
                </a:r>
                <a:endParaRPr lang="en-US" altLang="ja-JP" dirty="0"/>
              </a:p>
              <a:p>
                <a:r>
                  <a:rPr lang="ja-JP" altLang="en-US"/>
                  <a:t>協調性は行動に対する感受性を</a:t>
                </a:r>
                <a:br>
                  <a:rPr lang="en-US" altLang="ja-JP" dirty="0"/>
                </a:br>
                <a:r>
                  <a:rPr lang="ja-JP" altLang="en-US"/>
                  <a:t>用いる</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3949791"/>
              </a:xfrm>
              <a:blipFill>
                <a:blip r:embed="rId2"/>
                <a:stretch>
                  <a:fillRect t="-2244"/>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12</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4</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951424" cy="680876"/>
            <a:chOff x="163626" y="1160115"/>
            <a:chExt cx="595142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95142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a:t>
            </a:r>
            <a:r>
              <a:rPr lang="ja-JP" altLang="en-US"/>
              <a:t>ビッグファイブ</a:t>
            </a:r>
            <a:r>
              <a:rPr lang="en-US" altLang="ja-JP" dirty="0"/>
              <a:t>)</a:t>
            </a:r>
            <a:endParaRPr lang="ja-JP" altLang="en-US"/>
          </a:p>
        </p:txBody>
      </p:sp>
      <mc:AlternateContent xmlns:mc="http://schemas.openxmlformats.org/markup-compatibility/2006" xmlns:a14="http://schemas.microsoft.com/office/drawing/2010/main">
        <mc:Choice Requires="a14">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108696" r="-102041" b="-517391"/>
                          </a:stretch>
                        </a:blipFill>
                      </a:tcPr>
                    </a:tc>
                    <a:tc>
                      <a:txBody>
                        <a:bodyPr/>
                        <a:lstStyle/>
                        <a:p>
                          <a:endParaRPr lang="ja-JP"/>
                        </a:p>
                      </a:txBody>
                      <a:tcPr marL="75570" marR="75570">
                        <a:blipFill>
                          <a:blip r:embed="rId6"/>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200000" r="-102041" b="-395833"/>
                          </a:stretch>
                        </a:blipFill>
                      </a:tcPr>
                    </a:tc>
                    <a:tc>
                      <a:txBody>
                        <a:bodyPr/>
                        <a:lstStyle/>
                        <a:p>
                          <a:endParaRPr lang="ja-JP"/>
                        </a:p>
                      </a:txBody>
                      <a:tcPr marL="75570" marR="75570">
                        <a:blipFill>
                          <a:blip r:embed="rId6"/>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13043" r="-102041" b="-313043"/>
                          </a:stretch>
                        </a:blipFill>
                      </a:tcPr>
                    </a:tc>
                    <a:tc>
                      <a:txBody>
                        <a:bodyPr/>
                        <a:lstStyle/>
                        <a:p>
                          <a:endParaRPr lang="ja-JP"/>
                        </a:p>
                      </a:txBody>
                      <a:tcPr marL="75570" marR="75570">
                        <a:blipFill>
                          <a:blip r:embed="rId6"/>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95833" r="-102041" b="-200000"/>
                          </a:stretch>
                        </a:blipFill>
                      </a:tcPr>
                    </a:tc>
                    <a:tc>
                      <a:txBody>
                        <a:bodyPr/>
                        <a:lstStyle/>
                        <a:p>
                          <a:endParaRPr lang="ja-JP"/>
                        </a:p>
                      </a:txBody>
                      <a:tcPr marL="75570" marR="75570">
                        <a:blipFill>
                          <a:blip r:embed="rId6"/>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17391" r="-102041" b="-108696"/>
                          </a:stretch>
                        </a:blipFill>
                      </a:tcPr>
                    </a:tc>
                    <a:tc>
                      <a:txBody>
                        <a:bodyPr/>
                        <a:lstStyle/>
                        <a:p>
                          <a:endParaRPr lang="ja-JP"/>
                        </a:p>
                      </a:txBody>
                      <a:tcPr marL="75570" marR="75570">
                        <a:blipFill>
                          <a:blip r:embed="rId6"/>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91667" r="-102041" b="-4167"/>
                          </a:stretch>
                        </a:blipFill>
                      </a:tcPr>
                    </a:tc>
                    <a:tc>
                      <a:txBody>
                        <a:bodyPr/>
                        <a:lstStyle/>
                        <a:p>
                          <a:endParaRPr lang="ja-JP"/>
                        </a:p>
                      </a:txBody>
                      <a:tcPr marL="75570" marR="75570">
                        <a:blipFill>
                          <a:blip r:embed="rId6"/>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grpSp>
        <p:nvGrpSpPr>
          <p:cNvPr id="35" name="グループ化 34">
            <a:extLst>
              <a:ext uri="{FF2B5EF4-FFF2-40B4-BE49-F238E27FC236}">
                <a16:creationId xmlns:a16="http://schemas.microsoft.com/office/drawing/2014/main" id="{B907DAF7-3E77-1346-A24B-85B7BE28526C}"/>
              </a:ext>
            </a:extLst>
          </p:cNvPr>
          <p:cNvGrpSpPr/>
          <p:nvPr/>
        </p:nvGrpSpPr>
        <p:grpSpPr>
          <a:xfrm>
            <a:off x="6422824" y="824915"/>
            <a:ext cx="2686889" cy="2458891"/>
            <a:chOff x="4259517" y="3268537"/>
            <a:chExt cx="3251136" cy="2975259"/>
          </a:xfrm>
        </p:grpSpPr>
        <p:sp>
          <p:nvSpPr>
            <p:cNvPr id="36" name="テキスト ボックス 35">
              <a:extLst>
                <a:ext uri="{FF2B5EF4-FFF2-40B4-BE49-F238E27FC236}">
                  <a16:creationId xmlns:a16="http://schemas.microsoft.com/office/drawing/2014/main" id="{1AEA6AFF-AD9B-784B-ABBA-C128380927F4}"/>
                </a:ext>
              </a:extLst>
            </p:cNvPr>
            <p:cNvSpPr txBox="1"/>
            <p:nvPr/>
          </p:nvSpPr>
          <p:spPr>
            <a:xfrm>
              <a:off x="5300057" y="3268537"/>
              <a:ext cx="1154469" cy="558615"/>
            </a:xfrm>
            <a:prstGeom prst="rect">
              <a:avLst/>
            </a:prstGeom>
            <a:noFill/>
          </p:spPr>
          <p:txBody>
            <a:bodyPr wrap="none" rtlCol="0">
              <a:spAutoFit/>
            </a:bodyPr>
            <a:lstStyle/>
            <a:p>
              <a:pPr algn="ctr"/>
              <a:r>
                <a:rPr kumimoji="1" lang="ja-JP" altLang="en-US" sz="1200"/>
                <a:t>神経症傾向</a:t>
              </a:r>
              <a:endParaRPr kumimoji="1" lang="en-US" altLang="ja-JP" sz="1200" dirty="0"/>
            </a:p>
            <a:p>
              <a:pPr algn="ctr"/>
              <a:r>
                <a:rPr kumimoji="1" lang="en-US" altLang="ja-JP" sz="1200" dirty="0"/>
                <a:t>(N)</a:t>
              </a:r>
              <a:endParaRPr kumimoji="1" lang="ja-JP" altLang="en-US" sz="1200"/>
            </a:p>
          </p:txBody>
        </p:sp>
        <p:sp>
          <p:nvSpPr>
            <p:cNvPr id="37" name="テキスト ボックス 36">
              <a:extLst>
                <a:ext uri="{FF2B5EF4-FFF2-40B4-BE49-F238E27FC236}">
                  <a16:creationId xmlns:a16="http://schemas.microsoft.com/office/drawing/2014/main" id="{DA31CC5C-A215-144A-ABAA-4BA956518983}"/>
                </a:ext>
              </a:extLst>
            </p:cNvPr>
            <p:cNvSpPr txBox="1"/>
            <p:nvPr/>
          </p:nvSpPr>
          <p:spPr>
            <a:xfrm>
              <a:off x="5779106" y="5682852"/>
              <a:ext cx="1526880" cy="558615"/>
            </a:xfrm>
            <a:prstGeom prst="rect">
              <a:avLst/>
            </a:prstGeom>
            <a:noFill/>
          </p:spPr>
          <p:txBody>
            <a:bodyPr wrap="none" rtlCol="0">
              <a:spAutoFit/>
            </a:bodyPr>
            <a:lstStyle/>
            <a:p>
              <a:pPr algn="ctr"/>
              <a:r>
                <a:rPr kumimoji="1" lang="ja-JP" altLang="en-US" sz="1200"/>
                <a:t>経験への開放性</a:t>
              </a:r>
              <a:endParaRPr kumimoji="1" lang="en-US" altLang="ja-JP" sz="1200" dirty="0"/>
            </a:p>
            <a:p>
              <a:pPr algn="ctr"/>
              <a:r>
                <a:rPr kumimoji="1" lang="en-US" altLang="ja-JP" sz="1200" dirty="0"/>
                <a:t>(O)</a:t>
              </a:r>
              <a:endParaRPr kumimoji="1" lang="ja-JP" altLang="en-US" sz="1200"/>
            </a:p>
          </p:txBody>
        </p:sp>
        <p:sp>
          <p:nvSpPr>
            <p:cNvPr id="38" name="テキスト ボックス 37">
              <a:extLst>
                <a:ext uri="{FF2B5EF4-FFF2-40B4-BE49-F238E27FC236}">
                  <a16:creationId xmlns:a16="http://schemas.microsoft.com/office/drawing/2014/main" id="{D30EFC34-E17D-8C4B-97F8-27E0B789139E}"/>
                </a:ext>
              </a:extLst>
            </p:cNvPr>
            <p:cNvSpPr txBox="1"/>
            <p:nvPr/>
          </p:nvSpPr>
          <p:spPr>
            <a:xfrm>
              <a:off x="6728591" y="4236252"/>
              <a:ext cx="782062" cy="558615"/>
            </a:xfrm>
            <a:prstGeom prst="rect">
              <a:avLst/>
            </a:prstGeom>
            <a:noFill/>
          </p:spPr>
          <p:txBody>
            <a:bodyPr wrap="none" rtlCol="0">
              <a:spAutoFit/>
            </a:bodyPr>
            <a:lstStyle/>
            <a:p>
              <a:pPr algn="ctr"/>
              <a:r>
                <a:rPr kumimoji="1" lang="ja-JP" altLang="en-US" sz="1200"/>
                <a:t>外向性</a:t>
              </a:r>
              <a:endParaRPr kumimoji="1" lang="en-US" altLang="ja-JP" sz="1200" dirty="0"/>
            </a:p>
            <a:p>
              <a:pPr algn="ctr"/>
              <a:r>
                <a:rPr kumimoji="1" lang="en-US" altLang="ja-JP" sz="1200" dirty="0"/>
                <a:t>(E)</a:t>
              </a:r>
              <a:endParaRPr kumimoji="1" lang="ja-JP" altLang="en-US" sz="1200"/>
            </a:p>
          </p:txBody>
        </p:sp>
        <p:sp>
          <p:nvSpPr>
            <p:cNvPr id="39" name="テキスト ボックス 38">
              <a:extLst>
                <a:ext uri="{FF2B5EF4-FFF2-40B4-BE49-F238E27FC236}">
                  <a16:creationId xmlns:a16="http://schemas.microsoft.com/office/drawing/2014/main" id="{C0D2E451-FCF3-B343-987B-C2CD042307C4}"/>
                </a:ext>
              </a:extLst>
            </p:cNvPr>
            <p:cNvSpPr txBox="1"/>
            <p:nvPr/>
          </p:nvSpPr>
          <p:spPr>
            <a:xfrm>
              <a:off x="4751367" y="5685181"/>
              <a:ext cx="782062" cy="558615"/>
            </a:xfrm>
            <a:prstGeom prst="rect">
              <a:avLst/>
            </a:prstGeom>
            <a:noFill/>
          </p:spPr>
          <p:txBody>
            <a:bodyPr wrap="none" rtlCol="0">
              <a:spAutoFit/>
            </a:bodyPr>
            <a:lstStyle/>
            <a:p>
              <a:pPr algn="ctr"/>
              <a:r>
                <a:rPr kumimoji="1" lang="ja-JP" altLang="en-US" sz="1200"/>
                <a:t>協調性</a:t>
              </a:r>
              <a:endParaRPr kumimoji="1" lang="en-US" altLang="ja-JP" sz="1200" dirty="0"/>
            </a:p>
            <a:p>
              <a:pPr algn="ctr"/>
              <a:r>
                <a:rPr kumimoji="1" lang="en-US" altLang="ja-JP" sz="1200" dirty="0"/>
                <a:t>(A)</a:t>
              </a:r>
              <a:endParaRPr kumimoji="1" lang="ja-JP" altLang="en-US" sz="1200"/>
            </a:p>
          </p:txBody>
        </p:sp>
        <p:sp>
          <p:nvSpPr>
            <p:cNvPr id="40" name="テキスト ボックス 39">
              <a:extLst>
                <a:ext uri="{FF2B5EF4-FFF2-40B4-BE49-F238E27FC236}">
                  <a16:creationId xmlns:a16="http://schemas.microsoft.com/office/drawing/2014/main" id="{DF8AD930-971D-714C-94C5-C5041B9942A7}"/>
                </a:ext>
              </a:extLst>
            </p:cNvPr>
            <p:cNvSpPr txBox="1"/>
            <p:nvPr/>
          </p:nvSpPr>
          <p:spPr>
            <a:xfrm>
              <a:off x="4259517" y="4236252"/>
              <a:ext cx="782061" cy="558615"/>
            </a:xfrm>
            <a:prstGeom prst="rect">
              <a:avLst/>
            </a:prstGeom>
            <a:noFill/>
          </p:spPr>
          <p:txBody>
            <a:bodyPr wrap="none" rtlCol="0">
              <a:spAutoFit/>
            </a:bodyPr>
            <a:lstStyle/>
            <a:p>
              <a:r>
                <a:rPr kumimoji="1" lang="ja-JP" altLang="en-US" sz="1200"/>
                <a:t>誠実性</a:t>
              </a:r>
              <a:endParaRPr kumimoji="1" lang="en-US" altLang="ja-JP" sz="1200" dirty="0"/>
            </a:p>
            <a:p>
              <a:pPr algn="ctr"/>
              <a:r>
                <a:rPr kumimoji="1" lang="en-US" altLang="ja-JP" sz="1200" dirty="0"/>
                <a:t>(C)</a:t>
              </a:r>
              <a:endParaRPr kumimoji="1" lang="ja-JP" altLang="en-US" sz="1200"/>
            </a:p>
          </p:txBody>
        </p:sp>
        <p:grpSp>
          <p:nvGrpSpPr>
            <p:cNvPr id="41" name="グループ化 40">
              <a:extLst>
                <a:ext uri="{FF2B5EF4-FFF2-40B4-BE49-F238E27FC236}">
                  <a16:creationId xmlns:a16="http://schemas.microsoft.com/office/drawing/2014/main" id="{024E347A-2F05-2F44-807D-9467DE419CF3}"/>
                </a:ext>
              </a:extLst>
            </p:cNvPr>
            <p:cNvGrpSpPr/>
            <p:nvPr/>
          </p:nvGrpSpPr>
          <p:grpSpPr>
            <a:xfrm>
              <a:off x="4938565" y="3795935"/>
              <a:ext cx="1865455" cy="1865455"/>
              <a:chOff x="4938565" y="3795935"/>
              <a:chExt cx="1865455" cy="1865455"/>
            </a:xfrm>
          </p:grpSpPr>
          <p:sp>
            <p:nvSpPr>
              <p:cNvPr id="42" name="五角形 41">
                <a:extLst>
                  <a:ext uri="{FF2B5EF4-FFF2-40B4-BE49-F238E27FC236}">
                    <a16:creationId xmlns:a16="http://schemas.microsoft.com/office/drawing/2014/main" id="{07E27ADE-150E-B14B-81C6-B34C31E6FA92}"/>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43" name="直線コネクタ 42">
                <a:extLst>
                  <a:ext uri="{FF2B5EF4-FFF2-40B4-BE49-F238E27FC236}">
                    <a16:creationId xmlns:a16="http://schemas.microsoft.com/office/drawing/2014/main" id="{0D59EDBF-2694-1A48-8408-0E95FD77EF53}"/>
                  </a:ext>
                </a:extLst>
              </p:cNvPr>
              <p:cNvCxnSpPr>
                <a:cxnSpLocks/>
                <a:stCxn id="42" idx="0"/>
                <a:endCxn id="48"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CDDE3756-64D8-6A4F-A866-ACBA7E766BCF}"/>
                  </a:ext>
                </a:extLst>
              </p:cNvPr>
              <p:cNvCxnSpPr>
                <a:cxnSpLocks/>
                <a:stCxn id="48" idx="3"/>
                <a:endCxn id="42"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253F3E31-F0BE-C440-9508-0624614434BA}"/>
                  </a:ext>
                </a:extLst>
              </p:cNvPr>
              <p:cNvCxnSpPr>
                <a:cxnSpLocks/>
                <a:stCxn id="48" idx="5"/>
                <a:endCxn id="42"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F8C39112-004A-6548-B174-100252E3B10F}"/>
                  </a:ext>
                </a:extLst>
              </p:cNvPr>
              <p:cNvCxnSpPr>
                <a:cxnSpLocks/>
                <a:stCxn id="48" idx="6"/>
                <a:endCxn id="42"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ECC0A1A6-EF67-A14B-A6BA-B8A05DC91722}"/>
                  </a:ext>
                </a:extLst>
              </p:cNvPr>
              <p:cNvCxnSpPr>
                <a:cxnSpLocks/>
                <a:stCxn id="42" idx="1"/>
                <a:endCxn id="48"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8" name="円/楕円 47">
                <a:extLst>
                  <a:ext uri="{FF2B5EF4-FFF2-40B4-BE49-F238E27FC236}">
                    <a16:creationId xmlns:a16="http://schemas.microsoft.com/office/drawing/2014/main" id="{57039606-8CDB-2C40-AB05-0498F0D5EB29}"/>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49" name="五角形 278">
                <a:extLst>
                  <a:ext uri="{FF2B5EF4-FFF2-40B4-BE49-F238E27FC236}">
                    <a16:creationId xmlns:a16="http://schemas.microsoft.com/office/drawing/2014/main" id="{24FB1C51-882C-814F-B823-FCA66F8ECAC4}"/>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spTree>
    <p:extLst>
      <p:ext uri="{BB962C8B-B14F-4D97-AF65-F5344CB8AC3E}">
        <p14:creationId xmlns:p14="http://schemas.microsoft.com/office/powerpoint/2010/main" val="2601621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5257196"/>
          </a:xfrm>
        </p:spPr>
        <p:txBody>
          <a:bodyPr/>
          <a:lstStyle/>
          <a:p>
            <a:r>
              <a:rPr lang="ja-JP" altLang="en-US"/>
              <a:t>神経症的傾向</a:t>
            </a:r>
            <a:endParaRPr lang="en-US" altLang="ja-JP" dirty="0"/>
          </a:p>
          <a:p>
            <a:pPr lvl="1"/>
            <a:r>
              <a:rPr lang="en" altLang="ja-JP" dirty="0">
                <a:solidFill>
                  <a:schemeClr val="accent2"/>
                </a:solidFill>
              </a:rPr>
              <a:t>Nice</a:t>
            </a:r>
            <a:r>
              <a:rPr lang="ja-JP" altLang="en-US">
                <a:solidFill>
                  <a:schemeClr val="accent2"/>
                </a:solidFill>
              </a:rPr>
              <a:t>と</a:t>
            </a:r>
            <a:r>
              <a:rPr lang="en-US" altLang="ja-JP" dirty="0">
                <a:solidFill>
                  <a:schemeClr val="accent2"/>
                </a:solidFill>
              </a:rPr>
              <a:t>C</a:t>
            </a:r>
            <a:r>
              <a:rPr lang="en" altLang="ja-JP" dirty="0" err="1">
                <a:solidFill>
                  <a:schemeClr val="accent2"/>
                </a:solidFill>
              </a:rPr>
              <a:t>oncession</a:t>
            </a:r>
            <a:r>
              <a:rPr lang="ja-JP" altLang="en-US">
                <a:solidFill>
                  <a:schemeClr val="accent2"/>
                </a:solidFill>
              </a:rPr>
              <a:t>の値</a:t>
            </a:r>
            <a:r>
              <a:rPr lang="en-US" altLang="ja-JP" dirty="0"/>
              <a:t>+</a:t>
            </a:r>
            <a:r>
              <a:rPr lang="ja-JP" altLang="en-US">
                <a:solidFill>
                  <a:schemeClr val="accent3"/>
                </a:solidFill>
              </a:rPr>
              <a:t>否定的な感情の割合</a:t>
            </a:r>
          </a:p>
          <a:p>
            <a:r>
              <a:rPr lang="ja-JP" altLang="en-US"/>
              <a:t>外向性</a:t>
            </a:r>
            <a:endParaRPr lang="en-US" altLang="ja-JP" dirty="0"/>
          </a:p>
          <a:p>
            <a:pPr lvl="1"/>
            <a:r>
              <a:rPr lang="en-US" altLang="ja-JP" dirty="0">
                <a:solidFill>
                  <a:schemeClr val="accent2"/>
                </a:solidFill>
              </a:rPr>
              <a:t>Selfish</a:t>
            </a:r>
            <a:r>
              <a:rPr lang="ja-JP" altLang="en-US">
                <a:solidFill>
                  <a:schemeClr val="accent2"/>
                </a:solidFill>
              </a:rPr>
              <a:t>と</a:t>
            </a:r>
            <a:r>
              <a:rPr lang="en-US" altLang="ja-JP" dirty="0">
                <a:solidFill>
                  <a:schemeClr val="accent2"/>
                </a:solidFill>
              </a:rPr>
              <a:t>Fortunate</a:t>
            </a:r>
            <a:r>
              <a:rPr lang="ja-JP" altLang="en-US">
                <a:solidFill>
                  <a:schemeClr val="accent2"/>
                </a:solidFill>
              </a:rPr>
              <a:t>の値</a:t>
            </a:r>
            <a:r>
              <a:rPr lang="en-US" altLang="ja-JP" dirty="0"/>
              <a:t>+</a:t>
            </a:r>
            <a:r>
              <a:rPr lang="ja-JP" altLang="en-US">
                <a:solidFill>
                  <a:schemeClr val="accent3"/>
                </a:solidFill>
              </a:rPr>
              <a:t>行動の頻度</a:t>
            </a:r>
          </a:p>
          <a:p>
            <a:r>
              <a:rPr lang="ja-JP" altLang="en-US"/>
              <a:t>経験への開放性</a:t>
            </a:r>
            <a:endParaRPr lang="en-US" altLang="ja-JP" dirty="0"/>
          </a:p>
          <a:p>
            <a:pPr lvl="1"/>
            <a:r>
              <a:rPr lang="en" altLang="ja-JP" dirty="0">
                <a:solidFill>
                  <a:schemeClr val="accent2"/>
                </a:solidFill>
              </a:rPr>
              <a:t>offer</a:t>
            </a:r>
            <a:r>
              <a:rPr lang="ja-JP" altLang="en-US">
                <a:solidFill>
                  <a:schemeClr val="accent2"/>
                </a:solidFill>
              </a:rPr>
              <a:t>の各選択肢の分散</a:t>
            </a:r>
            <a:r>
              <a:rPr lang="en-US" altLang="ja-JP" dirty="0"/>
              <a:t>+</a:t>
            </a:r>
            <a:r>
              <a:rPr lang="ja-JP" altLang="en-US">
                <a:solidFill>
                  <a:schemeClr val="accent3"/>
                </a:solidFill>
              </a:rPr>
              <a:t>選好に関する質問の回数</a:t>
            </a:r>
          </a:p>
          <a:p>
            <a:r>
              <a:rPr lang="ja-JP" altLang="en-US"/>
              <a:t>誠実性</a:t>
            </a:r>
            <a:endParaRPr lang="en-US" altLang="ja-JP" dirty="0"/>
          </a:p>
          <a:p>
            <a:pPr lvl="1"/>
            <a:r>
              <a:rPr lang="ja-JP" altLang="en-US">
                <a:solidFill>
                  <a:schemeClr val="accent2"/>
                </a:solidFill>
              </a:rPr>
              <a:t>相手の</a:t>
            </a:r>
            <a:r>
              <a:rPr lang="en" altLang="ja-JP" dirty="0">
                <a:solidFill>
                  <a:schemeClr val="accent2"/>
                </a:solidFill>
              </a:rPr>
              <a:t>bid</a:t>
            </a:r>
            <a:r>
              <a:rPr lang="ja-JP" altLang="en-US">
                <a:solidFill>
                  <a:schemeClr val="accent2"/>
                </a:solidFill>
              </a:rPr>
              <a:t>の効用値の分散の逆数</a:t>
            </a:r>
            <a:r>
              <a:rPr lang="en-US" altLang="ja-JP" dirty="0"/>
              <a:t>+</a:t>
            </a:r>
            <a:r>
              <a:rPr lang="ja-JP" altLang="en-US">
                <a:solidFill>
                  <a:schemeClr val="accent3"/>
                </a:solidFill>
              </a:rPr>
              <a:t>自分の選好を公開した回数</a:t>
            </a:r>
            <a:r>
              <a:rPr lang="en-US" altLang="ja-JP" dirty="0"/>
              <a:t>+</a:t>
            </a:r>
            <a:r>
              <a:rPr lang="ja-JP" altLang="en-US">
                <a:solidFill>
                  <a:schemeClr val="accent3"/>
                </a:solidFill>
              </a:rPr>
              <a:t>選好に関して矛盾があった回数</a:t>
            </a:r>
            <a:endParaRPr lang="en-US" altLang="ja-JP" dirty="0">
              <a:solidFill>
                <a:schemeClr val="accent3"/>
              </a:solidFill>
            </a:endParaRPr>
          </a:p>
          <a:p>
            <a:r>
              <a:rPr lang="ja-JP" altLang="en-US"/>
              <a:t>協調性</a:t>
            </a:r>
            <a:endParaRPr lang="en-US" altLang="ja-JP" dirty="0"/>
          </a:p>
          <a:p>
            <a:pPr lvl="1"/>
            <a:r>
              <a:rPr lang="ja-JP" altLang="en-US">
                <a:solidFill>
                  <a:schemeClr val="accent2"/>
                </a:solidFill>
              </a:rPr>
              <a:t>行動に対する感受性</a:t>
            </a:r>
            <a:r>
              <a:rPr lang="en-US" altLang="ja-JP" dirty="0"/>
              <a:t>+</a:t>
            </a:r>
            <a:r>
              <a:rPr lang="ja-JP" altLang="en-US">
                <a:solidFill>
                  <a:schemeClr val="accent3"/>
                </a:solidFill>
              </a:rPr>
              <a:t>肯定的なメッセージの送信回数</a:t>
            </a:r>
          </a:p>
          <a:p>
            <a:endParaRPr lang="ja-JP" altLang="en-US"/>
          </a:p>
          <a:p>
            <a:endParaRPr lang="ja-JP" altLang="en-US"/>
          </a:p>
          <a:p>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4</a:t>
            </a:r>
            <a:endParaRPr kumimoji="1" lang="ja-JP" altLang="en-US"/>
          </a:p>
        </p:txBody>
      </p:sp>
      <p:sp>
        <p:nvSpPr>
          <p:cNvPr id="18" name="テキスト プレースホルダー 12">
            <a:extLst>
              <a:ext uri="{FF2B5EF4-FFF2-40B4-BE49-F238E27FC236}">
                <a16:creationId xmlns:a16="http://schemas.microsoft.com/office/drawing/2014/main" id="{B1673F2D-B405-CB4D-8F59-80842B8ACB15}"/>
              </a:ext>
            </a:extLst>
          </p:cNvPr>
          <p:cNvSpPr txBox="1">
            <a:spLocks/>
          </p:cNvSpPr>
          <p:nvPr/>
        </p:nvSpPr>
        <p:spPr>
          <a:xfrm>
            <a:off x="404691" y="2876210"/>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grpSp>
        <p:nvGrpSpPr>
          <p:cNvPr id="13" name="グループ化 12">
            <a:extLst>
              <a:ext uri="{FF2B5EF4-FFF2-40B4-BE49-F238E27FC236}">
                <a16:creationId xmlns:a16="http://schemas.microsoft.com/office/drawing/2014/main" id="{301E6B84-C84F-1F4D-8E8E-A8994BB8081A}"/>
              </a:ext>
            </a:extLst>
          </p:cNvPr>
          <p:cNvGrpSpPr/>
          <p:nvPr/>
        </p:nvGrpSpPr>
        <p:grpSpPr>
          <a:xfrm>
            <a:off x="163626" y="1160115"/>
            <a:ext cx="5951424" cy="680876"/>
            <a:chOff x="163626" y="1160115"/>
            <a:chExt cx="5951424" cy="680876"/>
          </a:xfrm>
        </p:grpSpPr>
        <p:cxnSp>
          <p:nvCxnSpPr>
            <p:cNvPr id="14" name="直線コネクタ 13">
              <a:extLst>
                <a:ext uri="{FF2B5EF4-FFF2-40B4-BE49-F238E27FC236}">
                  <a16:creationId xmlns:a16="http://schemas.microsoft.com/office/drawing/2014/main" id="{11D8A0AF-E3EB-D349-958F-67175139FF5B}"/>
                </a:ext>
              </a:extLst>
            </p:cNvPr>
            <p:cNvCxnSpPr>
              <a:cxnSpLocks/>
            </p:cNvCxnSpPr>
            <p:nvPr userDrawn="1"/>
          </p:nvCxnSpPr>
          <p:spPr>
            <a:xfrm>
              <a:off x="163626" y="1699846"/>
              <a:ext cx="595142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68055B91-E725-F04C-8C67-BCC99776318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12">
            <a:extLst>
              <a:ext uri="{FF2B5EF4-FFF2-40B4-BE49-F238E27FC236}">
                <a16:creationId xmlns:a16="http://schemas.microsoft.com/office/drawing/2014/main" id="{1651CC0D-6BE8-104C-9872-DA17B859E53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a:t>
            </a:r>
            <a:r>
              <a:rPr lang="ja-JP" altLang="en-US"/>
              <a:t>ビッグファイブ</a:t>
            </a:r>
            <a:r>
              <a:rPr lang="en-US" altLang="ja-JP" dirty="0"/>
              <a:t>)</a:t>
            </a:r>
            <a:endParaRPr lang="ja-JP" altLang="en-US"/>
          </a:p>
        </p:txBody>
      </p:sp>
    </p:spTree>
    <p:extLst>
      <p:ext uri="{BB962C8B-B14F-4D97-AF65-F5344CB8AC3E}">
        <p14:creationId xmlns:p14="http://schemas.microsoft.com/office/powerpoint/2010/main" val="3597782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lang="ja-JP" altLang="en-US"/>
              <a:t>提案手法</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a:xfrm>
                <a:off x="194898" y="1884383"/>
                <a:ext cx="8859709" cy="4966039"/>
              </a:xfrm>
            </p:spPr>
            <p:txBody>
              <a:bodyPr/>
              <a:lstStyle/>
              <a:p>
                <a:r>
                  <a:rPr lang="ja-JP" altLang="en-US"/>
                  <a:t>因子の値によって行動を変更</a:t>
                </a:r>
                <a:endParaRPr lang="en-US" altLang="ja-JP" dirty="0"/>
              </a:p>
              <a:p>
                <a:pPr lvl="1"/>
                <a:r>
                  <a:rPr lang="ja-JP" altLang="en-US"/>
                  <a:t>譲歩速度の</a:t>
                </a:r>
                <a14:m>
                  <m:oMath xmlns:m="http://schemas.openxmlformats.org/officeDocument/2006/math">
                    <m:r>
                      <a:rPr lang="en-US" altLang="ja-JP" i="1">
                        <a:latin typeface="Cambria Math" panose="02040503050406030204" pitchFamily="18" charset="0"/>
                      </a:rPr>
                      <m:t>𝛼</m:t>
                    </m:r>
                  </m:oMath>
                </a14:m>
                <a:r>
                  <a:rPr lang="ja-JP" altLang="en-US"/>
                  <a:t>の値</a:t>
                </a:r>
                <a:endParaRPr lang="en-US" altLang="ja-JP" dirty="0">
                  <a:solidFill>
                    <a:schemeClr val="bg1"/>
                  </a:solidFill>
                </a:endParaRPr>
              </a:p>
              <a:p>
                <a:pPr lvl="1"/>
                <a:r>
                  <a:rPr lang="ja-JP" altLang="en-US"/>
                  <a:t>行動頻度</a:t>
                </a:r>
                <a:endParaRPr lang="en-US" altLang="ja-JP" dirty="0"/>
              </a:p>
            </p:txBody>
          </p:sp>
        </mc:Choice>
        <mc:Fallback xmlns="">
          <p:sp>
            <p:nvSpPr>
              <p:cNvPr id="3" name="コンテンツ プレースホルダー 2">
                <a:extLst>
                  <a:ext uri="{FF2B5EF4-FFF2-40B4-BE49-F238E27FC236}">
                    <a16:creationId xmlns:a16="http://schemas.microsoft.com/office/drawing/2014/main" id="{2291EE29-3B2E-0149-9AB1-D4AE0526F8DC}"/>
                  </a:ext>
                </a:extLst>
              </p:cNvPr>
              <p:cNvSpPr>
                <a:spLocks noGrp="1" noRot="1" noChangeAspect="1" noMove="1" noResize="1" noEditPoints="1" noAdjustHandles="1" noChangeArrowheads="1" noChangeShapeType="1" noTextEdit="1"/>
              </p:cNvSpPr>
              <p:nvPr>
                <p:ph idx="1"/>
              </p:nvPr>
            </p:nvSpPr>
            <p:spPr>
              <a:xfrm>
                <a:off x="194898" y="1884383"/>
                <a:ext cx="8859709" cy="4966039"/>
              </a:xfrm>
              <a:blipFill>
                <a:blip r:embed="rId2"/>
                <a:stretch>
                  <a:fillRect t="-178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14</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kumimoji="1" lang="en-US" altLang="ja-JP" dirty="0"/>
              <a:t>4</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各因子に対する戦略</a:t>
            </a:r>
          </a:p>
        </p:txBody>
      </p:sp>
      <mc:AlternateContent xmlns:mc="http://schemas.openxmlformats.org/markup-compatibility/2006" xmlns:a14="http://schemas.microsoft.com/office/drawing/2010/main">
        <mc:Choice Requires="a14">
          <p:graphicFrame>
            <p:nvGraphicFramePr>
              <p:cNvPr id="15" name="表 14">
                <a:extLst>
                  <a:ext uri="{FF2B5EF4-FFF2-40B4-BE49-F238E27FC236}">
                    <a16:creationId xmlns:a16="http://schemas.microsoft.com/office/drawing/2014/main" id="{158DABA9-5844-B54C-9C55-838592FE5352}"/>
                  </a:ext>
                </a:extLst>
              </p:cNvPr>
              <p:cNvGraphicFramePr>
                <a:graphicFrameLocks noGrp="1"/>
              </p:cNvGraphicFramePr>
              <p:nvPr>
                <p:extLst>
                  <p:ext uri="{D42A27DB-BD31-4B8C-83A1-F6EECF244321}">
                    <p14:modId xmlns:p14="http://schemas.microsoft.com/office/powerpoint/2010/main" val="553559602"/>
                  </p:ext>
                </p:extLst>
              </p:nvPr>
            </p:nvGraphicFramePr>
            <p:xfrm>
              <a:off x="632454" y="3362896"/>
              <a:ext cx="7907412" cy="1483360"/>
            </p:xfrm>
            <a:graphic>
              <a:graphicData uri="http://schemas.openxmlformats.org/drawingml/2006/table">
                <a:tbl>
                  <a:tblPr firstRow="1" firstCol="1" bandRow="1">
                    <a:tableStyleId>{5C22544A-7EE6-4342-B048-85BDC9FD1C3A}</a:tableStyleId>
                  </a:tblPr>
                  <a:tblGrid>
                    <a:gridCol w="1332000">
                      <a:extLst>
                        <a:ext uri="{9D8B030D-6E8A-4147-A177-3AD203B41FA5}">
                          <a16:colId xmlns:a16="http://schemas.microsoft.com/office/drawing/2014/main" val="867293798"/>
                        </a:ext>
                      </a:extLst>
                    </a:gridCol>
                    <a:gridCol w="1095902">
                      <a:extLst>
                        <a:ext uri="{9D8B030D-6E8A-4147-A177-3AD203B41FA5}">
                          <a16:colId xmlns:a16="http://schemas.microsoft.com/office/drawing/2014/main" val="2450102447"/>
                        </a:ext>
                      </a:extLst>
                    </a:gridCol>
                    <a:gridCol w="1095902">
                      <a:extLst>
                        <a:ext uri="{9D8B030D-6E8A-4147-A177-3AD203B41FA5}">
                          <a16:colId xmlns:a16="http://schemas.microsoft.com/office/drawing/2014/main" val="3506212313"/>
                        </a:ext>
                      </a:extLst>
                    </a:gridCol>
                    <a:gridCol w="1095902">
                      <a:extLst>
                        <a:ext uri="{9D8B030D-6E8A-4147-A177-3AD203B41FA5}">
                          <a16:colId xmlns:a16="http://schemas.microsoft.com/office/drawing/2014/main" val="1159568895"/>
                        </a:ext>
                      </a:extLst>
                    </a:gridCol>
                    <a:gridCol w="1095902">
                      <a:extLst>
                        <a:ext uri="{9D8B030D-6E8A-4147-A177-3AD203B41FA5}">
                          <a16:colId xmlns:a16="http://schemas.microsoft.com/office/drawing/2014/main" val="3977540476"/>
                        </a:ext>
                      </a:extLst>
                    </a:gridCol>
                    <a:gridCol w="1095902">
                      <a:extLst>
                        <a:ext uri="{9D8B030D-6E8A-4147-A177-3AD203B41FA5}">
                          <a16:colId xmlns:a16="http://schemas.microsoft.com/office/drawing/2014/main" val="1871227000"/>
                        </a:ext>
                      </a:extLst>
                    </a:gridCol>
                    <a:gridCol w="1095902">
                      <a:extLst>
                        <a:ext uri="{9D8B030D-6E8A-4147-A177-3AD203B41FA5}">
                          <a16:colId xmlns:a16="http://schemas.microsoft.com/office/drawing/2014/main" val="1501210995"/>
                        </a:ext>
                      </a:extLst>
                    </a:gridCol>
                  </a:tblGrid>
                  <a:tr h="370840">
                    <a:tc>
                      <a:txBody>
                        <a:bodyPr/>
                        <a:lstStyle/>
                        <a:p>
                          <a:pPr algn="ctr"/>
                          <a:endParaRPr kumimoji="1" lang="ja-JP" altLang="en-US" sz="1600">
                            <a:solidFill>
                              <a:schemeClr val="bg1"/>
                            </a:solidFill>
                          </a:endParaRPr>
                        </a:p>
                      </a:txBody>
                      <a:tcPr marL="83127" marR="83127"/>
                    </a:tc>
                    <a:tc gridSpan="2">
                      <a:txBody>
                        <a:bodyPr/>
                        <a:lstStyle/>
                        <a:p>
                          <a:pPr algn="ctr"/>
                          <a:r>
                            <a:rPr kumimoji="1" lang="ja-JP" altLang="en-US" sz="1600"/>
                            <a:t>神経症傾向</a:t>
                          </a:r>
                        </a:p>
                      </a:txBody>
                      <a:tcPr marL="83127" marR="83127"/>
                    </a:tc>
                    <a:tc hMerge="1">
                      <a:txBody>
                        <a:bodyPr/>
                        <a:lstStyle/>
                        <a:p>
                          <a:endParaRPr kumimoji="1" lang="ja-JP" altLang="en-US"/>
                        </a:p>
                      </a:txBody>
                      <a:tcPr/>
                    </a:tc>
                    <a:tc gridSpan="2">
                      <a:txBody>
                        <a:bodyPr/>
                        <a:lstStyle/>
                        <a:p>
                          <a:pPr algn="ctr"/>
                          <a:r>
                            <a:rPr kumimoji="1" lang="ja-JP" altLang="en-US" sz="1600"/>
                            <a:t>外向性</a:t>
                          </a:r>
                        </a:p>
                      </a:txBody>
                      <a:tcPr marL="83127" marR="83127"/>
                    </a:tc>
                    <a:tc hMerge="1">
                      <a:txBody>
                        <a:bodyPr/>
                        <a:lstStyle/>
                        <a:p>
                          <a:endParaRPr kumimoji="1" lang="ja-JP" altLang="en-US"/>
                        </a:p>
                      </a:txBody>
                      <a:tcPr/>
                    </a:tc>
                    <a:tc gridSpan="2">
                      <a:txBody>
                        <a:bodyPr/>
                        <a:lstStyle/>
                        <a:p>
                          <a:pPr algn="ctr"/>
                          <a:r>
                            <a:rPr kumimoji="1" lang="ja-JP" altLang="en-US" sz="1600"/>
                            <a:t>経験への開放性</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bg1"/>
                              </a:solidFill>
                            </a:rPr>
                            <a:t>因子の値</a:t>
                          </a: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extLst>
                      <a:ext uri="{0D108BD9-81ED-4DB2-BD59-A6C34878D82A}">
                        <a16:rowId xmlns:a16="http://schemas.microsoft.com/office/drawing/2014/main" val="1780244524"/>
                      </a:ext>
                    </a:extLst>
                  </a:tr>
                  <a:tr h="370840">
                    <a:tc>
                      <a:txBody>
                        <a:bodyPr/>
                        <a:lstStyle/>
                        <a:p>
                          <a:pPr algn="ctr"/>
                          <a14:m>
                            <m:oMath xmlns:m="http://schemas.openxmlformats.org/officeDocument/2006/math">
                              <m:r>
                                <a:rPr kumimoji="1" lang="en-US" altLang="ja-JP" sz="1600" b="0" i="1" smtClean="0">
                                  <a:latin typeface="Cambria Math" panose="02040503050406030204" pitchFamily="18" charset="0"/>
                                </a:rPr>
                                <m:t>𝛼</m:t>
                              </m:r>
                            </m:oMath>
                          </a14:m>
                          <a:r>
                            <a:rPr kumimoji="1" lang="ja-JP" altLang="en-US" sz="1600">
                              <a:solidFill>
                                <a:schemeClr val="bg1"/>
                              </a:solidFill>
                            </a:rPr>
                            <a:t>の値</a:t>
                          </a:r>
                        </a:p>
                      </a:txBody>
                      <a:tcPr marL="68700" marR="68700"/>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0.1</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0.8</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0.6</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0.3</a:t>
                          </a:r>
                          <a:endParaRPr kumimoji="1" lang="ja-JP" altLang="en-US" sz="1600">
                            <a:solidFill>
                              <a:schemeClr val="tx1"/>
                            </a:solidFill>
                          </a:endParaRPr>
                        </a:p>
                      </a:txBody>
                      <a:tcPr marL="68700" marR="68700"/>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68700" marR="68700"/>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60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extLst>
                      <a:ext uri="{0D108BD9-81ED-4DB2-BD59-A6C34878D82A}">
                        <a16:rowId xmlns:a16="http://schemas.microsoft.com/office/drawing/2014/main" val="1442960975"/>
                      </a:ext>
                    </a:extLst>
                  </a:tr>
                </a:tbl>
              </a:graphicData>
            </a:graphic>
          </p:graphicFrame>
        </mc:Choice>
        <mc:Fallback xmlns="">
          <p:graphicFrame>
            <p:nvGraphicFramePr>
              <p:cNvPr id="15" name="表 14">
                <a:extLst>
                  <a:ext uri="{FF2B5EF4-FFF2-40B4-BE49-F238E27FC236}">
                    <a16:creationId xmlns:a16="http://schemas.microsoft.com/office/drawing/2014/main" id="{158DABA9-5844-B54C-9C55-838592FE5352}"/>
                  </a:ext>
                </a:extLst>
              </p:cNvPr>
              <p:cNvGraphicFramePr>
                <a:graphicFrameLocks noGrp="1"/>
              </p:cNvGraphicFramePr>
              <p:nvPr>
                <p:extLst>
                  <p:ext uri="{D42A27DB-BD31-4B8C-83A1-F6EECF244321}">
                    <p14:modId xmlns:p14="http://schemas.microsoft.com/office/powerpoint/2010/main" val="553559602"/>
                  </p:ext>
                </p:extLst>
              </p:nvPr>
            </p:nvGraphicFramePr>
            <p:xfrm>
              <a:off x="632454" y="3362896"/>
              <a:ext cx="7907412" cy="1483360"/>
            </p:xfrm>
            <a:graphic>
              <a:graphicData uri="http://schemas.openxmlformats.org/drawingml/2006/table">
                <a:tbl>
                  <a:tblPr firstRow="1" firstCol="1" bandRow="1">
                    <a:tableStyleId>{5C22544A-7EE6-4342-B048-85BDC9FD1C3A}</a:tableStyleId>
                  </a:tblPr>
                  <a:tblGrid>
                    <a:gridCol w="1332000">
                      <a:extLst>
                        <a:ext uri="{9D8B030D-6E8A-4147-A177-3AD203B41FA5}">
                          <a16:colId xmlns:a16="http://schemas.microsoft.com/office/drawing/2014/main" val="867293798"/>
                        </a:ext>
                      </a:extLst>
                    </a:gridCol>
                    <a:gridCol w="1095902">
                      <a:extLst>
                        <a:ext uri="{9D8B030D-6E8A-4147-A177-3AD203B41FA5}">
                          <a16:colId xmlns:a16="http://schemas.microsoft.com/office/drawing/2014/main" val="2450102447"/>
                        </a:ext>
                      </a:extLst>
                    </a:gridCol>
                    <a:gridCol w="1095902">
                      <a:extLst>
                        <a:ext uri="{9D8B030D-6E8A-4147-A177-3AD203B41FA5}">
                          <a16:colId xmlns:a16="http://schemas.microsoft.com/office/drawing/2014/main" val="3506212313"/>
                        </a:ext>
                      </a:extLst>
                    </a:gridCol>
                    <a:gridCol w="1095902">
                      <a:extLst>
                        <a:ext uri="{9D8B030D-6E8A-4147-A177-3AD203B41FA5}">
                          <a16:colId xmlns:a16="http://schemas.microsoft.com/office/drawing/2014/main" val="1159568895"/>
                        </a:ext>
                      </a:extLst>
                    </a:gridCol>
                    <a:gridCol w="1095902">
                      <a:extLst>
                        <a:ext uri="{9D8B030D-6E8A-4147-A177-3AD203B41FA5}">
                          <a16:colId xmlns:a16="http://schemas.microsoft.com/office/drawing/2014/main" val="3977540476"/>
                        </a:ext>
                      </a:extLst>
                    </a:gridCol>
                    <a:gridCol w="1095902">
                      <a:extLst>
                        <a:ext uri="{9D8B030D-6E8A-4147-A177-3AD203B41FA5}">
                          <a16:colId xmlns:a16="http://schemas.microsoft.com/office/drawing/2014/main" val="1871227000"/>
                        </a:ext>
                      </a:extLst>
                    </a:gridCol>
                    <a:gridCol w="1095902">
                      <a:extLst>
                        <a:ext uri="{9D8B030D-6E8A-4147-A177-3AD203B41FA5}">
                          <a16:colId xmlns:a16="http://schemas.microsoft.com/office/drawing/2014/main" val="1501210995"/>
                        </a:ext>
                      </a:extLst>
                    </a:gridCol>
                  </a:tblGrid>
                  <a:tr h="370840">
                    <a:tc>
                      <a:txBody>
                        <a:bodyPr/>
                        <a:lstStyle/>
                        <a:p>
                          <a:pPr algn="ctr"/>
                          <a:endParaRPr kumimoji="1" lang="ja-JP" altLang="en-US" sz="1600">
                            <a:solidFill>
                              <a:schemeClr val="bg1"/>
                            </a:solidFill>
                          </a:endParaRPr>
                        </a:p>
                      </a:txBody>
                      <a:tcPr marL="83127" marR="83127"/>
                    </a:tc>
                    <a:tc gridSpan="2">
                      <a:txBody>
                        <a:bodyPr/>
                        <a:lstStyle/>
                        <a:p>
                          <a:pPr algn="ctr"/>
                          <a:r>
                            <a:rPr kumimoji="1" lang="ja-JP" altLang="en-US" sz="1600"/>
                            <a:t>神経症傾向</a:t>
                          </a:r>
                        </a:p>
                      </a:txBody>
                      <a:tcPr marL="83127" marR="83127"/>
                    </a:tc>
                    <a:tc hMerge="1">
                      <a:txBody>
                        <a:bodyPr/>
                        <a:lstStyle/>
                        <a:p>
                          <a:endParaRPr kumimoji="1" lang="ja-JP" altLang="en-US"/>
                        </a:p>
                      </a:txBody>
                      <a:tcPr/>
                    </a:tc>
                    <a:tc gridSpan="2">
                      <a:txBody>
                        <a:bodyPr/>
                        <a:lstStyle/>
                        <a:p>
                          <a:pPr algn="ctr"/>
                          <a:r>
                            <a:rPr kumimoji="1" lang="ja-JP" altLang="en-US" sz="1600"/>
                            <a:t>外向性</a:t>
                          </a:r>
                        </a:p>
                      </a:txBody>
                      <a:tcPr marL="83127" marR="83127"/>
                    </a:tc>
                    <a:tc hMerge="1">
                      <a:txBody>
                        <a:bodyPr/>
                        <a:lstStyle/>
                        <a:p>
                          <a:endParaRPr kumimoji="1" lang="ja-JP" altLang="en-US"/>
                        </a:p>
                      </a:txBody>
                      <a:tcPr/>
                    </a:tc>
                    <a:tc gridSpan="2">
                      <a:txBody>
                        <a:bodyPr/>
                        <a:lstStyle/>
                        <a:p>
                          <a:pPr algn="ctr"/>
                          <a:r>
                            <a:rPr kumimoji="1" lang="ja-JP" altLang="en-US" sz="1600"/>
                            <a:t>経験への開放性</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bg1"/>
                              </a:solidFill>
                            </a:rPr>
                            <a:t>因子の値</a:t>
                          </a: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extLst>
                      <a:ext uri="{0D108BD9-81ED-4DB2-BD59-A6C34878D82A}">
                        <a16:rowId xmlns:a16="http://schemas.microsoft.com/office/drawing/2014/main" val="1780244524"/>
                      </a:ext>
                    </a:extLst>
                  </a:tr>
                  <a:tr h="370840">
                    <a:tc>
                      <a:txBody>
                        <a:bodyPr/>
                        <a:lstStyle/>
                        <a:p>
                          <a:endParaRPr lang="ja-JP"/>
                        </a:p>
                      </a:txBody>
                      <a:tcPr marL="68700" marR="68700">
                        <a:blipFill>
                          <a:blip r:embed="rId5"/>
                          <a:stretch>
                            <a:fillRect l="-952" t="-200000" r="-495238" b="-106667"/>
                          </a:stretch>
                        </a:blipFill>
                      </a:tcPr>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0.1</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0.8</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0.6</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0.3</a:t>
                          </a:r>
                          <a:endParaRPr kumimoji="1" lang="ja-JP" altLang="en-US" sz="1600">
                            <a:solidFill>
                              <a:schemeClr val="tx1"/>
                            </a:solidFill>
                          </a:endParaRPr>
                        </a:p>
                      </a:txBody>
                      <a:tcPr marL="68700" marR="68700"/>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68700" marR="68700"/>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60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extLst>
                      <a:ext uri="{0D108BD9-81ED-4DB2-BD59-A6C34878D82A}">
                        <a16:rowId xmlns:a16="http://schemas.microsoft.com/office/drawing/2014/main" val="144296097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表 15">
                <a:extLst>
                  <a:ext uri="{FF2B5EF4-FFF2-40B4-BE49-F238E27FC236}">
                    <a16:creationId xmlns:a16="http://schemas.microsoft.com/office/drawing/2014/main" id="{6843A330-91E1-BC4C-9612-363CCCEC879F}"/>
                  </a:ext>
                </a:extLst>
              </p:cNvPr>
              <p:cNvGraphicFramePr>
                <a:graphicFrameLocks noGrp="1"/>
              </p:cNvGraphicFramePr>
              <p:nvPr>
                <p:extLst>
                  <p:ext uri="{D42A27DB-BD31-4B8C-83A1-F6EECF244321}">
                    <p14:modId xmlns:p14="http://schemas.microsoft.com/office/powerpoint/2010/main" val="331095937"/>
                  </p:ext>
                </p:extLst>
              </p:nvPr>
            </p:nvGraphicFramePr>
            <p:xfrm>
              <a:off x="1726071" y="5004435"/>
              <a:ext cx="5715608" cy="1483360"/>
            </p:xfrm>
            <a:graphic>
              <a:graphicData uri="http://schemas.openxmlformats.org/drawingml/2006/table">
                <a:tbl>
                  <a:tblPr firstRow="1" firstCol="1" bandRow="1">
                    <a:tableStyleId>{5C22544A-7EE6-4342-B048-85BDC9FD1C3A}</a:tableStyleId>
                  </a:tblPr>
                  <a:tblGrid>
                    <a:gridCol w="1332000">
                      <a:extLst>
                        <a:ext uri="{9D8B030D-6E8A-4147-A177-3AD203B41FA5}">
                          <a16:colId xmlns:a16="http://schemas.microsoft.com/office/drawing/2014/main" val="867293798"/>
                        </a:ext>
                      </a:extLst>
                    </a:gridCol>
                    <a:gridCol w="1095902">
                      <a:extLst>
                        <a:ext uri="{9D8B030D-6E8A-4147-A177-3AD203B41FA5}">
                          <a16:colId xmlns:a16="http://schemas.microsoft.com/office/drawing/2014/main" val="2450102447"/>
                        </a:ext>
                      </a:extLst>
                    </a:gridCol>
                    <a:gridCol w="1095902">
                      <a:extLst>
                        <a:ext uri="{9D8B030D-6E8A-4147-A177-3AD203B41FA5}">
                          <a16:colId xmlns:a16="http://schemas.microsoft.com/office/drawing/2014/main" val="3506212313"/>
                        </a:ext>
                      </a:extLst>
                    </a:gridCol>
                    <a:gridCol w="1095902">
                      <a:extLst>
                        <a:ext uri="{9D8B030D-6E8A-4147-A177-3AD203B41FA5}">
                          <a16:colId xmlns:a16="http://schemas.microsoft.com/office/drawing/2014/main" val="1159568895"/>
                        </a:ext>
                      </a:extLst>
                    </a:gridCol>
                    <a:gridCol w="1095902">
                      <a:extLst>
                        <a:ext uri="{9D8B030D-6E8A-4147-A177-3AD203B41FA5}">
                          <a16:colId xmlns:a16="http://schemas.microsoft.com/office/drawing/2014/main" val="3977540476"/>
                        </a:ext>
                      </a:extLst>
                    </a:gridCol>
                  </a:tblGrid>
                  <a:tr h="370840">
                    <a:tc>
                      <a:txBody>
                        <a:bodyPr/>
                        <a:lstStyle/>
                        <a:p>
                          <a:pPr algn="ctr"/>
                          <a:endParaRPr kumimoji="1" lang="ja-JP" altLang="en-US" sz="1600">
                            <a:solidFill>
                              <a:schemeClr val="bg1"/>
                            </a:solidFill>
                          </a:endParaRPr>
                        </a:p>
                      </a:txBody>
                      <a:tcPr marL="83127" marR="83127"/>
                    </a:tc>
                    <a:tc gridSpan="2">
                      <a:txBody>
                        <a:bodyPr/>
                        <a:lstStyle/>
                        <a:p>
                          <a:pPr algn="ctr"/>
                          <a:r>
                            <a:rPr kumimoji="1" lang="ja-JP" altLang="en-US" sz="1600"/>
                            <a:t>協調性</a:t>
                          </a:r>
                        </a:p>
                      </a:txBody>
                      <a:tcPr marL="83127" marR="83127"/>
                    </a:tc>
                    <a:tc hMerge="1">
                      <a:txBody>
                        <a:bodyPr/>
                        <a:lstStyle/>
                        <a:p>
                          <a:endParaRPr kumimoji="1" lang="ja-JP" altLang="en-US"/>
                        </a:p>
                      </a:txBody>
                      <a:tcPr/>
                    </a:tc>
                    <a:tc gridSpan="2">
                      <a:txBody>
                        <a:bodyPr/>
                        <a:lstStyle/>
                        <a:p>
                          <a:pPr algn="ctr"/>
                          <a:r>
                            <a:rPr kumimoji="1" lang="ja-JP" altLang="en-US" sz="1600"/>
                            <a:t>誠実性</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bg1"/>
                              </a:solidFill>
                            </a:rPr>
                            <a:t>因子の値</a:t>
                          </a: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extLst>
                      <a:ext uri="{0D108BD9-81ED-4DB2-BD59-A6C34878D82A}">
                        <a16:rowId xmlns:a16="http://schemas.microsoft.com/office/drawing/2014/main" val="1780244524"/>
                      </a:ext>
                    </a:extLst>
                  </a:tr>
                  <a:tr h="370840">
                    <a:tc>
                      <a:txBody>
                        <a:bodyPr/>
                        <a:lstStyle/>
                        <a:p>
                          <a:pPr algn="ctr"/>
                          <a14:m>
                            <m:oMath xmlns:m="http://schemas.openxmlformats.org/officeDocument/2006/math">
                              <m:r>
                                <a:rPr kumimoji="1" lang="en-US" altLang="ja-JP" sz="1600" b="0" i="1" smtClean="0">
                                  <a:latin typeface="Cambria Math" panose="02040503050406030204" pitchFamily="18" charset="0"/>
                                </a:rPr>
                                <m:t>𝛼</m:t>
                              </m:r>
                            </m:oMath>
                          </a14:m>
                          <a:r>
                            <a:rPr kumimoji="1" lang="ja-JP" altLang="en-US" sz="1600">
                              <a:solidFill>
                                <a:schemeClr val="bg1"/>
                              </a:solidFill>
                            </a:rPr>
                            <a:t>の値</a:t>
                          </a:r>
                        </a:p>
                      </a:txBody>
                      <a:tcPr marL="68700" marR="68700"/>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0.9</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0.1</a:t>
                          </a:r>
                          <a:endParaRPr kumimoji="1" lang="ja-JP" altLang="en-US" sz="1600">
                            <a:solidFill>
                              <a:schemeClr val="tx1"/>
                            </a:solidFill>
                          </a:endParaRPr>
                        </a:p>
                      </a:txBody>
                      <a:tcPr marL="68700" marR="68700"/>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extLst>
                      <a:ext uri="{0D108BD9-81ED-4DB2-BD59-A6C34878D82A}">
                        <a16:rowId xmlns:a16="http://schemas.microsoft.com/office/drawing/2014/main" val="3790916764"/>
                      </a:ext>
                    </a:extLst>
                  </a:tr>
                </a:tbl>
              </a:graphicData>
            </a:graphic>
          </p:graphicFrame>
        </mc:Choice>
        <mc:Fallback xmlns="">
          <p:graphicFrame>
            <p:nvGraphicFramePr>
              <p:cNvPr id="16" name="表 15">
                <a:extLst>
                  <a:ext uri="{FF2B5EF4-FFF2-40B4-BE49-F238E27FC236}">
                    <a16:creationId xmlns:a16="http://schemas.microsoft.com/office/drawing/2014/main" id="{6843A330-91E1-BC4C-9612-363CCCEC879F}"/>
                  </a:ext>
                </a:extLst>
              </p:cNvPr>
              <p:cNvGraphicFramePr>
                <a:graphicFrameLocks noGrp="1"/>
              </p:cNvGraphicFramePr>
              <p:nvPr>
                <p:extLst>
                  <p:ext uri="{D42A27DB-BD31-4B8C-83A1-F6EECF244321}">
                    <p14:modId xmlns:p14="http://schemas.microsoft.com/office/powerpoint/2010/main" val="331095937"/>
                  </p:ext>
                </p:extLst>
              </p:nvPr>
            </p:nvGraphicFramePr>
            <p:xfrm>
              <a:off x="1726071" y="5004435"/>
              <a:ext cx="5715608" cy="1483360"/>
            </p:xfrm>
            <a:graphic>
              <a:graphicData uri="http://schemas.openxmlformats.org/drawingml/2006/table">
                <a:tbl>
                  <a:tblPr firstRow="1" firstCol="1" bandRow="1">
                    <a:tableStyleId>{5C22544A-7EE6-4342-B048-85BDC9FD1C3A}</a:tableStyleId>
                  </a:tblPr>
                  <a:tblGrid>
                    <a:gridCol w="1332000">
                      <a:extLst>
                        <a:ext uri="{9D8B030D-6E8A-4147-A177-3AD203B41FA5}">
                          <a16:colId xmlns:a16="http://schemas.microsoft.com/office/drawing/2014/main" val="867293798"/>
                        </a:ext>
                      </a:extLst>
                    </a:gridCol>
                    <a:gridCol w="1095902">
                      <a:extLst>
                        <a:ext uri="{9D8B030D-6E8A-4147-A177-3AD203B41FA5}">
                          <a16:colId xmlns:a16="http://schemas.microsoft.com/office/drawing/2014/main" val="2450102447"/>
                        </a:ext>
                      </a:extLst>
                    </a:gridCol>
                    <a:gridCol w="1095902">
                      <a:extLst>
                        <a:ext uri="{9D8B030D-6E8A-4147-A177-3AD203B41FA5}">
                          <a16:colId xmlns:a16="http://schemas.microsoft.com/office/drawing/2014/main" val="3506212313"/>
                        </a:ext>
                      </a:extLst>
                    </a:gridCol>
                    <a:gridCol w="1095902">
                      <a:extLst>
                        <a:ext uri="{9D8B030D-6E8A-4147-A177-3AD203B41FA5}">
                          <a16:colId xmlns:a16="http://schemas.microsoft.com/office/drawing/2014/main" val="1159568895"/>
                        </a:ext>
                      </a:extLst>
                    </a:gridCol>
                    <a:gridCol w="1095902">
                      <a:extLst>
                        <a:ext uri="{9D8B030D-6E8A-4147-A177-3AD203B41FA5}">
                          <a16:colId xmlns:a16="http://schemas.microsoft.com/office/drawing/2014/main" val="3977540476"/>
                        </a:ext>
                      </a:extLst>
                    </a:gridCol>
                  </a:tblGrid>
                  <a:tr h="370840">
                    <a:tc>
                      <a:txBody>
                        <a:bodyPr/>
                        <a:lstStyle/>
                        <a:p>
                          <a:pPr algn="ctr"/>
                          <a:endParaRPr kumimoji="1" lang="ja-JP" altLang="en-US" sz="1600">
                            <a:solidFill>
                              <a:schemeClr val="bg1"/>
                            </a:solidFill>
                          </a:endParaRPr>
                        </a:p>
                      </a:txBody>
                      <a:tcPr marL="83127" marR="83127"/>
                    </a:tc>
                    <a:tc gridSpan="2">
                      <a:txBody>
                        <a:bodyPr/>
                        <a:lstStyle/>
                        <a:p>
                          <a:pPr algn="ctr"/>
                          <a:r>
                            <a:rPr kumimoji="1" lang="ja-JP" altLang="en-US" sz="1600"/>
                            <a:t>協調性</a:t>
                          </a:r>
                        </a:p>
                      </a:txBody>
                      <a:tcPr marL="83127" marR="83127"/>
                    </a:tc>
                    <a:tc hMerge="1">
                      <a:txBody>
                        <a:bodyPr/>
                        <a:lstStyle/>
                        <a:p>
                          <a:endParaRPr kumimoji="1" lang="ja-JP" altLang="en-US"/>
                        </a:p>
                      </a:txBody>
                      <a:tcPr/>
                    </a:tc>
                    <a:tc gridSpan="2">
                      <a:txBody>
                        <a:bodyPr/>
                        <a:lstStyle/>
                        <a:p>
                          <a:pPr algn="ctr"/>
                          <a:r>
                            <a:rPr kumimoji="1" lang="ja-JP" altLang="en-US" sz="1600"/>
                            <a:t>誠実性</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bg1"/>
                              </a:solidFill>
                            </a:rPr>
                            <a:t>因子の値</a:t>
                          </a: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高い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低い</a:t>
                          </a:r>
                          <a:r>
                            <a:rPr kumimoji="1" lang="en-US" altLang="ja-JP" sz="1600" dirty="0">
                              <a:solidFill>
                                <a:schemeClr val="accent3"/>
                              </a:solidFill>
                            </a:rPr>
                            <a:t>(-1.0)</a:t>
                          </a:r>
                          <a:endParaRPr kumimoji="1" lang="ja-JP" altLang="en-US" sz="1600">
                            <a:solidFill>
                              <a:schemeClr val="accent3"/>
                            </a:solidFill>
                          </a:endParaRPr>
                        </a:p>
                      </a:txBody>
                      <a:tcPr marL="68700" marR="68700"/>
                    </a:tc>
                    <a:extLst>
                      <a:ext uri="{0D108BD9-81ED-4DB2-BD59-A6C34878D82A}">
                        <a16:rowId xmlns:a16="http://schemas.microsoft.com/office/drawing/2014/main" val="1780244524"/>
                      </a:ext>
                    </a:extLst>
                  </a:tr>
                  <a:tr h="370840">
                    <a:tc>
                      <a:txBody>
                        <a:bodyPr/>
                        <a:lstStyle/>
                        <a:p>
                          <a:endParaRPr lang="ja-JP"/>
                        </a:p>
                      </a:txBody>
                      <a:tcPr marL="68700" marR="68700">
                        <a:blipFill>
                          <a:blip r:embed="rId6"/>
                          <a:stretch>
                            <a:fillRect t="-210345" r="-331429" b="-113793"/>
                          </a:stretch>
                        </a:blipFill>
                      </a:tcPr>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0.9</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0.1</a:t>
                          </a:r>
                          <a:endParaRPr kumimoji="1" lang="ja-JP" altLang="en-US" sz="1600">
                            <a:solidFill>
                              <a:schemeClr val="tx1"/>
                            </a:solidFill>
                          </a:endParaRPr>
                        </a:p>
                      </a:txBody>
                      <a:tcPr marL="68700" marR="68700"/>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extLst>
                      <a:ext uri="{0D108BD9-81ED-4DB2-BD59-A6C34878D82A}">
                        <a16:rowId xmlns:a16="http://schemas.microsoft.com/office/drawing/2014/main" val="3790916764"/>
                      </a:ext>
                    </a:extLst>
                  </a:tr>
                </a:tbl>
              </a:graphicData>
            </a:graphic>
          </p:graphicFrame>
        </mc:Fallback>
      </mc:AlternateContent>
      <p:grpSp>
        <p:nvGrpSpPr>
          <p:cNvPr id="17" name="グループ化 16">
            <a:extLst>
              <a:ext uri="{FF2B5EF4-FFF2-40B4-BE49-F238E27FC236}">
                <a16:creationId xmlns:a16="http://schemas.microsoft.com/office/drawing/2014/main" id="{BB33EF45-6FED-3F47-B2DD-F0CC4272BDFF}"/>
              </a:ext>
            </a:extLst>
          </p:cNvPr>
          <p:cNvGrpSpPr/>
          <p:nvPr/>
        </p:nvGrpSpPr>
        <p:grpSpPr>
          <a:xfrm>
            <a:off x="6422824" y="824915"/>
            <a:ext cx="2686889" cy="2458891"/>
            <a:chOff x="4259517" y="3268537"/>
            <a:chExt cx="3251136" cy="2975259"/>
          </a:xfrm>
        </p:grpSpPr>
        <p:sp>
          <p:nvSpPr>
            <p:cNvPr id="18" name="テキスト ボックス 17">
              <a:extLst>
                <a:ext uri="{FF2B5EF4-FFF2-40B4-BE49-F238E27FC236}">
                  <a16:creationId xmlns:a16="http://schemas.microsoft.com/office/drawing/2014/main" id="{A1099865-6CD9-C24E-AD0C-7914B78977E4}"/>
                </a:ext>
              </a:extLst>
            </p:cNvPr>
            <p:cNvSpPr txBox="1"/>
            <p:nvPr/>
          </p:nvSpPr>
          <p:spPr>
            <a:xfrm>
              <a:off x="5300057" y="3268537"/>
              <a:ext cx="1154469" cy="558615"/>
            </a:xfrm>
            <a:prstGeom prst="rect">
              <a:avLst/>
            </a:prstGeom>
            <a:noFill/>
          </p:spPr>
          <p:txBody>
            <a:bodyPr wrap="none" rtlCol="0">
              <a:spAutoFit/>
            </a:bodyPr>
            <a:lstStyle/>
            <a:p>
              <a:pPr algn="ctr"/>
              <a:r>
                <a:rPr kumimoji="1" lang="ja-JP" altLang="en-US" sz="1200"/>
                <a:t>神経症傾向</a:t>
              </a:r>
              <a:endParaRPr kumimoji="1" lang="en-US" altLang="ja-JP" sz="1200" dirty="0"/>
            </a:p>
            <a:p>
              <a:pPr algn="ctr"/>
              <a:r>
                <a:rPr kumimoji="1" lang="en-US" altLang="ja-JP" sz="1200" dirty="0"/>
                <a:t>(N)</a:t>
              </a:r>
              <a:endParaRPr kumimoji="1" lang="ja-JP" altLang="en-US" sz="1200"/>
            </a:p>
          </p:txBody>
        </p:sp>
        <p:sp>
          <p:nvSpPr>
            <p:cNvPr id="19" name="テキスト ボックス 18">
              <a:extLst>
                <a:ext uri="{FF2B5EF4-FFF2-40B4-BE49-F238E27FC236}">
                  <a16:creationId xmlns:a16="http://schemas.microsoft.com/office/drawing/2014/main" id="{8AF5FDBF-425C-D44E-A2F2-F73613A2387C}"/>
                </a:ext>
              </a:extLst>
            </p:cNvPr>
            <p:cNvSpPr txBox="1"/>
            <p:nvPr/>
          </p:nvSpPr>
          <p:spPr>
            <a:xfrm>
              <a:off x="5779106" y="5682852"/>
              <a:ext cx="1526880" cy="558615"/>
            </a:xfrm>
            <a:prstGeom prst="rect">
              <a:avLst/>
            </a:prstGeom>
            <a:noFill/>
          </p:spPr>
          <p:txBody>
            <a:bodyPr wrap="none" rtlCol="0">
              <a:spAutoFit/>
            </a:bodyPr>
            <a:lstStyle/>
            <a:p>
              <a:pPr algn="ctr"/>
              <a:r>
                <a:rPr kumimoji="1" lang="ja-JP" altLang="en-US" sz="1200"/>
                <a:t>経験への開放性</a:t>
              </a:r>
              <a:endParaRPr kumimoji="1" lang="en-US" altLang="ja-JP" sz="1200" dirty="0"/>
            </a:p>
            <a:p>
              <a:pPr algn="ctr"/>
              <a:r>
                <a:rPr kumimoji="1" lang="en-US" altLang="ja-JP" sz="1200" dirty="0"/>
                <a:t>(O)</a:t>
              </a:r>
              <a:endParaRPr kumimoji="1" lang="ja-JP" altLang="en-US" sz="1200"/>
            </a:p>
          </p:txBody>
        </p:sp>
        <p:sp>
          <p:nvSpPr>
            <p:cNvPr id="20" name="テキスト ボックス 19">
              <a:extLst>
                <a:ext uri="{FF2B5EF4-FFF2-40B4-BE49-F238E27FC236}">
                  <a16:creationId xmlns:a16="http://schemas.microsoft.com/office/drawing/2014/main" id="{802824FD-E82C-1842-9798-089C70848E14}"/>
                </a:ext>
              </a:extLst>
            </p:cNvPr>
            <p:cNvSpPr txBox="1"/>
            <p:nvPr/>
          </p:nvSpPr>
          <p:spPr>
            <a:xfrm>
              <a:off x="6728591" y="4236252"/>
              <a:ext cx="782062" cy="558615"/>
            </a:xfrm>
            <a:prstGeom prst="rect">
              <a:avLst/>
            </a:prstGeom>
            <a:noFill/>
          </p:spPr>
          <p:txBody>
            <a:bodyPr wrap="none" rtlCol="0">
              <a:spAutoFit/>
            </a:bodyPr>
            <a:lstStyle/>
            <a:p>
              <a:pPr algn="ctr"/>
              <a:r>
                <a:rPr kumimoji="1" lang="ja-JP" altLang="en-US" sz="1200"/>
                <a:t>外向性</a:t>
              </a:r>
              <a:endParaRPr kumimoji="1" lang="en-US" altLang="ja-JP" sz="1200" dirty="0"/>
            </a:p>
            <a:p>
              <a:pPr algn="ctr"/>
              <a:r>
                <a:rPr kumimoji="1" lang="en-US" altLang="ja-JP" sz="1200" dirty="0"/>
                <a:t>(E)</a:t>
              </a:r>
              <a:endParaRPr kumimoji="1" lang="ja-JP" altLang="en-US" sz="1200"/>
            </a:p>
          </p:txBody>
        </p:sp>
        <p:sp>
          <p:nvSpPr>
            <p:cNvPr id="21" name="テキスト ボックス 20">
              <a:extLst>
                <a:ext uri="{FF2B5EF4-FFF2-40B4-BE49-F238E27FC236}">
                  <a16:creationId xmlns:a16="http://schemas.microsoft.com/office/drawing/2014/main" id="{B3F11531-8D7D-BF48-A970-64BA7398BA2B}"/>
                </a:ext>
              </a:extLst>
            </p:cNvPr>
            <p:cNvSpPr txBox="1"/>
            <p:nvPr/>
          </p:nvSpPr>
          <p:spPr>
            <a:xfrm>
              <a:off x="4751367" y="5685181"/>
              <a:ext cx="782062" cy="558615"/>
            </a:xfrm>
            <a:prstGeom prst="rect">
              <a:avLst/>
            </a:prstGeom>
            <a:noFill/>
          </p:spPr>
          <p:txBody>
            <a:bodyPr wrap="none" rtlCol="0">
              <a:spAutoFit/>
            </a:bodyPr>
            <a:lstStyle/>
            <a:p>
              <a:pPr algn="ctr"/>
              <a:r>
                <a:rPr kumimoji="1" lang="ja-JP" altLang="en-US" sz="1200"/>
                <a:t>協調性</a:t>
              </a:r>
              <a:endParaRPr kumimoji="1" lang="en-US" altLang="ja-JP" sz="1200" dirty="0"/>
            </a:p>
            <a:p>
              <a:pPr algn="ctr"/>
              <a:r>
                <a:rPr kumimoji="1" lang="en-US" altLang="ja-JP" sz="1200" dirty="0"/>
                <a:t>(A)</a:t>
              </a:r>
              <a:endParaRPr kumimoji="1" lang="ja-JP" altLang="en-US" sz="1200"/>
            </a:p>
          </p:txBody>
        </p:sp>
        <p:sp>
          <p:nvSpPr>
            <p:cNvPr id="22" name="テキスト ボックス 21">
              <a:extLst>
                <a:ext uri="{FF2B5EF4-FFF2-40B4-BE49-F238E27FC236}">
                  <a16:creationId xmlns:a16="http://schemas.microsoft.com/office/drawing/2014/main" id="{CCBDDA0E-8B50-F24D-9572-BBFD664DEFC1}"/>
                </a:ext>
              </a:extLst>
            </p:cNvPr>
            <p:cNvSpPr txBox="1"/>
            <p:nvPr/>
          </p:nvSpPr>
          <p:spPr>
            <a:xfrm>
              <a:off x="4259517" y="4236252"/>
              <a:ext cx="782061" cy="558615"/>
            </a:xfrm>
            <a:prstGeom prst="rect">
              <a:avLst/>
            </a:prstGeom>
            <a:noFill/>
          </p:spPr>
          <p:txBody>
            <a:bodyPr wrap="none" rtlCol="0">
              <a:spAutoFit/>
            </a:bodyPr>
            <a:lstStyle/>
            <a:p>
              <a:r>
                <a:rPr kumimoji="1" lang="ja-JP" altLang="en-US" sz="1200"/>
                <a:t>誠実性</a:t>
              </a:r>
              <a:endParaRPr kumimoji="1" lang="en-US" altLang="ja-JP" sz="1200" dirty="0"/>
            </a:p>
            <a:p>
              <a:pPr algn="ctr"/>
              <a:r>
                <a:rPr kumimoji="1" lang="en-US" altLang="ja-JP" sz="1200" dirty="0"/>
                <a:t>(C)</a:t>
              </a:r>
              <a:endParaRPr kumimoji="1" lang="ja-JP" altLang="en-US" sz="1200"/>
            </a:p>
          </p:txBody>
        </p:sp>
        <p:grpSp>
          <p:nvGrpSpPr>
            <p:cNvPr id="24" name="グループ化 23">
              <a:extLst>
                <a:ext uri="{FF2B5EF4-FFF2-40B4-BE49-F238E27FC236}">
                  <a16:creationId xmlns:a16="http://schemas.microsoft.com/office/drawing/2014/main" id="{8B358B22-F695-084A-859B-8A4D2D52794D}"/>
                </a:ext>
              </a:extLst>
            </p:cNvPr>
            <p:cNvGrpSpPr/>
            <p:nvPr/>
          </p:nvGrpSpPr>
          <p:grpSpPr>
            <a:xfrm>
              <a:off x="4938565" y="3795935"/>
              <a:ext cx="1865455" cy="1865455"/>
              <a:chOff x="4938565" y="3795935"/>
              <a:chExt cx="1865455" cy="1865455"/>
            </a:xfrm>
          </p:grpSpPr>
          <p:sp>
            <p:nvSpPr>
              <p:cNvPr id="25" name="五角形 24">
                <a:extLst>
                  <a:ext uri="{FF2B5EF4-FFF2-40B4-BE49-F238E27FC236}">
                    <a16:creationId xmlns:a16="http://schemas.microsoft.com/office/drawing/2014/main" id="{76AA9D6F-1A9E-ED46-B881-75E156115609}"/>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26" name="直線コネクタ 25">
                <a:extLst>
                  <a:ext uri="{FF2B5EF4-FFF2-40B4-BE49-F238E27FC236}">
                    <a16:creationId xmlns:a16="http://schemas.microsoft.com/office/drawing/2014/main" id="{B8F263E4-5D04-0942-8746-E285EC36E29D}"/>
                  </a:ext>
                </a:extLst>
              </p:cNvPr>
              <p:cNvCxnSpPr>
                <a:cxnSpLocks/>
                <a:stCxn id="25" idx="0"/>
                <a:endCxn id="31"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71DCF76-0BE6-BE4B-9F50-06AE5C70CBF2}"/>
                  </a:ext>
                </a:extLst>
              </p:cNvPr>
              <p:cNvCxnSpPr>
                <a:cxnSpLocks/>
                <a:stCxn id="31" idx="3"/>
                <a:endCxn id="25"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DBD06E37-5C35-5C4E-B4C8-7501F905302A}"/>
                  </a:ext>
                </a:extLst>
              </p:cNvPr>
              <p:cNvCxnSpPr>
                <a:cxnSpLocks/>
                <a:stCxn id="31" idx="5"/>
                <a:endCxn id="25"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35B9A88-2739-4F44-A9A6-E0C62F4834E9}"/>
                  </a:ext>
                </a:extLst>
              </p:cNvPr>
              <p:cNvCxnSpPr>
                <a:cxnSpLocks/>
                <a:stCxn id="31" idx="6"/>
                <a:endCxn id="25"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402049FF-C22E-7841-8EAF-6FB2A072F58D}"/>
                  </a:ext>
                </a:extLst>
              </p:cNvPr>
              <p:cNvCxnSpPr>
                <a:cxnSpLocks/>
                <a:stCxn id="25" idx="1"/>
                <a:endCxn id="31"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1" name="円/楕円 30">
                <a:extLst>
                  <a:ext uri="{FF2B5EF4-FFF2-40B4-BE49-F238E27FC236}">
                    <a16:creationId xmlns:a16="http://schemas.microsoft.com/office/drawing/2014/main" id="{083C7518-8D03-1044-BCB1-968E474D13E9}"/>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2" name="五角形 278">
                <a:extLst>
                  <a:ext uri="{FF2B5EF4-FFF2-40B4-BE49-F238E27FC236}">
                    <a16:creationId xmlns:a16="http://schemas.microsoft.com/office/drawing/2014/main" id="{811E5015-BC19-5845-B164-70D0F0CA7CA4}"/>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spTree>
    <p:extLst>
      <p:ext uri="{BB962C8B-B14F-4D97-AF65-F5344CB8AC3E}">
        <p14:creationId xmlns:p14="http://schemas.microsoft.com/office/powerpoint/2010/main" val="945910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提案手法</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15</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4</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379674" cy="680876"/>
            <a:chOff x="163626" y="1160115"/>
            <a:chExt cx="3379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379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TKI</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積極性</a:t>
            </a:r>
            <a:r>
              <a:rPr lang="ja-JP" altLang="en-US"/>
              <a:t>・</a:t>
            </a:r>
            <a:br>
              <a:rPr lang="en-US" altLang="ja-JP" dirty="0">
                <a:solidFill>
                  <a:schemeClr val="accent1"/>
                </a:solidFill>
              </a:rPr>
            </a:br>
            <a:r>
              <a:rPr lang="ja-JP" altLang="en-US">
                <a:solidFill>
                  <a:schemeClr val="accent1"/>
                </a:solidFill>
              </a:rPr>
              <a:t>協調性</a:t>
            </a:r>
            <a:r>
              <a:rPr lang="ja-JP" altLang="en-US"/>
              <a:t>の値を求める</a:t>
            </a:r>
            <a:endParaRPr lang="en-US" altLang="ja-JP" dirty="0"/>
          </a:p>
          <a:p>
            <a:r>
              <a:rPr lang="ja-JP" altLang="en-US"/>
              <a:t>積極性・協調性の値から各カテゴリに分類される</a:t>
            </a:r>
            <a:br>
              <a:rPr lang="en-US" altLang="ja-JP" dirty="0"/>
            </a:br>
            <a:r>
              <a:rPr lang="ja-JP" altLang="en-US"/>
              <a:t>確率を求めてこれをもとに</a:t>
            </a:r>
            <a:r>
              <a:rPr lang="ja-JP" altLang="en-US">
                <a:solidFill>
                  <a:schemeClr val="accent2"/>
                </a:solidFill>
              </a:rPr>
              <a:t>譲歩速度などを変更</a:t>
            </a:r>
            <a:endParaRPr lang="en-US" altLang="ja-JP" dirty="0">
              <a:solidFill>
                <a:schemeClr val="accent2"/>
              </a:solidFill>
            </a:endParaRPr>
          </a:p>
        </p:txBody>
      </p:sp>
      <p:sp>
        <p:nvSpPr>
          <p:cNvPr id="38" name="左矢印 37">
            <a:extLst>
              <a:ext uri="{FF2B5EF4-FFF2-40B4-BE49-F238E27FC236}">
                <a16:creationId xmlns:a16="http://schemas.microsoft.com/office/drawing/2014/main" id="{D19B10C1-FF99-644C-9DE5-72D7541AD8CB}"/>
              </a:ext>
            </a:extLst>
          </p:cNvPr>
          <p:cNvSpPr/>
          <p:nvPr/>
        </p:nvSpPr>
        <p:spPr>
          <a:xfrm flipH="1">
            <a:off x="4894227" y="4672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0" name="グループ化 39">
            <a:extLst>
              <a:ext uri="{FF2B5EF4-FFF2-40B4-BE49-F238E27FC236}">
                <a16:creationId xmlns:a16="http://schemas.microsoft.com/office/drawing/2014/main" id="{B8B88F42-299A-5A4C-94D5-5C0FAC23C027}"/>
              </a:ext>
            </a:extLst>
          </p:cNvPr>
          <p:cNvGrpSpPr/>
          <p:nvPr/>
        </p:nvGrpSpPr>
        <p:grpSpPr>
          <a:xfrm>
            <a:off x="5430251" y="3882263"/>
            <a:ext cx="2067461" cy="2448664"/>
            <a:chOff x="4947651" y="3882263"/>
            <a:chExt cx="2067461" cy="2448664"/>
          </a:xfrm>
        </p:grpSpPr>
        <p:sp>
          <p:nvSpPr>
            <p:cNvPr id="41" name="テキスト ボックス 40">
              <a:extLst>
                <a:ext uri="{FF2B5EF4-FFF2-40B4-BE49-F238E27FC236}">
                  <a16:creationId xmlns:a16="http://schemas.microsoft.com/office/drawing/2014/main" id="{47CEB527-E5FD-984F-A083-A7F24DECDDE4}"/>
                </a:ext>
              </a:extLst>
            </p:cNvPr>
            <p:cNvSpPr txBox="1"/>
            <p:nvPr/>
          </p:nvSpPr>
          <p:spPr>
            <a:xfrm>
              <a:off x="4947651" y="5684596"/>
              <a:ext cx="2067461" cy="646331"/>
            </a:xfrm>
            <a:prstGeom prst="rect">
              <a:avLst/>
            </a:prstGeom>
            <a:noFill/>
          </p:spPr>
          <p:txBody>
            <a:bodyPr wrap="square" rtlCol="0">
              <a:spAutoFit/>
            </a:bodyPr>
            <a:lstStyle/>
            <a:p>
              <a:pPr algn="ctr"/>
              <a:r>
                <a:rPr kumimoji="1" lang="ja-JP" altLang="en-US"/>
                <a:t>譲歩速度</a:t>
              </a:r>
              <a:r>
                <a:rPr kumimoji="1" lang="ja-JP" altLang="en-US">
                  <a:solidFill>
                    <a:schemeClr val="accent3"/>
                  </a:solidFill>
                </a:rPr>
                <a:t>やや早め</a:t>
              </a:r>
              <a:endParaRPr kumimoji="1" lang="en-US" altLang="ja-JP" dirty="0">
                <a:solidFill>
                  <a:schemeClr val="accent3"/>
                </a:solidFill>
              </a:endParaRPr>
            </a:p>
            <a:p>
              <a:pPr algn="ctr"/>
              <a:r>
                <a:rPr kumimoji="1" lang="en-US" altLang="ja-JP" dirty="0"/>
                <a:t>(</a:t>
              </a:r>
              <a:r>
                <a:rPr kumimoji="1" lang="ja-JP" altLang="en-US"/>
                <a:t>混合比</a:t>
              </a:r>
              <a:r>
                <a:rPr kumimoji="1" lang="en-US" altLang="ja-JP" dirty="0"/>
                <a:t>1:3)</a:t>
              </a:r>
              <a:endParaRPr kumimoji="1" lang="ja-JP" altLang="en-US"/>
            </a:p>
          </p:txBody>
        </p:sp>
        <p:grpSp>
          <p:nvGrpSpPr>
            <p:cNvPr id="42" name="グループ化 41">
              <a:extLst>
                <a:ext uri="{FF2B5EF4-FFF2-40B4-BE49-F238E27FC236}">
                  <a16:creationId xmlns:a16="http://schemas.microsoft.com/office/drawing/2014/main" id="{80E98052-843B-D648-AE86-0DB95D9555A5}"/>
                </a:ext>
              </a:extLst>
            </p:cNvPr>
            <p:cNvGrpSpPr/>
            <p:nvPr/>
          </p:nvGrpSpPr>
          <p:grpSpPr>
            <a:xfrm>
              <a:off x="5048817" y="3882263"/>
              <a:ext cx="1690907" cy="1690907"/>
              <a:chOff x="5048817" y="3742563"/>
              <a:chExt cx="1690907" cy="1690907"/>
            </a:xfrm>
          </p:grpSpPr>
          <p:sp>
            <p:nvSpPr>
              <p:cNvPr id="43" name="フリーフォーム 42">
                <a:extLst>
                  <a:ext uri="{FF2B5EF4-FFF2-40B4-BE49-F238E27FC236}">
                    <a16:creationId xmlns:a16="http://schemas.microsoft.com/office/drawing/2014/main" id="{982BF9EB-9245-C946-9304-B8A7E3FACE57}"/>
                  </a:ext>
                </a:extLst>
              </p:cNvPr>
              <p:cNvSpPr/>
              <p:nvPr/>
            </p:nvSpPr>
            <p:spPr>
              <a:xfrm rot="382539">
                <a:off x="5245190" y="4101304"/>
                <a:ext cx="1224000" cy="260728"/>
              </a:xfrm>
              <a:custGeom>
                <a:avLst/>
                <a:gdLst>
                  <a:gd name="connsiteX0" fmla="*/ 0 w 1206500"/>
                  <a:gd name="connsiteY0" fmla="*/ 32128 h 260728"/>
                  <a:gd name="connsiteX1" fmla="*/ 838200 w 1206500"/>
                  <a:gd name="connsiteY1" fmla="*/ 19428 h 260728"/>
                  <a:gd name="connsiteX2" fmla="*/ 1206500 w 1206500"/>
                  <a:gd name="connsiteY2" fmla="*/ 260728 h 260728"/>
                </a:gdLst>
                <a:ahLst/>
                <a:cxnLst>
                  <a:cxn ang="0">
                    <a:pos x="connsiteX0" y="connsiteY0"/>
                  </a:cxn>
                  <a:cxn ang="0">
                    <a:pos x="connsiteX1" y="connsiteY1"/>
                  </a:cxn>
                  <a:cxn ang="0">
                    <a:pos x="connsiteX2" y="connsiteY2"/>
                  </a:cxn>
                </a:cxnLst>
                <a:rect l="l" t="t" r="r" b="b"/>
                <a:pathLst>
                  <a:path w="1206500" h="260728">
                    <a:moveTo>
                      <a:pt x="0" y="32128"/>
                    </a:moveTo>
                    <a:cubicBezTo>
                      <a:pt x="318558" y="6728"/>
                      <a:pt x="637117" y="-18672"/>
                      <a:pt x="838200" y="19428"/>
                    </a:cubicBezTo>
                    <a:cubicBezTo>
                      <a:pt x="1039283" y="57528"/>
                      <a:pt x="1122891" y="159128"/>
                      <a:pt x="1206500" y="260728"/>
                    </a:cubicBezTo>
                  </a:path>
                </a:pathLst>
              </a:custGeom>
              <a:noFill/>
              <a:ln w="190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フリーフォーム 44">
                <a:extLst>
                  <a:ext uri="{FF2B5EF4-FFF2-40B4-BE49-F238E27FC236}">
                    <a16:creationId xmlns:a16="http://schemas.microsoft.com/office/drawing/2014/main" id="{C8B9CB42-F3F8-DE4D-8757-E2819F1ED0C4}"/>
                  </a:ext>
                </a:extLst>
              </p:cNvPr>
              <p:cNvSpPr/>
              <p:nvPr/>
            </p:nvSpPr>
            <p:spPr>
              <a:xfrm>
                <a:off x="5270500" y="4089400"/>
                <a:ext cx="1193800" cy="800100"/>
              </a:xfrm>
              <a:custGeom>
                <a:avLst/>
                <a:gdLst>
                  <a:gd name="connsiteX0" fmla="*/ 0 w 1193800"/>
                  <a:gd name="connsiteY0" fmla="*/ 0 h 800100"/>
                  <a:gd name="connsiteX1" fmla="*/ 749300 w 1193800"/>
                  <a:gd name="connsiteY1" fmla="*/ 292100 h 800100"/>
                  <a:gd name="connsiteX2" fmla="*/ 1193800 w 1193800"/>
                  <a:gd name="connsiteY2" fmla="*/ 800100 h 800100"/>
                </a:gdLst>
                <a:ahLst/>
                <a:cxnLst>
                  <a:cxn ang="0">
                    <a:pos x="connsiteX0" y="connsiteY0"/>
                  </a:cxn>
                  <a:cxn ang="0">
                    <a:pos x="connsiteX1" y="connsiteY1"/>
                  </a:cxn>
                  <a:cxn ang="0">
                    <a:pos x="connsiteX2" y="connsiteY2"/>
                  </a:cxn>
                </a:cxnLst>
                <a:rect l="l" t="t" r="r" b="b"/>
                <a:pathLst>
                  <a:path w="1193800" h="800100">
                    <a:moveTo>
                      <a:pt x="0" y="0"/>
                    </a:moveTo>
                    <a:cubicBezTo>
                      <a:pt x="275166" y="79375"/>
                      <a:pt x="550333" y="158750"/>
                      <a:pt x="749300" y="292100"/>
                    </a:cubicBezTo>
                    <a:cubicBezTo>
                      <a:pt x="948267" y="425450"/>
                      <a:pt x="1071033" y="612775"/>
                      <a:pt x="1193800" y="800100"/>
                    </a:cubicBezTo>
                  </a:path>
                </a:pathLst>
              </a:cu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45">
                <a:extLst>
                  <a:ext uri="{FF2B5EF4-FFF2-40B4-BE49-F238E27FC236}">
                    <a16:creationId xmlns:a16="http://schemas.microsoft.com/office/drawing/2014/main" id="{CAFCF179-8B05-274D-8BA8-304B969EA342}"/>
                  </a:ext>
                </a:extLst>
              </p:cNvPr>
              <p:cNvSpPr/>
              <p:nvPr/>
            </p:nvSpPr>
            <p:spPr>
              <a:xfrm>
                <a:off x="5283200" y="4089400"/>
                <a:ext cx="1193800" cy="723900"/>
              </a:xfrm>
              <a:custGeom>
                <a:avLst/>
                <a:gdLst>
                  <a:gd name="connsiteX0" fmla="*/ 0 w 1193800"/>
                  <a:gd name="connsiteY0" fmla="*/ 0 h 723900"/>
                  <a:gd name="connsiteX1" fmla="*/ 800100 w 1193800"/>
                  <a:gd name="connsiteY1" fmla="*/ 203200 h 723900"/>
                  <a:gd name="connsiteX2" fmla="*/ 1193800 w 1193800"/>
                  <a:gd name="connsiteY2" fmla="*/ 723900 h 723900"/>
                  <a:gd name="connsiteX3" fmla="*/ 1193800 w 1193800"/>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1193800" h="723900">
                    <a:moveTo>
                      <a:pt x="0" y="0"/>
                    </a:moveTo>
                    <a:cubicBezTo>
                      <a:pt x="300566" y="41275"/>
                      <a:pt x="601133" y="82550"/>
                      <a:pt x="800100" y="203200"/>
                    </a:cubicBezTo>
                    <a:cubicBezTo>
                      <a:pt x="999067" y="323850"/>
                      <a:pt x="1193800" y="723900"/>
                      <a:pt x="1193800" y="723900"/>
                    </a:cubicBezTo>
                    <a:lnTo>
                      <a:pt x="1193800" y="723900"/>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7" name="グループ化 46">
                <a:extLst>
                  <a:ext uri="{FF2B5EF4-FFF2-40B4-BE49-F238E27FC236}">
                    <a16:creationId xmlns:a16="http://schemas.microsoft.com/office/drawing/2014/main" id="{62DA6253-A5D8-654F-B08A-E846A1184576}"/>
                  </a:ext>
                </a:extLst>
              </p:cNvPr>
              <p:cNvGrpSpPr/>
              <p:nvPr/>
            </p:nvGrpSpPr>
            <p:grpSpPr>
              <a:xfrm>
                <a:off x="5048817" y="3742563"/>
                <a:ext cx="1690907" cy="1690907"/>
                <a:chOff x="6676684" y="4465921"/>
                <a:chExt cx="1690907" cy="1690907"/>
              </a:xfrm>
            </p:grpSpPr>
            <p:cxnSp>
              <p:nvCxnSpPr>
                <p:cNvPr id="49" name="直線コネクタ 48">
                  <a:extLst>
                    <a:ext uri="{FF2B5EF4-FFF2-40B4-BE49-F238E27FC236}">
                      <a16:creationId xmlns:a16="http://schemas.microsoft.com/office/drawing/2014/main" id="{A5AC67F8-1906-1E43-890C-4738B8A492C3}"/>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ADDCEF5A-C1A1-7F49-9070-1FB4DF5C875F}"/>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aphicFrame>
        <p:nvGraphicFramePr>
          <p:cNvPr id="52" name="表 51">
            <a:extLst>
              <a:ext uri="{FF2B5EF4-FFF2-40B4-BE49-F238E27FC236}">
                <a16:creationId xmlns:a16="http://schemas.microsoft.com/office/drawing/2014/main" id="{B022FF3A-B2E8-9148-8841-35A29E9DD605}"/>
              </a:ext>
            </a:extLst>
          </p:cNvPr>
          <p:cNvGraphicFramePr>
            <a:graphicFrameLocks noGrp="1"/>
          </p:cNvGraphicFramePr>
          <p:nvPr>
            <p:extLst>
              <p:ext uri="{D42A27DB-BD31-4B8C-83A1-F6EECF244321}">
                <p14:modId xmlns:p14="http://schemas.microsoft.com/office/powerpoint/2010/main" val="1995755265"/>
              </p:ext>
            </p:extLst>
          </p:nvPr>
        </p:nvGraphicFramePr>
        <p:xfrm>
          <a:off x="933820" y="5537406"/>
          <a:ext cx="3584990" cy="741680"/>
        </p:xfrm>
        <a:graphic>
          <a:graphicData uri="http://schemas.openxmlformats.org/drawingml/2006/table">
            <a:tbl>
              <a:tblPr firstRow="1" bandRow="1">
                <a:tableStyleId>{5C22544A-7EE6-4342-B048-85BDC9FD1C3A}</a:tableStyleId>
              </a:tblPr>
              <a:tblGrid>
                <a:gridCol w="1792495">
                  <a:extLst>
                    <a:ext uri="{9D8B030D-6E8A-4147-A177-3AD203B41FA5}">
                      <a16:colId xmlns:a16="http://schemas.microsoft.com/office/drawing/2014/main" val="2450102447"/>
                    </a:ext>
                  </a:extLst>
                </a:gridCol>
                <a:gridCol w="1792495">
                  <a:extLst>
                    <a:ext uri="{9D8B030D-6E8A-4147-A177-3AD203B41FA5}">
                      <a16:colId xmlns:a16="http://schemas.microsoft.com/office/drawing/2014/main" val="3506212313"/>
                    </a:ext>
                  </a:extLst>
                </a:gridCol>
              </a:tblGrid>
              <a:tr h="370840">
                <a:tc>
                  <a:txBody>
                    <a:bodyPr/>
                    <a:lstStyle/>
                    <a:p>
                      <a:pPr algn="ctr"/>
                      <a:r>
                        <a:rPr kumimoji="1" lang="ja-JP" altLang="en-US" sz="1600"/>
                        <a:t>競争</a:t>
                      </a:r>
                    </a:p>
                  </a:txBody>
                  <a:tcPr marL="83127" marR="83127"/>
                </a:tc>
                <a:tc>
                  <a:txBody>
                    <a:bodyPr/>
                    <a:lstStyle/>
                    <a:p>
                      <a:pPr algn="ctr"/>
                      <a:r>
                        <a:rPr kumimoji="1" lang="ja-JP" altLang="en-US" sz="1600"/>
                        <a:t>共存</a:t>
                      </a:r>
                    </a:p>
                  </a:txBody>
                  <a:tcPr marL="83127" marR="83127"/>
                </a:tc>
                <a:extLst>
                  <a:ext uri="{0D108BD9-81ED-4DB2-BD59-A6C34878D82A}">
                    <a16:rowId xmlns:a16="http://schemas.microsoft.com/office/drawing/2014/main" val="1927177420"/>
                  </a:ext>
                </a:extLst>
              </a:tr>
              <a:tr h="370840">
                <a:tc>
                  <a:txBody>
                    <a:bodyPr/>
                    <a:lstStyle/>
                    <a:p>
                      <a:pPr algn="ctr"/>
                      <a:r>
                        <a:rPr kumimoji="1" lang="ja-JP" altLang="en-US" sz="1600">
                          <a:solidFill>
                            <a:schemeClr val="accent3"/>
                          </a:solidFill>
                        </a:rPr>
                        <a:t>譲歩速度遅い</a:t>
                      </a:r>
                    </a:p>
                  </a:txBody>
                  <a:tcPr marL="68700" marR="68700"/>
                </a:tc>
                <a:tc>
                  <a:txBody>
                    <a:bodyPr/>
                    <a:lstStyle/>
                    <a:p>
                      <a:pPr algn="ctr"/>
                      <a:r>
                        <a:rPr kumimoji="1" lang="ja-JP" altLang="en-US" sz="1600">
                          <a:solidFill>
                            <a:schemeClr val="accent2"/>
                          </a:solidFill>
                        </a:rPr>
                        <a:t>譲歩速度早い</a:t>
                      </a:r>
                    </a:p>
                  </a:txBody>
                  <a:tcPr marL="68700" marR="68700"/>
                </a:tc>
                <a:extLst>
                  <a:ext uri="{0D108BD9-81ED-4DB2-BD59-A6C34878D82A}">
                    <a16:rowId xmlns:a16="http://schemas.microsoft.com/office/drawing/2014/main" val="2956610254"/>
                  </a:ext>
                </a:extLst>
              </a:tr>
            </a:tbl>
          </a:graphicData>
        </a:graphic>
      </p:graphicFrame>
      <p:sp>
        <p:nvSpPr>
          <p:cNvPr id="53" name="テキスト ボックス 52">
            <a:extLst>
              <a:ext uri="{FF2B5EF4-FFF2-40B4-BE49-F238E27FC236}">
                <a16:creationId xmlns:a16="http://schemas.microsoft.com/office/drawing/2014/main" id="{B904A36F-B716-DC45-A1E8-77E506066B10}"/>
              </a:ext>
            </a:extLst>
          </p:cNvPr>
          <p:cNvSpPr txBox="1"/>
          <p:nvPr/>
        </p:nvSpPr>
        <p:spPr>
          <a:xfrm>
            <a:off x="1466946" y="6286026"/>
            <a:ext cx="2481105" cy="369332"/>
          </a:xfrm>
          <a:prstGeom prst="rect">
            <a:avLst/>
          </a:prstGeom>
          <a:noFill/>
        </p:spPr>
        <p:txBody>
          <a:bodyPr wrap="square" rtlCol="0">
            <a:spAutoFit/>
          </a:bodyPr>
          <a:lstStyle/>
          <a:p>
            <a:pPr algn="ctr"/>
            <a:r>
              <a:rPr kumimoji="1" lang="ja-JP" altLang="en-US"/>
              <a:t>エージェントの戦略</a:t>
            </a:r>
          </a:p>
        </p:txBody>
      </p:sp>
      <p:grpSp>
        <p:nvGrpSpPr>
          <p:cNvPr id="3" name="グループ化 2">
            <a:extLst>
              <a:ext uri="{FF2B5EF4-FFF2-40B4-BE49-F238E27FC236}">
                <a16:creationId xmlns:a16="http://schemas.microsoft.com/office/drawing/2014/main" id="{07FE4393-E39D-B34F-A643-B74FDD3BC38E}"/>
              </a:ext>
            </a:extLst>
          </p:cNvPr>
          <p:cNvGrpSpPr/>
          <p:nvPr/>
        </p:nvGrpSpPr>
        <p:grpSpPr>
          <a:xfrm>
            <a:off x="1416718" y="3537169"/>
            <a:ext cx="3298849" cy="1992238"/>
            <a:chOff x="1416718" y="3537169"/>
            <a:chExt cx="3298849" cy="1992238"/>
          </a:xfrm>
        </p:grpSpPr>
        <p:grpSp>
          <p:nvGrpSpPr>
            <p:cNvPr id="29" name="グループ化 28">
              <a:extLst>
                <a:ext uri="{FF2B5EF4-FFF2-40B4-BE49-F238E27FC236}">
                  <a16:creationId xmlns:a16="http://schemas.microsoft.com/office/drawing/2014/main" id="{02A3219F-1D07-E44F-85AC-973610DB131F}"/>
                </a:ext>
              </a:extLst>
            </p:cNvPr>
            <p:cNvGrpSpPr/>
            <p:nvPr/>
          </p:nvGrpSpPr>
          <p:grpSpPr>
            <a:xfrm>
              <a:off x="1416718" y="3537169"/>
              <a:ext cx="2004121" cy="1992238"/>
              <a:chOff x="7784582" y="19015474"/>
              <a:chExt cx="5505296" cy="5472656"/>
            </a:xfrm>
          </p:grpSpPr>
          <p:pic>
            <p:nvPicPr>
              <p:cNvPr id="31" name="図 30">
                <a:extLst>
                  <a:ext uri="{FF2B5EF4-FFF2-40B4-BE49-F238E27FC236}">
                    <a16:creationId xmlns:a16="http://schemas.microsoft.com/office/drawing/2014/main" id="{FD8FB74B-BC6D-C447-8C84-5E23A47807A5}"/>
                  </a:ext>
                </a:extLst>
              </p:cNvPr>
              <p:cNvPicPr>
                <a:picLocks noChangeAspect="1"/>
              </p:cNvPicPr>
              <p:nvPr/>
            </p:nvPicPr>
            <p:blipFill rotWithShape="1">
              <a:blip r:embed="rId4"/>
              <a:srcRect l="10972" t="1550" r="-1061" b="21005"/>
              <a:stretch/>
            </p:blipFill>
            <p:spPr>
              <a:xfrm>
                <a:off x="8648581" y="19015474"/>
                <a:ext cx="4641297" cy="4492610"/>
              </a:xfrm>
              <a:prstGeom prst="rect">
                <a:avLst/>
              </a:prstGeom>
            </p:spPr>
          </p:pic>
          <p:cxnSp>
            <p:nvCxnSpPr>
              <p:cNvPr id="32" name="直線矢印コネクタ 31">
                <a:extLst>
                  <a:ext uri="{FF2B5EF4-FFF2-40B4-BE49-F238E27FC236}">
                    <a16:creationId xmlns:a16="http://schemas.microsoft.com/office/drawing/2014/main" id="{7554D312-DE6F-2044-88FA-E1CA65D9FF38}"/>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8C61070B-A349-C54B-BD2A-1DDD908F7214}"/>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5F4510A6-F526-C44B-AEA6-65C361B6DDE2}"/>
                  </a:ext>
                </a:extLst>
              </p:cNvPr>
              <p:cNvSpPr txBox="1"/>
              <p:nvPr/>
            </p:nvSpPr>
            <p:spPr>
              <a:xfrm>
                <a:off x="9420397" y="23769490"/>
                <a:ext cx="2490051" cy="718640"/>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35" name="テキスト ボックス 34">
                <a:extLst>
                  <a:ext uri="{FF2B5EF4-FFF2-40B4-BE49-F238E27FC236}">
                    <a16:creationId xmlns:a16="http://schemas.microsoft.com/office/drawing/2014/main" id="{826A8B59-892F-854C-A82C-D3E571A89A74}"/>
                  </a:ext>
                </a:extLst>
              </p:cNvPr>
              <p:cNvSpPr txBox="1"/>
              <p:nvPr/>
            </p:nvSpPr>
            <p:spPr>
              <a:xfrm rot="16200000">
                <a:off x="6898876" y="21197789"/>
                <a:ext cx="2490052" cy="718639"/>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54" name="図 53">
              <a:extLst>
                <a:ext uri="{FF2B5EF4-FFF2-40B4-BE49-F238E27FC236}">
                  <a16:creationId xmlns:a16="http://schemas.microsoft.com/office/drawing/2014/main" id="{A92C7FB8-7042-3141-818F-5D7BBAA414E1}"/>
                </a:ext>
              </a:extLst>
            </p:cNvPr>
            <p:cNvPicPr>
              <a:picLocks noChangeAspect="1"/>
            </p:cNvPicPr>
            <p:nvPr/>
          </p:nvPicPr>
          <p:blipFill>
            <a:blip r:embed="rId5"/>
            <a:stretch>
              <a:fillRect/>
            </a:stretch>
          </p:blipFill>
          <p:spPr>
            <a:xfrm>
              <a:off x="2677139" y="3667820"/>
              <a:ext cx="252618" cy="430601"/>
            </a:xfrm>
            <a:prstGeom prst="rect">
              <a:avLst/>
            </a:prstGeom>
          </p:spPr>
        </p:pic>
        <p:sp>
          <p:nvSpPr>
            <p:cNvPr id="56" name="角丸四角形吹き出し 55">
              <a:extLst>
                <a:ext uri="{FF2B5EF4-FFF2-40B4-BE49-F238E27FC236}">
                  <a16:creationId xmlns:a16="http://schemas.microsoft.com/office/drawing/2014/main" id="{6B06C324-C5D6-B040-BE73-46FF223841F6}"/>
                </a:ext>
              </a:extLst>
            </p:cNvPr>
            <p:cNvSpPr/>
            <p:nvPr/>
          </p:nvSpPr>
          <p:spPr>
            <a:xfrm>
              <a:off x="3418001" y="4178183"/>
              <a:ext cx="1297566" cy="513442"/>
            </a:xfrm>
            <a:prstGeom prst="wedgeRoundRectCallout">
              <a:avLst>
                <a:gd name="adj1" fmla="val -67324"/>
                <a:gd name="adj2" fmla="val -50786"/>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t>相手の</a:t>
              </a:r>
              <a:br>
                <a:rPr kumimoji="1" lang="en-US" altLang="ja-JP" sz="1600" dirty="0"/>
              </a:br>
              <a:r>
                <a:rPr kumimoji="1" lang="ja-JP" altLang="en-US" sz="1600"/>
                <a:t>カテゴリ</a:t>
              </a:r>
            </a:p>
          </p:txBody>
        </p:sp>
      </p:grpSp>
    </p:spTree>
    <p:extLst>
      <p:ext uri="{BB962C8B-B14F-4D97-AF65-F5344CB8AC3E}">
        <p14:creationId xmlns:p14="http://schemas.microsoft.com/office/powerpoint/2010/main" val="1580927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提案手法</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648461"/>
          </a:xfrm>
        </p:spPr>
        <p:txBody>
          <a:bodyPr/>
          <a:lstStyle/>
          <a:p>
            <a:r>
              <a:rPr lang="ja-JP" altLang="en-US"/>
              <a:t>既存研究に倣って</a:t>
            </a:r>
            <a:r>
              <a:rPr lang="en-US" altLang="ja-JP" dirty="0"/>
              <a:t>offer</a:t>
            </a:r>
            <a:r>
              <a:rPr lang="ja-JP" altLang="en-US"/>
              <a:t>のみを見て</a:t>
            </a:r>
            <a:br>
              <a:rPr lang="en-US" altLang="ja-JP" dirty="0"/>
            </a:br>
            <a:r>
              <a:rPr lang="ja-JP" altLang="en-US"/>
              <a:t>計算する</a:t>
            </a:r>
            <a:endParaRPr lang="en-US" altLang="ja-JP" dirty="0"/>
          </a:p>
          <a:p>
            <a:r>
              <a:rPr lang="ja-JP" altLang="en-US"/>
              <a:t>積極性</a:t>
            </a:r>
            <a:endParaRPr lang="en-US" altLang="ja-JP" dirty="0"/>
          </a:p>
          <a:p>
            <a:pPr lvl="1"/>
            <a:r>
              <a:rPr lang="en-US" altLang="ja-JP" dirty="0">
                <a:solidFill>
                  <a:schemeClr val="accent2"/>
                </a:solidFill>
              </a:rPr>
              <a:t>offer</a:t>
            </a:r>
            <a:r>
              <a:rPr lang="ja-JP" altLang="en-US">
                <a:solidFill>
                  <a:schemeClr val="accent2"/>
                </a:solidFill>
              </a:rPr>
              <a:t>の効用の分散</a:t>
            </a:r>
            <a:endParaRPr lang="en-US" altLang="ja-JP" dirty="0">
              <a:solidFill>
                <a:schemeClr val="accent2"/>
              </a:solidFill>
            </a:endParaRPr>
          </a:p>
          <a:p>
            <a:r>
              <a:rPr lang="ja-JP" altLang="en-US"/>
              <a:t>協調性</a:t>
            </a:r>
            <a:endParaRPr lang="en-US" altLang="ja-JP" dirty="0"/>
          </a:p>
          <a:p>
            <a:pPr lvl="1"/>
            <a:r>
              <a:rPr lang="en-US" altLang="ja-JP" dirty="0">
                <a:solidFill>
                  <a:schemeClr val="accent2"/>
                </a:solidFill>
              </a:rPr>
              <a:t>offer</a:t>
            </a:r>
            <a:r>
              <a:rPr lang="ja-JP" altLang="en-US">
                <a:solidFill>
                  <a:schemeClr val="accent2"/>
                </a:solidFill>
              </a:rPr>
              <a:t>の効用の平均</a:t>
            </a:r>
            <a:endParaRPr lang="en-US" altLang="ja-JP" dirty="0">
              <a:solidFill>
                <a:schemeClr val="accent2"/>
              </a:solidFill>
            </a:endParaRP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4</a:t>
            </a:r>
            <a:endParaRPr kumimoji="1" lang="ja-JP" altLang="en-US"/>
          </a:p>
        </p:txBody>
      </p:sp>
      <p:grpSp>
        <p:nvGrpSpPr>
          <p:cNvPr id="49" name="グループ化 48">
            <a:extLst>
              <a:ext uri="{FF2B5EF4-FFF2-40B4-BE49-F238E27FC236}">
                <a16:creationId xmlns:a16="http://schemas.microsoft.com/office/drawing/2014/main" id="{4A1DCD86-EC7C-D94F-9543-2542E07FCF9E}"/>
              </a:ext>
            </a:extLst>
          </p:cNvPr>
          <p:cNvGrpSpPr/>
          <p:nvPr/>
        </p:nvGrpSpPr>
        <p:grpSpPr>
          <a:xfrm>
            <a:off x="163626" y="1160115"/>
            <a:ext cx="3684474" cy="680876"/>
            <a:chOff x="163626" y="1160115"/>
            <a:chExt cx="3684474" cy="680876"/>
          </a:xfrm>
        </p:grpSpPr>
        <p:cxnSp>
          <p:nvCxnSpPr>
            <p:cNvPr id="50" name="直線コネクタ 49">
              <a:extLst>
                <a:ext uri="{FF2B5EF4-FFF2-40B4-BE49-F238E27FC236}">
                  <a16:creationId xmlns:a16="http://schemas.microsoft.com/office/drawing/2014/main" id="{7B8438C3-255D-2342-B7A7-47F3D09E4268}"/>
                </a:ext>
              </a:extLst>
            </p:cNvPr>
            <p:cNvCxnSpPr>
              <a:cxnSpLocks/>
            </p:cNvCxnSpPr>
            <p:nvPr userDrawn="1"/>
          </p:nvCxnSpPr>
          <p:spPr>
            <a:xfrm>
              <a:off x="163626" y="1699846"/>
              <a:ext cx="36844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2AE0D65B-7565-FB40-9C37-D7CF86EEB71F}"/>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2" name="テキスト プレースホルダー 12">
            <a:extLst>
              <a:ext uri="{FF2B5EF4-FFF2-40B4-BE49-F238E27FC236}">
                <a16:creationId xmlns:a16="http://schemas.microsoft.com/office/drawing/2014/main" id="{5DC7C6B9-911C-704B-84BA-7314DB36767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(TKI)</a:t>
            </a:r>
            <a:endParaRPr lang="ja-JP" altLang="en-US"/>
          </a:p>
        </p:txBody>
      </p:sp>
      <p:grpSp>
        <p:nvGrpSpPr>
          <p:cNvPr id="14" name="グループ化 13">
            <a:extLst>
              <a:ext uri="{FF2B5EF4-FFF2-40B4-BE49-F238E27FC236}">
                <a16:creationId xmlns:a16="http://schemas.microsoft.com/office/drawing/2014/main" id="{C205CBB6-4C36-0248-B0D6-8012359D6EFB}"/>
              </a:ext>
            </a:extLst>
          </p:cNvPr>
          <p:cNvGrpSpPr/>
          <p:nvPr/>
        </p:nvGrpSpPr>
        <p:grpSpPr>
          <a:xfrm>
            <a:off x="6822717" y="816352"/>
            <a:ext cx="2199147" cy="2180690"/>
            <a:chOff x="7798032" y="19015474"/>
            <a:chExt cx="5491846" cy="5445754"/>
          </a:xfrm>
        </p:grpSpPr>
        <p:pic>
          <p:nvPicPr>
            <p:cNvPr id="16" name="図 15">
              <a:extLst>
                <a:ext uri="{FF2B5EF4-FFF2-40B4-BE49-F238E27FC236}">
                  <a16:creationId xmlns:a16="http://schemas.microsoft.com/office/drawing/2014/main" id="{BFD7A0D5-632A-E044-9CCA-A8B6B756D268}"/>
                </a:ext>
              </a:extLst>
            </p:cNvPr>
            <p:cNvPicPr>
              <a:picLocks noChangeAspect="1"/>
            </p:cNvPicPr>
            <p:nvPr/>
          </p:nvPicPr>
          <p:blipFill rotWithShape="1">
            <a:blip r:embed="rId4"/>
            <a:srcRect l="10972" t="1550" r="-1061" b="21005"/>
            <a:stretch/>
          </p:blipFill>
          <p:spPr>
            <a:xfrm>
              <a:off x="8648581" y="19015474"/>
              <a:ext cx="4641297" cy="4492610"/>
            </a:xfrm>
            <a:prstGeom prst="rect">
              <a:avLst/>
            </a:prstGeom>
          </p:spPr>
        </p:pic>
        <p:cxnSp>
          <p:nvCxnSpPr>
            <p:cNvPr id="17" name="直線矢印コネクタ 16">
              <a:extLst>
                <a:ext uri="{FF2B5EF4-FFF2-40B4-BE49-F238E27FC236}">
                  <a16:creationId xmlns:a16="http://schemas.microsoft.com/office/drawing/2014/main" id="{F219B9A4-21D4-A24B-8D39-76E84DF5FC07}"/>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7B6B99D7-A808-154C-82E8-BD9F890F170F}"/>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702B2D17-E80B-4346-9954-9A1C604018FC}"/>
                </a:ext>
              </a:extLst>
            </p:cNvPr>
            <p:cNvSpPr txBox="1"/>
            <p:nvPr/>
          </p:nvSpPr>
          <p:spPr>
            <a:xfrm>
              <a:off x="9420398" y="23769489"/>
              <a:ext cx="2490050"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協調性</a:t>
              </a:r>
            </a:p>
          </p:txBody>
        </p:sp>
        <p:sp>
          <p:nvSpPr>
            <p:cNvPr id="20" name="テキスト ボックス 19">
              <a:extLst>
                <a:ext uri="{FF2B5EF4-FFF2-40B4-BE49-F238E27FC236}">
                  <a16:creationId xmlns:a16="http://schemas.microsoft.com/office/drawing/2014/main" id="{5FFEE2D9-81AE-0E42-BB9F-D1884D113883}"/>
                </a:ext>
              </a:extLst>
            </p:cNvPr>
            <p:cNvSpPr txBox="1"/>
            <p:nvPr/>
          </p:nvSpPr>
          <p:spPr>
            <a:xfrm rot="16200000">
              <a:off x="6898876" y="21211240"/>
              <a:ext cx="2490051"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積極性</a:t>
              </a:r>
            </a:p>
          </p:txBody>
        </p:sp>
      </p:grpSp>
    </p:spTree>
    <p:extLst>
      <p:ext uri="{BB962C8B-B14F-4D97-AF65-F5344CB8AC3E}">
        <p14:creationId xmlns:p14="http://schemas.microsoft.com/office/powerpoint/2010/main" val="3251302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lang="ja-JP" altLang="en-US"/>
              <a:t>提案手法</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a:xfrm>
                <a:off x="194898" y="1884383"/>
                <a:ext cx="8859709" cy="4966039"/>
              </a:xfrm>
            </p:spPr>
            <p:txBody>
              <a:bodyPr/>
              <a:lstStyle/>
              <a:p>
                <a:r>
                  <a:rPr lang="ja-JP" altLang="en-US"/>
                  <a:t>カテゴリによって行動を変更</a:t>
                </a:r>
                <a:endParaRPr lang="en-US" altLang="ja-JP" dirty="0"/>
              </a:p>
              <a:p>
                <a:pPr lvl="1"/>
                <a:r>
                  <a:rPr lang="ja-JP" altLang="en-US"/>
                  <a:t>譲歩速度の</a:t>
                </a:r>
                <a14:m>
                  <m:oMath xmlns:m="http://schemas.openxmlformats.org/officeDocument/2006/math">
                    <m:r>
                      <a:rPr lang="en-US" altLang="ja-JP" i="1">
                        <a:latin typeface="Cambria Math" panose="02040503050406030204" pitchFamily="18" charset="0"/>
                      </a:rPr>
                      <m:t>𝛼</m:t>
                    </m:r>
                  </m:oMath>
                </a14:m>
                <a:r>
                  <a:rPr lang="ja-JP" altLang="en-US"/>
                  <a:t>の値</a:t>
                </a:r>
                <a:endParaRPr lang="en-US" altLang="ja-JP" dirty="0">
                  <a:solidFill>
                    <a:schemeClr val="bg1"/>
                  </a:solidFill>
                </a:endParaRPr>
              </a:p>
              <a:p>
                <a:pPr lvl="1"/>
                <a:r>
                  <a:rPr lang="ja-JP" altLang="en-US"/>
                  <a:t>行動頻度</a:t>
                </a:r>
                <a:endParaRPr lang="en-US" altLang="ja-JP" dirty="0"/>
              </a:p>
            </p:txBody>
          </p:sp>
        </mc:Choice>
        <mc:Fallback xmlns="">
          <p:sp>
            <p:nvSpPr>
              <p:cNvPr id="3" name="コンテンツ プレースホルダー 2">
                <a:extLst>
                  <a:ext uri="{FF2B5EF4-FFF2-40B4-BE49-F238E27FC236}">
                    <a16:creationId xmlns:a16="http://schemas.microsoft.com/office/drawing/2014/main" id="{2291EE29-3B2E-0149-9AB1-D4AE0526F8DC}"/>
                  </a:ext>
                </a:extLst>
              </p:cNvPr>
              <p:cNvSpPr>
                <a:spLocks noGrp="1" noRot="1" noChangeAspect="1" noMove="1" noResize="1" noEditPoints="1" noAdjustHandles="1" noChangeArrowheads="1" noChangeShapeType="1" noTextEdit="1"/>
              </p:cNvSpPr>
              <p:nvPr>
                <p:ph idx="1"/>
              </p:nvPr>
            </p:nvSpPr>
            <p:spPr>
              <a:xfrm>
                <a:off x="194898" y="1884383"/>
                <a:ext cx="8859709" cy="4966039"/>
              </a:xfrm>
              <a:blipFill>
                <a:blip r:embed="rId2"/>
                <a:stretch>
                  <a:fillRect t="-178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17</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kumimoji="1" lang="en-US" altLang="ja-JP" dirty="0"/>
              <a:t>4</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847761" cy="680876"/>
            <a:chOff x="163626" y="1160115"/>
            <a:chExt cx="4847761"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847761"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mc:AlternateContent xmlns:mc="http://schemas.openxmlformats.org/markup-compatibility/2006" xmlns:a14="http://schemas.microsoft.com/office/drawing/2010/main">
        <mc:Choice Requires="a14">
          <p:graphicFrame>
            <p:nvGraphicFramePr>
              <p:cNvPr id="15" name="表 14">
                <a:extLst>
                  <a:ext uri="{FF2B5EF4-FFF2-40B4-BE49-F238E27FC236}">
                    <a16:creationId xmlns:a16="http://schemas.microsoft.com/office/drawing/2014/main" id="{158DABA9-5844-B54C-9C55-838592FE5352}"/>
                  </a:ext>
                </a:extLst>
              </p:cNvPr>
              <p:cNvGraphicFramePr>
                <a:graphicFrameLocks noGrp="1"/>
              </p:cNvGraphicFramePr>
              <p:nvPr>
                <p:extLst>
                  <p:ext uri="{D42A27DB-BD31-4B8C-83A1-F6EECF244321}">
                    <p14:modId xmlns:p14="http://schemas.microsoft.com/office/powerpoint/2010/main" val="3254248091"/>
                  </p:ext>
                </p:extLst>
              </p:nvPr>
            </p:nvGraphicFramePr>
            <p:xfrm>
              <a:off x="1149473" y="3775008"/>
              <a:ext cx="6845055" cy="1112520"/>
            </p:xfrm>
            <a:graphic>
              <a:graphicData uri="http://schemas.openxmlformats.org/drawingml/2006/table">
                <a:tbl>
                  <a:tblPr firstRow="1" firstCol="1" bandRow="1">
                    <a:tableStyleId>{5C22544A-7EE6-4342-B048-85BDC9FD1C3A}</a:tableStyleId>
                  </a:tblPr>
                  <a:tblGrid>
                    <a:gridCol w="1404000">
                      <a:extLst>
                        <a:ext uri="{9D8B030D-6E8A-4147-A177-3AD203B41FA5}">
                          <a16:colId xmlns:a16="http://schemas.microsoft.com/office/drawing/2014/main" val="867293798"/>
                        </a:ext>
                      </a:extLst>
                    </a:gridCol>
                    <a:gridCol w="1088211">
                      <a:extLst>
                        <a:ext uri="{9D8B030D-6E8A-4147-A177-3AD203B41FA5}">
                          <a16:colId xmlns:a16="http://schemas.microsoft.com/office/drawing/2014/main" val="2450102447"/>
                        </a:ext>
                      </a:extLst>
                    </a:gridCol>
                    <a:gridCol w="1088211">
                      <a:extLst>
                        <a:ext uri="{9D8B030D-6E8A-4147-A177-3AD203B41FA5}">
                          <a16:colId xmlns:a16="http://schemas.microsoft.com/office/drawing/2014/main" val="1159568895"/>
                        </a:ext>
                      </a:extLst>
                    </a:gridCol>
                    <a:gridCol w="1088211">
                      <a:extLst>
                        <a:ext uri="{9D8B030D-6E8A-4147-A177-3AD203B41FA5}">
                          <a16:colId xmlns:a16="http://schemas.microsoft.com/office/drawing/2014/main" val="1871227000"/>
                        </a:ext>
                      </a:extLst>
                    </a:gridCol>
                    <a:gridCol w="1088211">
                      <a:extLst>
                        <a:ext uri="{9D8B030D-6E8A-4147-A177-3AD203B41FA5}">
                          <a16:colId xmlns:a16="http://schemas.microsoft.com/office/drawing/2014/main" val="2275043351"/>
                        </a:ext>
                      </a:extLst>
                    </a:gridCol>
                    <a:gridCol w="1088211">
                      <a:extLst>
                        <a:ext uri="{9D8B030D-6E8A-4147-A177-3AD203B41FA5}">
                          <a16:colId xmlns:a16="http://schemas.microsoft.com/office/drawing/2014/main" val="1886332784"/>
                        </a:ext>
                      </a:extLst>
                    </a:gridCol>
                  </a:tblGrid>
                  <a:tr h="370840">
                    <a:tc>
                      <a:txBody>
                        <a:bodyPr/>
                        <a:lstStyle/>
                        <a:p>
                          <a:pPr algn="ctr"/>
                          <a:endParaRPr kumimoji="1" lang="ja-JP" altLang="en-US" sz="1600">
                            <a:solidFill>
                              <a:schemeClr val="bg1"/>
                            </a:solidFill>
                          </a:endParaRPr>
                        </a:p>
                      </a:txBody>
                      <a:tcPr marL="121706" marR="121706"/>
                    </a:tc>
                    <a:tc>
                      <a:txBody>
                        <a:bodyPr/>
                        <a:lstStyle/>
                        <a:p>
                          <a:pPr algn="ctr"/>
                          <a:r>
                            <a:rPr kumimoji="1" lang="ja-JP" altLang="en-US" sz="1600"/>
                            <a:t>競争</a:t>
                          </a:r>
                        </a:p>
                      </a:txBody>
                      <a:tcPr marL="121706" marR="121706"/>
                    </a:tc>
                    <a:tc>
                      <a:txBody>
                        <a:bodyPr/>
                        <a:lstStyle/>
                        <a:p>
                          <a:pPr algn="ctr"/>
                          <a:r>
                            <a:rPr kumimoji="1" lang="ja-JP" altLang="en-US" sz="1600"/>
                            <a:t>共存</a:t>
                          </a:r>
                        </a:p>
                      </a:txBody>
                      <a:tcPr marL="121706" marR="121706"/>
                    </a:tc>
                    <a:tc>
                      <a:txBody>
                        <a:bodyPr/>
                        <a:lstStyle/>
                        <a:p>
                          <a:pPr algn="ctr"/>
                          <a:r>
                            <a:rPr kumimoji="1" lang="ja-JP" altLang="en-US" sz="1600"/>
                            <a:t>妥協</a:t>
                          </a:r>
                        </a:p>
                      </a:txBody>
                      <a:tcPr marL="121706" marR="121706"/>
                    </a:tc>
                    <a:tc>
                      <a:txBody>
                        <a:bodyPr/>
                        <a:lstStyle/>
                        <a:p>
                          <a:pPr algn="ctr"/>
                          <a:r>
                            <a:rPr kumimoji="1" lang="ja-JP" altLang="en-US" sz="1600"/>
                            <a:t>回避</a:t>
                          </a:r>
                        </a:p>
                      </a:txBody>
                      <a:tcPr marL="121706" marR="121706"/>
                    </a:tc>
                    <a:tc>
                      <a:txBody>
                        <a:bodyPr/>
                        <a:lstStyle/>
                        <a:p>
                          <a:pPr algn="ctr"/>
                          <a:r>
                            <a:rPr kumimoji="1" lang="ja-JP" altLang="en-US" sz="1600"/>
                            <a:t>順応</a:t>
                          </a:r>
                        </a:p>
                      </a:txBody>
                      <a:tcPr marL="121706" marR="121706"/>
                    </a:tc>
                    <a:extLst>
                      <a:ext uri="{0D108BD9-81ED-4DB2-BD59-A6C34878D82A}">
                        <a16:rowId xmlns:a16="http://schemas.microsoft.com/office/drawing/2014/main" val="1927177420"/>
                      </a:ext>
                    </a:extLst>
                  </a:tr>
                  <a:tr h="370840">
                    <a:tc>
                      <a:txBody>
                        <a:bodyPr/>
                        <a:lstStyle/>
                        <a:p>
                          <a:pPr algn="ctr"/>
                          <a14:m>
                            <m:oMath xmlns:m="http://schemas.openxmlformats.org/officeDocument/2006/math">
                              <m:r>
                                <a:rPr kumimoji="1" lang="en-US" altLang="ja-JP" sz="1600" b="0" i="1" smtClean="0">
                                  <a:latin typeface="Cambria Math" panose="02040503050406030204" pitchFamily="18" charset="0"/>
                                </a:rPr>
                                <m:t>𝛼</m:t>
                              </m:r>
                            </m:oMath>
                          </a14:m>
                          <a:r>
                            <a:rPr kumimoji="1" lang="ja-JP" altLang="en-US" sz="1600">
                              <a:solidFill>
                                <a:schemeClr val="bg1"/>
                              </a:solidFill>
                            </a:rPr>
                            <a:t>の値</a:t>
                          </a:r>
                        </a:p>
                      </a:txBody>
                      <a:tcPr marL="100584" marR="100584"/>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0.6</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0.5</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0.9</a:t>
                          </a:r>
                          <a:endParaRPr kumimoji="1" lang="ja-JP" altLang="en-US" sz="1600">
                            <a:solidFill>
                              <a:schemeClr val="tx1"/>
                            </a:solidFill>
                          </a:endParaRPr>
                        </a:p>
                      </a:txBody>
                      <a:tcPr marL="100584" marR="100584"/>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100584" marR="100584"/>
                    </a:tc>
                    <a:tc>
                      <a:txBody>
                        <a:bodyPr/>
                        <a:lstStyle/>
                        <a:p>
                          <a:pPr algn="ctr"/>
                          <a:r>
                            <a:rPr kumimoji="1" lang="en-US" altLang="ja-JP" sz="1600" dirty="0">
                              <a:solidFill>
                                <a:schemeClr val="tx1"/>
                              </a:solidFill>
                            </a:rPr>
                            <a:t>60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100584" marR="100584"/>
                    </a:tc>
                    <a:extLst>
                      <a:ext uri="{0D108BD9-81ED-4DB2-BD59-A6C34878D82A}">
                        <a16:rowId xmlns:a16="http://schemas.microsoft.com/office/drawing/2014/main" val="1442960975"/>
                      </a:ext>
                    </a:extLst>
                  </a:tr>
                </a:tbl>
              </a:graphicData>
            </a:graphic>
          </p:graphicFrame>
        </mc:Choice>
        <mc:Fallback xmlns="">
          <p:graphicFrame>
            <p:nvGraphicFramePr>
              <p:cNvPr id="15" name="表 14">
                <a:extLst>
                  <a:ext uri="{FF2B5EF4-FFF2-40B4-BE49-F238E27FC236}">
                    <a16:creationId xmlns:a16="http://schemas.microsoft.com/office/drawing/2014/main" id="{158DABA9-5844-B54C-9C55-838592FE5352}"/>
                  </a:ext>
                </a:extLst>
              </p:cNvPr>
              <p:cNvGraphicFramePr>
                <a:graphicFrameLocks noGrp="1"/>
              </p:cNvGraphicFramePr>
              <p:nvPr>
                <p:extLst>
                  <p:ext uri="{D42A27DB-BD31-4B8C-83A1-F6EECF244321}">
                    <p14:modId xmlns:p14="http://schemas.microsoft.com/office/powerpoint/2010/main" val="3254248091"/>
                  </p:ext>
                </p:extLst>
              </p:nvPr>
            </p:nvGraphicFramePr>
            <p:xfrm>
              <a:off x="1149473" y="3775008"/>
              <a:ext cx="6845055" cy="1112520"/>
            </p:xfrm>
            <a:graphic>
              <a:graphicData uri="http://schemas.openxmlformats.org/drawingml/2006/table">
                <a:tbl>
                  <a:tblPr firstRow="1" firstCol="1" bandRow="1">
                    <a:tableStyleId>{5C22544A-7EE6-4342-B048-85BDC9FD1C3A}</a:tableStyleId>
                  </a:tblPr>
                  <a:tblGrid>
                    <a:gridCol w="1404000">
                      <a:extLst>
                        <a:ext uri="{9D8B030D-6E8A-4147-A177-3AD203B41FA5}">
                          <a16:colId xmlns:a16="http://schemas.microsoft.com/office/drawing/2014/main" val="867293798"/>
                        </a:ext>
                      </a:extLst>
                    </a:gridCol>
                    <a:gridCol w="1088211">
                      <a:extLst>
                        <a:ext uri="{9D8B030D-6E8A-4147-A177-3AD203B41FA5}">
                          <a16:colId xmlns:a16="http://schemas.microsoft.com/office/drawing/2014/main" val="2450102447"/>
                        </a:ext>
                      </a:extLst>
                    </a:gridCol>
                    <a:gridCol w="1088211">
                      <a:extLst>
                        <a:ext uri="{9D8B030D-6E8A-4147-A177-3AD203B41FA5}">
                          <a16:colId xmlns:a16="http://schemas.microsoft.com/office/drawing/2014/main" val="1159568895"/>
                        </a:ext>
                      </a:extLst>
                    </a:gridCol>
                    <a:gridCol w="1088211">
                      <a:extLst>
                        <a:ext uri="{9D8B030D-6E8A-4147-A177-3AD203B41FA5}">
                          <a16:colId xmlns:a16="http://schemas.microsoft.com/office/drawing/2014/main" val="1871227000"/>
                        </a:ext>
                      </a:extLst>
                    </a:gridCol>
                    <a:gridCol w="1088211">
                      <a:extLst>
                        <a:ext uri="{9D8B030D-6E8A-4147-A177-3AD203B41FA5}">
                          <a16:colId xmlns:a16="http://schemas.microsoft.com/office/drawing/2014/main" val="2275043351"/>
                        </a:ext>
                      </a:extLst>
                    </a:gridCol>
                    <a:gridCol w="1088211">
                      <a:extLst>
                        <a:ext uri="{9D8B030D-6E8A-4147-A177-3AD203B41FA5}">
                          <a16:colId xmlns:a16="http://schemas.microsoft.com/office/drawing/2014/main" val="1886332784"/>
                        </a:ext>
                      </a:extLst>
                    </a:gridCol>
                  </a:tblGrid>
                  <a:tr h="370840">
                    <a:tc>
                      <a:txBody>
                        <a:bodyPr/>
                        <a:lstStyle/>
                        <a:p>
                          <a:pPr algn="ctr"/>
                          <a:endParaRPr kumimoji="1" lang="ja-JP" altLang="en-US" sz="1600">
                            <a:solidFill>
                              <a:schemeClr val="bg1"/>
                            </a:solidFill>
                          </a:endParaRPr>
                        </a:p>
                      </a:txBody>
                      <a:tcPr marL="121706" marR="121706"/>
                    </a:tc>
                    <a:tc>
                      <a:txBody>
                        <a:bodyPr/>
                        <a:lstStyle/>
                        <a:p>
                          <a:pPr algn="ctr"/>
                          <a:r>
                            <a:rPr kumimoji="1" lang="ja-JP" altLang="en-US" sz="1600"/>
                            <a:t>競争</a:t>
                          </a:r>
                        </a:p>
                      </a:txBody>
                      <a:tcPr marL="121706" marR="121706"/>
                    </a:tc>
                    <a:tc>
                      <a:txBody>
                        <a:bodyPr/>
                        <a:lstStyle/>
                        <a:p>
                          <a:pPr algn="ctr"/>
                          <a:r>
                            <a:rPr kumimoji="1" lang="ja-JP" altLang="en-US" sz="1600"/>
                            <a:t>共存</a:t>
                          </a:r>
                        </a:p>
                      </a:txBody>
                      <a:tcPr marL="121706" marR="121706"/>
                    </a:tc>
                    <a:tc>
                      <a:txBody>
                        <a:bodyPr/>
                        <a:lstStyle/>
                        <a:p>
                          <a:pPr algn="ctr"/>
                          <a:r>
                            <a:rPr kumimoji="1" lang="ja-JP" altLang="en-US" sz="1600"/>
                            <a:t>妥協</a:t>
                          </a:r>
                        </a:p>
                      </a:txBody>
                      <a:tcPr marL="121706" marR="121706"/>
                    </a:tc>
                    <a:tc>
                      <a:txBody>
                        <a:bodyPr/>
                        <a:lstStyle/>
                        <a:p>
                          <a:pPr algn="ctr"/>
                          <a:r>
                            <a:rPr kumimoji="1" lang="ja-JP" altLang="en-US" sz="1600"/>
                            <a:t>回避</a:t>
                          </a:r>
                        </a:p>
                      </a:txBody>
                      <a:tcPr marL="121706" marR="121706"/>
                    </a:tc>
                    <a:tc>
                      <a:txBody>
                        <a:bodyPr/>
                        <a:lstStyle/>
                        <a:p>
                          <a:pPr algn="ctr"/>
                          <a:r>
                            <a:rPr kumimoji="1" lang="ja-JP" altLang="en-US" sz="1600"/>
                            <a:t>順応</a:t>
                          </a:r>
                        </a:p>
                      </a:txBody>
                      <a:tcPr marL="121706" marR="121706"/>
                    </a:tc>
                    <a:extLst>
                      <a:ext uri="{0D108BD9-81ED-4DB2-BD59-A6C34878D82A}">
                        <a16:rowId xmlns:a16="http://schemas.microsoft.com/office/drawing/2014/main" val="1927177420"/>
                      </a:ext>
                    </a:extLst>
                  </a:tr>
                  <a:tr h="370840">
                    <a:tc>
                      <a:txBody>
                        <a:bodyPr/>
                        <a:lstStyle/>
                        <a:p>
                          <a:endParaRPr lang="ja-JP"/>
                        </a:p>
                      </a:txBody>
                      <a:tcPr marL="100584" marR="100584">
                        <a:blipFill>
                          <a:blip r:embed="rId5"/>
                          <a:stretch>
                            <a:fillRect l="-901" t="-103333" r="-387387" b="-106667"/>
                          </a:stretch>
                        </a:blipFill>
                      </a:tcPr>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0.6</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0.5</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0.9</a:t>
                          </a:r>
                          <a:endParaRPr kumimoji="1" lang="ja-JP" altLang="en-US" sz="1600">
                            <a:solidFill>
                              <a:schemeClr val="tx1"/>
                            </a:solidFill>
                          </a:endParaRPr>
                        </a:p>
                      </a:txBody>
                      <a:tcPr marL="100584" marR="100584"/>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100584" marR="100584"/>
                    </a:tc>
                    <a:tc>
                      <a:txBody>
                        <a:bodyPr/>
                        <a:lstStyle/>
                        <a:p>
                          <a:pPr algn="ctr"/>
                          <a:r>
                            <a:rPr kumimoji="1" lang="en-US" altLang="ja-JP" sz="1600" dirty="0">
                              <a:solidFill>
                                <a:schemeClr val="tx1"/>
                              </a:solidFill>
                            </a:rPr>
                            <a:t>60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100584" marR="100584"/>
                    </a:tc>
                    <a:extLst>
                      <a:ext uri="{0D108BD9-81ED-4DB2-BD59-A6C34878D82A}">
                        <a16:rowId xmlns:a16="http://schemas.microsoft.com/office/drawing/2014/main" val="1442960975"/>
                      </a:ext>
                    </a:extLst>
                  </a:tr>
                </a:tbl>
              </a:graphicData>
            </a:graphic>
          </p:graphicFrame>
        </mc:Fallback>
      </mc:AlternateContent>
      <p:grpSp>
        <p:nvGrpSpPr>
          <p:cNvPr id="24" name="グループ化 23">
            <a:extLst>
              <a:ext uri="{FF2B5EF4-FFF2-40B4-BE49-F238E27FC236}">
                <a16:creationId xmlns:a16="http://schemas.microsoft.com/office/drawing/2014/main" id="{DF6F651E-35D6-A044-A860-4BE601E65BB0}"/>
              </a:ext>
            </a:extLst>
          </p:cNvPr>
          <p:cNvGrpSpPr/>
          <p:nvPr/>
        </p:nvGrpSpPr>
        <p:grpSpPr>
          <a:xfrm>
            <a:off x="6822717" y="816352"/>
            <a:ext cx="2199147" cy="2180690"/>
            <a:chOff x="7798032" y="19015474"/>
            <a:chExt cx="5491846" cy="5445754"/>
          </a:xfrm>
        </p:grpSpPr>
        <p:pic>
          <p:nvPicPr>
            <p:cNvPr id="25" name="図 24">
              <a:extLst>
                <a:ext uri="{FF2B5EF4-FFF2-40B4-BE49-F238E27FC236}">
                  <a16:creationId xmlns:a16="http://schemas.microsoft.com/office/drawing/2014/main" id="{45FA5B05-931D-6840-A79F-8D3F5B167099}"/>
                </a:ext>
              </a:extLst>
            </p:cNvPr>
            <p:cNvPicPr>
              <a:picLocks noChangeAspect="1"/>
            </p:cNvPicPr>
            <p:nvPr/>
          </p:nvPicPr>
          <p:blipFill rotWithShape="1">
            <a:blip r:embed="rId6"/>
            <a:srcRect l="10972" t="1550" r="-1061" b="21005"/>
            <a:stretch/>
          </p:blipFill>
          <p:spPr>
            <a:xfrm>
              <a:off x="8648581" y="19015474"/>
              <a:ext cx="4641297" cy="4492610"/>
            </a:xfrm>
            <a:prstGeom prst="rect">
              <a:avLst/>
            </a:prstGeom>
          </p:spPr>
        </p:pic>
        <p:cxnSp>
          <p:nvCxnSpPr>
            <p:cNvPr id="26" name="直線矢印コネクタ 25">
              <a:extLst>
                <a:ext uri="{FF2B5EF4-FFF2-40B4-BE49-F238E27FC236}">
                  <a16:creationId xmlns:a16="http://schemas.microsoft.com/office/drawing/2014/main" id="{8243FD43-7303-3E4C-928A-90A9652B3F65}"/>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5CD5F4AA-D046-6B48-B991-FBD7E451FC34}"/>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5E7E1A3C-96C0-1043-87AE-AF7E76805276}"/>
                </a:ext>
              </a:extLst>
            </p:cNvPr>
            <p:cNvSpPr txBox="1"/>
            <p:nvPr/>
          </p:nvSpPr>
          <p:spPr>
            <a:xfrm>
              <a:off x="9420398" y="23769489"/>
              <a:ext cx="2490050"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協調性</a:t>
              </a:r>
            </a:p>
          </p:txBody>
        </p:sp>
        <p:sp>
          <p:nvSpPr>
            <p:cNvPr id="29" name="テキスト ボックス 28">
              <a:extLst>
                <a:ext uri="{FF2B5EF4-FFF2-40B4-BE49-F238E27FC236}">
                  <a16:creationId xmlns:a16="http://schemas.microsoft.com/office/drawing/2014/main" id="{03199EBB-C466-B044-8815-42BF63583DB8}"/>
                </a:ext>
              </a:extLst>
            </p:cNvPr>
            <p:cNvSpPr txBox="1"/>
            <p:nvPr/>
          </p:nvSpPr>
          <p:spPr>
            <a:xfrm rot="16200000">
              <a:off x="6898876" y="21211240"/>
              <a:ext cx="2490051"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積極性</a:t>
              </a:r>
            </a:p>
          </p:txBody>
        </p:sp>
      </p:grpSp>
    </p:spTree>
    <p:extLst>
      <p:ext uri="{BB962C8B-B14F-4D97-AF65-F5344CB8AC3E}">
        <p14:creationId xmlns:p14="http://schemas.microsoft.com/office/powerpoint/2010/main" val="1478212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FE9D37-1556-A54D-8C18-E2238ED6CB6A}"/>
              </a:ext>
            </a:extLst>
          </p:cNvPr>
          <p:cNvSpPr>
            <a:spLocks noGrp="1"/>
          </p:cNvSpPr>
          <p:nvPr>
            <p:ph type="title"/>
          </p:nvPr>
        </p:nvSpPr>
        <p:spPr/>
        <p:txBody>
          <a:bodyPr/>
          <a:lstStyle/>
          <a:p>
            <a:r>
              <a:rPr kumimoji="1" lang="ja-JP" altLang="en-US"/>
              <a:t>進捗と今後の予定</a:t>
            </a:r>
          </a:p>
        </p:txBody>
      </p:sp>
      <p:sp>
        <p:nvSpPr>
          <p:cNvPr id="3" name="コンテンツ プレースホルダー 2">
            <a:extLst>
              <a:ext uri="{FF2B5EF4-FFF2-40B4-BE49-F238E27FC236}">
                <a16:creationId xmlns:a16="http://schemas.microsoft.com/office/drawing/2014/main" id="{63F09D27-4FAE-9742-9E6E-22CEE05C2E27}"/>
              </a:ext>
            </a:extLst>
          </p:cNvPr>
          <p:cNvSpPr>
            <a:spLocks noGrp="1"/>
          </p:cNvSpPr>
          <p:nvPr>
            <p:ph idx="1"/>
          </p:nvPr>
        </p:nvSpPr>
        <p:spPr>
          <a:xfrm>
            <a:off x="194898" y="1884384"/>
            <a:ext cx="8859709" cy="2408208"/>
          </a:xfrm>
        </p:spPr>
        <p:txBody>
          <a:bodyPr/>
          <a:lstStyle/>
          <a:p>
            <a:r>
              <a:rPr kumimoji="1" lang="ja-JP" altLang="en-US"/>
              <a:t>エージェントの実装</a:t>
            </a:r>
            <a:endParaRPr kumimoji="1" lang="en-US" altLang="ja-JP" dirty="0"/>
          </a:p>
          <a:p>
            <a:pPr lvl="1"/>
            <a:r>
              <a:rPr kumimoji="1" lang="en-US" altLang="ja-JP" dirty="0"/>
              <a:t>BIG5</a:t>
            </a:r>
            <a:r>
              <a:rPr kumimoji="1" lang="ja-JP" altLang="en-US"/>
              <a:t>・</a:t>
            </a:r>
            <a:r>
              <a:rPr kumimoji="1" lang="en-US" altLang="ja-JP" dirty="0"/>
              <a:t>TKI</a:t>
            </a:r>
            <a:r>
              <a:rPr kumimoji="1" lang="ja-JP" altLang="en-US"/>
              <a:t>の各尺度の計算部分</a:t>
            </a:r>
            <a:endParaRPr kumimoji="1" lang="en-US" altLang="ja-JP" dirty="0"/>
          </a:p>
        </p:txBody>
      </p:sp>
      <p:sp>
        <p:nvSpPr>
          <p:cNvPr id="4" name="日付プレースホルダー 3">
            <a:extLst>
              <a:ext uri="{FF2B5EF4-FFF2-40B4-BE49-F238E27FC236}">
                <a16:creationId xmlns:a16="http://schemas.microsoft.com/office/drawing/2014/main" id="{F60631D8-99ED-BE47-95E7-F856DB0FE75E}"/>
              </a:ext>
            </a:extLst>
          </p:cNvPr>
          <p:cNvSpPr>
            <a:spLocks noGrp="1"/>
          </p:cNvSpPr>
          <p:nvPr>
            <p:ph type="dt" sz="half" idx="10"/>
          </p:nvPr>
        </p:nvSpPr>
        <p:spPr/>
        <p:txBody>
          <a:bodyPr/>
          <a:lstStyle/>
          <a:p>
            <a:fld id="{24B158CC-F5BE-2345-99BA-C49B60654C2B}" type="datetime1">
              <a:rPr kumimoji="1" lang="ja-JP" altLang="en-US" smtClean="0"/>
              <a:t>2020/9/11</a:t>
            </a:fld>
            <a:endParaRPr kumimoji="1" lang="ja-JP" altLang="en-US"/>
          </a:p>
        </p:txBody>
      </p:sp>
      <p:sp>
        <p:nvSpPr>
          <p:cNvPr id="5" name="フッター プレースホルダー 4">
            <a:extLst>
              <a:ext uri="{FF2B5EF4-FFF2-40B4-BE49-F238E27FC236}">
                <a16:creationId xmlns:a16="http://schemas.microsoft.com/office/drawing/2014/main" id="{8F19B10F-1A60-234A-8227-57F8B7D50B94}"/>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0CC2C62-6ECC-3640-94F3-D7C828004A67}"/>
              </a:ext>
            </a:extLst>
          </p:cNvPr>
          <p:cNvSpPr>
            <a:spLocks noGrp="1"/>
          </p:cNvSpPr>
          <p:nvPr>
            <p:ph type="sldNum" sz="quarter" idx="12"/>
          </p:nvPr>
        </p:nvSpPr>
        <p:spPr/>
        <p:txBody>
          <a:bodyPr/>
          <a:lstStyle/>
          <a:p>
            <a:fld id="{2981C279-7323-A845-8A27-BB5908B2F04D}" type="slidenum">
              <a:rPr kumimoji="1" lang="ja-JP" altLang="en-US" smtClean="0"/>
              <a:t>18</a:t>
            </a:fld>
            <a:endParaRPr kumimoji="1" lang="ja-JP" altLang="en-US"/>
          </a:p>
        </p:txBody>
      </p:sp>
      <p:sp>
        <p:nvSpPr>
          <p:cNvPr id="7" name="テキスト プレースホルダー 6">
            <a:extLst>
              <a:ext uri="{FF2B5EF4-FFF2-40B4-BE49-F238E27FC236}">
                <a16:creationId xmlns:a16="http://schemas.microsoft.com/office/drawing/2014/main" id="{A5A901D5-8309-8048-95AE-B27C916CE032}"/>
              </a:ext>
            </a:extLst>
          </p:cNvPr>
          <p:cNvSpPr>
            <a:spLocks noGrp="1"/>
          </p:cNvSpPr>
          <p:nvPr>
            <p:ph type="body" sz="quarter" idx="13"/>
          </p:nvPr>
        </p:nvSpPr>
        <p:spPr/>
        <p:txBody>
          <a:bodyPr/>
          <a:lstStyle/>
          <a:p>
            <a:r>
              <a:rPr lang="en-US" altLang="ja-JP" dirty="0"/>
              <a:t>5</a:t>
            </a:r>
            <a:endParaRPr kumimoji="1" lang="ja-JP" altLang="en-US"/>
          </a:p>
        </p:txBody>
      </p:sp>
      <p:grpSp>
        <p:nvGrpSpPr>
          <p:cNvPr id="8" name="グループ化 7">
            <a:extLst>
              <a:ext uri="{FF2B5EF4-FFF2-40B4-BE49-F238E27FC236}">
                <a16:creationId xmlns:a16="http://schemas.microsoft.com/office/drawing/2014/main" id="{FF96378B-B37A-B94F-A6D5-C3D7ABE3BE3C}"/>
              </a:ext>
            </a:extLst>
          </p:cNvPr>
          <p:cNvGrpSpPr/>
          <p:nvPr/>
        </p:nvGrpSpPr>
        <p:grpSpPr>
          <a:xfrm>
            <a:off x="163626" y="1160115"/>
            <a:ext cx="1190612" cy="680876"/>
            <a:chOff x="163626" y="1160115"/>
            <a:chExt cx="1190612" cy="680876"/>
          </a:xfrm>
        </p:grpSpPr>
        <p:cxnSp>
          <p:nvCxnSpPr>
            <p:cNvPr id="9" name="直線コネクタ 8">
              <a:extLst>
                <a:ext uri="{FF2B5EF4-FFF2-40B4-BE49-F238E27FC236}">
                  <a16:creationId xmlns:a16="http://schemas.microsoft.com/office/drawing/2014/main" id="{E5ED9766-1A83-C44B-9600-C34FCA2D94CB}"/>
                </a:ext>
              </a:extLst>
            </p:cNvPr>
            <p:cNvCxnSpPr>
              <a:cxnSpLocks/>
            </p:cNvCxnSpPr>
            <p:nvPr userDrawn="1"/>
          </p:nvCxnSpPr>
          <p:spPr>
            <a:xfrm>
              <a:off x="163626" y="1699846"/>
              <a:ext cx="119061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2A51F74A-49D8-EE4D-9634-9E5B1A9CEDB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18E2AD78-D212-7C49-B5EB-5C1F860A1A20}"/>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進捗</a:t>
            </a:r>
          </a:p>
        </p:txBody>
      </p:sp>
      <p:sp>
        <p:nvSpPr>
          <p:cNvPr id="19" name="コンテンツ プレースホルダー 2">
            <a:extLst>
              <a:ext uri="{FF2B5EF4-FFF2-40B4-BE49-F238E27FC236}">
                <a16:creationId xmlns:a16="http://schemas.microsoft.com/office/drawing/2014/main" id="{8E62CAFB-C679-A04C-94F4-19645941F033}"/>
              </a:ext>
            </a:extLst>
          </p:cNvPr>
          <p:cNvSpPr txBox="1">
            <a:spLocks/>
          </p:cNvSpPr>
          <p:nvPr/>
        </p:nvSpPr>
        <p:spPr>
          <a:xfrm>
            <a:off x="194898" y="3644498"/>
            <a:ext cx="8859709" cy="2756301"/>
          </a:xfrm>
          <a:prstGeom prst="rect">
            <a:avLst/>
          </a:prstGeom>
        </p:spPr>
        <p:txBody>
          <a:bodyPr vert="horz" lIns="91440" tIns="45720" rIns="91440" bIns="45720" rtlCol="0">
            <a:noAutofit/>
          </a:bodyPr>
          <a:lstStyle>
            <a:lvl1pPr marL="231775" indent="-231775" algn="l" defTabSz="914400" rtl="0" eaLnBrk="1" latinLnBrk="0" hangingPunct="1">
              <a:lnSpc>
                <a:spcPct val="90000"/>
              </a:lnSpc>
              <a:spcBef>
                <a:spcPts val="1000"/>
              </a:spcBef>
              <a:buSzPct val="100000"/>
              <a:buFontTx/>
              <a:buBlip>
                <a:blip r:embed="rId4"/>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10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引き続きエージェントの実装を行う</a:t>
            </a:r>
            <a:endParaRPr lang="en-US" altLang="ja-JP" dirty="0"/>
          </a:p>
          <a:p>
            <a:pPr lvl="1"/>
            <a:r>
              <a:rPr lang="ja-JP" altLang="en-US"/>
              <a:t>各因子・各カテゴリごとの戦略の実装</a:t>
            </a:r>
            <a:endParaRPr lang="en-US" altLang="ja-JP" dirty="0"/>
          </a:p>
          <a:p>
            <a:pPr lvl="1"/>
            <a:r>
              <a:rPr lang="ja-JP" altLang="en-US"/>
              <a:t>その他実験を行うための部分</a:t>
            </a:r>
            <a:r>
              <a:rPr lang="en-US" altLang="ja-JP" dirty="0"/>
              <a:t>(</a:t>
            </a:r>
            <a:r>
              <a:rPr lang="ja-JP" altLang="en-US"/>
              <a:t>データの保存など</a:t>
            </a:r>
            <a:r>
              <a:rPr lang="en-US" altLang="ja-JP" dirty="0"/>
              <a:t>)</a:t>
            </a:r>
          </a:p>
          <a:p>
            <a:r>
              <a:rPr lang="ja-JP" altLang="en-US"/>
              <a:t>評価実験</a:t>
            </a:r>
            <a:endParaRPr lang="en-US" altLang="ja-JP" dirty="0"/>
          </a:p>
          <a:p>
            <a:pPr lvl="1"/>
            <a:r>
              <a:rPr lang="ja-JP" altLang="en-US"/>
              <a:t>人間の被験者と交渉を行う</a:t>
            </a:r>
            <a:endParaRPr lang="en-US" altLang="ja-JP" dirty="0"/>
          </a:p>
        </p:txBody>
      </p:sp>
      <p:grpSp>
        <p:nvGrpSpPr>
          <p:cNvPr id="20" name="グループ化 19">
            <a:extLst>
              <a:ext uri="{FF2B5EF4-FFF2-40B4-BE49-F238E27FC236}">
                <a16:creationId xmlns:a16="http://schemas.microsoft.com/office/drawing/2014/main" id="{570205A5-AEE5-144A-A73C-B55BB3288385}"/>
              </a:ext>
            </a:extLst>
          </p:cNvPr>
          <p:cNvGrpSpPr/>
          <p:nvPr/>
        </p:nvGrpSpPr>
        <p:grpSpPr>
          <a:xfrm>
            <a:off x="163626" y="2920230"/>
            <a:ext cx="2452252" cy="680876"/>
            <a:chOff x="163626" y="1160115"/>
            <a:chExt cx="2452252" cy="680876"/>
          </a:xfrm>
        </p:grpSpPr>
        <p:cxnSp>
          <p:nvCxnSpPr>
            <p:cNvPr id="21" name="直線コネクタ 20">
              <a:extLst>
                <a:ext uri="{FF2B5EF4-FFF2-40B4-BE49-F238E27FC236}">
                  <a16:creationId xmlns:a16="http://schemas.microsoft.com/office/drawing/2014/main" id="{C2E7BB4D-781F-454F-A767-5BE5C2B05AC7}"/>
                </a:ext>
              </a:extLst>
            </p:cNvPr>
            <p:cNvCxnSpPr>
              <a:cxnSpLocks/>
            </p:cNvCxnSpPr>
            <p:nvPr userDrawn="1"/>
          </p:nvCxnSpPr>
          <p:spPr>
            <a:xfrm>
              <a:off x="163626" y="1699846"/>
              <a:ext cx="245225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9CB042B8-6D7E-B44F-A99A-2048E24A362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3" name="テキスト プレースホルダー 12">
            <a:extLst>
              <a:ext uri="{FF2B5EF4-FFF2-40B4-BE49-F238E27FC236}">
                <a16:creationId xmlns:a16="http://schemas.microsoft.com/office/drawing/2014/main" id="{099FF659-9941-2942-A7E9-6B3AAE16C1DF}"/>
              </a:ext>
            </a:extLst>
          </p:cNvPr>
          <p:cNvSpPr txBox="1">
            <a:spLocks/>
          </p:cNvSpPr>
          <p:nvPr/>
        </p:nvSpPr>
        <p:spPr>
          <a:xfrm>
            <a:off x="404691" y="2952841"/>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今後の予定</a:t>
            </a:r>
          </a:p>
        </p:txBody>
      </p:sp>
    </p:spTree>
    <p:extLst>
      <p:ext uri="{BB962C8B-B14F-4D97-AF65-F5344CB8AC3E}">
        <p14:creationId xmlns:p14="http://schemas.microsoft.com/office/powerpoint/2010/main" val="170921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25E7D-2DEC-1543-A697-58832D80F76D}"/>
              </a:ext>
            </a:extLst>
          </p:cNvPr>
          <p:cNvSpPr>
            <a:spLocks noGrp="1"/>
          </p:cNvSpPr>
          <p:nvPr>
            <p:ph type="title"/>
          </p:nvPr>
        </p:nvSpPr>
        <p:spPr/>
        <p:txBody>
          <a:bodyPr/>
          <a:lstStyle/>
          <a:p>
            <a:r>
              <a:rPr kumimoji="1" lang="ja-JP" altLang="en-US"/>
              <a:t>目次案</a:t>
            </a:r>
          </a:p>
        </p:txBody>
      </p:sp>
      <p:sp>
        <p:nvSpPr>
          <p:cNvPr id="3" name="日付プレースホルダー 2">
            <a:extLst>
              <a:ext uri="{FF2B5EF4-FFF2-40B4-BE49-F238E27FC236}">
                <a16:creationId xmlns:a16="http://schemas.microsoft.com/office/drawing/2014/main" id="{3529E785-65F5-DA4C-A4AA-AEF1CB91E47B}"/>
              </a:ext>
            </a:extLst>
          </p:cNvPr>
          <p:cNvSpPr>
            <a:spLocks noGrp="1"/>
          </p:cNvSpPr>
          <p:nvPr>
            <p:ph type="dt" sz="half" idx="10"/>
          </p:nvPr>
        </p:nvSpPr>
        <p:spPr/>
        <p:txBody>
          <a:bodyPr/>
          <a:lstStyle/>
          <a:p>
            <a:fld id="{484468A3-0919-F54E-B59A-E9ED9FABFE93}" type="datetime1">
              <a:rPr kumimoji="1" lang="ja-JP" altLang="en-US" smtClean="0"/>
              <a:t>2020/9/11</a:t>
            </a:fld>
            <a:endParaRPr kumimoji="1" lang="ja-JP" altLang="en-US"/>
          </a:p>
        </p:txBody>
      </p:sp>
      <p:sp>
        <p:nvSpPr>
          <p:cNvPr id="4" name="フッター プレースホルダー 3">
            <a:extLst>
              <a:ext uri="{FF2B5EF4-FFF2-40B4-BE49-F238E27FC236}">
                <a16:creationId xmlns:a16="http://schemas.microsoft.com/office/drawing/2014/main" id="{04A451DA-65F0-624C-8919-D2E0483E9687}"/>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21788517-B140-4B42-BBE9-2C11C1E7FBC1}"/>
              </a:ext>
            </a:extLst>
          </p:cNvPr>
          <p:cNvSpPr>
            <a:spLocks noGrp="1"/>
          </p:cNvSpPr>
          <p:nvPr>
            <p:ph type="sldNum" sz="quarter" idx="12"/>
          </p:nvPr>
        </p:nvSpPr>
        <p:spPr/>
        <p:txBody>
          <a:bodyPr/>
          <a:lstStyle/>
          <a:p>
            <a:fld id="{2981C279-7323-A845-8A27-BB5908B2F04D}" type="slidenum">
              <a:rPr kumimoji="1" lang="ja-JP" altLang="en-US" smtClean="0"/>
              <a:t>19</a:t>
            </a:fld>
            <a:endParaRPr kumimoji="1" lang="ja-JP" altLang="en-US"/>
          </a:p>
        </p:txBody>
      </p:sp>
      <p:sp>
        <p:nvSpPr>
          <p:cNvPr id="6" name="テキスト プレースホルダー 5">
            <a:extLst>
              <a:ext uri="{FF2B5EF4-FFF2-40B4-BE49-F238E27FC236}">
                <a16:creationId xmlns:a16="http://schemas.microsoft.com/office/drawing/2014/main" id="{5C477647-0651-AE4D-97DA-64C62B6F8522}"/>
              </a:ext>
            </a:extLst>
          </p:cNvPr>
          <p:cNvSpPr>
            <a:spLocks noGrp="1"/>
          </p:cNvSpPr>
          <p:nvPr>
            <p:ph type="body" sz="quarter" idx="13"/>
          </p:nvPr>
        </p:nvSpPr>
        <p:spPr/>
        <p:txBody>
          <a:bodyPr/>
          <a:lstStyle/>
          <a:p>
            <a:r>
              <a:rPr lang="en-US" altLang="ja-JP" dirty="0"/>
              <a:t>6</a:t>
            </a:r>
            <a:endParaRPr kumimoji="1" lang="ja-JP" altLang="en-US"/>
          </a:p>
        </p:txBody>
      </p:sp>
      <p:sp>
        <p:nvSpPr>
          <p:cNvPr id="7" name="コンテンツ プレースホルダー 6">
            <a:extLst>
              <a:ext uri="{FF2B5EF4-FFF2-40B4-BE49-F238E27FC236}">
                <a16:creationId xmlns:a16="http://schemas.microsoft.com/office/drawing/2014/main" id="{DECDE359-DB26-0649-9B42-F389D44E9ED4}"/>
              </a:ext>
            </a:extLst>
          </p:cNvPr>
          <p:cNvSpPr>
            <a:spLocks noGrp="1"/>
          </p:cNvSpPr>
          <p:nvPr>
            <p:ph idx="1"/>
          </p:nvPr>
        </p:nvSpPr>
        <p:spPr/>
        <p:txBody>
          <a:bodyPr/>
          <a:lstStyle/>
          <a:p>
            <a:r>
              <a:rPr kumimoji="1" lang="ja-JP" altLang="en-US"/>
              <a:t>はじめに</a:t>
            </a:r>
            <a:endParaRPr kumimoji="1" lang="en-US" altLang="ja-JP" dirty="0"/>
          </a:p>
          <a:p>
            <a:r>
              <a:rPr kumimoji="1" lang="ja-JP" altLang="en-US"/>
              <a:t>関連研究</a:t>
            </a:r>
            <a:endParaRPr kumimoji="1" lang="en-US" altLang="ja-JP" dirty="0"/>
          </a:p>
          <a:p>
            <a:r>
              <a:rPr lang="ja-JP" altLang="en-US"/>
              <a:t>問題設定</a:t>
            </a:r>
            <a:endParaRPr kumimoji="1" lang="en-US" altLang="ja-JP" dirty="0"/>
          </a:p>
          <a:p>
            <a:r>
              <a:rPr lang="ja-JP" altLang="en-US"/>
              <a:t>提案手法</a:t>
            </a:r>
            <a:endParaRPr lang="en-US" altLang="ja-JP" dirty="0"/>
          </a:p>
          <a:p>
            <a:r>
              <a:rPr kumimoji="1" lang="ja-JP" altLang="en-US"/>
              <a:t>評価実験</a:t>
            </a:r>
            <a:endParaRPr kumimoji="1" lang="en-US" altLang="ja-JP" dirty="0"/>
          </a:p>
          <a:p>
            <a:r>
              <a:rPr lang="ja-JP" altLang="en-US"/>
              <a:t>おわりに</a:t>
            </a:r>
            <a:endParaRPr kumimoji="1" lang="ja-JP" altLang="en-US"/>
          </a:p>
        </p:txBody>
      </p:sp>
    </p:spTree>
    <p:extLst>
      <p:ext uri="{BB962C8B-B14F-4D97-AF65-F5344CB8AC3E}">
        <p14:creationId xmlns:p14="http://schemas.microsoft.com/office/powerpoint/2010/main" val="1729593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BB963-1B76-4E44-9F6F-44B6F068ACC2}"/>
              </a:ext>
            </a:extLst>
          </p:cNvPr>
          <p:cNvSpPr>
            <a:spLocks noGrp="1"/>
          </p:cNvSpPr>
          <p:nvPr>
            <p:ph type="title"/>
          </p:nvPr>
        </p:nvSpPr>
        <p:spPr/>
        <p:txBody>
          <a:bodyPr/>
          <a:lstStyle/>
          <a:p>
            <a:endParaRPr kumimoji="1" lang="ja-JP" altLang="en-US"/>
          </a:p>
        </p:txBody>
      </p:sp>
      <p:sp>
        <p:nvSpPr>
          <p:cNvPr id="3" name="日付プレースホルダー 2">
            <a:extLst>
              <a:ext uri="{FF2B5EF4-FFF2-40B4-BE49-F238E27FC236}">
                <a16:creationId xmlns:a16="http://schemas.microsoft.com/office/drawing/2014/main" id="{B7F9CA9F-EF66-F648-A38A-F9C42ADC3D4C}"/>
              </a:ext>
            </a:extLst>
          </p:cNvPr>
          <p:cNvSpPr>
            <a:spLocks noGrp="1"/>
          </p:cNvSpPr>
          <p:nvPr>
            <p:ph type="dt" sz="half" idx="10"/>
          </p:nvPr>
        </p:nvSpPr>
        <p:spPr/>
        <p:txBody>
          <a:bodyPr/>
          <a:lstStyle/>
          <a:p>
            <a:fld id="{4341EA7C-D461-6041-8E0E-F656A44343A5}" type="datetime1">
              <a:rPr kumimoji="1" lang="ja-JP" altLang="en-US" smtClean="0"/>
              <a:t>2020/9/11</a:t>
            </a:fld>
            <a:endParaRPr kumimoji="1" lang="ja-JP" altLang="en-US"/>
          </a:p>
        </p:txBody>
      </p:sp>
      <p:sp>
        <p:nvSpPr>
          <p:cNvPr id="4" name="フッター プレースホルダー 3">
            <a:extLst>
              <a:ext uri="{FF2B5EF4-FFF2-40B4-BE49-F238E27FC236}">
                <a16:creationId xmlns:a16="http://schemas.microsoft.com/office/drawing/2014/main" id="{D50E35C6-CDAF-164F-A217-3A80030B0AC0}"/>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EDC7A173-3A23-3240-A54F-0FBA70C820A4}"/>
              </a:ext>
            </a:extLst>
          </p:cNvPr>
          <p:cNvSpPr>
            <a:spLocks noGrp="1"/>
          </p:cNvSpPr>
          <p:nvPr>
            <p:ph type="sldNum" sz="quarter" idx="12"/>
          </p:nvPr>
        </p:nvSpPr>
        <p:spPr/>
        <p:txBody>
          <a:bodyPr/>
          <a:lstStyle/>
          <a:p>
            <a:fld id="{2981C279-7323-A845-8A27-BB5908B2F04D}" type="slidenum">
              <a:rPr kumimoji="1" lang="ja-JP" altLang="en-US" smtClean="0"/>
              <a:t>20</a:t>
            </a:fld>
            <a:endParaRPr kumimoji="1" lang="ja-JP" altLang="en-US"/>
          </a:p>
        </p:txBody>
      </p:sp>
      <p:grpSp>
        <p:nvGrpSpPr>
          <p:cNvPr id="6" name="グループ化 5">
            <a:extLst>
              <a:ext uri="{FF2B5EF4-FFF2-40B4-BE49-F238E27FC236}">
                <a16:creationId xmlns:a16="http://schemas.microsoft.com/office/drawing/2014/main" id="{90D18F01-2BBF-C84B-8485-C7E7243E88D8}"/>
              </a:ext>
            </a:extLst>
          </p:cNvPr>
          <p:cNvGrpSpPr/>
          <p:nvPr/>
        </p:nvGrpSpPr>
        <p:grpSpPr>
          <a:xfrm>
            <a:off x="163626" y="1160115"/>
            <a:ext cx="4103574" cy="680876"/>
            <a:chOff x="163626" y="1160115"/>
            <a:chExt cx="4103574" cy="680876"/>
          </a:xfrm>
        </p:grpSpPr>
        <p:cxnSp>
          <p:nvCxnSpPr>
            <p:cNvPr id="7" name="直線コネクタ 6">
              <a:extLst>
                <a:ext uri="{FF2B5EF4-FFF2-40B4-BE49-F238E27FC236}">
                  <a16:creationId xmlns:a16="http://schemas.microsoft.com/office/drawing/2014/main" id="{E7C6A173-0964-134D-947E-15DC34060103}"/>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FB915536-105B-5D47-8AEA-1D668ACAEC6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プレースホルダー 12">
            <a:extLst>
              <a:ext uri="{FF2B5EF4-FFF2-40B4-BE49-F238E27FC236}">
                <a16:creationId xmlns:a16="http://schemas.microsoft.com/office/drawing/2014/main" id="{B9E78AD1-3EAD-ED4C-A870-F775161359E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テキスト</a:t>
            </a:r>
          </a:p>
        </p:txBody>
      </p:sp>
    </p:spTree>
    <p:extLst>
      <p:ext uri="{BB962C8B-B14F-4D97-AF65-F5344CB8AC3E}">
        <p14:creationId xmlns:p14="http://schemas.microsoft.com/office/powerpoint/2010/main" val="2314095881"/>
      </p:ext>
    </p:extLst>
  </p:cSld>
  <p:clrMapOvr>
    <a:masterClrMapping/>
  </p:clrMapOvr>
</p:sld>
</file>

<file path=ppt/theme/theme1.xml><?xml version="1.0" encoding="utf-8"?>
<a:theme xmlns:a="http://schemas.openxmlformats.org/drawingml/2006/main" name="Office テーマ">
  <a:themeElements>
    <a:clrScheme name="Matsushita_ver2">
      <a:dk1>
        <a:srgbClr val="1D1D1D"/>
      </a:dk1>
      <a:lt1>
        <a:srgbClr val="E4E4E4"/>
      </a:lt1>
      <a:dk2>
        <a:srgbClr val="44546A"/>
      </a:dk2>
      <a:lt2>
        <a:srgbClr val="E7E6E6"/>
      </a:lt2>
      <a:accent1>
        <a:srgbClr val="3090C4"/>
      </a:accent1>
      <a:accent2>
        <a:srgbClr val="E48935"/>
      </a:accent2>
      <a:accent3>
        <a:srgbClr val="42A544"/>
      </a:accent3>
      <a:accent4>
        <a:srgbClr val="EB71CA"/>
      </a:accent4>
      <a:accent5>
        <a:srgbClr val="935A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2384</TotalTime>
  <Words>1457</Words>
  <Application>Microsoft Macintosh PowerPoint</Application>
  <PresentationFormat>画面に合わせる (4:3)</PresentationFormat>
  <Paragraphs>421</Paragraphs>
  <Slides>20</Slides>
  <Notes>0</Notes>
  <HiddenSlides>1</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20</vt:i4>
      </vt:variant>
    </vt:vector>
  </HeadingPairs>
  <TitlesOfParts>
    <vt:vector size="28" baseType="lpstr">
      <vt:lpstr>Hiragino Kaku Gothic Pro W3</vt:lpstr>
      <vt:lpstr>Hiragino Kaku Gothic ProN W3</vt:lpstr>
      <vt:lpstr>Hiragino Sans W4</vt:lpstr>
      <vt:lpstr>Meiryo</vt:lpstr>
      <vt:lpstr>游ゴシック</vt:lpstr>
      <vt:lpstr>Arial</vt:lpstr>
      <vt:lpstr>Cambria Math</vt:lpstr>
      <vt:lpstr>Office テーマ</vt:lpstr>
      <vt:lpstr>人間とエージェントの交渉における プロファイリングを用いた交渉戦略</vt:lpstr>
      <vt:lpstr>はじめに</vt:lpstr>
      <vt:lpstr>はじめに</vt:lpstr>
      <vt:lpstr>はじめに</vt:lpstr>
      <vt:lpstr>はじめに</vt:lpstr>
      <vt:lpstr>人間とエージェントの交渉</vt:lpstr>
      <vt:lpstr>人間とエージェントの交渉</vt:lpstr>
      <vt:lpstr>プロファイリングの手法</vt:lpstr>
      <vt:lpstr>提案手法</vt:lpstr>
      <vt:lpstr>提案手法</vt:lpstr>
      <vt:lpstr>提案手法</vt:lpstr>
      <vt:lpstr>提案手法</vt:lpstr>
      <vt:lpstr>提案手法</vt:lpstr>
      <vt:lpstr>提案手法</vt:lpstr>
      <vt:lpstr>提案手法</vt:lpstr>
      <vt:lpstr>提案手法</vt:lpstr>
      <vt:lpstr>提案手法</vt:lpstr>
      <vt:lpstr>進捗と今後の予定</vt:lpstr>
      <vt:lpstr>目次案</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131</cp:revision>
  <dcterms:created xsi:type="dcterms:W3CDTF">2020-04-19T09:33:40Z</dcterms:created>
  <dcterms:modified xsi:type="dcterms:W3CDTF">2020-09-11T09:03:12Z</dcterms:modified>
</cp:coreProperties>
</file>