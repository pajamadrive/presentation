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4"/>
  </p:notesMasterIdLst>
  <p:sldIdLst>
    <p:sldId id="256" r:id="rId2"/>
    <p:sldId id="441" r:id="rId3"/>
    <p:sldId id="434" r:id="rId4"/>
    <p:sldId id="443" r:id="rId5"/>
    <p:sldId id="444" r:id="rId6"/>
    <p:sldId id="445" r:id="rId7"/>
    <p:sldId id="440" r:id="rId8"/>
    <p:sldId id="437" r:id="rId9"/>
    <p:sldId id="393" r:id="rId10"/>
    <p:sldId id="439" r:id="rId11"/>
    <p:sldId id="442" r:id="rId12"/>
    <p:sldId id="257"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359"/>
    <p:restoredTop sz="94624"/>
  </p:normalViewPr>
  <p:slideViewPr>
    <p:cSldViewPr snapToGrid="0" snapToObjects="1" showGuides="1">
      <p:cViewPr varScale="1">
        <p:scale>
          <a:sx n="110" d="100"/>
          <a:sy n="110" d="100"/>
        </p:scale>
        <p:origin x="1832" y="176"/>
      </p:cViewPr>
      <p:guideLst>
        <p:guide orient="horz" pos="2137"/>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0CCDC2-C448-5942-B3C6-FAFA0B7166CF}" type="datetimeFigureOut">
              <a:rPr kumimoji="1" lang="ja-JP" altLang="en-US" smtClean="0"/>
              <a:t>2020/5/11</a:t>
            </a:fld>
            <a:endParaRPr kumimoji="1" lang="ja-JP" altLang="en-US"/>
          </a:p>
        </p:txBody>
      </p:sp>
      <p:sp>
        <p:nvSpPr>
          <p:cNvPr id="4" name="スライド イメージ プレースホルダー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D68E3D-F587-EC48-9825-EB28F1280931}" type="slidenum">
              <a:rPr kumimoji="1" lang="ja-JP" altLang="en-US" smtClean="0"/>
              <a:t>‹#›</a:t>
            </a:fld>
            <a:endParaRPr kumimoji="1" lang="ja-JP" altLang="en-US"/>
          </a:p>
        </p:txBody>
      </p:sp>
    </p:spTree>
    <p:extLst>
      <p:ext uri="{BB962C8B-B14F-4D97-AF65-F5344CB8AC3E}">
        <p14:creationId xmlns:p14="http://schemas.microsoft.com/office/powerpoint/2010/main" val="279737346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8D7740A0-10A2-AC4B-9E37-89A047D63AA9}"/>
              </a:ext>
            </a:extLst>
          </p:cNvPr>
          <p:cNvSpPr/>
          <p:nvPr userDrawn="1"/>
        </p:nvSpPr>
        <p:spPr>
          <a:xfrm>
            <a:off x="-18000" y="1735015"/>
            <a:ext cx="9180000" cy="3411416"/>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Title 1"/>
          <p:cNvSpPr>
            <a:spLocks noGrp="1"/>
          </p:cNvSpPr>
          <p:nvPr>
            <p:ph type="ctrTitle"/>
          </p:nvPr>
        </p:nvSpPr>
        <p:spPr>
          <a:xfrm>
            <a:off x="-130302" y="1368546"/>
            <a:ext cx="9404604" cy="2387600"/>
          </a:xfrm>
        </p:spPr>
        <p:txBody>
          <a:bodyPr anchor="b"/>
          <a:lstStyle>
            <a:lvl1pPr algn="ctr">
              <a:defRPr sz="6000">
                <a:solidFill>
                  <a:schemeClr val="bg1"/>
                </a:solidFill>
              </a:defRPr>
            </a:lvl1pPr>
          </a:lstStyle>
          <a:p>
            <a:r>
              <a:rPr lang="ja-JP" altLang="en-US"/>
              <a:t>マスター タイトルの書式設定</a:t>
            </a:r>
            <a:endParaRPr lang="en-US" dirty="0"/>
          </a:p>
        </p:txBody>
      </p:sp>
      <p:sp>
        <p:nvSpPr>
          <p:cNvPr id="3" name="Subtitle 2"/>
          <p:cNvSpPr>
            <a:spLocks noGrp="1"/>
          </p:cNvSpPr>
          <p:nvPr>
            <p:ph type="subTitle" idx="1"/>
          </p:nvPr>
        </p:nvSpPr>
        <p:spPr>
          <a:xfrm>
            <a:off x="1143000" y="4188188"/>
            <a:ext cx="6858000" cy="1655762"/>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FDC2C275-3977-4849-BBDE-F9BC93110E65}" type="datetime1">
              <a:rPr kumimoji="1" lang="ja-JP" altLang="en-US" smtClean="0"/>
              <a:t>2020/5/11</a:t>
            </a:fld>
            <a:endParaRPr kumimoji="1" lang="ja-JP" altLang="en-US"/>
          </a:p>
        </p:txBody>
      </p:sp>
      <p:sp>
        <p:nvSpPr>
          <p:cNvPr id="5" name="Footer Placeholder 4"/>
          <p:cNvSpPr>
            <a:spLocks noGrp="1"/>
          </p:cNvSpPr>
          <p:nvPr>
            <p:ph type="ftr" sz="quarter" idx="11"/>
          </p:nvPr>
        </p:nvSpPr>
        <p:spPr/>
        <p:txBody>
          <a:bodyPr/>
          <a:lstStyle/>
          <a:p>
            <a:r>
              <a:rPr kumimoji="1" lang="ja-JP" altLang="en-US"/>
              <a:t>進捗報告</a:t>
            </a:r>
          </a:p>
        </p:txBody>
      </p:sp>
      <p:sp>
        <p:nvSpPr>
          <p:cNvPr id="6" name="Slide Number Placeholder 5"/>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
        <p:nvSpPr>
          <p:cNvPr id="10" name="角丸四角形 9">
            <a:extLst>
              <a:ext uri="{FF2B5EF4-FFF2-40B4-BE49-F238E27FC236}">
                <a16:creationId xmlns:a16="http://schemas.microsoft.com/office/drawing/2014/main" id="{EE0A9B93-3B75-BD4C-97FF-D428AE5ADB8E}"/>
              </a:ext>
            </a:extLst>
          </p:cNvPr>
          <p:cNvSpPr/>
          <p:nvPr userDrawn="1"/>
        </p:nvSpPr>
        <p:spPr>
          <a:xfrm>
            <a:off x="562708" y="3934582"/>
            <a:ext cx="8006861" cy="72000"/>
          </a:xfrm>
          <a:prstGeom prst="roundRect">
            <a:avLst>
              <a:gd name="adj" fmla="val 5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3128916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番号なし_箇条書き貼り付け用">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5238" y="-128952"/>
            <a:ext cx="8198828" cy="1095506"/>
          </a:xfrm>
        </p:spPr>
        <p:txBody>
          <a:bodyPr>
            <a:noAutofit/>
          </a:bodyPr>
          <a:lstStyle>
            <a:lvl1pPr>
              <a:defRPr sz="4800"/>
            </a:lvl1pPr>
          </a:lstStyle>
          <a:p>
            <a:r>
              <a:rPr lang="ja-JP" altLang="en-US"/>
              <a:t>スライドのタイトル</a:t>
            </a:r>
            <a:endParaRPr lang="en-US" dirty="0"/>
          </a:p>
        </p:txBody>
      </p:sp>
      <p:sp>
        <p:nvSpPr>
          <p:cNvPr id="4" name="Date Placeholder 3"/>
          <p:cNvSpPr>
            <a:spLocks noGrp="1"/>
          </p:cNvSpPr>
          <p:nvPr>
            <p:ph type="dt" sz="half" idx="10"/>
          </p:nvPr>
        </p:nvSpPr>
        <p:spPr/>
        <p:txBody>
          <a:bodyPr/>
          <a:lstStyle/>
          <a:p>
            <a:fld id="{953EA1E6-C3B8-DE4D-A346-09EF080BA12A}" type="datetime1">
              <a:rPr kumimoji="1" lang="ja-JP" altLang="en-US" smtClean="0"/>
              <a:t>2020/5/11</a:t>
            </a:fld>
            <a:endParaRPr kumimoji="1" lang="ja-JP" altLang="en-US"/>
          </a:p>
        </p:txBody>
      </p:sp>
      <p:sp>
        <p:nvSpPr>
          <p:cNvPr id="5" name="Footer Placeholder 4"/>
          <p:cNvSpPr>
            <a:spLocks noGrp="1"/>
          </p:cNvSpPr>
          <p:nvPr>
            <p:ph type="ftr" sz="quarter" idx="11"/>
          </p:nvPr>
        </p:nvSpPr>
        <p:spPr/>
        <p:txBody>
          <a:bodyPr/>
          <a:lstStyle/>
          <a:p>
            <a:r>
              <a:rPr kumimoji="1" lang="ja-JP" altLang="en-US"/>
              <a:t>進捗報告</a:t>
            </a:r>
          </a:p>
        </p:txBody>
      </p:sp>
      <p:sp>
        <p:nvSpPr>
          <p:cNvPr id="6" name="Slide Number Placeholder 5"/>
          <p:cNvSpPr>
            <a:spLocks noGrp="1"/>
          </p:cNvSpPr>
          <p:nvPr>
            <p:ph type="sldNum" sz="quarter" idx="12"/>
          </p:nvPr>
        </p:nvSpPr>
        <p:spPr>
          <a:xfrm>
            <a:off x="8228059" y="6443601"/>
            <a:ext cx="721106" cy="401638"/>
          </a:xfrm>
        </p:spPr>
        <p:txBody>
          <a:bodyPr/>
          <a:lstStyle>
            <a:lvl1pPr>
              <a:defRPr sz="2800"/>
            </a:lvl1pPr>
          </a:lstStyle>
          <a:p>
            <a:fld id="{2981C279-7323-A845-8A27-BB5908B2F04D}" type="slidenum">
              <a:rPr kumimoji="1" lang="ja-JP" altLang="en-US" smtClean="0"/>
              <a:pPr/>
              <a:t>‹#›</a:t>
            </a:fld>
            <a:endParaRPr kumimoji="1" lang="ja-JP" altLang="en-US"/>
          </a:p>
        </p:txBody>
      </p:sp>
      <p:sp>
        <p:nvSpPr>
          <p:cNvPr id="13" name="Content Placeholder 2">
            <a:extLst>
              <a:ext uri="{FF2B5EF4-FFF2-40B4-BE49-F238E27FC236}">
                <a16:creationId xmlns:a16="http://schemas.microsoft.com/office/drawing/2014/main" id="{6CB6FB83-902B-494A-98B3-A5B53F5B8137}"/>
              </a:ext>
            </a:extLst>
          </p:cNvPr>
          <p:cNvSpPr>
            <a:spLocks noGrp="1"/>
          </p:cNvSpPr>
          <p:nvPr>
            <p:ph idx="1"/>
          </p:nvPr>
        </p:nvSpPr>
        <p:spPr>
          <a:xfrm>
            <a:off x="194898" y="1884384"/>
            <a:ext cx="8859709" cy="4692114"/>
          </a:xfrm>
        </p:spPr>
        <p:txBody>
          <a:bodyPr/>
          <a:lstStyle>
            <a:lvl3pPr>
              <a:lnSpc>
                <a:spcPct val="100000"/>
              </a:lnSpc>
              <a:defRPr/>
            </a:lvl3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p:txBody>
      </p:sp>
    </p:spTree>
    <p:extLst>
      <p:ext uri="{BB962C8B-B14F-4D97-AF65-F5344CB8AC3E}">
        <p14:creationId xmlns:p14="http://schemas.microsoft.com/office/powerpoint/2010/main" val="13881390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番号あり_箇条書き貼り付け用">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179634" y="-128952"/>
            <a:ext cx="8198828" cy="1095506"/>
          </a:xfrm>
        </p:spPr>
        <p:txBody>
          <a:bodyPr>
            <a:noAutofit/>
          </a:bodyPr>
          <a:lstStyle>
            <a:lvl1pPr>
              <a:defRPr sz="4800"/>
            </a:lvl1pPr>
          </a:lstStyle>
          <a:p>
            <a:r>
              <a:rPr lang="ja-JP" altLang="en-US"/>
              <a:t>スライドのタイトル</a:t>
            </a:r>
            <a:endParaRPr lang="en-US" dirty="0"/>
          </a:p>
        </p:txBody>
      </p:sp>
      <p:sp>
        <p:nvSpPr>
          <p:cNvPr id="3" name="Content Placeholder 2"/>
          <p:cNvSpPr>
            <a:spLocks noGrp="1"/>
          </p:cNvSpPr>
          <p:nvPr>
            <p:ph idx="1"/>
          </p:nvPr>
        </p:nvSpPr>
        <p:spPr>
          <a:xfrm>
            <a:off x="194898" y="1884384"/>
            <a:ext cx="8859709" cy="4692114"/>
          </a:xfrm>
        </p:spPr>
        <p:txBody>
          <a:bodyPr/>
          <a:lstStyle>
            <a:lvl3pPr>
              <a:lnSpc>
                <a:spcPct val="100000"/>
              </a:lnSpc>
              <a:defRPr/>
            </a:lvl3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p:txBody>
      </p:sp>
      <p:sp>
        <p:nvSpPr>
          <p:cNvPr id="4" name="Date Placeholder 3"/>
          <p:cNvSpPr>
            <a:spLocks noGrp="1"/>
          </p:cNvSpPr>
          <p:nvPr>
            <p:ph type="dt" sz="half" idx="10"/>
          </p:nvPr>
        </p:nvSpPr>
        <p:spPr/>
        <p:txBody>
          <a:bodyPr/>
          <a:lstStyle/>
          <a:p>
            <a:fld id="{24B158CC-F5BE-2345-99BA-C49B60654C2B}" type="datetime1">
              <a:rPr kumimoji="1" lang="ja-JP" altLang="en-US" smtClean="0"/>
              <a:t>2020/5/11</a:t>
            </a:fld>
            <a:endParaRPr kumimoji="1" lang="ja-JP" altLang="en-US"/>
          </a:p>
        </p:txBody>
      </p:sp>
      <p:sp>
        <p:nvSpPr>
          <p:cNvPr id="5" name="Footer Placeholder 4"/>
          <p:cNvSpPr>
            <a:spLocks noGrp="1"/>
          </p:cNvSpPr>
          <p:nvPr>
            <p:ph type="ftr" sz="quarter" idx="11"/>
          </p:nvPr>
        </p:nvSpPr>
        <p:spPr/>
        <p:txBody>
          <a:bodyPr/>
          <a:lstStyle/>
          <a:p>
            <a:r>
              <a:rPr kumimoji="1" lang="ja-JP" altLang="en-US"/>
              <a:t>進捗報告</a:t>
            </a:r>
          </a:p>
        </p:txBody>
      </p:sp>
      <p:sp>
        <p:nvSpPr>
          <p:cNvPr id="6" name="Slide Number Placeholder 5"/>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
        <p:nvSpPr>
          <p:cNvPr id="9" name="フリーフォーム 8">
            <a:extLst>
              <a:ext uri="{FF2B5EF4-FFF2-40B4-BE49-F238E27FC236}">
                <a16:creationId xmlns:a16="http://schemas.microsoft.com/office/drawing/2014/main" id="{2088A402-64A7-4F4B-9DF6-0F821459DD04}"/>
              </a:ext>
            </a:extLst>
          </p:cNvPr>
          <p:cNvSpPr/>
          <p:nvPr userDrawn="1"/>
        </p:nvSpPr>
        <p:spPr>
          <a:xfrm>
            <a:off x="-63877" y="-128952"/>
            <a:ext cx="1172309" cy="1160586"/>
          </a:xfrm>
          <a:custGeom>
            <a:avLst/>
            <a:gdLst>
              <a:gd name="connsiteX0" fmla="*/ 0 w 1289540"/>
              <a:gd name="connsiteY0" fmla="*/ 0 h 1160586"/>
              <a:gd name="connsiteX1" fmla="*/ 1286782 w 1289540"/>
              <a:gd name="connsiteY1" fmla="*/ 0 h 1160586"/>
              <a:gd name="connsiteX2" fmla="*/ 1289540 w 1289540"/>
              <a:gd name="connsiteY2" fmla="*/ 27360 h 1160586"/>
              <a:gd name="connsiteX3" fmla="*/ 1289540 w 1289540"/>
              <a:gd name="connsiteY3" fmla="*/ 933935 h 1160586"/>
              <a:gd name="connsiteX4" fmla="*/ 1062889 w 1289540"/>
              <a:gd name="connsiteY4" fmla="*/ 1160586 h 1160586"/>
              <a:gd name="connsiteX5" fmla="*/ 49937 w 1289540"/>
              <a:gd name="connsiteY5" fmla="*/ 1160586 h 1160586"/>
              <a:gd name="connsiteX6" fmla="*/ 4259 w 1289540"/>
              <a:gd name="connsiteY6" fmla="*/ 1155981 h 1160586"/>
              <a:gd name="connsiteX7" fmla="*/ 0 w 1289540"/>
              <a:gd name="connsiteY7" fmla="*/ 1154659 h 116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89540" h="1160586">
                <a:moveTo>
                  <a:pt x="0" y="0"/>
                </a:moveTo>
                <a:lnTo>
                  <a:pt x="1286782" y="0"/>
                </a:lnTo>
                <a:lnTo>
                  <a:pt x="1289540" y="27360"/>
                </a:lnTo>
                <a:lnTo>
                  <a:pt x="1289540" y="933935"/>
                </a:lnTo>
                <a:cubicBezTo>
                  <a:pt x="1289540" y="1059111"/>
                  <a:pt x="1188065" y="1160586"/>
                  <a:pt x="1062889" y="1160586"/>
                </a:cubicBezTo>
                <a:lnTo>
                  <a:pt x="49937" y="1160586"/>
                </a:lnTo>
                <a:cubicBezTo>
                  <a:pt x="34290" y="1160586"/>
                  <a:pt x="19013" y="1159001"/>
                  <a:pt x="4259" y="1155981"/>
                </a:cubicBezTo>
                <a:lnTo>
                  <a:pt x="0" y="1154659"/>
                </a:lnTo>
                <a:close/>
              </a:path>
            </a:pathLst>
          </a:custGeom>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プレースホルダー 10">
            <a:extLst>
              <a:ext uri="{FF2B5EF4-FFF2-40B4-BE49-F238E27FC236}">
                <a16:creationId xmlns:a16="http://schemas.microsoft.com/office/drawing/2014/main" id="{9B857D65-C0D5-C14C-9A10-143D21D4BE97}"/>
              </a:ext>
            </a:extLst>
          </p:cNvPr>
          <p:cNvSpPr>
            <a:spLocks noGrp="1"/>
          </p:cNvSpPr>
          <p:nvPr>
            <p:ph type="body" sz="quarter" idx="13" hasCustomPrompt="1"/>
          </p:nvPr>
        </p:nvSpPr>
        <p:spPr>
          <a:xfrm>
            <a:off x="-425464" y="-27300"/>
            <a:ext cx="1879127" cy="972000"/>
          </a:xfrm>
        </p:spPr>
        <p:txBody>
          <a:bodyPr>
            <a:noAutofit/>
          </a:bodyPr>
          <a:lstStyle>
            <a:lvl1pPr marL="0" indent="0" algn="ctr">
              <a:buNone/>
              <a:defRPr sz="80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kumimoji="1" lang="en-US" altLang="ja-JP" dirty="0"/>
              <a:t>No</a:t>
            </a:r>
            <a:endParaRPr kumimoji="1" lang="ja-JP" altLang="en-US"/>
          </a:p>
        </p:txBody>
      </p:sp>
    </p:spTree>
    <p:extLst>
      <p:ext uri="{BB962C8B-B14F-4D97-AF65-F5344CB8AC3E}">
        <p14:creationId xmlns:p14="http://schemas.microsoft.com/office/powerpoint/2010/main" val="20572426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番号なし＿箇条書きのみ">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5238" y="-128952"/>
            <a:ext cx="8198828" cy="1095506"/>
          </a:xfrm>
        </p:spPr>
        <p:txBody>
          <a:bodyPr>
            <a:noAutofit/>
          </a:bodyPr>
          <a:lstStyle>
            <a:lvl1pPr>
              <a:defRPr sz="4800"/>
            </a:lvl1pPr>
          </a:lstStyle>
          <a:p>
            <a:r>
              <a:rPr lang="ja-JP" altLang="en-US"/>
              <a:t>スライドのタイトル</a:t>
            </a:r>
            <a:endParaRPr lang="en-US" dirty="0"/>
          </a:p>
        </p:txBody>
      </p:sp>
      <p:sp>
        <p:nvSpPr>
          <p:cNvPr id="4" name="Date Placeholder 3"/>
          <p:cNvSpPr>
            <a:spLocks noGrp="1"/>
          </p:cNvSpPr>
          <p:nvPr>
            <p:ph type="dt" sz="half" idx="10"/>
          </p:nvPr>
        </p:nvSpPr>
        <p:spPr/>
        <p:txBody>
          <a:bodyPr/>
          <a:lstStyle/>
          <a:p>
            <a:fld id="{FD99470E-4BC5-1945-9506-A510EA67C3DE}" type="datetime1">
              <a:rPr kumimoji="1" lang="ja-JP" altLang="en-US" smtClean="0"/>
              <a:t>2020/5/11</a:t>
            </a:fld>
            <a:endParaRPr kumimoji="1" lang="ja-JP" altLang="en-US"/>
          </a:p>
        </p:txBody>
      </p:sp>
      <p:sp>
        <p:nvSpPr>
          <p:cNvPr id="5" name="Footer Placeholder 4"/>
          <p:cNvSpPr>
            <a:spLocks noGrp="1"/>
          </p:cNvSpPr>
          <p:nvPr>
            <p:ph type="ftr" sz="quarter" idx="11"/>
          </p:nvPr>
        </p:nvSpPr>
        <p:spPr/>
        <p:txBody>
          <a:bodyPr/>
          <a:lstStyle/>
          <a:p>
            <a:r>
              <a:rPr kumimoji="1" lang="ja-JP" altLang="en-US"/>
              <a:t>進捗報告</a:t>
            </a:r>
          </a:p>
        </p:txBody>
      </p:sp>
      <p:sp>
        <p:nvSpPr>
          <p:cNvPr id="6" name="Slide Number Placeholder 5"/>
          <p:cNvSpPr>
            <a:spLocks noGrp="1"/>
          </p:cNvSpPr>
          <p:nvPr>
            <p:ph type="sldNum" sz="quarter" idx="12"/>
          </p:nvPr>
        </p:nvSpPr>
        <p:spPr>
          <a:xfrm>
            <a:off x="8228059" y="6443601"/>
            <a:ext cx="721106" cy="401638"/>
          </a:xfrm>
        </p:spPr>
        <p:txBody>
          <a:bodyPr/>
          <a:lstStyle>
            <a:lvl1pPr>
              <a:defRPr sz="2800"/>
            </a:lvl1pPr>
          </a:lstStyle>
          <a:p>
            <a:fld id="{2981C279-7323-A845-8A27-BB5908B2F04D}" type="slidenum">
              <a:rPr kumimoji="1" lang="ja-JP" altLang="en-US" smtClean="0"/>
              <a:pPr/>
              <a:t>‹#›</a:t>
            </a:fld>
            <a:endParaRPr kumimoji="1" lang="ja-JP" altLang="en-US"/>
          </a:p>
        </p:txBody>
      </p:sp>
      <p:sp>
        <p:nvSpPr>
          <p:cNvPr id="13" name="Content Placeholder 2">
            <a:extLst>
              <a:ext uri="{FF2B5EF4-FFF2-40B4-BE49-F238E27FC236}">
                <a16:creationId xmlns:a16="http://schemas.microsoft.com/office/drawing/2014/main" id="{6CB6FB83-902B-494A-98B3-A5B53F5B8137}"/>
              </a:ext>
            </a:extLst>
          </p:cNvPr>
          <p:cNvSpPr>
            <a:spLocks noGrp="1"/>
          </p:cNvSpPr>
          <p:nvPr>
            <p:ph idx="1"/>
          </p:nvPr>
        </p:nvSpPr>
        <p:spPr>
          <a:xfrm>
            <a:off x="194898" y="1169281"/>
            <a:ext cx="8859709" cy="4692114"/>
          </a:xfrm>
        </p:spPr>
        <p:txBody>
          <a:bodyPr/>
          <a:lstStyle>
            <a:lvl3pPr>
              <a:lnSpc>
                <a:spcPct val="100000"/>
              </a:lnSpc>
              <a:defRPr/>
            </a:lvl3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p:txBody>
      </p:sp>
    </p:spTree>
    <p:extLst>
      <p:ext uri="{BB962C8B-B14F-4D97-AF65-F5344CB8AC3E}">
        <p14:creationId xmlns:p14="http://schemas.microsoft.com/office/powerpoint/2010/main" val="16026999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番号あり_箇条書きのみ">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179634" y="-128952"/>
            <a:ext cx="8198828" cy="1095506"/>
          </a:xfrm>
        </p:spPr>
        <p:txBody>
          <a:bodyPr>
            <a:noAutofit/>
          </a:bodyPr>
          <a:lstStyle>
            <a:lvl1pPr>
              <a:defRPr sz="4800"/>
            </a:lvl1pPr>
          </a:lstStyle>
          <a:p>
            <a:r>
              <a:rPr lang="ja-JP" altLang="en-US"/>
              <a:t>スライドのタイトル</a:t>
            </a:r>
            <a:endParaRPr lang="en-US" dirty="0"/>
          </a:p>
        </p:txBody>
      </p:sp>
      <p:sp>
        <p:nvSpPr>
          <p:cNvPr id="4" name="Date Placeholder 3"/>
          <p:cNvSpPr>
            <a:spLocks noGrp="1"/>
          </p:cNvSpPr>
          <p:nvPr>
            <p:ph type="dt" sz="half" idx="10"/>
          </p:nvPr>
        </p:nvSpPr>
        <p:spPr/>
        <p:txBody>
          <a:bodyPr/>
          <a:lstStyle/>
          <a:p>
            <a:fld id="{484468A3-0919-F54E-B59A-E9ED9FABFE93}" type="datetime1">
              <a:rPr kumimoji="1" lang="ja-JP" altLang="en-US" smtClean="0"/>
              <a:t>2020/5/11</a:t>
            </a:fld>
            <a:endParaRPr kumimoji="1" lang="ja-JP" altLang="en-US"/>
          </a:p>
        </p:txBody>
      </p:sp>
      <p:sp>
        <p:nvSpPr>
          <p:cNvPr id="5" name="Footer Placeholder 4"/>
          <p:cNvSpPr>
            <a:spLocks noGrp="1"/>
          </p:cNvSpPr>
          <p:nvPr>
            <p:ph type="ftr" sz="quarter" idx="11"/>
          </p:nvPr>
        </p:nvSpPr>
        <p:spPr/>
        <p:txBody>
          <a:bodyPr/>
          <a:lstStyle/>
          <a:p>
            <a:r>
              <a:rPr kumimoji="1" lang="ja-JP" altLang="en-US"/>
              <a:t>進捗報告</a:t>
            </a:r>
          </a:p>
        </p:txBody>
      </p:sp>
      <p:sp>
        <p:nvSpPr>
          <p:cNvPr id="6" name="Slide Number Placeholder 5"/>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
        <p:nvSpPr>
          <p:cNvPr id="9" name="フリーフォーム 8">
            <a:extLst>
              <a:ext uri="{FF2B5EF4-FFF2-40B4-BE49-F238E27FC236}">
                <a16:creationId xmlns:a16="http://schemas.microsoft.com/office/drawing/2014/main" id="{2088A402-64A7-4F4B-9DF6-0F821459DD04}"/>
              </a:ext>
            </a:extLst>
          </p:cNvPr>
          <p:cNvSpPr/>
          <p:nvPr userDrawn="1"/>
        </p:nvSpPr>
        <p:spPr>
          <a:xfrm>
            <a:off x="-63877" y="-128952"/>
            <a:ext cx="1172309" cy="1160586"/>
          </a:xfrm>
          <a:custGeom>
            <a:avLst/>
            <a:gdLst>
              <a:gd name="connsiteX0" fmla="*/ 0 w 1289540"/>
              <a:gd name="connsiteY0" fmla="*/ 0 h 1160586"/>
              <a:gd name="connsiteX1" fmla="*/ 1286782 w 1289540"/>
              <a:gd name="connsiteY1" fmla="*/ 0 h 1160586"/>
              <a:gd name="connsiteX2" fmla="*/ 1289540 w 1289540"/>
              <a:gd name="connsiteY2" fmla="*/ 27360 h 1160586"/>
              <a:gd name="connsiteX3" fmla="*/ 1289540 w 1289540"/>
              <a:gd name="connsiteY3" fmla="*/ 933935 h 1160586"/>
              <a:gd name="connsiteX4" fmla="*/ 1062889 w 1289540"/>
              <a:gd name="connsiteY4" fmla="*/ 1160586 h 1160586"/>
              <a:gd name="connsiteX5" fmla="*/ 49937 w 1289540"/>
              <a:gd name="connsiteY5" fmla="*/ 1160586 h 1160586"/>
              <a:gd name="connsiteX6" fmla="*/ 4259 w 1289540"/>
              <a:gd name="connsiteY6" fmla="*/ 1155981 h 1160586"/>
              <a:gd name="connsiteX7" fmla="*/ 0 w 1289540"/>
              <a:gd name="connsiteY7" fmla="*/ 1154659 h 116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89540" h="1160586">
                <a:moveTo>
                  <a:pt x="0" y="0"/>
                </a:moveTo>
                <a:lnTo>
                  <a:pt x="1286782" y="0"/>
                </a:lnTo>
                <a:lnTo>
                  <a:pt x="1289540" y="27360"/>
                </a:lnTo>
                <a:lnTo>
                  <a:pt x="1289540" y="933935"/>
                </a:lnTo>
                <a:cubicBezTo>
                  <a:pt x="1289540" y="1059111"/>
                  <a:pt x="1188065" y="1160586"/>
                  <a:pt x="1062889" y="1160586"/>
                </a:cubicBezTo>
                <a:lnTo>
                  <a:pt x="49937" y="1160586"/>
                </a:lnTo>
                <a:cubicBezTo>
                  <a:pt x="34290" y="1160586"/>
                  <a:pt x="19013" y="1159001"/>
                  <a:pt x="4259" y="1155981"/>
                </a:cubicBezTo>
                <a:lnTo>
                  <a:pt x="0" y="1154659"/>
                </a:lnTo>
                <a:close/>
              </a:path>
            </a:pathLst>
          </a:custGeom>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プレースホルダー 10">
            <a:extLst>
              <a:ext uri="{FF2B5EF4-FFF2-40B4-BE49-F238E27FC236}">
                <a16:creationId xmlns:a16="http://schemas.microsoft.com/office/drawing/2014/main" id="{9B857D65-C0D5-C14C-9A10-143D21D4BE97}"/>
              </a:ext>
            </a:extLst>
          </p:cNvPr>
          <p:cNvSpPr>
            <a:spLocks noGrp="1"/>
          </p:cNvSpPr>
          <p:nvPr>
            <p:ph type="body" sz="quarter" idx="13" hasCustomPrompt="1"/>
          </p:nvPr>
        </p:nvSpPr>
        <p:spPr>
          <a:xfrm>
            <a:off x="-425464" y="-27300"/>
            <a:ext cx="1879127" cy="972000"/>
          </a:xfrm>
        </p:spPr>
        <p:txBody>
          <a:bodyPr>
            <a:noAutofit/>
          </a:bodyPr>
          <a:lstStyle>
            <a:lvl1pPr marL="0" indent="0" algn="ctr">
              <a:buNone/>
              <a:defRPr sz="80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kumimoji="1" lang="en-US" altLang="ja-JP" dirty="0"/>
              <a:t>No</a:t>
            </a:r>
            <a:endParaRPr kumimoji="1" lang="ja-JP" altLang="en-US"/>
          </a:p>
        </p:txBody>
      </p:sp>
      <p:sp>
        <p:nvSpPr>
          <p:cNvPr id="10" name="Content Placeholder 2">
            <a:extLst>
              <a:ext uri="{FF2B5EF4-FFF2-40B4-BE49-F238E27FC236}">
                <a16:creationId xmlns:a16="http://schemas.microsoft.com/office/drawing/2014/main" id="{008DC9C3-5553-BD40-9933-0A4D05E8ED7A}"/>
              </a:ext>
            </a:extLst>
          </p:cNvPr>
          <p:cNvSpPr>
            <a:spLocks noGrp="1"/>
          </p:cNvSpPr>
          <p:nvPr>
            <p:ph idx="1"/>
          </p:nvPr>
        </p:nvSpPr>
        <p:spPr>
          <a:xfrm>
            <a:off x="194898" y="1169281"/>
            <a:ext cx="8859709" cy="4692114"/>
          </a:xfrm>
        </p:spPr>
        <p:txBody>
          <a:bodyPr/>
          <a:lstStyle>
            <a:lvl3pPr>
              <a:lnSpc>
                <a:spcPct val="100000"/>
              </a:lnSpc>
              <a:defRPr/>
            </a:lvl3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p:txBody>
      </p:sp>
    </p:spTree>
    <p:extLst>
      <p:ext uri="{BB962C8B-B14F-4D97-AF65-F5344CB8AC3E}">
        <p14:creationId xmlns:p14="http://schemas.microsoft.com/office/powerpoint/2010/main" val="35627199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409F3555-E93B-3A4D-AF4E-8776BA7B7879}" type="datetime1">
              <a:rPr kumimoji="1" lang="ja-JP" altLang="en-US" smtClean="0"/>
              <a:t>2020/5/11</a:t>
            </a:fld>
            <a:endParaRPr kumimoji="1" lang="ja-JP" altLang="en-US"/>
          </a:p>
        </p:txBody>
      </p:sp>
      <p:sp>
        <p:nvSpPr>
          <p:cNvPr id="5" name="Footer Placeholder 4"/>
          <p:cNvSpPr>
            <a:spLocks noGrp="1"/>
          </p:cNvSpPr>
          <p:nvPr>
            <p:ph type="ftr" sz="quarter" idx="11"/>
          </p:nvPr>
        </p:nvSpPr>
        <p:spPr/>
        <p:txBody>
          <a:bodyPr/>
          <a:lstStyle/>
          <a:p>
            <a:r>
              <a:rPr kumimoji="1" lang="ja-JP" altLang="en-US"/>
              <a:t>進捗報告</a:t>
            </a:r>
          </a:p>
        </p:txBody>
      </p:sp>
      <p:sp>
        <p:nvSpPr>
          <p:cNvPr id="6" name="Slide Number Placeholder 5"/>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Tree>
    <p:extLst>
      <p:ext uri="{BB962C8B-B14F-4D97-AF65-F5344CB8AC3E}">
        <p14:creationId xmlns:p14="http://schemas.microsoft.com/office/powerpoint/2010/main" val="17455961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E41D34DB-DCA4-3E46-8E9A-438514557B03}" type="datetime1">
              <a:rPr kumimoji="1" lang="ja-JP" altLang="en-US" smtClean="0"/>
              <a:t>2020/5/11</a:t>
            </a:fld>
            <a:endParaRPr kumimoji="1" lang="ja-JP" altLang="en-US"/>
          </a:p>
        </p:txBody>
      </p:sp>
      <p:sp>
        <p:nvSpPr>
          <p:cNvPr id="6" name="Footer Placeholder 5"/>
          <p:cNvSpPr>
            <a:spLocks noGrp="1"/>
          </p:cNvSpPr>
          <p:nvPr>
            <p:ph type="ftr" sz="quarter" idx="11"/>
          </p:nvPr>
        </p:nvSpPr>
        <p:spPr/>
        <p:txBody>
          <a:bodyPr/>
          <a:lstStyle/>
          <a:p>
            <a:r>
              <a:rPr kumimoji="1" lang="ja-JP" altLang="en-US"/>
              <a:t>進捗報告</a:t>
            </a:r>
          </a:p>
        </p:txBody>
      </p:sp>
      <p:sp>
        <p:nvSpPr>
          <p:cNvPr id="7" name="Slide Number Placeholder 6"/>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Tree>
    <p:extLst>
      <p:ext uri="{BB962C8B-B14F-4D97-AF65-F5344CB8AC3E}">
        <p14:creationId xmlns:p14="http://schemas.microsoft.com/office/powerpoint/2010/main" val="13769411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629842" y="2505075"/>
            <a:ext cx="3868340"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4629150" y="2505075"/>
            <a:ext cx="3887391"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B29C2B0B-3EB1-7D48-BCB2-B34EB8C22E6E}" type="datetime1">
              <a:rPr kumimoji="1" lang="ja-JP" altLang="en-US" smtClean="0"/>
              <a:t>2020/5/11</a:t>
            </a:fld>
            <a:endParaRPr kumimoji="1" lang="ja-JP" altLang="en-US"/>
          </a:p>
        </p:txBody>
      </p:sp>
      <p:sp>
        <p:nvSpPr>
          <p:cNvPr id="8" name="Footer Placeholder 7"/>
          <p:cNvSpPr>
            <a:spLocks noGrp="1"/>
          </p:cNvSpPr>
          <p:nvPr>
            <p:ph type="ftr" sz="quarter" idx="11"/>
          </p:nvPr>
        </p:nvSpPr>
        <p:spPr/>
        <p:txBody>
          <a:bodyPr/>
          <a:lstStyle/>
          <a:p>
            <a:r>
              <a:rPr kumimoji="1" lang="ja-JP" altLang="en-US"/>
              <a:t>進捗報告</a:t>
            </a:r>
          </a:p>
        </p:txBody>
      </p:sp>
      <p:sp>
        <p:nvSpPr>
          <p:cNvPr id="9" name="Slide Number Placeholder 8"/>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Tree>
    <p:extLst>
      <p:ext uri="{BB962C8B-B14F-4D97-AF65-F5344CB8AC3E}">
        <p14:creationId xmlns:p14="http://schemas.microsoft.com/office/powerpoint/2010/main" val="12418469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50CE9526-C6B6-3C4B-B48C-57A5608CC1DE}" type="datetime1">
              <a:rPr kumimoji="1" lang="ja-JP" altLang="en-US" smtClean="0"/>
              <a:t>2020/5/11</a:t>
            </a:fld>
            <a:endParaRPr kumimoji="1" lang="ja-JP" altLang="en-US"/>
          </a:p>
        </p:txBody>
      </p:sp>
      <p:sp>
        <p:nvSpPr>
          <p:cNvPr id="4" name="Footer Placeholder 3"/>
          <p:cNvSpPr>
            <a:spLocks noGrp="1"/>
          </p:cNvSpPr>
          <p:nvPr>
            <p:ph type="ftr" sz="quarter" idx="11"/>
          </p:nvPr>
        </p:nvSpPr>
        <p:spPr/>
        <p:txBody>
          <a:bodyPr/>
          <a:lstStyle/>
          <a:p>
            <a:r>
              <a:rPr kumimoji="1" lang="ja-JP" altLang="en-US"/>
              <a:t>進捗報告</a:t>
            </a:r>
          </a:p>
        </p:txBody>
      </p:sp>
      <p:sp>
        <p:nvSpPr>
          <p:cNvPr id="5" name="Slide Number Placeholder 4"/>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Tree>
    <p:extLst>
      <p:ext uri="{BB962C8B-B14F-4D97-AF65-F5344CB8AC3E}">
        <p14:creationId xmlns:p14="http://schemas.microsoft.com/office/powerpoint/2010/main" val="10140439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コピー用">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EDE972-7F9F-8545-A12B-9CBEE476963D}" type="datetime1">
              <a:rPr kumimoji="1" lang="ja-JP" altLang="en-US" smtClean="0"/>
              <a:t>2020/5/11</a:t>
            </a:fld>
            <a:endParaRPr kumimoji="1" lang="ja-JP" altLang="en-US"/>
          </a:p>
        </p:txBody>
      </p:sp>
      <p:sp>
        <p:nvSpPr>
          <p:cNvPr id="3" name="Footer Placeholder 2"/>
          <p:cNvSpPr>
            <a:spLocks noGrp="1"/>
          </p:cNvSpPr>
          <p:nvPr>
            <p:ph type="ftr" sz="quarter" idx="11"/>
          </p:nvPr>
        </p:nvSpPr>
        <p:spPr/>
        <p:txBody>
          <a:bodyPr/>
          <a:lstStyle/>
          <a:p>
            <a:r>
              <a:rPr kumimoji="1" lang="ja-JP" altLang="en-US"/>
              <a:t>進捗報告</a:t>
            </a:r>
          </a:p>
        </p:txBody>
      </p:sp>
      <p:sp>
        <p:nvSpPr>
          <p:cNvPr id="4" name="Slide Number Placeholder 3"/>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grpSp>
        <p:nvGrpSpPr>
          <p:cNvPr id="5" name="グループ化 4">
            <a:extLst>
              <a:ext uri="{FF2B5EF4-FFF2-40B4-BE49-F238E27FC236}">
                <a16:creationId xmlns:a16="http://schemas.microsoft.com/office/drawing/2014/main" id="{BF48DF8D-E5BC-9044-9980-A872104EC9D1}"/>
              </a:ext>
            </a:extLst>
          </p:cNvPr>
          <p:cNvGrpSpPr/>
          <p:nvPr userDrawn="1"/>
        </p:nvGrpSpPr>
        <p:grpSpPr>
          <a:xfrm>
            <a:off x="2438030" y="3497736"/>
            <a:ext cx="513617" cy="487974"/>
            <a:chOff x="5777279" y="1326905"/>
            <a:chExt cx="513617" cy="487974"/>
          </a:xfrm>
          <a:solidFill>
            <a:schemeClr val="accent1"/>
          </a:solidFill>
        </p:grpSpPr>
        <p:sp>
          <p:nvSpPr>
            <p:cNvPr id="6" name="三角形 5">
              <a:extLst>
                <a:ext uri="{FF2B5EF4-FFF2-40B4-BE49-F238E27FC236}">
                  <a16:creationId xmlns:a16="http://schemas.microsoft.com/office/drawing/2014/main" id="{3DC6B543-7F25-FF44-97B2-229A862B52F5}"/>
                </a:ext>
              </a:extLst>
            </p:cNvPr>
            <p:cNvSpPr/>
            <p:nvPr userDrawn="1"/>
          </p:nvSpPr>
          <p:spPr>
            <a:xfrm rot="5400000">
              <a:off x="5882786" y="1406770"/>
              <a:ext cx="487973" cy="328246"/>
            </a:xfrm>
            <a:prstGeom prst="triangle">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三角形 6">
              <a:extLst>
                <a:ext uri="{FF2B5EF4-FFF2-40B4-BE49-F238E27FC236}">
                  <a16:creationId xmlns:a16="http://schemas.microsoft.com/office/drawing/2014/main" id="{39018809-A256-1446-9BCB-F9BC0B2CEFC5}"/>
                </a:ext>
              </a:extLst>
            </p:cNvPr>
            <p:cNvSpPr/>
            <p:nvPr userDrawn="1"/>
          </p:nvSpPr>
          <p:spPr>
            <a:xfrm rot="5400000">
              <a:off x="5697415" y="1406769"/>
              <a:ext cx="487973" cy="328246"/>
            </a:xfrm>
            <a:prstGeom prst="triangle">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8" name="グループ化 7">
            <a:extLst>
              <a:ext uri="{FF2B5EF4-FFF2-40B4-BE49-F238E27FC236}">
                <a16:creationId xmlns:a16="http://schemas.microsoft.com/office/drawing/2014/main" id="{EEA83C1B-5795-FE4D-8A70-6E249896CB42}"/>
              </a:ext>
            </a:extLst>
          </p:cNvPr>
          <p:cNvGrpSpPr/>
          <p:nvPr userDrawn="1"/>
        </p:nvGrpSpPr>
        <p:grpSpPr>
          <a:xfrm>
            <a:off x="697504" y="3453857"/>
            <a:ext cx="686164" cy="488219"/>
            <a:chOff x="5159252" y="1181176"/>
            <a:chExt cx="686164" cy="488219"/>
          </a:xfrm>
          <a:solidFill>
            <a:schemeClr val="accent1"/>
          </a:solidFill>
        </p:grpSpPr>
        <p:sp>
          <p:nvSpPr>
            <p:cNvPr id="9" name="三角形 8">
              <a:extLst>
                <a:ext uri="{FF2B5EF4-FFF2-40B4-BE49-F238E27FC236}">
                  <a16:creationId xmlns:a16="http://schemas.microsoft.com/office/drawing/2014/main" id="{C16B67FE-3CD0-2140-8383-24074EDF5FCE}"/>
                </a:ext>
              </a:extLst>
            </p:cNvPr>
            <p:cNvSpPr/>
            <p:nvPr userDrawn="1"/>
          </p:nvSpPr>
          <p:spPr>
            <a:xfrm rot="5400000">
              <a:off x="5437306" y="1261040"/>
              <a:ext cx="487973" cy="328246"/>
            </a:xfrm>
            <a:prstGeom prst="triangle">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Tx/>
                <a:buBlip>
                  <a:blip r:embed="rId2"/>
                </a:buBlip>
              </a:pPr>
              <a:endParaRPr kumimoji="1" lang="ja-JP" altLang="en-US"/>
            </a:p>
          </p:txBody>
        </p:sp>
        <p:sp>
          <p:nvSpPr>
            <p:cNvPr id="10" name="三角形 9">
              <a:extLst>
                <a:ext uri="{FF2B5EF4-FFF2-40B4-BE49-F238E27FC236}">
                  <a16:creationId xmlns:a16="http://schemas.microsoft.com/office/drawing/2014/main" id="{460DA42C-3A8C-854B-87D3-67D552964AF8}"/>
                </a:ext>
              </a:extLst>
            </p:cNvPr>
            <p:cNvSpPr/>
            <p:nvPr userDrawn="1"/>
          </p:nvSpPr>
          <p:spPr>
            <a:xfrm rot="5400000">
              <a:off x="5264759" y="1261286"/>
              <a:ext cx="487973" cy="328246"/>
            </a:xfrm>
            <a:prstGeom prst="triangle">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Tx/>
                <a:buBlip>
                  <a:blip r:embed="rId2"/>
                </a:buBlip>
              </a:pPr>
              <a:endParaRPr kumimoji="1" lang="ja-JP" altLang="en-US"/>
            </a:p>
          </p:txBody>
        </p:sp>
        <p:sp>
          <p:nvSpPr>
            <p:cNvPr id="11" name="三角形 10">
              <a:extLst>
                <a:ext uri="{FF2B5EF4-FFF2-40B4-BE49-F238E27FC236}">
                  <a16:creationId xmlns:a16="http://schemas.microsoft.com/office/drawing/2014/main" id="{9E4FAB19-4805-5048-B3D0-482B1B63211B}"/>
                </a:ext>
              </a:extLst>
            </p:cNvPr>
            <p:cNvSpPr/>
            <p:nvPr userDrawn="1"/>
          </p:nvSpPr>
          <p:spPr>
            <a:xfrm rot="5400000">
              <a:off x="5079388" y="1261285"/>
              <a:ext cx="487973" cy="328246"/>
            </a:xfrm>
            <a:prstGeom prst="triangle">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Tx/>
                <a:buBlip>
                  <a:blip r:embed="rId2"/>
                </a:buBlip>
              </a:pPr>
              <a:endParaRPr kumimoji="1" lang="ja-JP" altLang="en-US"/>
            </a:p>
          </p:txBody>
        </p:sp>
      </p:grpSp>
      <p:sp>
        <p:nvSpPr>
          <p:cNvPr id="12" name="三角形 11">
            <a:extLst>
              <a:ext uri="{FF2B5EF4-FFF2-40B4-BE49-F238E27FC236}">
                <a16:creationId xmlns:a16="http://schemas.microsoft.com/office/drawing/2014/main" id="{2C762878-2D1B-CD44-AFDF-6B039A7E14AE}"/>
              </a:ext>
            </a:extLst>
          </p:cNvPr>
          <p:cNvSpPr/>
          <p:nvPr userDrawn="1"/>
        </p:nvSpPr>
        <p:spPr>
          <a:xfrm rot="5400000">
            <a:off x="3707109" y="3508864"/>
            <a:ext cx="487973" cy="328246"/>
          </a:xfrm>
          <a:prstGeom prst="triangle">
            <a:avLst/>
          </a:prstGeom>
          <a:solidFill>
            <a:schemeClr val="accent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3" name="グループ化 12">
            <a:extLst>
              <a:ext uri="{FF2B5EF4-FFF2-40B4-BE49-F238E27FC236}">
                <a16:creationId xmlns:a16="http://schemas.microsoft.com/office/drawing/2014/main" id="{D0F0539D-82B8-914D-9DE6-05B3A42AEE90}"/>
              </a:ext>
            </a:extLst>
          </p:cNvPr>
          <p:cNvGrpSpPr/>
          <p:nvPr userDrawn="1"/>
        </p:nvGrpSpPr>
        <p:grpSpPr>
          <a:xfrm>
            <a:off x="163626" y="1160115"/>
            <a:ext cx="4103574" cy="680876"/>
            <a:chOff x="163626" y="1160115"/>
            <a:chExt cx="4103574" cy="680876"/>
          </a:xfrm>
        </p:grpSpPr>
        <p:cxnSp>
          <p:nvCxnSpPr>
            <p:cNvPr id="14" name="直線コネクタ 13">
              <a:extLst>
                <a:ext uri="{FF2B5EF4-FFF2-40B4-BE49-F238E27FC236}">
                  <a16:creationId xmlns:a16="http://schemas.microsoft.com/office/drawing/2014/main" id="{CCB3DF71-233C-784B-A40E-F763DAF7410E}"/>
                </a:ext>
              </a:extLst>
            </p:cNvPr>
            <p:cNvCxnSpPr/>
            <p:nvPr userDrawn="1"/>
          </p:nvCxnSpPr>
          <p:spPr>
            <a:xfrm>
              <a:off x="163626" y="1699846"/>
              <a:ext cx="4103574"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CA15AE55-A3D1-3048-9E8F-3A81DFB0C414}"/>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6" name="テキスト プレースホルダー 12">
            <a:extLst>
              <a:ext uri="{FF2B5EF4-FFF2-40B4-BE49-F238E27FC236}">
                <a16:creationId xmlns:a16="http://schemas.microsoft.com/office/drawing/2014/main" id="{3013F31D-8B87-584D-8A56-225A22C7C61E}"/>
              </a:ext>
            </a:extLst>
          </p:cNvPr>
          <p:cNvSpPr>
            <a:spLocks noGrp="1"/>
          </p:cNvSpPr>
          <p:nvPr>
            <p:ph type="body" sz="quarter" idx="14" hasCustomPrompt="1"/>
          </p:nvPr>
        </p:nvSpPr>
        <p:spPr>
          <a:xfrm>
            <a:off x="404691" y="1192726"/>
            <a:ext cx="8147050" cy="680876"/>
          </a:xfrm>
        </p:spPr>
        <p:txBody>
          <a:bodyPr/>
          <a:lstStyle>
            <a:lvl1pPr marL="0" indent="0">
              <a:buNone/>
              <a:defRPr sz="3200"/>
            </a:lvl1pPr>
          </a:lstStyle>
          <a:p>
            <a:pPr lvl="0"/>
            <a:r>
              <a:rPr kumimoji="1" lang="ja-JP" altLang="en-US"/>
              <a:t>テキスト</a:t>
            </a:r>
          </a:p>
        </p:txBody>
      </p:sp>
    </p:spTree>
    <p:extLst>
      <p:ext uri="{BB962C8B-B14F-4D97-AF65-F5344CB8AC3E}">
        <p14:creationId xmlns:p14="http://schemas.microsoft.com/office/powerpoint/2010/main" val="5240859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ja-JP" altLang="en-US"/>
              <a:t>マスター タイトルの書式設定</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3B215014-30FE-CC43-81CB-CE71B2D66247}" type="datetime1">
              <a:rPr kumimoji="1" lang="ja-JP" altLang="en-US" smtClean="0"/>
              <a:t>2020/5/11</a:t>
            </a:fld>
            <a:endParaRPr kumimoji="1" lang="ja-JP" altLang="en-US"/>
          </a:p>
        </p:txBody>
      </p:sp>
      <p:sp>
        <p:nvSpPr>
          <p:cNvPr id="6" name="Footer Placeholder 5"/>
          <p:cNvSpPr>
            <a:spLocks noGrp="1"/>
          </p:cNvSpPr>
          <p:nvPr>
            <p:ph type="ftr" sz="quarter" idx="11"/>
          </p:nvPr>
        </p:nvSpPr>
        <p:spPr/>
        <p:txBody>
          <a:bodyPr/>
          <a:lstStyle/>
          <a:p>
            <a:r>
              <a:rPr kumimoji="1" lang="ja-JP" altLang="en-US"/>
              <a:t>進捗報告</a:t>
            </a:r>
          </a:p>
        </p:txBody>
      </p:sp>
      <p:sp>
        <p:nvSpPr>
          <p:cNvPr id="7" name="Slide Number Placeholder 6"/>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Tree>
    <p:extLst>
      <p:ext uri="{BB962C8B-B14F-4D97-AF65-F5344CB8AC3E}">
        <p14:creationId xmlns:p14="http://schemas.microsoft.com/office/powerpoint/2010/main" val="8345468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370862DB-EF94-E646-B694-C43CC85D160D}" type="datetime1">
              <a:rPr kumimoji="1" lang="ja-JP" altLang="en-US" smtClean="0"/>
              <a:t>2020/5/11</a:t>
            </a:fld>
            <a:endParaRPr kumimoji="1" lang="ja-JP" altLang="en-US"/>
          </a:p>
        </p:txBody>
      </p:sp>
      <p:sp>
        <p:nvSpPr>
          <p:cNvPr id="6" name="Footer Placeholder 5"/>
          <p:cNvSpPr>
            <a:spLocks noGrp="1"/>
          </p:cNvSpPr>
          <p:nvPr>
            <p:ph type="ftr" sz="quarter" idx="11"/>
          </p:nvPr>
        </p:nvSpPr>
        <p:spPr/>
        <p:txBody>
          <a:bodyPr/>
          <a:lstStyle/>
          <a:p>
            <a:r>
              <a:rPr kumimoji="1" lang="ja-JP" altLang="en-US"/>
              <a:t>進捗報告</a:t>
            </a:r>
          </a:p>
        </p:txBody>
      </p:sp>
      <p:sp>
        <p:nvSpPr>
          <p:cNvPr id="7" name="Slide Number Placeholder 6"/>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Tree>
    <p:extLst>
      <p:ext uri="{BB962C8B-B14F-4D97-AF65-F5344CB8AC3E}">
        <p14:creationId xmlns:p14="http://schemas.microsoft.com/office/powerpoint/2010/main" val="22171502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BDB0722B-D148-BE44-BF67-6510CE43B9F9}" type="datetime1">
              <a:rPr kumimoji="1" lang="ja-JP" altLang="en-US" smtClean="0"/>
              <a:t>2020/5/11</a:t>
            </a:fld>
            <a:endParaRPr kumimoji="1" lang="ja-JP" altLang="en-US"/>
          </a:p>
        </p:txBody>
      </p:sp>
      <p:sp>
        <p:nvSpPr>
          <p:cNvPr id="5" name="Footer Placeholder 4"/>
          <p:cNvSpPr>
            <a:spLocks noGrp="1"/>
          </p:cNvSpPr>
          <p:nvPr>
            <p:ph type="ftr" sz="quarter" idx="11"/>
          </p:nvPr>
        </p:nvSpPr>
        <p:spPr/>
        <p:txBody>
          <a:bodyPr/>
          <a:lstStyle/>
          <a:p>
            <a:r>
              <a:rPr kumimoji="1" lang="ja-JP" altLang="en-US"/>
              <a:t>進捗報告</a:t>
            </a:r>
          </a:p>
        </p:txBody>
      </p:sp>
      <p:sp>
        <p:nvSpPr>
          <p:cNvPr id="6" name="Slide Number Placeholder 5"/>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Tree>
    <p:extLst>
      <p:ext uri="{BB962C8B-B14F-4D97-AF65-F5344CB8AC3E}">
        <p14:creationId xmlns:p14="http://schemas.microsoft.com/office/powerpoint/2010/main" val="25281140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03608DE0-8C54-1A48-96D9-0CB1F61C3B86}" type="datetime1">
              <a:rPr kumimoji="1" lang="ja-JP" altLang="en-US" smtClean="0"/>
              <a:t>2020/5/11</a:t>
            </a:fld>
            <a:endParaRPr kumimoji="1" lang="ja-JP" altLang="en-US"/>
          </a:p>
        </p:txBody>
      </p:sp>
      <p:sp>
        <p:nvSpPr>
          <p:cNvPr id="5" name="Footer Placeholder 4"/>
          <p:cNvSpPr>
            <a:spLocks noGrp="1"/>
          </p:cNvSpPr>
          <p:nvPr>
            <p:ph type="ftr" sz="quarter" idx="11"/>
          </p:nvPr>
        </p:nvSpPr>
        <p:spPr/>
        <p:txBody>
          <a:bodyPr/>
          <a:lstStyle/>
          <a:p>
            <a:r>
              <a:rPr kumimoji="1" lang="ja-JP" altLang="en-US"/>
              <a:t>進捗報告</a:t>
            </a:r>
          </a:p>
        </p:txBody>
      </p:sp>
      <p:sp>
        <p:nvSpPr>
          <p:cNvPr id="6" name="Slide Number Placeholder 5"/>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Tree>
    <p:extLst>
      <p:ext uri="{BB962C8B-B14F-4D97-AF65-F5344CB8AC3E}">
        <p14:creationId xmlns:p14="http://schemas.microsoft.com/office/powerpoint/2010/main" val="6990149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464C4851-9044-7944-A997-D3E4769EC61B}"/>
              </a:ext>
            </a:extLst>
          </p:cNvPr>
          <p:cNvSpPr/>
          <p:nvPr userDrawn="1"/>
        </p:nvSpPr>
        <p:spPr>
          <a:xfrm>
            <a:off x="-11723" y="-8304"/>
            <a:ext cx="9180000" cy="769288"/>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1350" b="0" i="0">
              <a:solidFill>
                <a:schemeClr val="bg1"/>
              </a:solidFill>
              <a:latin typeface="Hiragino Kaku Gothic Pro W3" panose="020B0300000000000000" pitchFamily="34" charset="-128"/>
              <a:ea typeface="Hiragino Kaku Gothic Pro W3" panose="020B0300000000000000" pitchFamily="34" charset="-128"/>
            </a:endParaRPr>
          </a:p>
        </p:txBody>
      </p:sp>
      <p:sp>
        <p:nvSpPr>
          <p:cNvPr id="7" name="正方形/長方形 6">
            <a:extLst>
              <a:ext uri="{FF2B5EF4-FFF2-40B4-BE49-F238E27FC236}">
                <a16:creationId xmlns:a16="http://schemas.microsoft.com/office/drawing/2014/main" id="{B65581C3-683F-974B-B777-1906334DD7D8}"/>
              </a:ext>
            </a:extLst>
          </p:cNvPr>
          <p:cNvSpPr/>
          <p:nvPr userDrawn="1"/>
        </p:nvSpPr>
        <p:spPr>
          <a:xfrm>
            <a:off x="-11723" y="6624072"/>
            <a:ext cx="9180000" cy="2451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1350" b="0" i="0">
              <a:solidFill>
                <a:schemeClr val="bg1"/>
              </a:solidFill>
              <a:latin typeface="Hiragino Kaku Gothic Pro W3" panose="020B0300000000000000" pitchFamily="34" charset="-128"/>
              <a:ea typeface="Hiragino Kaku Gothic Pro W3" panose="020B0300000000000000" pitchFamily="34" charset="-128"/>
            </a:endParaRPr>
          </a:p>
        </p:txBody>
      </p:sp>
      <p:sp>
        <p:nvSpPr>
          <p:cNvPr id="34" name="フリーフォーム 33">
            <a:extLst>
              <a:ext uri="{FF2B5EF4-FFF2-40B4-BE49-F238E27FC236}">
                <a16:creationId xmlns:a16="http://schemas.microsoft.com/office/drawing/2014/main" id="{2D285060-24CD-0E41-A3F1-0099B6A8A897}"/>
              </a:ext>
            </a:extLst>
          </p:cNvPr>
          <p:cNvSpPr/>
          <p:nvPr userDrawn="1"/>
        </p:nvSpPr>
        <p:spPr>
          <a:xfrm flipH="1">
            <a:off x="8258747" y="6381627"/>
            <a:ext cx="973705" cy="546179"/>
          </a:xfrm>
          <a:custGeom>
            <a:avLst/>
            <a:gdLst>
              <a:gd name="connsiteX0" fmla="*/ 0 w 1209192"/>
              <a:gd name="connsiteY0" fmla="*/ 0 h 245119"/>
              <a:gd name="connsiteX1" fmla="*/ 1077529 w 1209192"/>
              <a:gd name="connsiteY1" fmla="*/ 0 h 245119"/>
              <a:gd name="connsiteX2" fmla="*/ 1209192 w 1209192"/>
              <a:gd name="connsiteY2" fmla="*/ 245119 h 245119"/>
              <a:gd name="connsiteX3" fmla="*/ 0 w 1209192"/>
              <a:gd name="connsiteY3" fmla="*/ 245119 h 245119"/>
            </a:gdLst>
            <a:ahLst/>
            <a:cxnLst>
              <a:cxn ang="0">
                <a:pos x="connsiteX0" y="connsiteY0"/>
              </a:cxn>
              <a:cxn ang="0">
                <a:pos x="connsiteX1" y="connsiteY1"/>
              </a:cxn>
              <a:cxn ang="0">
                <a:pos x="connsiteX2" y="connsiteY2"/>
              </a:cxn>
              <a:cxn ang="0">
                <a:pos x="connsiteX3" y="connsiteY3"/>
              </a:cxn>
            </a:cxnLst>
            <a:rect l="l" t="t" r="r" b="b"/>
            <a:pathLst>
              <a:path w="1209192" h="245119">
                <a:moveTo>
                  <a:pt x="0" y="0"/>
                </a:moveTo>
                <a:lnTo>
                  <a:pt x="1077529" y="0"/>
                </a:lnTo>
                <a:lnTo>
                  <a:pt x="1209192" y="245119"/>
                </a:lnTo>
                <a:lnTo>
                  <a:pt x="0" y="245119"/>
                </a:lnTo>
                <a:close/>
              </a:path>
            </a:pathLst>
          </a:custGeom>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b="0" i="0">
              <a:latin typeface="Hiragino Kaku Gothic Pro W3" panose="020B0300000000000000" pitchFamily="34" charset="-128"/>
              <a:ea typeface="Hiragino Kaku Gothic Pro W3" panose="020B0300000000000000" pitchFamily="34" charset="-128"/>
            </a:endParaRPr>
          </a:p>
        </p:txBody>
      </p:sp>
      <p:sp>
        <p:nvSpPr>
          <p:cNvPr id="2" name="Title Placeholder 1"/>
          <p:cNvSpPr>
            <a:spLocks noGrp="1"/>
          </p:cNvSpPr>
          <p:nvPr>
            <p:ph type="title"/>
          </p:nvPr>
        </p:nvSpPr>
        <p:spPr>
          <a:xfrm>
            <a:off x="734160" y="-154601"/>
            <a:ext cx="7886700" cy="1095506"/>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276960" y="1825625"/>
            <a:ext cx="7886700" cy="4351338"/>
          </a:xfrm>
          <a:prstGeom prst="rect">
            <a:avLst/>
          </a:prstGeom>
        </p:spPr>
        <p:txBody>
          <a:bodyPr vert="horz" lIns="91440" tIns="45720" rIns="91440" bIns="45720" rtlCol="0">
            <a:noAutofit/>
          </a:bodyPr>
          <a:lstStyle/>
          <a:p>
            <a:pPr lvl="0"/>
            <a:r>
              <a:rPr lang="ja-JP" altLang="en-US"/>
              <a:t>マスター テキストの書式設定</a:t>
            </a:r>
          </a:p>
          <a:p>
            <a:pPr lvl="1"/>
            <a:r>
              <a:rPr lang="ja-JP" altLang="en-US"/>
              <a:t>第 </a:t>
            </a:r>
            <a:r>
              <a:rPr lang="en-US" altLang="ja-JP" dirty="0"/>
              <a:t>2 </a:t>
            </a:r>
            <a:r>
              <a:rPr lang="ja-JP" altLang="en-US"/>
              <a:t>レベル</a:t>
            </a:r>
          </a:p>
          <a:p>
            <a:pPr lvl="2"/>
            <a:r>
              <a:rPr lang="ja-JP" altLang="en-US"/>
              <a:t>第 </a:t>
            </a:r>
            <a:r>
              <a:rPr lang="en-US" altLang="ja-JP" dirty="0"/>
              <a:t>3 </a:t>
            </a:r>
            <a:r>
              <a:rPr lang="ja-JP" altLang="en-US"/>
              <a:t>レベル</a:t>
            </a:r>
            <a:endParaRPr lang="en-US" dirty="0"/>
          </a:p>
        </p:txBody>
      </p:sp>
      <p:sp>
        <p:nvSpPr>
          <p:cNvPr id="4" name="Date Placeholder 3"/>
          <p:cNvSpPr>
            <a:spLocks noGrp="1"/>
          </p:cNvSpPr>
          <p:nvPr>
            <p:ph type="dt" sz="half" idx="2"/>
          </p:nvPr>
        </p:nvSpPr>
        <p:spPr>
          <a:xfrm>
            <a:off x="22577" y="6565457"/>
            <a:ext cx="2057400" cy="365125"/>
          </a:xfrm>
          <a:prstGeom prst="rect">
            <a:avLst/>
          </a:prstGeom>
        </p:spPr>
        <p:txBody>
          <a:bodyPr vert="horz" lIns="91440" tIns="45720" rIns="91440" bIns="45720" rtlCol="0" anchor="ctr"/>
          <a:lstStyle>
            <a:lvl1pPr algn="l">
              <a:defRPr sz="1200" b="0" i="0">
                <a:solidFill>
                  <a:schemeClr val="bg1"/>
                </a:solidFill>
                <a:latin typeface="Hiragino Kaku Gothic Pro W3" panose="020B0300000000000000" pitchFamily="34" charset="-128"/>
                <a:ea typeface="Hiragino Kaku Gothic Pro W3" panose="020B0300000000000000" pitchFamily="34" charset="-128"/>
              </a:defRPr>
            </a:lvl1pPr>
          </a:lstStyle>
          <a:p>
            <a:fld id="{848FC433-A65A-5E4B-A542-B4358B331384}" type="datetime1">
              <a:rPr lang="ja-JP" altLang="en-US" smtClean="0"/>
              <a:t>2020/5/11</a:t>
            </a:fld>
            <a:endParaRPr lang="ja-JP" altLang="en-US"/>
          </a:p>
        </p:txBody>
      </p:sp>
      <p:sp>
        <p:nvSpPr>
          <p:cNvPr id="5" name="Footer Placeholder 4"/>
          <p:cNvSpPr>
            <a:spLocks noGrp="1"/>
          </p:cNvSpPr>
          <p:nvPr>
            <p:ph type="ftr" sz="quarter" idx="3"/>
          </p:nvPr>
        </p:nvSpPr>
        <p:spPr>
          <a:xfrm>
            <a:off x="3028950" y="6567365"/>
            <a:ext cx="3086100" cy="365125"/>
          </a:xfrm>
          <a:prstGeom prst="rect">
            <a:avLst/>
          </a:prstGeom>
        </p:spPr>
        <p:txBody>
          <a:bodyPr vert="horz" lIns="91440" tIns="45720" rIns="91440" bIns="45720" rtlCol="0" anchor="ctr"/>
          <a:lstStyle>
            <a:lvl1pPr algn="ctr">
              <a:defRPr sz="1200" b="0" i="0">
                <a:solidFill>
                  <a:schemeClr val="bg1"/>
                </a:solidFill>
                <a:latin typeface="Hiragino Kaku Gothic Pro W3" panose="020B0300000000000000" pitchFamily="34" charset="-128"/>
                <a:ea typeface="Hiragino Kaku Gothic Pro W3" panose="020B0300000000000000" pitchFamily="34" charset="-128"/>
              </a:defRPr>
            </a:lvl1pPr>
          </a:lstStyle>
          <a:p>
            <a:r>
              <a:rPr lang="ja-JP" altLang="en-US"/>
              <a:t>進捗報告</a:t>
            </a:r>
            <a:endParaRPr lang="en-US" altLang="ja-JP" dirty="0"/>
          </a:p>
        </p:txBody>
      </p:sp>
      <p:sp>
        <p:nvSpPr>
          <p:cNvPr id="6" name="Slide Number Placeholder 5"/>
          <p:cNvSpPr>
            <a:spLocks noGrp="1"/>
          </p:cNvSpPr>
          <p:nvPr>
            <p:ph type="sldNum" sz="quarter" idx="4"/>
          </p:nvPr>
        </p:nvSpPr>
        <p:spPr>
          <a:xfrm>
            <a:off x="8419588" y="6485304"/>
            <a:ext cx="595955" cy="365125"/>
          </a:xfrm>
          <a:prstGeom prst="rect">
            <a:avLst/>
          </a:prstGeom>
        </p:spPr>
        <p:txBody>
          <a:bodyPr vert="horz" lIns="91440" tIns="45720" rIns="91440" bIns="45720" rtlCol="0" anchor="ctr"/>
          <a:lstStyle>
            <a:lvl1pPr algn="r">
              <a:defRPr sz="2400" b="0" i="0">
                <a:solidFill>
                  <a:schemeClr val="bg1"/>
                </a:solidFill>
                <a:latin typeface="Hiragino Kaku Gothic Pro W3" panose="020B0300000000000000" pitchFamily="34" charset="-128"/>
                <a:ea typeface="Hiragino Kaku Gothic Pro W3" panose="020B0300000000000000" pitchFamily="34" charset="-128"/>
              </a:defRPr>
            </a:lvl1pPr>
          </a:lstStyle>
          <a:p>
            <a:fld id="{2981C279-7323-A845-8A27-BB5908B2F04D}" type="slidenum">
              <a:rPr lang="ja-JP" altLang="en-US" smtClean="0"/>
              <a:pPr/>
              <a:t>‹#›</a:t>
            </a:fld>
            <a:endParaRPr lang="ja-JP" altLang="en-US"/>
          </a:p>
        </p:txBody>
      </p:sp>
    </p:spTree>
    <p:extLst>
      <p:ext uri="{BB962C8B-B14F-4D97-AF65-F5344CB8AC3E}">
        <p14:creationId xmlns:p14="http://schemas.microsoft.com/office/powerpoint/2010/main" val="631777835"/>
      </p:ext>
    </p:extLst>
  </p:cSld>
  <p:clrMap bg1="lt1" tx1="dk1" bg2="lt2" tx2="dk2" accent1="accent1" accent2="accent2" accent3="accent3" accent4="accent4" accent5="accent5" accent6="accent6" hlink="hlink" folHlink="folHlink"/>
  <p:sldLayoutIdLst>
    <p:sldLayoutId id="2147483661" r:id="rId1"/>
    <p:sldLayoutId id="2147483675" r:id="rId2"/>
    <p:sldLayoutId id="2147483676" r:id="rId3"/>
    <p:sldLayoutId id="2147483673" r:id="rId4"/>
    <p:sldLayoutId id="2147483674"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Lst>
  <p:hf hdr="0"/>
  <p:txStyles>
    <p:titleStyle>
      <a:lvl1pPr algn="l" defTabSz="914400" rtl="0" eaLnBrk="1" latinLnBrk="0" hangingPunct="1">
        <a:lnSpc>
          <a:spcPct val="90000"/>
        </a:lnSpc>
        <a:spcBef>
          <a:spcPct val="0"/>
        </a:spcBef>
        <a:buNone/>
        <a:defRPr kumimoji="1" sz="4400" b="0" i="0" kern="1200">
          <a:solidFill>
            <a:schemeClr val="tx1"/>
          </a:solidFill>
          <a:latin typeface="Hiragino Kaku Gothic Pro W3" panose="020B0300000000000000" pitchFamily="34" charset="-128"/>
          <a:ea typeface="Hiragino Kaku Gothic Pro W3" panose="020B0300000000000000" pitchFamily="34" charset="-128"/>
          <a:cs typeface="+mj-cs"/>
        </a:defRPr>
      </a:lvl1pPr>
    </p:titleStyle>
    <p:bodyStyle>
      <a:lvl1pPr marL="231775" indent="-231775" algn="l" defTabSz="914400" rtl="0" eaLnBrk="1" latinLnBrk="0" hangingPunct="1">
        <a:lnSpc>
          <a:spcPct val="90000"/>
        </a:lnSpc>
        <a:spcBef>
          <a:spcPts val="1000"/>
        </a:spcBef>
        <a:buSzPct val="100000"/>
        <a:buFontTx/>
        <a:buBlip>
          <a:blip r:embed="rId16"/>
        </a:buBlip>
        <a:tabLst/>
        <a:defRPr kumimoji="1" sz="28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17"/>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18"/>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tiff"/><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7.emf"/></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8.emf"/></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8.emf"/></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8.emf"/></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5" Type="http://schemas.openxmlformats.org/officeDocument/2006/relationships/image" Target="../media/image10.png"/><Relationship Id="rId4" Type="http://schemas.openxmlformats.org/officeDocument/2006/relationships/image" Target="../media/image9.emf"/></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9.emf"/></Relationships>
</file>

<file path=ppt/slides/_rels/slide9.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9.png"/><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emf"/><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7.emf"/></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48396D-C709-8246-8286-094B8839C3C3}"/>
              </a:ext>
            </a:extLst>
          </p:cNvPr>
          <p:cNvSpPr>
            <a:spLocks noGrp="1"/>
          </p:cNvSpPr>
          <p:nvPr>
            <p:ph type="ctrTitle"/>
          </p:nvPr>
        </p:nvSpPr>
        <p:spPr/>
        <p:txBody>
          <a:bodyPr/>
          <a:lstStyle/>
          <a:p>
            <a:r>
              <a:rPr kumimoji="1" lang="ja-JP" altLang="en-US"/>
              <a:t>進捗報告</a:t>
            </a:r>
          </a:p>
        </p:txBody>
      </p:sp>
      <p:sp>
        <p:nvSpPr>
          <p:cNvPr id="3" name="字幕 2">
            <a:extLst>
              <a:ext uri="{FF2B5EF4-FFF2-40B4-BE49-F238E27FC236}">
                <a16:creationId xmlns:a16="http://schemas.microsoft.com/office/drawing/2014/main" id="{64C8C94E-7F42-E549-B498-1831334F572C}"/>
              </a:ext>
            </a:extLst>
          </p:cNvPr>
          <p:cNvSpPr>
            <a:spLocks noGrp="1"/>
          </p:cNvSpPr>
          <p:nvPr>
            <p:ph type="subTitle" idx="1"/>
          </p:nvPr>
        </p:nvSpPr>
        <p:spPr/>
        <p:txBody>
          <a:bodyPr/>
          <a:lstStyle/>
          <a:p>
            <a:r>
              <a:rPr kumimoji="1" lang="ja-JP" altLang="en-US"/>
              <a:t>松下昌悟</a:t>
            </a:r>
          </a:p>
        </p:txBody>
      </p:sp>
      <p:sp>
        <p:nvSpPr>
          <p:cNvPr id="4" name="日付プレースホルダー 3">
            <a:extLst>
              <a:ext uri="{FF2B5EF4-FFF2-40B4-BE49-F238E27FC236}">
                <a16:creationId xmlns:a16="http://schemas.microsoft.com/office/drawing/2014/main" id="{D039C715-D20B-D647-B48B-59A4FF41D99B}"/>
              </a:ext>
            </a:extLst>
          </p:cNvPr>
          <p:cNvSpPr>
            <a:spLocks noGrp="1"/>
          </p:cNvSpPr>
          <p:nvPr>
            <p:ph type="dt" sz="half" idx="10"/>
          </p:nvPr>
        </p:nvSpPr>
        <p:spPr/>
        <p:txBody>
          <a:bodyPr/>
          <a:lstStyle/>
          <a:p>
            <a:fld id="{81355CFD-0C13-B64F-8475-2B9C4937D230}" type="datetime1">
              <a:rPr kumimoji="1" lang="ja-JP" altLang="en-US" smtClean="0"/>
              <a:t>2020/5/11</a:t>
            </a:fld>
            <a:endParaRPr kumimoji="1" lang="ja-JP" altLang="en-US"/>
          </a:p>
        </p:txBody>
      </p:sp>
      <p:sp>
        <p:nvSpPr>
          <p:cNvPr id="5" name="フッター プレースホルダー 4">
            <a:extLst>
              <a:ext uri="{FF2B5EF4-FFF2-40B4-BE49-F238E27FC236}">
                <a16:creationId xmlns:a16="http://schemas.microsoft.com/office/drawing/2014/main" id="{2C3DFF42-E302-8446-A693-A684C0738F3F}"/>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0B3A790D-E0F0-AA4D-9672-14F1BBCAA13C}"/>
              </a:ext>
            </a:extLst>
          </p:cNvPr>
          <p:cNvSpPr>
            <a:spLocks noGrp="1"/>
          </p:cNvSpPr>
          <p:nvPr>
            <p:ph type="sldNum" sz="quarter" idx="12"/>
          </p:nvPr>
        </p:nvSpPr>
        <p:spPr/>
        <p:txBody>
          <a:bodyPr/>
          <a:lstStyle/>
          <a:p>
            <a:fld id="{2981C279-7323-A845-8A27-BB5908B2F04D}" type="slidenum">
              <a:rPr kumimoji="1" lang="ja-JP" altLang="en-US" smtClean="0"/>
              <a:t>1</a:t>
            </a:fld>
            <a:endParaRPr kumimoji="1" lang="ja-JP" altLang="en-US"/>
          </a:p>
        </p:txBody>
      </p:sp>
    </p:spTree>
    <p:extLst>
      <p:ext uri="{BB962C8B-B14F-4D97-AF65-F5344CB8AC3E}">
        <p14:creationId xmlns:p14="http://schemas.microsoft.com/office/powerpoint/2010/main" val="41873632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8DAB0C2-B03B-A347-8AAC-50359B10B912}"/>
              </a:ext>
            </a:extLst>
          </p:cNvPr>
          <p:cNvSpPr>
            <a:spLocks noGrp="1"/>
          </p:cNvSpPr>
          <p:nvPr>
            <p:ph type="title"/>
          </p:nvPr>
        </p:nvSpPr>
        <p:spPr/>
        <p:txBody>
          <a:bodyPr/>
          <a:lstStyle/>
          <a:p>
            <a:r>
              <a:rPr kumimoji="1" lang="ja-JP" altLang="en-US"/>
              <a:t>問題設定について</a:t>
            </a:r>
          </a:p>
        </p:txBody>
      </p:sp>
      <p:sp>
        <p:nvSpPr>
          <p:cNvPr id="3" name="日付プレースホルダー 2">
            <a:extLst>
              <a:ext uri="{FF2B5EF4-FFF2-40B4-BE49-F238E27FC236}">
                <a16:creationId xmlns:a16="http://schemas.microsoft.com/office/drawing/2014/main" id="{07540EC4-B414-4F43-85ED-86CFEE271236}"/>
              </a:ext>
            </a:extLst>
          </p:cNvPr>
          <p:cNvSpPr>
            <a:spLocks noGrp="1"/>
          </p:cNvSpPr>
          <p:nvPr>
            <p:ph type="dt" sz="half" idx="10"/>
          </p:nvPr>
        </p:nvSpPr>
        <p:spPr/>
        <p:txBody>
          <a:bodyPr/>
          <a:lstStyle/>
          <a:p>
            <a:fld id="{484468A3-0919-F54E-B59A-E9ED9FABFE93}" type="datetime1">
              <a:rPr kumimoji="1" lang="ja-JP" altLang="en-US" smtClean="0"/>
              <a:t>2020/5/11</a:t>
            </a:fld>
            <a:endParaRPr kumimoji="1" lang="ja-JP" altLang="en-US"/>
          </a:p>
        </p:txBody>
      </p:sp>
      <p:sp>
        <p:nvSpPr>
          <p:cNvPr id="4" name="フッター プレースホルダー 3">
            <a:extLst>
              <a:ext uri="{FF2B5EF4-FFF2-40B4-BE49-F238E27FC236}">
                <a16:creationId xmlns:a16="http://schemas.microsoft.com/office/drawing/2014/main" id="{0497CFB2-DE01-F048-A930-7CBEC994D3C5}"/>
              </a:ext>
            </a:extLst>
          </p:cNvPr>
          <p:cNvSpPr>
            <a:spLocks noGrp="1"/>
          </p:cNvSpPr>
          <p:nvPr>
            <p:ph type="ftr" sz="quarter" idx="11"/>
          </p:nvPr>
        </p:nvSpPr>
        <p:spPr/>
        <p:txBody>
          <a:bodyPr/>
          <a:lstStyle/>
          <a:p>
            <a:r>
              <a:rPr kumimoji="1" lang="ja-JP" altLang="en-US"/>
              <a:t>進捗報告</a:t>
            </a:r>
          </a:p>
        </p:txBody>
      </p:sp>
      <p:sp>
        <p:nvSpPr>
          <p:cNvPr id="5" name="スライド番号プレースホルダー 4">
            <a:extLst>
              <a:ext uri="{FF2B5EF4-FFF2-40B4-BE49-F238E27FC236}">
                <a16:creationId xmlns:a16="http://schemas.microsoft.com/office/drawing/2014/main" id="{42F8D98A-6426-1E42-8CA4-9E0FA5798294}"/>
              </a:ext>
            </a:extLst>
          </p:cNvPr>
          <p:cNvSpPr>
            <a:spLocks noGrp="1"/>
          </p:cNvSpPr>
          <p:nvPr>
            <p:ph type="sldNum" sz="quarter" idx="12"/>
          </p:nvPr>
        </p:nvSpPr>
        <p:spPr/>
        <p:txBody>
          <a:bodyPr/>
          <a:lstStyle/>
          <a:p>
            <a:fld id="{2981C279-7323-A845-8A27-BB5908B2F04D}" type="slidenum">
              <a:rPr kumimoji="1" lang="ja-JP" altLang="en-US" smtClean="0"/>
              <a:t>2</a:t>
            </a:fld>
            <a:endParaRPr kumimoji="1" lang="ja-JP" altLang="en-US"/>
          </a:p>
        </p:txBody>
      </p:sp>
      <p:sp>
        <p:nvSpPr>
          <p:cNvPr id="6" name="テキスト プレースホルダー 5">
            <a:extLst>
              <a:ext uri="{FF2B5EF4-FFF2-40B4-BE49-F238E27FC236}">
                <a16:creationId xmlns:a16="http://schemas.microsoft.com/office/drawing/2014/main" id="{95CC0F37-0954-FB40-8201-1F0983C75AA4}"/>
              </a:ext>
            </a:extLst>
          </p:cNvPr>
          <p:cNvSpPr>
            <a:spLocks noGrp="1"/>
          </p:cNvSpPr>
          <p:nvPr>
            <p:ph type="body" sz="quarter" idx="13"/>
          </p:nvPr>
        </p:nvSpPr>
        <p:spPr/>
        <p:txBody>
          <a:bodyPr/>
          <a:lstStyle/>
          <a:p>
            <a:r>
              <a:rPr kumimoji="1" lang="en-US" altLang="ja-JP" dirty="0"/>
              <a:t>1</a:t>
            </a:r>
            <a:endParaRPr kumimoji="1" lang="ja-JP" altLang="en-US"/>
          </a:p>
        </p:txBody>
      </p:sp>
      <p:sp>
        <p:nvSpPr>
          <p:cNvPr id="7" name="コンテンツ プレースホルダー 6">
            <a:extLst>
              <a:ext uri="{FF2B5EF4-FFF2-40B4-BE49-F238E27FC236}">
                <a16:creationId xmlns:a16="http://schemas.microsoft.com/office/drawing/2014/main" id="{92788590-85DD-1140-B280-3A355A64FAEB}"/>
              </a:ext>
            </a:extLst>
          </p:cNvPr>
          <p:cNvSpPr>
            <a:spLocks noGrp="1"/>
          </p:cNvSpPr>
          <p:nvPr>
            <p:ph idx="1"/>
          </p:nvPr>
        </p:nvSpPr>
        <p:spPr/>
        <p:txBody>
          <a:bodyPr/>
          <a:lstStyle/>
          <a:p>
            <a:r>
              <a:rPr lang="ja-JP" altLang="en-US"/>
              <a:t>研究内容としてはカテゴリ分類がメイン</a:t>
            </a:r>
            <a:endParaRPr lang="en-US" altLang="ja-JP" dirty="0"/>
          </a:p>
          <a:p>
            <a:pPr lvl="1"/>
            <a:r>
              <a:rPr lang="ja-JP" altLang="en-US"/>
              <a:t>少なくともエージェントが人間の選好を知ることができるような問題でないといけない</a:t>
            </a:r>
            <a:endParaRPr lang="en-US" altLang="ja-JP" dirty="0"/>
          </a:p>
          <a:p>
            <a:r>
              <a:rPr lang="ja-JP" altLang="en-US"/>
              <a:t>保険の契約みたいな状況で行こうと思う</a:t>
            </a:r>
            <a:endParaRPr lang="en-US" altLang="ja-JP" dirty="0"/>
          </a:p>
          <a:p>
            <a:pPr lvl="1"/>
            <a:r>
              <a:rPr lang="ja-JP" altLang="en-US"/>
              <a:t>買い手がエージェント</a:t>
            </a:r>
            <a:endParaRPr lang="en-US" altLang="ja-JP" dirty="0"/>
          </a:p>
          <a:p>
            <a:pPr lvl="1"/>
            <a:r>
              <a:rPr lang="ja-JP" altLang="en-US"/>
              <a:t>売り手が人間</a:t>
            </a:r>
            <a:endParaRPr lang="en-US" altLang="ja-JP" dirty="0"/>
          </a:p>
        </p:txBody>
      </p:sp>
      <p:graphicFrame>
        <p:nvGraphicFramePr>
          <p:cNvPr id="8" name="表 7">
            <a:extLst>
              <a:ext uri="{FF2B5EF4-FFF2-40B4-BE49-F238E27FC236}">
                <a16:creationId xmlns:a16="http://schemas.microsoft.com/office/drawing/2014/main" id="{F6D1DC47-6678-C947-9CF8-67968BD956D8}"/>
              </a:ext>
            </a:extLst>
          </p:cNvPr>
          <p:cNvGraphicFramePr>
            <a:graphicFrameLocks noGrp="1"/>
          </p:cNvGraphicFramePr>
          <p:nvPr>
            <p:extLst>
              <p:ext uri="{D42A27DB-BD31-4B8C-83A1-F6EECF244321}">
                <p14:modId xmlns:p14="http://schemas.microsoft.com/office/powerpoint/2010/main" val="637455146"/>
              </p:ext>
            </p:extLst>
          </p:nvPr>
        </p:nvGraphicFramePr>
        <p:xfrm>
          <a:off x="898595" y="4161536"/>
          <a:ext cx="7376229" cy="2295238"/>
        </p:xfrm>
        <a:graphic>
          <a:graphicData uri="http://schemas.openxmlformats.org/drawingml/2006/table">
            <a:tbl>
              <a:tblPr firstRow="1" firstCol="1" bandRow="1">
                <a:tableStyleId>{5C22544A-7EE6-4342-B048-85BDC9FD1C3A}</a:tableStyleId>
              </a:tblPr>
              <a:tblGrid>
                <a:gridCol w="1053747">
                  <a:extLst>
                    <a:ext uri="{9D8B030D-6E8A-4147-A177-3AD203B41FA5}">
                      <a16:colId xmlns:a16="http://schemas.microsoft.com/office/drawing/2014/main" val="839403089"/>
                    </a:ext>
                  </a:extLst>
                </a:gridCol>
                <a:gridCol w="1053747">
                  <a:extLst>
                    <a:ext uri="{9D8B030D-6E8A-4147-A177-3AD203B41FA5}">
                      <a16:colId xmlns:a16="http://schemas.microsoft.com/office/drawing/2014/main" val="316063321"/>
                    </a:ext>
                  </a:extLst>
                </a:gridCol>
                <a:gridCol w="1053747">
                  <a:extLst>
                    <a:ext uri="{9D8B030D-6E8A-4147-A177-3AD203B41FA5}">
                      <a16:colId xmlns:a16="http://schemas.microsoft.com/office/drawing/2014/main" val="828750057"/>
                    </a:ext>
                  </a:extLst>
                </a:gridCol>
                <a:gridCol w="1053747">
                  <a:extLst>
                    <a:ext uri="{9D8B030D-6E8A-4147-A177-3AD203B41FA5}">
                      <a16:colId xmlns:a16="http://schemas.microsoft.com/office/drawing/2014/main" val="3790308961"/>
                    </a:ext>
                  </a:extLst>
                </a:gridCol>
                <a:gridCol w="1053747">
                  <a:extLst>
                    <a:ext uri="{9D8B030D-6E8A-4147-A177-3AD203B41FA5}">
                      <a16:colId xmlns:a16="http://schemas.microsoft.com/office/drawing/2014/main" val="288253547"/>
                    </a:ext>
                  </a:extLst>
                </a:gridCol>
                <a:gridCol w="1053747">
                  <a:extLst>
                    <a:ext uri="{9D8B030D-6E8A-4147-A177-3AD203B41FA5}">
                      <a16:colId xmlns:a16="http://schemas.microsoft.com/office/drawing/2014/main" val="3396473503"/>
                    </a:ext>
                  </a:extLst>
                </a:gridCol>
                <a:gridCol w="1053747">
                  <a:extLst>
                    <a:ext uri="{9D8B030D-6E8A-4147-A177-3AD203B41FA5}">
                      <a16:colId xmlns:a16="http://schemas.microsoft.com/office/drawing/2014/main" val="3564305167"/>
                    </a:ext>
                  </a:extLst>
                </a:gridCol>
              </a:tblGrid>
              <a:tr h="337127">
                <a:tc rowSpan="2">
                  <a:txBody>
                    <a:bodyPr/>
                    <a:lstStyle/>
                    <a:p>
                      <a:endParaRPr kumimoji="1" lang="ja-JP" altLang="en-US" sz="1500"/>
                    </a:p>
                  </a:txBody>
                  <a:tcPr marL="83127" marR="83127" marT="41564" marB="41564"/>
                </a:tc>
                <a:tc gridSpan="2">
                  <a:txBody>
                    <a:bodyPr/>
                    <a:lstStyle/>
                    <a:p>
                      <a:pPr algn="ctr"/>
                      <a:r>
                        <a:rPr kumimoji="1" lang="ja-JP" altLang="en-US" sz="1500"/>
                        <a:t>生命保険</a:t>
                      </a:r>
                    </a:p>
                  </a:txBody>
                  <a:tcPr marL="83127" marR="83127" marT="41564" marB="41564">
                    <a:lnB w="12700" cap="flat" cmpd="sng" algn="ctr">
                      <a:solidFill>
                        <a:schemeClr val="bg1"/>
                      </a:solidFill>
                      <a:prstDash val="solid"/>
                      <a:round/>
                      <a:headEnd type="none" w="med" len="med"/>
                      <a:tailEnd type="none" w="med" len="med"/>
                    </a:lnB>
                  </a:tcPr>
                </a:tc>
                <a:tc hMerge="1">
                  <a:txBody>
                    <a:bodyPr/>
                    <a:lstStyle/>
                    <a:p>
                      <a:endParaRPr kumimoji="1" lang="ja-JP" altLang="en-US"/>
                    </a:p>
                  </a:txBody>
                  <a:tcPr/>
                </a:tc>
                <a:tc gridSpan="2">
                  <a:txBody>
                    <a:bodyPr/>
                    <a:lstStyle/>
                    <a:p>
                      <a:pPr algn="ctr"/>
                      <a:r>
                        <a:rPr kumimoji="1" lang="ja-JP" altLang="en-US" sz="1500"/>
                        <a:t>損害保険</a:t>
                      </a:r>
                    </a:p>
                  </a:txBody>
                  <a:tcPr marL="83127" marR="83127" marT="41564" marB="41564">
                    <a:lnB w="12700" cap="flat" cmpd="sng" algn="ctr">
                      <a:solidFill>
                        <a:schemeClr val="bg1"/>
                      </a:solidFill>
                      <a:prstDash val="solid"/>
                      <a:round/>
                      <a:headEnd type="none" w="med" len="med"/>
                      <a:tailEnd type="none" w="med" len="med"/>
                    </a:lnB>
                  </a:tcPr>
                </a:tc>
                <a:tc hMerge="1">
                  <a:txBody>
                    <a:bodyPr/>
                    <a:lstStyle/>
                    <a:p>
                      <a:endParaRPr kumimoji="1" lang="ja-JP" altLang="en-US"/>
                    </a:p>
                  </a:txBody>
                  <a:tcPr/>
                </a:tc>
                <a:tc gridSpan="2">
                  <a:txBody>
                    <a:bodyPr/>
                    <a:lstStyle/>
                    <a:p>
                      <a:pPr algn="ctr"/>
                      <a:r>
                        <a:rPr kumimoji="1" lang="ja-JP" altLang="en-US" sz="1500"/>
                        <a:t>医療保険</a:t>
                      </a:r>
                    </a:p>
                  </a:txBody>
                  <a:tcPr marL="83127" marR="83127" marT="41564" marB="41564">
                    <a:lnB w="12700" cap="flat" cmpd="sng" algn="ctr">
                      <a:solidFill>
                        <a:schemeClr val="bg1"/>
                      </a:solidFill>
                      <a:prstDash val="solid"/>
                      <a:round/>
                      <a:headEnd type="none" w="med" len="med"/>
                      <a:tailEnd type="none" w="med" len="med"/>
                    </a:lnB>
                  </a:tcPr>
                </a:tc>
                <a:tc hMerge="1">
                  <a:txBody>
                    <a:bodyPr/>
                    <a:lstStyle/>
                    <a:p>
                      <a:endParaRPr kumimoji="1" lang="ja-JP" altLang="en-US"/>
                    </a:p>
                  </a:txBody>
                  <a:tcPr/>
                </a:tc>
                <a:extLst>
                  <a:ext uri="{0D108BD9-81ED-4DB2-BD59-A6C34878D82A}">
                    <a16:rowId xmlns:a16="http://schemas.microsoft.com/office/drawing/2014/main" val="1360431693"/>
                  </a:ext>
                </a:extLst>
              </a:tr>
              <a:tr h="337127">
                <a:tc vMerge="1">
                  <a:txBody>
                    <a:bodyPr/>
                    <a:lstStyle/>
                    <a:p>
                      <a:endParaRPr kumimoji="1" lang="ja-JP" altLang="en-US"/>
                    </a:p>
                  </a:txBody>
                  <a:tcPr/>
                </a:tc>
                <a:tc>
                  <a:txBody>
                    <a:bodyPr/>
                    <a:lstStyle/>
                    <a:p>
                      <a:pPr algn="ctr"/>
                      <a:r>
                        <a:rPr kumimoji="1" lang="ja-JP" altLang="en-US" sz="1500">
                          <a:solidFill>
                            <a:schemeClr val="bg1"/>
                          </a:solidFill>
                        </a:rPr>
                        <a:t>保証内容</a:t>
                      </a:r>
                    </a:p>
                  </a:txBody>
                  <a:tcPr marL="83127" marR="83127" marT="41564" marB="41564">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500">
                          <a:solidFill>
                            <a:schemeClr val="bg1"/>
                          </a:solidFill>
                        </a:rPr>
                        <a:t>保険料</a:t>
                      </a:r>
                    </a:p>
                  </a:txBody>
                  <a:tcPr marL="83127" marR="83127" marT="41564" marB="41564">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solidFill>
                  </a:tcPr>
                </a:tc>
                <a:tc>
                  <a:txBody>
                    <a:bodyPr/>
                    <a:lstStyle/>
                    <a:p>
                      <a:pPr algn="ctr"/>
                      <a:r>
                        <a:rPr kumimoji="1" lang="ja-JP" altLang="en-US" sz="1500">
                          <a:solidFill>
                            <a:schemeClr val="bg1"/>
                          </a:solidFill>
                        </a:rPr>
                        <a:t>保証内容</a:t>
                      </a:r>
                    </a:p>
                  </a:txBody>
                  <a:tcPr marL="83127" marR="83127" marT="41564" marB="41564">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solidFill>
                  </a:tcPr>
                </a:tc>
                <a:tc>
                  <a:txBody>
                    <a:bodyPr/>
                    <a:lstStyle/>
                    <a:p>
                      <a:pPr algn="ctr"/>
                      <a:r>
                        <a:rPr kumimoji="1" lang="ja-JP" altLang="en-US" sz="1500">
                          <a:solidFill>
                            <a:schemeClr val="bg1"/>
                          </a:solidFill>
                        </a:rPr>
                        <a:t>保険料</a:t>
                      </a:r>
                    </a:p>
                  </a:txBody>
                  <a:tcPr marL="83127" marR="83127" marT="41564" marB="41564">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solidFill>
                  </a:tcPr>
                </a:tc>
                <a:tc>
                  <a:txBody>
                    <a:bodyPr/>
                    <a:lstStyle/>
                    <a:p>
                      <a:pPr algn="ctr"/>
                      <a:r>
                        <a:rPr kumimoji="1" lang="ja-JP" altLang="en-US" sz="1500">
                          <a:solidFill>
                            <a:schemeClr val="bg1"/>
                          </a:solidFill>
                        </a:rPr>
                        <a:t>保証内容</a:t>
                      </a:r>
                    </a:p>
                  </a:txBody>
                  <a:tcPr marL="83127" marR="83127" marT="41564" marB="41564">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solidFill>
                  </a:tcPr>
                </a:tc>
                <a:tc>
                  <a:txBody>
                    <a:bodyPr/>
                    <a:lstStyle/>
                    <a:p>
                      <a:pPr algn="ctr"/>
                      <a:r>
                        <a:rPr kumimoji="1" lang="ja-JP" altLang="en-US" sz="1500">
                          <a:solidFill>
                            <a:schemeClr val="bg1"/>
                          </a:solidFill>
                        </a:rPr>
                        <a:t>保険料</a:t>
                      </a:r>
                    </a:p>
                  </a:txBody>
                  <a:tcPr marL="83127" marR="83127" marT="41564" marB="41564">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239599213"/>
                  </a:ext>
                </a:extLst>
              </a:tr>
              <a:tr h="337127">
                <a:tc>
                  <a:txBody>
                    <a:bodyPr/>
                    <a:lstStyle/>
                    <a:p>
                      <a:r>
                        <a:rPr kumimoji="1" lang="ja-JP" altLang="en-US" sz="1500"/>
                        <a:t>レベル</a:t>
                      </a:r>
                      <a:r>
                        <a:rPr kumimoji="1" lang="en-US" altLang="ja-JP" sz="1500" dirty="0"/>
                        <a:t>1</a:t>
                      </a:r>
                      <a:endParaRPr kumimoji="1" lang="ja-JP" altLang="en-US" sz="1500"/>
                    </a:p>
                  </a:txBody>
                  <a:tcPr marL="83127" marR="83127" marT="41564" marB="41564"/>
                </a:tc>
                <a:tc>
                  <a:txBody>
                    <a:bodyPr/>
                    <a:lstStyle/>
                    <a:p>
                      <a:pPr algn="ctr"/>
                      <a:r>
                        <a:rPr kumimoji="1" lang="ja-JP" altLang="en-US" sz="1500"/>
                        <a:t>良</a:t>
                      </a:r>
                    </a:p>
                  </a:txBody>
                  <a:tcPr marL="83127" marR="83127" marT="41564" marB="41564">
                    <a:lnT w="38100" cap="flat" cmpd="sng" algn="ctr">
                      <a:solidFill>
                        <a:schemeClr val="bg1"/>
                      </a:solidFill>
                      <a:prstDash val="solid"/>
                      <a:round/>
                      <a:headEnd type="none" w="med" len="med"/>
                      <a:tailEnd type="none" w="med" len="med"/>
                    </a:lnT>
                  </a:tcPr>
                </a:tc>
                <a:tc>
                  <a:txBody>
                    <a:bodyPr/>
                    <a:lstStyle/>
                    <a:p>
                      <a:pPr algn="ctr"/>
                      <a:r>
                        <a:rPr kumimoji="1" lang="en-US" altLang="ja-JP" sz="1500" dirty="0"/>
                        <a:t>50000/</a:t>
                      </a:r>
                      <a:r>
                        <a:rPr kumimoji="1" lang="ja-JP" altLang="en-US" sz="1500"/>
                        <a:t>月</a:t>
                      </a:r>
                    </a:p>
                  </a:txBody>
                  <a:tcPr marL="83127" marR="83127" marT="41564" marB="41564">
                    <a:lnT w="38100" cap="flat" cmpd="sng" algn="ctr">
                      <a:solidFill>
                        <a:schemeClr val="bg1"/>
                      </a:solidFill>
                      <a:prstDash val="solid"/>
                      <a:round/>
                      <a:headEnd type="none" w="med" len="med"/>
                      <a:tailEnd type="none" w="med" len="med"/>
                    </a:lnT>
                  </a:tcPr>
                </a:tc>
                <a:tc>
                  <a:txBody>
                    <a:bodyPr/>
                    <a:lstStyle/>
                    <a:p>
                      <a:pPr algn="ctr"/>
                      <a:r>
                        <a:rPr kumimoji="1" lang="ja-JP" altLang="en-US" sz="1500"/>
                        <a:t>良</a:t>
                      </a:r>
                    </a:p>
                  </a:txBody>
                  <a:tcPr marL="83127" marR="83127" marT="41564" marB="41564">
                    <a:lnT w="38100" cap="flat" cmpd="sng" algn="ctr">
                      <a:solidFill>
                        <a:schemeClr val="bg1"/>
                      </a:solidFill>
                      <a:prstDash val="solid"/>
                      <a:round/>
                      <a:headEnd type="none" w="med" len="med"/>
                      <a:tailEnd type="none" w="med" len="med"/>
                    </a:lnT>
                  </a:tcPr>
                </a:tc>
                <a:tc>
                  <a:txBody>
                    <a:bodyPr/>
                    <a:lstStyle/>
                    <a:p>
                      <a:pPr algn="ctr"/>
                      <a:r>
                        <a:rPr kumimoji="1" lang="en-US" altLang="ja-JP" sz="1500" dirty="0"/>
                        <a:t>10000/</a:t>
                      </a:r>
                      <a:r>
                        <a:rPr kumimoji="1" lang="ja-JP" altLang="en-US" sz="1500"/>
                        <a:t>月</a:t>
                      </a:r>
                    </a:p>
                  </a:txBody>
                  <a:tcPr marL="83127" marR="83127" marT="41564" marB="41564">
                    <a:lnT w="38100" cap="flat" cmpd="sng" algn="ctr">
                      <a:solidFill>
                        <a:schemeClr val="bg1"/>
                      </a:solidFill>
                      <a:prstDash val="solid"/>
                      <a:round/>
                      <a:headEnd type="none" w="med" len="med"/>
                      <a:tailEnd type="none" w="med" len="med"/>
                    </a:lnT>
                  </a:tcPr>
                </a:tc>
                <a:tc>
                  <a:txBody>
                    <a:bodyPr/>
                    <a:lstStyle/>
                    <a:p>
                      <a:pPr algn="ctr"/>
                      <a:r>
                        <a:rPr kumimoji="1" lang="ja-JP" altLang="en-US" sz="1500"/>
                        <a:t>良</a:t>
                      </a:r>
                      <a:endParaRPr kumimoji="1" lang="en-US" altLang="ja-JP" sz="1500" dirty="0"/>
                    </a:p>
                  </a:txBody>
                  <a:tcPr marL="83127" marR="83127" marT="41564" marB="41564">
                    <a:lnT w="38100" cap="flat" cmpd="sng" algn="ctr">
                      <a:solidFill>
                        <a:schemeClr val="bg1"/>
                      </a:solidFill>
                      <a:prstDash val="solid"/>
                      <a:round/>
                      <a:headEnd type="none" w="med" len="med"/>
                      <a:tailEnd type="none" w="med" len="med"/>
                    </a:lnT>
                  </a:tcPr>
                </a:tc>
                <a:tc>
                  <a:txBody>
                    <a:bodyPr/>
                    <a:lstStyle/>
                    <a:p>
                      <a:pPr algn="ctr"/>
                      <a:r>
                        <a:rPr kumimoji="1" lang="en-US" altLang="ja-JP" sz="1500" dirty="0"/>
                        <a:t>3000/</a:t>
                      </a:r>
                      <a:r>
                        <a:rPr kumimoji="1" lang="ja-JP" altLang="en-US" sz="1500"/>
                        <a:t>月</a:t>
                      </a:r>
                    </a:p>
                  </a:txBody>
                  <a:tcPr marL="83127" marR="83127" marT="41564" marB="41564">
                    <a:lnT w="38100" cap="flat" cmpd="sng" algn="ctr">
                      <a:solidFill>
                        <a:schemeClr val="bg1"/>
                      </a:solidFill>
                      <a:prstDash val="solid"/>
                      <a:round/>
                      <a:headEnd type="none" w="med" len="med"/>
                      <a:tailEnd type="none" w="med" len="med"/>
                    </a:lnT>
                  </a:tcPr>
                </a:tc>
                <a:extLst>
                  <a:ext uri="{0D108BD9-81ED-4DB2-BD59-A6C34878D82A}">
                    <a16:rowId xmlns:a16="http://schemas.microsoft.com/office/drawing/2014/main" val="757409057"/>
                  </a:ext>
                </a:extLst>
              </a:tr>
              <a:tr h="337127">
                <a:tc>
                  <a:txBody>
                    <a:bodyPr/>
                    <a:lstStyle/>
                    <a:p>
                      <a:r>
                        <a:rPr kumimoji="1" lang="ja-JP" altLang="en-US" sz="1500"/>
                        <a:t>レベル</a:t>
                      </a:r>
                      <a:r>
                        <a:rPr kumimoji="1" lang="en-US" altLang="ja-JP" sz="1500" dirty="0"/>
                        <a:t>2</a:t>
                      </a:r>
                      <a:endParaRPr kumimoji="1" lang="ja-JP" altLang="en-US" sz="1500"/>
                    </a:p>
                  </a:txBody>
                  <a:tcPr marL="83127" marR="83127" marT="41564" marB="41564"/>
                </a:tc>
                <a:tc>
                  <a:txBody>
                    <a:bodyPr/>
                    <a:lstStyle/>
                    <a:p>
                      <a:pPr algn="ctr"/>
                      <a:r>
                        <a:rPr kumimoji="1" lang="ja-JP" altLang="en-US" sz="1500"/>
                        <a:t>優</a:t>
                      </a:r>
                    </a:p>
                  </a:txBody>
                  <a:tcPr marL="83127" marR="83127" marT="41564" marB="41564"/>
                </a:tc>
                <a:tc>
                  <a:txBody>
                    <a:bodyPr/>
                    <a:lstStyle/>
                    <a:p>
                      <a:pPr algn="ctr"/>
                      <a:r>
                        <a:rPr kumimoji="1" lang="en-US" altLang="ja-JP" sz="1500" dirty="0"/>
                        <a:t>60000/</a:t>
                      </a:r>
                      <a:r>
                        <a:rPr kumimoji="1" lang="ja-JP" altLang="en-US" sz="1500"/>
                        <a:t>月</a:t>
                      </a:r>
                    </a:p>
                  </a:txBody>
                  <a:tcPr marL="83127" marR="83127" marT="41564" marB="41564"/>
                </a:tc>
                <a:tc>
                  <a:txBody>
                    <a:bodyPr/>
                    <a:lstStyle/>
                    <a:p>
                      <a:pPr algn="ctr"/>
                      <a:r>
                        <a:rPr kumimoji="1" lang="ja-JP" altLang="en-US" sz="1500"/>
                        <a:t>優</a:t>
                      </a:r>
                    </a:p>
                  </a:txBody>
                  <a:tcPr marL="83127" marR="83127" marT="41564" marB="41564"/>
                </a:tc>
                <a:tc>
                  <a:txBody>
                    <a:bodyPr/>
                    <a:lstStyle/>
                    <a:p>
                      <a:pPr algn="ctr"/>
                      <a:r>
                        <a:rPr kumimoji="1" lang="en-US" altLang="ja-JP" sz="1500" dirty="0"/>
                        <a:t>20000/</a:t>
                      </a:r>
                      <a:r>
                        <a:rPr kumimoji="1" lang="ja-JP" altLang="en-US" sz="1500"/>
                        <a:t>月</a:t>
                      </a:r>
                    </a:p>
                  </a:txBody>
                  <a:tcPr marL="83127" marR="83127" marT="41564" marB="41564"/>
                </a:tc>
                <a:tc>
                  <a:txBody>
                    <a:bodyPr/>
                    <a:lstStyle/>
                    <a:p>
                      <a:pPr algn="ctr"/>
                      <a:r>
                        <a:rPr kumimoji="1" lang="ja-JP" altLang="en-US" sz="1500"/>
                        <a:t>優</a:t>
                      </a:r>
                    </a:p>
                  </a:txBody>
                  <a:tcPr marL="83127" marR="83127" marT="41564" marB="41564"/>
                </a:tc>
                <a:tc>
                  <a:txBody>
                    <a:bodyPr/>
                    <a:lstStyle/>
                    <a:p>
                      <a:pPr algn="ctr"/>
                      <a:r>
                        <a:rPr kumimoji="1" lang="en-US" altLang="ja-JP" sz="1500" dirty="0"/>
                        <a:t>5000/</a:t>
                      </a:r>
                      <a:r>
                        <a:rPr kumimoji="1" lang="ja-JP" altLang="en-US" sz="1500"/>
                        <a:t>月</a:t>
                      </a:r>
                    </a:p>
                  </a:txBody>
                  <a:tcPr marL="83127" marR="83127" marT="41564" marB="41564"/>
                </a:tc>
                <a:extLst>
                  <a:ext uri="{0D108BD9-81ED-4DB2-BD59-A6C34878D82A}">
                    <a16:rowId xmlns:a16="http://schemas.microsoft.com/office/drawing/2014/main" val="142469566"/>
                  </a:ext>
                </a:extLst>
              </a:tr>
              <a:tr h="337127">
                <a:tc>
                  <a:txBody>
                    <a:bodyPr/>
                    <a:lstStyle/>
                    <a:p>
                      <a:r>
                        <a:rPr kumimoji="1" lang="ja-JP" altLang="en-US" sz="1500"/>
                        <a:t>レベル</a:t>
                      </a:r>
                      <a:r>
                        <a:rPr kumimoji="1" lang="en-US" altLang="ja-JP" sz="1500" dirty="0"/>
                        <a:t>3</a:t>
                      </a:r>
                      <a:endParaRPr kumimoji="1" lang="ja-JP" altLang="en-US" sz="1500"/>
                    </a:p>
                  </a:txBody>
                  <a:tcPr marL="83127" marR="83127" marT="41564" marB="41564"/>
                </a:tc>
                <a:tc>
                  <a:txBody>
                    <a:bodyPr/>
                    <a:lstStyle/>
                    <a:p>
                      <a:pPr algn="ctr"/>
                      <a:r>
                        <a:rPr kumimoji="1" lang="ja-JP" altLang="en-US" sz="1500"/>
                        <a:t>秀</a:t>
                      </a:r>
                      <a:endParaRPr kumimoji="1" lang="en-US" altLang="ja-JP" sz="1500" dirty="0"/>
                    </a:p>
                  </a:txBody>
                  <a:tcPr marL="83127" marR="83127" marT="41564" marB="41564"/>
                </a:tc>
                <a:tc>
                  <a:txBody>
                    <a:bodyPr/>
                    <a:lstStyle/>
                    <a:p>
                      <a:pPr algn="ctr"/>
                      <a:r>
                        <a:rPr kumimoji="1" lang="en-US" altLang="ja-JP" sz="1500" dirty="0"/>
                        <a:t>70000/</a:t>
                      </a:r>
                      <a:r>
                        <a:rPr kumimoji="1" lang="ja-JP" altLang="en-US" sz="1500"/>
                        <a:t>月</a:t>
                      </a:r>
                    </a:p>
                  </a:txBody>
                  <a:tcPr marL="83127" marR="83127" marT="41564" marB="41564"/>
                </a:tc>
                <a:tc>
                  <a:txBody>
                    <a:bodyPr/>
                    <a:lstStyle/>
                    <a:p>
                      <a:pPr algn="ctr"/>
                      <a:r>
                        <a:rPr kumimoji="1" lang="ja-JP" altLang="en-US" sz="1500"/>
                        <a:t>秀</a:t>
                      </a:r>
                    </a:p>
                  </a:txBody>
                  <a:tcPr marL="83127" marR="83127" marT="41564" marB="41564"/>
                </a:tc>
                <a:tc>
                  <a:txBody>
                    <a:bodyPr/>
                    <a:lstStyle/>
                    <a:p>
                      <a:pPr algn="ctr"/>
                      <a:r>
                        <a:rPr kumimoji="1" lang="en-US" altLang="ja-JP" sz="1500" dirty="0"/>
                        <a:t>30000/</a:t>
                      </a:r>
                      <a:r>
                        <a:rPr kumimoji="1" lang="ja-JP" altLang="en-US" sz="1500"/>
                        <a:t>月</a:t>
                      </a:r>
                    </a:p>
                  </a:txBody>
                  <a:tcPr marL="83127" marR="83127" marT="41564" marB="41564"/>
                </a:tc>
                <a:tc>
                  <a:txBody>
                    <a:bodyPr/>
                    <a:lstStyle/>
                    <a:p>
                      <a:pPr algn="ctr"/>
                      <a:r>
                        <a:rPr kumimoji="1" lang="ja-JP" altLang="en-US" sz="1500"/>
                        <a:t>秀</a:t>
                      </a:r>
                    </a:p>
                  </a:txBody>
                  <a:tcPr marL="83127" marR="83127" marT="41564" marB="41564"/>
                </a:tc>
                <a:tc>
                  <a:txBody>
                    <a:bodyPr/>
                    <a:lstStyle/>
                    <a:p>
                      <a:pPr algn="ctr"/>
                      <a:r>
                        <a:rPr kumimoji="1" lang="en-US" altLang="ja-JP" sz="1500" dirty="0"/>
                        <a:t>7000/</a:t>
                      </a:r>
                      <a:r>
                        <a:rPr kumimoji="1" lang="ja-JP" altLang="en-US" sz="1500"/>
                        <a:t>月</a:t>
                      </a:r>
                    </a:p>
                  </a:txBody>
                  <a:tcPr marL="83127" marR="83127" marT="41564" marB="41564"/>
                </a:tc>
                <a:extLst>
                  <a:ext uri="{0D108BD9-81ED-4DB2-BD59-A6C34878D82A}">
                    <a16:rowId xmlns:a16="http://schemas.microsoft.com/office/drawing/2014/main" val="2493777769"/>
                  </a:ext>
                </a:extLst>
              </a:tr>
            </a:tbl>
          </a:graphicData>
        </a:graphic>
      </p:graphicFrame>
      <p:grpSp>
        <p:nvGrpSpPr>
          <p:cNvPr id="9" name="グループ化 8">
            <a:extLst>
              <a:ext uri="{FF2B5EF4-FFF2-40B4-BE49-F238E27FC236}">
                <a16:creationId xmlns:a16="http://schemas.microsoft.com/office/drawing/2014/main" id="{3BB1C534-0B55-2542-898A-7CB9F8E97334}"/>
              </a:ext>
            </a:extLst>
          </p:cNvPr>
          <p:cNvGrpSpPr/>
          <p:nvPr/>
        </p:nvGrpSpPr>
        <p:grpSpPr>
          <a:xfrm>
            <a:off x="7176559" y="2787326"/>
            <a:ext cx="1077768" cy="1302802"/>
            <a:chOff x="1777460" y="7716381"/>
            <a:chExt cx="4952308" cy="5986341"/>
          </a:xfrm>
        </p:grpSpPr>
        <p:pic>
          <p:nvPicPr>
            <p:cNvPr id="10" name="図 9">
              <a:extLst>
                <a:ext uri="{FF2B5EF4-FFF2-40B4-BE49-F238E27FC236}">
                  <a16:creationId xmlns:a16="http://schemas.microsoft.com/office/drawing/2014/main" id="{CF677F00-DC3A-D443-AED8-221AA2BEE731}"/>
                </a:ext>
              </a:extLst>
            </p:cNvPr>
            <p:cNvPicPr>
              <a:picLocks noChangeAspect="1"/>
            </p:cNvPicPr>
            <p:nvPr/>
          </p:nvPicPr>
          <p:blipFill>
            <a:blip r:embed="rId2"/>
            <a:stretch>
              <a:fillRect/>
            </a:stretch>
          </p:blipFill>
          <p:spPr>
            <a:xfrm>
              <a:off x="2449331" y="7716381"/>
              <a:ext cx="3608570" cy="3922357"/>
            </a:xfrm>
            <a:prstGeom prst="rect">
              <a:avLst/>
            </a:prstGeom>
          </p:spPr>
        </p:pic>
        <p:sp>
          <p:nvSpPr>
            <p:cNvPr id="11" name="テキスト ボックス 10">
              <a:extLst>
                <a:ext uri="{FF2B5EF4-FFF2-40B4-BE49-F238E27FC236}">
                  <a16:creationId xmlns:a16="http://schemas.microsoft.com/office/drawing/2014/main" id="{5E595386-692F-4145-9054-12FBB17421B0}"/>
                </a:ext>
              </a:extLst>
            </p:cNvPr>
            <p:cNvSpPr txBox="1"/>
            <p:nvPr/>
          </p:nvSpPr>
          <p:spPr>
            <a:xfrm>
              <a:off x="1777460" y="11715796"/>
              <a:ext cx="4952308" cy="1986926"/>
            </a:xfrm>
            <a:prstGeom prst="rect">
              <a:avLst/>
            </a:prstGeom>
            <a:noFill/>
          </p:spPr>
          <p:txBody>
            <a:bodyPr wrap="square" rtlCol="0">
              <a:spAutoFit/>
            </a:bodyPr>
            <a:lstStyle/>
            <a:p>
              <a:pPr algn="ctr"/>
              <a:r>
                <a:rPr lang="ja-JP" altLang="en-US" sz="1400"/>
                <a:t>売り</a:t>
              </a:r>
              <a:r>
                <a:rPr kumimoji="1" lang="ja-JP" altLang="en-US" sz="1400"/>
                <a:t>手</a:t>
              </a:r>
              <a:endParaRPr kumimoji="1" lang="en-US" altLang="ja-JP" sz="1400" dirty="0"/>
            </a:p>
            <a:p>
              <a:pPr algn="ctr"/>
              <a:r>
                <a:rPr kumimoji="1" lang="en-US" altLang="ja-JP" sz="1400" dirty="0"/>
                <a:t>(</a:t>
              </a:r>
              <a:r>
                <a:rPr kumimoji="1" lang="ja-JP" altLang="en-US" sz="1400"/>
                <a:t>人間</a:t>
              </a:r>
              <a:r>
                <a:rPr kumimoji="1" lang="en-US" altLang="ja-JP" sz="1400" dirty="0"/>
                <a:t>)</a:t>
              </a:r>
              <a:endParaRPr kumimoji="1" lang="ja-JP" altLang="en-US" sz="1400"/>
            </a:p>
          </p:txBody>
        </p:sp>
      </p:grpSp>
      <p:grpSp>
        <p:nvGrpSpPr>
          <p:cNvPr id="12" name="グループ化 11">
            <a:extLst>
              <a:ext uri="{FF2B5EF4-FFF2-40B4-BE49-F238E27FC236}">
                <a16:creationId xmlns:a16="http://schemas.microsoft.com/office/drawing/2014/main" id="{26C83495-812C-3C41-A835-24383DFFD5F0}"/>
              </a:ext>
            </a:extLst>
          </p:cNvPr>
          <p:cNvGrpSpPr/>
          <p:nvPr/>
        </p:nvGrpSpPr>
        <p:grpSpPr>
          <a:xfrm>
            <a:off x="5233247" y="2977176"/>
            <a:ext cx="1577961" cy="1293188"/>
            <a:chOff x="589000" y="2554772"/>
            <a:chExt cx="2795459" cy="2290961"/>
          </a:xfrm>
        </p:grpSpPr>
        <p:sp>
          <p:nvSpPr>
            <p:cNvPr id="13" name="テキスト ボックス 12">
              <a:extLst>
                <a:ext uri="{FF2B5EF4-FFF2-40B4-BE49-F238E27FC236}">
                  <a16:creationId xmlns:a16="http://schemas.microsoft.com/office/drawing/2014/main" id="{AE7CA118-075E-5740-B267-785826CB661B}"/>
                </a:ext>
              </a:extLst>
            </p:cNvPr>
            <p:cNvSpPr txBox="1"/>
            <p:nvPr/>
          </p:nvSpPr>
          <p:spPr>
            <a:xfrm>
              <a:off x="589000" y="3764255"/>
              <a:ext cx="2795459" cy="1081478"/>
            </a:xfrm>
            <a:prstGeom prst="rect">
              <a:avLst/>
            </a:prstGeom>
            <a:noFill/>
          </p:spPr>
          <p:txBody>
            <a:bodyPr wrap="square" rtlCol="0">
              <a:spAutoFit/>
            </a:bodyPr>
            <a:lstStyle/>
            <a:p>
              <a:pPr algn="ctr"/>
              <a:r>
                <a:rPr lang="ja-JP" altLang="en-US" sz="1400"/>
                <a:t>買い</a:t>
              </a:r>
              <a:r>
                <a:rPr kumimoji="1" lang="ja-JP" altLang="en-US" sz="1400"/>
                <a:t>手</a:t>
              </a:r>
              <a:endParaRPr kumimoji="1" lang="en-US" altLang="ja-JP" sz="1400" dirty="0"/>
            </a:p>
            <a:p>
              <a:pPr algn="ctr"/>
              <a:r>
                <a:rPr kumimoji="1" lang="en-US" altLang="ja-JP" sz="1400" dirty="0"/>
                <a:t>(</a:t>
              </a:r>
              <a:r>
                <a:rPr kumimoji="1" lang="ja-JP" altLang="en-US" sz="1400"/>
                <a:t>エージェント</a:t>
              </a:r>
              <a:r>
                <a:rPr kumimoji="1" lang="en-US" altLang="ja-JP" sz="1400" dirty="0"/>
                <a:t>)</a:t>
              </a:r>
              <a:endParaRPr kumimoji="1" lang="ja-JP" altLang="en-US" sz="1400"/>
            </a:p>
          </p:txBody>
        </p:sp>
        <p:pic>
          <p:nvPicPr>
            <p:cNvPr id="14" name="図 13">
              <a:extLst>
                <a:ext uri="{FF2B5EF4-FFF2-40B4-BE49-F238E27FC236}">
                  <a16:creationId xmlns:a16="http://schemas.microsoft.com/office/drawing/2014/main" id="{55A11DEF-EC3A-4646-8324-033A9C77619B}"/>
                </a:ext>
              </a:extLst>
            </p:cNvPr>
            <p:cNvPicPr>
              <a:picLocks noChangeAspect="1"/>
            </p:cNvPicPr>
            <p:nvPr/>
          </p:nvPicPr>
          <p:blipFill>
            <a:blip r:embed="rId3"/>
            <a:stretch>
              <a:fillRect/>
            </a:stretch>
          </p:blipFill>
          <p:spPr>
            <a:xfrm>
              <a:off x="1276892" y="2554772"/>
              <a:ext cx="1419672" cy="1235115"/>
            </a:xfrm>
            <a:prstGeom prst="rect">
              <a:avLst/>
            </a:prstGeom>
          </p:spPr>
        </p:pic>
      </p:grpSp>
    </p:spTree>
    <p:extLst>
      <p:ext uri="{BB962C8B-B14F-4D97-AF65-F5344CB8AC3E}">
        <p14:creationId xmlns:p14="http://schemas.microsoft.com/office/powerpoint/2010/main" val="279057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lang="ja-JP" altLang="en-US"/>
              <a:t>カテゴリ推定について</a:t>
            </a:r>
            <a:endParaRPr kumimoji="1" lang="ja-JP" altLang="en-US"/>
          </a:p>
        </p:txBody>
      </p:sp>
      <p:sp>
        <p:nvSpPr>
          <p:cNvPr id="3" name="コンテンツ プレースホルダー 2">
            <a:extLst>
              <a:ext uri="{FF2B5EF4-FFF2-40B4-BE49-F238E27FC236}">
                <a16:creationId xmlns:a16="http://schemas.microsoft.com/office/drawing/2014/main" id="{7CD37B2B-E32E-2D43-8143-0B7A29E79BB5}"/>
              </a:ext>
            </a:extLst>
          </p:cNvPr>
          <p:cNvSpPr>
            <a:spLocks noGrp="1"/>
          </p:cNvSpPr>
          <p:nvPr>
            <p:ph idx="1"/>
          </p:nvPr>
        </p:nvSpPr>
        <p:spPr>
          <a:xfrm>
            <a:off x="194898" y="1884383"/>
            <a:ext cx="8859709" cy="3925924"/>
          </a:xfrm>
        </p:spPr>
        <p:txBody>
          <a:bodyPr/>
          <a:lstStyle/>
          <a:p>
            <a:r>
              <a:rPr lang="ja-JP" altLang="en-US">
                <a:latin typeface="+mn-lt"/>
              </a:rPr>
              <a:t>今までは各尺度ごとに確率密度関数のパラメータを変えていこうと思っていた</a:t>
            </a:r>
            <a:endParaRPr lang="en-US" altLang="ja-JP" dirty="0">
              <a:latin typeface="+mn-lt"/>
            </a:endParaRPr>
          </a:p>
          <a:p>
            <a:pPr lvl="1"/>
            <a:r>
              <a:rPr lang="ja-JP" altLang="en-US">
                <a:latin typeface="+mn-lt"/>
              </a:rPr>
              <a:t>確率密度関数使う必要なくない？</a:t>
            </a:r>
            <a:endParaRPr lang="en-US" altLang="ja-JP" dirty="0">
              <a:latin typeface="+mn-lt"/>
            </a:endParaRPr>
          </a:p>
        </p:txBody>
      </p:sp>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769F341D-8FC9-2D47-8B04-C652CE5AA9E7}" type="datetime1">
              <a:rPr kumimoji="1" lang="ja-JP" altLang="en-US" smtClean="0"/>
              <a:t>2020/5/11</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3</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kumimoji="1" lang="en-US" altLang="ja-JP" dirty="0"/>
              <a:t>2</a:t>
            </a:r>
            <a:endParaRPr kumimoji="1" lang="ja-JP" altLang="en-US"/>
          </a:p>
        </p:txBody>
      </p:sp>
      <p:grpSp>
        <p:nvGrpSpPr>
          <p:cNvPr id="8" name="グループ化 7">
            <a:extLst>
              <a:ext uri="{FF2B5EF4-FFF2-40B4-BE49-F238E27FC236}">
                <a16:creationId xmlns:a16="http://schemas.microsoft.com/office/drawing/2014/main" id="{D7A3713D-FAC0-E342-8651-5AFC82B96ABB}"/>
              </a:ext>
            </a:extLst>
          </p:cNvPr>
          <p:cNvGrpSpPr/>
          <p:nvPr/>
        </p:nvGrpSpPr>
        <p:grpSpPr>
          <a:xfrm>
            <a:off x="163626" y="1160115"/>
            <a:ext cx="4801913" cy="680876"/>
            <a:chOff x="163626" y="1160115"/>
            <a:chExt cx="4801913" cy="680876"/>
          </a:xfrm>
        </p:grpSpPr>
        <p:cxnSp>
          <p:nvCxnSpPr>
            <p:cNvPr id="9" name="直線コネクタ 8">
              <a:extLst>
                <a:ext uri="{FF2B5EF4-FFF2-40B4-BE49-F238E27FC236}">
                  <a16:creationId xmlns:a16="http://schemas.microsoft.com/office/drawing/2014/main" id="{9B8D37E1-A3CC-F349-8A06-03F1A47DC98E}"/>
                </a:ext>
              </a:extLst>
            </p:cNvPr>
            <p:cNvCxnSpPr>
              <a:cxnSpLocks/>
            </p:cNvCxnSpPr>
            <p:nvPr userDrawn="1"/>
          </p:nvCxnSpPr>
          <p:spPr>
            <a:xfrm>
              <a:off x="163626" y="1699846"/>
              <a:ext cx="4801913"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0" name="正方形/長方形 9">
              <a:extLst>
                <a:ext uri="{FF2B5EF4-FFF2-40B4-BE49-F238E27FC236}">
                  <a16:creationId xmlns:a16="http://schemas.microsoft.com/office/drawing/2014/main" id="{7B467E56-B089-BC47-93BE-36402235BE39}"/>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1" name="テキスト プレースホルダー 12">
            <a:extLst>
              <a:ext uri="{FF2B5EF4-FFF2-40B4-BE49-F238E27FC236}">
                <a16:creationId xmlns:a16="http://schemas.microsoft.com/office/drawing/2014/main" id="{C26BD3FD-2531-E441-91BF-422CDA68CE77}"/>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もう一度よく考えてみた</a:t>
            </a:r>
          </a:p>
        </p:txBody>
      </p:sp>
      <p:pic>
        <p:nvPicPr>
          <p:cNvPr id="12" name="図 11">
            <a:extLst>
              <a:ext uri="{FF2B5EF4-FFF2-40B4-BE49-F238E27FC236}">
                <a16:creationId xmlns:a16="http://schemas.microsoft.com/office/drawing/2014/main" id="{78C30B2B-38EA-2D45-9A50-0D41B1728885}"/>
              </a:ext>
            </a:extLst>
          </p:cNvPr>
          <p:cNvPicPr>
            <a:picLocks noChangeAspect="1"/>
          </p:cNvPicPr>
          <p:nvPr/>
        </p:nvPicPr>
        <p:blipFill rotWithShape="1">
          <a:blip r:embed="rId4"/>
          <a:srcRect b="10998"/>
          <a:stretch/>
        </p:blipFill>
        <p:spPr>
          <a:xfrm>
            <a:off x="1988940" y="3325727"/>
            <a:ext cx="5161550" cy="3270011"/>
          </a:xfrm>
          <a:prstGeom prst="rect">
            <a:avLst/>
          </a:prstGeom>
        </p:spPr>
      </p:pic>
    </p:spTree>
    <p:extLst>
      <p:ext uri="{BB962C8B-B14F-4D97-AF65-F5344CB8AC3E}">
        <p14:creationId xmlns:p14="http://schemas.microsoft.com/office/powerpoint/2010/main" val="30031049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lang="ja-JP" altLang="en-US"/>
              <a:t>カテゴリ推定について</a:t>
            </a:r>
            <a:endParaRPr kumimoji="1" lang="ja-JP" altLang="en-US"/>
          </a:p>
        </p:txBody>
      </p:sp>
      <p:sp>
        <p:nvSpPr>
          <p:cNvPr id="3" name="コンテンツ プレースホルダー 2">
            <a:extLst>
              <a:ext uri="{FF2B5EF4-FFF2-40B4-BE49-F238E27FC236}">
                <a16:creationId xmlns:a16="http://schemas.microsoft.com/office/drawing/2014/main" id="{7CD37B2B-E32E-2D43-8143-0B7A29E79BB5}"/>
              </a:ext>
            </a:extLst>
          </p:cNvPr>
          <p:cNvSpPr>
            <a:spLocks noGrp="1"/>
          </p:cNvSpPr>
          <p:nvPr>
            <p:ph idx="1"/>
          </p:nvPr>
        </p:nvSpPr>
        <p:spPr>
          <a:xfrm>
            <a:off x="194898" y="1884383"/>
            <a:ext cx="8859709" cy="3925924"/>
          </a:xfrm>
        </p:spPr>
        <p:txBody>
          <a:bodyPr/>
          <a:lstStyle/>
          <a:p>
            <a:r>
              <a:rPr lang="ja-JP" altLang="en-US">
                <a:latin typeface="+mn-lt"/>
              </a:rPr>
              <a:t>今までの行動の座標を保持しておいてその平均を</a:t>
            </a:r>
            <a:br>
              <a:rPr lang="en-US" altLang="ja-JP" dirty="0">
                <a:latin typeface="+mn-lt"/>
              </a:rPr>
            </a:br>
            <a:r>
              <a:rPr lang="ja-JP" altLang="en-US">
                <a:latin typeface="+mn-lt"/>
              </a:rPr>
              <a:t>相手のカテゴリとする</a:t>
            </a:r>
            <a:endParaRPr lang="en-US" altLang="ja-JP" dirty="0">
              <a:latin typeface="+mn-lt"/>
            </a:endParaRPr>
          </a:p>
        </p:txBody>
      </p:sp>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769F341D-8FC9-2D47-8B04-C652CE5AA9E7}" type="datetime1">
              <a:rPr kumimoji="1" lang="ja-JP" altLang="en-US" smtClean="0"/>
              <a:t>2020/5/11</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4</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kumimoji="1" lang="en-US" altLang="ja-JP" dirty="0"/>
              <a:t>2</a:t>
            </a:r>
            <a:endParaRPr kumimoji="1" lang="ja-JP" altLang="en-US"/>
          </a:p>
        </p:txBody>
      </p:sp>
      <p:grpSp>
        <p:nvGrpSpPr>
          <p:cNvPr id="8" name="グループ化 7">
            <a:extLst>
              <a:ext uri="{FF2B5EF4-FFF2-40B4-BE49-F238E27FC236}">
                <a16:creationId xmlns:a16="http://schemas.microsoft.com/office/drawing/2014/main" id="{D7A3713D-FAC0-E342-8651-5AFC82B96ABB}"/>
              </a:ext>
            </a:extLst>
          </p:cNvPr>
          <p:cNvGrpSpPr/>
          <p:nvPr/>
        </p:nvGrpSpPr>
        <p:grpSpPr>
          <a:xfrm>
            <a:off x="163626" y="1160115"/>
            <a:ext cx="4801913" cy="680876"/>
            <a:chOff x="163626" y="1160115"/>
            <a:chExt cx="4801913" cy="680876"/>
          </a:xfrm>
        </p:grpSpPr>
        <p:cxnSp>
          <p:nvCxnSpPr>
            <p:cNvPr id="9" name="直線コネクタ 8">
              <a:extLst>
                <a:ext uri="{FF2B5EF4-FFF2-40B4-BE49-F238E27FC236}">
                  <a16:creationId xmlns:a16="http://schemas.microsoft.com/office/drawing/2014/main" id="{9B8D37E1-A3CC-F349-8A06-03F1A47DC98E}"/>
                </a:ext>
              </a:extLst>
            </p:cNvPr>
            <p:cNvCxnSpPr>
              <a:cxnSpLocks/>
            </p:cNvCxnSpPr>
            <p:nvPr userDrawn="1"/>
          </p:nvCxnSpPr>
          <p:spPr>
            <a:xfrm>
              <a:off x="163626" y="1699846"/>
              <a:ext cx="4801913"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0" name="正方形/長方形 9">
              <a:extLst>
                <a:ext uri="{FF2B5EF4-FFF2-40B4-BE49-F238E27FC236}">
                  <a16:creationId xmlns:a16="http://schemas.microsoft.com/office/drawing/2014/main" id="{7B467E56-B089-BC47-93BE-36402235BE39}"/>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1" name="テキスト プレースホルダー 12">
            <a:extLst>
              <a:ext uri="{FF2B5EF4-FFF2-40B4-BE49-F238E27FC236}">
                <a16:creationId xmlns:a16="http://schemas.microsoft.com/office/drawing/2014/main" id="{C26BD3FD-2531-E441-91BF-422CDA68CE77}"/>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もう一度よく考えてみた</a:t>
            </a:r>
          </a:p>
        </p:txBody>
      </p:sp>
      <p:grpSp>
        <p:nvGrpSpPr>
          <p:cNvPr id="14" name="グループ化 13">
            <a:extLst>
              <a:ext uri="{FF2B5EF4-FFF2-40B4-BE49-F238E27FC236}">
                <a16:creationId xmlns:a16="http://schemas.microsoft.com/office/drawing/2014/main" id="{5E1A3A53-9E55-234B-B855-BFA42BCF9A45}"/>
              </a:ext>
            </a:extLst>
          </p:cNvPr>
          <p:cNvGrpSpPr/>
          <p:nvPr/>
        </p:nvGrpSpPr>
        <p:grpSpPr>
          <a:xfrm>
            <a:off x="2937104" y="3392488"/>
            <a:ext cx="3269792" cy="3157163"/>
            <a:chOff x="5440697" y="1839278"/>
            <a:chExt cx="3956449" cy="3820167"/>
          </a:xfrm>
        </p:grpSpPr>
        <p:pic>
          <p:nvPicPr>
            <p:cNvPr id="16" name="図 15">
              <a:extLst>
                <a:ext uri="{FF2B5EF4-FFF2-40B4-BE49-F238E27FC236}">
                  <a16:creationId xmlns:a16="http://schemas.microsoft.com/office/drawing/2014/main" id="{4B78663C-29A0-5548-BB70-CA895F7756D3}"/>
                </a:ext>
              </a:extLst>
            </p:cNvPr>
            <p:cNvPicPr>
              <a:picLocks noChangeAspect="1"/>
            </p:cNvPicPr>
            <p:nvPr/>
          </p:nvPicPr>
          <p:blipFill rotWithShape="1">
            <a:blip r:embed="rId4">
              <a:alphaModFix/>
            </a:blip>
            <a:srcRect l="10972" t="1550" r="-1061" b="21005"/>
            <a:stretch/>
          </p:blipFill>
          <p:spPr>
            <a:xfrm>
              <a:off x="5910071" y="1839278"/>
              <a:ext cx="3487075" cy="3375364"/>
            </a:xfrm>
            <a:prstGeom prst="rect">
              <a:avLst/>
            </a:prstGeom>
          </p:spPr>
        </p:pic>
        <p:cxnSp>
          <p:nvCxnSpPr>
            <p:cNvPr id="17" name="直線矢印コネクタ 16">
              <a:extLst>
                <a:ext uri="{FF2B5EF4-FFF2-40B4-BE49-F238E27FC236}">
                  <a16:creationId xmlns:a16="http://schemas.microsoft.com/office/drawing/2014/main" id="{0B6E8D9E-31E6-5446-A51B-AEF47E0A512B}"/>
                </a:ext>
              </a:extLst>
            </p:cNvPr>
            <p:cNvCxnSpPr/>
            <p:nvPr/>
          </p:nvCxnSpPr>
          <p:spPr>
            <a:xfrm>
              <a:off x="5887676" y="5263634"/>
              <a:ext cx="2988000" cy="0"/>
            </a:xfrm>
            <a:prstGeom prst="straightConnector1">
              <a:avLst/>
            </a:prstGeom>
            <a:ln w="57150">
              <a:solidFill>
                <a:schemeClr val="accent1">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8" name="直線矢印コネクタ 17">
              <a:extLst>
                <a:ext uri="{FF2B5EF4-FFF2-40B4-BE49-F238E27FC236}">
                  <a16:creationId xmlns:a16="http://schemas.microsoft.com/office/drawing/2014/main" id="{882AAD4C-01B6-4D4F-B8BE-FEF008B51AD1}"/>
                </a:ext>
              </a:extLst>
            </p:cNvPr>
            <p:cNvCxnSpPr>
              <a:cxnSpLocks/>
            </p:cNvCxnSpPr>
            <p:nvPr/>
          </p:nvCxnSpPr>
          <p:spPr>
            <a:xfrm rot="16200000">
              <a:off x="4299579" y="3610013"/>
              <a:ext cx="3096000" cy="0"/>
            </a:xfrm>
            <a:prstGeom prst="straightConnector1">
              <a:avLst/>
            </a:prstGeom>
            <a:ln w="57150">
              <a:solidFill>
                <a:schemeClr val="accent1">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9" name="テキスト ボックス 18">
              <a:extLst>
                <a:ext uri="{FF2B5EF4-FFF2-40B4-BE49-F238E27FC236}">
                  <a16:creationId xmlns:a16="http://schemas.microsoft.com/office/drawing/2014/main" id="{309D2456-64C9-8941-9AC9-FAD0AA3253E5}"/>
                </a:ext>
              </a:extLst>
            </p:cNvPr>
            <p:cNvSpPr txBox="1"/>
            <p:nvPr/>
          </p:nvSpPr>
          <p:spPr>
            <a:xfrm>
              <a:off x="6812196" y="5290113"/>
              <a:ext cx="1277789" cy="369332"/>
            </a:xfrm>
            <a:prstGeom prst="rect">
              <a:avLst/>
            </a:prstGeom>
            <a:noFill/>
          </p:spPr>
          <p:txBody>
            <a:bodyPr wrap="square" rtlCol="0">
              <a:spAutoFit/>
            </a:bodyPr>
            <a:lstStyle/>
            <a:p>
              <a:pPr algn="ctr"/>
              <a:r>
                <a:rPr kumimoji="1" lang="ja-JP" altLang="en-US"/>
                <a:t>協調性</a:t>
              </a:r>
            </a:p>
          </p:txBody>
        </p:sp>
        <p:sp>
          <p:nvSpPr>
            <p:cNvPr id="20" name="テキスト ボックス 19">
              <a:extLst>
                <a:ext uri="{FF2B5EF4-FFF2-40B4-BE49-F238E27FC236}">
                  <a16:creationId xmlns:a16="http://schemas.microsoft.com/office/drawing/2014/main" id="{9B1E76EE-F8EC-CF4D-BE10-622C2972FB36}"/>
                </a:ext>
              </a:extLst>
            </p:cNvPr>
            <p:cNvSpPr txBox="1"/>
            <p:nvPr/>
          </p:nvSpPr>
          <p:spPr>
            <a:xfrm rot="16200000">
              <a:off x="4986468" y="3436759"/>
              <a:ext cx="1277789" cy="369332"/>
            </a:xfrm>
            <a:prstGeom prst="rect">
              <a:avLst/>
            </a:prstGeom>
            <a:noFill/>
          </p:spPr>
          <p:txBody>
            <a:bodyPr wrap="square" rtlCol="0">
              <a:spAutoFit/>
            </a:bodyPr>
            <a:lstStyle/>
            <a:p>
              <a:pPr algn="ctr"/>
              <a:r>
                <a:rPr kumimoji="1" lang="ja-JP" altLang="en-US"/>
                <a:t>積極性</a:t>
              </a:r>
            </a:p>
          </p:txBody>
        </p:sp>
      </p:grpSp>
      <p:sp>
        <p:nvSpPr>
          <p:cNvPr id="21" name="円/楕円 20">
            <a:extLst>
              <a:ext uri="{FF2B5EF4-FFF2-40B4-BE49-F238E27FC236}">
                <a16:creationId xmlns:a16="http://schemas.microsoft.com/office/drawing/2014/main" id="{0A1899F1-8AE8-FD46-840D-42094F172665}"/>
              </a:ext>
            </a:extLst>
          </p:cNvPr>
          <p:cNvSpPr/>
          <p:nvPr/>
        </p:nvSpPr>
        <p:spPr>
          <a:xfrm>
            <a:off x="4259483" y="3847345"/>
            <a:ext cx="115747" cy="12732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円/楕円 21">
            <a:extLst>
              <a:ext uri="{FF2B5EF4-FFF2-40B4-BE49-F238E27FC236}">
                <a16:creationId xmlns:a16="http://schemas.microsoft.com/office/drawing/2014/main" id="{7F37B8B1-DA4E-3C40-9566-603C9DDE8D75}"/>
              </a:ext>
            </a:extLst>
          </p:cNvPr>
          <p:cNvSpPr/>
          <p:nvPr/>
        </p:nvSpPr>
        <p:spPr>
          <a:xfrm>
            <a:off x="4411883" y="3999745"/>
            <a:ext cx="115747" cy="12732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円/楕円 22">
            <a:extLst>
              <a:ext uri="{FF2B5EF4-FFF2-40B4-BE49-F238E27FC236}">
                <a16:creationId xmlns:a16="http://schemas.microsoft.com/office/drawing/2014/main" id="{6654FC2C-9E9D-F34E-B942-7D8B4459D78E}"/>
              </a:ext>
            </a:extLst>
          </p:cNvPr>
          <p:cNvSpPr/>
          <p:nvPr/>
        </p:nvSpPr>
        <p:spPr>
          <a:xfrm>
            <a:off x="4141641" y="4141195"/>
            <a:ext cx="115747" cy="12732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円/楕円 23">
            <a:extLst>
              <a:ext uri="{FF2B5EF4-FFF2-40B4-BE49-F238E27FC236}">
                <a16:creationId xmlns:a16="http://schemas.microsoft.com/office/drawing/2014/main" id="{E146125E-3DD7-4B46-AD6E-6E6267F0074C}"/>
              </a:ext>
            </a:extLst>
          </p:cNvPr>
          <p:cNvSpPr/>
          <p:nvPr/>
        </p:nvSpPr>
        <p:spPr>
          <a:xfrm>
            <a:off x="4735973" y="3872423"/>
            <a:ext cx="115747" cy="12732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角丸四角形吹き出し 25">
            <a:extLst>
              <a:ext uri="{FF2B5EF4-FFF2-40B4-BE49-F238E27FC236}">
                <a16:creationId xmlns:a16="http://schemas.microsoft.com/office/drawing/2014/main" id="{C661C62B-55DD-B247-90F5-5CEF4B768FF4}"/>
              </a:ext>
            </a:extLst>
          </p:cNvPr>
          <p:cNvSpPr/>
          <p:nvPr/>
        </p:nvSpPr>
        <p:spPr>
          <a:xfrm>
            <a:off x="3838963" y="3172785"/>
            <a:ext cx="2880169" cy="426296"/>
          </a:xfrm>
          <a:prstGeom prst="wedgeRoundRectCallout">
            <a:avLst>
              <a:gd name="adj1" fmla="val -27263"/>
              <a:gd name="adj2" fmla="val 100513"/>
              <a:gd name="adj3" fmla="val 1666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a:t>今までの行動・</a:t>
            </a:r>
            <a:r>
              <a:rPr kumimoji="1" lang="en-US" altLang="ja-JP" dirty="0"/>
              <a:t>Offer</a:t>
            </a:r>
            <a:endParaRPr kumimoji="1" lang="ja-JP" altLang="en-US"/>
          </a:p>
        </p:txBody>
      </p:sp>
      <p:sp>
        <p:nvSpPr>
          <p:cNvPr id="27" name="円/楕円 26">
            <a:extLst>
              <a:ext uri="{FF2B5EF4-FFF2-40B4-BE49-F238E27FC236}">
                <a16:creationId xmlns:a16="http://schemas.microsoft.com/office/drawing/2014/main" id="{0B776EB5-BE6E-DD48-AA7A-E5FFFB9F4397}"/>
              </a:ext>
            </a:extLst>
          </p:cNvPr>
          <p:cNvSpPr/>
          <p:nvPr/>
        </p:nvSpPr>
        <p:spPr>
          <a:xfrm>
            <a:off x="4708082" y="4577372"/>
            <a:ext cx="115747" cy="12732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角丸四角形吹き出し 27">
            <a:extLst>
              <a:ext uri="{FF2B5EF4-FFF2-40B4-BE49-F238E27FC236}">
                <a16:creationId xmlns:a16="http://schemas.microsoft.com/office/drawing/2014/main" id="{7FAF9125-A085-2E43-894E-B20FF60AF9E4}"/>
              </a:ext>
            </a:extLst>
          </p:cNvPr>
          <p:cNvSpPr/>
          <p:nvPr/>
        </p:nvSpPr>
        <p:spPr>
          <a:xfrm>
            <a:off x="4823829" y="4855905"/>
            <a:ext cx="1967195" cy="426296"/>
          </a:xfrm>
          <a:prstGeom prst="wedgeRoundRectCallout">
            <a:avLst>
              <a:gd name="adj1" fmla="val -45347"/>
              <a:gd name="adj2" fmla="val -92265"/>
              <a:gd name="adj3" fmla="val 1666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a:t>現在の行動</a:t>
            </a:r>
          </a:p>
        </p:txBody>
      </p:sp>
    </p:spTree>
    <p:extLst>
      <p:ext uri="{BB962C8B-B14F-4D97-AF65-F5344CB8AC3E}">
        <p14:creationId xmlns:p14="http://schemas.microsoft.com/office/powerpoint/2010/main" val="39582897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lang="ja-JP" altLang="en-US"/>
              <a:t>カテゴリ推定について</a:t>
            </a:r>
            <a:endParaRPr kumimoji="1" lang="ja-JP" altLang="en-US"/>
          </a:p>
        </p:txBody>
      </p:sp>
      <p:sp>
        <p:nvSpPr>
          <p:cNvPr id="3" name="コンテンツ プレースホルダー 2">
            <a:extLst>
              <a:ext uri="{FF2B5EF4-FFF2-40B4-BE49-F238E27FC236}">
                <a16:creationId xmlns:a16="http://schemas.microsoft.com/office/drawing/2014/main" id="{7CD37B2B-E32E-2D43-8143-0B7A29E79BB5}"/>
              </a:ext>
            </a:extLst>
          </p:cNvPr>
          <p:cNvSpPr>
            <a:spLocks noGrp="1"/>
          </p:cNvSpPr>
          <p:nvPr>
            <p:ph idx="1"/>
          </p:nvPr>
        </p:nvSpPr>
        <p:spPr>
          <a:xfrm>
            <a:off x="194898" y="1884383"/>
            <a:ext cx="8859709" cy="3925924"/>
          </a:xfrm>
        </p:spPr>
        <p:txBody>
          <a:bodyPr/>
          <a:lstStyle/>
          <a:p>
            <a:r>
              <a:rPr lang="ja-JP" altLang="en-US"/>
              <a:t>今までの行動の座標を保持しておいてその平均を</a:t>
            </a:r>
            <a:br>
              <a:rPr lang="en-US" altLang="ja-JP" dirty="0"/>
            </a:br>
            <a:r>
              <a:rPr lang="ja-JP" altLang="en-US"/>
              <a:t>相手のカテゴリとする</a:t>
            </a:r>
            <a:endParaRPr lang="en-US" altLang="ja-JP" dirty="0"/>
          </a:p>
        </p:txBody>
      </p:sp>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769F341D-8FC9-2D47-8B04-C652CE5AA9E7}" type="datetime1">
              <a:rPr kumimoji="1" lang="ja-JP" altLang="en-US" smtClean="0"/>
              <a:t>2020/5/11</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5</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kumimoji="1" lang="en-US" altLang="ja-JP" dirty="0"/>
              <a:t>2</a:t>
            </a:r>
            <a:endParaRPr kumimoji="1" lang="ja-JP" altLang="en-US"/>
          </a:p>
        </p:txBody>
      </p:sp>
      <p:grpSp>
        <p:nvGrpSpPr>
          <p:cNvPr id="8" name="グループ化 7">
            <a:extLst>
              <a:ext uri="{FF2B5EF4-FFF2-40B4-BE49-F238E27FC236}">
                <a16:creationId xmlns:a16="http://schemas.microsoft.com/office/drawing/2014/main" id="{D7A3713D-FAC0-E342-8651-5AFC82B96ABB}"/>
              </a:ext>
            </a:extLst>
          </p:cNvPr>
          <p:cNvGrpSpPr/>
          <p:nvPr/>
        </p:nvGrpSpPr>
        <p:grpSpPr>
          <a:xfrm>
            <a:off x="163626" y="1160115"/>
            <a:ext cx="4801913" cy="680876"/>
            <a:chOff x="163626" y="1160115"/>
            <a:chExt cx="4801913" cy="680876"/>
          </a:xfrm>
        </p:grpSpPr>
        <p:cxnSp>
          <p:nvCxnSpPr>
            <p:cNvPr id="9" name="直線コネクタ 8">
              <a:extLst>
                <a:ext uri="{FF2B5EF4-FFF2-40B4-BE49-F238E27FC236}">
                  <a16:creationId xmlns:a16="http://schemas.microsoft.com/office/drawing/2014/main" id="{9B8D37E1-A3CC-F349-8A06-03F1A47DC98E}"/>
                </a:ext>
              </a:extLst>
            </p:cNvPr>
            <p:cNvCxnSpPr>
              <a:cxnSpLocks/>
            </p:cNvCxnSpPr>
            <p:nvPr userDrawn="1"/>
          </p:nvCxnSpPr>
          <p:spPr>
            <a:xfrm>
              <a:off x="163626" y="1699846"/>
              <a:ext cx="4801913"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0" name="正方形/長方形 9">
              <a:extLst>
                <a:ext uri="{FF2B5EF4-FFF2-40B4-BE49-F238E27FC236}">
                  <a16:creationId xmlns:a16="http://schemas.microsoft.com/office/drawing/2014/main" id="{7B467E56-B089-BC47-93BE-36402235BE39}"/>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1" name="テキスト プレースホルダー 12">
            <a:extLst>
              <a:ext uri="{FF2B5EF4-FFF2-40B4-BE49-F238E27FC236}">
                <a16:creationId xmlns:a16="http://schemas.microsoft.com/office/drawing/2014/main" id="{C26BD3FD-2531-E441-91BF-422CDA68CE77}"/>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もう一度よく考えてみた</a:t>
            </a:r>
          </a:p>
        </p:txBody>
      </p:sp>
      <p:grpSp>
        <p:nvGrpSpPr>
          <p:cNvPr id="14" name="グループ化 13">
            <a:extLst>
              <a:ext uri="{FF2B5EF4-FFF2-40B4-BE49-F238E27FC236}">
                <a16:creationId xmlns:a16="http://schemas.microsoft.com/office/drawing/2014/main" id="{5E1A3A53-9E55-234B-B855-BFA42BCF9A45}"/>
              </a:ext>
            </a:extLst>
          </p:cNvPr>
          <p:cNvGrpSpPr/>
          <p:nvPr/>
        </p:nvGrpSpPr>
        <p:grpSpPr>
          <a:xfrm>
            <a:off x="2937104" y="3392488"/>
            <a:ext cx="3269792" cy="3157163"/>
            <a:chOff x="5440697" y="1839278"/>
            <a:chExt cx="3956449" cy="3820167"/>
          </a:xfrm>
        </p:grpSpPr>
        <p:pic>
          <p:nvPicPr>
            <p:cNvPr id="16" name="図 15">
              <a:extLst>
                <a:ext uri="{FF2B5EF4-FFF2-40B4-BE49-F238E27FC236}">
                  <a16:creationId xmlns:a16="http://schemas.microsoft.com/office/drawing/2014/main" id="{4B78663C-29A0-5548-BB70-CA895F7756D3}"/>
                </a:ext>
              </a:extLst>
            </p:cNvPr>
            <p:cNvPicPr>
              <a:picLocks noChangeAspect="1"/>
            </p:cNvPicPr>
            <p:nvPr/>
          </p:nvPicPr>
          <p:blipFill rotWithShape="1">
            <a:blip r:embed="rId4">
              <a:alphaModFix/>
            </a:blip>
            <a:srcRect l="10972" t="1550" r="-1061" b="21005"/>
            <a:stretch/>
          </p:blipFill>
          <p:spPr>
            <a:xfrm>
              <a:off x="5910071" y="1839278"/>
              <a:ext cx="3487075" cy="3375364"/>
            </a:xfrm>
            <a:prstGeom prst="rect">
              <a:avLst/>
            </a:prstGeom>
          </p:spPr>
        </p:pic>
        <p:cxnSp>
          <p:nvCxnSpPr>
            <p:cNvPr id="17" name="直線矢印コネクタ 16">
              <a:extLst>
                <a:ext uri="{FF2B5EF4-FFF2-40B4-BE49-F238E27FC236}">
                  <a16:creationId xmlns:a16="http://schemas.microsoft.com/office/drawing/2014/main" id="{0B6E8D9E-31E6-5446-A51B-AEF47E0A512B}"/>
                </a:ext>
              </a:extLst>
            </p:cNvPr>
            <p:cNvCxnSpPr/>
            <p:nvPr/>
          </p:nvCxnSpPr>
          <p:spPr>
            <a:xfrm>
              <a:off x="5887676" y="5263634"/>
              <a:ext cx="2988000" cy="0"/>
            </a:xfrm>
            <a:prstGeom prst="straightConnector1">
              <a:avLst/>
            </a:prstGeom>
            <a:ln w="57150">
              <a:solidFill>
                <a:schemeClr val="accent1">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8" name="直線矢印コネクタ 17">
              <a:extLst>
                <a:ext uri="{FF2B5EF4-FFF2-40B4-BE49-F238E27FC236}">
                  <a16:creationId xmlns:a16="http://schemas.microsoft.com/office/drawing/2014/main" id="{882AAD4C-01B6-4D4F-B8BE-FEF008B51AD1}"/>
                </a:ext>
              </a:extLst>
            </p:cNvPr>
            <p:cNvCxnSpPr>
              <a:cxnSpLocks/>
            </p:cNvCxnSpPr>
            <p:nvPr/>
          </p:nvCxnSpPr>
          <p:spPr>
            <a:xfrm rot="16200000">
              <a:off x="4299579" y="3610013"/>
              <a:ext cx="3096000" cy="0"/>
            </a:xfrm>
            <a:prstGeom prst="straightConnector1">
              <a:avLst/>
            </a:prstGeom>
            <a:ln w="57150">
              <a:solidFill>
                <a:schemeClr val="accent1">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9" name="テキスト ボックス 18">
              <a:extLst>
                <a:ext uri="{FF2B5EF4-FFF2-40B4-BE49-F238E27FC236}">
                  <a16:creationId xmlns:a16="http://schemas.microsoft.com/office/drawing/2014/main" id="{309D2456-64C9-8941-9AC9-FAD0AA3253E5}"/>
                </a:ext>
              </a:extLst>
            </p:cNvPr>
            <p:cNvSpPr txBox="1"/>
            <p:nvPr/>
          </p:nvSpPr>
          <p:spPr>
            <a:xfrm>
              <a:off x="6812196" y="5290113"/>
              <a:ext cx="1277789" cy="369332"/>
            </a:xfrm>
            <a:prstGeom prst="rect">
              <a:avLst/>
            </a:prstGeom>
            <a:noFill/>
          </p:spPr>
          <p:txBody>
            <a:bodyPr wrap="square" rtlCol="0">
              <a:spAutoFit/>
            </a:bodyPr>
            <a:lstStyle/>
            <a:p>
              <a:pPr algn="ctr"/>
              <a:r>
                <a:rPr kumimoji="1" lang="ja-JP" altLang="en-US"/>
                <a:t>協調性</a:t>
              </a:r>
            </a:p>
          </p:txBody>
        </p:sp>
        <p:sp>
          <p:nvSpPr>
            <p:cNvPr id="20" name="テキスト ボックス 19">
              <a:extLst>
                <a:ext uri="{FF2B5EF4-FFF2-40B4-BE49-F238E27FC236}">
                  <a16:creationId xmlns:a16="http://schemas.microsoft.com/office/drawing/2014/main" id="{9B1E76EE-F8EC-CF4D-BE10-622C2972FB36}"/>
                </a:ext>
              </a:extLst>
            </p:cNvPr>
            <p:cNvSpPr txBox="1"/>
            <p:nvPr/>
          </p:nvSpPr>
          <p:spPr>
            <a:xfrm rot="16200000">
              <a:off x="4986468" y="3436759"/>
              <a:ext cx="1277789" cy="369332"/>
            </a:xfrm>
            <a:prstGeom prst="rect">
              <a:avLst/>
            </a:prstGeom>
            <a:noFill/>
          </p:spPr>
          <p:txBody>
            <a:bodyPr wrap="square" rtlCol="0">
              <a:spAutoFit/>
            </a:bodyPr>
            <a:lstStyle/>
            <a:p>
              <a:pPr algn="ctr"/>
              <a:r>
                <a:rPr kumimoji="1" lang="ja-JP" altLang="en-US"/>
                <a:t>積極性</a:t>
              </a:r>
            </a:p>
          </p:txBody>
        </p:sp>
      </p:grpSp>
      <p:sp>
        <p:nvSpPr>
          <p:cNvPr id="21" name="円/楕円 20">
            <a:extLst>
              <a:ext uri="{FF2B5EF4-FFF2-40B4-BE49-F238E27FC236}">
                <a16:creationId xmlns:a16="http://schemas.microsoft.com/office/drawing/2014/main" id="{0A1899F1-8AE8-FD46-840D-42094F172665}"/>
              </a:ext>
            </a:extLst>
          </p:cNvPr>
          <p:cNvSpPr/>
          <p:nvPr/>
        </p:nvSpPr>
        <p:spPr>
          <a:xfrm>
            <a:off x="4259483" y="3847345"/>
            <a:ext cx="115747" cy="12732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円/楕円 21">
            <a:extLst>
              <a:ext uri="{FF2B5EF4-FFF2-40B4-BE49-F238E27FC236}">
                <a16:creationId xmlns:a16="http://schemas.microsoft.com/office/drawing/2014/main" id="{7F37B8B1-DA4E-3C40-9566-603C9DDE8D75}"/>
              </a:ext>
            </a:extLst>
          </p:cNvPr>
          <p:cNvSpPr/>
          <p:nvPr/>
        </p:nvSpPr>
        <p:spPr>
          <a:xfrm>
            <a:off x="4411883" y="3999745"/>
            <a:ext cx="115747" cy="12732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円/楕円 22">
            <a:extLst>
              <a:ext uri="{FF2B5EF4-FFF2-40B4-BE49-F238E27FC236}">
                <a16:creationId xmlns:a16="http://schemas.microsoft.com/office/drawing/2014/main" id="{6654FC2C-9E9D-F34E-B942-7D8B4459D78E}"/>
              </a:ext>
            </a:extLst>
          </p:cNvPr>
          <p:cNvSpPr/>
          <p:nvPr/>
        </p:nvSpPr>
        <p:spPr>
          <a:xfrm>
            <a:off x="4141641" y="4141195"/>
            <a:ext cx="115747" cy="12732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円/楕円 23">
            <a:extLst>
              <a:ext uri="{FF2B5EF4-FFF2-40B4-BE49-F238E27FC236}">
                <a16:creationId xmlns:a16="http://schemas.microsoft.com/office/drawing/2014/main" id="{E146125E-3DD7-4B46-AD6E-6E6267F0074C}"/>
              </a:ext>
            </a:extLst>
          </p:cNvPr>
          <p:cNvSpPr/>
          <p:nvPr/>
        </p:nvSpPr>
        <p:spPr>
          <a:xfrm>
            <a:off x="4735973" y="3872423"/>
            <a:ext cx="115747" cy="12732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円/楕円 26">
            <a:extLst>
              <a:ext uri="{FF2B5EF4-FFF2-40B4-BE49-F238E27FC236}">
                <a16:creationId xmlns:a16="http://schemas.microsoft.com/office/drawing/2014/main" id="{0B776EB5-BE6E-DD48-AA7A-E5FFFB9F4397}"/>
              </a:ext>
            </a:extLst>
          </p:cNvPr>
          <p:cNvSpPr/>
          <p:nvPr/>
        </p:nvSpPr>
        <p:spPr>
          <a:xfrm>
            <a:off x="4708082" y="4577372"/>
            <a:ext cx="115747" cy="12732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円/楕円 24">
            <a:extLst>
              <a:ext uri="{FF2B5EF4-FFF2-40B4-BE49-F238E27FC236}">
                <a16:creationId xmlns:a16="http://schemas.microsoft.com/office/drawing/2014/main" id="{B25E9A2A-6124-FA4A-BF76-2D814793E836}"/>
              </a:ext>
            </a:extLst>
          </p:cNvPr>
          <p:cNvSpPr/>
          <p:nvPr/>
        </p:nvSpPr>
        <p:spPr>
          <a:xfrm>
            <a:off x="4564283" y="4267889"/>
            <a:ext cx="115747" cy="1273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角丸四角形吹き出し 29">
            <a:extLst>
              <a:ext uri="{FF2B5EF4-FFF2-40B4-BE49-F238E27FC236}">
                <a16:creationId xmlns:a16="http://schemas.microsoft.com/office/drawing/2014/main" id="{C6D63BA2-2F1E-6248-B3A9-98F6E2AF1D1B}"/>
              </a:ext>
            </a:extLst>
          </p:cNvPr>
          <p:cNvSpPr/>
          <p:nvPr/>
        </p:nvSpPr>
        <p:spPr>
          <a:xfrm>
            <a:off x="5072535" y="4331550"/>
            <a:ext cx="2338774" cy="426296"/>
          </a:xfrm>
          <a:prstGeom prst="wedgeRoundRectCallout">
            <a:avLst>
              <a:gd name="adj1" fmla="val -66182"/>
              <a:gd name="adj2" fmla="val -43392"/>
              <a:gd name="adj3" fmla="val 1666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a:t>今までの行動の平均</a:t>
            </a:r>
          </a:p>
        </p:txBody>
      </p:sp>
    </p:spTree>
    <p:extLst>
      <p:ext uri="{BB962C8B-B14F-4D97-AF65-F5344CB8AC3E}">
        <p14:creationId xmlns:p14="http://schemas.microsoft.com/office/powerpoint/2010/main" val="40629533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lang="ja-JP" altLang="en-US"/>
              <a:t>カテゴリ推定について</a:t>
            </a:r>
            <a:endParaRPr kumimoji="1" lang="ja-JP" altLang="en-US"/>
          </a:p>
        </p:txBody>
      </p:sp>
      <p:sp>
        <p:nvSpPr>
          <p:cNvPr id="3" name="コンテンツ プレースホルダー 2">
            <a:extLst>
              <a:ext uri="{FF2B5EF4-FFF2-40B4-BE49-F238E27FC236}">
                <a16:creationId xmlns:a16="http://schemas.microsoft.com/office/drawing/2014/main" id="{7CD37B2B-E32E-2D43-8143-0B7A29E79BB5}"/>
              </a:ext>
            </a:extLst>
          </p:cNvPr>
          <p:cNvSpPr>
            <a:spLocks noGrp="1"/>
          </p:cNvSpPr>
          <p:nvPr>
            <p:ph idx="1"/>
          </p:nvPr>
        </p:nvSpPr>
        <p:spPr>
          <a:xfrm>
            <a:off x="194898" y="1884383"/>
            <a:ext cx="8859709" cy="3925924"/>
          </a:xfrm>
        </p:spPr>
        <p:txBody>
          <a:bodyPr/>
          <a:lstStyle/>
          <a:p>
            <a:r>
              <a:rPr lang="ja-JP" altLang="en-US">
                <a:latin typeface="+mn-lt"/>
              </a:rPr>
              <a:t>カテゴリの中心との距離を計算することでカテゴリに分類される相対的な確率を計算する</a:t>
            </a:r>
            <a:endParaRPr lang="en-US" altLang="ja-JP" dirty="0">
              <a:latin typeface="+mn-lt"/>
            </a:endParaRPr>
          </a:p>
        </p:txBody>
      </p:sp>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769F341D-8FC9-2D47-8B04-C652CE5AA9E7}" type="datetime1">
              <a:rPr kumimoji="1" lang="ja-JP" altLang="en-US" smtClean="0"/>
              <a:t>2020/5/11</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6</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kumimoji="1" lang="en-US" altLang="ja-JP" dirty="0"/>
              <a:t>2</a:t>
            </a:r>
            <a:endParaRPr kumimoji="1" lang="ja-JP" altLang="en-US"/>
          </a:p>
        </p:txBody>
      </p:sp>
      <p:grpSp>
        <p:nvGrpSpPr>
          <p:cNvPr id="8" name="グループ化 7">
            <a:extLst>
              <a:ext uri="{FF2B5EF4-FFF2-40B4-BE49-F238E27FC236}">
                <a16:creationId xmlns:a16="http://schemas.microsoft.com/office/drawing/2014/main" id="{D7A3713D-FAC0-E342-8651-5AFC82B96ABB}"/>
              </a:ext>
            </a:extLst>
          </p:cNvPr>
          <p:cNvGrpSpPr/>
          <p:nvPr/>
        </p:nvGrpSpPr>
        <p:grpSpPr>
          <a:xfrm>
            <a:off x="163626" y="1160115"/>
            <a:ext cx="4801913" cy="680876"/>
            <a:chOff x="163626" y="1160115"/>
            <a:chExt cx="4801913" cy="680876"/>
          </a:xfrm>
        </p:grpSpPr>
        <p:cxnSp>
          <p:nvCxnSpPr>
            <p:cNvPr id="9" name="直線コネクタ 8">
              <a:extLst>
                <a:ext uri="{FF2B5EF4-FFF2-40B4-BE49-F238E27FC236}">
                  <a16:creationId xmlns:a16="http://schemas.microsoft.com/office/drawing/2014/main" id="{9B8D37E1-A3CC-F349-8A06-03F1A47DC98E}"/>
                </a:ext>
              </a:extLst>
            </p:cNvPr>
            <p:cNvCxnSpPr>
              <a:cxnSpLocks/>
            </p:cNvCxnSpPr>
            <p:nvPr userDrawn="1"/>
          </p:nvCxnSpPr>
          <p:spPr>
            <a:xfrm>
              <a:off x="163626" y="1699846"/>
              <a:ext cx="4801913"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0" name="正方形/長方形 9">
              <a:extLst>
                <a:ext uri="{FF2B5EF4-FFF2-40B4-BE49-F238E27FC236}">
                  <a16:creationId xmlns:a16="http://schemas.microsoft.com/office/drawing/2014/main" id="{7B467E56-B089-BC47-93BE-36402235BE39}"/>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1" name="テキスト プレースホルダー 12">
            <a:extLst>
              <a:ext uri="{FF2B5EF4-FFF2-40B4-BE49-F238E27FC236}">
                <a16:creationId xmlns:a16="http://schemas.microsoft.com/office/drawing/2014/main" id="{C26BD3FD-2531-E441-91BF-422CDA68CE77}"/>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もう一度よく考えてみた</a:t>
            </a:r>
          </a:p>
        </p:txBody>
      </p:sp>
      <p:grpSp>
        <p:nvGrpSpPr>
          <p:cNvPr id="14" name="グループ化 13">
            <a:extLst>
              <a:ext uri="{FF2B5EF4-FFF2-40B4-BE49-F238E27FC236}">
                <a16:creationId xmlns:a16="http://schemas.microsoft.com/office/drawing/2014/main" id="{5E1A3A53-9E55-234B-B855-BFA42BCF9A45}"/>
              </a:ext>
            </a:extLst>
          </p:cNvPr>
          <p:cNvGrpSpPr/>
          <p:nvPr/>
        </p:nvGrpSpPr>
        <p:grpSpPr>
          <a:xfrm>
            <a:off x="2937104" y="3392488"/>
            <a:ext cx="3269792" cy="3157163"/>
            <a:chOff x="5440697" y="1839278"/>
            <a:chExt cx="3956449" cy="3820167"/>
          </a:xfrm>
        </p:grpSpPr>
        <p:pic>
          <p:nvPicPr>
            <p:cNvPr id="16" name="図 15">
              <a:extLst>
                <a:ext uri="{FF2B5EF4-FFF2-40B4-BE49-F238E27FC236}">
                  <a16:creationId xmlns:a16="http://schemas.microsoft.com/office/drawing/2014/main" id="{4B78663C-29A0-5548-BB70-CA895F7756D3}"/>
                </a:ext>
              </a:extLst>
            </p:cNvPr>
            <p:cNvPicPr>
              <a:picLocks noChangeAspect="1"/>
            </p:cNvPicPr>
            <p:nvPr/>
          </p:nvPicPr>
          <p:blipFill rotWithShape="1">
            <a:blip r:embed="rId4">
              <a:alphaModFix/>
            </a:blip>
            <a:srcRect l="10972" t="1550" r="-1061" b="21005"/>
            <a:stretch/>
          </p:blipFill>
          <p:spPr>
            <a:xfrm>
              <a:off x="5910071" y="1839278"/>
              <a:ext cx="3487075" cy="3375364"/>
            </a:xfrm>
            <a:prstGeom prst="rect">
              <a:avLst/>
            </a:prstGeom>
          </p:spPr>
        </p:pic>
        <p:cxnSp>
          <p:nvCxnSpPr>
            <p:cNvPr id="17" name="直線矢印コネクタ 16">
              <a:extLst>
                <a:ext uri="{FF2B5EF4-FFF2-40B4-BE49-F238E27FC236}">
                  <a16:creationId xmlns:a16="http://schemas.microsoft.com/office/drawing/2014/main" id="{0B6E8D9E-31E6-5446-A51B-AEF47E0A512B}"/>
                </a:ext>
              </a:extLst>
            </p:cNvPr>
            <p:cNvCxnSpPr/>
            <p:nvPr/>
          </p:nvCxnSpPr>
          <p:spPr>
            <a:xfrm>
              <a:off x="5887676" y="5263634"/>
              <a:ext cx="2988000" cy="0"/>
            </a:xfrm>
            <a:prstGeom prst="straightConnector1">
              <a:avLst/>
            </a:prstGeom>
            <a:ln w="57150">
              <a:solidFill>
                <a:schemeClr val="accent1">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8" name="直線矢印コネクタ 17">
              <a:extLst>
                <a:ext uri="{FF2B5EF4-FFF2-40B4-BE49-F238E27FC236}">
                  <a16:creationId xmlns:a16="http://schemas.microsoft.com/office/drawing/2014/main" id="{882AAD4C-01B6-4D4F-B8BE-FEF008B51AD1}"/>
                </a:ext>
              </a:extLst>
            </p:cNvPr>
            <p:cNvCxnSpPr>
              <a:cxnSpLocks/>
            </p:cNvCxnSpPr>
            <p:nvPr/>
          </p:nvCxnSpPr>
          <p:spPr>
            <a:xfrm rot="16200000">
              <a:off x="4299579" y="3610013"/>
              <a:ext cx="3096000" cy="0"/>
            </a:xfrm>
            <a:prstGeom prst="straightConnector1">
              <a:avLst/>
            </a:prstGeom>
            <a:ln w="57150">
              <a:solidFill>
                <a:schemeClr val="accent1">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9" name="テキスト ボックス 18">
              <a:extLst>
                <a:ext uri="{FF2B5EF4-FFF2-40B4-BE49-F238E27FC236}">
                  <a16:creationId xmlns:a16="http://schemas.microsoft.com/office/drawing/2014/main" id="{309D2456-64C9-8941-9AC9-FAD0AA3253E5}"/>
                </a:ext>
              </a:extLst>
            </p:cNvPr>
            <p:cNvSpPr txBox="1"/>
            <p:nvPr/>
          </p:nvSpPr>
          <p:spPr>
            <a:xfrm>
              <a:off x="6812196" y="5290113"/>
              <a:ext cx="1277789" cy="369332"/>
            </a:xfrm>
            <a:prstGeom prst="rect">
              <a:avLst/>
            </a:prstGeom>
            <a:noFill/>
          </p:spPr>
          <p:txBody>
            <a:bodyPr wrap="square" rtlCol="0">
              <a:spAutoFit/>
            </a:bodyPr>
            <a:lstStyle/>
            <a:p>
              <a:pPr algn="ctr"/>
              <a:r>
                <a:rPr kumimoji="1" lang="ja-JP" altLang="en-US"/>
                <a:t>協調性</a:t>
              </a:r>
            </a:p>
          </p:txBody>
        </p:sp>
        <p:sp>
          <p:nvSpPr>
            <p:cNvPr id="20" name="テキスト ボックス 19">
              <a:extLst>
                <a:ext uri="{FF2B5EF4-FFF2-40B4-BE49-F238E27FC236}">
                  <a16:creationId xmlns:a16="http://schemas.microsoft.com/office/drawing/2014/main" id="{9B1E76EE-F8EC-CF4D-BE10-622C2972FB36}"/>
                </a:ext>
              </a:extLst>
            </p:cNvPr>
            <p:cNvSpPr txBox="1"/>
            <p:nvPr/>
          </p:nvSpPr>
          <p:spPr>
            <a:xfrm rot="16200000">
              <a:off x="4986468" y="3436759"/>
              <a:ext cx="1277789" cy="369332"/>
            </a:xfrm>
            <a:prstGeom prst="rect">
              <a:avLst/>
            </a:prstGeom>
            <a:noFill/>
          </p:spPr>
          <p:txBody>
            <a:bodyPr wrap="square" rtlCol="0">
              <a:spAutoFit/>
            </a:bodyPr>
            <a:lstStyle/>
            <a:p>
              <a:pPr algn="ctr"/>
              <a:r>
                <a:rPr kumimoji="1" lang="ja-JP" altLang="en-US"/>
                <a:t>積極性</a:t>
              </a:r>
            </a:p>
          </p:txBody>
        </p:sp>
      </p:grpSp>
      <p:sp>
        <p:nvSpPr>
          <p:cNvPr id="21" name="円/楕円 20">
            <a:extLst>
              <a:ext uri="{FF2B5EF4-FFF2-40B4-BE49-F238E27FC236}">
                <a16:creationId xmlns:a16="http://schemas.microsoft.com/office/drawing/2014/main" id="{0A1899F1-8AE8-FD46-840D-42094F172665}"/>
              </a:ext>
            </a:extLst>
          </p:cNvPr>
          <p:cNvSpPr/>
          <p:nvPr/>
        </p:nvSpPr>
        <p:spPr>
          <a:xfrm>
            <a:off x="3881668" y="5656936"/>
            <a:ext cx="169465" cy="186412"/>
          </a:xfrm>
          <a:prstGeom prst="ellipse">
            <a:avLst/>
          </a:prstGeom>
          <a:solidFill>
            <a:schemeClr val="bg2"/>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円/楕円 21">
            <a:extLst>
              <a:ext uri="{FF2B5EF4-FFF2-40B4-BE49-F238E27FC236}">
                <a16:creationId xmlns:a16="http://schemas.microsoft.com/office/drawing/2014/main" id="{7F37B8B1-DA4E-3C40-9566-603C9DDE8D75}"/>
              </a:ext>
            </a:extLst>
          </p:cNvPr>
          <p:cNvSpPr/>
          <p:nvPr/>
        </p:nvSpPr>
        <p:spPr>
          <a:xfrm>
            <a:off x="3823493" y="3901241"/>
            <a:ext cx="169465" cy="186412"/>
          </a:xfrm>
          <a:prstGeom prst="ellipse">
            <a:avLst/>
          </a:prstGeom>
          <a:solidFill>
            <a:schemeClr val="bg2"/>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円/楕円 22">
            <a:extLst>
              <a:ext uri="{FF2B5EF4-FFF2-40B4-BE49-F238E27FC236}">
                <a16:creationId xmlns:a16="http://schemas.microsoft.com/office/drawing/2014/main" id="{6654FC2C-9E9D-F34E-B942-7D8B4459D78E}"/>
              </a:ext>
            </a:extLst>
          </p:cNvPr>
          <p:cNvSpPr/>
          <p:nvPr/>
        </p:nvSpPr>
        <p:spPr>
          <a:xfrm>
            <a:off x="5051906" y="5604251"/>
            <a:ext cx="169465" cy="186412"/>
          </a:xfrm>
          <a:prstGeom prst="ellipse">
            <a:avLst/>
          </a:prstGeom>
          <a:solidFill>
            <a:schemeClr val="bg2"/>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円/楕円 23">
            <a:extLst>
              <a:ext uri="{FF2B5EF4-FFF2-40B4-BE49-F238E27FC236}">
                <a16:creationId xmlns:a16="http://schemas.microsoft.com/office/drawing/2014/main" id="{E146125E-3DD7-4B46-AD6E-6E6267F0074C}"/>
              </a:ext>
            </a:extLst>
          </p:cNvPr>
          <p:cNvSpPr/>
          <p:nvPr/>
        </p:nvSpPr>
        <p:spPr>
          <a:xfrm>
            <a:off x="5054437" y="3900303"/>
            <a:ext cx="169465" cy="186412"/>
          </a:xfrm>
          <a:prstGeom prst="ellipse">
            <a:avLst/>
          </a:prstGeom>
          <a:solidFill>
            <a:schemeClr val="bg2"/>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円/楕円 26">
            <a:extLst>
              <a:ext uri="{FF2B5EF4-FFF2-40B4-BE49-F238E27FC236}">
                <a16:creationId xmlns:a16="http://schemas.microsoft.com/office/drawing/2014/main" id="{0B776EB5-BE6E-DD48-AA7A-E5FFFB9F4397}"/>
              </a:ext>
            </a:extLst>
          </p:cNvPr>
          <p:cNvSpPr/>
          <p:nvPr/>
        </p:nvSpPr>
        <p:spPr>
          <a:xfrm>
            <a:off x="4479550" y="4824216"/>
            <a:ext cx="169465" cy="186412"/>
          </a:xfrm>
          <a:prstGeom prst="ellipse">
            <a:avLst/>
          </a:prstGeom>
          <a:solidFill>
            <a:schemeClr val="bg2"/>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円/楕円 24">
            <a:extLst>
              <a:ext uri="{FF2B5EF4-FFF2-40B4-BE49-F238E27FC236}">
                <a16:creationId xmlns:a16="http://schemas.microsoft.com/office/drawing/2014/main" id="{B25E9A2A-6124-FA4A-BF76-2D814793E836}"/>
              </a:ext>
            </a:extLst>
          </p:cNvPr>
          <p:cNvSpPr/>
          <p:nvPr/>
        </p:nvSpPr>
        <p:spPr>
          <a:xfrm>
            <a:off x="4564283" y="4267889"/>
            <a:ext cx="115747" cy="1273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角丸四角形吹き出し 28">
            <a:extLst>
              <a:ext uri="{FF2B5EF4-FFF2-40B4-BE49-F238E27FC236}">
                <a16:creationId xmlns:a16="http://schemas.microsoft.com/office/drawing/2014/main" id="{ECD09C3E-1AB9-264B-BC69-465C2BC5C041}"/>
              </a:ext>
            </a:extLst>
          </p:cNvPr>
          <p:cNvSpPr/>
          <p:nvPr/>
        </p:nvSpPr>
        <p:spPr>
          <a:xfrm>
            <a:off x="5698703" y="4054741"/>
            <a:ext cx="1963738" cy="540408"/>
          </a:xfrm>
          <a:prstGeom prst="wedgeRoundRectCallout">
            <a:avLst>
              <a:gd name="adj1" fmla="val -66182"/>
              <a:gd name="adj2" fmla="val -43392"/>
              <a:gd name="adj3" fmla="val 1666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a:t>カテゴリの中心</a:t>
            </a:r>
          </a:p>
        </p:txBody>
      </p:sp>
    </p:spTree>
    <p:extLst>
      <p:ext uri="{BB962C8B-B14F-4D97-AF65-F5344CB8AC3E}">
        <p14:creationId xmlns:p14="http://schemas.microsoft.com/office/powerpoint/2010/main" val="5507307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kumimoji="1" lang="en-US" altLang="ja-JP" dirty="0"/>
              <a:t>TKI</a:t>
            </a:r>
            <a:r>
              <a:rPr kumimoji="1" lang="ja-JP" altLang="en-US"/>
              <a:t>について</a:t>
            </a:r>
          </a:p>
        </p:txBody>
      </p:sp>
      <p:sp>
        <p:nvSpPr>
          <p:cNvPr id="3" name="コンテンツ プレースホルダー 2">
            <a:extLst>
              <a:ext uri="{FF2B5EF4-FFF2-40B4-BE49-F238E27FC236}">
                <a16:creationId xmlns:a16="http://schemas.microsoft.com/office/drawing/2014/main" id="{7CD37B2B-E32E-2D43-8143-0B7A29E79BB5}"/>
              </a:ext>
            </a:extLst>
          </p:cNvPr>
          <p:cNvSpPr>
            <a:spLocks noGrp="1"/>
          </p:cNvSpPr>
          <p:nvPr>
            <p:ph idx="1"/>
          </p:nvPr>
        </p:nvSpPr>
        <p:spPr/>
        <p:txBody>
          <a:bodyPr/>
          <a:lstStyle/>
          <a:p>
            <a:r>
              <a:rPr lang="ja-JP" altLang="en-US"/>
              <a:t>よく見たら相手が</a:t>
            </a:r>
            <a:r>
              <a:rPr lang="ja-JP" altLang="en-US">
                <a:solidFill>
                  <a:schemeClr val="accent2"/>
                </a:solidFill>
              </a:rPr>
              <a:t>妥協</a:t>
            </a:r>
            <a:r>
              <a:rPr lang="ja-JP" altLang="en-US"/>
              <a:t>・</a:t>
            </a:r>
            <a:r>
              <a:rPr lang="ja-JP" altLang="en-US">
                <a:solidFill>
                  <a:schemeClr val="accent2"/>
                </a:solidFill>
              </a:rPr>
              <a:t>順応</a:t>
            </a:r>
            <a:r>
              <a:rPr lang="ja-JP" altLang="en-US"/>
              <a:t>の時</a:t>
            </a:r>
            <a:br>
              <a:rPr lang="en-US" altLang="ja-JP" dirty="0"/>
            </a:br>
            <a:r>
              <a:rPr lang="ja-JP" altLang="en-US"/>
              <a:t>だけ譲歩速度を早くしていた</a:t>
            </a:r>
            <a:endParaRPr lang="en-US" altLang="ja-JP" dirty="0"/>
          </a:p>
          <a:p>
            <a:pPr lvl="1"/>
            <a:r>
              <a:rPr lang="en-US" altLang="ja-JP" dirty="0"/>
              <a:t>Offer</a:t>
            </a:r>
            <a:r>
              <a:rPr lang="ja-JP" altLang="en-US"/>
              <a:t>が来るたびにカテゴリを判定</a:t>
            </a:r>
            <a:br>
              <a:rPr lang="en-US" altLang="ja-JP" dirty="0"/>
            </a:br>
            <a:r>
              <a:rPr lang="ja-JP" altLang="en-US"/>
              <a:t>していたのでこれでもうまくいく</a:t>
            </a:r>
            <a:endParaRPr lang="en-US" altLang="ja-JP" dirty="0"/>
          </a:p>
          <a:p>
            <a:r>
              <a:rPr lang="ja-JP" altLang="en-US"/>
              <a:t>相手が競争・共存・回避の場合は</a:t>
            </a:r>
            <a:br>
              <a:rPr lang="en-US" altLang="ja-JP" dirty="0"/>
            </a:br>
            <a:r>
              <a:rPr lang="ja-JP" altLang="en-US"/>
              <a:t>現状維持</a:t>
            </a:r>
            <a:endParaRPr lang="en-US" altLang="ja-JP" dirty="0"/>
          </a:p>
          <a:p>
            <a:pPr lvl="1"/>
            <a:r>
              <a:rPr lang="en-US" altLang="ja-JP" dirty="0"/>
              <a:t>TKI</a:t>
            </a:r>
            <a:r>
              <a:rPr lang="ja-JP" altLang="en-US"/>
              <a:t>もカテゴリごとの戦略を一から</a:t>
            </a:r>
            <a:br>
              <a:rPr lang="en-US" altLang="ja-JP" dirty="0"/>
            </a:br>
            <a:r>
              <a:rPr lang="ja-JP" altLang="en-US"/>
              <a:t>考える必要がありそう</a:t>
            </a:r>
            <a:endParaRPr lang="en-US" altLang="ja-JP" dirty="0"/>
          </a:p>
        </p:txBody>
      </p:sp>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3F260AC5-1500-5F46-BA22-957002E89723}" type="datetime1">
              <a:rPr kumimoji="1" lang="ja-JP" altLang="en-US" smtClean="0"/>
              <a:t>2020/5/11</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7</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kumimoji="1" lang="en-US" altLang="ja-JP" dirty="0"/>
              <a:t>3</a:t>
            </a:r>
            <a:endParaRPr kumimoji="1" lang="ja-JP" altLang="en-US"/>
          </a:p>
        </p:txBody>
      </p:sp>
      <p:grpSp>
        <p:nvGrpSpPr>
          <p:cNvPr id="8" name="グループ化 7">
            <a:extLst>
              <a:ext uri="{FF2B5EF4-FFF2-40B4-BE49-F238E27FC236}">
                <a16:creationId xmlns:a16="http://schemas.microsoft.com/office/drawing/2014/main" id="{D7A3713D-FAC0-E342-8651-5AFC82B96ABB}"/>
              </a:ext>
            </a:extLst>
          </p:cNvPr>
          <p:cNvGrpSpPr/>
          <p:nvPr/>
        </p:nvGrpSpPr>
        <p:grpSpPr>
          <a:xfrm>
            <a:off x="163626" y="1160115"/>
            <a:ext cx="6122874" cy="680876"/>
            <a:chOff x="163626" y="1160115"/>
            <a:chExt cx="6122874" cy="680876"/>
          </a:xfrm>
        </p:grpSpPr>
        <p:cxnSp>
          <p:nvCxnSpPr>
            <p:cNvPr id="9" name="直線コネクタ 8">
              <a:extLst>
                <a:ext uri="{FF2B5EF4-FFF2-40B4-BE49-F238E27FC236}">
                  <a16:creationId xmlns:a16="http://schemas.microsoft.com/office/drawing/2014/main" id="{9B8D37E1-A3CC-F349-8A06-03F1A47DC98E}"/>
                </a:ext>
              </a:extLst>
            </p:cNvPr>
            <p:cNvCxnSpPr>
              <a:cxnSpLocks/>
            </p:cNvCxnSpPr>
            <p:nvPr userDrawn="1"/>
          </p:nvCxnSpPr>
          <p:spPr>
            <a:xfrm>
              <a:off x="163626" y="1699846"/>
              <a:ext cx="6122874"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0" name="正方形/長方形 9">
              <a:extLst>
                <a:ext uri="{FF2B5EF4-FFF2-40B4-BE49-F238E27FC236}">
                  <a16:creationId xmlns:a16="http://schemas.microsoft.com/office/drawing/2014/main" id="{7B467E56-B089-BC47-93BE-36402235BE39}"/>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1" name="テキスト プレースホルダー 12">
            <a:extLst>
              <a:ext uri="{FF2B5EF4-FFF2-40B4-BE49-F238E27FC236}">
                <a16:creationId xmlns:a16="http://schemas.microsoft.com/office/drawing/2014/main" id="{C26BD3FD-2531-E441-91BF-422CDA68CE77}"/>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論文をもう一回よく読んでみた</a:t>
            </a:r>
          </a:p>
        </p:txBody>
      </p:sp>
      <p:pic>
        <p:nvPicPr>
          <p:cNvPr id="14" name="図 13">
            <a:extLst>
              <a:ext uri="{FF2B5EF4-FFF2-40B4-BE49-F238E27FC236}">
                <a16:creationId xmlns:a16="http://schemas.microsoft.com/office/drawing/2014/main" id="{6948415D-813B-C643-A0AD-A27EA23200E6}"/>
              </a:ext>
            </a:extLst>
          </p:cNvPr>
          <p:cNvPicPr>
            <a:picLocks noChangeAspect="1"/>
          </p:cNvPicPr>
          <p:nvPr/>
        </p:nvPicPr>
        <p:blipFill>
          <a:blip r:embed="rId4"/>
          <a:stretch>
            <a:fillRect/>
          </a:stretch>
        </p:blipFill>
        <p:spPr>
          <a:xfrm>
            <a:off x="6847144" y="1030556"/>
            <a:ext cx="2222334" cy="2750219"/>
          </a:xfrm>
          <a:prstGeom prst="rect">
            <a:avLst/>
          </a:prstGeom>
        </p:spPr>
      </p:pic>
      <p:pic>
        <p:nvPicPr>
          <p:cNvPr id="17" name="図 16" descr="テキスト が含まれている画像&#10;&#10;自動的に生成された説明">
            <a:extLst>
              <a:ext uri="{FF2B5EF4-FFF2-40B4-BE49-F238E27FC236}">
                <a16:creationId xmlns:a16="http://schemas.microsoft.com/office/drawing/2014/main" id="{100E65D8-EA86-3C4F-A3C0-38B8E410501E}"/>
              </a:ext>
            </a:extLst>
          </p:cNvPr>
          <p:cNvPicPr>
            <a:picLocks noChangeAspect="1"/>
          </p:cNvPicPr>
          <p:nvPr/>
        </p:nvPicPr>
        <p:blipFill>
          <a:blip r:embed="rId5"/>
          <a:stretch>
            <a:fillRect/>
          </a:stretch>
        </p:blipFill>
        <p:spPr>
          <a:xfrm>
            <a:off x="6172924" y="3849185"/>
            <a:ext cx="2540000" cy="2332182"/>
          </a:xfrm>
          <a:prstGeom prst="rect">
            <a:avLst/>
          </a:prstGeom>
        </p:spPr>
      </p:pic>
    </p:spTree>
    <p:extLst>
      <p:ext uri="{BB962C8B-B14F-4D97-AF65-F5344CB8AC3E}">
        <p14:creationId xmlns:p14="http://schemas.microsoft.com/office/powerpoint/2010/main" val="13751024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kumimoji="1" lang="en-US" altLang="ja-JP" dirty="0"/>
              <a:t>TKI</a:t>
            </a:r>
            <a:r>
              <a:rPr kumimoji="1" lang="ja-JP" altLang="en-US"/>
              <a:t>について</a:t>
            </a:r>
          </a:p>
        </p:txBody>
      </p:sp>
      <p:sp>
        <p:nvSpPr>
          <p:cNvPr id="3" name="コンテンツ プレースホルダー 2">
            <a:extLst>
              <a:ext uri="{FF2B5EF4-FFF2-40B4-BE49-F238E27FC236}">
                <a16:creationId xmlns:a16="http://schemas.microsoft.com/office/drawing/2014/main" id="{7CD37B2B-E32E-2D43-8143-0B7A29E79BB5}"/>
              </a:ext>
            </a:extLst>
          </p:cNvPr>
          <p:cNvSpPr>
            <a:spLocks noGrp="1"/>
          </p:cNvSpPr>
          <p:nvPr>
            <p:ph idx="1"/>
          </p:nvPr>
        </p:nvSpPr>
        <p:spPr/>
        <p:txBody>
          <a:bodyPr/>
          <a:lstStyle/>
          <a:p>
            <a:r>
              <a:rPr lang="en-US" altLang="ja-JP" dirty="0"/>
              <a:t>TKI</a:t>
            </a:r>
            <a:r>
              <a:rPr lang="ja-JP" altLang="en-US"/>
              <a:t>は</a:t>
            </a:r>
            <a:r>
              <a:rPr lang="en-US" altLang="ja-JP" dirty="0"/>
              <a:t>Offer</a:t>
            </a:r>
            <a:r>
              <a:rPr lang="ja-JP" altLang="en-US"/>
              <a:t>のみを見て計算しようかな</a:t>
            </a:r>
            <a:br>
              <a:rPr lang="en-US" altLang="ja-JP" dirty="0"/>
            </a:br>
            <a:r>
              <a:rPr lang="ja-JP" altLang="en-US"/>
              <a:t>と思っている</a:t>
            </a:r>
            <a:endParaRPr lang="en-US" altLang="ja-JP" dirty="0"/>
          </a:p>
          <a:p>
            <a:r>
              <a:rPr lang="ja-JP" altLang="en-US"/>
              <a:t>既存研究に倣うなら積極性は</a:t>
            </a:r>
            <a:r>
              <a:rPr lang="en-US" altLang="ja-JP" dirty="0"/>
              <a:t>bid</a:t>
            </a:r>
            <a:r>
              <a:rPr lang="ja-JP" altLang="en-US"/>
              <a:t>の分散，</a:t>
            </a:r>
            <a:br>
              <a:rPr lang="en-US" altLang="ja-JP" dirty="0"/>
            </a:br>
            <a:r>
              <a:rPr lang="ja-JP" altLang="en-US"/>
              <a:t>協調性は</a:t>
            </a:r>
            <a:r>
              <a:rPr lang="en-US" altLang="ja-JP" dirty="0"/>
              <a:t>bid</a:t>
            </a:r>
            <a:r>
              <a:rPr lang="ja-JP" altLang="en-US"/>
              <a:t>の平均で計算</a:t>
            </a:r>
            <a:endParaRPr lang="en-US" altLang="ja-JP" dirty="0"/>
          </a:p>
          <a:p>
            <a:pPr lvl="1"/>
            <a:r>
              <a:rPr lang="ja-JP" altLang="en-US"/>
              <a:t>もう少し考える余地がありそう</a:t>
            </a:r>
            <a:endParaRPr lang="en-US" altLang="ja-JP" dirty="0"/>
          </a:p>
        </p:txBody>
      </p:sp>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3F260AC5-1500-5F46-BA22-957002E89723}" type="datetime1">
              <a:rPr kumimoji="1" lang="ja-JP" altLang="en-US" smtClean="0"/>
              <a:t>2020/5/11</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8</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kumimoji="1" lang="en-US" altLang="ja-JP" dirty="0"/>
              <a:t>3</a:t>
            </a:r>
            <a:endParaRPr kumimoji="1" lang="ja-JP" altLang="en-US"/>
          </a:p>
        </p:txBody>
      </p:sp>
      <p:grpSp>
        <p:nvGrpSpPr>
          <p:cNvPr id="15" name="グループ化 14">
            <a:extLst>
              <a:ext uri="{FF2B5EF4-FFF2-40B4-BE49-F238E27FC236}">
                <a16:creationId xmlns:a16="http://schemas.microsoft.com/office/drawing/2014/main" id="{CA42749E-4F01-BA40-ABC0-1CBD8D32427A}"/>
              </a:ext>
            </a:extLst>
          </p:cNvPr>
          <p:cNvGrpSpPr/>
          <p:nvPr/>
        </p:nvGrpSpPr>
        <p:grpSpPr>
          <a:xfrm>
            <a:off x="163626" y="1160115"/>
            <a:ext cx="4408374" cy="680876"/>
            <a:chOff x="163626" y="1160115"/>
            <a:chExt cx="4408374" cy="680876"/>
          </a:xfrm>
        </p:grpSpPr>
        <p:cxnSp>
          <p:nvCxnSpPr>
            <p:cNvPr id="16" name="直線コネクタ 15">
              <a:extLst>
                <a:ext uri="{FF2B5EF4-FFF2-40B4-BE49-F238E27FC236}">
                  <a16:creationId xmlns:a16="http://schemas.microsoft.com/office/drawing/2014/main" id="{56426CF4-F641-584F-82CE-1A1E78612B28}"/>
                </a:ext>
              </a:extLst>
            </p:cNvPr>
            <p:cNvCxnSpPr>
              <a:cxnSpLocks/>
            </p:cNvCxnSpPr>
            <p:nvPr userDrawn="1"/>
          </p:nvCxnSpPr>
          <p:spPr>
            <a:xfrm>
              <a:off x="163626" y="1699846"/>
              <a:ext cx="4408374"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8" name="正方形/長方形 17">
              <a:extLst>
                <a:ext uri="{FF2B5EF4-FFF2-40B4-BE49-F238E27FC236}">
                  <a16:creationId xmlns:a16="http://schemas.microsoft.com/office/drawing/2014/main" id="{48986A94-2D14-FE48-B5A2-63E2E015C354}"/>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9" name="テキスト プレースホルダー 12">
            <a:extLst>
              <a:ext uri="{FF2B5EF4-FFF2-40B4-BE49-F238E27FC236}">
                <a16:creationId xmlns:a16="http://schemas.microsoft.com/office/drawing/2014/main" id="{42867262-FD01-5B41-8CDA-0C976D9A5699}"/>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各尺度の計算について</a:t>
            </a:r>
          </a:p>
        </p:txBody>
      </p:sp>
      <p:pic>
        <p:nvPicPr>
          <p:cNvPr id="20" name="図 19">
            <a:extLst>
              <a:ext uri="{FF2B5EF4-FFF2-40B4-BE49-F238E27FC236}">
                <a16:creationId xmlns:a16="http://schemas.microsoft.com/office/drawing/2014/main" id="{D8D9E392-8CAF-1248-AC4C-BFBFDE69105A}"/>
              </a:ext>
            </a:extLst>
          </p:cNvPr>
          <p:cNvPicPr>
            <a:picLocks noChangeAspect="1"/>
          </p:cNvPicPr>
          <p:nvPr/>
        </p:nvPicPr>
        <p:blipFill>
          <a:blip r:embed="rId4"/>
          <a:stretch>
            <a:fillRect/>
          </a:stretch>
        </p:blipFill>
        <p:spPr>
          <a:xfrm>
            <a:off x="6847144" y="1030556"/>
            <a:ext cx="2222334" cy="2750219"/>
          </a:xfrm>
          <a:prstGeom prst="rect">
            <a:avLst/>
          </a:prstGeom>
        </p:spPr>
      </p:pic>
    </p:spTree>
    <p:extLst>
      <p:ext uri="{BB962C8B-B14F-4D97-AF65-F5344CB8AC3E}">
        <p14:creationId xmlns:p14="http://schemas.microsoft.com/office/powerpoint/2010/main" val="21982723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lang="en-US" altLang="ja-JP" dirty="0"/>
              <a:t>BIG5</a:t>
            </a:r>
            <a:r>
              <a:rPr lang="ja-JP" altLang="en-US"/>
              <a:t>について</a:t>
            </a:r>
            <a:endParaRPr kumimoji="1" lang="ja-JP" altLang="en-US"/>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7CD37B2B-E32E-2D43-8143-0B7A29E79BB5}"/>
                  </a:ext>
                </a:extLst>
              </p:cNvPr>
              <p:cNvSpPr>
                <a:spLocks noGrp="1"/>
              </p:cNvSpPr>
              <p:nvPr>
                <p:ph idx="1"/>
              </p:nvPr>
            </p:nvSpPr>
            <p:spPr>
              <a:xfrm>
                <a:off x="194898" y="1884383"/>
                <a:ext cx="8859709" cy="3949791"/>
              </a:xfrm>
            </p:spPr>
            <p:txBody>
              <a:bodyPr/>
              <a:lstStyle/>
              <a:p>
                <a:r>
                  <a:rPr lang="en-US" altLang="ja-JP" dirty="0"/>
                  <a:t>BIG5</a:t>
                </a:r>
                <a:r>
                  <a:rPr lang="ja-JP" altLang="en-US"/>
                  <a:t>は</a:t>
                </a:r>
                <a:r>
                  <a:rPr lang="en-US" altLang="ja-JP" dirty="0"/>
                  <a:t>Offer</a:t>
                </a:r>
                <a:r>
                  <a:rPr lang="ja-JP" altLang="en-US"/>
                  <a:t>とそれ以外の行動</a:t>
                </a:r>
                <a:br>
                  <a:rPr lang="en-US" altLang="ja-JP" dirty="0"/>
                </a:br>
                <a:r>
                  <a:rPr lang="ja-JP" altLang="en-US"/>
                  <a:t>どちらも考慮しようと思う</a:t>
                </a:r>
                <a:endParaRPr lang="en-US" altLang="ja-JP" dirty="0"/>
              </a:p>
              <a:p>
                <a:r>
                  <a:rPr lang="ja-JP" altLang="en-US"/>
                  <a:t>こっちの協調性は行動に対する</a:t>
                </a:r>
                <a:br>
                  <a:rPr lang="en-US" altLang="ja-JP" dirty="0"/>
                </a:br>
                <a:r>
                  <a:rPr lang="ja-JP" altLang="en-US"/>
                  <a:t>感受性を用いても面白そう</a:t>
                </a:r>
                <a:endParaRPr lang="en-US" altLang="ja-JP" dirty="0"/>
              </a:p>
              <a:p>
                <a:pPr marL="0" indent="0">
                  <a:buNone/>
                </a:pPr>
                <a14:m>
                  <m:oMathPara xmlns:m="http://schemas.openxmlformats.org/officeDocument/2006/math">
                    <m:oMathParaPr>
                      <m:jc m:val="centerGroup"/>
                    </m:oMathParaPr>
                    <m:oMath xmlns:m="http://schemas.openxmlformats.org/officeDocument/2006/math">
                      <m:r>
                        <a:rPr lang="en-US" altLang="ja-JP" i="1">
                          <a:latin typeface="Cambria Math" panose="02040503050406030204" pitchFamily="18" charset="0"/>
                        </a:rPr>
                        <m:t>𝐵𝑒h𝑎𝑣𝑠𝑒𝑛𝑠</m:t>
                      </m:r>
                      <m:r>
                        <a:rPr lang="en-US" altLang="ja-JP" i="1">
                          <a:latin typeface="Cambria Math" panose="02040503050406030204" pitchFamily="18" charset="0"/>
                        </a:rPr>
                        <m:t>= </m:t>
                      </m:r>
                      <m:f>
                        <m:fPr>
                          <m:ctrlPr>
                            <a:rPr lang="en-US" altLang="ja-JP" i="1">
                              <a:latin typeface="Cambria Math" panose="02040503050406030204" pitchFamily="18" charset="0"/>
                            </a:rPr>
                          </m:ctrlPr>
                        </m:fPr>
                        <m:num>
                          <m:sSub>
                            <m:sSubPr>
                              <m:ctrlPr>
                                <a:rPr lang="en-US" altLang="ja-JP" i="1">
                                  <a:latin typeface="Cambria Math" panose="02040503050406030204" pitchFamily="18" charset="0"/>
                                </a:rPr>
                              </m:ctrlPr>
                            </m:sSubPr>
                            <m:e>
                              <m:r>
                                <a:rPr lang="en-US" altLang="ja-JP" i="1">
                                  <a:latin typeface="Cambria Math" panose="02040503050406030204" pitchFamily="18" charset="0"/>
                                </a:rPr>
                                <m:t>%</m:t>
                              </m:r>
                            </m:e>
                            <m:sub>
                              <m:r>
                                <a:rPr lang="en-US" altLang="ja-JP" i="1">
                                  <a:latin typeface="Cambria Math" panose="02040503050406030204" pitchFamily="18" charset="0"/>
                                </a:rPr>
                                <m:t>𝐹𝑜𝑟𝑡𝑢𝑛𝑎𝑡𝑒</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m:t>
                              </m:r>
                            </m:e>
                            <m:sub>
                              <m:r>
                                <a:rPr lang="en-US" altLang="ja-JP" i="1">
                                  <a:latin typeface="Cambria Math" panose="02040503050406030204" pitchFamily="18" charset="0"/>
                                </a:rPr>
                                <m:t>𝑁𝑖𝑐𝑒</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m:t>
                              </m:r>
                            </m:e>
                            <m:sub>
                              <m:r>
                                <a:rPr lang="en-US" altLang="ja-JP" i="1">
                                  <a:latin typeface="Cambria Math" panose="02040503050406030204" pitchFamily="18" charset="0"/>
                                </a:rPr>
                                <m:t>𝐶𝑜𝑛𝑐𝑒𝑠𝑠𝑖𝑜𝑛</m:t>
                              </m:r>
                            </m:sub>
                          </m:sSub>
                        </m:num>
                        <m:den>
                          <m:sSub>
                            <m:sSubPr>
                              <m:ctrlPr>
                                <a:rPr lang="en-US" altLang="ja-JP" i="1">
                                  <a:latin typeface="Cambria Math" panose="02040503050406030204" pitchFamily="18" charset="0"/>
                                </a:rPr>
                              </m:ctrlPr>
                            </m:sSubPr>
                            <m:e>
                              <m:r>
                                <a:rPr lang="en-US" altLang="ja-JP" i="1">
                                  <a:latin typeface="Cambria Math" panose="02040503050406030204" pitchFamily="18" charset="0"/>
                                </a:rPr>
                                <m:t>%</m:t>
                              </m:r>
                            </m:e>
                            <m:sub>
                              <m:r>
                                <a:rPr lang="en-US" altLang="ja-JP" i="1">
                                  <a:latin typeface="Cambria Math" panose="02040503050406030204" pitchFamily="18" charset="0"/>
                                </a:rPr>
                                <m:t>𝑆𝑒𝑙𝑓𝑖𝑠h</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m:t>
                              </m:r>
                            </m:e>
                            <m:sub>
                              <m:r>
                                <a:rPr lang="en-US" altLang="ja-JP" i="1">
                                  <a:latin typeface="Cambria Math" panose="02040503050406030204" pitchFamily="18" charset="0"/>
                                </a:rPr>
                                <m:t>𝑈𝑛𝑓𝑜𝑟𝑡𝑢𝑛𝑎𝑡𝑒</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m:t>
                              </m:r>
                            </m:e>
                            <m:sub>
                              <m:r>
                                <a:rPr lang="en-US" altLang="ja-JP" i="1">
                                  <a:latin typeface="Cambria Math" panose="02040503050406030204" pitchFamily="18" charset="0"/>
                                </a:rPr>
                                <m:t>𝑆𝑖𝑙𝑒𝑛𝑡</m:t>
                              </m:r>
                            </m:sub>
                          </m:sSub>
                        </m:den>
                      </m:f>
                    </m:oMath>
                  </m:oMathPara>
                </a14:m>
                <a:endParaRPr lang="en-US" altLang="ja-JP" dirty="0"/>
              </a:p>
              <a:p>
                <a:endParaRPr lang="en-US" altLang="ja-JP" dirty="0"/>
              </a:p>
              <a:p>
                <a:endParaRPr lang="en-US" altLang="ja-JP" dirty="0"/>
              </a:p>
            </p:txBody>
          </p:sp>
        </mc:Choice>
        <mc:Fallback xmlns="">
          <p:sp>
            <p:nvSpPr>
              <p:cNvPr id="3" name="コンテンツ プレースホルダー 2">
                <a:extLst>
                  <a:ext uri="{FF2B5EF4-FFF2-40B4-BE49-F238E27FC236}">
                    <a16:creationId xmlns:a16="http://schemas.microsoft.com/office/drawing/2014/main" id="{7CD37B2B-E32E-2D43-8143-0B7A29E79BB5}"/>
                  </a:ext>
                </a:extLst>
              </p:cNvPr>
              <p:cNvSpPr>
                <a:spLocks noGrp="1" noRot="1" noChangeAspect="1" noMove="1" noResize="1" noEditPoints="1" noAdjustHandles="1" noChangeArrowheads="1" noChangeShapeType="1" noTextEdit="1"/>
              </p:cNvSpPr>
              <p:nvPr>
                <p:ph idx="1"/>
              </p:nvPr>
            </p:nvSpPr>
            <p:spPr>
              <a:xfrm>
                <a:off x="194898" y="1884383"/>
                <a:ext cx="8859709" cy="3949791"/>
              </a:xfrm>
              <a:blipFill>
                <a:blip r:embed="rId2"/>
                <a:stretch>
                  <a:fillRect t="-2244"/>
                </a:stretch>
              </a:blipFill>
            </p:spPr>
            <p:txBody>
              <a:bodyPr/>
              <a:lstStyle/>
              <a:p>
                <a:r>
                  <a:rPr lang="ja-JP" altLang="en-US">
                    <a:noFill/>
                  </a:rPr>
                  <a:t> </a:t>
                </a:r>
              </a:p>
            </p:txBody>
          </p:sp>
        </mc:Fallback>
      </mc:AlternateContent>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AE11971C-747C-6D4C-9C5C-692C46840815}" type="datetime1">
              <a:rPr kumimoji="1" lang="ja-JP" altLang="en-US" smtClean="0"/>
              <a:t>2020/5/11</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9</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kumimoji="1" lang="en-US" altLang="ja-JP" dirty="0"/>
              <a:t>4</a:t>
            </a:r>
            <a:endParaRPr kumimoji="1" lang="ja-JP" altLang="en-US"/>
          </a:p>
        </p:txBody>
      </p:sp>
      <p:pic>
        <p:nvPicPr>
          <p:cNvPr id="35" name="図 34">
            <a:extLst>
              <a:ext uri="{FF2B5EF4-FFF2-40B4-BE49-F238E27FC236}">
                <a16:creationId xmlns:a16="http://schemas.microsoft.com/office/drawing/2014/main" id="{813CA7AA-D605-594B-ADF0-6CF8BCF67529}"/>
              </a:ext>
            </a:extLst>
          </p:cNvPr>
          <p:cNvPicPr>
            <a:picLocks noChangeAspect="1"/>
          </p:cNvPicPr>
          <p:nvPr/>
        </p:nvPicPr>
        <p:blipFill>
          <a:blip r:embed="rId3"/>
          <a:stretch>
            <a:fillRect/>
          </a:stretch>
        </p:blipFill>
        <p:spPr>
          <a:xfrm>
            <a:off x="5499056" y="1052532"/>
            <a:ext cx="3673279" cy="2316536"/>
          </a:xfrm>
          <a:prstGeom prst="rect">
            <a:avLst/>
          </a:prstGeom>
        </p:spPr>
      </p:pic>
      <p:grpSp>
        <p:nvGrpSpPr>
          <p:cNvPr id="20" name="グループ化 19">
            <a:extLst>
              <a:ext uri="{FF2B5EF4-FFF2-40B4-BE49-F238E27FC236}">
                <a16:creationId xmlns:a16="http://schemas.microsoft.com/office/drawing/2014/main" id="{9D0AA023-77FD-8E45-A2FE-9E13FDF597F6}"/>
              </a:ext>
            </a:extLst>
          </p:cNvPr>
          <p:cNvGrpSpPr/>
          <p:nvPr/>
        </p:nvGrpSpPr>
        <p:grpSpPr>
          <a:xfrm>
            <a:off x="163626" y="1160115"/>
            <a:ext cx="4408374" cy="680876"/>
            <a:chOff x="163626" y="1160115"/>
            <a:chExt cx="4408374" cy="680876"/>
          </a:xfrm>
        </p:grpSpPr>
        <p:cxnSp>
          <p:nvCxnSpPr>
            <p:cNvPr id="21" name="直線コネクタ 20">
              <a:extLst>
                <a:ext uri="{FF2B5EF4-FFF2-40B4-BE49-F238E27FC236}">
                  <a16:creationId xmlns:a16="http://schemas.microsoft.com/office/drawing/2014/main" id="{53032A18-BA45-7B4C-A12B-71F28C34CB52}"/>
                </a:ext>
              </a:extLst>
            </p:cNvPr>
            <p:cNvCxnSpPr>
              <a:cxnSpLocks/>
            </p:cNvCxnSpPr>
            <p:nvPr userDrawn="1"/>
          </p:nvCxnSpPr>
          <p:spPr>
            <a:xfrm>
              <a:off x="163626" y="1699846"/>
              <a:ext cx="4408374"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3" name="正方形/長方形 22">
              <a:extLst>
                <a:ext uri="{FF2B5EF4-FFF2-40B4-BE49-F238E27FC236}">
                  <a16:creationId xmlns:a16="http://schemas.microsoft.com/office/drawing/2014/main" id="{6EA7F5F3-06B2-DF42-86C2-191A3B5C05B1}"/>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4" name="テキスト プレースホルダー 12">
            <a:extLst>
              <a:ext uri="{FF2B5EF4-FFF2-40B4-BE49-F238E27FC236}">
                <a16:creationId xmlns:a16="http://schemas.microsoft.com/office/drawing/2014/main" id="{7B0D261D-000C-D849-BECE-7D4525F2E1AA}"/>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4"/>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5"/>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各尺度の計算について</a:t>
            </a:r>
          </a:p>
        </p:txBody>
      </p:sp>
      <mc:AlternateContent xmlns:mc="http://schemas.openxmlformats.org/markup-compatibility/2006" xmlns:a14="http://schemas.microsoft.com/office/drawing/2010/main">
        <mc:Choice Requires="a14">
          <p:graphicFrame>
            <p:nvGraphicFramePr>
              <p:cNvPr id="25" name="表 24">
                <a:extLst>
                  <a:ext uri="{FF2B5EF4-FFF2-40B4-BE49-F238E27FC236}">
                    <a16:creationId xmlns:a16="http://schemas.microsoft.com/office/drawing/2014/main" id="{1AD62150-4DF1-334A-A918-2D74DD1323EA}"/>
                  </a:ext>
                </a:extLst>
              </p:cNvPr>
              <p:cNvGraphicFramePr>
                <a:graphicFrameLocks noGrp="1"/>
              </p:cNvGraphicFramePr>
              <p:nvPr/>
            </p:nvGraphicFramePr>
            <p:xfrm>
              <a:off x="2103298" y="4472465"/>
              <a:ext cx="4932000" cy="2088002"/>
            </p:xfrm>
            <a:graphic>
              <a:graphicData uri="http://schemas.openxmlformats.org/drawingml/2006/table">
                <a:tbl>
                  <a:tblPr firstRow="1" bandRow="1">
                    <a:tableStyleId>{5C22544A-7EE6-4342-B048-85BDC9FD1C3A}</a:tableStyleId>
                  </a:tblPr>
                  <a:tblGrid>
                    <a:gridCol w="1188000">
                      <a:extLst>
                        <a:ext uri="{9D8B030D-6E8A-4147-A177-3AD203B41FA5}">
                          <a16:colId xmlns:a16="http://schemas.microsoft.com/office/drawing/2014/main" val="3127193385"/>
                        </a:ext>
                      </a:extLst>
                    </a:gridCol>
                    <a:gridCol w="1872000">
                      <a:extLst>
                        <a:ext uri="{9D8B030D-6E8A-4147-A177-3AD203B41FA5}">
                          <a16:colId xmlns:a16="http://schemas.microsoft.com/office/drawing/2014/main" val="3037334881"/>
                        </a:ext>
                      </a:extLst>
                    </a:gridCol>
                    <a:gridCol w="1872000">
                      <a:extLst>
                        <a:ext uri="{9D8B030D-6E8A-4147-A177-3AD203B41FA5}">
                          <a16:colId xmlns:a16="http://schemas.microsoft.com/office/drawing/2014/main" val="1646647457"/>
                        </a:ext>
                      </a:extLst>
                    </a:gridCol>
                  </a:tblGrid>
                  <a:tr h="298286">
                    <a:tc>
                      <a:txBody>
                        <a:bodyPr/>
                        <a:lstStyle/>
                        <a:p>
                          <a:endParaRPr kumimoji="1" lang="ja-JP" altLang="en-US" sz="1200">
                            <a:solidFill>
                              <a:schemeClr val="bg1"/>
                            </a:solidFill>
                          </a:endParaRPr>
                        </a:p>
                      </a:txBody>
                      <a:tcPr marL="75570" marR="75570"/>
                    </a:tc>
                    <a:tc>
                      <a:txBody>
                        <a:bodyPr/>
                        <a:lstStyle/>
                        <a:p>
                          <a:pPr algn="ctr"/>
                          <a:r>
                            <a:rPr kumimoji="1" lang="en-US" altLang="ja-JP" sz="1200" dirty="0">
                              <a:solidFill>
                                <a:schemeClr val="bg1"/>
                              </a:solidFill>
                            </a:rPr>
                            <a:t>Self Difference</a:t>
                          </a:r>
                          <a:endParaRPr kumimoji="1" lang="ja-JP" altLang="en-US" sz="1200">
                            <a:solidFill>
                              <a:schemeClr val="bg1"/>
                            </a:solidFill>
                          </a:endParaRPr>
                        </a:p>
                      </a:txBody>
                      <a:tcPr marL="75570" marR="75570"/>
                    </a:tc>
                    <a:tc>
                      <a:txBody>
                        <a:bodyPr/>
                        <a:lstStyle/>
                        <a:p>
                          <a:pPr algn="ctr"/>
                          <a:r>
                            <a:rPr kumimoji="1" lang="en-US" altLang="ja-JP" sz="1200" dirty="0">
                              <a:solidFill>
                                <a:schemeClr val="bg1"/>
                              </a:solidFill>
                            </a:rPr>
                            <a:t>Opponent Difference</a:t>
                          </a:r>
                          <a:endParaRPr kumimoji="1" lang="ja-JP" altLang="en-US" sz="1200">
                            <a:solidFill>
                              <a:schemeClr val="bg1"/>
                            </a:solidFill>
                          </a:endParaRPr>
                        </a:p>
                      </a:txBody>
                      <a:tcPr marL="75570" marR="75570"/>
                    </a:tc>
                    <a:extLst>
                      <a:ext uri="{0D108BD9-81ED-4DB2-BD59-A6C34878D82A}">
                        <a16:rowId xmlns:a16="http://schemas.microsoft.com/office/drawing/2014/main" val="1106798283"/>
                      </a:ext>
                    </a:extLst>
                  </a:tr>
                  <a:tr h="298286">
                    <a:tc>
                      <a:txBody>
                        <a:bodyPr/>
                        <a:lstStyle/>
                        <a:p>
                          <a:r>
                            <a:rPr kumimoji="1" lang="en-US" altLang="ja-JP" sz="1200" dirty="0">
                              <a:solidFill>
                                <a:schemeClr val="tx1"/>
                              </a:solidFill>
                            </a:rPr>
                            <a:t>Silent</a:t>
                          </a:r>
                          <a:endParaRPr kumimoji="1" lang="ja-JP" altLang="en-US" sz="1200">
                            <a:solidFill>
                              <a:schemeClr val="tx1"/>
                            </a:solidFill>
                          </a:endParaRPr>
                        </a:p>
                      </a:txBody>
                      <a:tcPr marL="75570" marR="75570"/>
                    </a:tc>
                    <a:tc>
                      <a:txBody>
                        <a:bodyPr/>
                        <a:lstStyle/>
                        <a:p>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𝑆</m:t>
                                    </m:r>
                                  </m:sub>
                                </m:sSub>
                                <m:r>
                                  <a:rPr kumimoji="1" lang="en-US" altLang="ja-JP" sz="1200" b="0" i="1" smtClean="0">
                                    <a:solidFill>
                                      <a:schemeClr val="tx1"/>
                                    </a:solidFill>
                                    <a:latin typeface="Cambria Math" panose="02040503050406030204" pitchFamily="18" charset="0"/>
                                  </a:rPr>
                                  <m:t>=0</m:t>
                                </m:r>
                              </m:oMath>
                            </m:oMathPara>
                          </a14:m>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𝑂</m:t>
                                    </m:r>
                                  </m:sub>
                                </m:sSub>
                                <m:r>
                                  <a:rPr kumimoji="1" lang="en-US" altLang="ja-JP" sz="1200" b="0" i="1" smtClean="0">
                                    <a:solidFill>
                                      <a:schemeClr val="tx1"/>
                                    </a:solidFill>
                                    <a:latin typeface="Cambria Math" panose="02040503050406030204" pitchFamily="18" charset="0"/>
                                  </a:rPr>
                                  <m:t>=0</m:t>
                                </m:r>
                              </m:oMath>
                            </m:oMathPara>
                          </a14:m>
                          <a:endParaRPr kumimoji="1" lang="ja-JP" altLang="en-US" sz="1200">
                            <a:solidFill>
                              <a:schemeClr val="tx1"/>
                            </a:solidFill>
                          </a:endParaRPr>
                        </a:p>
                      </a:txBody>
                      <a:tcPr marL="75570" marR="75570"/>
                    </a:tc>
                    <a:extLst>
                      <a:ext uri="{0D108BD9-81ED-4DB2-BD59-A6C34878D82A}">
                        <a16:rowId xmlns:a16="http://schemas.microsoft.com/office/drawing/2014/main" val="575256707"/>
                      </a:ext>
                    </a:extLst>
                  </a:tr>
                  <a:tr h="298286">
                    <a:tc>
                      <a:txBody>
                        <a:bodyPr/>
                        <a:lstStyle/>
                        <a:p>
                          <a:r>
                            <a:rPr kumimoji="1" lang="en-US" altLang="ja-JP" sz="1200" dirty="0">
                              <a:solidFill>
                                <a:schemeClr val="tx1"/>
                              </a:solidFill>
                            </a:rPr>
                            <a:t>Nice</a:t>
                          </a:r>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𝑆</m:t>
                                    </m:r>
                                  </m:sub>
                                </m:sSub>
                                <m:r>
                                  <a:rPr kumimoji="1" lang="en-US" altLang="ja-JP" sz="1200" b="0" i="1" smtClean="0">
                                    <a:solidFill>
                                      <a:schemeClr val="tx1"/>
                                    </a:solidFill>
                                    <a:latin typeface="Cambria Math" panose="02040503050406030204" pitchFamily="18" charset="0"/>
                                  </a:rPr>
                                  <m:t>=0</m:t>
                                </m:r>
                              </m:oMath>
                            </m:oMathPara>
                          </a14:m>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𝑂</m:t>
                                    </m:r>
                                  </m:sub>
                                </m:sSub>
                                <m:r>
                                  <a:rPr kumimoji="1" lang="en-US" altLang="ja-JP" sz="1200" b="0" i="1" smtClean="0">
                                    <a:solidFill>
                                      <a:schemeClr val="tx1"/>
                                    </a:solidFill>
                                    <a:latin typeface="Cambria Math" panose="02040503050406030204" pitchFamily="18" charset="0"/>
                                  </a:rPr>
                                  <m:t>&gt;0</m:t>
                                </m:r>
                              </m:oMath>
                            </m:oMathPara>
                          </a14:m>
                          <a:endParaRPr kumimoji="1" lang="ja-JP" altLang="en-US" sz="1200">
                            <a:solidFill>
                              <a:schemeClr val="tx1"/>
                            </a:solidFill>
                          </a:endParaRPr>
                        </a:p>
                      </a:txBody>
                      <a:tcPr marL="75570" marR="75570"/>
                    </a:tc>
                    <a:extLst>
                      <a:ext uri="{0D108BD9-81ED-4DB2-BD59-A6C34878D82A}">
                        <a16:rowId xmlns:a16="http://schemas.microsoft.com/office/drawing/2014/main" val="1183317016"/>
                      </a:ext>
                    </a:extLst>
                  </a:tr>
                  <a:tr h="298286">
                    <a:tc>
                      <a:txBody>
                        <a:bodyPr/>
                        <a:lstStyle/>
                        <a:p>
                          <a:r>
                            <a:rPr kumimoji="1" lang="en-US" altLang="ja-JP" sz="1200" dirty="0">
                              <a:solidFill>
                                <a:schemeClr val="tx1"/>
                              </a:solidFill>
                            </a:rPr>
                            <a:t>Fortunate</a:t>
                          </a:r>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𝑆</m:t>
                                    </m:r>
                                  </m:sub>
                                </m:sSub>
                                <m:r>
                                  <a:rPr kumimoji="1" lang="en-US" altLang="ja-JP" sz="1200" b="0" i="1" smtClean="0">
                                    <a:solidFill>
                                      <a:schemeClr val="tx1"/>
                                    </a:solidFill>
                                    <a:latin typeface="Cambria Math" panose="02040503050406030204" pitchFamily="18" charset="0"/>
                                  </a:rPr>
                                  <m:t>&gt;0</m:t>
                                </m:r>
                              </m:oMath>
                            </m:oMathPara>
                          </a14:m>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𝑂</m:t>
                                    </m:r>
                                  </m:sub>
                                </m:sSub>
                                <m:r>
                                  <a:rPr kumimoji="1" lang="en-US" altLang="ja-JP" sz="1200" b="0" i="1" smtClean="0">
                                    <a:solidFill>
                                      <a:schemeClr val="tx1"/>
                                    </a:solidFill>
                                    <a:latin typeface="Cambria Math" panose="02040503050406030204" pitchFamily="18" charset="0"/>
                                  </a:rPr>
                                  <m:t>&gt;0</m:t>
                                </m:r>
                              </m:oMath>
                            </m:oMathPara>
                          </a14:m>
                          <a:endParaRPr kumimoji="1" lang="ja-JP" altLang="en-US" sz="1200">
                            <a:solidFill>
                              <a:schemeClr val="tx1"/>
                            </a:solidFill>
                          </a:endParaRPr>
                        </a:p>
                      </a:txBody>
                      <a:tcPr marL="75570" marR="75570"/>
                    </a:tc>
                    <a:extLst>
                      <a:ext uri="{0D108BD9-81ED-4DB2-BD59-A6C34878D82A}">
                        <a16:rowId xmlns:a16="http://schemas.microsoft.com/office/drawing/2014/main" val="895325157"/>
                      </a:ext>
                    </a:extLst>
                  </a:tr>
                  <a:tr h="298286">
                    <a:tc>
                      <a:txBody>
                        <a:bodyPr/>
                        <a:lstStyle/>
                        <a:p>
                          <a:r>
                            <a:rPr kumimoji="1" lang="en-US" altLang="ja-JP" sz="1200" dirty="0">
                              <a:solidFill>
                                <a:schemeClr val="tx1"/>
                              </a:solidFill>
                            </a:rPr>
                            <a:t>Selfish</a:t>
                          </a:r>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𝑆</m:t>
                                    </m:r>
                                  </m:sub>
                                </m:sSub>
                                <m:r>
                                  <a:rPr kumimoji="1" lang="en-US" altLang="ja-JP" sz="1200" b="0" i="1" smtClean="0">
                                    <a:solidFill>
                                      <a:schemeClr val="tx1"/>
                                    </a:solidFill>
                                    <a:latin typeface="Cambria Math" panose="02040503050406030204" pitchFamily="18" charset="0"/>
                                  </a:rPr>
                                  <m:t>&gt;0</m:t>
                                </m:r>
                              </m:oMath>
                            </m:oMathPara>
                          </a14:m>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𝑂</m:t>
                                    </m:r>
                                  </m:sub>
                                </m:sSub>
                                <m:r>
                                  <a:rPr kumimoji="1" lang="en-US" altLang="ja-JP" sz="1200" b="0" i="1" smtClean="0">
                                    <a:solidFill>
                                      <a:schemeClr val="tx1"/>
                                    </a:solidFill>
                                    <a:latin typeface="Cambria Math" panose="02040503050406030204" pitchFamily="18" charset="0"/>
                                  </a:rPr>
                                  <m:t>&lt;0</m:t>
                                </m:r>
                              </m:oMath>
                            </m:oMathPara>
                          </a14:m>
                          <a:endParaRPr kumimoji="1" lang="ja-JP" altLang="en-US" sz="1200">
                            <a:solidFill>
                              <a:schemeClr val="tx1"/>
                            </a:solidFill>
                          </a:endParaRPr>
                        </a:p>
                      </a:txBody>
                      <a:tcPr marL="75570" marR="75570"/>
                    </a:tc>
                    <a:extLst>
                      <a:ext uri="{0D108BD9-81ED-4DB2-BD59-A6C34878D82A}">
                        <a16:rowId xmlns:a16="http://schemas.microsoft.com/office/drawing/2014/main" val="2591775076"/>
                      </a:ext>
                    </a:extLst>
                  </a:tr>
                  <a:tr h="298286">
                    <a:tc>
                      <a:txBody>
                        <a:bodyPr/>
                        <a:lstStyle/>
                        <a:p>
                          <a:r>
                            <a:rPr kumimoji="1" lang="en-US" altLang="ja-JP" sz="1200" dirty="0">
                              <a:solidFill>
                                <a:schemeClr val="tx1"/>
                              </a:solidFill>
                            </a:rPr>
                            <a:t>Concession</a:t>
                          </a:r>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𝑆</m:t>
                                    </m:r>
                                  </m:sub>
                                </m:sSub>
                                <m:r>
                                  <a:rPr kumimoji="1" lang="en-US" altLang="ja-JP" sz="1200" b="0" i="1" smtClean="0">
                                    <a:solidFill>
                                      <a:schemeClr val="tx1"/>
                                    </a:solidFill>
                                    <a:latin typeface="Cambria Math" panose="02040503050406030204" pitchFamily="18" charset="0"/>
                                  </a:rPr>
                                  <m:t>&lt;0</m:t>
                                </m:r>
                              </m:oMath>
                            </m:oMathPara>
                          </a14:m>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𝑂</m:t>
                                    </m:r>
                                  </m:sub>
                                </m:sSub>
                                <m:r>
                                  <a:rPr kumimoji="1" lang="en-US" altLang="ja-JP" sz="1200" b="0" i="1" smtClean="0">
                                    <a:solidFill>
                                      <a:schemeClr val="tx1"/>
                                    </a:solidFill>
                                    <a:latin typeface="Cambria Math" panose="02040503050406030204" pitchFamily="18" charset="0"/>
                                  </a:rPr>
                                  <m:t>&gt;0</m:t>
                                </m:r>
                              </m:oMath>
                            </m:oMathPara>
                          </a14:m>
                          <a:endParaRPr kumimoji="1" lang="ja-JP" altLang="en-US" sz="1200">
                            <a:solidFill>
                              <a:schemeClr val="tx1"/>
                            </a:solidFill>
                          </a:endParaRPr>
                        </a:p>
                      </a:txBody>
                      <a:tcPr marL="75570" marR="75570"/>
                    </a:tc>
                    <a:extLst>
                      <a:ext uri="{0D108BD9-81ED-4DB2-BD59-A6C34878D82A}">
                        <a16:rowId xmlns:a16="http://schemas.microsoft.com/office/drawing/2014/main" val="2841830330"/>
                      </a:ext>
                    </a:extLst>
                  </a:tr>
                  <a:tr h="298286">
                    <a:tc>
                      <a:txBody>
                        <a:bodyPr/>
                        <a:lstStyle/>
                        <a:p>
                          <a:r>
                            <a:rPr kumimoji="1" lang="en-US" altLang="ja-JP" sz="1200" dirty="0">
                              <a:solidFill>
                                <a:schemeClr val="tx1"/>
                              </a:solidFill>
                            </a:rPr>
                            <a:t>Unfortunate</a:t>
                          </a:r>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𝑆</m:t>
                                    </m:r>
                                  </m:sub>
                                </m:sSub>
                                <m:r>
                                  <a:rPr kumimoji="1" lang="en-US" altLang="ja-JP" sz="1200" b="0" i="1" smtClean="0">
                                    <a:solidFill>
                                      <a:schemeClr val="tx1"/>
                                    </a:solidFill>
                                    <a:latin typeface="Cambria Math" panose="02040503050406030204" pitchFamily="18" charset="0"/>
                                  </a:rPr>
                                  <m:t>&lt;0</m:t>
                                </m:r>
                              </m:oMath>
                            </m:oMathPara>
                          </a14:m>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𝑂</m:t>
                                    </m:r>
                                  </m:sub>
                                </m:sSub>
                                <m:r>
                                  <a:rPr kumimoji="1" lang="en-US" altLang="ja-JP" sz="1200" b="0" i="1" smtClean="0">
                                    <a:solidFill>
                                      <a:schemeClr val="tx1"/>
                                    </a:solidFill>
                                    <a:latin typeface="Cambria Math" panose="02040503050406030204" pitchFamily="18" charset="0"/>
                                  </a:rPr>
                                  <m:t>&lt;0</m:t>
                                </m:r>
                              </m:oMath>
                            </m:oMathPara>
                          </a14:m>
                          <a:endParaRPr kumimoji="1" lang="ja-JP" altLang="en-US" sz="1200">
                            <a:solidFill>
                              <a:schemeClr val="tx1"/>
                            </a:solidFill>
                          </a:endParaRPr>
                        </a:p>
                      </a:txBody>
                      <a:tcPr marL="75570" marR="75570"/>
                    </a:tc>
                    <a:extLst>
                      <a:ext uri="{0D108BD9-81ED-4DB2-BD59-A6C34878D82A}">
                        <a16:rowId xmlns:a16="http://schemas.microsoft.com/office/drawing/2014/main" val="2685632522"/>
                      </a:ext>
                    </a:extLst>
                  </a:tr>
                </a:tbl>
              </a:graphicData>
            </a:graphic>
          </p:graphicFrame>
        </mc:Choice>
        <mc:Fallback xmlns="">
          <p:graphicFrame>
            <p:nvGraphicFramePr>
              <p:cNvPr id="25" name="表 24">
                <a:extLst>
                  <a:ext uri="{FF2B5EF4-FFF2-40B4-BE49-F238E27FC236}">
                    <a16:creationId xmlns:a16="http://schemas.microsoft.com/office/drawing/2014/main" id="{1AD62150-4DF1-334A-A918-2D74DD1323EA}"/>
                  </a:ext>
                </a:extLst>
              </p:cNvPr>
              <p:cNvGraphicFramePr>
                <a:graphicFrameLocks noGrp="1"/>
              </p:cNvGraphicFramePr>
              <p:nvPr/>
            </p:nvGraphicFramePr>
            <p:xfrm>
              <a:off x="2103298" y="4472465"/>
              <a:ext cx="4932000" cy="2088002"/>
            </p:xfrm>
            <a:graphic>
              <a:graphicData uri="http://schemas.openxmlformats.org/drawingml/2006/table">
                <a:tbl>
                  <a:tblPr firstRow="1" bandRow="1">
                    <a:tableStyleId>{5C22544A-7EE6-4342-B048-85BDC9FD1C3A}</a:tableStyleId>
                  </a:tblPr>
                  <a:tblGrid>
                    <a:gridCol w="1188000">
                      <a:extLst>
                        <a:ext uri="{9D8B030D-6E8A-4147-A177-3AD203B41FA5}">
                          <a16:colId xmlns:a16="http://schemas.microsoft.com/office/drawing/2014/main" val="3127193385"/>
                        </a:ext>
                      </a:extLst>
                    </a:gridCol>
                    <a:gridCol w="1872000">
                      <a:extLst>
                        <a:ext uri="{9D8B030D-6E8A-4147-A177-3AD203B41FA5}">
                          <a16:colId xmlns:a16="http://schemas.microsoft.com/office/drawing/2014/main" val="3037334881"/>
                        </a:ext>
                      </a:extLst>
                    </a:gridCol>
                    <a:gridCol w="1872000">
                      <a:extLst>
                        <a:ext uri="{9D8B030D-6E8A-4147-A177-3AD203B41FA5}">
                          <a16:colId xmlns:a16="http://schemas.microsoft.com/office/drawing/2014/main" val="1646647457"/>
                        </a:ext>
                      </a:extLst>
                    </a:gridCol>
                  </a:tblGrid>
                  <a:tr h="298286">
                    <a:tc>
                      <a:txBody>
                        <a:bodyPr/>
                        <a:lstStyle/>
                        <a:p>
                          <a:endParaRPr kumimoji="1" lang="ja-JP" altLang="en-US" sz="1200">
                            <a:solidFill>
                              <a:schemeClr val="bg1"/>
                            </a:solidFill>
                          </a:endParaRPr>
                        </a:p>
                      </a:txBody>
                      <a:tcPr marL="75570" marR="75570"/>
                    </a:tc>
                    <a:tc>
                      <a:txBody>
                        <a:bodyPr/>
                        <a:lstStyle/>
                        <a:p>
                          <a:pPr algn="ctr"/>
                          <a:r>
                            <a:rPr kumimoji="1" lang="en-US" altLang="ja-JP" sz="1200" dirty="0">
                              <a:solidFill>
                                <a:schemeClr val="bg1"/>
                              </a:solidFill>
                            </a:rPr>
                            <a:t>Self Difference</a:t>
                          </a:r>
                          <a:endParaRPr kumimoji="1" lang="ja-JP" altLang="en-US" sz="1200">
                            <a:solidFill>
                              <a:schemeClr val="bg1"/>
                            </a:solidFill>
                          </a:endParaRPr>
                        </a:p>
                      </a:txBody>
                      <a:tcPr marL="75570" marR="75570"/>
                    </a:tc>
                    <a:tc>
                      <a:txBody>
                        <a:bodyPr/>
                        <a:lstStyle/>
                        <a:p>
                          <a:pPr algn="ctr"/>
                          <a:r>
                            <a:rPr kumimoji="1" lang="en-US" altLang="ja-JP" sz="1200" dirty="0">
                              <a:solidFill>
                                <a:schemeClr val="bg1"/>
                              </a:solidFill>
                            </a:rPr>
                            <a:t>Opponent Difference</a:t>
                          </a:r>
                          <a:endParaRPr kumimoji="1" lang="ja-JP" altLang="en-US" sz="1200">
                            <a:solidFill>
                              <a:schemeClr val="bg1"/>
                            </a:solidFill>
                          </a:endParaRPr>
                        </a:p>
                      </a:txBody>
                      <a:tcPr marL="75570" marR="75570"/>
                    </a:tc>
                    <a:extLst>
                      <a:ext uri="{0D108BD9-81ED-4DB2-BD59-A6C34878D82A}">
                        <a16:rowId xmlns:a16="http://schemas.microsoft.com/office/drawing/2014/main" val="1106798283"/>
                      </a:ext>
                    </a:extLst>
                  </a:tr>
                  <a:tr h="298286">
                    <a:tc>
                      <a:txBody>
                        <a:bodyPr/>
                        <a:lstStyle/>
                        <a:p>
                          <a:r>
                            <a:rPr kumimoji="1" lang="en-US" altLang="ja-JP" sz="1200" dirty="0">
                              <a:solidFill>
                                <a:schemeClr val="tx1"/>
                              </a:solidFill>
                            </a:rPr>
                            <a:t>Silent</a:t>
                          </a:r>
                          <a:endParaRPr kumimoji="1" lang="ja-JP" altLang="en-US" sz="1200">
                            <a:solidFill>
                              <a:schemeClr val="tx1"/>
                            </a:solidFill>
                          </a:endParaRPr>
                        </a:p>
                      </a:txBody>
                      <a:tcPr marL="75570" marR="75570"/>
                    </a:tc>
                    <a:tc>
                      <a:txBody>
                        <a:bodyPr/>
                        <a:lstStyle/>
                        <a:p>
                          <a:endParaRPr lang="ja-JP"/>
                        </a:p>
                      </a:txBody>
                      <a:tcPr marL="75570" marR="75570">
                        <a:blipFill>
                          <a:blip r:embed="rId6"/>
                          <a:stretch>
                            <a:fillRect l="-64626" t="-108696" r="-102041" b="-517391"/>
                          </a:stretch>
                        </a:blipFill>
                      </a:tcPr>
                    </a:tc>
                    <a:tc>
                      <a:txBody>
                        <a:bodyPr/>
                        <a:lstStyle/>
                        <a:p>
                          <a:endParaRPr lang="ja-JP"/>
                        </a:p>
                      </a:txBody>
                      <a:tcPr marL="75570" marR="75570">
                        <a:blipFill>
                          <a:blip r:embed="rId6"/>
                          <a:stretch>
                            <a:fillRect l="-163514" t="-108696" r="-1351" b="-517391"/>
                          </a:stretch>
                        </a:blipFill>
                      </a:tcPr>
                    </a:tc>
                    <a:extLst>
                      <a:ext uri="{0D108BD9-81ED-4DB2-BD59-A6C34878D82A}">
                        <a16:rowId xmlns:a16="http://schemas.microsoft.com/office/drawing/2014/main" val="575256707"/>
                      </a:ext>
                    </a:extLst>
                  </a:tr>
                  <a:tr h="298286">
                    <a:tc>
                      <a:txBody>
                        <a:bodyPr/>
                        <a:lstStyle/>
                        <a:p>
                          <a:r>
                            <a:rPr kumimoji="1" lang="en-US" altLang="ja-JP" sz="1200" dirty="0">
                              <a:solidFill>
                                <a:schemeClr val="tx1"/>
                              </a:solidFill>
                            </a:rPr>
                            <a:t>Nice</a:t>
                          </a:r>
                          <a:endParaRPr kumimoji="1" lang="ja-JP" altLang="en-US" sz="1200">
                            <a:solidFill>
                              <a:schemeClr val="tx1"/>
                            </a:solidFill>
                          </a:endParaRPr>
                        </a:p>
                      </a:txBody>
                      <a:tcPr marL="75570" marR="75570"/>
                    </a:tc>
                    <a:tc>
                      <a:txBody>
                        <a:bodyPr/>
                        <a:lstStyle/>
                        <a:p>
                          <a:endParaRPr lang="ja-JP"/>
                        </a:p>
                      </a:txBody>
                      <a:tcPr marL="75570" marR="75570">
                        <a:blipFill>
                          <a:blip r:embed="rId6"/>
                          <a:stretch>
                            <a:fillRect l="-64626" t="-200000" r="-102041" b="-395833"/>
                          </a:stretch>
                        </a:blipFill>
                      </a:tcPr>
                    </a:tc>
                    <a:tc>
                      <a:txBody>
                        <a:bodyPr/>
                        <a:lstStyle/>
                        <a:p>
                          <a:endParaRPr lang="ja-JP"/>
                        </a:p>
                      </a:txBody>
                      <a:tcPr marL="75570" marR="75570">
                        <a:blipFill>
                          <a:blip r:embed="rId6"/>
                          <a:stretch>
                            <a:fillRect l="-163514" t="-200000" r="-1351" b="-395833"/>
                          </a:stretch>
                        </a:blipFill>
                      </a:tcPr>
                    </a:tc>
                    <a:extLst>
                      <a:ext uri="{0D108BD9-81ED-4DB2-BD59-A6C34878D82A}">
                        <a16:rowId xmlns:a16="http://schemas.microsoft.com/office/drawing/2014/main" val="1183317016"/>
                      </a:ext>
                    </a:extLst>
                  </a:tr>
                  <a:tr h="298286">
                    <a:tc>
                      <a:txBody>
                        <a:bodyPr/>
                        <a:lstStyle/>
                        <a:p>
                          <a:r>
                            <a:rPr kumimoji="1" lang="en-US" altLang="ja-JP" sz="1200" dirty="0">
                              <a:solidFill>
                                <a:schemeClr val="tx1"/>
                              </a:solidFill>
                            </a:rPr>
                            <a:t>Fortunate</a:t>
                          </a:r>
                          <a:endParaRPr kumimoji="1" lang="ja-JP" altLang="en-US" sz="1200">
                            <a:solidFill>
                              <a:schemeClr val="tx1"/>
                            </a:solidFill>
                          </a:endParaRPr>
                        </a:p>
                      </a:txBody>
                      <a:tcPr marL="75570" marR="75570"/>
                    </a:tc>
                    <a:tc>
                      <a:txBody>
                        <a:bodyPr/>
                        <a:lstStyle/>
                        <a:p>
                          <a:endParaRPr lang="ja-JP"/>
                        </a:p>
                      </a:txBody>
                      <a:tcPr marL="75570" marR="75570">
                        <a:blipFill>
                          <a:blip r:embed="rId6"/>
                          <a:stretch>
                            <a:fillRect l="-64626" t="-313043" r="-102041" b="-313043"/>
                          </a:stretch>
                        </a:blipFill>
                      </a:tcPr>
                    </a:tc>
                    <a:tc>
                      <a:txBody>
                        <a:bodyPr/>
                        <a:lstStyle/>
                        <a:p>
                          <a:endParaRPr lang="ja-JP"/>
                        </a:p>
                      </a:txBody>
                      <a:tcPr marL="75570" marR="75570">
                        <a:blipFill>
                          <a:blip r:embed="rId6"/>
                          <a:stretch>
                            <a:fillRect l="-163514" t="-313043" r="-1351" b="-313043"/>
                          </a:stretch>
                        </a:blipFill>
                      </a:tcPr>
                    </a:tc>
                    <a:extLst>
                      <a:ext uri="{0D108BD9-81ED-4DB2-BD59-A6C34878D82A}">
                        <a16:rowId xmlns:a16="http://schemas.microsoft.com/office/drawing/2014/main" val="895325157"/>
                      </a:ext>
                    </a:extLst>
                  </a:tr>
                  <a:tr h="298286">
                    <a:tc>
                      <a:txBody>
                        <a:bodyPr/>
                        <a:lstStyle/>
                        <a:p>
                          <a:r>
                            <a:rPr kumimoji="1" lang="en-US" altLang="ja-JP" sz="1200" dirty="0">
                              <a:solidFill>
                                <a:schemeClr val="tx1"/>
                              </a:solidFill>
                            </a:rPr>
                            <a:t>Selfish</a:t>
                          </a:r>
                          <a:endParaRPr kumimoji="1" lang="ja-JP" altLang="en-US" sz="1200">
                            <a:solidFill>
                              <a:schemeClr val="tx1"/>
                            </a:solidFill>
                          </a:endParaRPr>
                        </a:p>
                      </a:txBody>
                      <a:tcPr marL="75570" marR="75570"/>
                    </a:tc>
                    <a:tc>
                      <a:txBody>
                        <a:bodyPr/>
                        <a:lstStyle/>
                        <a:p>
                          <a:endParaRPr lang="ja-JP"/>
                        </a:p>
                      </a:txBody>
                      <a:tcPr marL="75570" marR="75570">
                        <a:blipFill>
                          <a:blip r:embed="rId6"/>
                          <a:stretch>
                            <a:fillRect l="-64626" t="-395833" r="-102041" b="-200000"/>
                          </a:stretch>
                        </a:blipFill>
                      </a:tcPr>
                    </a:tc>
                    <a:tc>
                      <a:txBody>
                        <a:bodyPr/>
                        <a:lstStyle/>
                        <a:p>
                          <a:endParaRPr lang="ja-JP"/>
                        </a:p>
                      </a:txBody>
                      <a:tcPr marL="75570" marR="75570">
                        <a:blipFill>
                          <a:blip r:embed="rId6"/>
                          <a:stretch>
                            <a:fillRect l="-163514" t="-395833" r="-1351" b="-200000"/>
                          </a:stretch>
                        </a:blipFill>
                      </a:tcPr>
                    </a:tc>
                    <a:extLst>
                      <a:ext uri="{0D108BD9-81ED-4DB2-BD59-A6C34878D82A}">
                        <a16:rowId xmlns:a16="http://schemas.microsoft.com/office/drawing/2014/main" val="2591775076"/>
                      </a:ext>
                    </a:extLst>
                  </a:tr>
                  <a:tr h="298286">
                    <a:tc>
                      <a:txBody>
                        <a:bodyPr/>
                        <a:lstStyle/>
                        <a:p>
                          <a:r>
                            <a:rPr kumimoji="1" lang="en-US" altLang="ja-JP" sz="1200" dirty="0">
                              <a:solidFill>
                                <a:schemeClr val="tx1"/>
                              </a:solidFill>
                            </a:rPr>
                            <a:t>Concession</a:t>
                          </a:r>
                          <a:endParaRPr kumimoji="1" lang="ja-JP" altLang="en-US" sz="1200">
                            <a:solidFill>
                              <a:schemeClr val="tx1"/>
                            </a:solidFill>
                          </a:endParaRPr>
                        </a:p>
                      </a:txBody>
                      <a:tcPr marL="75570" marR="75570"/>
                    </a:tc>
                    <a:tc>
                      <a:txBody>
                        <a:bodyPr/>
                        <a:lstStyle/>
                        <a:p>
                          <a:endParaRPr lang="ja-JP"/>
                        </a:p>
                      </a:txBody>
                      <a:tcPr marL="75570" marR="75570">
                        <a:blipFill>
                          <a:blip r:embed="rId6"/>
                          <a:stretch>
                            <a:fillRect l="-64626" t="-517391" r="-102041" b="-108696"/>
                          </a:stretch>
                        </a:blipFill>
                      </a:tcPr>
                    </a:tc>
                    <a:tc>
                      <a:txBody>
                        <a:bodyPr/>
                        <a:lstStyle/>
                        <a:p>
                          <a:endParaRPr lang="ja-JP"/>
                        </a:p>
                      </a:txBody>
                      <a:tcPr marL="75570" marR="75570">
                        <a:blipFill>
                          <a:blip r:embed="rId6"/>
                          <a:stretch>
                            <a:fillRect l="-163514" t="-517391" r="-1351" b="-108696"/>
                          </a:stretch>
                        </a:blipFill>
                      </a:tcPr>
                    </a:tc>
                    <a:extLst>
                      <a:ext uri="{0D108BD9-81ED-4DB2-BD59-A6C34878D82A}">
                        <a16:rowId xmlns:a16="http://schemas.microsoft.com/office/drawing/2014/main" val="2841830330"/>
                      </a:ext>
                    </a:extLst>
                  </a:tr>
                  <a:tr h="298286">
                    <a:tc>
                      <a:txBody>
                        <a:bodyPr/>
                        <a:lstStyle/>
                        <a:p>
                          <a:r>
                            <a:rPr kumimoji="1" lang="en-US" altLang="ja-JP" sz="1200" dirty="0">
                              <a:solidFill>
                                <a:schemeClr val="tx1"/>
                              </a:solidFill>
                            </a:rPr>
                            <a:t>Unfortunate</a:t>
                          </a:r>
                          <a:endParaRPr kumimoji="1" lang="ja-JP" altLang="en-US" sz="1200">
                            <a:solidFill>
                              <a:schemeClr val="tx1"/>
                            </a:solidFill>
                          </a:endParaRPr>
                        </a:p>
                      </a:txBody>
                      <a:tcPr marL="75570" marR="75570"/>
                    </a:tc>
                    <a:tc>
                      <a:txBody>
                        <a:bodyPr/>
                        <a:lstStyle/>
                        <a:p>
                          <a:endParaRPr lang="ja-JP"/>
                        </a:p>
                      </a:txBody>
                      <a:tcPr marL="75570" marR="75570">
                        <a:blipFill>
                          <a:blip r:embed="rId6"/>
                          <a:stretch>
                            <a:fillRect l="-64626" t="-591667" r="-102041" b="-4167"/>
                          </a:stretch>
                        </a:blipFill>
                      </a:tcPr>
                    </a:tc>
                    <a:tc>
                      <a:txBody>
                        <a:bodyPr/>
                        <a:lstStyle/>
                        <a:p>
                          <a:endParaRPr lang="ja-JP"/>
                        </a:p>
                      </a:txBody>
                      <a:tcPr marL="75570" marR="75570">
                        <a:blipFill>
                          <a:blip r:embed="rId6"/>
                          <a:stretch>
                            <a:fillRect l="-163514" t="-591667" r="-1351" b="-4167"/>
                          </a:stretch>
                        </a:blipFill>
                      </a:tcPr>
                    </a:tc>
                    <a:extLst>
                      <a:ext uri="{0D108BD9-81ED-4DB2-BD59-A6C34878D82A}">
                        <a16:rowId xmlns:a16="http://schemas.microsoft.com/office/drawing/2014/main" val="2685632522"/>
                      </a:ext>
                    </a:extLst>
                  </a:tr>
                </a:tbl>
              </a:graphicData>
            </a:graphic>
          </p:graphicFrame>
        </mc:Fallback>
      </mc:AlternateContent>
    </p:spTree>
    <p:extLst>
      <p:ext uri="{BB962C8B-B14F-4D97-AF65-F5344CB8AC3E}">
        <p14:creationId xmlns:p14="http://schemas.microsoft.com/office/powerpoint/2010/main" val="33797300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lang="en-US" altLang="ja-JP" dirty="0"/>
              <a:t>BIG5</a:t>
            </a:r>
            <a:r>
              <a:rPr lang="ja-JP" altLang="en-US"/>
              <a:t>について</a:t>
            </a:r>
            <a:endParaRPr kumimoji="1" lang="ja-JP" altLang="en-US"/>
          </a:p>
        </p:txBody>
      </p:sp>
      <p:sp>
        <p:nvSpPr>
          <p:cNvPr id="3" name="コンテンツ プレースホルダー 2">
            <a:extLst>
              <a:ext uri="{FF2B5EF4-FFF2-40B4-BE49-F238E27FC236}">
                <a16:creationId xmlns:a16="http://schemas.microsoft.com/office/drawing/2014/main" id="{7CD37B2B-E32E-2D43-8143-0B7A29E79BB5}"/>
              </a:ext>
            </a:extLst>
          </p:cNvPr>
          <p:cNvSpPr>
            <a:spLocks noGrp="1"/>
          </p:cNvSpPr>
          <p:nvPr>
            <p:ph idx="1"/>
          </p:nvPr>
        </p:nvSpPr>
        <p:spPr>
          <a:xfrm>
            <a:off x="194898" y="1884383"/>
            <a:ext cx="8859709" cy="3947779"/>
          </a:xfrm>
        </p:spPr>
        <p:txBody>
          <a:bodyPr/>
          <a:lstStyle/>
          <a:p>
            <a:r>
              <a:rPr lang="ja-JP" altLang="en-US"/>
              <a:t>神経症的傾向</a:t>
            </a:r>
            <a:endParaRPr lang="en-US" altLang="ja-JP" dirty="0"/>
          </a:p>
          <a:p>
            <a:pPr lvl="1"/>
            <a:r>
              <a:rPr lang="ja-JP" altLang="en-US"/>
              <a:t>ストレス耐性の高さ</a:t>
            </a:r>
          </a:p>
          <a:p>
            <a:r>
              <a:rPr lang="ja-JP" altLang="en-US"/>
              <a:t>外向性</a:t>
            </a:r>
            <a:endParaRPr lang="en-US" altLang="ja-JP" dirty="0"/>
          </a:p>
          <a:p>
            <a:pPr lvl="1"/>
            <a:r>
              <a:rPr lang="ja-JP" altLang="en-US"/>
              <a:t>社交性，積極性の高さ</a:t>
            </a:r>
          </a:p>
          <a:p>
            <a:r>
              <a:rPr lang="ja-JP" altLang="en-US"/>
              <a:t>経験への開放性</a:t>
            </a:r>
            <a:endParaRPr lang="en-US" altLang="ja-JP" dirty="0"/>
          </a:p>
          <a:p>
            <a:pPr lvl="1"/>
            <a:r>
              <a:rPr lang="ja-JP" altLang="en-US"/>
              <a:t>知的好奇心の強さ</a:t>
            </a:r>
          </a:p>
          <a:p>
            <a:r>
              <a:rPr lang="ja-JP" altLang="en-US"/>
              <a:t>誠実性</a:t>
            </a:r>
            <a:endParaRPr lang="en-US" altLang="ja-JP" dirty="0"/>
          </a:p>
          <a:p>
            <a:pPr lvl="1"/>
            <a:r>
              <a:rPr lang="ja-JP" altLang="en-US"/>
              <a:t>計画性の高さ・真面目さ</a:t>
            </a:r>
          </a:p>
          <a:p>
            <a:endParaRPr lang="ja-JP" altLang="en-US"/>
          </a:p>
          <a:p>
            <a:endParaRPr lang="ja-JP" altLang="en-US"/>
          </a:p>
          <a:p>
            <a:endParaRPr lang="en-US" altLang="ja-JP" dirty="0"/>
          </a:p>
          <a:p>
            <a:endParaRPr lang="en-US" altLang="ja-JP" dirty="0"/>
          </a:p>
        </p:txBody>
      </p:sp>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AE11971C-747C-6D4C-9C5C-692C46840815}" type="datetime1">
              <a:rPr kumimoji="1" lang="ja-JP" altLang="en-US" smtClean="0"/>
              <a:t>2020/5/11</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10</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kumimoji="1" lang="en-US" altLang="ja-JP" dirty="0"/>
              <a:t>4</a:t>
            </a:r>
            <a:endParaRPr kumimoji="1" lang="ja-JP" altLang="en-US"/>
          </a:p>
        </p:txBody>
      </p:sp>
      <p:pic>
        <p:nvPicPr>
          <p:cNvPr id="35" name="図 34">
            <a:extLst>
              <a:ext uri="{FF2B5EF4-FFF2-40B4-BE49-F238E27FC236}">
                <a16:creationId xmlns:a16="http://schemas.microsoft.com/office/drawing/2014/main" id="{813CA7AA-D605-594B-ADF0-6CF8BCF67529}"/>
              </a:ext>
            </a:extLst>
          </p:cNvPr>
          <p:cNvPicPr>
            <a:picLocks noChangeAspect="1"/>
          </p:cNvPicPr>
          <p:nvPr/>
        </p:nvPicPr>
        <p:blipFill>
          <a:blip r:embed="rId2"/>
          <a:stretch>
            <a:fillRect/>
          </a:stretch>
        </p:blipFill>
        <p:spPr>
          <a:xfrm>
            <a:off x="5499056" y="1052532"/>
            <a:ext cx="3673279" cy="2316536"/>
          </a:xfrm>
          <a:prstGeom prst="rect">
            <a:avLst/>
          </a:prstGeom>
        </p:spPr>
      </p:pic>
      <p:grpSp>
        <p:nvGrpSpPr>
          <p:cNvPr id="20" name="グループ化 19">
            <a:extLst>
              <a:ext uri="{FF2B5EF4-FFF2-40B4-BE49-F238E27FC236}">
                <a16:creationId xmlns:a16="http://schemas.microsoft.com/office/drawing/2014/main" id="{9D0AA023-77FD-8E45-A2FE-9E13FDF597F6}"/>
              </a:ext>
            </a:extLst>
          </p:cNvPr>
          <p:cNvGrpSpPr/>
          <p:nvPr/>
        </p:nvGrpSpPr>
        <p:grpSpPr>
          <a:xfrm>
            <a:off x="163626" y="1160115"/>
            <a:ext cx="4755615" cy="680876"/>
            <a:chOff x="163626" y="1160115"/>
            <a:chExt cx="4755615" cy="680876"/>
          </a:xfrm>
        </p:grpSpPr>
        <p:cxnSp>
          <p:nvCxnSpPr>
            <p:cNvPr id="21" name="直線コネクタ 20">
              <a:extLst>
                <a:ext uri="{FF2B5EF4-FFF2-40B4-BE49-F238E27FC236}">
                  <a16:creationId xmlns:a16="http://schemas.microsoft.com/office/drawing/2014/main" id="{53032A18-BA45-7B4C-A12B-71F28C34CB52}"/>
                </a:ext>
              </a:extLst>
            </p:cNvPr>
            <p:cNvCxnSpPr>
              <a:cxnSpLocks/>
            </p:cNvCxnSpPr>
            <p:nvPr userDrawn="1"/>
          </p:nvCxnSpPr>
          <p:spPr>
            <a:xfrm>
              <a:off x="163626" y="1699846"/>
              <a:ext cx="4755615"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3" name="正方形/長方形 22">
              <a:extLst>
                <a:ext uri="{FF2B5EF4-FFF2-40B4-BE49-F238E27FC236}">
                  <a16:creationId xmlns:a16="http://schemas.microsoft.com/office/drawing/2014/main" id="{6EA7F5F3-06B2-DF42-86C2-191A3B5C05B1}"/>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4" name="テキスト プレースホルダー 12">
            <a:extLst>
              <a:ext uri="{FF2B5EF4-FFF2-40B4-BE49-F238E27FC236}">
                <a16:creationId xmlns:a16="http://schemas.microsoft.com/office/drawing/2014/main" id="{7B0D261D-000C-D849-BECE-7D4525F2E1AA}"/>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3"/>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4"/>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それ以外の尺度について</a:t>
            </a:r>
          </a:p>
        </p:txBody>
      </p:sp>
      <p:sp>
        <p:nvSpPr>
          <p:cNvPr id="18" name="テキスト プレースホルダー 12">
            <a:extLst>
              <a:ext uri="{FF2B5EF4-FFF2-40B4-BE49-F238E27FC236}">
                <a16:creationId xmlns:a16="http://schemas.microsoft.com/office/drawing/2014/main" id="{B1673F2D-B405-CB4D-8F59-80842B8ACB15}"/>
              </a:ext>
            </a:extLst>
          </p:cNvPr>
          <p:cNvSpPr txBox="1">
            <a:spLocks/>
          </p:cNvSpPr>
          <p:nvPr/>
        </p:nvSpPr>
        <p:spPr>
          <a:xfrm>
            <a:off x="404691" y="2876210"/>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3"/>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4"/>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endParaRPr lang="ja-JP" altLang="en-US"/>
          </a:p>
        </p:txBody>
      </p:sp>
      <p:sp>
        <p:nvSpPr>
          <p:cNvPr id="32" name="角丸四角形吹き出し 31">
            <a:extLst>
              <a:ext uri="{FF2B5EF4-FFF2-40B4-BE49-F238E27FC236}">
                <a16:creationId xmlns:a16="http://schemas.microsoft.com/office/drawing/2014/main" id="{F27DA7FE-B30A-5944-8380-F455330215A8}"/>
              </a:ext>
            </a:extLst>
          </p:cNvPr>
          <p:cNvSpPr/>
          <p:nvPr/>
        </p:nvSpPr>
        <p:spPr>
          <a:xfrm>
            <a:off x="1542599" y="5394770"/>
            <a:ext cx="4572451" cy="896345"/>
          </a:xfrm>
          <a:prstGeom prst="wedgeRoundRectCallout">
            <a:avLst>
              <a:gd name="adj1" fmla="val -55108"/>
              <a:gd name="adj2" fmla="val -39015"/>
              <a:gd name="adj3" fmla="val 1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dirty="0">
                <a:solidFill>
                  <a:schemeClr val="bg2"/>
                </a:solidFill>
              </a:rPr>
              <a:t>bid</a:t>
            </a:r>
            <a:r>
              <a:rPr kumimoji="1" lang="ja-JP" altLang="en-US">
                <a:solidFill>
                  <a:schemeClr val="bg2"/>
                </a:solidFill>
              </a:rPr>
              <a:t>の分散</a:t>
            </a:r>
            <a:r>
              <a:rPr kumimoji="1" lang="en-US" altLang="ja-JP" dirty="0">
                <a:solidFill>
                  <a:schemeClr val="bg2"/>
                </a:solidFill>
              </a:rPr>
              <a:t>(</a:t>
            </a:r>
            <a:r>
              <a:rPr kumimoji="1" lang="ja-JP" altLang="en-US">
                <a:solidFill>
                  <a:schemeClr val="bg2"/>
                </a:solidFill>
              </a:rPr>
              <a:t>計画性の高さ</a:t>
            </a:r>
            <a:r>
              <a:rPr kumimoji="1" lang="en-US" altLang="ja-JP" dirty="0">
                <a:solidFill>
                  <a:schemeClr val="bg2"/>
                </a:solidFill>
              </a:rPr>
              <a:t>)</a:t>
            </a:r>
          </a:p>
          <a:p>
            <a:r>
              <a:rPr kumimoji="1" lang="en-US" altLang="ja-JP" dirty="0">
                <a:solidFill>
                  <a:schemeClr val="bg2"/>
                </a:solidFill>
              </a:rPr>
              <a:t>- </a:t>
            </a:r>
            <a:r>
              <a:rPr kumimoji="1" lang="ja-JP" altLang="en-US">
                <a:solidFill>
                  <a:schemeClr val="bg2"/>
                </a:solidFill>
              </a:rPr>
              <a:t>選好に関して嘘をついた回数</a:t>
            </a:r>
            <a:r>
              <a:rPr kumimoji="1" lang="en-US" altLang="ja-JP" dirty="0">
                <a:solidFill>
                  <a:schemeClr val="bg2"/>
                </a:solidFill>
              </a:rPr>
              <a:t>(</a:t>
            </a:r>
            <a:r>
              <a:rPr kumimoji="1" lang="ja-JP" altLang="en-US">
                <a:solidFill>
                  <a:schemeClr val="bg2"/>
                </a:solidFill>
              </a:rPr>
              <a:t>真面目さ</a:t>
            </a:r>
            <a:r>
              <a:rPr kumimoji="1" lang="en-US" altLang="ja-JP" dirty="0">
                <a:solidFill>
                  <a:schemeClr val="bg2"/>
                </a:solidFill>
              </a:rPr>
              <a:t>)</a:t>
            </a:r>
            <a:endParaRPr kumimoji="1" lang="ja-JP" altLang="en-US">
              <a:solidFill>
                <a:schemeClr val="bg2"/>
              </a:solidFill>
            </a:endParaRPr>
          </a:p>
        </p:txBody>
      </p:sp>
      <p:sp>
        <p:nvSpPr>
          <p:cNvPr id="33" name="角丸四角形吹き出し 32">
            <a:extLst>
              <a:ext uri="{FF2B5EF4-FFF2-40B4-BE49-F238E27FC236}">
                <a16:creationId xmlns:a16="http://schemas.microsoft.com/office/drawing/2014/main" id="{ED39F5FF-EC58-6E4E-84CB-97EC3A835CDA}"/>
              </a:ext>
            </a:extLst>
          </p:cNvPr>
          <p:cNvSpPr/>
          <p:nvPr/>
        </p:nvSpPr>
        <p:spPr>
          <a:xfrm>
            <a:off x="4202611" y="3000841"/>
            <a:ext cx="2592890" cy="740781"/>
          </a:xfrm>
          <a:prstGeom prst="wedgeRoundRectCallout">
            <a:avLst>
              <a:gd name="adj1" fmla="val -56681"/>
              <a:gd name="adj2" fmla="val 12445"/>
              <a:gd name="adj3" fmla="val 1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a:solidFill>
                  <a:schemeClr val="bg2"/>
                </a:solidFill>
              </a:rPr>
              <a:t>行動の頻度</a:t>
            </a:r>
            <a:r>
              <a:rPr kumimoji="1" lang="en-US" altLang="ja-JP" dirty="0">
                <a:solidFill>
                  <a:schemeClr val="bg2"/>
                </a:solidFill>
              </a:rPr>
              <a:t>(</a:t>
            </a:r>
            <a:r>
              <a:rPr kumimoji="1" lang="ja-JP" altLang="en-US">
                <a:solidFill>
                  <a:schemeClr val="bg2"/>
                </a:solidFill>
              </a:rPr>
              <a:t>社交性</a:t>
            </a:r>
            <a:r>
              <a:rPr kumimoji="1" lang="en-US" altLang="ja-JP" dirty="0">
                <a:solidFill>
                  <a:schemeClr val="bg2"/>
                </a:solidFill>
              </a:rPr>
              <a:t>)</a:t>
            </a:r>
            <a:br>
              <a:rPr kumimoji="1" lang="en-US" altLang="ja-JP" dirty="0">
                <a:solidFill>
                  <a:schemeClr val="bg2"/>
                </a:solidFill>
              </a:rPr>
            </a:br>
            <a:r>
              <a:rPr kumimoji="1" lang="en-US" altLang="ja-JP" dirty="0">
                <a:solidFill>
                  <a:schemeClr val="bg2"/>
                </a:solidFill>
              </a:rPr>
              <a:t>+Selfish</a:t>
            </a:r>
            <a:r>
              <a:rPr kumimoji="1" lang="ja-JP" altLang="en-US">
                <a:solidFill>
                  <a:schemeClr val="bg2"/>
                </a:solidFill>
              </a:rPr>
              <a:t>の値</a:t>
            </a:r>
            <a:r>
              <a:rPr kumimoji="1" lang="en-US" altLang="ja-JP" dirty="0">
                <a:solidFill>
                  <a:schemeClr val="bg2"/>
                </a:solidFill>
              </a:rPr>
              <a:t>(</a:t>
            </a:r>
            <a:r>
              <a:rPr kumimoji="1" lang="ja-JP" altLang="en-US">
                <a:solidFill>
                  <a:schemeClr val="bg2"/>
                </a:solidFill>
              </a:rPr>
              <a:t>積極性</a:t>
            </a:r>
            <a:r>
              <a:rPr kumimoji="1" lang="en-US" altLang="ja-JP" dirty="0">
                <a:solidFill>
                  <a:schemeClr val="bg2"/>
                </a:solidFill>
              </a:rPr>
              <a:t>)</a:t>
            </a:r>
            <a:endParaRPr kumimoji="1" lang="ja-JP" altLang="en-US">
              <a:solidFill>
                <a:schemeClr val="bg2"/>
              </a:solidFill>
            </a:endParaRPr>
          </a:p>
        </p:txBody>
      </p:sp>
      <p:sp>
        <p:nvSpPr>
          <p:cNvPr id="34" name="角丸四角形吹き出し 33">
            <a:extLst>
              <a:ext uri="{FF2B5EF4-FFF2-40B4-BE49-F238E27FC236}">
                <a16:creationId xmlns:a16="http://schemas.microsoft.com/office/drawing/2014/main" id="{8DE2AEC0-38A1-2148-9CF5-A38F7A433182}"/>
              </a:ext>
            </a:extLst>
          </p:cNvPr>
          <p:cNvSpPr/>
          <p:nvPr/>
        </p:nvSpPr>
        <p:spPr>
          <a:xfrm>
            <a:off x="3980454" y="1997304"/>
            <a:ext cx="3508365" cy="740781"/>
          </a:xfrm>
          <a:prstGeom prst="wedgeRoundRectCallout">
            <a:avLst>
              <a:gd name="adj1" fmla="val -56111"/>
              <a:gd name="adj2" fmla="val 20257"/>
              <a:gd name="adj3" fmla="val 1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a:solidFill>
                  <a:schemeClr val="bg2"/>
                </a:solidFill>
              </a:rPr>
              <a:t>行動</a:t>
            </a:r>
            <a:r>
              <a:rPr kumimoji="1" lang="en-US" altLang="ja-JP" dirty="0">
                <a:solidFill>
                  <a:schemeClr val="bg2"/>
                </a:solidFill>
              </a:rPr>
              <a:t>(</a:t>
            </a:r>
            <a:r>
              <a:rPr kumimoji="1" lang="ja-JP" altLang="en-US">
                <a:solidFill>
                  <a:schemeClr val="bg2"/>
                </a:solidFill>
              </a:rPr>
              <a:t>主に感情</a:t>
            </a:r>
            <a:r>
              <a:rPr kumimoji="1" lang="en-US" altLang="ja-JP" dirty="0">
                <a:solidFill>
                  <a:schemeClr val="bg2"/>
                </a:solidFill>
              </a:rPr>
              <a:t>)</a:t>
            </a:r>
            <a:r>
              <a:rPr kumimoji="1" lang="ja-JP" altLang="en-US">
                <a:solidFill>
                  <a:schemeClr val="bg2"/>
                </a:solidFill>
              </a:rPr>
              <a:t>の分散の逆数</a:t>
            </a:r>
            <a:br>
              <a:rPr kumimoji="1" lang="en-US" altLang="ja-JP" dirty="0">
                <a:solidFill>
                  <a:schemeClr val="bg2"/>
                </a:solidFill>
              </a:rPr>
            </a:br>
            <a:r>
              <a:rPr kumimoji="1" lang="en-US" altLang="ja-JP" dirty="0">
                <a:solidFill>
                  <a:schemeClr val="bg2"/>
                </a:solidFill>
              </a:rPr>
              <a:t>+Selfish</a:t>
            </a:r>
            <a:r>
              <a:rPr kumimoji="1" lang="ja-JP" altLang="en-US">
                <a:solidFill>
                  <a:schemeClr val="bg2"/>
                </a:solidFill>
              </a:rPr>
              <a:t>な</a:t>
            </a:r>
            <a:r>
              <a:rPr kumimoji="1" lang="en-US" altLang="ja-JP" dirty="0">
                <a:solidFill>
                  <a:schemeClr val="bg2"/>
                </a:solidFill>
              </a:rPr>
              <a:t>Offer</a:t>
            </a:r>
            <a:r>
              <a:rPr kumimoji="1" lang="ja-JP" altLang="en-US">
                <a:solidFill>
                  <a:schemeClr val="bg2"/>
                </a:solidFill>
              </a:rPr>
              <a:t>に対する反応</a:t>
            </a:r>
          </a:p>
        </p:txBody>
      </p:sp>
      <p:sp>
        <p:nvSpPr>
          <p:cNvPr id="36" name="角丸四角形吹き出し 35">
            <a:extLst>
              <a:ext uri="{FF2B5EF4-FFF2-40B4-BE49-F238E27FC236}">
                <a16:creationId xmlns:a16="http://schemas.microsoft.com/office/drawing/2014/main" id="{FB75BBCD-2363-EF47-8BA3-B4253D5A03CC}"/>
              </a:ext>
            </a:extLst>
          </p:cNvPr>
          <p:cNvSpPr/>
          <p:nvPr/>
        </p:nvSpPr>
        <p:spPr>
          <a:xfrm>
            <a:off x="3622929" y="3952450"/>
            <a:ext cx="3553376" cy="896345"/>
          </a:xfrm>
          <a:prstGeom prst="wedgeRoundRectCallout">
            <a:avLst>
              <a:gd name="adj1" fmla="val -54851"/>
              <a:gd name="adj2" fmla="val -18354"/>
              <a:gd name="adj3" fmla="val 1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a:solidFill>
                  <a:schemeClr val="bg2"/>
                </a:solidFill>
              </a:rPr>
              <a:t>選好に関して質問してきた回数</a:t>
            </a:r>
            <a:endParaRPr kumimoji="1" lang="en-US" altLang="ja-JP" dirty="0">
              <a:solidFill>
                <a:schemeClr val="bg2"/>
              </a:solidFill>
            </a:endParaRPr>
          </a:p>
          <a:p>
            <a:r>
              <a:rPr kumimoji="1" lang="en-US" altLang="ja-JP" dirty="0">
                <a:solidFill>
                  <a:schemeClr val="bg2"/>
                </a:solidFill>
              </a:rPr>
              <a:t>+ bid</a:t>
            </a:r>
            <a:r>
              <a:rPr kumimoji="1" lang="ja-JP" altLang="en-US">
                <a:solidFill>
                  <a:schemeClr val="bg2"/>
                </a:solidFill>
              </a:rPr>
              <a:t>の動き</a:t>
            </a:r>
          </a:p>
        </p:txBody>
      </p:sp>
    </p:spTree>
    <p:extLst>
      <p:ext uri="{BB962C8B-B14F-4D97-AF65-F5344CB8AC3E}">
        <p14:creationId xmlns:p14="http://schemas.microsoft.com/office/powerpoint/2010/main" val="15990795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lang="ja-JP" altLang="en-US"/>
              <a:t>おわりに</a:t>
            </a:r>
            <a:endParaRPr kumimoji="1" lang="ja-JP" altLang="en-US"/>
          </a:p>
        </p:txBody>
      </p:sp>
      <p:sp>
        <p:nvSpPr>
          <p:cNvPr id="3" name="コンテンツ プレースホルダー 2">
            <a:extLst>
              <a:ext uri="{FF2B5EF4-FFF2-40B4-BE49-F238E27FC236}">
                <a16:creationId xmlns:a16="http://schemas.microsoft.com/office/drawing/2014/main" id="{7CD37B2B-E32E-2D43-8143-0B7A29E79BB5}"/>
              </a:ext>
            </a:extLst>
          </p:cNvPr>
          <p:cNvSpPr>
            <a:spLocks noGrp="1"/>
          </p:cNvSpPr>
          <p:nvPr>
            <p:ph idx="1"/>
          </p:nvPr>
        </p:nvSpPr>
        <p:spPr>
          <a:xfrm>
            <a:off x="194898" y="1884383"/>
            <a:ext cx="8859709" cy="3925924"/>
          </a:xfrm>
        </p:spPr>
        <p:txBody>
          <a:bodyPr/>
          <a:lstStyle/>
          <a:p>
            <a:r>
              <a:rPr lang="ja-JP" altLang="en-US">
                <a:latin typeface="+mn-lt"/>
              </a:rPr>
              <a:t>尺度の計算方法を数式で表せるようにする</a:t>
            </a:r>
            <a:endParaRPr lang="en-US" altLang="ja-JP" dirty="0">
              <a:latin typeface="+mn-lt"/>
            </a:endParaRPr>
          </a:p>
          <a:p>
            <a:r>
              <a:rPr lang="ja-JP" altLang="en-US">
                <a:latin typeface="+mn-lt"/>
              </a:rPr>
              <a:t>各カテゴリごとの戦略を固める</a:t>
            </a:r>
            <a:endParaRPr lang="en-US" altLang="ja-JP" dirty="0">
              <a:latin typeface="+mn-lt"/>
            </a:endParaRPr>
          </a:p>
          <a:p>
            <a:r>
              <a:rPr lang="ja-JP" altLang="en-US" sz="2800">
                <a:latin typeface="+mn-lt"/>
              </a:rPr>
              <a:t>実装</a:t>
            </a:r>
            <a:endParaRPr lang="en-US" altLang="ja-JP" sz="2800" dirty="0">
              <a:latin typeface="+mn-lt"/>
            </a:endParaRPr>
          </a:p>
          <a:p>
            <a:r>
              <a:rPr lang="ja-JP" altLang="en-US">
                <a:latin typeface="+mn-lt"/>
              </a:rPr>
              <a:t>実験</a:t>
            </a:r>
            <a:endParaRPr lang="en-US" altLang="ja-JP" sz="2800" dirty="0">
              <a:latin typeface="+mn-lt"/>
            </a:endParaRPr>
          </a:p>
        </p:txBody>
      </p:sp>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769F341D-8FC9-2D47-8B04-C652CE5AA9E7}" type="datetime1">
              <a:rPr kumimoji="1" lang="ja-JP" altLang="en-US" smtClean="0"/>
              <a:t>2020/5/11</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11</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lang="en-US" altLang="ja-JP" dirty="0"/>
              <a:t>5</a:t>
            </a:r>
            <a:endParaRPr kumimoji="1" lang="ja-JP" altLang="en-US"/>
          </a:p>
        </p:txBody>
      </p:sp>
      <p:grpSp>
        <p:nvGrpSpPr>
          <p:cNvPr id="8" name="グループ化 7">
            <a:extLst>
              <a:ext uri="{FF2B5EF4-FFF2-40B4-BE49-F238E27FC236}">
                <a16:creationId xmlns:a16="http://schemas.microsoft.com/office/drawing/2014/main" id="{D7A3713D-FAC0-E342-8651-5AFC82B96ABB}"/>
              </a:ext>
            </a:extLst>
          </p:cNvPr>
          <p:cNvGrpSpPr/>
          <p:nvPr/>
        </p:nvGrpSpPr>
        <p:grpSpPr>
          <a:xfrm>
            <a:off x="163626" y="1160115"/>
            <a:ext cx="2475402" cy="680876"/>
            <a:chOff x="163626" y="1160115"/>
            <a:chExt cx="2475402" cy="680876"/>
          </a:xfrm>
        </p:grpSpPr>
        <p:cxnSp>
          <p:nvCxnSpPr>
            <p:cNvPr id="9" name="直線コネクタ 8">
              <a:extLst>
                <a:ext uri="{FF2B5EF4-FFF2-40B4-BE49-F238E27FC236}">
                  <a16:creationId xmlns:a16="http://schemas.microsoft.com/office/drawing/2014/main" id="{9B8D37E1-A3CC-F349-8A06-03F1A47DC98E}"/>
                </a:ext>
              </a:extLst>
            </p:cNvPr>
            <p:cNvCxnSpPr>
              <a:cxnSpLocks/>
            </p:cNvCxnSpPr>
            <p:nvPr userDrawn="1"/>
          </p:nvCxnSpPr>
          <p:spPr>
            <a:xfrm>
              <a:off x="163626" y="1699846"/>
              <a:ext cx="2475402"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0" name="正方形/長方形 9">
              <a:extLst>
                <a:ext uri="{FF2B5EF4-FFF2-40B4-BE49-F238E27FC236}">
                  <a16:creationId xmlns:a16="http://schemas.microsoft.com/office/drawing/2014/main" id="{7B467E56-B089-BC47-93BE-36402235BE39}"/>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1" name="テキスト プレースホルダー 12">
            <a:extLst>
              <a:ext uri="{FF2B5EF4-FFF2-40B4-BE49-F238E27FC236}">
                <a16:creationId xmlns:a16="http://schemas.microsoft.com/office/drawing/2014/main" id="{C26BD3FD-2531-E441-91BF-422CDA68CE77}"/>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今後の方針</a:t>
            </a:r>
          </a:p>
        </p:txBody>
      </p:sp>
      <p:pic>
        <p:nvPicPr>
          <p:cNvPr id="12" name="図 11">
            <a:extLst>
              <a:ext uri="{FF2B5EF4-FFF2-40B4-BE49-F238E27FC236}">
                <a16:creationId xmlns:a16="http://schemas.microsoft.com/office/drawing/2014/main" id="{78C30B2B-38EA-2D45-9A50-0D41B1728885}"/>
              </a:ext>
            </a:extLst>
          </p:cNvPr>
          <p:cNvPicPr>
            <a:picLocks noChangeAspect="1"/>
          </p:cNvPicPr>
          <p:nvPr/>
        </p:nvPicPr>
        <p:blipFill rotWithShape="1">
          <a:blip r:embed="rId4"/>
          <a:srcRect b="10998"/>
          <a:stretch/>
        </p:blipFill>
        <p:spPr>
          <a:xfrm>
            <a:off x="1988940" y="3325727"/>
            <a:ext cx="5161550" cy="3270011"/>
          </a:xfrm>
          <a:prstGeom prst="rect">
            <a:avLst/>
          </a:prstGeom>
        </p:spPr>
      </p:pic>
    </p:spTree>
    <p:extLst>
      <p:ext uri="{BB962C8B-B14F-4D97-AF65-F5344CB8AC3E}">
        <p14:creationId xmlns:p14="http://schemas.microsoft.com/office/powerpoint/2010/main" val="37645023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53BB963-1B76-4E44-9F6F-44B6F068ACC2}"/>
              </a:ext>
            </a:extLst>
          </p:cNvPr>
          <p:cNvSpPr>
            <a:spLocks noGrp="1"/>
          </p:cNvSpPr>
          <p:nvPr>
            <p:ph type="title"/>
          </p:nvPr>
        </p:nvSpPr>
        <p:spPr/>
        <p:txBody>
          <a:bodyPr/>
          <a:lstStyle/>
          <a:p>
            <a:endParaRPr kumimoji="1" lang="ja-JP" altLang="en-US"/>
          </a:p>
        </p:txBody>
      </p:sp>
      <p:sp>
        <p:nvSpPr>
          <p:cNvPr id="3" name="日付プレースホルダー 2">
            <a:extLst>
              <a:ext uri="{FF2B5EF4-FFF2-40B4-BE49-F238E27FC236}">
                <a16:creationId xmlns:a16="http://schemas.microsoft.com/office/drawing/2014/main" id="{B7F9CA9F-EF66-F648-A38A-F9C42ADC3D4C}"/>
              </a:ext>
            </a:extLst>
          </p:cNvPr>
          <p:cNvSpPr>
            <a:spLocks noGrp="1"/>
          </p:cNvSpPr>
          <p:nvPr>
            <p:ph type="dt" sz="half" idx="10"/>
          </p:nvPr>
        </p:nvSpPr>
        <p:spPr/>
        <p:txBody>
          <a:bodyPr/>
          <a:lstStyle/>
          <a:p>
            <a:fld id="{4341EA7C-D461-6041-8E0E-F656A44343A5}" type="datetime1">
              <a:rPr kumimoji="1" lang="ja-JP" altLang="en-US" smtClean="0"/>
              <a:t>2020/5/11</a:t>
            </a:fld>
            <a:endParaRPr kumimoji="1" lang="ja-JP" altLang="en-US"/>
          </a:p>
        </p:txBody>
      </p:sp>
      <p:sp>
        <p:nvSpPr>
          <p:cNvPr id="4" name="フッター プレースホルダー 3">
            <a:extLst>
              <a:ext uri="{FF2B5EF4-FFF2-40B4-BE49-F238E27FC236}">
                <a16:creationId xmlns:a16="http://schemas.microsoft.com/office/drawing/2014/main" id="{D50E35C6-CDAF-164F-A217-3A80030B0AC0}"/>
              </a:ext>
            </a:extLst>
          </p:cNvPr>
          <p:cNvSpPr>
            <a:spLocks noGrp="1"/>
          </p:cNvSpPr>
          <p:nvPr>
            <p:ph type="ftr" sz="quarter" idx="11"/>
          </p:nvPr>
        </p:nvSpPr>
        <p:spPr/>
        <p:txBody>
          <a:bodyPr/>
          <a:lstStyle/>
          <a:p>
            <a:r>
              <a:rPr kumimoji="1" lang="ja-JP" altLang="en-US"/>
              <a:t>進捗報告</a:t>
            </a:r>
          </a:p>
        </p:txBody>
      </p:sp>
      <p:sp>
        <p:nvSpPr>
          <p:cNvPr id="5" name="スライド番号プレースホルダー 4">
            <a:extLst>
              <a:ext uri="{FF2B5EF4-FFF2-40B4-BE49-F238E27FC236}">
                <a16:creationId xmlns:a16="http://schemas.microsoft.com/office/drawing/2014/main" id="{EDC7A173-3A23-3240-A54F-0FBA70C820A4}"/>
              </a:ext>
            </a:extLst>
          </p:cNvPr>
          <p:cNvSpPr>
            <a:spLocks noGrp="1"/>
          </p:cNvSpPr>
          <p:nvPr>
            <p:ph type="sldNum" sz="quarter" idx="12"/>
          </p:nvPr>
        </p:nvSpPr>
        <p:spPr/>
        <p:txBody>
          <a:bodyPr/>
          <a:lstStyle/>
          <a:p>
            <a:fld id="{2981C279-7323-A845-8A27-BB5908B2F04D}" type="slidenum">
              <a:rPr kumimoji="1" lang="ja-JP" altLang="en-US" smtClean="0"/>
              <a:t>12</a:t>
            </a:fld>
            <a:endParaRPr kumimoji="1" lang="ja-JP" altLang="en-US"/>
          </a:p>
        </p:txBody>
      </p:sp>
      <p:grpSp>
        <p:nvGrpSpPr>
          <p:cNvPr id="6" name="グループ化 5">
            <a:extLst>
              <a:ext uri="{FF2B5EF4-FFF2-40B4-BE49-F238E27FC236}">
                <a16:creationId xmlns:a16="http://schemas.microsoft.com/office/drawing/2014/main" id="{90D18F01-2BBF-C84B-8485-C7E7243E88D8}"/>
              </a:ext>
            </a:extLst>
          </p:cNvPr>
          <p:cNvGrpSpPr/>
          <p:nvPr/>
        </p:nvGrpSpPr>
        <p:grpSpPr>
          <a:xfrm>
            <a:off x="163626" y="1160115"/>
            <a:ext cx="4103574" cy="680876"/>
            <a:chOff x="163626" y="1160115"/>
            <a:chExt cx="4103574" cy="680876"/>
          </a:xfrm>
        </p:grpSpPr>
        <p:cxnSp>
          <p:nvCxnSpPr>
            <p:cNvPr id="7" name="直線コネクタ 6">
              <a:extLst>
                <a:ext uri="{FF2B5EF4-FFF2-40B4-BE49-F238E27FC236}">
                  <a16:creationId xmlns:a16="http://schemas.microsoft.com/office/drawing/2014/main" id="{E7C6A173-0964-134D-947E-15DC34060103}"/>
                </a:ext>
              </a:extLst>
            </p:cNvPr>
            <p:cNvCxnSpPr/>
            <p:nvPr userDrawn="1"/>
          </p:nvCxnSpPr>
          <p:spPr>
            <a:xfrm>
              <a:off x="163626" y="1699846"/>
              <a:ext cx="4103574"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8" name="正方形/長方形 7">
              <a:extLst>
                <a:ext uri="{FF2B5EF4-FFF2-40B4-BE49-F238E27FC236}">
                  <a16:creationId xmlns:a16="http://schemas.microsoft.com/office/drawing/2014/main" id="{FB915536-105B-5D47-8AEA-1D668ACAEC65}"/>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9" name="テキスト プレースホルダー 12">
            <a:extLst>
              <a:ext uri="{FF2B5EF4-FFF2-40B4-BE49-F238E27FC236}">
                <a16:creationId xmlns:a16="http://schemas.microsoft.com/office/drawing/2014/main" id="{B9E78AD1-3EAD-ED4C-A870-F775161359ED}"/>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テキスト</a:t>
            </a:r>
          </a:p>
        </p:txBody>
      </p:sp>
    </p:spTree>
    <p:extLst>
      <p:ext uri="{BB962C8B-B14F-4D97-AF65-F5344CB8AC3E}">
        <p14:creationId xmlns:p14="http://schemas.microsoft.com/office/powerpoint/2010/main" val="2314095881"/>
      </p:ext>
    </p:extLst>
  </p:cSld>
  <p:clrMapOvr>
    <a:masterClrMapping/>
  </p:clrMapOvr>
</p:sld>
</file>

<file path=ppt/theme/theme1.xml><?xml version="1.0" encoding="utf-8"?>
<a:theme xmlns:a="http://schemas.openxmlformats.org/drawingml/2006/main" name="Office テーマ">
  <a:themeElements>
    <a:clrScheme name="ユーザー定義 1">
      <a:dk1>
        <a:srgbClr val="1D1D1D"/>
      </a:dk1>
      <a:lt1>
        <a:srgbClr val="E4E4E4"/>
      </a:lt1>
      <a:dk2>
        <a:srgbClr val="44546A"/>
      </a:dk2>
      <a:lt2>
        <a:srgbClr val="E7E6E6"/>
      </a:lt2>
      <a:accent1>
        <a:srgbClr val="3090C4"/>
      </a:accent1>
      <a:accent2>
        <a:srgbClr val="D68126"/>
      </a:accent2>
      <a:accent3>
        <a:srgbClr val="42A544"/>
      </a:accent3>
      <a:accent4>
        <a:srgbClr val="FFC000"/>
      </a:accent4>
      <a:accent5>
        <a:srgbClr val="5B9BD5"/>
      </a:accent5>
      <a:accent6>
        <a:srgbClr val="70AD47"/>
      </a:accent6>
      <a:hlink>
        <a:srgbClr val="0563C1"/>
      </a:hlink>
      <a:folHlink>
        <a:srgbClr val="954F72"/>
      </a:folHlink>
    </a:clrScheme>
    <a:fontScheme name="ヒラギノ角ゴシック Pro W3">
      <a:majorFont>
        <a:latin typeface="Hiragino Kaku Gothic ProN W3"/>
        <a:ea typeface="Hiragino Kaku Gothic ProN W3"/>
        <a:cs typeface=""/>
      </a:majorFont>
      <a:minorFont>
        <a:latin typeface="Hiragino Kaku Gothic ProN W3"/>
        <a:ea typeface="Hiragino Kaku Gothic ProN W3"/>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プレゼンテーション2" id="{9EB16A4D-D7F9-2340-A8EA-104836EA809B}" vid="{4F111AF7-2BB2-9640-B3FE-4B3A89EAF971}"/>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テーマ</Template>
  <TotalTime>687</TotalTime>
  <Words>659</Words>
  <Application>Microsoft Macintosh PowerPoint</Application>
  <PresentationFormat>画面に合わせる (4:3)</PresentationFormat>
  <Paragraphs>172</Paragraphs>
  <Slides>12</Slides>
  <Notes>0</Notes>
  <HiddenSlides>1</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12</vt:i4>
      </vt:variant>
    </vt:vector>
  </HeadingPairs>
  <TitlesOfParts>
    <vt:vector size="19" baseType="lpstr">
      <vt:lpstr>Hiragino Kaku Gothic Pro W3</vt:lpstr>
      <vt:lpstr>Hiragino Kaku Gothic ProN W3</vt:lpstr>
      <vt:lpstr>Hiragino Sans W4</vt:lpstr>
      <vt:lpstr>游ゴシック</vt:lpstr>
      <vt:lpstr>Arial</vt:lpstr>
      <vt:lpstr>Cambria Math</vt:lpstr>
      <vt:lpstr>Office テーマ</vt:lpstr>
      <vt:lpstr>進捗報告</vt:lpstr>
      <vt:lpstr>問題設定について</vt:lpstr>
      <vt:lpstr>カテゴリ推定について</vt:lpstr>
      <vt:lpstr>カテゴリ推定について</vt:lpstr>
      <vt:lpstr>カテゴリ推定について</vt:lpstr>
      <vt:lpstr>カテゴリ推定について</vt:lpstr>
      <vt:lpstr>TKIについて</vt:lpstr>
      <vt:lpstr>TKIについて</vt:lpstr>
      <vt:lpstr>BIG5について</vt:lpstr>
      <vt:lpstr>BIG5について</vt:lpstr>
      <vt:lpstr>おわりに</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進捗報告</dc:title>
  <dc:creator>昌悟 松下</dc:creator>
  <cp:lastModifiedBy>昌悟 松下</cp:lastModifiedBy>
  <cp:revision>37</cp:revision>
  <dcterms:created xsi:type="dcterms:W3CDTF">2020-04-19T09:33:40Z</dcterms:created>
  <dcterms:modified xsi:type="dcterms:W3CDTF">2020-05-11T06:47:16Z</dcterms:modified>
</cp:coreProperties>
</file>