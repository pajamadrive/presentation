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5"/>
  </p:notesMasterIdLst>
  <p:sldIdLst>
    <p:sldId id="256" r:id="rId2"/>
    <p:sldId id="258" r:id="rId3"/>
    <p:sldId id="485" r:id="rId4"/>
    <p:sldId id="266" r:id="rId5"/>
    <p:sldId id="259" r:id="rId6"/>
    <p:sldId id="490" r:id="rId7"/>
    <p:sldId id="261" r:id="rId8"/>
    <p:sldId id="486" r:id="rId9"/>
    <p:sldId id="496" r:id="rId10"/>
    <p:sldId id="492" r:id="rId11"/>
    <p:sldId id="466" r:id="rId12"/>
    <p:sldId id="267" r:id="rId13"/>
    <p:sldId id="494" r:id="rId14"/>
    <p:sldId id="495" r:id="rId15"/>
    <p:sldId id="265" r:id="rId16"/>
    <p:sldId id="483" r:id="rId17"/>
    <p:sldId id="471" r:id="rId18"/>
    <p:sldId id="491" r:id="rId19"/>
    <p:sldId id="473" r:id="rId20"/>
    <p:sldId id="264" r:id="rId21"/>
    <p:sldId id="482" r:id="rId22"/>
    <p:sldId id="484" r:id="rId23"/>
    <p:sldId id="477" r:id="rId24"/>
    <p:sldId id="478" r:id="rId25"/>
    <p:sldId id="479" r:id="rId26"/>
    <p:sldId id="480" r:id="rId27"/>
    <p:sldId id="481" r:id="rId28"/>
    <p:sldId id="260" r:id="rId29"/>
    <p:sldId id="262" r:id="rId30"/>
    <p:sldId id="263" r:id="rId31"/>
    <p:sldId id="463" r:id="rId32"/>
    <p:sldId id="469" r:id="rId33"/>
    <p:sldId id="257"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08A45A3A-9CCC-3B40-AE9C-C264ABA1467E}">
          <p14:sldIdLst>
            <p14:sldId id="256"/>
            <p14:sldId id="258"/>
            <p14:sldId id="485"/>
            <p14:sldId id="266"/>
            <p14:sldId id="259"/>
            <p14:sldId id="490"/>
            <p14:sldId id="261"/>
            <p14:sldId id="486"/>
            <p14:sldId id="496"/>
            <p14:sldId id="492"/>
            <p14:sldId id="466"/>
            <p14:sldId id="267"/>
            <p14:sldId id="494"/>
            <p14:sldId id="495"/>
            <p14:sldId id="265"/>
            <p14:sldId id="483"/>
            <p14:sldId id="471"/>
            <p14:sldId id="491"/>
          </p14:sldIdLst>
        </p14:section>
        <p14:section name="補足資料" id="{641AACD0-9225-4541-8B4F-30DD8FB67FA4}">
          <p14:sldIdLst>
            <p14:sldId id="473"/>
            <p14:sldId id="264"/>
            <p14:sldId id="482"/>
            <p14:sldId id="484"/>
            <p14:sldId id="477"/>
            <p14:sldId id="478"/>
            <p14:sldId id="479"/>
            <p14:sldId id="480"/>
          </p14:sldIdLst>
        </p14:section>
        <p14:section name="使用しない" id="{92D079CA-AE74-C94D-BFA2-0D9EA55BFFFE}">
          <p14:sldIdLst>
            <p14:sldId id="481"/>
            <p14:sldId id="260"/>
            <p14:sldId id="262"/>
            <p14:sldId id="263"/>
            <p14:sldId id="463"/>
            <p14:sldId id="469"/>
            <p14:sldId id="257"/>
          </p14:sldIdLst>
        </p14:section>
      </p14:sectionLst>
    </p:ext>
    <p:ext uri="{EFAFB233-063F-42B5-8137-9DF3F51BA10A}">
      <p15:sldGuideLst xmlns:p15="http://schemas.microsoft.com/office/powerpoint/2012/main">
        <p15:guide id="1" orient="horz" pos="2591" userDrawn="1">
          <p15:clr>
            <a:srgbClr val="A4A3A4"/>
          </p15:clr>
        </p15:guide>
        <p15:guide id="2" pos="36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00"/>
    <p:restoredTop sz="95921"/>
  </p:normalViewPr>
  <p:slideViewPr>
    <p:cSldViewPr snapToGrid="0" snapToObjects="1" showGuides="1">
      <p:cViewPr varScale="1">
        <p:scale>
          <a:sx n="123" d="100"/>
          <a:sy n="123" d="100"/>
        </p:scale>
        <p:origin x="1680" y="184"/>
      </p:cViewPr>
      <p:guideLst>
        <p:guide orient="horz" pos="2591"/>
        <p:guide pos="3606"/>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892C88-03E9-2E4E-8D6B-1D909188220F}" type="datetimeFigureOut">
              <a:rPr kumimoji="1" lang="ja-JP" altLang="en-US" smtClean="0"/>
              <a:t>2020/9/18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AB6F6-0A24-DC48-9468-56768AF90393}" type="slidenum">
              <a:rPr kumimoji="1" lang="ja-JP" altLang="en-US" smtClean="0"/>
              <a:t>‹#›</a:t>
            </a:fld>
            <a:endParaRPr kumimoji="1" lang="ja-JP" altLang="en-US"/>
          </a:p>
        </p:txBody>
      </p:sp>
    </p:spTree>
    <p:extLst>
      <p:ext uri="{BB962C8B-B14F-4D97-AF65-F5344CB8AC3E}">
        <p14:creationId xmlns:p14="http://schemas.microsoft.com/office/powerpoint/2010/main" val="92221077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0" name="六角形 9">
            <a:extLst>
              <a:ext uri="{FF2B5EF4-FFF2-40B4-BE49-F238E27FC236}">
                <a16:creationId xmlns:a16="http://schemas.microsoft.com/office/drawing/2014/main" id="{F03EBBED-295A-694F-81AE-6BC3674F518B}"/>
              </a:ext>
            </a:extLst>
          </p:cNvPr>
          <p:cNvSpPr/>
          <p:nvPr userDrawn="1"/>
        </p:nvSpPr>
        <p:spPr>
          <a:xfrm>
            <a:off x="180000" y="1415829"/>
            <a:ext cx="8784000" cy="4056157"/>
          </a:xfrm>
          <a:prstGeom prst="hexagon">
            <a:avLst>
              <a:gd name="adj" fmla="val 24578"/>
              <a:gd name="vf" fmla="val 115470"/>
            </a:avLst>
          </a:prstGeom>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685800" y="1846770"/>
            <a:ext cx="7772400" cy="1630763"/>
          </a:xfrm>
        </p:spPr>
        <p:txBody>
          <a:bodyPr anchor="b">
            <a:normAutofit/>
          </a:bodyPr>
          <a:lstStyle>
            <a:lvl1pPr algn="ctr">
              <a:defRPr sz="44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333302"/>
            <a:ext cx="6858000" cy="934635"/>
          </a:xfrm>
        </p:spPr>
        <p:txBody>
          <a:bodyPr>
            <a:norm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8E0E38E-1787-BC4B-91B2-9256641D958F}"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
        <p:nvSpPr>
          <p:cNvPr id="11" name="角丸四角形 10">
            <a:extLst>
              <a:ext uri="{FF2B5EF4-FFF2-40B4-BE49-F238E27FC236}">
                <a16:creationId xmlns:a16="http://schemas.microsoft.com/office/drawing/2014/main" id="{5B3EC4BF-217A-BA4B-BEFC-E73065BA88ED}"/>
              </a:ext>
            </a:extLst>
          </p:cNvPr>
          <p:cNvSpPr/>
          <p:nvPr userDrawn="1"/>
        </p:nvSpPr>
        <p:spPr>
          <a:xfrm>
            <a:off x="702000" y="3876899"/>
            <a:ext cx="7740000" cy="68036"/>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31657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D52F8B2-B8E6-2C47-BAFB-93E378C019E5}"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769407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サブタイトル貼り付け用">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051" y="1698509"/>
            <a:ext cx="7887600" cy="4351338"/>
          </a:xfrm>
        </p:spPr>
        <p:txBody>
          <a:bodyPr/>
          <a:lstStyle>
            <a:lvl1pPr marL="311150" indent="-311150">
              <a:buSzPct val="90000"/>
              <a:buFontTx/>
              <a:buBlip>
                <a:blip r:embed="rId2"/>
              </a:buBlip>
              <a:tabLst/>
              <a:defRPr/>
            </a:lvl1pPr>
            <a:lvl2pPr marL="685800" indent="-228600">
              <a:buFontTx/>
              <a:buBlip>
                <a:blip r:embed="rId3"/>
              </a:buBlip>
              <a:defRPr/>
            </a:lvl2pPr>
            <a:lvl3pPr marL="1143000" indent="-228600">
              <a:buFontTx/>
              <a:buBlip>
                <a:blip r:embed="rId4"/>
              </a:buBlip>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8" name="テキスト プレースホルダー 7">
            <a:extLst>
              <a:ext uri="{FF2B5EF4-FFF2-40B4-BE49-F238E27FC236}">
                <a16:creationId xmlns:a16="http://schemas.microsoft.com/office/drawing/2014/main" id="{E3EA9756-F2A7-6D41-83A5-E45263070978}"/>
              </a:ext>
            </a:extLst>
          </p:cNvPr>
          <p:cNvSpPr>
            <a:spLocks noGrp="1"/>
          </p:cNvSpPr>
          <p:nvPr>
            <p:ph type="body" sz="quarter" idx="13" hasCustomPrompt="1"/>
          </p:nvPr>
        </p:nvSpPr>
        <p:spPr>
          <a:xfrm>
            <a:off x="1048076" y="-48640"/>
            <a:ext cx="8286750" cy="626206"/>
          </a:xfrm>
        </p:spPr>
        <p:txBody>
          <a:bodyPr>
            <a:noAutofit/>
          </a:bodyPr>
          <a:lstStyle>
            <a:lvl1pPr marL="0" indent="0">
              <a:buNone/>
              <a:defRPr sz="4400"/>
            </a:lvl1pPr>
          </a:lstStyle>
          <a:p>
            <a:pPr lvl="0"/>
            <a:r>
              <a:rPr kumimoji="1" lang="ja-JP" altLang="en-US"/>
              <a:t>スライドタイトル</a:t>
            </a:r>
          </a:p>
        </p:txBody>
      </p:sp>
      <p:sp>
        <p:nvSpPr>
          <p:cNvPr id="9" name="六角形 8">
            <a:extLst>
              <a:ext uri="{FF2B5EF4-FFF2-40B4-BE49-F238E27FC236}">
                <a16:creationId xmlns:a16="http://schemas.microsoft.com/office/drawing/2014/main" id="{1084F4EC-5866-534A-A295-F0ADB0D3B4D4}"/>
              </a:ext>
            </a:extLst>
          </p:cNvPr>
          <p:cNvSpPr/>
          <p:nvPr userDrawn="1"/>
        </p:nvSpPr>
        <p:spPr>
          <a:xfrm>
            <a:off x="-394804" y="-276496"/>
            <a:ext cx="1404000" cy="1154868"/>
          </a:xfrm>
          <a:prstGeom prst="hexagon">
            <a:avLst>
              <a:gd name="adj" fmla="val 27929"/>
              <a:gd name="vf" fmla="val 115470"/>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プレースホルダー 12">
            <a:extLst>
              <a:ext uri="{FF2B5EF4-FFF2-40B4-BE49-F238E27FC236}">
                <a16:creationId xmlns:a16="http://schemas.microsoft.com/office/drawing/2014/main" id="{6B6A138F-3992-0343-B542-FA56CD1854AF}"/>
              </a:ext>
            </a:extLst>
          </p:cNvPr>
          <p:cNvSpPr>
            <a:spLocks noGrp="1"/>
          </p:cNvSpPr>
          <p:nvPr>
            <p:ph type="body" sz="quarter" idx="14" hasCustomPrompt="1"/>
          </p:nvPr>
        </p:nvSpPr>
        <p:spPr>
          <a:xfrm>
            <a:off x="-338760" y="21618"/>
            <a:ext cx="1418432" cy="971375"/>
          </a:xfrm>
        </p:spPr>
        <p:txBody>
          <a:bodyPr>
            <a:normAutofit/>
          </a:bodyPr>
          <a:lstStyle>
            <a:lvl1pPr marL="0" indent="0" algn="ctr">
              <a:buNone/>
              <a:defRPr sz="7200">
                <a:solidFill>
                  <a:schemeClr val="bg1"/>
                </a:solidFill>
              </a:defRPr>
            </a:lvl1pPr>
          </a:lstStyle>
          <a:p>
            <a:pPr lvl="0"/>
            <a:r>
              <a:rPr kumimoji="1" lang="en-US" altLang="ja-JP" dirty="0"/>
              <a:t>No</a:t>
            </a:r>
            <a:endParaRPr kumimoji="1" lang="ja-JP" altLang="en-US"/>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1289437430"/>
      </p:ext>
    </p:extLst>
  </p:cSld>
  <p:clrMapOvr>
    <a:masterClrMapping/>
  </p:clrMapOvr>
  <p:extLst>
    <p:ext uri="{DCECCB84-F9BA-43D5-87BE-67443E8EF086}">
      <p15:sldGuideLst xmlns:p15="http://schemas.microsoft.com/office/powerpoint/2012/main">
        <p15:guide id="1" orient="horz" pos="640" userDrawn="1">
          <p15:clr>
            <a:srgbClr val="FBAE40"/>
          </p15:clr>
        </p15:guide>
        <p15:guide id="2" pos="363" userDrawn="1">
          <p15:clr>
            <a:srgbClr val="FBAE40"/>
          </p15:clr>
        </p15:guide>
        <p15:guide id="3" orient="horz" pos="1026" userDrawn="1">
          <p15:clr>
            <a:srgbClr val="FBAE40"/>
          </p15:clr>
        </p15:guide>
        <p15:guide id="4" pos="22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あり_サブタイトルなし">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051" y="1025178"/>
            <a:ext cx="7887600" cy="4351338"/>
          </a:xfrm>
        </p:spPr>
        <p:txBody>
          <a:bodyPr/>
          <a:lstStyle>
            <a:lvl1pPr marL="311150" indent="-311150">
              <a:buSzPct val="90000"/>
              <a:buFontTx/>
              <a:buBlip>
                <a:blip r:embed="rId2"/>
              </a:buBlip>
              <a:tabLst/>
              <a:defRPr/>
            </a:lvl1pPr>
            <a:lvl2pPr marL="685800" indent="-228600">
              <a:buFontTx/>
              <a:buBlip>
                <a:blip r:embed="rId3"/>
              </a:buBlip>
              <a:defRPr/>
            </a:lvl2pPr>
            <a:lvl3pPr marL="1143000" indent="-228600">
              <a:buFontTx/>
              <a:buBlip>
                <a:blip r:embed="rId4"/>
              </a:buBlip>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1BF386A-4BF3-3E41-B657-D59D7E5F918D}"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8" name="テキスト プレースホルダー 7">
            <a:extLst>
              <a:ext uri="{FF2B5EF4-FFF2-40B4-BE49-F238E27FC236}">
                <a16:creationId xmlns:a16="http://schemas.microsoft.com/office/drawing/2014/main" id="{E3EA9756-F2A7-6D41-83A5-E45263070978}"/>
              </a:ext>
            </a:extLst>
          </p:cNvPr>
          <p:cNvSpPr>
            <a:spLocks noGrp="1"/>
          </p:cNvSpPr>
          <p:nvPr>
            <p:ph type="body" sz="quarter" idx="13" hasCustomPrompt="1"/>
          </p:nvPr>
        </p:nvSpPr>
        <p:spPr>
          <a:xfrm>
            <a:off x="1048076" y="-48640"/>
            <a:ext cx="8286750" cy="626206"/>
          </a:xfrm>
        </p:spPr>
        <p:txBody>
          <a:bodyPr>
            <a:noAutofit/>
          </a:bodyPr>
          <a:lstStyle>
            <a:lvl1pPr marL="0" indent="0">
              <a:buNone/>
              <a:defRPr sz="4400"/>
            </a:lvl1pPr>
          </a:lstStyle>
          <a:p>
            <a:pPr lvl="0"/>
            <a:r>
              <a:rPr kumimoji="1" lang="ja-JP" altLang="en-US"/>
              <a:t>スライドタイトル</a:t>
            </a:r>
          </a:p>
        </p:txBody>
      </p:sp>
      <p:sp>
        <p:nvSpPr>
          <p:cNvPr id="9" name="六角形 8">
            <a:extLst>
              <a:ext uri="{FF2B5EF4-FFF2-40B4-BE49-F238E27FC236}">
                <a16:creationId xmlns:a16="http://schemas.microsoft.com/office/drawing/2014/main" id="{1084F4EC-5866-534A-A295-F0ADB0D3B4D4}"/>
              </a:ext>
            </a:extLst>
          </p:cNvPr>
          <p:cNvSpPr/>
          <p:nvPr userDrawn="1"/>
        </p:nvSpPr>
        <p:spPr>
          <a:xfrm>
            <a:off x="-394804" y="-276496"/>
            <a:ext cx="1404000" cy="1154868"/>
          </a:xfrm>
          <a:prstGeom prst="hexagon">
            <a:avLst>
              <a:gd name="adj" fmla="val 27929"/>
              <a:gd name="vf" fmla="val 115470"/>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プレースホルダー 12">
            <a:extLst>
              <a:ext uri="{FF2B5EF4-FFF2-40B4-BE49-F238E27FC236}">
                <a16:creationId xmlns:a16="http://schemas.microsoft.com/office/drawing/2014/main" id="{6B6A138F-3992-0343-B542-FA56CD1854AF}"/>
              </a:ext>
            </a:extLst>
          </p:cNvPr>
          <p:cNvSpPr>
            <a:spLocks noGrp="1"/>
          </p:cNvSpPr>
          <p:nvPr>
            <p:ph type="body" sz="quarter" idx="14" hasCustomPrompt="1"/>
          </p:nvPr>
        </p:nvSpPr>
        <p:spPr>
          <a:xfrm>
            <a:off x="-338760" y="21618"/>
            <a:ext cx="1418432" cy="971375"/>
          </a:xfrm>
        </p:spPr>
        <p:txBody>
          <a:bodyPr>
            <a:normAutofit/>
          </a:bodyPr>
          <a:lstStyle>
            <a:lvl1pPr marL="0" indent="0" algn="ctr">
              <a:buNone/>
              <a:defRPr sz="7200">
                <a:solidFill>
                  <a:schemeClr val="bg1"/>
                </a:solidFill>
              </a:defRPr>
            </a:lvl1pPr>
          </a:lstStyle>
          <a:p>
            <a:pPr lvl="0"/>
            <a:r>
              <a:rPr kumimoji="1" lang="en-US" altLang="ja-JP" dirty="0"/>
              <a:t>No</a:t>
            </a:r>
            <a:endParaRPr kumimoji="1" lang="ja-JP" altLang="en-US"/>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1165794678"/>
      </p:ext>
    </p:extLst>
  </p:cSld>
  <p:clrMapOvr>
    <a:masterClrMapping/>
  </p:clrMapOvr>
  <p:extLst>
    <p:ext uri="{DCECCB84-F9BA-43D5-87BE-67443E8EF086}">
      <p15:sldGuideLst xmlns:p15="http://schemas.microsoft.com/office/powerpoint/2012/main">
        <p15:guide id="1" orient="horz" pos="640">
          <p15:clr>
            <a:srgbClr val="FBAE40"/>
          </p15:clr>
        </p15:guide>
        <p15:guide id="2" pos="363">
          <p15:clr>
            <a:srgbClr val="FBAE40"/>
          </p15:clr>
        </p15:guide>
        <p15:guide id="3" orient="horz" pos="1026">
          <p15:clr>
            <a:srgbClr val="FBAE40"/>
          </p15:clr>
        </p15:guide>
        <p15:guide id="4" pos="22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なし_サブタイトル貼り付け用">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051" y="1698509"/>
            <a:ext cx="7887600" cy="4351338"/>
          </a:xfrm>
        </p:spPr>
        <p:txBody>
          <a:bodyPr/>
          <a:lstStyle>
            <a:lvl1pPr marL="311150" indent="-311150">
              <a:buSzPct val="90000"/>
              <a:buFontTx/>
              <a:buBlip>
                <a:blip r:embed="rId2"/>
              </a:buBlip>
              <a:tabLst/>
              <a:defRPr/>
            </a:lvl1pPr>
            <a:lvl2pPr marL="685800" indent="-228600">
              <a:buFontTx/>
              <a:buBlip>
                <a:blip r:embed="rId3"/>
              </a:buBlip>
              <a:defRPr/>
            </a:lvl2pPr>
            <a:lvl3pPr marL="1143000" indent="-228600">
              <a:buFontTx/>
              <a:buBlip>
                <a:blip r:embed="rId4"/>
              </a:buBlip>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E8FA220-0E38-5D46-A168-88AC67CD4204}"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
        <p:nvSpPr>
          <p:cNvPr id="10" name="テキスト プレースホルダー 7">
            <a:extLst>
              <a:ext uri="{FF2B5EF4-FFF2-40B4-BE49-F238E27FC236}">
                <a16:creationId xmlns:a16="http://schemas.microsoft.com/office/drawing/2014/main" id="{CA6FCBE7-5654-864B-B845-66869BD16F64}"/>
              </a:ext>
            </a:extLst>
          </p:cNvPr>
          <p:cNvSpPr>
            <a:spLocks noGrp="1"/>
          </p:cNvSpPr>
          <p:nvPr>
            <p:ph type="body" sz="quarter" idx="13" hasCustomPrompt="1"/>
          </p:nvPr>
        </p:nvSpPr>
        <p:spPr>
          <a:xfrm>
            <a:off x="366434" y="-48640"/>
            <a:ext cx="8286750" cy="626206"/>
          </a:xfrm>
        </p:spPr>
        <p:txBody>
          <a:bodyPr>
            <a:noAutofit/>
          </a:bodyPr>
          <a:lstStyle>
            <a:lvl1pPr marL="0" indent="0">
              <a:buNone/>
              <a:defRPr sz="4400"/>
            </a:lvl1pPr>
          </a:lstStyle>
          <a:p>
            <a:pPr lvl="0"/>
            <a:r>
              <a:rPr kumimoji="1" lang="ja-JP" altLang="en-US"/>
              <a:t>スライドタイトル</a:t>
            </a:r>
          </a:p>
        </p:txBody>
      </p:sp>
    </p:spTree>
    <p:extLst>
      <p:ext uri="{BB962C8B-B14F-4D97-AF65-F5344CB8AC3E}">
        <p14:creationId xmlns:p14="http://schemas.microsoft.com/office/powerpoint/2010/main" val="240780984"/>
      </p:ext>
    </p:extLst>
  </p:cSld>
  <p:clrMapOvr>
    <a:masterClrMapping/>
  </p:clrMapOvr>
  <p:extLst>
    <p:ext uri="{DCECCB84-F9BA-43D5-87BE-67443E8EF086}">
      <p15:sldGuideLst xmlns:p15="http://schemas.microsoft.com/office/powerpoint/2012/main">
        <p15:guide id="1" orient="horz" pos="640">
          <p15:clr>
            <a:srgbClr val="FBAE40"/>
          </p15:clr>
        </p15:guide>
        <p15:guide id="2" pos="363">
          <p15:clr>
            <a:srgbClr val="FBAE40"/>
          </p15:clr>
        </p15:guide>
        <p15:guide id="3" orient="horz" pos="1026">
          <p15:clr>
            <a:srgbClr val="FBAE40"/>
          </p15:clr>
        </p15:guide>
        <p15:guide id="4" pos="22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番号なし_サブタイトルなし">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051" y="1025178"/>
            <a:ext cx="7887600" cy="4351338"/>
          </a:xfrm>
        </p:spPr>
        <p:txBody>
          <a:bodyPr/>
          <a:lstStyle>
            <a:lvl1pPr marL="311150" indent="-311150">
              <a:buSzPct val="90000"/>
              <a:buFontTx/>
              <a:buBlip>
                <a:blip r:embed="rId2"/>
              </a:buBlip>
              <a:tabLst/>
              <a:defRPr/>
            </a:lvl1pPr>
            <a:lvl2pPr marL="685800" indent="-228600">
              <a:buFontTx/>
              <a:buBlip>
                <a:blip r:embed="rId3"/>
              </a:buBlip>
              <a:defRPr/>
            </a:lvl2pPr>
            <a:lvl3pPr marL="1143000" indent="-228600">
              <a:buFontTx/>
              <a:buBlip>
                <a:blip r:embed="rId4"/>
              </a:buBlip>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907A93A-B0BC-9141-AB9D-5021F04ACABF}"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8" name="テキスト プレースホルダー 7">
            <a:extLst>
              <a:ext uri="{FF2B5EF4-FFF2-40B4-BE49-F238E27FC236}">
                <a16:creationId xmlns:a16="http://schemas.microsoft.com/office/drawing/2014/main" id="{E3EA9756-F2A7-6D41-83A5-E45263070978}"/>
              </a:ext>
            </a:extLst>
          </p:cNvPr>
          <p:cNvSpPr>
            <a:spLocks noGrp="1"/>
          </p:cNvSpPr>
          <p:nvPr>
            <p:ph type="body" sz="quarter" idx="13" hasCustomPrompt="1"/>
          </p:nvPr>
        </p:nvSpPr>
        <p:spPr>
          <a:xfrm>
            <a:off x="366434" y="-48640"/>
            <a:ext cx="8286750" cy="626206"/>
          </a:xfrm>
        </p:spPr>
        <p:txBody>
          <a:bodyPr>
            <a:noAutofit/>
          </a:bodyPr>
          <a:lstStyle>
            <a:lvl1pPr marL="0" indent="0">
              <a:buNone/>
              <a:defRPr sz="4400"/>
            </a:lvl1pPr>
          </a:lstStyle>
          <a:p>
            <a:pPr lvl="0"/>
            <a:r>
              <a:rPr kumimoji="1" lang="ja-JP" altLang="en-US"/>
              <a:t>スライドタイトル</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33069667"/>
      </p:ext>
    </p:extLst>
  </p:cSld>
  <p:clrMapOvr>
    <a:masterClrMapping/>
  </p:clrMapOvr>
  <p:extLst>
    <p:ext uri="{DCECCB84-F9BA-43D5-87BE-67443E8EF086}">
      <p15:sldGuideLst xmlns:p15="http://schemas.microsoft.com/office/powerpoint/2012/main">
        <p15:guide id="1" orient="horz" pos="640">
          <p15:clr>
            <a:srgbClr val="FBAE40"/>
          </p15:clr>
        </p15:guide>
        <p15:guide id="2" pos="363">
          <p15:clr>
            <a:srgbClr val="FBAE40"/>
          </p15:clr>
        </p15:guide>
        <p15:guide id="3" orient="horz" pos="1026">
          <p15:clr>
            <a:srgbClr val="FBAE40"/>
          </p15:clr>
        </p15:guide>
        <p15:guide id="4" pos="2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8332721-4FC1-C14F-A618-37695720E625}"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586806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F91DD47-1D43-0340-8C86-2E477DFF43F9}" type="datetime1">
              <a:rPr kumimoji="1" lang="ja-JP" altLang="en-US" smtClean="0"/>
              <a:t>2020/9/18</a:t>
            </a:fld>
            <a:endParaRPr kumimoji="1" lang="ja-JP" altLang="en-US"/>
          </a:p>
        </p:txBody>
      </p:sp>
      <p:sp>
        <p:nvSpPr>
          <p:cNvPr id="6" name="Footer Placeholder 5"/>
          <p:cNvSpPr>
            <a:spLocks noGrp="1"/>
          </p:cNvSpPr>
          <p:nvPr>
            <p:ph type="ftr" sz="quarter" idx="11"/>
          </p:nvPr>
        </p:nvSpPr>
        <p:spPr/>
        <p:txBody>
          <a:bodyPr/>
          <a:lstStyle/>
          <a:p>
            <a:r>
              <a:rPr kumimoji="1" lang="ja-JP" altLang="en-US"/>
              <a:t>中間発表</a:t>
            </a:r>
          </a:p>
        </p:txBody>
      </p:sp>
      <p:sp>
        <p:nvSpPr>
          <p:cNvPr id="7" name="Slide Number Placeholder 6"/>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303183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2832369-8E97-B64B-90D0-0C9F3F4D877A}" type="datetime1">
              <a:rPr kumimoji="1" lang="ja-JP" altLang="en-US" smtClean="0"/>
              <a:t>2020/9/18</a:t>
            </a:fld>
            <a:endParaRPr kumimoji="1" lang="ja-JP" altLang="en-US"/>
          </a:p>
        </p:txBody>
      </p:sp>
      <p:sp>
        <p:nvSpPr>
          <p:cNvPr id="8" name="Footer Placeholder 7"/>
          <p:cNvSpPr>
            <a:spLocks noGrp="1"/>
          </p:cNvSpPr>
          <p:nvPr>
            <p:ph type="ftr" sz="quarter" idx="11"/>
          </p:nvPr>
        </p:nvSpPr>
        <p:spPr/>
        <p:txBody>
          <a:bodyPr/>
          <a:lstStyle/>
          <a:p>
            <a:r>
              <a:rPr kumimoji="1" lang="ja-JP" altLang="en-US"/>
              <a:t>中間発表</a:t>
            </a:r>
          </a:p>
        </p:txBody>
      </p:sp>
      <p:sp>
        <p:nvSpPr>
          <p:cNvPr id="9" name="Slide Number Placeholder 8"/>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989798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965F9B2A-217A-2D48-BD89-EDF573979FFD}" type="datetime1">
              <a:rPr kumimoji="1" lang="ja-JP" altLang="en-US" smtClean="0"/>
              <a:t>2020/9/18</a:t>
            </a:fld>
            <a:endParaRPr kumimoji="1" lang="ja-JP" altLang="en-US"/>
          </a:p>
        </p:txBody>
      </p:sp>
      <p:sp>
        <p:nvSpPr>
          <p:cNvPr id="4" name="Footer Placeholder 3"/>
          <p:cNvSpPr>
            <a:spLocks noGrp="1"/>
          </p:cNvSpPr>
          <p:nvPr>
            <p:ph type="ftr" sz="quarter" idx="11"/>
          </p:nvPr>
        </p:nvSpPr>
        <p:spPr/>
        <p:txBody>
          <a:bodyPr/>
          <a:lstStyle/>
          <a:p>
            <a:r>
              <a:rPr kumimoji="1" lang="ja-JP" altLang="en-US"/>
              <a:t>中間発表</a:t>
            </a:r>
          </a:p>
        </p:txBody>
      </p:sp>
      <p:sp>
        <p:nvSpPr>
          <p:cNvPr id="5" name="Slide Number Placeholder 4"/>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104706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31CB37-BDFB-124B-AAAD-9DC0FB969E54}" type="datetime1">
              <a:rPr kumimoji="1" lang="ja-JP" altLang="en-US" smtClean="0"/>
              <a:t>2020/9/18</a:t>
            </a:fld>
            <a:endParaRPr kumimoji="1" lang="ja-JP" altLang="en-US"/>
          </a:p>
        </p:txBody>
      </p:sp>
      <p:sp>
        <p:nvSpPr>
          <p:cNvPr id="3" name="Footer Placeholder 2"/>
          <p:cNvSpPr>
            <a:spLocks noGrp="1"/>
          </p:cNvSpPr>
          <p:nvPr>
            <p:ph type="ftr" sz="quarter" idx="11"/>
          </p:nvPr>
        </p:nvSpPr>
        <p:spPr/>
        <p:txBody>
          <a:bodyPr/>
          <a:lstStyle/>
          <a:p>
            <a:r>
              <a:rPr kumimoji="1" lang="ja-JP" altLang="en-US"/>
              <a:t>中間発表</a:t>
            </a:r>
          </a:p>
        </p:txBody>
      </p:sp>
      <p:sp>
        <p:nvSpPr>
          <p:cNvPr id="4" name="Slide Number Placeholder 3"/>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27268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178B6B-2BE2-FC4E-852C-CEA1928C1656}" type="datetime1">
              <a:rPr kumimoji="1" lang="ja-JP" altLang="en-US" smtClean="0"/>
              <a:t>2020/9/18</a:t>
            </a:fld>
            <a:endParaRPr kumimoji="1" lang="ja-JP" altLang="en-US"/>
          </a:p>
        </p:txBody>
      </p:sp>
      <p:sp>
        <p:nvSpPr>
          <p:cNvPr id="3" name="Footer Placeholder 2"/>
          <p:cNvSpPr>
            <a:spLocks noGrp="1"/>
          </p:cNvSpPr>
          <p:nvPr>
            <p:ph type="ftr" sz="quarter" idx="11"/>
          </p:nvPr>
        </p:nvSpPr>
        <p:spPr/>
        <p:txBody>
          <a:bodyPr/>
          <a:lstStyle/>
          <a:p>
            <a:r>
              <a:rPr kumimoji="1" lang="ja-JP" altLang="en-US"/>
              <a:t>中間発表</a:t>
            </a:r>
          </a:p>
        </p:txBody>
      </p:sp>
      <p:sp>
        <p:nvSpPr>
          <p:cNvPr id="4" name="Slide Number Placeholder 3"/>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
        <p:nvSpPr>
          <p:cNvPr id="5" name="六角形 4">
            <a:extLst>
              <a:ext uri="{FF2B5EF4-FFF2-40B4-BE49-F238E27FC236}">
                <a16:creationId xmlns:a16="http://schemas.microsoft.com/office/drawing/2014/main" id="{C1DAA94A-942A-9745-A7DA-A630F424C431}"/>
              </a:ext>
            </a:extLst>
          </p:cNvPr>
          <p:cNvSpPr/>
          <p:nvPr userDrawn="1"/>
        </p:nvSpPr>
        <p:spPr>
          <a:xfrm>
            <a:off x="1211131" y="2850223"/>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 name="グループ化 18">
            <a:extLst>
              <a:ext uri="{FF2B5EF4-FFF2-40B4-BE49-F238E27FC236}">
                <a16:creationId xmlns:a16="http://schemas.microsoft.com/office/drawing/2014/main" id="{5B73546B-BC33-9D45-BFD9-71EE6734E295}"/>
              </a:ext>
            </a:extLst>
          </p:cNvPr>
          <p:cNvGrpSpPr/>
          <p:nvPr userDrawn="1"/>
        </p:nvGrpSpPr>
        <p:grpSpPr>
          <a:xfrm rot="5400000">
            <a:off x="3566737" y="2415544"/>
            <a:ext cx="869357" cy="809551"/>
            <a:chOff x="3456595" y="2213156"/>
            <a:chExt cx="869357" cy="809551"/>
          </a:xfrm>
        </p:grpSpPr>
        <p:sp>
          <p:nvSpPr>
            <p:cNvPr id="16" name="六角形 15">
              <a:extLst>
                <a:ext uri="{FF2B5EF4-FFF2-40B4-BE49-F238E27FC236}">
                  <a16:creationId xmlns:a16="http://schemas.microsoft.com/office/drawing/2014/main" id="{8FCDBFD1-EC3D-FA4A-B9EC-6E570584EFAA}"/>
                </a:ext>
              </a:extLst>
            </p:cNvPr>
            <p:cNvSpPr/>
            <p:nvPr userDrawn="1"/>
          </p:nvSpPr>
          <p:spPr>
            <a:xfrm>
              <a:off x="3833857" y="2213156"/>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六角形 16">
              <a:extLst>
                <a:ext uri="{FF2B5EF4-FFF2-40B4-BE49-F238E27FC236}">
                  <a16:creationId xmlns:a16="http://schemas.microsoft.com/office/drawing/2014/main" id="{2BB63AB5-18CA-504F-9512-47B3BB5E96BF}"/>
                </a:ext>
              </a:extLst>
            </p:cNvPr>
            <p:cNvSpPr/>
            <p:nvPr userDrawn="1"/>
          </p:nvSpPr>
          <p:spPr>
            <a:xfrm>
              <a:off x="3833857" y="2617932"/>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六角形 17">
              <a:extLst>
                <a:ext uri="{FF2B5EF4-FFF2-40B4-BE49-F238E27FC236}">
                  <a16:creationId xmlns:a16="http://schemas.microsoft.com/office/drawing/2014/main" id="{5ED6E753-9609-954C-9F30-D5EF3E2451F5}"/>
                </a:ext>
              </a:extLst>
            </p:cNvPr>
            <p:cNvSpPr/>
            <p:nvPr userDrawn="1"/>
          </p:nvSpPr>
          <p:spPr>
            <a:xfrm>
              <a:off x="3456595" y="2415544"/>
              <a:ext cx="492095" cy="404775"/>
            </a:xfrm>
            <a:prstGeom prst="hexagon">
              <a:avLst>
                <a:gd name="adj" fmla="val 27929"/>
                <a:gd name="vf" fmla="val 115470"/>
              </a:avLst>
            </a:prstGeom>
            <a:solidFill>
              <a:schemeClr val="accent1">
                <a:lumMod val="20000"/>
                <a:lumOff val="80000"/>
              </a:schemeClr>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2" name="グループ化 41">
            <a:extLst>
              <a:ext uri="{FF2B5EF4-FFF2-40B4-BE49-F238E27FC236}">
                <a16:creationId xmlns:a16="http://schemas.microsoft.com/office/drawing/2014/main" id="{679F3D57-3DDF-4A42-A04C-2E629C0BB792}"/>
              </a:ext>
            </a:extLst>
          </p:cNvPr>
          <p:cNvGrpSpPr/>
          <p:nvPr userDrawn="1"/>
        </p:nvGrpSpPr>
        <p:grpSpPr>
          <a:xfrm>
            <a:off x="1954382" y="2077351"/>
            <a:ext cx="1260640" cy="1214326"/>
            <a:chOff x="1954382" y="2077351"/>
            <a:chExt cx="1260640" cy="1214326"/>
          </a:xfrm>
        </p:grpSpPr>
        <p:sp>
          <p:nvSpPr>
            <p:cNvPr id="28" name="六角形 27">
              <a:extLst>
                <a:ext uri="{FF2B5EF4-FFF2-40B4-BE49-F238E27FC236}">
                  <a16:creationId xmlns:a16="http://schemas.microsoft.com/office/drawing/2014/main" id="{CD8B2887-31DA-F046-A885-75B7127A4ED7}"/>
                </a:ext>
              </a:extLst>
            </p:cNvPr>
            <p:cNvSpPr/>
            <p:nvPr userDrawn="1"/>
          </p:nvSpPr>
          <p:spPr>
            <a:xfrm>
              <a:off x="2337263" y="2886902"/>
              <a:ext cx="492095" cy="404775"/>
            </a:xfrm>
            <a:prstGeom prst="hexagon">
              <a:avLst>
                <a:gd name="adj" fmla="val 27929"/>
                <a:gd name="vf" fmla="val 115470"/>
              </a:avLst>
            </a:prstGeom>
            <a:solidFill>
              <a:schemeClr val="accent1">
                <a:lumMod val="20000"/>
                <a:lumOff val="80000"/>
              </a:schemeClr>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六角形 28">
              <a:extLst>
                <a:ext uri="{FF2B5EF4-FFF2-40B4-BE49-F238E27FC236}">
                  <a16:creationId xmlns:a16="http://schemas.microsoft.com/office/drawing/2014/main" id="{29D2876E-DE6E-1A4C-BE68-FCA9CC902A77}"/>
                </a:ext>
              </a:extLst>
            </p:cNvPr>
            <p:cNvSpPr/>
            <p:nvPr userDrawn="1"/>
          </p:nvSpPr>
          <p:spPr>
            <a:xfrm>
              <a:off x="2337262" y="2077351"/>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六角形 31">
              <a:extLst>
                <a:ext uri="{FF2B5EF4-FFF2-40B4-BE49-F238E27FC236}">
                  <a16:creationId xmlns:a16="http://schemas.microsoft.com/office/drawing/2014/main" id="{0F4DB321-D2D5-994D-AF93-7AFC6ED9D156}"/>
                </a:ext>
              </a:extLst>
            </p:cNvPr>
            <p:cNvSpPr/>
            <p:nvPr userDrawn="1"/>
          </p:nvSpPr>
          <p:spPr>
            <a:xfrm>
              <a:off x="2722927" y="2279738"/>
              <a:ext cx="492095" cy="404775"/>
            </a:xfrm>
            <a:prstGeom prst="hexagon">
              <a:avLst>
                <a:gd name="adj" fmla="val 27929"/>
                <a:gd name="vf" fmla="val 115470"/>
              </a:avLst>
            </a:prstGeom>
            <a:solidFill>
              <a:schemeClr val="accent1">
                <a:lumMod val="20000"/>
                <a:lumOff val="80000"/>
              </a:schemeClr>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六角形 32">
              <a:extLst>
                <a:ext uri="{FF2B5EF4-FFF2-40B4-BE49-F238E27FC236}">
                  <a16:creationId xmlns:a16="http://schemas.microsoft.com/office/drawing/2014/main" id="{6D40101E-1AB1-7547-80CF-4E0B728711AA}"/>
                </a:ext>
              </a:extLst>
            </p:cNvPr>
            <p:cNvSpPr/>
            <p:nvPr userDrawn="1"/>
          </p:nvSpPr>
          <p:spPr>
            <a:xfrm>
              <a:off x="2722927" y="2684514"/>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六角形 35">
              <a:extLst>
                <a:ext uri="{FF2B5EF4-FFF2-40B4-BE49-F238E27FC236}">
                  <a16:creationId xmlns:a16="http://schemas.microsoft.com/office/drawing/2014/main" id="{F481D7E9-2582-7342-B440-76CCA6FB073D}"/>
                </a:ext>
              </a:extLst>
            </p:cNvPr>
            <p:cNvSpPr/>
            <p:nvPr userDrawn="1"/>
          </p:nvSpPr>
          <p:spPr>
            <a:xfrm>
              <a:off x="1954382" y="2279740"/>
              <a:ext cx="492095" cy="404775"/>
            </a:xfrm>
            <a:prstGeom prst="hexagon">
              <a:avLst>
                <a:gd name="adj" fmla="val 27929"/>
                <a:gd name="vf" fmla="val 115470"/>
              </a:avLst>
            </a:prstGeom>
            <a:solidFill>
              <a:schemeClr val="accent1">
                <a:lumMod val="20000"/>
                <a:lumOff val="80000"/>
              </a:schemeClr>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六角形 36">
              <a:extLst>
                <a:ext uri="{FF2B5EF4-FFF2-40B4-BE49-F238E27FC236}">
                  <a16:creationId xmlns:a16="http://schemas.microsoft.com/office/drawing/2014/main" id="{5CC6AF97-A241-1946-A313-7DC8335F5AEC}"/>
                </a:ext>
              </a:extLst>
            </p:cNvPr>
            <p:cNvSpPr/>
            <p:nvPr userDrawn="1"/>
          </p:nvSpPr>
          <p:spPr>
            <a:xfrm>
              <a:off x="1954382" y="2684516"/>
              <a:ext cx="492095" cy="404775"/>
            </a:xfrm>
            <a:prstGeom prst="hexagon">
              <a:avLst>
                <a:gd name="adj" fmla="val 27929"/>
                <a:gd name="vf" fmla="val 115470"/>
              </a:avLst>
            </a:prstGeom>
            <a:solidFill>
              <a:schemeClr val="accent1"/>
            </a:solidFill>
            <a:ln w="571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7">
            <a:extLst>
              <a:ext uri="{FF2B5EF4-FFF2-40B4-BE49-F238E27FC236}">
                <a16:creationId xmlns:a16="http://schemas.microsoft.com/office/drawing/2014/main" id="{E6DC5844-C9DC-BA4D-A242-F368CE58294B}"/>
              </a:ext>
            </a:extLst>
          </p:cNvPr>
          <p:cNvSpPr txBox="1">
            <a:spLocks/>
          </p:cNvSpPr>
          <p:nvPr userDrawn="1"/>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サブタイトル</a:t>
            </a:r>
          </a:p>
        </p:txBody>
      </p:sp>
      <p:grpSp>
        <p:nvGrpSpPr>
          <p:cNvPr id="25" name="グループ化 24">
            <a:extLst>
              <a:ext uri="{FF2B5EF4-FFF2-40B4-BE49-F238E27FC236}">
                <a16:creationId xmlns:a16="http://schemas.microsoft.com/office/drawing/2014/main" id="{25D7995D-6941-5D45-8E04-D5867176819D}"/>
              </a:ext>
            </a:extLst>
          </p:cNvPr>
          <p:cNvGrpSpPr/>
          <p:nvPr userDrawn="1"/>
        </p:nvGrpSpPr>
        <p:grpSpPr>
          <a:xfrm>
            <a:off x="140729" y="1384215"/>
            <a:ext cx="2307216" cy="244800"/>
            <a:chOff x="143915" y="1384215"/>
            <a:chExt cx="2307216" cy="244800"/>
          </a:xfrm>
        </p:grpSpPr>
        <p:cxnSp>
          <p:nvCxnSpPr>
            <p:cNvPr id="26" name="直線コネクタ 25">
              <a:extLst>
                <a:ext uri="{FF2B5EF4-FFF2-40B4-BE49-F238E27FC236}">
                  <a16:creationId xmlns:a16="http://schemas.microsoft.com/office/drawing/2014/main" id="{92E4D0F6-7F0E-524E-BD91-B8DD49948561}"/>
                </a:ext>
              </a:extLst>
            </p:cNvPr>
            <p:cNvCxnSpPr/>
            <p:nvPr userDrawn="1"/>
          </p:nvCxnSpPr>
          <p:spPr>
            <a:xfrm>
              <a:off x="364660" y="1607575"/>
              <a:ext cx="20864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7" name="フリーフォーム 26">
              <a:extLst>
                <a:ext uri="{FF2B5EF4-FFF2-40B4-BE49-F238E27FC236}">
                  <a16:creationId xmlns:a16="http://schemas.microsoft.com/office/drawing/2014/main" id="{476C1940-64E1-0D46-88CC-D3E3CDBAF23F}"/>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0" name="グループ化 29">
            <a:extLst>
              <a:ext uri="{FF2B5EF4-FFF2-40B4-BE49-F238E27FC236}">
                <a16:creationId xmlns:a16="http://schemas.microsoft.com/office/drawing/2014/main" id="{AE146F05-40AD-E741-B7C2-1A7215114701}"/>
              </a:ext>
            </a:extLst>
          </p:cNvPr>
          <p:cNvGrpSpPr/>
          <p:nvPr userDrawn="1"/>
        </p:nvGrpSpPr>
        <p:grpSpPr>
          <a:xfrm flipH="1" flipV="1">
            <a:off x="361474" y="1019611"/>
            <a:ext cx="2307216" cy="244800"/>
            <a:chOff x="143915" y="1379299"/>
            <a:chExt cx="2307216" cy="244800"/>
          </a:xfrm>
        </p:grpSpPr>
        <p:cxnSp>
          <p:nvCxnSpPr>
            <p:cNvPr id="31" name="直線コネクタ 30">
              <a:extLst>
                <a:ext uri="{FF2B5EF4-FFF2-40B4-BE49-F238E27FC236}">
                  <a16:creationId xmlns:a16="http://schemas.microsoft.com/office/drawing/2014/main" id="{DFFA9A90-BC98-574D-B703-234EBEEA62C9}"/>
                </a:ext>
              </a:extLst>
            </p:cNvPr>
            <p:cNvCxnSpPr/>
            <p:nvPr userDrawn="1"/>
          </p:nvCxnSpPr>
          <p:spPr>
            <a:xfrm>
              <a:off x="364660" y="1607575"/>
              <a:ext cx="20864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4" name="フリーフォーム 33">
              <a:extLst>
                <a:ext uri="{FF2B5EF4-FFF2-40B4-BE49-F238E27FC236}">
                  <a16:creationId xmlns:a16="http://schemas.microsoft.com/office/drawing/2014/main" id="{AC7F824C-64F6-0245-A1D7-E4C4EB2D003E}"/>
                </a:ext>
              </a:extLst>
            </p:cNvPr>
            <p:cNvSpPr/>
            <p:nvPr userDrawn="1"/>
          </p:nvSpPr>
          <p:spPr>
            <a:xfrm>
              <a:off x="143915" y="1379299"/>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3800031090"/>
      </p:ext>
    </p:extLst>
  </p:cSld>
  <p:clrMapOvr>
    <a:masterClrMapping/>
  </p:clrMapOvr>
  <p:extLst>
    <p:ext uri="{DCECCB84-F9BA-43D5-87BE-67443E8EF086}">
      <p15:sldGuideLst xmlns:p15="http://schemas.microsoft.com/office/powerpoint/2012/main">
        <p15:guide id="1" orient="horz" pos="8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4ACBF4B-454B-D74B-8C5D-579A48F61D8D}" type="datetime1">
              <a:rPr kumimoji="1" lang="ja-JP" altLang="en-US" smtClean="0"/>
              <a:t>2020/9/18</a:t>
            </a:fld>
            <a:endParaRPr kumimoji="1" lang="ja-JP" altLang="en-US"/>
          </a:p>
        </p:txBody>
      </p:sp>
      <p:sp>
        <p:nvSpPr>
          <p:cNvPr id="6" name="Footer Placeholder 5"/>
          <p:cNvSpPr>
            <a:spLocks noGrp="1"/>
          </p:cNvSpPr>
          <p:nvPr>
            <p:ph type="ftr" sz="quarter" idx="11"/>
          </p:nvPr>
        </p:nvSpPr>
        <p:spPr/>
        <p:txBody>
          <a:bodyPr/>
          <a:lstStyle/>
          <a:p>
            <a:r>
              <a:rPr kumimoji="1" lang="ja-JP" altLang="en-US"/>
              <a:t>中間発表</a:t>
            </a:r>
          </a:p>
        </p:txBody>
      </p:sp>
      <p:sp>
        <p:nvSpPr>
          <p:cNvPr id="7" name="Slide Number Placeholder 6"/>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2172290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0D4D441-A24F-AF49-8D98-A060F72C221A}" type="datetime1">
              <a:rPr kumimoji="1" lang="ja-JP" altLang="en-US" smtClean="0"/>
              <a:t>2020/9/18</a:t>
            </a:fld>
            <a:endParaRPr kumimoji="1" lang="ja-JP" altLang="en-US"/>
          </a:p>
        </p:txBody>
      </p:sp>
      <p:sp>
        <p:nvSpPr>
          <p:cNvPr id="6" name="Footer Placeholder 5"/>
          <p:cNvSpPr>
            <a:spLocks noGrp="1"/>
          </p:cNvSpPr>
          <p:nvPr>
            <p:ph type="ftr" sz="quarter" idx="11"/>
          </p:nvPr>
        </p:nvSpPr>
        <p:spPr/>
        <p:txBody>
          <a:bodyPr/>
          <a:lstStyle/>
          <a:p>
            <a:r>
              <a:rPr kumimoji="1" lang="ja-JP" altLang="en-US"/>
              <a:t>中間発表</a:t>
            </a:r>
          </a:p>
        </p:txBody>
      </p:sp>
      <p:sp>
        <p:nvSpPr>
          <p:cNvPr id="7" name="Slide Number Placeholder 6"/>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365551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D9492F0-E312-9748-B147-A031EAB06976}"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994409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D98C37D-E451-8043-A70B-CF128B31FC33}" type="datetime1">
              <a:rPr kumimoji="1" lang="ja-JP" altLang="en-US" smtClean="0"/>
              <a:t>2020/9/18</a:t>
            </a:fld>
            <a:endParaRPr kumimoji="1" lang="ja-JP" altLang="en-US"/>
          </a:p>
        </p:txBody>
      </p:sp>
      <p:sp>
        <p:nvSpPr>
          <p:cNvPr id="5" name="Footer Placeholder 4"/>
          <p:cNvSpPr>
            <a:spLocks noGrp="1"/>
          </p:cNvSpPr>
          <p:nvPr>
            <p:ph type="ftr" sz="quarter" idx="11"/>
          </p:nvPr>
        </p:nvSpPr>
        <p:spPr/>
        <p:txBody>
          <a:bodyPr/>
          <a:lstStyle/>
          <a:p>
            <a:r>
              <a:rPr kumimoji="1" lang="ja-JP" altLang="en-US"/>
              <a:t>中間発表</a:t>
            </a:r>
          </a:p>
        </p:txBody>
      </p:sp>
      <p:sp>
        <p:nvSpPr>
          <p:cNvPr id="6" name="Slide Number Placeholder 5"/>
          <p:cNvSpPr>
            <a:spLocks noGrp="1"/>
          </p:cNvSpPr>
          <p:nvPr>
            <p:ph type="sldNum" sz="quarter" idx="12"/>
          </p:nvPr>
        </p:nvSpPr>
        <p:spPr/>
        <p:txBody>
          <a:bodyPr/>
          <a:lstStyle/>
          <a:p>
            <a:fld id="{89D00F25-B0B7-304F-9AB7-5986EFE77769}" type="slidenum">
              <a:rPr kumimoji="1" lang="ja-JP" altLang="en-US" smtClean="0"/>
              <a:t>‹#›</a:t>
            </a:fld>
            <a:endParaRPr kumimoji="1" lang="ja-JP" altLang="en-US"/>
          </a:p>
        </p:txBody>
      </p:sp>
    </p:spTree>
    <p:extLst>
      <p:ext uri="{BB962C8B-B14F-4D97-AF65-F5344CB8AC3E}">
        <p14:creationId xmlns:p14="http://schemas.microsoft.com/office/powerpoint/2010/main" val="3842026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4165F245-6DF0-034C-9FAA-66AC032A1398}"/>
              </a:ext>
            </a:extLst>
          </p:cNvPr>
          <p:cNvSpPr/>
          <p:nvPr userDrawn="1"/>
        </p:nvSpPr>
        <p:spPr>
          <a:xfrm>
            <a:off x="-36000" y="-7000"/>
            <a:ext cx="9216000" cy="612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7883F8-121C-EE44-9130-605851EC3782}"/>
              </a:ext>
            </a:extLst>
          </p:cNvPr>
          <p:cNvSpPr/>
          <p:nvPr userDrawn="1"/>
        </p:nvSpPr>
        <p:spPr>
          <a:xfrm>
            <a:off x="0" y="6665351"/>
            <a:ext cx="9143999" cy="1998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六角形 7">
            <a:extLst>
              <a:ext uri="{FF2B5EF4-FFF2-40B4-BE49-F238E27FC236}">
                <a16:creationId xmlns:a16="http://schemas.microsoft.com/office/drawing/2014/main" id="{FD0B419B-2088-E442-8AE5-BAE4518C8AFC}"/>
              </a:ext>
            </a:extLst>
          </p:cNvPr>
          <p:cNvSpPr/>
          <p:nvPr userDrawn="1"/>
        </p:nvSpPr>
        <p:spPr>
          <a:xfrm>
            <a:off x="-229808" y="6434947"/>
            <a:ext cx="1113620" cy="454565"/>
          </a:xfrm>
          <a:prstGeom prst="hexagon">
            <a:avLst>
              <a:gd name="adj" fmla="val 46725"/>
              <a:gd name="vf" fmla="val 115470"/>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六角形 8">
            <a:extLst>
              <a:ext uri="{FF2B5EF4-FFF2-40B4-BE49-F238E27FC236}">
                <a16:creationId xmlns:a16="http://schemas.microsoft.com/office/drawing/2014/main" id="{C7FA7499-F340-6B43-A742-05A7A8A560AB}"/>
              </a:ext>
            </a:extLst>
          </p:cNvPr>
          <p:cNvSpPr/>
          <p:nvPr userDrawn="1"/>
        </p:nvSpPr>
        <p:spPr>
          <a:xfrm>
            <a:off x="8733759" y="6435274"/>
            <a:ext cx="571463" cy="454565"/>
          </a:xfrm>
          <a:prstGeom prst="hexagon">
            <a:avLst>
              <a:gd name="adj" fmla="val 29962"/>
              <a:gd name="vf" fmla="val 115470"/>
            </a:avLst>
          </a:prstGeom>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59691" y="6498812"/>
            <a:ext cx="997566" cy="331932"/>
          </a:xfrm>
          <a:prstGeom prst="rect">
            <a:avLst/>
          </a:prstGeom>
        </p:spPr>
        <p:txBody>
          <a:bodyPr vert="horz" lIns="91440" tIns="45720" rIns="91440" bIns="45720" rtlCol="0" anchor="ctr"/>
          <a:lstStyle>
            <a:lvl1pPr algn="l">
              <a:defRPr sz="1200">
                <a:solidFill>
                  <a:schemeClr val="bg1"/>
                </a:solidFill>
              </a:defRPr>
            </a:lvl1pPr>
          </a:lstStyle>
          <a:p>
            <a:fld id="{86CE0B52-1476-724D-A72E-24480AD95666}" type="datetime1">
              <a:rPr kumimoji="1" lang="ja-JP" altLang="en-US" smtClean="0"/>
              <a:t>2020/9/18</a:t>
            </a:fld>
            <a:endParaRPr kumimoji="1" lang="ja-JP" altLang="en-US"/>
          </a:p>
        </p:txBody>
      </p:sp>
      <p:sp>
        <p:nvSpPr>
          <p:cNvPr id="5" name="Footer Placeholder 4"/>
          <p:cNvSpPr>
            <a:spLocks noGrp="1"/>
          </p:cNvSpPr>
          <p:nvPr>
            <p:ph type="ftr" sz="quarter" idx="3"/>
          </p:nvPr>
        </p:nvSpPr>
        <p:spPr>
          <a:xfrm>
            <a:off x="3041761" y="6609758"/>
            <a:ext cx="3086100" cy="301756"/>
          </a:xfrm>
          <a:prstGeom prst="rect">
            <a:avLst/>
          </a:prstGeom>
        </p:spPr>
        <p:txBody>
          <a:bodyPr vert="horz" lIns="91440" tIns="45720" rIns="91440" bIns="45720" rtlCol="0" anchor="ctr"/>
          <a:lstStyle>
            <a:lvl1pPr algn="ctr">
              <a:defRPr sz="1200">
                <a:solidFill>
                  <a:schemeClr val="bg1"/>
                </a:solidFill>
              </a:defRPr>
            </a:lvl1pPr>
          </a:lstStyle>
          <a:p>
            <a:r>
              <a:rPr kumimoji="1" lang="ja-JP" altLang="en-US"/>
              <a:t>中間発表</a:t>
            </a:r>
          </a:p>
        </p:txBody>
      </p:sp>
      <p:sp>
        <p:nvSpPr>
          <p:cNvPr id="6" name="Slide Number Placeholder 5"/>
          <p:cNvSpPr>
            <a:spLocks noGrp="1"/>
          </p:cNvSpPr>
          <p:nvPr>
            <p:ph type="sldNum" sz="quarter" idx="4"/>
          </p:nvPr>
        </p:nvSpPr>
        <p:spPr>
          <a:xfrm>
            <a:off x="8707172" y="6493984"/>
            <a:ext cx="541777" cy="365125"/>
          </a:xfrm>
          <a:prstGeom prst="rect">
            <a:avLst/>
          </a:prstGeom>
        </p:spPr>
        <p:txBody>
          <a:bodyPr vert="horz" lIns="91440" tIns="45720" rIns="91440" bIns="45720" rtlCol="0" anchor="ctr"/>
          <a:lstStyle>
            <a:lvl1pPr algn="ctr">
              <a:defRPr sz="1800">
                <a:solidFill>
                  <a:schemeClr val="bg1"/>
                </a:solidFill>
              </a:defRPr>
            </a:lvl1pPr>
          </a:lstStyle>
          <a:p>
            <a:fld id="{89D00F25-B0B7-304F-9AB7-5986EFE77769}" type="slidenum">
              <a:rPr kumimoji="1" lang="ja-JP" altLang="en-US" smtClean="0"/>
              <a:pPr/>
              <a:t>‹#›</a:t>
            </a:fld>
            <a:endParaRPr kumimoji="1" lang="ja-JP" altLang="en-US"/>
          </a:p>
        </p:txBody>
      </p:sp>
    </p:spTree>
    <p:extLst>
      <p:ext uri="{BB962C8B-B14F-4D97-AF65-F5344CB8AC3E}">
        <p14:creationId xmlns:p14="http://schemas.microsoft.com/office/powerpoint/2010/main" val="1163953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4" r:id="rId4"/>
    <p:sldLayoutId id="2147483675" r:id="rId5"/>
    <p:sldLayoutId id="2147483676" r:id="rId6"/>
    <p:sldLayoutId id="2147483663" r:id="rId7"/>
    <p:sldLayoutId id="2147483664" r:id="rId8"/>
    <p:sldLayoutId id="2147483665" r:id="rId9"/>
    <p:sldLayoutId id="2147483666" r:id="rId10"/>
    <p:sldLayoutId id="2147483667" r:id="rId11"/>
    <p:sldLayoutId id="2147483673" r:id="rId12"/>
    <p:sldLayoutId id="2147483668" r:id="rId13"/>
    <p:sldLayoutId id="2147483669" r:id="rId14"/>
    <p:sldLayoutId id="2147483670" r:id="rId15"/>
    <p:sldLayoutId id="2147483671" r:id="rId16"/>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6" orient="horz" pos="4320" userDrawn="1">
          <p15:clr>
            <a:srgbClr val="FFFF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3.xml"/><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0.tiff"/><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tiff"/><Relationship Id="rId7" Type="http://schemas.openxmlformats.org/officeDocument/2006/relationships/image" Target="../media/image21.png"/><Relationship Id="rId2" Type="http://schemas.openxmlformats.org/officeDocument/2006/relationships/image" Target="../media/image9.tiff"/><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3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EA6997-7CD8-BA4A-BC27-A2BA5A54CEA1}"/>
              </a:ext>
            </a:extLst>
          </p:cNvPr>
          <p:cNvSpPr>
            <a:spLocks noGrp="1"/>
          </p:cNvSpPr>
          <p:nvPr>
            <p:ph type="ctrTitle"/>
          </p:nvPr>
        </p:nvSpPr>
        <p:spPr/>
        <p:txBody>
          <a:bodyPr>
            <a:normAutofit fontScale="90000"/>
          </a:bodyPr>
          <a:lstStyle/>
          <a:p>
            <a:r>
              <a:rPr lang="ja-JP" altLang="en-US"/>
              <a:t>人間とエージェントの交渉における</a:t>
            </a:r>
            <a:br>
              <a:rPr lang="en-US" altLang="ja-JP" dirty="0"/>
            </a:br>
            <a:r>
              <a:rPr lang="ja-JP" altLang="en-US"/>
              <a:t>プロファイリングを用いた交渉戦略</a:t>
            </a:r>
            <a:endParaRPr kumimoji="1" lang="ja-JP" altLang="en-US"/>
          </a:p>
        </p:txBody>
      </p:sp>
      <p:sp>
        <p:nvSpPr>
          <p:cNvPr id="3" name="字幕 2">
            <a:extLst>
              <a:ext uri="{FF2B5EF4-FFF2-40B4-BE49-F238E27FC236}">
                <a16:creationId xmlns:a16="http://schemas.microsoft.com/office/drawing/2014/main" id="{1F80D355-42FE-1F4C-903A-D5E38B1A2DAC}"/>
              </a:ext>
            </a:extLst>
          </p:cNvPr>
          <p:cNvSpPr>
            <a:spLocks noGrp="1"/>
          </p:cNvSpPr>
          <p:nvPr>
            <p:ph type="subTitle" idx="1"/>
          </p:nvPr>
        </p:nvSpPr>
        <p:spPr/>
        <p:txBody>
          <a:bodyPr/>
          <a:lstStyle/>
          <a:p>
            <a:r>
              <a:rPr lang="en-US" altLang="ja-JP" dirty="0"/>
              <a:t>19646029  </a:t>
            </a:r>
            <a:r>
              <a:rPr lang="ja-JP" altLang="en-US"/>
              <a:t>藤田桂英研究室</a:t>
            </a:r>
            <a:endParaRPr lang="en-US" altLang="ja-JP" dirty="0"/>
          </a:p>
          <a:p>
            <a:r>
              <a:rPr lang="ja-JP" altLang="en-US"/>
              <a:t>松下昌悟</a:t>
            </a:r>
          </a:p>
        </p:txBody>
      </p:sp>
      <p:sp>
        <p:nvSpPr>
          <p:cNvPr id="4" name="日付プレースホルダー 3">
            <a:extLst>
              <a:ext uri="{FF2B5EF4-FFF2-40B4-BE49-F238E27FC236}">
                <a16:creationId xmlns:a16="http://schemas.microsoft.com/office/drawing/2014/main" id="{90D0769A-9DDC-8548-9D60-19DC5A86BF32}"/>
              </a:ext>
            </a:extLst>
          </p:cNvPr>
          <p:cNvSpPr>
            <a:spLocks noGrp="1"/>
          </p:cNvSpPr>
          <p:nvPr>
            <p:ph type="dt" sz="half" idx="10"/>
          </p:nvPr>
        </p:nvSpPr>
        <p:spPr/>
        <p:txBody>
          <a:bodyPr/>
          <a:lstStyle/>
          <a:p>
            <a:fld id="{FE612F2D-BBA5-AE4E-9073-160AB79CA501}" type="datetime1">
              <a:rPr kumimoji="1" lang="ja-JP" altLang="en-US" smtClean="0"/>
              <a:t>2020/9/18</a:t>
            </a:fld>
            <a:endParaRPr kumimoji="1" lang="ja-JP" altLang="en-US"/>
          </a:p>
        </p:txBody>
      </p:sp>
      <p:sp>
        <p:nvSpPr>
          <p:cNvPr id="5" name="スライド番号プレースホルダー 4">
            <a:extLst>
              <a:ext uri="{FF2B5EF4-FFF2-40B4-BE49-F238E27FC236}">
                <a16:creationId xmlns:a16="http://schemas.microsoft.com/office/drawing/2014/main" id="{2ABAE7C7-BED5-634E-9DDC-EE6EB520E9E2}"/>
              </a:ext>
            </a:extLst>
          </p:cNvPr>
          <p:cNvSpPr>
            <a:spLocks noGrp="1"/>
          </p:cNvSpPr>
          <p:nvPr>
            <p:ph type="sldNum" sz="quarter" idx="12"/>
          </p:nvPr>
        </p:nvSpPr>
        <p:spPr/>
        <p:txBody>
          <a:bodyPr/>
          <a:lstStyle/>
          <a:p>
            <a:fld id="{89D00F25-B0B7-304F-9AB7-5986EFE77769}" type="slidenum">
              <a:rPr kumimoji="1" lang="ja-JP" altLang="en-US" smtClean="0"/>
              <a:t>1</a:t>
            </a:fld>
            <a:endParaRPr kumimoji="1" lang="ja-JP" altLang="en-US"/>
          </a:p>
        </p:txBody>
      </p:sp>
      <p:sp>
        <p:nvSpPr>
          <p:cNvPr id="6" name="フッター プレースホルダー 5">
            <a:extLst>
              <a:ext uri="{FF2B5EF4-FFF2-40B4-BE49-F238E27FC236}">
                <a16:creationId xmlns:a16="http://schemas.microsoft.com/office/drawing/2014/main" id="{38DD26B2-174C-9446-B94A-3F16A730EB29}"/>
              </a:ext>
            </a:extLst>
          </p:cNvPr>
          <p:cNvSpPr>
            <a:spLocks noGrp="1"/>
          </p:cNvSpPr>
          <p:nvPr>
            <p:ph type="ftr" sz="quarter" idx="11"/>
          </p:nvPr>
        </p:nvSpPr>
        <p:spPr/>
        <p:txBody>
          <a:bodyPr/>
          <a:lstStyle/>
          <a:p>
            <a:r>
              <a:rPr kumimoji="1" lang="ja-JP" altLang="en-US"/>
              <a:t>中間発表</a:t>
            </a:r>
          </a:p>
        </p:txBody>
      </p:sp>
    </p:spTree>
    <p:extLst>
      <p:ext uri="{BB962C8B-B14F-4D97-AF65-F5344CB8AC3E}">
        <p14:creationId xmlns:p14="http://schemas.microsoft.com/office/powerpoint/2010/main" val="10789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エージェント同士の合意形成を行う手段として</a:t>
            </a:r>
            <a:br>
              <a:rPr lang="en-US" altLang="ja-JP" dirty="0"/>
            </a:br>
            <a:r>
              <a:rPr lang="ja-JP" altLang="en-US">
                <a:solidFill>
                  <a:schemeClr val="accent2"/>
                </a:solidFill>
              </a:rPr>
              <a:t>自動交渉</a:t>
            </a:r>
            <a:r>
              <a:rPr lang="ja-JP" altLang="en-US"/>
              <a:t>が注目されている</a:t>
            </a:r>
            <a:endParaRPr lang="en-US" altLang="ja-JP" dirty="0"/>
          </a:p>
          <a:p>
            <a:r>
              <a:rPr lang="ja-JP" altLang="en-US">
                <a:solidFill>
                  <a:schemeClr val="accent2"/>
                </a:solidFill>
              </a:rPr>
              <a:t>人間とエージェントの交渉</a:t>
            </a:r>
            <a:r>
              <a:rPr lang="ja-JP" altLang="en-US"/>
              <a:t>への関心が高まっている</a:t>
            </a:r>
            <a:endParaRPr lang="en-US" altLang="ja-JP" dirty="0"/>
          </a:p>
          <a:p>
            <a:pPr lvl="1"/>
            <a:r>
              <a:rPr lang="ja-JP" altLang="en-US"/>
              <a:t>交渉の仲介・衝突解消</a:t>
            </a:r>
            <a:endParaRPr lang="en-US" altLang="ja-JP" dirty="0"/>
          </a:p>
          <a:p>
            <a:pPr lvl="1"/>
            <a:r>
              <a:rPr lang="ja-JP" altLang="en-US"/>
              <a:t>交渉技術の訓練</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a:t>
            </a:fld>
            <a:endParaRPr kumimoji="1" lang="ja-JP" altLang="en-US"/>
          </a:p>
        </p:txBody>
      </p:sp>
      <p:sp>
        <p:nvSpPr>
          <p:cNvPr id="19" name="テキスト プレースホルダー 7">
            <a:extLst>
              <a:ext uri="{FF2B5EF4-FFF2-40B4-BE49-F238E27FC236}">
                <a16:creationId xmlns:a16="http://schemas.microsoft.com/office/drawing/2014/main" id="{229675A9-230B-834E-98DB-D677D9E8288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grpSp>
        <p:nvGrpSpPr>
          <p:cNvPr id="20" name="グループ化 19">
            <a:extLst>
              <a:ext uri="{FF2B5EF4-FFF2-40B4-BE49-F238E27FC236}">
                <a16:creationId xmlns:a16="http://schemas.microsoft.com/office/drawing/2014/main" id="{011219B7-28F8-784C-8410-5B579C7EA1F6}"/>
              </a:ext>
            </a:extLst>
          </p:cNvPr>
          <p:cNvGrpSpPr/>
          <p:nvPr/>
        </p:nvGrpSpPr>
        <p:grpSpPr>
          <a:xfrm>
            <a:off x="143915" y="1384215"/>
            <a:ext cx="1018135" cy="244800"/>
            <a:chOff x="143915" y="1384215"/>
            <a:chExt cx="1018135" cy="244800"/>
          </a:xfrm>
        </p:grpSpPr>
        <p:cxnSp>
          <p:nvCxnSpPr>
            <p:cNvPr id="21" name="直線コネクタ 20">
              <a:extLst>
                <a:ext uri="{FF2B5EF4-FFF2-40B4-BE49-F238E27FC236}">
                  <a16:creationId xmlns:a16="http://schemas.microsoft.com/office/drawing/2014/main" id="{919D5B70-E95D-EC43-9DC5-846041C9DC7F}"/>
                </a:ext>
              </a:extLst>
            </p:cNvPr>
            <p:cNvCxnSpPr>
              <a:cxnSpLocks/>
            </p:cNvCxnSpPr>
            <p:nvPr userDrawn="1"/>
          </p:nvCxnSpPr>
          <p:spPr>
            <a:xfrm>
              <a:off x="364660" y="1607575"/>
              <a:ext cx="79739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フリーフォーム 21">
              <a:extLst>
                <a:ext uri="{FF2B5EF4-FFF2-40B4-BE49-F238E27FC236}">
                  <a16:creationId xmlns:a16="http://schemas.microsoft.com/office/drawing/2014/main" id="{2701DA74-9354-F044-BCD2-9BC046AD1E6B}"/>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3" name="グループ化 22">
            <a:extLst>
              <a:ext uri="{FF2B5EF4-FFF2-40B4-BE49-F238E27FC236}">
                <a16:creationId xmlns:a16="http://schemas.microsoft.com/office/drawing/2014/main" id="{D7996F71-BDE9-5840-B209-853761AF74EF}"/>
              </a:ext>
            </a:extLst>
          </p:cNvPr>
          <p:cNvGrpSpPr/>
          <p:nvPr/>
        </p:nvGrpSpPr>
        <p:grpSpPr>
          <a:xfrm flipH="1" flipV="1">
            <a:off x="358775" y="1022350"/>
            <a:ext cx="1057649" cy="244800"/>
            <a:chOff x="143915" y="1377865"/>
            <a:chExt cx="1057649" cy="244800"/>
          </a:xfrm>
        </p:grpSpPr>
        <p:cxnSp>
          <p:nvCxnSpPr>
            <p:cNvPr id="24" name="直線コネクタ 23">
              <a:extLst>
                <a:ext uri="{FF2B5EF4-FFF2-40B4-BE49-F238E27FC236}">
                  <a16:creationId xmlns:a16="http://schemas.microsoft.com/office/drawing/2014/main" id="{A1A45C5C-4D9D-7740-AB9D-98CCDAAE2FF1}"/>
                </a:ext>
              </a:extLst>
            </p:cNvPr>
            <p:cNvCxnSpPr>
              <a:cxnSpLocks/>
            </p:cNvCxnSpPr>
            <p:nvPr userDrawn="1"/>
          </p:nvCxnSpPr>
          <p:spPr>
            <a:xfrm flipV="1">
              <a:off x="364659" y="1607575"/>
              <a:ext cx="83690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フリーフォーム 24">
              <a:extLst>
                <a:ext uri="{FF2B5EF4-FFF2-40B4-BE49-F238E27FC236}">
                  <a16:creationId xmlns:a16="http://schemas.microsoft.com/office/drawing/2014/main" id="{6572BC20-627B-6946-949D-23C791BA08D3}"/>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9" name="グループ化 8">
            <a:extLst>
              <a:ext uri="{FF2B5EF4-FFF2-40B4-BE49-F238E27FC236}">
                <a16:creationId xmlns:a16="http://schemas.microsoft.com/office/drawing/2014/main" id="{FFB7A37F-2FA5-CB45-90FB-5FBB0F6355F0}"/>
              </a:ext>
            </a:extLst>
          </p:cNvPr>
          <p:cNvGrpSpPr/>
          <p:nvPr/>
        </p:nvGrpSpPr>
        <p:grpSpPr>
          <a:xfrm>
            <a:off x="3597876" y="3505721"/>
            <a:ext cx="5161550" cy="3149509"/>
            <a:chOff x="3981924" y="3219644"/>
            <a:chExt cx="5161550" cy="3149509"/>
          </a:xfrm>
        </p:grpSpPr>
        <p:pic>
          <p:nvPicPr>
            <p:cNvPr id="18" name="図 17" descr="スクリーンショットの画面&#10;&#10;自動的に生成された説明">
              <a:extLst>
                <a:ext uri="{FF2B5EF4-FFF2-40B4-BE49-F238E27FC236}">
                  <a16:creationId xmlns:a16="http://schemas.microsoft.com/office/drawing/2014/main" id="{FEE9685E-985D-E345-83B6-B068116BFDEA}"/>
                </a:ext>
              </a:extLst>
            </p:cNvPr>
            <p:cNvPicPr>
              <a:picLocks noChangeAspect="1"/>
            </p:cNvPicPr>
            <p:nvPr/>
          </p:nvPicPr>
          <p:blipFill>
            <a:blip r:embed="rId2"/>
            <a:stretch>
              <a:fillRect/>
            </a:stretch>
          </p:blipFill>
          <p:spPr>
            <a:xfrm>
              <a:off x="3981924" y="3219644"/>
              <a:ext cx="5161550" cy="2818675"/>
            </a:xfrm>
            <a:prstGeom prst="rect">
              <a:avLst/>
            </a:prstGeom>
          </p:spPr>
        </p:pic>
        <p:sp>
          <p:nvSpPr>
            <p:cNvPr id="26" name="テキスト ボックス 25">
              <a:extLst>
                <a:ext uri="{FF2B5EF4-FFF2-40B4-BE49-F238E27FC236}">
                  <a16:creationId xmlns:a16="http://schemas.microsoft.com/office/drawing/2014/main" id="{32C057F4-093F-E14C-98A7-8174C249D3E9}"/>
                </a:ext>
              </a:extLst>
            </p:cNvPr>
            <p:cNvSpPr txBox="1"/>
            <p:nvPr/>
          </p:nvSpPr>
          <p:spPr>
            <a:xfrm>
              <a:off x="5507762" y="6030599"/>
              <a:ext cx="2109873" cy="338554"/>
            </a:xfrm>
            <a:prstGeom prst="rect">
              <a:avLst/>
            </a:prstGeom>
            <a:noFill/>
          </p:spPr>
          <p:txBody>
            <a:bodyPr wrap="none" rtlCol="0">
              <a:spAutoFit/>
            </a:bodyPr>
            <a:lstStyle/>
            <a:p>
              <a:pPr algn="ctr"/>
              <a:r>
                <a:rPr kumimoji="1" lang="en-US" altLang="ja-JP" sz="1600" dirty="0"/>
                <a:t>IAGO</a:t>
              </a:r>
              <a:r>
                <a:rPr kumimoji="1" lang="ja-JP" altLang="en-US" sz="1600"/>
                <a:t>のインタフェース</a:t>
              </a:r>
            </a:p>
          </p:txBody>
        </p:sp>
      </p:grpSp>
    </p:spTree>
    <p:extLst>
      <p:ext uri="{BB962C8B-B14F-4D97-AF65-F5344CB8AC3E}">
        <p14:creationId xmlns:p14="http://schemas.microsoft.com/office/powerpoint/2010/main" val="4095009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697654" cy="4351338"/>
          </a:xfrm>
        </p:spPr>
        <p:txBody>
          <a:bodyPr/>
          <a:lstStyle/>
          <a:p>
            <a:r>
              <a:rPr lang="en-US" altLang="ja-JP" dirty="0">
                <a:solidFill>
                  <a:schemeClr val="accent2"/>
                </a:solidFill>
              </a:rPr>
              <a:t>TKI</a:t>
            </a:r>
            <a:r>
              <a:rPr lang="ja-JP" altLang="en-US">
                <a:solidFill>
                  <a:schemeClr val="accent2"/>
                </a:solidFill>
              </a:rPr>
              <a:t>でカテゴリ分け</a:t>
            </a:r>
            <a:r>
              <a:rPr lang="ja-JP" altLang="en-US"/>
              <a:t>を行い特定のカテゴリの場合に</a:t>
            </a:r>
            <a:br>
              <a:rPr lang="en-US" altLang="ja-JP" dirty="0"/>
            </a:br>
            <a:r>
              <a:rPr lang="ja-JP" altLang="en-US"/>
              <a:t>譲歩速度を変更</a:t>
            </a:r>
            <a:r>
              <a:rPr lang="en-US" altLang="ja-JP" dirty="0"/>
              <a:t>[1]</a:t>
            </a:r>
          </a:p>
          <a:p>
            <a:pPr lvl="1"/>
            <a:r>
              <a:rPr lang="ja-JP" altLang="en-US"/>
              <a:t>現在の相手の</a:t>
            </a:r>
            <a:r>
              <a:rPr lang="en-US" altLang="ja-JP" dirty="0"/>
              <a:t>offer</a:t>
            </a:r>
            <a:r>
              <a:rPr lang="ja-JP" altLang="en-US"/>
              <a:t>と過去の相手の</a:t>
            </a:r>
            <a:r>
              <a:rPr lang="en-US" altLang="ja-JP" dirty="0"/>
              <a:t>offer</a:t>
            </a:r>
            <a:r>
              <a:rPr lang="ja-JP" altLang="en-US"/>
              <a:t>を比較し</a:t>
            </a:r>
            <a:br>
              <a:rPr lang="en-US" altLang="ja-JP" dirty="0"/>
            </a:br>
            <a:r>
              <a:rPr lang="ja-JP" altLang="en-US"/>
              <a:t>カテゴリ分類</a:t>
            </a:r>
            <a:endParaRPr lang="en-US" altLang="ja-JP" dirty="0"/>
          </a:p>
          <a:p>
            <a:pPr lvl="1"/>
            <a:r>
              <a:rPr lang="ja-JP" altLang="en-US"/>
              <a:t>被験者</a:t>
            </a:r>
            <a:r>
              <a:rPr lang="en-US" altLang="ja-JP" dirty="0"/>
              <a:t>24</a:t>
            </a:r>
            <a:r>
              <a:rPr lang="ja-JP" altLang="en-US"/>
              <a:t>人中</a:t>
            </a:r>
            <a:r>
              <a:rPr lang="en-US" altLang="ja-JP" dirty="0"/>
              <a:t>23</a:t>
            </a:r>
            <a:r>
              <a:rPr lang="ja-JP" altLang="en-US"/>
              <a:t>人が合意に至る</a:t>
            </a:r>
            <a:endParaRPr lang="en-US" altLang="ja-JP" dirty="0"/>
          </a:p>
          <a:p>
            <a:pPr lvl="1"/>
            <a:r>
              <a:rPr lang="ja-JP" altLang="en-US"/>
              <a:t>合意案の多くがパレートフロント近辺</a:t>
            </a:r>
            <a:endParaRPr lang="en-US" altLang="ja-JP" dirty="0"/>
          </a:p>
          <a:p>
            <a:endParaRPr kumimoji="1" lang="ja-JP" altLang="en-US"/>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3</a:t>
            </a:fld>
            <a:endParaRPr kumimoji="1" lang="ja-JP" altLang="en-US"/>
          </a:p>
        </p:txBody>
      </p:sp>
      <p:sp>
        <p:nvSpPr>
          <p:cNvPr id="8" name="正方形/長方形 7">
            <a:extLst>
              <a:ext uri="{FF2B5EF4-FFF2-40B4-BE49-F238E27FC236}">
                <a16:creationId xmlns:a16="http://schemas.microsoft.com/office/drawing/2014/main" id="{7E9D619A-911D-BE46-8524-7D5CF4B4FEE3}"/>
              </a:ext>
            </a:extLst>
          </p:cNvPr>
          <p:cNvSpPr/>
          <p:nvPr/>
        </p:nvSpPr>
        <p:spPr>
          <a:xfrm>
            <a:off x="605443" y="6059284"/>
            <a:ext cx="8330195" cy="577081"/>
          </a:xfrm>
          <a:prstGeom prst="rect">
            <a:avLst/>
          </a:prstGeom>
        </p:spPr>
        <p:txBody>
          <a:bodyPr wrap="square">
            <a:spAutoFit/>
          </a:bodyPr>
          <a:lstStyle/>
          <a:p>
            <a:r>
              <a:rPr lang="en" altLang="ja-JP" sz="1050" dirty="0"/>
              <a:t>[1] Gaurav </a:t>
            </a:r>
            <a:r>
              <a:rPr lang="en" altLang="ja-JP" sz="1050" dirty="0" err="1"/>
              <a:t>Koley</a:t>
            </a:r>
            <a:r>
              <a:rPr lang="en" altLang="ja-JP" sz="1050" dirty="0"/>
              <a:t> and </a:t>
            </a:r>
            <a:r>
              <a:rPr lang="en" altLang="ja-JP" sz="1050" dirty="0" err="1"/>
              <a:t>Shrisha</a:t>
            </a:r>
            <a:r>
              <a:rPr lang="en" altLang="ja-JP" sz="1050" dirty="0"/>
              <a:t> Rao. ”Adaptive Human-Agent Multi-Issue Bilateral Negotiation Using the Thomas-Kilmann Conflict Mode Instrument.” 2018 IEEE/ACM 22nd International Symposium on Distributed Simulation and Real Time Applications (DS-RT),2018</a:t>
            </a:r>
          </a:p>
        </p:txBody>
      </p:sp>
      <p:sp>
        <p:nvSpPr>
          <p:cNvPr id="19" name="テキスト プレースホルダー 7">
            <a:extLst>
              <a:ext uri="{FF2B5EF4-FFF2-40B4-BE49-F238E27FC236}">
                <a16:creationId xmlns:a16="http://schemas.microsoft.com/office/drawing/2014/main" id="{229675A9-230B-834E-98DB-D677D9E8288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a:t>
            </a:r>
            <a:endParaRPr lang="en-US" altLang="ja-JP" dirty="0"/>
          </a:p>
        </p:txBody>
      </p:sp>
      <p:grpSp>
        <p:nvGrpSpPr>
          <p:cNvPr id="20" name="グループ化 19">
            <a:extLst>
              <a:ext uri="{FF2B5EF4-FFF2-40B4-BE49-F238E27FC236}">
                <a16:creationId xmlns:a16="http://schemas.microsoft.com/office/drawing/2014/main" id="{011219B7-28F8-784C-8410-5B579C7EA1F6}"/>
              </a:ext>
            </a:extLst>
          </p:cNvPr>
          <p:cNvGrpSpPr/>
          <p:nvPr/>
        </p:nvGrpSpPr>
        <p:grpSpPr>
          <a:xfrm>
            <a:off x="143915" y="1384215"/>
            <a:ext cx="1830358" cy="244800"/>
            <a:chOff x="143915" y="1384215"/>
            <a:chExt cx="1830358" cy="244800"/>
          </a:xfrm>
        </p:grpSpPr>
        <p:cxnSp>
          <p:nvCxnSpPr>
            <p:cNvPr id="21" name="直線コネクタ 20">
              <a:extLst>
                <a:ext uri="{FF2B5EF4-FFF2-40B4-BE49-F238E27FC236}">
                  <a16:creationId xmlns:a16="http://schemas.microsoft.com/office/drawing/2014/main" id="{919D5B70-E95D-EC43-9DC5-846041C9DC7F}"/>
                </a:ext>
              </a:extLst>
            </p:cNvPr>
            <p:cNvCxnSpPr>
              <a:cxnSpLocks/>
            </p:cNvCxnSpPr>
            <p:nvPr userDrawn="1"/>
          </p:nvCxnSpPr>
          <p:spPr>
            <a:xfrm>
              <a:off x="364660" y="1607575"/>
              <a:ext cx="160961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フリーフォーム 21">
              <a:extLst>
                <a:ext uri="{FF2B5EF4-FFF2-40B4-BE49-F238E27FC236}">
                  <a16:creationId xmlns:a16="http://schemas.microsoft.com/office/drawing/2014/main" id="{2701DA74-9354-F044-BCD2-9BC046AD1E6B}"/>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3" name="グループ化 22">
            <a:extLst>
              <a:ext uri="{FF2B5EF4-FFF2-40B4-BE49-F238E27FC236}">
                <a16:creationId xmlns:a16="http://schemas.microsoft.com/office/drawing/2014/main" id="{D7996F71-BDE9-5840-B209-853761AF74EF}"/>
              </a:ext>
            </a:extLst>
          </p:cNvPr>
          <p:cNvGrpSpPr/>
          <p:nvPr/>
        </p:nvGrpSpPr>
        <p:grpSpPr>
          <a:xfrm flipH="1" flipV="1">
            <a:off x="364050" y="1022350"/>
            <a:ext cx="1810913" cy="244800"/>
            <a:chOff x="143915" y="1377865"/>
            <a:chExt cx="1810913" cy="244800"/>
          </a:xfrm>
        </p:grpSpPr>
        <p:cxnSp>
          <p:nvCxnSpPr>
            <p:cNvPr id="24" name="直線コネクタ 23">
              <a:extLst>
                <a:ext uri="{FF2B5EF4-FFF2-40B4-BE49-F238E27FC236}">
                  <a16:creationId xmlns:a16="http://schemas.microsoft.com/office/drawing/2014/main" id="{A1A45C5C-4D9D-7740-AB9D-98CCDAAE2FF1}"/>
                </a:ext>
              </a:extLst>
            </p:cNvPr>
            <p:cNvCxnSpPr>
              <a:cxnSpLocks/>
            </p:cNvCxnSpPr>
            <p:nvPr userDrawn="1"/>
          </p:nvCxnSpPr>
          <p:spPr>
            <a:xfrm flipV="1">
              <a:off x="364658" y="1607575"/>
              <a:ext cx="159017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フリーフォーム 24">
              <a:extLst>
                <a:ext uri="{FF2B5EF4-FFF2-40B4-BE49-F238E27FC236}">
                  <a16:creationId xmlns:a16="http://schemas.microsoft.com/office/drawing/2014/main" id="{6572BC20-627B-6946-949D-23C791BA08D3}"/>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pic>
        <p:nvPicPr>
          <p:cNvPr id="36" name="図 35" descr="地図 が含まれている画像&#10;&#10;自動的に生成された説明">
            <a:extLst>
              <a:ext uri="{FF2B5EF4-FFF2-40B4-BE49-F238E27FC236}">
                <a16:creationId xmlns:a16="http://schemas.microsoft.com/office/drawing/2014/main" id="{36012710-6D1B-9C4F-AE09-ADE09D9202B6}"/>
              </a:ext>
            </a:extLst>
          </p:cNvPr>
          <p:cNvPicPr>
            <a:picLocks noChangeAspect="1"/>
          </p:cNvPicPr>
          <p:nvPr/>
        </p:nvPicPr>
        <p:blipFill>
          <a:blip r:embed="rId2"/>
          <a:stretch>
            <a:fillRect/>
          </a:stretch>
        </p:blipFill>
        <p:spPr>
          <a:xfrm>
            <a:off x="5912104" y="3196964"/>
            <a:ext cx="3149600" cy="2717800"/>
          </a:xfrm>
          <a:prstGeom prst="rect">
            <a:avLst/>
          </a:prstGeom>
        </p:spPr>
      </p:pic>
    </p:spTree>
    <p:extLst>
      <p:ext uri="{BB962C8B-B14F-4D97-AF65-F5344CB8AC3E}">
        <p14:creationId xmlns:p14="http://schemas.microsoft.com/office/powerpoint/2010/main" val="3659863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14:m>
                  <m:oMath xmlns:m="http://schemas.openxmlformats.org/officeDocument/2006/math">
                    <m:r>
                      <a:rPr lang="en-US" altLang="ja-JP" i="1">
                        <a:latin typeface="Cambria Math" panose="02040503050406030204" pitchFamily="18" charset="0"/>
                      </a:rPr>
                      <m:t>𝛼</m:t>
                    </m:r>
                  </m:oMath>
                </a14:m>
                <a:r>
                  <a:rPr lang="ja-JP" altLang="en-US"/>
                  <a:t>の値によって譲歩関数を変化</a:t>
                </a:r>
                <a:endParaRPr lang="en-US" altLang="ja-JP" dirty="0"/>
              </a:p>
              <a:p>
                <a:pPr lvl="1"/>
                <a:r>
                  <a:rPr lang="ja-JP" altLang="en-US"/>
                  <a:t>相手のカテゴリに応じて</a:t>
                </a:r>
                <a14:m>
                  <m:oMath xmlns:m="http://schemas.openxmlformats.org/officeDocument/2006/math">
                    <m:r>
                      <a:rPr lang="en-US" altLang="ja-JP" i="1">
                        <a:latin typeface="Cambria Math" panose="02040503050406030204" pitchFamily="18" charset="0"/>
                      </a:rPr>
                      <m:t>𝛼</m:t>
                    </m:r>
                  </m:oMath>
                </a14:m>
                <a:r>
                  <a:rPr lang="ja-JP" altLang="en-US"/>
                  <a:t>の値を変更する</a:t>
                </a:r>
                <a:endParaRPr lang="en-US" altLang="ja-JP" dirty="0"/>
              </a:p>
              <a:p>
                <a:pPr lvl="2"/>
                <a14:m>
                  <m:oMath xmlns:m="http://schemas.openxmlformats.org/officeDocument/2006/math">
                    <m:r>
                      <a:rPr lang="en-US" altLang="ja-JP" i="1">
                        <a:latin typeface="Cambria Math" panose="02040503050406030204" pitchFamily="18" charset="0"/>
                      </a:rPr>
                      <m:t>𝑡𝑎𝑟𝑔𝑒𝑡</m:t>
                    </m:r>
                    <m:d>
                      <m:dPr>
                        <m:ctrlPr>
                          <a:rPr lang="en-US" altLang="ja-JP" i="1">
                            <a:latin typeface="Cambria Math" panose="02040503050406030204" pitchFamily="18" charset="0"/>
                          </a:rPr>
                        </m:ctrlPr>
                      </m:dPr>
                      <m:e>
                        <m:r>
                          <a:rPr lang="en-US" altLang="ja-JP" i="1">
                            <a:latin typeface="Cambria Math" panose="02040503050406030204" pitchFamily="18" charset="0"/>
                          </a:rPr>
                          <m:t>𝑡</m:t>
                        </m:r>
                        <m:r>
                          <a:rPr lang="en-US" altLang="ja-JP" i="1">
                            <a:latin typeface="Cambria Math" panose="02040503050406030204" pitchFamily="18" charset="0"/>
                          </a:rPr>
                          <m:t>,</m:t>
                        </m:r>
                        <m:r>
                          <a:rPr lang="en-US" altLang="ja-JP" i="1">
                            <a:latin typeface="Cambria Math" panose="02040503050406030204" pitchFamily="18" charset="0"/>
                          </a:rPr>
                          <m:t>𝛼</m:t>
                        </m:r>
                      </m:e>
                    </m:d>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𝛾</m:t>
                        </m:r>
                      </m:e>
                      <m:sub>
                        <m:r>
                          <m:rPr>
                            <m:sty m:val="p"/>
                          </m:rPr>
                          <a:rPr lang="en-US" altLang="ja-JP">
                            <a:latin typeface="Cambria Math" panose="02040503050406030204" pitchFamily="18" charset="0"/>
                          </a:rPr>
                          <m:t>min</m:t>
                        </m:r>
                      </m:sub>
                    </m:sSub>
                    <m:r>
                      <a:rPr lang="en-US" altLang="ja-JP" i="1">
                        <a:latin typeface="Cambria Math" panose="02040503050406030204" pitchFamily="18" charset="0"/>
                      </a:rPr>
                      <m:t>+</m:t>
                    </m:r>
                    <m:r>
                      <m:rPr>
                        <m:sty m:val="p"/>
                      </m:rPr>
                      <a:rPr lang="en-US" altLang="ja-JP">
                        <a:latin typeface="Cambria Math" panose="02040503050406030204" pitchFamily="18" charset="0"/>
                      </a:rPr>
                      <m:t>Δ</m:t>
                    </m:r>
                    <m:r>
                      <a:rPr lang="en-US" altLang="ja-JP" i="1">
                        <a:latin typeface="Cambria Math" panose="02040503050406030204" pitchFamily="18" charset="0"/>
                      </a:rPr>
                      <m:t>⋅</m:t>
                    </m:r>
                    <m:r>
                      <m:rPr>
                        <m:sty m:val="p"/>
                      </m:rPr>
                      <a:rPr lang="en-US" altLang="ja-JP">
                        <a:latin typeface="Cambria Math" panose="02040503050406030204" pitchFamily="18" charset="0"/>
                      </a:rPr>
                      <m:t>Γ</m:t>
                    </m:r>
                    <m:d>
                      <m:dPr>
                        <m:ctrlPr>
                          <a:rPr lang="en-US" altLang="ja-JP" i="1">
                            <a:latin typeface="Cambria Math" panose="02040503050406030204" pitchFamily="18" charset="0"/>
                          </a:rPr>
                        </m:ctrlPr>
                      </m:dPr>
                      <m:e>
                        <m:r>
                          <a:rPr lang="en-US" altLang="ja-JP" i="1">
                            <a:latin typeface="Cambria Math" panose="02040503050406030204" pitchFamily="18" charset="0"/>
                          </a:rPr>
                          <m:t>𝑡</m:t>
                        </m:r>
                        <m:r>
                          <a:rPr lang="en-US" altLang="ja-JP" i="1">
                            <a:latin typeface="Cambria Math" panose="02040503050406030204" pitchFamily="18" charset="0"/>
                          </a:rPr>
                          <m:t>,</m:t>
                        </m:r>
                        <m:r>
                          <a:rPr lang="en-US" altLang="ja-JP" i="1">
                            <a:latin typeface="Cambria Math" panose="02040503050406030204" pitchFamily="18" charset="0"/>
                          </a:rPr>
                          <m:t>𝛼</m:t>
                        </m:r>
                      </m:e>
                    </m:d>
                  </m:oMath>
                </a14:m>
                <a:endParaRPr lang="en-US" altLang="ja-JP" i="1" dirty="0">
                  <a:latin typeface="Cambria Math" panose="02040503050406030204" pitchFamily="18" charset="0"/>
                </a:endParaRPr>
              </a:p>
              <a:p>
                <a:pPr lvl="2"/>
                <a14:m>
                  <m:oMath xmlns:m="http://schemas.openxmlformats.org/officeDocument/2006/math">
                    <m:r>
                      <m:rPr>
                        <m:sty m:val="p"/>
                      </m:rPr>
                      <a:rPr lang="en-US" altLang="ja-JP">
                        <a:latin typeface="Cambria Math" panose="02040503050406030204" pitchFamily="18" charset="0"/>
                      </a:rPr>
                      <m:t>Δ</m:t>
                    </m:r>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𝛾</m:t>
                        </m:r>
                      </m:e>
                      <m:sub>
                        <m:r>
                          <m:rPr>
                            <m:sty m:val="p"/>
                          </m:rPr>
                          <a:rPr lang="en-US" altLang="ja-JP">
                            <a:latin typeface="Cambria Math" panose="02040503050406030204" pitchFamily="18" charset="0"/>
                          </a:rPr>
                          <m:t>max</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𝛾</m:t>
                        </m:r>
                      </m:e>
                      <m:sub>
                        <m:r>
                          <m:rPr>
                            <m:sty m:val="p"/>
                          </m:rPr>
                          <a:rPr lang="en-US" altLang="ja-JP">
                            <a:latin typeface="Cambria Math" panose="02040503050406030204" pitchFamily="18" charset="0"/>
                          </a:rPr>
                          <m:t>min</m:t>
                        </m:r>
                      </m:sub>
                    </m:sSub>
                  </m:oMath>
                </a14:m>
                <a:endParaRPr lang="en-US" altLang="ja-JP" i="1" dirty="0">
                  <a:latin typeface="Cambria Math" panose="02040503050406030204" pitchFamily="18" charset="0"/>
                </a:endParaRPr>
              </a:p>
              <a:p>
                <a:pPr lvl="2"/>
                <a14:m>
                  <m:oMath xmlns:m="http://schemas.openxmlformats.org/officeDocument/2006/math">
                    <m:r>
                      <m:rPr>
                        <m:sty m:val="p"/>
                      </m:rPr>
                      <a:rPr lang="en-US" altLang="ja-JP">
                        <a:latin typeface="Cambria Math" panose="02040503050406030204" pitchFamily="18" charset="0"/>
                      </a:rPr>
                      <m:t>Γ</m:t>
                    </m:r>
                    <m:d>
                      <m:dPr>
                        <m:ctrlPr>
                          <a:rPr lang="en-US" altLang="ja-JP" i="1">
                            <a:latin typeface="Cambria Math" panose="02040503050406030204" pitchFamily="18" charset="0"/>
                          </a:rPr>
                        </m:ctrlPr>
                      </m:dPr>
                      <m:e>
                        <m:r>
                          <a:rPr lang="en-US" altLang="ja-JP" i="1">
                            <a:latin typeface="Cambria Math" panose="02040503050406030204" pitchFamily="18" charset="0"/>
                          </a:rPr>
                          <m:t>𝑡</m:t>
                        </m:r>
                        <m:r>
                          <a:rPr lang="en-US" altLang="ja-JP" i="1">
                            <a:latin typeface="Cambria Math" panose="02040503050406030204" pitchFamily="18" charset="0"/>
                          </a:rPr>
                          <m:t>,</m:t>
                        </m:r>
                        <m:r>
                          <a:rPr lang="en-US" altLang="ja-JP" i="1">
                            <a:latin typeface="Cambria Math" panose="02040503050406030204" pitchFamily="18" charset="0"/>
                          </a:rPr>
                          <m:t>𝛼</m:t>
                        </m:r>
                      </m:e>
                    </m:d>
                    <m:r>
                      <a:rPr lang="en-US" altLang="ja-JP" i="1">
                        <a:latin typeface="Cambria Math" panose="02040503050406030204" pitchFamily="18" charset="0"/>
                      </a:rPr>
                      <m:t>=1−</m:t>
                    </m:r>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r>
                      <a:rPr lang="en-US" altLang="ja-JP" i="1">
                        <a:latin typeface="Cambria Math" panose="02040503050406030204" pitchFamily="18" charset="0"/>
                      </a:rPr>
                      <m:t>⋅</m:t>
                    </m:r>
                    <m:sSup>
                      <m:sSupPr>
                        <m:ctrlPr>
                          <a:rPr lang="en-US" altLang="ja-JP" i="1">
                            <a:latin typeface="Cambria Math" panose="02040503050406030204" pitchFamily="18" charset="0"/>
                          </a:rPr>
                        </m:ctrlPr>
                      </m:sSupPr>
                      <m:e>
                        <m:d>
                          <m:dPr>
                            <m:ctrlPr>
                              <a:rPr lang="en-US" altLang="ja-JP" i="1">
                                <a:latin typeface="Cambria Math" panose="02040503050406030204" pitchFamily="18" charset="0"/>
                              </a:rPr>
                            </m:ctrlPr>
                          </m:dPr>
                          <m:e>
                            <m:f>
                              <m:fPr>
                                <m:ctrlPr>
                                  <a:rPr lang="en-US" altLang="ja-JP" i="1">
                                    <a:latin typeface="Cambria Math" panose="02040503050406030204" pitchFamily="18" charset="0"/>
                                  </a:rPr>
                                </m:ctrlPr>
                              </m:fPr>
                              <m:num>
                                <m:r>
                                  <a:rPr lang="en-US" altLang="ja-JP" i="1">
                                    <a:latin typeface="Cambria Math" panose="02040503050406030204" pitchFamily="18" charset="0"/>
                                  </a:rPr>
                                  <m:t>𝑡</m:t>
                                </m:r>
                              </m:num>
                              <m:den>
                                <m:r>
                                  <a:rPr lang="en-US" altLang="ja-JP" i="1">
                                    <a:latin typeface="Cambria Math" panose="02040503050406030204" pitchFamily="18" charset="0"/>
                                  </a:rPr>
                                  <m:t>𝑛</m:t>
                                </m:r>
                              </m:den>
                            </m:f>
                          </m:e>
                        </m:d>
                      </m:e>
                      <m:sup>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i="1">
                                <a:latin typeface="Cambria Math" panose="02040503050406030204" pitchFamily="18" charset="0"/>
                              </a:rPr>
                              <m:t>𝛼</m:t>
                            </m:r>
                          </m:den>
                        </m:f>
                      </m:sup>
                    </m:sSup>
                  </m:oMath>
                </a14:m>
                <a:endParaRPr lang="en-US" altLang="ja-JP" dirty="0"/>
              </a:p>
            </p:txBody>
          </p:sp>
        </mc:Choice>
        <mc:Fallback>
          <p:sp>
            <p:nvSpPr>
              <p:cNvPr id="2" name="コンテンツ プレースホルダー 1">
                <a:extLst>
                  <a:ext uri="{FF2B5EF4-FFF2-40B4-BE49-F238E27FC236}">
                    <a16:creationId xmlns:a16="http://schemas.microsoft.com/office/drawing/2014/main" id="{9ADC1F6C-8F26-944A-ABB2-D8B080F14CCE}"/>
                  </a:ext>
                </a:extLst>
              </p:cNvPr>
              <p:cNvSpPr>
                <a:spLocks noGrp="1" noRot="1" noChangeAspect="1" noMove="1" noResize="1" noEditPoints="1" noAdjustHandles="1" noChangeArrowheads="1" noChangeShapeType="1" noTextEdit="1"/>
              </p:cNvSpPr>
              <p:nvPr>
                <p:ph idx="1"/>
              </p:nvPr>
            </p:nvSpPr>
            <p:spPr>
              <a:xfrm>
                <a:off x="364050" y="1698509"/>
                <a:ext cx="8779949" cy="4351338"/>
              </a:xfrm>
              <a:blipFill>
                <a:blip r:embed="rId2"/>
                <a:stretch>
                  <a:fillRect t="-2915"/>
                </a:stretch>
              </a:blipFill>
            </p:spPr>
            <p:txBody>
              <a:bodyPr/>
              <a:lstStyle/>
              <a:p>
                <a:r>
                  <a:rPr lang="ja-JP" altLang="en-US">
                    <a:noFill/>
                  </a:rPr>
                  <a:t> </a:t>
                </a:r>
              </a:p>
            </p:txBody>
          </p:sp>
        </mc:Fallback>
      </mc:AlternateContent>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4</a:t>
            </a:fld>
            <a:endParaRPr kumimoji="1" lang="ja-JP" altLang="en-US"/>
          </a:p>
        </p:txBody>
      </p:sp>
      <p:pic>
        <p:nvPicPr>
          <p:cNvPr id="108" name="図 107" descr="テキスト, 地図 が含まれている画像&#10;&#10;自動的に生成された説明">
            <a:extLst>
              <a:ext uri="{FF2B5EF4-FFF2-40B4-BE49-F238E27FC236}">
                <a16:creationId xmlns:a16="http://schemas.microsoft.com/office/drawing/2014/main" id="{3A958DA5-7E11-554F-B3BF-D1F07A3B48E7}"/>
              </a:ext>
            </a:extLst>
          </p:cNvPr>
          <p:cNvPicPr>
            <a:picLocks noChangeAspect="1"/>
          </p:cNvPicPr>
          <p:nvPr/>
        </p:nvPicPr>
        <p:blipFill>
          <a:blip r:embed="rId3"/>
          <a:stretch>
            <a:fillRect/>
          </a:stretch>
        </p:blipFill>
        <p:spPr>
          <a:xfrm>
            <a:off x="5369963" y="2699012"/>
            <a:ext cx="3700660" cy="3463117"/>
          </a:xfrm>
          <a:prstGeom prst="rect">
            <a:avLst/>
          </a:prstGeom>
        </p:spPr>
      </p:pic>
      <p:grpSp>
        <p:nvGrpSpPr>
          <p:cNvPr id="109" name="グループ化 108">
            <a:extLst>
              <a:ext uri="{FF2B5EF4-FFF2-40B4-BE49-F238E27FC236}">
                <a16:creationId xmlns:a16="http://schemas.microsoft.com/office/drawing/2014/main" id="{EC123882-1154-F24F-A7DF-49029D865713}"/>
              </a:ext>
            </a:extLst>
          </p:cNvPr>
          <p:cNvGrpSpPr/>
          <p:nvPr/>
        </p:nvGrpSpPr>
        <p:grpSpPr>
          <a:xfrm>
            <a:off x="542923" y="4307029"/>
            <a:ext cx="4585875" cy="1830524"/>
            <a:chOff x="542923" y="4514848"/>
            <a:chExt cx="4585875" cy="1830524"/>
          </a:xfrm>
        </p:grpSpPr>
        <p:sp>
          <p:nvSpPr>
            <p:cNvPr id="110" name="角丸四角形 109">
              <a:extLst>
                <a:ext uri="{FF2B5EF4-FFF2-40B4-BE49-F238E27FC236}">
                  <a16:creationId xmlns:a16="http://schemas.microsoft.com/office/drawing/2014/main" id="{F4F7B2DF-3E45-B744-BAAA-F73385A9F3AB}"/>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1" name="テキスト ボックス 110">
                  <a:extLst>
                    <a:ext uri="{FF2B5EF4-FFF2-40B4-BE49-F238E27FC236}">
                      <a16:creationId xmlns:a16="http://schemas.microsoft.com/office/drawing/2014/main" id="{46B2A70F-B782-5B4D-8460-0F485D202A4B}"/>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xmlns="">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b="-4255"/>
                  </a:stretch>
                </a:blipFill>
              </p:spPr>
              <p:txBody>
                <a:bodyPr/>
                <a:lstStyle/>
                <a:p>
                  <a:r>
                    <a:rPr lang="ja-JP" altLang="en-US">
                      <a:noFill/>
                    </a:rPr>
                    <a:t> </a:t>
                  </a:r>
                </a:p>
              </p:txBody>
            </p:sp>
          </mc:Fallback>
        </mc:AlternateContent>
      </p:gr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6991" y="1019512"/>
            <a:ext cx="1823403" cy="244800"/>
            <a:chOff x="143915" y="1377865"/>
            <a:chExt cx="182340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4654" y="1607575"/>
              <a:ext cx="160266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1819594" cy="244800"/>
            <a:chOff x="143915" y="1384215"/>
            <a:chExt cx="1819594"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159884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197004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既存研究では</a:t>
            </a:r>
            <a:r>
              <a:rPr lang="ja-JP" altLang="en-US">
                <a:solidFill>
                  <a:schemeClr val="accent2"/>
                </a:solidFill>
              </a:rPr>
              <a:t>現在の</a:t>
            </a:r>
            <a:r>
              <a:rPr lang="en" altLang="ja-JP" dirty="0">
                <a:solidFill>
                  <a:schemeClr val="accent2"/>
                </a:solidFill>
              </a:rPr>
              <a:t>offer</a:t>
            </a:r>
            <a:r>
              <a:rPr lang="ja-JP" altLang="en-US">
                <a:solidFill>
                  <a:schemeClr val="accent2"/>
                </a:solidFill>
              </a:rPr>
              <a:t>を過去の</a:t>
            </a:r>
            <a:r>
              <a:rPr lang="en" altLang="ja-JP" dirty="0">
                <a:solidFill>
                  <a:schemeClr val="accent2"/>
                </a:solidFill>
              </a:rPr>
              <a:t>offer</a:t>
            </a:r>
            <a:r>
              <a:rPr lang="ja-JP" altLang="en-US">
                <a:solidFill>
                  <a:schemeClr val="accent2"/>
                </a:solidFill>
              </a:rPr>
              <a:t>と比べる</a:t>
            </a:r>
            <a:r>
              <a:rPr lang="ja-JP" altLang="en-US"/>
              <a:t>という点のみで譲歩するかを判断している</a:t>
            </a:r>
          </a:p>
          <a:p>
            <a:pPr lvl="1"/>
            <a:r>
              <a:rPr lang="ja-JP" altLang="en-US">
                <a:solidFill>
                  <a:schemeClr val="accent1"/>
                </a:solidFill>
              </a:rPr>
              <a:t>極端な</a:t>
            </a:r>
            <a:r>
              <a:rPr lang="en" altLang="ja-JP" dirty="0">
                <a:solidFill>
                  <a:schemeClr val="accent1"/>
                </a:solidFill>
              </a:rPr>
              <a:t>offer</a:t>
            </a:r>
            <a:r>
              <a:rPr lang="ja-JP" altLang="en-US"/>
              <a:t>が来た時に対応が困難</a:t>
            </a:r>
            <a:endParaRPr lang="en-US" altLang="ja-JP" dirty="0"/>
          </a:p>
          <a:p>
            <a:pPr lvl="1"/>
            <a:r>
              <a:rPr lang="ja-JP" altLang="en-US"/>
              <a:t>俯瞰的に</a:t>
            </a:r>
            <a:r>
              <a:rPr lang="ja-JP" altLang="en-US">
                <a:solidFill>
                  <a:schemeClr val="accent1"/>
                </a:solidFill>
              </a:rPr>
              <a:t>相手の特徴を把握</a:t>
            </a:r>
            <a:r>
              <a:rPr lang="ja-JP" altLang="en-US"/>
              <a:t>するのが困難</a:t>
            </a:r>
            <a:endParaRPr lang="en-US" altLang="ja-JP" dirty="0"/>
          </a:p>
          <a:p>
            <a:pPr lvl="1"/>
            <a:r>
              <a:rPr lang="en" altLang="ja-JP" dirty="0"/>
              <a:t>offer</a:t>
            </a:r>
            <a:r>
              <a:rPr lang="ja-JP" altLang="en-US"/>
              <a:t>の送信以外の行動も人間の交渉では行われる</a:t>
            </a:r>
            <a:endParaRPr lang="en-US" altLang="ja-JP" dirty="0"/>
          </a:p>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人間の特徴をより具体的に評価できる指標が必要</a:t>
            </a:r>
            <a:endParaRPr lang="en-US" altLang="ja-JP" dirty="0"/>
          </a:p>
          <a:p>
            <a:pPr lvl="1"/>
            <a:r>
              <a:rPr lang="ja-JP" altLang="en-US"/>
              <a:t>特定のカテゴリに入ったときの戦略しか考えられていない</a:t>
            </a: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5</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8775" y="1020151"/>
            <a:ext cx="3438899" cy="244800"/>
            <a:chOff x="143915" y="1377865"/>
            <a:chExt cx="3438899"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7" y="1607575"/>
              <a:ext cx="321815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3436203" cy="244800"/>
            <a:chOff x="143915" y="1384215"/>
            <a:chExt cx="3436203"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3215458"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1555612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8"/>
            <a:ext cx="8779949" cy="5315355"/>
          </a:xfrm>
        </p:spPr>
        <p:txBody>
          <a:bodyPr>
            <a:normAutofit/>
          </a:bodyPr>
          <a:lstStyle/>
          <a:p>
            <a:r>
              <a:rPr lang="ja-JP" altLang="en-US"/>
              <a:t>対立状態の時の対応をカテゴリ分け</a:t>
            </a:r>
            <a:endParaRPr lang="en-US" altLang="ja-JP" dirty="0"/>
          </a:p>
          <a:p>
            <a:pPr lvl="1"/>
            <a:r>
              <a:rPr lang="ja-JP" altLang="en-US"/>
              <a:t>積極性・協調性によって分類</a:t>
            </a:r>
            <a:endParaRPr lang="en-US" altLang="ja-JP" dirty="0"/>
          </a:p>
          <a:p>
            <a:pPr lvl="1"/>
            <a:r>
              <a:rPr lang="ja-JP" altLang="en-US"/>
              <a:t>競争</a:t>
            </a:r>
            <a:r>
              <a:rPr lang="en" altLang="ja-JP" dirty="0"/>
              <a:t>(Competing)</a:t>
            </a:r>
          </a:p>
          <a:p>
            <a:pPr lvl="2"/>
            <a:r>
              <a:rPr lang="ja-JP" altLang="en-US"/>
              <a:t>相手を犠牲にして</a:t>
            </a:r>
            <a:r>
              <a:rPr lang="ja-JP" altLang="en-US">
                <a:solidFill>
                  <a:schemeClr val="accent2"/>
                </a:solidFill>
              </a:rPr>
              <a:t>自分の利益を追求</a:t>
            </a:r>
            <a:endParaRPr lang="en-US" altLang="ja-JP" dirty="0">
              <a:solidFill>
                <a:schemeClr val="accent2"/>
              </a:solidFill>
            </a:endParaRPr>
          </a:p>
          <a:p>
            <a:pPr lvl="1"/>
            <a:r>
              <a:rPr lang="ja-JP" altLang="en-US"/>
              <a:t>共存</a:t>
            </a:r>
            <a:r>
              <a:rPr lang="en" altLang="ja-JP" dirty="0"/>
              <a:t>(Collaborating)</a:t>
            </a:r>
          </a:p>
          <a:p>
            <a:pPr lvl="2"/>
            <a:r>
              <a:rPr lang="ja-JP" altLang="en-US">
                <a:solidFill>
                  <a:schemeClr val="accent2"/>
                </a:solidFill>
              </a:rPr>
              <a:t>相手と一緒に互いの要求を満たす</a:t>
            </a:r>
            <a:r>
              <a:rPr lang="ja-JP" altLang="en-US"/>
              <a:t>ような解決策を探る</a:t>
            </a:r>
          </a:p>
          <a:p>
            <a:pPr lvl="1"/>
            <a:r>
              <a:rPr lang="ja-JP" altLang="en-US"/>
              <a:t>妥協</a:t>
            </a:r>
            <a:r>
              <a:rPr lang="en" altLang="ja-JP" dirty="0"/>
              <a:t>(Compromising)</a:t>
            </a:r>
          </a:p>
          <a:p>
            <a:pPr lvl="2"/>
            <a:r>
              <a:rPr lang="ja-JP" altLang="en-US"/>
              <a:t>互いに</a:t>
            </a:r>
            <a:r>
              <a:rPr lang="ja-JP" altLang="en-US">
                <a:solidFill>
                  <a:schemeClr val="accent2"/>
                </a:solidFill>
              </a:rPr>
              <a:t>部分的に満足</a:t>
            </a:r>
            <a:r>
              <a:rPr lang="ja-JP" altLang="en-US"/>
              <a:t>できるような妥協案を提案</a:t>
            </a:r>
            <a:endParaRPr lang="en-US" altLang="ja-JP" dirty="0"/>
          </a:p>
          <a:p>
            <a:pPr lvl="1"/>
            <a:r>
              <a:rPr lang="ja-JP" altLang="en-US"/>
              <a:t>回避</a:t>
            </a:r>
            <a:r>
              <a:rPr lang="en" altLang="ja-JP" dirty="0"/>
              <a:t>(Avoiding)</a:t>
            </a:r>
            <a:endParaRPr lang="en-US" altLang="ja-JP" dirty="0"/>
          </a:p>
          <a:p>
            <a:pPr lvl="2"/>
            <a:r>
              <a:rPr lang="ja-JP" altLang="en-US">
                <a:solidFill>
                  <a:schemeClr val="accent2"/>
                </a:solidFill>
              </a:rPr>
              <a:t>利益を追求せず</a:t>
            </a:r>
            <a:r>
              <a:rPr lang="ja-JP" altLang="en-US"/>
              <a:t>自ら競合に対処することはない</a:t>
            </a:r>
            <a:endParaRPr lang="en-US" altLang="ja-JP" dirty="0"/>
          </a:p>
          <a:p>
            <a:pPr lvl="1"/>
            <a:r>
              <a:rPr lang="ja-JP" altLang="en-US"/>
              <a:t>順応</a:t>
            </a:r>
            <a:r>
              <a:rPr lang="en" altLang="ja-JP" dirty="0"/>
              <a:t>(Accommodating)</a:t>
            </a:r>
          </a:p>
          <a:p>
            <a:pPr lvl="2"/>
            <a:r>
              <a:rPr lang="ja-JP" altLang="en-US"/>
              <a:t>自己犠牲の精神があり親身で</a:t>
            </a:r>
            <a:r>
              <a:rPr lang="ja-JP" altLang="en-US">
                <a:solidFill>
                  <a:schemeClr val="accent2"/>
                </a:solidFill>
              </a:rPr>
              <a:t>自分の利益を無視</a:t>
            </a:r>
            <a:r>
              <a:rPr lang="ja-JP" altLang="en-US"/>
              <a:t>する</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はじめに</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6</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endParaRPr lang="ja-JP" altLang="en-US"/>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7447" y="1019593"/>
            <a:ext cx="901543" cy="244800"/>
            <a:chOff x="195674" y="1377865"/>
            <a:chExt cx="901543"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413217" y="1607575"/>
              <a:ext cx="68400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907347" cy="244800"/>
            <a:chOff x="143915" y="1384215"/>
            <a:chExt cx="907347"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68660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7" name="グループ化 36">
            <a:extLst>
              <a:ext uri="{FF2B5EF4-FFF2-40B4-BE49-F238E27FC236}">
                <a16:creationId xmlns:a16="http://schemas.microsoft.com/office/drawing/2014/main" id="{79552E1F-9120-E64C-9540-DDFB9FDEF671}"/>
              </a:ext>
            </a:extLst>
          </p:cNvPr>
          <p:cNvGrpSpPr/>
          <p:nvPr/>
        </p:nvGrpSpPr>
        <p:grpSpPr>
          <a:xfrm>
            <a:off x="6785580" y="989972"/>
            <a:ext cx="2199147" cy="2507155"/>
            <a:chOff x="1211179" y="3557524"/>
            <a:chExt cx="2660968" cy="3033659"/>
          </a:xfrm>
        </p:grpSpPr>
        <p:grpSp>
          <p:nvGrpSpPr>
            <p:cNvPr id="38" name="グループ化 37">
              <a:extLst>
                <a:ext uri="{FF2B5EF4-FFF2-40B4-BE49-F238E27FC236}">
                  <a16:creationId xmlns:a16="http://schemas.microsoft.com/office/drawing/2014/main" id="{69803433-F61A-1A40-B9AE-691A35BE47F5}"/>
                </a:ext>
              </a:extLst>
            </p:cNvPr>
            <p:cNvGrpSpPr/>
            <p:nvPr/>
          </p:nvGrpSpPr>
          <p:grpSpPr>
            <a:xfrm>
              <a:off x="1211179" y="3557524"/>
              <a:ext cx="2660968" cy="2638636"/>
              <a:chOff x="7798032" y="19015474"/>
              <a:chExt cx="5491846" cy="5445754"/>
            </a:xfrm>
          </p:grpSpPr>
          <p:pic>
            <p:nvPicPr>
              <p:cNvPr id="40" name="図 39">
                <a:extLst>
                  <a:ext uri="{FF2B5EF4-FFF2-40B4-BE49-F238E27FC236}">
                    <a16:creationId xmlns:a16="http://schemas.microsoft.com/office/drawing/2014/main" id="{AA9BD915-E82A-5241-BF62-EA3FAB66FBC1}"/>
                  </a:ext>
                </a:extLst>
              </p:cNvPr>
              <p:cNvPicPr>
                <a:picLocks noChangeAspect="1"/>
              </p:cNvPicPr>
              <p:nvPr/>
            </p:nvPicPr>
            <p:blipFill rotWithShape="1">
              <a:blip r:embed="rId2"/>
              <a:srcRect l="10972" t="1550" r="-1061" b="21005"/>
              <a:stretch/>
            </p:blipFill>
            <p:spPr>
              <a:xfrm>
                <a:off x="8648581" y="19015474"/>
                <a:ext cx="4641297" cy="4492610"/>
              </a:xfrm>
              <a:prstGeom prst="rect">
                <a:avLst/>
              </a:prstGeom>
            </p:spPr>
          </p:pic>
          <p:cxnSp>
            <p:nvCxnSpPr>
              <p:cNvPr id="41" name="直線矢印コネクタ 40">
                <a:extLst>
                  <a:ext uri="{FF2B5EF4-FFF2-40B4-BE49-F238E27FC236}">
                    <a16:creationId xmlns:a16="http://schemas.microsoft.com/office/drawing/2014/main" id="{858B0478-FE4A-6E4C-9591-7EEEC15A2797}"/>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56DFAC94-F35C-CB49-B3A9-F5C8C1B287C0}"/>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DC1A6760-BBCE-1145-BB80-C589EB99A503}"/>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44" name="テキスト ボックス 43">
                <a:extLst>
                  <a:ext uri="{FF2B5EF4-FFF2-40B4-BE49-F238E27FC236}">
                    <a16:creationId xmlns:a16="http://schemas.microsoft.com/office/drawing/2014/main" id="{3C03E323-BD53-9743-B9A6-7A8ACC51D829}"/>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
          <p:nvSpPr>
            <p:cNvPr id="39" name="テキスト ボックス 38">
              <a:extLst>
                <a:ext uri="{FF2B5EF4-FFF2-40B4-BE49-F238E27FC236}">
                  <a16:creationId xmlns:a16="http://schemas.microsoft.com/office/drawing/2014/main" id="{06F96016-67B1-2047-96BC-D68CF39D216E}"/>
                </a:ext>
              </a:extLst>
            </p:cNvPr>
            <p:cNvSpPr txBox="1"/>
            <p:nvPr/>
          </p:nvSpPr>
          <p:spPr>
            <a:xfrm>
              <a:off x="2356970" y="6218772"/>
              <a:ext cx="572579" cy="372410"/>
            </a:xfrm>
            <a:prstGeom prst="rect">
              <a:avLst/>
            </a:prstGeom>
            <a:noFill/>
          </p:spPr>
          <p:txBody>
            <a:bodyPr wrap="none" rtlCol="0">
              <a:spAutoFit/>
            </a:bodyPr>
            <a:lstStyle/>
            <a:p>
              <a:r>
                <a:rPr kumimoji="1" lang="en-US" altLang="ja-JP" sz="1400" dirty="0"/>
                <a:t>TKI</a:t>
              </a:r>
              <a:endParaRPr kumimoji="1" lang="ja-JP" altLang="en-US" sz="1400"/>
            </a:p>
          </p:txBody>
        </p:sp>
      </p:grpSp>
    </p:spTree>
    <p:extLst>
      <p:ext uri="{BB962C8B-B14F-4D97-AF65-F5344CB8AC3E}">
        <p14:creationId xmlns:p14="http://schemas.microsoft.com/office/powerpoint/2010/main" val="788737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本研究では</a:t>
            </a:r>
            <a:r>
              <a:rPr lang="ja-JP" altLang="en-US">
                <a:solidFill>
                  <a:schemeClr val="accent2"/>
                </a:solidFill>
              </a:rPr>
              <a:t>プロファイリングを用いた交渉戦略</a:t>
            </a:r>
            <a:r>
              <a:rPr lang="ja-JP" altLang="en-US"/>
              <a:t>を提案</a:t>
            </a:r>
            <a:endParaRPr lang="en-US" altLang="ja-JP" dirty="0"/>
          </a:p>
          <a:p>
            <a:pPr lvl="1"/>
            <a:r>
              <a:rPr lang="ja-JP" altLang="en-US"/>
              <a:t>既存のカテゴリ分類による交渉戦略の問題点を解決する</a:t>
            </a:r>
          </a:p>
          <a:p>
            <a:pPr marL="0" indent="0">
              <a:buNone/>
            </a:pPr>
            <a:endParaRPr lang="ja-JP" altLang="en-US"/>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7</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研究の目的</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8775" y="1018405"/>
            <a:ext cx="2269816" cy="244800"/>
            <a:chOff x="143915" y="1377865"/>
            <a:chExt cx="2269816"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6" y="1607575"/>
              <a:ext cx="204907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2226294" cy="244800"/>
            <a:chOff x="143915" y="1384215"/>
            <a:chExt cx="2226294"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200554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48" name="グループ化 47">
            <a:extLst>
              <a:ext uri="{FF2B5EF4-FFF2-40B4-BE49-F238E27FC236}">
                <a16:creationId xmlns:a16="http://schemas.microsoft.com/office/drawing/2014/main" id="{8CA36C42-6815-FF43-8F00-039337F2EAB9}"/>
              </a:ext>
            </a:extLst>
          </p:cNvPr>
          <p:cNvGrpSpPr/>
          <p:nvPr/>
        </p:nvGrpSpPr>
        <p:grpSpPr>
          <a:xfrm>
            <a:off x="1265727" y="2728561"/>
            <a:ext cx="2682192" cy="3953007"/>
            <a:chOff x="1645453" y="2677223"/>
            <a:chExt cx="2582421" cy="3805965"/>
          </a:xfrm>
        </p:grpSpPr>
        <p:grpSp>
          <p:nvGrpSpPr>
            <p:cNvPr id="68" name="グループ化 67">
              <a:extLst>
                <a:ext uri="{FF2B5EF4-FFF2-40B4-BE49-F238E27FC236}">
                  <a16:creationId xmlns:a16="http://schemas.microsoft.com/office/drawing/2014/main" id="{C232D0AB-57CA-7F46-BA15-B170C0795740}"/>
                </a:ext>
              </a:extLst>
            </p:cNvPr>
            <p:cNvGrpSpPr/>
            <p:nvPr/>
          </p:nvGrpSpPr>
          <p:grpSpPr>
            <a:xfrm>
              <a:off x="1748477" y="2677223"/>
              <a:ext cx="2203288" cy="1530155"/>
              <a:chOff x="16999257" y="21804986"/>
              <a:chExt cx="4722944" cy="3280023"/>
            </a:xfrm>
          </p:grpSpPr>
          <p:pic>
            <p:nvPicPr>
              <p:cNvPr id="78" name="図 77">
                <a:extLst>
                  <a:ext uri="{FF2B5EF4-FFF2-40B4-BE49-F238E27FC236}">
                    <a16:creationId xmlns:a16="http://schemas.microsoft.com/office/drawing/2014/main" id="{9CB6D497-3639-BC49-BD84-B5A0E57B597E}"/>
                  </a:ext>
                </a:extLst>
              </p:cNvPr>
              <p:cNvPicPr>
                <a:picLocks noChangeAspect="1"/>
              </p:cNvPicPr>
              <p:nvPr/>
            </p:nvPicPr>
            <p:blipFill>
              <a:blip r:embed="rId2"/>
              <a:stretch>
                <a:fillRect/>
              </a:stretch>
            </p:blipFill>
            <p:spPr>
              <a:xfrm>
                <a:off x="17564363" y="22957177"/>
                <a:ext cx="1362076" cy="1612984"/>
              </a:xfrm>
              <a:prstGeom prst="rect">
                <a:avLst/>
              </a:prstGeom>
            </p:spPr>
          </p:pic>
          <p:sp>
            <p:nvSpPr>
              <p:cNvPr id="79" name="雲形吹き出し 78">
                <a:extLst>
                  <a:ext uri="{FF2B5EF4-FFF2-40B4-BE49-F238E27FC236}">
                    <a16:creationId xmlns:a16="http://schemas.microsoft.com/office/drawing/2014/main" id="{22B3EB57-221D-B745-9F1C-63D042818747}"/>
                  </a:ext>
                </a:extLst>
              </p:cNvPr>
              <p:cNvSpPr/>
              <p:nvPr/>
            </p:nvSpPr>
            <p:spPr>
              <a:xfrm rot="316483">
                <a:off x="17835808" y="21804986"/>
                <a:ext cx="3189024" cy="1142307"/>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80" name="図 79">
                <a:extLst>
                  <a:ext uri="{FF2B5EF4-FFF2-40B4-BE49-F238E27FC236}">
                    <a16:creationId xmlns:a16="http://schemas.microsoft.com/office/drawing/2014/main" id="{A3DE4A85-636E-AA46-B427-023F8C55F48E}"/>
                  </a:ext>
                </a:extLst>
              </p:cNvPr>
              <p:cNvPicPr>
                <a:picLocks noChangeAspect="1"/>
              </p:cNvPicPr>
              <p:nvPr/>
            </p:nvPicPr>
            <p:blipFill>
              <a:blip r:embed="rId3"/>
              <a:stretch>
                <a:fillRect/>
              </a:stretch>
            </p:blipFill>
            <p:spPr>
              <a:xfrm>
                <a:off x="20676515" y="22999681"/>
                <a:ext cx="923637" cy="1574380"/>
              </a:xfrm>
              <a:prstGeom prst="rect">
                <a:avLst/>
              </a:prstGeom>
            </p:spPr>
          </p:pic>
          <p:sp>
            <p:nvSpPr>
              <p:cNvPr id="81" name="正方形/長方形 80">
                <a:extLst>
                  <a:ext uri="{FF2B5EF4-FFF2-40B4-BE49-F238E27FC236}">
                    <a16:creationId xmlns:a16="http://schemas.microsoft.com/office/drawing/2014/main" id="{349B4408-93AE-6945-AA94-149827084AAE}"/>
                  </a:ext>
                </a:extLst>
              </p:cNvPr>
              <p:cNvSpPr/>
              <p:nvPr/>
            </p:nvSpPr>
            <p:spPr>
              <a:xfrm>
                <a:off x="18158861" y="21981620"/>
                <a:ext cx="2899354"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積極的だな・・・</a:t>
                </a:r>
              </a:p>
            </p:txBody>
          </p:sp>
          <p:sp>
            <p:nvSpPr>
              <p:cNvPr id="82" name="右矢印 81">
                <a:extLst>
                  <a:ext uri="{FF2B5EF4-FFF2-40B4-BE49-F238E27FC236}">
                    <a16:creationId xmlns:a16="http://schemas.microsoft.com/office/drawing/2014/main" id="{7CEF3EC4-EAC3-504E-A785-46723E1709EA}"/>
                  </a:ext>
                </a:extLst>
              </p:cNvPr>
              <p:cNvSpPr/>
              <p:nvPr/>
            </p:nvSpPr>
            <p:spPr>
              <a:xfrm rot="10800000">
                <a:off x="18944144" y="23702387"/>
                <a:ext cx="1591855" cy="334213"/>
              </a:xfrm>
              <a:prstGeom prst="rightArrow">
                <a:avLst>
                  <a:gd name="adj1" fmla="val 68693"/>
                  <a:gd name="adj2" fmla="val 98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83" name="グループ化 82">
                <a:extLst>
                  <a:ext uri="{FF2B5EF4-FFF2-40B4-BE49-F238E27FC236}">
                    <a16:creationId xmlns:a16="http://schemas.microsoft.com/office/drawing/2014/main" id="{4BDBBDA1-77AD-694C-A355-1D84D7A5AD4F}"/>
                  </a:ext>
                </a:extLst>
              </p:cNvPr>
              <p:cNvGrpSpPr/>
              <p:nvPr/>
            </p:nvGrpSpPr>
            <p:grpSpPr>
              <a:xfrm>
                <a:off x="19256898" y="23257700"/>
                <a:ext cx="1188125" cy="1086339"/>
                <a:chOff x="1985286" y="3724205"/>
                <a:chExt cx="1188126" cy="987581"/>
              </a:xfrm>
              <a:solidFill>
                <a:schemeClr val="accent2"/>
              </a:solidFill>
            </p:grpSpPr>
            <p:sp>
              <p:nvSpPr>
                <p:cNvPr id="86" name="メモ 85">
                  <a:extLst>
                    <a:ext uri="{FF2B5EF4-FFF2-40B4-BE49-F238E27FC236}">
                      <a16:creationId xmlns:a16="http://schemas.microsoft.com/office/drawing/2014/main" id="{91BFE056-69D9-EA4A-9A80-65F14D47AB7D}"/>
                    </a:ext>
                  </a:extLst>
                </p:cNvPr>
                <p:cNvSpPr/>
                <p:nvPr/>
              </p:nvSpPr>
              <p:spPr>
                <a:xfrm rot="10800000">
                  <a:off x="2174915" y="3724205"/>
                  <a:ext cx="809527" cy="987581"/>
                </a:xfrm>
                <a:prstGeom prst="foldedCorner">
                  <a:avLst>
                    <a:gd name="adj" fmla="val 3313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solidFill>
                      <a:sysClr val="windowText" lastClr="000000"/>
                    </a:solidFill>
                  </a:endParaRPr>
                </a:p>
              </p:txBody>
            </p:sp>
            <p:sp>
              <p:nvSpPr>
                <p:cNvPr id="87" name="正方形/長方形 86">
                  <a:extLst>
                    <a:ext uri="{FF2B5EF4-FFF2-40B4-BE49-F238E27FC236}">
                      <a16:creationId xmlns:a16="http://schemas.microsoft.com/office/drawing/2014/main" id="{2C4F7E0E-F3E2-B941-8342-0922AB5DDAF9}"/>
                    </a:ext>
                  </a:extLst>
                </p:cNvPr>
                <p:cNvSpPr/>
                <p:nvPr/>
              </p:nvSpPr>
              <p:spPr>
                <a:xfrm>
                  <a:off x="1985286" y="3957406"/>
                  <a:ext cx="1188126" cy="526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ysClr val="windowText" lastClr="000000"/>
                      </a:solidFill>
                    </a:rPr>
                    <a:t>Offer</a:t>
                  </a:r>
                  <a:endParaRPr kumimoji="1" lang="ja-JP" altLang="en-US" sz="900">
                    <a:solidFill>
                      <a:sysClr val="windowText" lastClr="000000"/>
                    </a:solidFill>
                  </a:endParaRPr>
                </a:p>
              </p:txBody>
            </p:sp>
          </p:grpSp>
          <p:sp>
            <p:nvSpPr>
              <p:cNvPr id="84" name="テキスト ボックス 83">
                <a:extLst>
                  <a:ext uri="{FF2B5EF4-FFF2-40B4-BE49-F238E27FC236}">
                    <a16:creationId xmlns:a16="http://schemas.microsoft.com/office/drawing/2014/main" id="{85286AA9-F9BE-8448-9CD3-049BF4A6305E}"/>
                  </a:ext>
                </a:extLst>
              </p:cNvPr>
              <p:cNvSpPr txBox="1"/>
              <p:nvPr/>
            </p:nvSpPr>
            <p:spPr>
              <a:xfrm>
                <a:off x="16999257" y="24560964"/>
                <a:ext cx="2436145"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85" name="テキスト ボックス 84">
                <a:extLst>
                  <a:ext uri="{FF2B5EF4-FFF2-40B4-BE49-F238E27FC236}">
                    <a16:creationId xmlns:a16="http://schemas.microsoft.com/office/drawing/2014/main" id="{9047B528-E19D-7445-999E-625684587C93}"/>
                  </a:ext>
                </a:extLst>
              </p:cNvPr>
              <p:cNvSpPr txBox="1"/>
              <p:nvPr/>
            </p:nvSpPr>
            <p:spPr>
              <a:xfrm>
                <a:off x="20585722" y="24556709"/>
                <a:ext cx="1136479"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69" name="グループ化 68">
              <a:extLst>
                <a:ext uri="{FF2B5EF4-FFF2-40B4-BE49-F238E27FC236}">
                  <a16:creationId xmlns:a16="http://schemas.microsoft.com/office/drawing/2014/main" id="{66EBDDB4-06BB-DD47-B595-232DA8FF493A}"/>
                </a:ext>
              </a:extLst>
            </p:cNvPr>
            <p:cNvGrpSpPr/>
            <p:nvPr/>
          </p:nvGrpSpPr>
          <p:grpSpPr>
            <a:xfrm>
              <a:off x="1645453" y="4013525"/>
              <a:ext cx="2582421" cy="2469663"/>
              <a:chOff x="16778417" y="24751133"/>
              <a:chExt cx="5535649" cy="5293938"/>
            </a:xfrm>
          </p:grpSpPr>
          <p:grpSp>
            <p:nvGrpSpPr>
              <p:cNvPr id="70" name="グループ化 69">
                <a:extLst>
                  <a:ext uri="{FF2B5EF4-FFF2-40B4-BE49-F238E27FC236}">
                    <a16:creationId xmlns:a16="http://schemas.microsoft.com/office/drawing/2014/main" id="{2B3F98FA-8938-6643-A1DB-E920DA7DF5F9}"/>
                  </a:ext>
                </a:extLst>
              </p:cNvPr>
              <p:cNvGrpSpPr/>
              <p:nvPr/>
            </p:nvGrpSpPr>
            <p:grpSpPr>
              <a:xfrm>
                <a:off x="16778417" y="24751133"/>
                <a:ext cx="5415941" cy="5293938"/>
                <a:chOff x="7873938" y="19015474"/>
                <a:chExt cx="5415940" cy="5293939"/>
              </a:xfrm>
            </p:grpSpPr>
            <p:pic>
              <p:nvPicPr>
                <p:cNvPr id="73" name="図 72">
                  <a:extLst>
                    <a:ext uri="{FF2B5EF4-FFF2-40B4-BE49-F238E27FC236}">
                      <a16:creationId xmlns:a16="http://schemas.microsoft.com/office/drawing/2014/main" id="{6B533B99-14C6-704A-8CD5-ACDD280B7B4C}"/>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74" name="直線矢印コネクタ 73">
                  <a:extLst>
                    <a:ext uri="{FF2B5EF4-FFF2-40B4-BE49-F238E27FC236}">
                      <a16:creationId xmlns:a16="http://schemas.microsoft.com/office/drawing/2014/main" id="{3CEBF551-B1B6-2C4B-9C6B-396580E88447}"/>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5BFB3462-0B5D-F246-ABA3-2BA36F0E309C}"/>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160589B4-0FAE-0341-B6F4-0D243A9BFDA5}"/>
                    </a:ext>
                  </a:extLst>
                </p:cNvPr>
                <p:cNvSpPr txBox="1"/>
                <p:nvPr/>
              </p:nvSpPr>
              <p:spPr>
                <a:xfrm>
                  <a:off x="9420397" y="23769489"/>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77" name="テキスト ボックス 76">
                  <a:extLst>
                    <a:ext uri="{FF2B5EF4-FFF2-40B4-BE49-F238E27FC236}">
                      <a16:creationId xmlns:a16="http://schemas.microsoft.com/office/drawing/2014/main" id="{65DF9F8C-7747-0D40-94B3-3B049209BEA1}"/>
                    </a:ext>
                  </a:extLst>
                </p:cNvPr>
                <p:cNvSpPr txBox="1"/>
                <p:nvPr/>
              </p:nvSpPr>
              <p:spPr>
                <a:xfrm rot="16200000">
                  <a:off x="6898875" y="21287147"/>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71" name="図 70">
                <a:extLst>
                  <a:ext uri="{FF2B5EF4-FFF2-40B4-BE49-F238E27FC236}">
                    <a16:creationId xmlns:a16="http://schemas.microsoft.com/office/drawing/2014/main" id="{ABDF0BBA-727A-2E4B-8010-F8B5F334C70A}"/>
                  </a:ext>
                </a:extLst>
              </p:cNvPr>
              <p:cNvPicPr>
                <a:picLocks noChangeAspect="1"/>
              </p:cNvPicPr>
              <p:nvPr/>
            </p:nvPicPr>
            <p:blipFill>
              <a:blip r:embed="rId3">
                <a:duotone>
                  <a:prstClr val="black"/>
                  <a:schemeClr val="accent1">
                    <a:tint val="45000"/>
                    <a:satMod val="400000"/>
                  </a:schemeClr>
                </a:duotone>
              </a:blip>
              <a:stretch>
                <a:fillRect/>
              </a:stretch>
            </p:blipFill>
            <p:spPr>
              <a:xfrm>
                <a:off x="19324672" y="26733403"/>
                <a:ext cx="473971" cy="807904"/>
              </a:xfrm>
              <a:prstGeom prst="rect">
                <a:avLst/>
              </a:prstGeom>
            </p:spPr>
          </p:pic>
          <p:sp>
            <p:nvSpPr>
              <p:cNvPr id="72" name="角丸四角形吹き出し 71">
                <a:extLst>
                  <a:ext uri="{FF2B5EF4-FFF2-40B4-BE49-F238E27FC236}">
                    <a16:creationId xmlns:a16="http://schemas.microsoft.com/office/drawing/2014/main" id="{A6421431-F98E-2944-BC32-00F082A9AD9B}"/>
                  </a:ext>
                </a:extLst>
              </p:cNvPr>
              <p:cNvSpPr/>
              <p:nvPr/>
            </p:nvSpPr>
            <p:spPr>
              <a:xfrm>
                <a:off x="18834709" y="27807434"/>
                <a:ext cx="3479357" cy="587372"/>
              </a:xfrm>
              <a:prstGeom prst="wedgeRoundRectCallout">
                <a:avLst>
                  <a:gd name="adj1" fmla="val -32032"/>
                  <a:gd name="adj2" fmla="val -73269"/>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エージェントの予想</a:t>
                </a:r>
              </a:p>
            </p:txBody>
          </p:sp>
        </p:grpSp>
      </p:grpSp>
      <p:grpSp>
        <p:nvGrpSpPr>
          <p:cNvPr id="49" name="グループ化 48">
            <a:extLst>
              <a:ext uri="{FF2B5EF4-FFF2-40B4-BE49-F238E27FC236}">
                <a16:creationId xmlns:a16="http://schemas.microsoft.com/office/drawing/2014/main" id="{4E48C347-83DA-F24A-BF93-9739D1749CDF}"/>
              </a:ext>
            </a:extLst>
          </p:cNvPr>
          <p:cNvGrpSpPr/>
          <p:nvPr/>
        </p:nvGrpSpPr>
        <p:grpSpPr>
          <a:xfrm>
            <a:off x="5354903" y="2714058"/>
            <a:ext cx="2624191" cy="3960732"/>
            <a:chOff x="4936666" y="2663259"/>
            <a:chExt cx="2526577" cy="3813403"/>
          </a:xfrm>
        </p:grpSpPr>
        <p:grpSp>
          <p:nvGrpSpPr>
            <p:cNvPr id="52" name="グループ化 51">
              <a:extLst>
                <a:ext uri="{FF2B5EF4-FFF2-40B4-BE49-F238E27FC236}">
                  <a16:creationId xmlns:a16="http://schemas.microsoft.com/office/drawing/2014/main" id="{CA0C8D39-20C9-7046-B515-E836E0BBEC22}"/>
                </a:ext>
              </a:extLst>
            </p:cNvPr>
            <p:cNvGrpSpPr/>
            <p:nvPr/>
          </p:nvGrpSpPr>
          <p:grpSpPr>
            <a:xfrm>
              <a:off x="4976999" y="2663259"/>
              <a:ext cx="2203286" cy="1542851"/>
              <a:chOff x="16999261" y="21777783"/>
              <a:chExt cx="4722940" cy="3307241"/>
            </a:xfrm>
          </p:grpSpPr>
          <p:pic>
            <p:nvPicPr>
              <p:cNvPr id="62" name="図 61">
                <a:extLst>
                  <a:ext uri="{FF2B5EF4-FFF2-40B4-BE49-F238E27FC236}">
                    <a16:creationId xmlns:a16="http://schemas.microsoft.com/office/drawing/2014/main" id="{AD858531-E99E-1140-8BD1-1991293F4403}"/>
                  </a:ext>
                </a:extLst>
              </p:cNvPr>
              <p:cNvPicPr>
                <a:picLocks noChangeAspect="1"/>
              </p:cNvPicPr>
              <p:nvPr/>
            </p:nvPicPr>
            <p:blipFill>
              <a:blip r:embed="rId2"/>
              <a:stretch>
                <a:fillRect/>
              </a:stretch>
            </p:blipFill>
            <p:spPr>
              <a:xfrm>
                <a:off x="17564364" y="22957194"/>
                <a:ext cx="1362076" cy="1612985"/>
              </a:xfrm>
              <a:prstGeom prst="rect">
                <a:avLst/>
              </a:prstGeom>
            </p:spPr>
          </p:pic>
          <p:sp>
            <p:nvSpPr>
              <p:cNvPr id="63" name="雲形吹き出し 62">
                <a:extLst>
                  <a:ext uri="{FF2B5EF4-FFF2-40B4-BE49-F238E27FC236}">
                    <a16:creationId xmlns:a16="http://schemas.microsoft.com/office/drawing/2014/main" id="{E9F59B76-DE9D-3241-9683-3C5E5407FF89}"/>
                  </a:ext>
                </a:extLst>
              </p:cNvPr>
              <p:cNvSpPr/>
              <p:nvPr/>
            </p:nvSpPr>
            <p:spPr>
              <a:xfrm rot="316483">
                <a:off x="17835810" y="21777783"/>
                <a:ext cx="3189024" cy="1142309"/>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64" name="図 63">
                <a:extLst>
                  <a:ext uri="{FF2B5EF4-FFF2-40B4-BE49-F238E27FC236}">
                    <a16:creationId xmlns:a16="http://schemas.microsoft.com/office/drawing/2014/main" id="{2824CCA0-2253-D44B-9E9C-79E3D4461749}"/>
                  </a:ext>
                </a:extLst>
              </p:cNvPr>
              <p:cNvPicPr>
                <a:picLocks noChangeAspect="1"/>
              </p:cNvPicPr>
              <p:nvPr/>
            </p:nvPicPr>
            <p:blipFill>
              <a:blip r:embed="rId3"/>
              <a:stretch>
                <a:fillRect/>
              </a:stretch>
            </p:blipFill>
            <p:spPr>
              <a:xfrm>
                <a:off x="20676518" y="22999699"/>
                <a:ext cx="923636" cy="1574380"/>
              </a:xfrm>
              <a:prstGeom prst="rect">
                <a:avLst/>
              </a:prstGeom>
            </p:spPr>
          </p:pic>
          <p:sp>
            <p:nvSpPr>
              <p:cNvPr id="65" name="正方形/長方形 64">
                <a:extLst>
                  <a:ext uri="{FF2B5EF4-FFF2-40B4-BE49-F238E27FC236}">
                    <a16:creationId xmlns:a16="http://schemas.microsoft.com/office/drawing/2014/main" id="{4B88E4F8-9312-7449-92B2-2BC66CF8CA74}"/>
                  </a:ext>
                </a:extLst>
              </p:cNvPr>
              <p:cNvSpPr/>
              <p:nvPr/>
            </p:nvSpPr>
            <p:spPr>
              <a:xfrm>
                <a:off x="18158863" y="21954423"/>
                <a:ext cx="2517656"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多分この辺り</a:t>
                </a:r>
                <a:br>
                  <a:rPr kumimoji="1" lang="en-US" altLang="ja-JP" sz="1050" dirty="0">
                    <a:solidFill>
                      <a:schemeClr val="bg1"/>
                    </a:solidFill>
                    <a:latin typeface="Meiryo" panose="020B0604030504040204" pitchFamily="34" charset="-128"/>
                    <a:ea typeface="Meiryo" panose="020B0604030504040204" pitchFamily="34" charset="-128"/>
                  </a:rPr>
                </a:br>
                <a:r>
                  <a:rPr kumimoji="1" lang="ja-JP" altLang="en-US" sz="1050">
                    <a:solidFill>
                      <a:schemeClr val="bg1"/>
                    </a:solidFill>
                    <a:latin typeface="Meiryo" panose="020B0604030504040204" pitchFamily="34" charset="-128"/>
                    <a:ea typeface="Meiryo" panose="020B0604030504040204" pitchFamily="34" charset="-128"/>
                  </a:rPr>
                  <a:t>だろう</a:t>
                </a:r>
              </a:p>
            </p:txBody>
          </p:sp>
          <p:sp>
            <p:nvSpPr>
              <p:cNvPr id="66" name="テキスト ボックス 65">
                <a:extLst>
                  <a:ext uri="{FF2B5EF4-FFF2-40B4-BE49-F238E27FC236}">
                    <a16:creationId xmlns:a16="http://schemas.microsoft.com/office/drawing/2014/main" id="{9B428983-EBC4-F94A-81BC-1D99A0A464BC}"/>
                  </a:ext>
                </a:extLst>
              </p:cNvPr>
              <p:cNvSpPr txBox="1"/>
              <p:nvPr/>
            </p:nvSpPr>
            <p:spPr>
              <a:xfrm>
                <a:off x="16999261" y="24560978"/>
                <a:ext cx="2436145"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67" name="テキスト ボックス 66">
                <a:extLst>
                  <a:ext uri="{FF2B5EF4-FFF2-40B4-BE49-F238E27FC236}">
                    <a16:creationId xmlns:a16="http://schemas.microsoft.com/office/drawing/2014/main" id="{38091E94-BC02-3B4F-8E91-01E5BBF682DA}"/>
                  </a:ext>
                </a:extLst>
              </p:cNvPr>
              <p:cNvSpPr txBox="1"/>
              <p:nvPr/>
            </p:nvSpPr>
            <p:spPr>
              <a:xfrm>
                <a:off x="20585722" y="24556708"/>
                <a:ext cx="1136479"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53" name="グループ化 52">
              <a:extLst>
                <a:ext uri="{FF2B5EF4-FFF2-40B4-BE49-F238E27FC236}">
                  <a16:creationId xmlns:a16="http://schemas.microsoft.com/office/drawing/2014/main" id="{23A69FF9-71B2-064E-849C-A1F57DB8A459}"/>
                </a:ext>
              </a:extLst>
            </p:cNvPr>
            <p:cNvGrpSpPr/>
            <p:nvPr/>
          </p:nvGrpSpPr>
          <p:grpSpPr>
            <a:xfrm>
              <a:off x="4936666" y="4006999"/>
              <a:ext cx="2526577" cy="2469663"/>
              <a:chOff x="23334278" y="24707724"/>
              <a:chExt cx="5415940" cy="5293939"/>
            </a:xfrm>
          </p:grpSpPr>
          <p:grpSp>
            <p:nvGrpSpPr>
              <p:cNvPr id="54" name="グループ化 53">
                <a:extLst>
                  <a:ext uri="{FF2B5EF4-FFF2-40B4-BE49-F238E27FC236}">
                    <a16:creationId xmlns:a16="http://schemas.microsoft.com/office/drawing/2014/main" id="{745277D5-1F03-3640-8296-F9C9C5E3667C}"/>
                  </a:ext>
                </a:extLst>
              </p:cNvPr>
              <p:cNvGrpSpPr/>
              <p:nvPr/>
            </p:nvGrpSpPr>
            <p:grpSpPr>
              <a:xfrm>
                <a:off x="23334278" y="24707724"/>
                <a:ext cx="5415940" cy="5293939"/>
                <a:chOff x="7873938" y="19015474"/>
                <a:chExt cx="5415940" cy="5293939"/>
              </a:xfrm>
            </p:grpSpPr>
            <p:pic>
              <p:nvPicPr>
                <p:cNvPr id="57" name="図 56">
                  <a:extLst>
                    <a:ext uri="{FF2B5EF4-FFF2-40B4-BE49-F238E27FC236}">
                      <a16:creationId xmlns:a16="http://schemas.microsoft.com/office/drawing/2014/main" id="{A6BFBA9E-5400-2146-BDCB-65520CF865F6}"/>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58" name="直線矢印コネクタ 57">
                  <a:extLst>
                    <a:ext uri="{FF2B5EF4-FFF2-40B4-BE49-F238E27FC236}">
                      <a16:creationId xmlns:a16="http://schemas.microsoft.com/office/drawing/2014/main" id="{733E880D-377C-0D45-AAE7-0A33667BE740}"/>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8A05BED2-5219-2B43-8259-37B2A1ECDCE9}"/>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7FC1480A-DC57-6146-8A46-013AEF13CB6E}"/>
                    </a:ext>
                  </a:extLst>
                </p:cNvPr>
                <p:cNvSpPr txBox="1"/>
                <p:nvPr/>
              </p:nvSpPr>
              <p:spPr>
                <a:xfrm>
                  <a:off x="9420403" y="23769489"/>
                  <a:ext cx="2490052"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61" name="テキスト ボックス 60">
                  <a:extLst>
                    <a:ext uri="{FF2B5EF4-FFF2-40B4-BE49-F238E27FC236}">
                      <a16:creationId xmlns:a16="http://schemas.microsoft.com/office/drawing/2014/main" id="{9EBCEDD2-6605-3F49-9702-B115F6950A27}"/>
                    </a:ext>
                  </a:extLst>
                </p:cNvPr>
                <p:cNvSpPr txBox="1"/>
                <p:nvPr/>
              </p:nvSpPr>
              <p:spPr>
                <a:xfrm rot="16200000">
                  <a:off x="6898875" y="21287145"/>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55" name="図 54">
                <a:extLst>
                  <a:ext uri="{FF2B5EF4-FFF2-40B4-BE49-F238E27FC236}">
                    <a16:creationId xmlns:a16="http://schemas.microsoft.com/office/drawing/2014/main" id="{48587D6B-2F6A-D949-914E-5B041A4D4BB6}"/>
                  </a:ext>
                </a:extLst>
              </p:cNvPr>
              <p:cNvPicPr>
                <a:picLocks noChangeAspect="1"/>
              </p:cNvPicPr>
              <p:nvPr/>
            </p:nvPicPr>
            <p:blipFill>
              <a:blip r:embed="rId3">
                <a:duotone>
                  <a:prstClr val="black"/>
                  <a:schemeClr val="accent2">
                    <a:tint val="45000"/>
                    <a:satMod val="400000"/>
                  </a:schemeClr>
                </a:duotone>
              </a:blip>
              <a:stretch>
                <a:fillRect/>
              </a:stretch>
            </p:blipFill>
            <p:spPr>
              <a:xfrm>
                <a:off x="25869169" y="25446244"/>
                <a:ext cx="473971" cy="807905"/>
              </a:xfrm>
              <a:prstGeom prst="rect">
                <a:avLst/>
              </a:prstGeom>
            </p:spPr>
          </p:pic>
          <p:sp>
            <p:nvSpPr>
              <p:cNvPr id="56" name="角丸四角形吹き出し 55">
                <a:extLst>
                  <a:ext uri="{FF2B5EF4-FFF2-40B4-BE49-F238E27FC236}">
                    <a16:creationId xmlns:a16="http://schemas.microsoft.com/office/drawing/2014/main" id="{0A26028B-744D-614C-977B-FB3B0F359555}"/>
                  </a:ext>
                </a:extLst>
              </p:cNvPr>
              <p:cNvSpPr/>
              <p:nvPr/>
            </p:nvSpPr>
            <p:spPr>
              <a:xfrm>
                <a:off x="25685946" y="26488665"/>
                <a:ext cx="2875500" cy="587372"/>
              </a:xfrm>
              <a:prstGeom prst="wedgeRoundRectCallout">
                <a:avLst>
                  <a:gd name="adj1" fmla="val -32032"/>
                  <a:gd name="adj2" fmla="val -73269"/>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予想を修正</a:t>
                </a:r>
                <a:endParaRPr kumimoji="1" lang="en-US" altLang="ja-JP" sz="1050" dirty="0">
                  <a:solidFill>
                    <a:schemeClr val="bg1"/>
                  </a:solidFill>
                  <a:latin typeface="Meiryo" panose="020B0604030504040204" pitchFamily="34" charset="-128"/>
                  <a:ea typeface="Meiryo" panose="020B0604030504040204" pitchFamily="34" charset="-128"/>
                </a:endParaRPr>
              </a:p>
            </p:txBody>
          </p:sp>
        </p:grpSp>
      </p:grpSp>
      <p:sp>
        <p:nvSpPr>
          <p:cNvPr id="50" name="右矢印 49">
            <a:extLst>
              <a:ext uri="{FF2B5EF4-FFF2-40B4-BE49-F238E27FC236}">
                <a16:creationId xmlns:a16="http://schemas.microsoft.com/office/drawing/2014/main" id="{0D316CA6-9DFA-A945-8ACB-5841E5F7E197}"/>
              </a:ext>
            </a:extLst>
          </p:cNvPr>
          <p:cNvSpPr/>
          <p:nvPr/>
        </p:nvSpPr>
        <p:spPr>
          <a:xfrm>
            <a:off x="3868540" y="5188495"/>
            <a:ext cx="1242189" cy="195944"/>
          </a:xfrm>
          <a:prstGeom prst="rightArrow">
            <a:avLst>
              <a:gd name="adj1" fmla="val 68693"/>
              <a:gd name="adj2" fmla="val 9825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p>
        </p:txBody>
      </p:sp>
      <p:sp>
        <p:nvSpPr>
          <p:cNvPr id="51" name="テキスト ボックス 50">
            <a:extLst>
              <a:ext uri="{FF2B5EF4-FFF2-40B4-BE49-F238E27FC236}">
                <a16:creationId xmlns:a16="http://schemas.microsoft.com/office/drawing/2014/main" id="{8F09E12C-4481-2E40-9AD5-03B58841B4A8}"/>
              </a:ext>
            </a:extLst>
          </p:cNvPr>
          <p:cNvSpPr txBox="1"/>
          <p:nvPr/>
        </p:nvSpPr>
        <p:spPr>
          <a:xfrm>
            <a:off x="3596432" y="4720689"/>
            <a:ext cx="1685855" cy="461665"/>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人間の行動に応じて予想を修正</a:t>
            </a:r>
          </a:p>
        </p:txBody>
      </p:sp>
    </p:spTree>
    <p:extLst>
      <p:ext uri="{BB962C8B-B14F-4D97-AF65-F5344CB8AC3E}">
        <p14:creationId xmlns:p14="http://schemas.microsoft.com/office/powerpoint/2010/main" val="961728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人の性格を</a:t>
            </a:r>
            <a:r>
              <a:rPr lang="en-US" altLang="ja-JP" dirty="0"/>
              <a:t>5</a:t>
            </a:r>
            <a:r>
              <a:rPr lang="ja-JP" altLang="en-US"/>
              <a:t>つの因子の程度で測る</a:t>
            </a:r>
            <a:endParaRPr lang="en-US" altLang="ja-JP" dirty="0"/>
          </a:p>
          <a:p>
            <a:pPr lvl="1"/>
            <a:r>
              <a:rPr lang="ja-JP" altLang="en-US"/>
              <a:t>神経症的傾向</a:t>
            </a:r>
            <a:r>
              <a:rPr lang="en-US" altLang="ja-JP" dirty="0"/>
              <a:t>(Neuroticism)</a:t>
            </a:r>
          </a:p>
          <a:p>
            <a:pPr lvl="2"/>
            <a:r>
              <a:rPr lang="ja-JP" altLang="en-US">
                <a:solidFill>
                  <a:schemeClr val="accent2"/>
                </a:solidFill>
              </a:rPr>
              <a:t>情緒が不安定</a:t>
            </a:r>
            <a:r>
              <a:rPr lang="ja-JP" altLang="en-US"/>
              <a:t>でストレスを感じやすい</a:t>
            </a:r>
            <a:endParaRPr lang="en-US" altLang="ja-JP" dirty="0"/>
          </a:p>
          <a:p>
            <a:pPr lvl="1"/>
            <a:r>
              <a:rPr lang="ja-JP" altLang="en-US"/>
              <a:t>外向性</a:t>
            </a:r>
            <a:r>
              <a:rPr lang="en-US" altLang="ja-JP" dirty="0"/>
              <a:t>(Extraversion)</a:t>
            </a:r>
          </a:p>
          <a:p>
            <a:pPr lvl="2"/>
            <a:r>
              <a:rPr lang="ja-JP" altLang="en-US">
                <a:solidFill>
                  <a:schemeClr val="accent2"/>
                </a:solidFill>
              </a:rPr>
              <a:t>活動的</a:t>
            </a:r>
            <a:r>
              <a:rPr lang="ja-JP" altLang="en-US"/>
              <a:t>で報酬や刺激に対する欲求が非常に高い</a:t>
            </a:r>
            <a:endParaRPr lang="en-US" altLang="ja-JP" dirty="0"/>
          </a:p>
          <a:p>
            <a:pPr lvl="1"/>
            <a:r>
              <a:rPr lang="ja-JP" altLang="en-US"/>
              <a:t>経験への開放性</a:t>
            </a:r>
            <a:r>
              <a:rPr lang="en-US" altLang="ja-JP" dirty="0"/>
              <a:t>(Openness)</a:t>
            </a:r>
          </a:p>
          <a:p>
            <a:pPr lvl="2"/>
            <a:r>
              <a:rPr lang="ja-JP" altLang="en-US">
                <a:solidFill>
                  <a:schemeClr val="accent2"/>
                </a:solidFill>
              </a:rPr>
              <a:t>好奇心</a:t>
            </a:r>
            <a:r>
              <a:rPr lang="ja-JP" altLang="en-US"/>
              <a:t>・</a:t>
            </a:r>
            <a:r>
              <a:rPr lang="ja-JP" altLang="en-US">
                <a:solidFill>
                  <a:schemeClr val="accent2"/>
                </a:solidFill>
              </a:rPr>
              <a:t>創造性</a:t>
            </a:r>
            <a:r>
              <a:rPr lang="ja-JP" altLang="en-US"/>
              <a:t>が高い</a:t>
            </a:r>
            <a:endParaRPr lang="en-US" altLang="ja-JP" dirty="0"/>
          </a:p>
          <a:p>
            <a:pPr lvl="1"/>
            <a:r>
              <a:rPr lang="ja-JP" altLang="en-US"/>
              <a:t>協調性</a:t>
            </a:r>
            <a:r>
              <a:rPr lang="en-US" altLang="ja-JP" dirty="0"/>
              <a:t>(Conscientiousness)</a:t>
            </a:r>
          </a:p>
          <a:p>
            <a:pPr lvl="2"/>
            <a:r>
              <a:rPr lang="ja-JP" altLang="en-US"/>
              <a:t>他者と</a:t>
            </a:r>
            <a:r>
              <a:rPr lang="ja-JP" altLang="en-US">
                <a:solidFill>
                  <a:schemeClr val="accent2"/>
                </a:solidFill>
              </a:rPr>
              <a:t>調和的</a:t>
            </a:r>
            <a:r>
              <a:rPr lang="ja-JP" altLang="en-US"/>
              <a:t>な社会関係を結ぶことに長けている</a:t>
            </a:r>
            <a:endParaRPr lang="en-US" altLang="ja-JP" dirty="0"/>
          </a:p>
          <a:p>
            <a:pPr lvl="1"/>
            <a:r>
              <a:rPr lang="ja-JP" altLang="en-US"/>
              <a:t>誠実性</a:t>
            </a:r>
            <a:r>
              <a:rPr lang="en-US" altLang="ja-JP" dirty="0"/>
              <a:t>(Agreeableness)</a:t>
            </a:r>
          </a:p>
          <a:p>
            <a:pPr lvl="2"/>
            <a:r>
              <a:rPr lang="ja-JP" altLang="en-US">
                <a:solidFill>
                  <a:schemeClr val="accent2"/>
                </a:solidFill>
              </a:rPr>
              <a:t>自己を律する</a:t>
            </a:r>
            <a:r>
              <a:rPr lang="ja-JP" altLang="en-US"/>
              <a:t>能力が高く衝動的行動を抑制することが得意</a:t>
            </a: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プロファイリングの手法</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2</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8</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ビッグファイブ</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8775" y="1019512"/>
            <a:ext cx="2596183" cy="244800"/>
            <a:chOff x="143915" y="1377865"/>
            <a:chExt cx="259618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0744" y="1607575"/>
              <a:ext cx="237935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2547607" cy="244800"/>
            <a:chOff x="143915" y="1384215"/>
            <a:chExt cx="2547607"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232686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9" name="グループ化 18">
            <a:extLst>
              <a:ext uri="{FF2B5EF4-FFF2-40B4-BE49-F238E27FC236}">
                <a16:creationId xmlns:a16="http://schemas.microsoft.com/office/drawing/2014/main" id="{52C71551-A00F-2744-A586-E593519688EE}"/>
              </a:ext>
            </a:extLst>
          </p:cNvPr>
          <p:cNvGrpSpPr/>
          <p:nvPr/>
        </p:nvGrpSpPr>
        <p:grpSpPr>
          <a:xfrm>
            <a:off x="6422824" y="824915"/>
            <a:ext cx="2686889" cy="2458891"/>
            <a:chOff x="4259517" y="3268537"/>
            <a:chExt cx="3251136" cy="2975259"/>
          </a:xfrm>
        </p:grpSpPr>
        <p:sp>
          <p:nvSpPr>
            <p:cNvPr id="20" name="テキスト ボックス 19">
              <a:extLst>
                <a:ext uri="{FF2B5EF4-FFF2-40B4-BE49-F238E27FC236}">
                  <a16:creationId xmlns:a16="http://schemas.microsoft.com/office/drawing/2014/main" id="{53F25B95-E5C8-D04E-A1E8-A3D136EF0A59}"/>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21" name="テキスト ボックス 20">
              <a:extLst>
                <a:ext uri="{FF2B5EF4-FFF2-40B4-BE49-F238E27FC236}">
                  <a16:creationId xmlns:a16="http://schemas.microsoft.com/office/drawing/2014/main" id="{193D2B07-069A-2940-B777-015F277DDC72}"/>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22" name="テキスト ボックス 21">
              <a:extLst>
                <a:ext uri="{FF2B5EF4-FFF2-40B4-BE49-F238E27FC236}">
                  <a16:creationId xmlns:a16="http://schemas.microsoft.com/office/drawing/2014/main" id="{13C11DF5-95B1-3B4D-84ED-71A7879D0702}"/>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23" name="テキスト ボックス 22">
              <a:extLst>
                <a:ext uri="{FF2B5EF4-FFF2-40B4-BE49-F238E27FC236}">
                  <a16:creationId xmlns:a16="http://schemas.microsoft.com/office/drawing/2014/main" id="{DB268488-5F7A-EA46-8C87-939B38E83BCD}"/>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24" name="テキスト ボックス 23">
              <a:extLst>
                <a:ext uri="{FF2B5EF4-FFF2-40B4-BE49-F238E27FC236}">
                  <a16:creationId xmlns:a16="http://schemas.microsoft.com/office/drawing/2014/main" id="{0C5001F5-A4B9-7348-A55B-764E0476AA05}"/>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25" name="グループ化 24">
              <a:extLst>
                <a:ext uri="{FF2B5EF4-FFF2-40B4-BE49-F238E27FC236}">
                  <a16:creationId xmlns:a16="http://schemas.microsoft.com/office/drawing/2014/main" id="{705E77B5-A6BD-2E4F-B479-AA25CBC0AAA4}"/>
                </a:ext>
              </a:extLst>
            </p:cNvPr>
            <p:cNvGrpSpPr/>
            <p:nvPr/>
          </p:nvGrpSpPr>
          <p:grpSpPr>
            <a:xfrm>
              <a:off x="4938565" y="3795935"/>
              <a:ext cx="1865455" cy="1865455"/>
              <a:chOff x="4938565" y="3795935"/>
              <a:chExt cx="1865455" cy="1865455"/>
            </a:xfrm>
          </p:grpSpPr>
          <p:sp>
            <p:nvSpPr>
              <p:cNvPr id="26" name="五角形 25">
                <a:extLst>
                  <a:ext uri="{FF2B5EF4-FFF2-40B4-BE49-F238E27FC236}">
                    <a16:creationId xmlns:a16="http://schemas.microsoft.com/office/drawing/2014/main" id="{482367C9-17F8-684A-8BE3-963AED2CEB35}"/>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27" name="直線コネクタ 26">
                <a:extLst>
                  <a:ext uri="{FF2B5EF4-FFF2-40B4-BE49-F238E27FC236}">
                    <a16:creationId xmlns:a16="http://schemas.microsoft.com/office/drawing/2014/main" id="{676BFE58-3CD8-844B-8152-E59538A76DD1}"/>
                  </a:ext>
                </a:extLst>
              </p:cNvPr>
              <p:cNvCxnSpPr>
                <a:cxnSpLocks/>
                <a:stCxn id="26" idx="0"/>
                <a:endCxn id="3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A57BE1E-C39B-EE48-BD38-2DA99B654512}"/>
                  </a:ext>
                </a:extLst>
              </p:cNvPr>
              <p:cNvCxnSpPr>
                <a:cxnSpLocks/>
                <a:stCxn id="32" idx="3"/>
                <a:endCxn id="2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386CDF1-3A0A-5243-844E-5BD2EA9AB95B}"/>
                  </a:ext>
                </a:extLst>
              </p:cNvPr>
              <p:cNvCxnSpPr>
                <a:cxnSpLocks/>
                <a:stCxn id="32" idx="5"/>
                <a:endCxn id="2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77A26F8-323D-5542-9856-08E4E070C741}"/>
                  </a:ext>
                </a:extLst>
              </p:cNvPr>
              <p:cNvCxnSpPr>
                <a:cxnSpLocks/>
                <a:stCxn id="32" idx="6"/>
                <a:endCxn id="2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48FE9C4-1DAA-CE4D-B284-C2B179BDA807}"/>
                  </a:ext>
                </a:extLst>
              </p:cNvPr>
              <p:cNvCxnSpPr>
                <a:cxnSpLocks/>
                <a:stCxn id="26" idx="1"/>
                <a:endCxn id="3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2" name="円/楕円 31">
                <a:extLst>
                  <a:ext uri="{FF2B5EF4-FFF2-40B4-BE49-F238E27FC236}">
                    <a16:creationId xmlns:a16="http://schemas.microsoft.com/office/drawing/2014/main" id="{4F750818-9C93-B749-99BB-5C97184B4934}"/>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3" name="五角形 278">
                <a:extLst>
                  <a:ext uri="{FF2B5EF4-FFF2-40B4-BE49-F238E27FC236}">
                    <a16:creationId xmlns:a16="http://schemas.microsoft.com/office/drawing/2014/main" id="{4ED90A91-43CA-0A4F-979B-AB4E5A48E9E7}"/>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2600598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人の性格を</a:t>
            </a:r>
            <a:r>
              <a:rPr lang="en-US" altLang="ja-JP" dirty="0"/>
              <a:t>5</a:t>
            </a:r>
            <a:r>
              <a:rPr lang="ja-JP" altLang="en-US"/>
              <a:t>つの因子の程度で測る</a:t>
            </a:r>
            <a:endParaRPr lang="en-US" altLang="ja-JP" dirty="0"/>
          </a:p>
          <a:p>
            <a:pPr lvl="1"/>
            <a:r>
              <a:rPr lang="ja-JP" altLang="en-US"/>
              <a:t>アンケートなどで値を測定することが一般的</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プロファイリングの手法</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2</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9</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ビッグファイブ</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8775" y="1019512"/>
            <a:ext cx="2596183" cy="244800"/>
            <a:chOff x="143915" y="1377865"/>
            <a:chExt cx="259618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0744" y="1607575"/>
              <a:ext cx="237935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2547607" cy="244800"/>
            <a:chOff x="143915" y="1384215"/>
            <a:chExt cx="2547607"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232686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aphicFrame>
        <p:nvGraphicFramePr>
          <p:cNvPr id="13" name="表 12">
            <a:extLst>
              <a:ext uri="{FF2B5EF4-FFF2-40B4-BE49-F238E27FC236}">
                <a16:creationId xmlns:a16="http://schemas.microsoft.com/office/drawing/2014/main" id="{9E4A6C55-E21C-794B-922E-DDAFC1DDA092}"/>
              </a:ext>
            </a:extLst>
          </p:cNvPr>
          <p:cNvGraphicFramePr>
            <a:graphicFrameLocks noGrp="1"/>
          </p:cNvGraphicFramePr>
          <p:nvPr>
            <p:extLst>
              <p:ext uri="{D42A27DB-BD31-4B8C-83A1-F6EECF244321}">
                <p14:modId xmlns:p14="http://schemas.microsoft.com/office/powerpoint/2010/main" val="4258779224"/>
              </p:ext>
            </p:extLst>
          </p:nvPr>
        </p:nvGraphicFramePr>
        <p:xfrm>
          <a:off x="500242" y="3404039"/>
          <a:ext cx="3132000" cy="1838874"/>
        </p:xfrm>
        <a:graphic>
          <a:graphicData uri="http://schemas.openxmlformats.org/drawingml/2006/table">
            <a:tbl>
              <a:tblPr firstRow="1" bandRow="1">
                <a:tableStyleId>{5C22544A-7EE6-4342-B048-85BDC9FD1C3A}</a:tableStyleId>
              </a:tblPr>
              <a:tblGrid>
                <a:gridCol w="1885938">
                  <a:extLst>
                    <a:ext uri="{9D8B030D-6E8A-4147-A177-3AD203B41FA5}">
                      <a16:colId xmlns:a16="http://schemas.microsoft.com/office/drawing/2014/main" val="504126986"/>
                    </a:ext>
                  </a:extLst>
                </a:gridCol>
                <a:gridCol w="1246062">
                  <a:extLst>
                    <a:ext uri="{9D8B030D-6E8A-4147-A177-3AD203B41FA5}">
                      <a16:colId xmlns:a16="http://schemas.microsoft.com/office/drawing/2014/main" val="2516912393"/>
                    </a:ext>
                  </a:extLst>
                </a:gridCol>
              </a:tblGrid>
              <a:tr h="306479">
                <a:tc>
                  <a:txBody>
                    <a:bodyPr/>
                    <a:lstStyle/>
                    <a:p>
                      <a:pPr algn="ctr"/>
                      <a:r>
                        <a:rPr lang="ja-JP" altLang="en-US" sz="1100">
                          <a:solidFill>
                            <a:schemeClr val="bg1"/>
                          </a:solidFill>
                          <a:effectLst/>
                        </a:rPr>
                        <a:t>質問項目</a:t>
                      </a:r>
                    </a:p>
                  </a:txBody>
                  <a:tcPr marL="0" marR="0" marT="0" marB="0" anchor="ctr"/>
                </a:tc>
                <a:tc>
                  <a:txBody>
                    <a:bodyPr/>
                    <a:lstStyle/>
                    <a:p>
                      <a:pPr algn="ctr"/>
                      <a:r>
                        <a:rPr lang="ja-JP" altLang="en-US" sz="1100">
                          <a:solidFill>
                            <a:schemeClr val="bg1"/>
                          </a:solidFill>
                          <a:effectLst/>
                        </a:rPr>
                        <a:t>測る因子</a:t>
                      </a:r>
                      <a:endParaRPr lang="en" sz="1100" dirty="0">
                        <a:solidFill>
                          <a:schemeClr val="bg1"/>
                        </a:solidFill>
                        <a:effectLst/>
                      </a:endParaRPr>
                    </a:p>
                  </a:txBody>
                  <a:tcPr marL="0" marR="0" marT="0" marB="0" anchor="ctr"/>
                </a:tc>
                <a:extLst>
                  <a:ext uri="{0D108BD9-81ED-4DB2-BD59-A6C34878D82A}">
                    <a16:rowId xmlns:a16="http://schemas.microsoft.com/office/drawing/2014/main" val="3561883420"/>
                  </a:ext>
                </a:extLst>
              </a:tr>
              <a:tr h="306479">
                <a:tc>
                  <a:txBody>
                    <a:bodyPr/>
                    <a:lstStyle/>
                    <a:p>
                      <a:r>
                        <a:rPr lang="ja-JP" altLang="en-US" sz="1100">
                          <a:solidFill>
                            <a:srgbClr val="000000"/>
                          </a:solidFill>
                          <a:effectLst/>
                        </a:rPr>
                        <a:t>すぐにストレスがたまってしまう</a:t>
                      </a:r>
                    </a:p>
                  </a:txBody>
                  <a:tcPr marL="0" marR="0" marT="0" marB="0" anchor="ctr"/>
                </a:tc>
                <a:tc>
                  <a:txBody>
                    <a:bodyPr/>
                    <a:lstStyle/>
                    <a:p>
                      <a:pPr algn="ctr"/>
                      <a:r>
                        <a:rPr lang="ja-JP" altLang="en-US" sz="1100">
                          <a:solidFill>
                            <a:srgbClr val="000000"/>
                          </a:solidFill>
                          <a:effectLst/>
                        </a:rPr>
                        <a:t>神経症傾向</a:t>
                      </a:r>
                      <a:r>
                        <a:rPr lang="en-US" altLang="ja-JP" sz="1100" dirty="0">
                          <a:solidFill>
                            <a:srgbClr val="000000"/>
                          </a:solidFill>
                          <a:effectLst/>
                        </a:rPr>
                        <a:t>+</a:t>
                      </a:r>
                      <a:endParaRPr lang="en" sz="1100" dirty="0">
                        <a:solidFill>
                          <a:srgbClr val="000000"/>
                        </a:solidFill>
                        <a:effectLst/>
                      </a:endParaRPr>
                    </a:p>
                  </a:txBody>
                  <a:tcPr marL="0" marR="0" marT="0" marB="0" anchor="ctr"/>
                </a:tc>
                <a:extLst>
                  <a:ext uri="{0D108BD9-81ED-4DB2-BD59-A6C34878D82A}">
                    <a16:rowId xmlns:a16="http://schemas.microsoft.com/office/drawing/2014/main" val="1535554951"/>
                  </a:ext>
                </a:extLst>
              </a:tr>
              <a:tr h="306479">
                <a:tc>
                  <a:txBody>
                    <a:bodyPr/>
                    <a:lstStyle/>
                    <a:p>
                      <a:r>
                        <a:rPr lang="ja-JP" altLang="en-US" sz="1100">
                          <a:solidFill>
                            <a:srgbClr val="000000"/>
                          </a:solidFill>
                          <a:effectLst/>
                        </a:rPr>
                        <a:t> 盛り上げ役である</a:t>
                      </a:r>
                    </a:p>
                  </a:txBody>
                  <a:tcPr marL="0" marR="0" marT="0" marB="0" anchor="ctr"/>
                </a:tc>
                <a:tc>
                  <a:txBody>
                    <a:bodyPr/>
                    <a:lstStyle/>
                    <a:p>
                      <a:pPr algn="ctr"/>
                      <a:r>
                        <a:rPr lang="ja-JP" altLang="en-US" sz="1100">
                          <a:solidFill>
                            <a:srgbClr val="000000"/>
                          </a:solidFill>
                          <a:effectLst/>
                        </a:rPr>
                        <a:t>外向性</a:t>
                      </a:r>
                      <a:r>
                        <a:rPr lang="en-US" altLang="ja-JP" sz="1100" dirty="0">
                          <a:solidFill>
                            <a:srgbClr val="000000"/>
                          </a:solidFill>
                          <a:effectLst/>
                        </a:rPr>
                        <a:t>+</a:t>
                      </a:r>
                      <a:endParaRPr lang="en" sz="1100" dirty="0">
                        <a:solidFill>
                          <a:srgbClr val="000000"/>
                        </a:solidFill>
                        <a:effectLst/>
                      </a:endParaRPr>
                    </a:p>
                  </a:txBody>
                  <a:tcPr marL="0" marR="0" marT="0" marB="0" anchor="ctr"/>
                </a:tc>
                <a:extLst>
                  <a:ext uri="{0D108BD9-81ED-4DB2-BD59-A6C34878D82A}">
                    <a16:rowId xmlns:a16="http://schemas.microsoft.com/office/drawing/2014/main" val="397160355"/>
                  </a:ext>
                </a:extLst>
              </a:tr>
              <a:tr h="306479">
                <a:tc>
                  <a:txBody>
                    <a:bodyPr/>
                    <a:lstStyle/>
                    <a:p>
                      <a:r>
                        <a:rPr lang="ja-JP" altLang="en-US" sz="1100">
                          <a:solidFill>
                            <a:srgbClr val="000000"/>
                          </a:solidFill>
                          <a:effectLst/>
                        </a:rPr>
                        <a:t>語彙が豊富である</a:t>
                      </a:r>
                    </a:p>
                  </a:txBody>
                  <a:tcPr marL="0" marR="0" marT="0" marB="0" anchor="ctr"/>
                </a:tc>
                <a:tc>
                  <a:txBody>
                    <a:bodyPr/>
                    <a:lstStyle/>
                    <a:p>
                      <a:pPr algn="ctr"/>
                      <a:r>
                        <a:rPr lang="ja-JP" altLang="en-US" sz="1100">
                          <a:solidFill>
                            <a:srgbClr val="000000"/>
                          </a:solidFill>
                          <a:effectLst/>
                        </a:rPr>
                        <a:t>経験への開放性</a:t>
                      </a:r>
                      <a:r>
                        <a:rPr lang="en-US" altLang="ja-JP" sz="1100" dirty="0">
                          <a:solidFill>
                            <a:srgbClr val="000000"/>
                          </a:solidFill>
                          <a:effectLst/>
                        </a:rPr>
                        <a:t>+</a:t>
                      </a:r>
                      <a:endParaRPr lang="en" sz="1100" dirty="0">
                        <a:solidFill>
                          <a:srgbClr val="000000"/>
                        </a:solidFill>
                        <a:effectLst/>
                      </a:endParaRPr>
                    </a:p>
                  </a:txBody>
                  <a:tcPr marL="0" marR="0" marT="0" marB="0" anchor="ctr"/>
                </a:tc>
                <a:extLst>
                  <a:ext uri="{0D108BD9-81ED-4DB2-BD59-A6C34878D82A}">
                    <a16:rowId xmlns:a16="http://schemas.microsoft.com/office/drawing/2014/main" val="1943684188"/>
                  </a:ext>
                </a:extLst>
              </a:tr>
              <a:tr h="306479">
                <a:tc>
                  <a:txBody>
                    <a:bodyPr/>
                    <a:lstStyle/>
                    <a:p>
                      <a:r>
                        <a:rPr lang="ja-JP" altLang="en-US" sz="1100">
                          <a:solidFill>
                            <a:srgbClr val="000000"/>
                          </a:solidFill>
                          <a:effectLst/>
                        </a:rPr>
                        <a:t> 他人を気づかうことはない</a:t>
                      </a:r>
                    </a:p>
                  </a:txBody>
                  <a:tcPr marL="0" marR="0" marT="0" marB="0" anchor="ctr"/>
                </a:tc>
                <a:tc>
                  <a:txBody>
                    <a:bodyPr/>
                    <a:lstStyle/>
                    <a:p>
                      <a:pPr algn="ctr"/>
                      <a:r>
                        <a:rPr lang="ja-JP" altLang="en-US" sz="1100">
                          <a:solidFill>
                            <a:srgbClr val="000000"/>
                          </a:solidFill>
                          <a:effectLst/>
                        </a:rPr>
                        <a:t>協調性</a:t>
                      </a:r>
                      <a:r>
                        <a:rPr lang="en-US" altLang="ja-JP" sz="1100" dirty="0">
                          <a:solidFill>
                            <a:srgbClr val="000000"/>
                          </a:solidFill>
                          <a:effectLst/>
                        </a:rPr>
                        <a:t>-</a:t>
                      </a:r>
                      <a:endParaRPr lang="en" sz="1100" dirty="0">
                        <a:solidFill>
                          <a:srgbClr val="000000"/>
                        </a:solidFill>
                        <a:effectLst/>
                      </a:endParaRPr>
                    </a:p>
                  </a:txBody>
                  <a:tcPr marL="0" marR="0" marT="0" marB="0" anchor="ctr"/>
                </a:tc>
                <a:extLst>
                  <a:ext uri="{0D108BD9-81ED-4DB2-BD59-A6C34878D82A}">
                    <a16:rowId xmlns:a16="http://schemas.microsoft.com/office/drawing/2014/main" val="2983325012"/>
                  </a:ext>
                </a:extLst>
              </a:tr>
              <a:tr h="306479">
                <a:tc>
                  <a:txBody>
                    <a:bodyPr/>
                    <a:lstStyle/>
                    <a:p>
                      <a:r>
                        <a:rPr lang="ja-JP" altLang="en-US" sz="1100">
                          <a:solidFill>
                            <a:srgbClr val="000000"/>
                          </a:solidFill>
                          <a:effectLst/>
                        </a:rPr>
                        <a:t> いつも用意周到である</a:t>
                      </a:r>
                    </a:p>
                  </a:txBody>
                  <a:tcPr marL="0" marR="0" marT="0" marB="0" anchor="ctr"/>
                </a:tc>
                <a:tc>
                  <a:txBody>
                    <a:bodyPr/>
                    <a:lstStyle/>
                    <a:p>
                      <a:pPr algn="ctr"/>
                      <a:r>
                        <a:rPr lang="ja-JP" altLang="en-US" sz="1100">
                          <a:solidFill>
                            <a:srgbClr val="000000"/>
                          </a:solidFill>
                          <a:effectLst/>
                        </a:rPr>
                        <a:t>誠実性</a:t>
                      </a:r>
                      <a:r>
                        <a:rPr lang="en-US" altLang="ja-JP" sz="1100" dirty="0">
                          <a:solidFill>
                            <a:srgbClr val="000000"/>
                          </a:solidFill>
                          <a:effectLst/>
                        </a:rPr>
                        <a:t>+</a:t>
                      </a:r>
                      <a:endParaRPr lang="en" sz="1100" dirty="0">
                        <a:solidFill>
                          <a:srgbClr val="000000"/>
                        </a:solidFill>
                        <a:effectLst/>
                      </a:endParaRPr>
                    </a:p>
                  </a:txBody>
                  <a:tcPr marL="0" marR="0" marT="0" marB="0" anchor="ctr"/>
                </a:tc>
                <a:extLst>
                  <a:ext uri="{0D108BD9-81ED-4DB2-BD59-A6C34878D82A}">
                    <a16:rowId xmlns:a16="http://schemas.microsoft.com/office/drawing/2014/main" val="3001091524"/>
                  </a:ext>
                </a:extLst>
              </a:tr>
            </a:tbl>
          </a:graphicData>
        </a:graphic>
      </p:graphicFrame>
      <p:grpSp>
        <p:nvGrpSpPr>
          <p:cNvPr id="54" name="グループ化 53">
            <a:extLst>
              <a:ext uri="{FF2B5EF4-FFF2-40B4-BE49-F238E27FC236}">
                <a16:creationId xmlns:a16="http://schemas.microsoft.com/office/drawing/2014/main" id="{1C23DE4B-F040-BB4B-A34D-046082BF25A9}"/>
              </a:ext>
            </a:extLst>
          </p:cNvPr>
          <p:cNvGrpSpPr/>
          <p:nvPr/>
        </p:nvGrpSpPr>
        <p:grpSpPr>
          <a:xfrm>
            <a:off x="4346212" y="1806327"/>
            <a:ext cx="4722299" cy="4865630"/>
            <a:chOff x="4491686" y="1806327"/>
            <a:chExt cx="4722299" cy="4865630"/>
          </a:xfrm>
        </p:grpSpPr>
        <p:grpSp>
          <p:nvGrpSpPr>
            <p:cNvPr id="18" name="グループ化 17">
              <a:extLst>
                <a:ext uri="{FF2B5EF4-FFF2-40B4-BE49-F238E27FC236}">
                  <a16:creationId xmlns:a16="http://schemas.microsoft.com/office/drawing/2014/main" id="{8049B793-6231-1F48-81A8-E45BF9167CE5}"/>
                </a:ext>
              </a:extLst>
            </p:cNvPr>
            <p:cNvGrpSpPr/>
            <p:nvPr/>
          </p:nvGrpSpPr>
          <p:grpSpPr>
            <a:xfrm>
              <a:off x="4491686" y="4302259"/>
              <a:ext cx="4722299" cy="2369698"/>
              <a:chOff x="4491686" y="4302259"/>
              <a:chExt cx="4722299" cy="2369698"/>
            </a:xfrm>
          </p:grpSpPr>
          <p:grpSp>
            <p:nvGrpSpPr>
              <p:cNvPr id="16" name="グループ化 15">
                <a:extLst>
                  <a:ext uri="{FF2B5EF4-FFF2-40B4-BE49-F238E27FC236}">
                    <a16:creationId xmlns:a16="http://schemas.microsoft.com/office/drawing/2014/main" id="{10854B50-0337-8340-AA6F-CAF9EAF6B345}"/>
                  </a:ext>
                </a:extLst>
              </p:cNvPr>
              <p:cNvGrpSpPr/>
              <p:nvPr/>
            </p:nvGrpSpPr>
            <p:grpSpPr>
              <a:xfrm>
                <a:off x="6831098" y="4302259"/>
                <a:ext cx="2382887" cy="2369698"/>
                <a:chOff x="5643349" y="4076529"/>
                <a:chExt cx="2621174" cy="2606668"/>
              </a:xfrm>
            </p:grpSpPr>
            <p:grpSp>
              <p:nvGrpSpPr>
                <p:cNvPr id="37" name="グループ化 36">
                  <a:extLst>
                    <a:ext uri="{FF2B5EF4-FFF2-40B4-BE49-F238E27FC236}">
                      <a16:creationId xmlns:a16="http://schemas.microsoft.com/office/drawing/2014/main" id="{9380677E-9017-2845-BFC7-EC6BBF75E8A1}"/>
                    </a:ext>
                  </a:extLst>
                </p:cNvPr>
                <p:cNvGrpSpPr/>
                <p:nvPr/>
              </p:nvGrpSpPr>
              <p:grpSpPr>
                <a:xfrm>
                  <a:off x="5643349" y="4076529"/>
                  <a:ext cx="2621174" cy="2306999"/>
                  <a:chOff x="4137813" y="3222898"/>
                  <a:chExt cx="3488777" cy="3070615"/>
                </a:xfrm>
              </p:grpSpPr>
              <p:sp>
                <p:nvSpPr>
                  <p:cNvPr id="39" name="テキスト ボックス 38">
                    <a:extLst>
                      <a:ext uri="{FF2B5EF4-FFF2-40B4-BE49-F238E27FC236}">
                        <a16:creationId xmlns:a16="http://schemas.microsoft.com/office/drawing/2014/main" id="{37C8AD7F-8E03-B642-9EF3-AB5378B36F0E}"/>
                      </a:ext>
                    </a:extLst>
                  </p:cNvPr>
                  <p:cNvSpPr txBox="1"/>
                  <p:nvPr/>
                </p:nvSpPr>
                <p:spPr>
                  <a:xfrm>
                    <a:off x="5249247" y="3222898"/>
                    <a:ext cx="1256092" cy="608331"/>
                  </a:xfrm>
                  <a:prstGeom prst="rect">
                    <a:avLst/>
                  </a:prstGeom>
                  <a:noFill/>
                </p:spPr>
                <p:txBody>
                  <a:bodyPr wrap="none" rtlCol="0">
                    <a:spAutoFit/>
                  </a:bodyPr>
                  <a:lstStyle/>
                  <a:p>
                    <a:pPr algn="ctr"/>
                    <a:r>
                      <a:rPr kumimoji="1" lang="ja-JP" altLang="en-US" sz="1050"/>
                      <a:t>神経症傾向</a:t>
                    </a:r>
                    <a:endParaRPr kumimoji="1" lang="en-US" altLang="ja-JP" sz="1050" dirty="0"/>
                  </a:p>
                  <a:p>
                    <a:pPr algn="ctr"/>
                    <a:r>
                      <a:rPr kumimoji="1" lang="en-US" altLang="ja-JP" sz="1050" dirty="0"/>
                      <a:t>(N)</a:t>
                    </a:r>
                    <a:endParaRPr kumimoji="1" lang="ja-JP" altLang="en-US" sz="1050"/>
                  </a:p>
                </p:txBody>
              </p:sp>
              <p:sp>
                <p:nvSpPr>
                  <p:cNvPr id="40" name="テキスト ボックス 39">
                    <a:extLst>
                      <a:ext uri="{FF2B5EF4-FFF2-40B4-BE49-F238E27FC236}">
                        <a16:creationId xmlns:a16="http://schemas.microsoft.com/office/drawing/2014/main" id="{02A05474-759C-264C-AE78-A94BC0777F7E}"/>
                      </a:ext>
                    </a:extLst>
                  </p:cNvPr>
                  <p:cNvSpPr txBox="1"/>
                  <p:nvPr/>
                </p:nvSpPr>
                <p:spPr>
                  <a:xfrm>
                    <a:off x="5717356" y="5682852"/>
                    <a:ext cx="1650380" cy="608331"/>
                  </a:xfrm>
                  <a:prstGeom prst="rect">
                    <a:avLst/>
                  </a:prstGeom>
                  <a:noFill/>
                </p:spPr>
                <p:txBody>
                  <a:bodyPr wrap="none" rtlCol="0">
                    <a:spAutoFit/>
                  </a:bodyPr>
                  <a:lstStyle/>
                  <a:p>
                    <a:pPr algn="ctr"/>
                    <a:r>
                      <a:rPr kumimoji="1" lang="ja-JP" altLang="en-US" sz="1050"/>
                      <a:t>経験への開放性</a:t>
                    </a:r>
                    <a:endParaRPr kumimoji="1" lang="en-US" altLang="ja-JP" sz="1050" dirty="0"/>
                  </a:p>
                  <a:p>
                    <a:pPr algn="ctr"/>
                    <a:r>
                      <a:rPr kumimoji="1" lang="en-US" altLang="ja-JP" sz="1050" dirty="0"/>
                      <a:t>(O)</a:t>
                    </a:r>
                    <a:endParaRPr kumimoji="1" lang="ja-JP" altLang="en-US" sz="1050"/>
                  </a:p>
                </p:txBody>
              </p:sp>
              <p:sp>
                <p:nvSpPr>
                  <p:cNvPr id="41" name="テキスト ボックス 40">
                    <a:extLst>
                      <a:ext uri="{FF2B5EF4-FFF2-40B4-BE49-F238E27FC236}">
                        <a16:creationId xmlns:a16="http://schemas.microsoft.com/office/drawing/2014/main" id="{6135020C-7BB9-1843-9800-71DC66A9930A}"/>
                      </a:ext>
                    </a:extLst>
                  </p:cNvPr>
                  <p:cNvSpPr txBox="1"/>
                  <p:nvPr/>
                </p:nvSpPr>
                <p:spPr>
                  <a:xfrm>
                    <a:off x="6764788" y="4236253"/>
                    <a:ext cx="861802" cy="608330"/>
                  </a:xfrm>
                  <a:prstGeom prst="rect">
                    <a:avLst/>
                  </a:prstGeom>
                  <a:noFill/>
                </p:spPr>
                <p:txBody>
                  <a:bodyPr wrap="none" rtlCol="0">
                    <a:spAutoFit/>
                  </a:bodyPr>
                  <a:lstStyle/>
                  <a:p>
                    <a:pPr algn="ctr"/>
                    <a:r>
                      <a:rPr kumimoji="1" lang="ja-JP" altLang="en-US" sz="1050"/>
                      <a:t>外向性</a:t>
                    </a:r>
                    <a:endParaRPr kumimoji="1" lang="en-US" altLang="ja-JP" sz="1050" dirty="0"/>
                  </a:p>
                  <a:p>
                    <a:pPr algn="ctr"/>
                    <a:r>
                      <a:rPr kumimoji="1" lang="en-US" altLang="ja-JP" sz="1050" dirty="0"/>
                      <a:t>(E)</a:t>
                    </a:r>
                    <a:endParaRPr kumimoji="1" lang="ja-JP" altLang="en-US" sz="1050"/>
                  </a:p>
                </p:txBody>
              </p:sp>
              <p:sp>
                <p:nvSpPr>
                  <p:cNvPr id="42" name="テキスト ボックス 41">
                    <a:extLst>
                      <a:ext uri="{FF2B5EF4-FFF2-40B4-BE49-F238E27FC236}">
                        <a16:creationId xmlns:a16="http://schemas.microsoft.com/office/drawing/2014/main" id="{8A4977FF-E73F-194D-836F-68151FE4787F}"/>
                      </a:ext>
                    </a:extLst>
                  </p:cNvPr>
                  <p:cNvSpPr txBox="1"/>
                  <p:nvPr/>
                </p:nvSpPr>
                <p:spPr>
                  <a:xfrm>
                    <a:off x="4711498" y="5685182"/>
                    <a:ext cx="861802" cy="608331"/>
                  </a:xfrm>
                  <a:prstGeom prst="rect">
                    <a:avLst/>
                  </a:prstGeom>
                  <a:noFill/>
                </p:spPr>
                <p:txBody>
                  <a:bodyPr wrap="none" rtlCol="0">
                    <a:spAutoFit/>
                  </a:bodyPr>
                  <a:lstStyle/>
                  <a:p>
                    <a:pPr algn="ctr"/>
                    <a:r>
                      <a:rPr kumimoji="1" lang="ja-JP" altLang="en-US" sz="1050"/>
                      <a:t>協調性</a:t>
                    </a:r>
                    <a:endParaRPr kumimoji="1" lang="en-US" altLang="ja-JP" sz="1050" dirty="0"/>
                  </a:p>
                  <a:p>
                    <a:pPr algn="ctr"/>
                    <a:r>
                      <a:rPr kumimoji="1" lang="en-US" altLang="ja-JP" sz="1050" dirty="0"/>
                      <a:t>(A)</a:t>
                    </a:r>
                    <a:endParaRPr kumimoji="1" lang="ja-JP" altLang="en-US" sz="1050"/>
                  </a:p>
                </p:txBody>
              </p:sp>
              <p:sp>
                <p:nvSpPr>
                  <p:cNvPr id="43" name="テキスト ボックス 42">
                    <a:extLst>
                      <a:ext uri="{FF2B5EF4-FFF2-40B4-BE49-F238E27FC236}">
                        <a16:creationId xmlns:a16="http://schemas.microsoft.com/office/drawing/2014/main" id="{D067CCA2-C655-A144-A51E-4067CEABE24F}"/>
                      </a:ext>
                    </a:extLst>
                  </p:cNvPr>
                  <p:cNvSpPr txBox="1"/>
                  <p:nvPr/>
                </p:nvSpPr>
                <p:spPr>
                  <a:xfrm>
                    <a:off x="4137813" y="4236253"/>
                    <a:ext cx="861801" cy="608330"/>
                  </a:xfrm>
                  <a:prstGeom prst="rect">
                    <a:avLst/>
                  </a:prstGeom>
                  <a:noFill/>
                </p:spPr>
                <p:txBody>
                  <a:bodyPr wrap="none" rtlCol="0">
                    <a:spAutoFit/>
                  </a:bodyPr>
                  <a:lstStyle/>
                  <a:p>
                    <a:r>
                      <a:rPr kumimoji="1" lang="ja-JP" altLang="en-US" sz="1050"/>
                      <a:t>誠実性</a:t>
                    </a:r>
                    <a:endParaRPr kumimoji="1" lang="en-US" altLang="ja-JP" sz="1050" dirty="0"/>
                  </a:p>
                  <a:p>
                    <a:pPr algn="ctr"/>
                    <a:r>
                      <a:rPr kumimoji="1" lang="en-US" altLang="ja-JP" sz="1050" dirty="0"/>
                      <a:t>(C)</a:t>
                    </a:r>
                    <a:endParaRPr kumimoji="1" lang="ja-JP" altLang="en-US" sz="1050"/>
                  </a:p>
                </p:txBody>
              </p:sp>
              <p:grpSp>
                <p:nvGrpSpPr>
                  <p:cNvPr id="44" name="グループ化 43">
                    <a:extLst>
                      <a:ext uri="{FF2B5EF4-FFF2-40B4-BE49-F238E27FC236}">
                        <a16:creationId xmlns:a16="http://schemas.microsoft.com/office/drawing/2014/main" id="{6C48A194-3016-8546-98DB-51D8B414ED25}"/>
                      </a:ext>
                    </a:extLst>
                  </p:cNvPr>
                  <p:cNvGrpSpPr/>
                  <p:nvPr/>
                </p:nvGrpSpPr>
                <p:grpSpPr>
                  <a:xfrm>
                    <a:off x="4938565" y="3795935"/>
                    <a:ext cx="1865455" cy="1865455"/>
                    <a:chOff x="4938565" y="3795935"/>
                    <a:chExt cx="1865455" cy="1865455"/>
                  </a:xfrm>
                </p:grpSpPr>
                <p:sp>
                  <p:nvSpPr>
                    <p:cNvPr id="45" name="五角形 44">
                      <a:extLst>
                        <a:ext uri="{FF2B5EF4-FFF2-40B4-BE49-F238E27FC236}">
                          <a16:creationId xmlns:a16="http://schemas.microsoft.com/office/drawing/2014/main" id="{89E70B5E-E254-0D46-8806-F3464BB0819F}"/>
                        </a:ext>
                      </a:extLst>
                    </p:cNvPr>
                    <p:cNvSpPr>
                      <a:spLocks noChangeAspect="1"/>
                    </p:cNvSpPr>
                    <p:nvPr/>
                  </p:nvSpPr>
                  <p:spPr>
                    <a:xfrm>
                      <a:off x="4938565" y="3795935"/>
                      <a:ext cx="1865455" cy="1865455"/>
                    </a:xfrm>
                    <a:prstGeom prst="pentagon">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cxnSp>
                  <p:nvCxnSpPr>
                    <p:cNvPr id="46" name="直線コネクタ 45">
                      <a:extLst>
                        <a:ext uri="{FF2B5EF4-FFF2-40B4-BE49-F238E27FC236}">
                          <a16:creationId xmlns:a16="http://schemas.microsoft.com/office/drawing/2014/main" id="{70FDE1E2-E70E-E54F-9D4F-D5D6502F6037}"/>
                        </a:ext>
                      </a:extLst>
                    </p:cNvPr>
                    <p:cNvCxnSpPr>
                      <a:cxnSpLocks/>
                      <a:stCxn id="45" idx="0"/>
                      <a:endCxn id="51" idx="0"/>
                    </p:cNvCxnSpPr>
                    <p:nvPr/>
                  </p:nvCxnSpPr>
                  <p:spPr>
                    <a:xfrm>
                      <a:off x="5871293" y="3795935"/>
                      <a:ext cx="4732" cy="960873"/>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3366F156-40FA-A746-90EE-E3FF4FD7D271}"/>
                        </a:ext>
                      </a:extLst>
                    </p:cNvPr>
                    <p:cNvCxnSpPr>
                      <a:cxnSpLocks/>
                      <a:stCxn id="51" idx="3"/>
                      <a:endCxn id="45" idx="2"/>
                    </p:cNvCxnSpPr>
                    <p:nvPr/>
                  </p:nvCxnSpPr>
                  <p:spPr>
                    <a:xfrm flipH="1">
                      <a:off x="5294836" y="4794967"/>
                      <a:ext cx="565383" cy="866418"/>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F2C750C9-8DE2-D540-94A8-EB93F99BE764}"/>
                        </a:ext>
                      </a:extLst>
                    </p:cNvPr>
                    <p:cNvCxnSpPr>
                      <a:cxnSpLocks/>
                      <a:stCxn id="51" idx="5"/>
                      <a:endCxn id="45" idx="4"/>
                    </p:cNvCxnSpPr>
                    <p:nvPr/>
                  </p:nvCxnSpPr>
                  <p:spPr>
                    <a:xfrm>
                      <a:off x="5891831" y="4794967"/>
                      <a:ext cx="555918" cy="866418"/>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07D58886-DA81-6843-B744-E9EEE70C7904}"/>
                        </a:ext>
                      </a:extLst>
                    </p:cNvPr>
                    <p:cNvCxnSpPr>
                      <a:cxnSpLocks/>
                      <a:stCxn id="51" idx="6"/>
                      <a:endCxn id="45" idx="5"/>
                    </p:cNvCxnSpPr>
                    <p:nvPr/>
                  </p:nvCxnSpPr>
                  <p:spPr>
                    <a:xfrm flipV="1">
                      <a:off x="5898378" y="4508474"/>
                      <a:ext cx="905640" cy="270687"/>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523BB7A6-9C3B-3C4E-B565-C55C4CC1C4AA}"/>
                        </a:ext>
                      </a:extLst>
                    </p:cNvPr>
                    <p:cNvCxnSpPr>
                      <a:cxnSpLocks/>
                      <a:stCxn id="45" idx="1"/>
                      <a:endCxn id="51" idx="2"/>
                    </p:cNvCxnSpPr>
                    <p:nvPr/>
                  </p:nvCxnSpPr>
                  <p:spPr>
                    <a:xfrm>
                      <a:off x="4938567" y="4508474"/>
                      <a:ext cx="915105" cy="270687"/>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51" name="円/楕円 50">
                      <a:extLst>
                        <a:ext uri="{FF2B5EF4-FFF2-40B4-BE49-F238E27FC236}">
                          <a16:creationId xmlns:a16="http://schemas.microsoft.com/office/drawing/2014/main" id="{B5ACC3C8-8D98-DD41-8E3B-442CD2C3408D}"/>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2" name="五角形 278">
                      <a:extLst>
                        <a:ext uri="{FF2B5EF4-FFF2-40B4-BE49-F238E27FC236}">
                          <a16:creationId xmlns:a16="http://schemas.microsoft.com/office/drawing/2014/main" id="{A0CF0F86-F2F4-0D44-9394-0053BE10CBF7}"/>
                        </a:ext>
                      </a:extLst>
                    </p:cNvPr>
                    <p:cNvSpPr>
                      <a:spLocks noChangeAspect="1"/>
                    </p:cNvSpPr>
                    <p:nvPr/>
                  </p:nvSpPr>
                  <p:spPr>
                    <a:xfrm>
                      <a:off x="5382686" y="4372539"/>
                      <a:ext cx="1261568" cy="1162888"/>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 name="connsiteX0" fmla="*/ 53941 w 1126912"/>
                        <a:gd name="connsiteY0" fmla="*/ 489019 h 1546046"/>
                        <a:gd name="connsiteX1" fmla="*/ 570107 w 1126912"/>
                        <a:gd name="connsiteY1" fmla="*/ 0 h 1546046"/>
                        <a:gd name="connsiteX2" fmla="*/ 1126912 w 1126912"/>
                        <a:gd name="connsiteY2" fmla="*/ 499179 h 1546046"/>
                        <a:gd name="connsiteX3" fmla="*/ 811283 w 1126912"/>
                        <a:gd name="connsiteY3" fmla="*/ 1012010 h 1546046"/>
                        <a:gd name="connsiteX4" fmla="*/ 0 w 1126912"/>
                        <a:gd name="connsiteY4" fmla="*/ 1546046 h 1546046"/>
                        <a:gd name="connsiteX5" fmla="*/ 53941 w 1126912"/>
                        <a:gd name="connsiteY5" fmla="*/ 489019 h 1546046"/>
                        <a:gd name="connsiteX0" fmla="*/ 53941 w 925745"/>
                        <a:gd name="connsiteY0" fmla="*/ 489019 h 1546046"/>
                        <a:gd name="connsiteX1" fmla="*/ 570107 w 925745"/>
                        <a:gd name="connsiteY1" fmla="*/ 0 h 1546046"/>
                        <a:gd name="connsiteX2" fmla="*/ 925745 w 925745"/>
                        <a:gd name="connsiteY2" fmla="*/ 562044 h 1546046"/>
                        <a:gd name="connsiteX3" fmla="*/ 811283 w 925745"/>
                        <a:gd name="connsiteY3" fmla="*/ 1012010 h 1546046"/>
                        <a:gd name="connsiteX4" fmla="*/ 0 w 925745"/>
                        <a:gd name="connsiteY4" fmla="*/ 1546046 h 1546046"/>
                        <a:gd name="connsiteX5" fmla="*/ 53941 w 925745"/>
                        <a:gd name="connsiteY5" fmla="*/ 489019 h 1546046"/>
                        <a:gd name="connsiteX0" fmla="*/ 53941 w 925745"/>
                        <a:gd name="connsiteY0" fmla="*/ 489019 h 1546046"/>
                        <a:gd name="connsiteX1" fmla="*/ 570107 w 925745"/>
                        <a:gd name="connsiteY1" fmla="*/ 0 h 1546046"/>
                        <a:gd name="connsiteX2" fmla="*/ 925745 w 925745"/>
                        <a:gd name="connsiteY2" fmla="*/ 562044 h 1546046"/>
                        <a:gd name="connsiteX3" fmla="*/ 748418 w 925745"/>
                        <a:gd name="connsiteY3" fmla="*/ 911426 h 1546046"/>
                        <a:gd name="connsiteX4" fmla="*/ 0 w 925745"/>
                        <a:gd name="connsiteY4" fmla="*/ 1546046 h 1546046"/>
                        <a:gd name="connsiteX5" fmla="*/ 53941 w 925745"/>
                        <a:gd name="connsiteY5" fmla="*/ 489019 h 1546046"/>
                        <a:gd name="connsiteX0" fmla="*/ 53941 w 925745"/>
                        <a:gd name="connsiteY0" fmla="*/ 652468 h 1709495"/>
                        <a:gd name="connsiteX1" fmla="*/ 582681 w 925745"/>
                        <a:gd name="connsiteY1" fmla="*/ 0 h 1709495"/>
                        <a:gd name="connsiteX2" fmla="*/ 925745 w 925745"/>
                        <a:gd name="connsiteY2" fmla="*/ 725493 h 1709495"/>
                        <a:gd name="connsiteX3" fmla="*/ 748418 w 925745"/>
                        <a:gd name="connsiteY3" fmla="*/ 1074875 h 1709495"/>
                        <a:gd name="connsiteX4" fmla="*/ 0 w 925745"/>
                        <a:gd name="connsiteY4" fmla="*/ 1709495 h 1709495"/>
                        <a:gd name="connsiteX5" fmla="*/ 53941 w 925745"/>
                        <a:gd name="connsiteY5" fmla="*/ 652468 h 1709495"/>
                        <a:gd name="connsiteX0" fmla="*/ 405984 w 925745"/>
                        <a:gd name="connsiteY0" fmla="*/ 790771 h 1709495"/>
                        <a:gd name="connsiteX1" fmla="*/ 582681 w 925745"/>
                        <a:gd name="connsiteY1" fmla="*/ 0 h 1709495"/>
                        <a:gd name="connsiteX2" fmla="*/ 925745 w 925745"/>
                        <a:gd name="connsiteY2" fmla="*/ 725493 h 1709495"/>
                        <a:gd name="connsiteX3" fmla="*/ 748418 w 925745"/>
                        <a:gd name="connsiteY3" fmla="*/ 1074875 h 1709495"/>
                        <a:gd name="connsiteX4" fmla="*/ 0 w 925745"/>
                        <a:gd name="connsiteY4" fmla="*/ 1709495 h 1709495"/>
                        <a:gd name="connsiteX5" fmla="*/ 405984 w 925745"/>
                        <a:gd name="connsiteY5" fmla="*/ 790771 h 1709495"/>
                        <a:gd name="connsiteX0" fmla="*/ 204816 w 925745"/>
                        <a:gd name="connsiteY0" fmla="*/ 702760 h 1709495"/>
                        <a:gd name="connsiteX1" fmla="*/ 582681 w 925745"/>
                        <a:gd name="connsiteY1" fmla="*/ 0 h 1709495"/>
                        <a:gd name="connsiteX2" fmla="*/ 925745 w 925745"/>
                        <a:gd name="connsiteY2" fmla="*/ 725493 h 1709495"/>
                        <a:gd name="connsiteX3" fmla="*/ 748418 w 925745"/>
                        <a:gd name="connsiteY3" fmla="*/ 1074875 h 1709495"/>
                        <a:gd name="connsiteX4" fmla="*/ 0 w 925745"/>
                        <a:gd name="connsiteY4" fmla="*/ 1709495 h 1709495"/>
                        <a:gd name="connsiteX5" fmla="*/ 204816 w 925745"/>
                        <a:gd name="connsiteY5" fmla="*/ 702760 h 1709495"/>
                        <a:gd name="connsiteX0" fmla="*/ 0 w 720929"/>
                        <a:gd name="connsiteY0" fmla="*/ 702760 h 1074875"/>
                        <a:gd name="connsiteX1" fmla="*/ 377865 w 720929"/>
                        <a:gd name="connsiteY1" fmla="*/ 0 h 1074875"/>
                        <a:gd name="connsiteX2" fmla="*/ 720929 w 720929"/>
                        <a:gd name="connsiteY2" fmla="*/ 725493 h 1074875"/>
                        <a:gd name="connsiteX3" fmla="*/ 543602 w 720929"/>
                        <a:gd name="connsiteY3" fmla="*/ 1074875 h 1074875"/>
                        <a:gd name="connsiteX4" fmla="*/ 247813 w 720929"/>
                        <a:gd name="connsiteY4" fmla="*/ 1043126 h 1074875"/>
                        <a:gd name="connsiteX5" fmla="*/ 0 w 720929"/>
                        <a:gd name="connsiteY5" fmla="*/ 702760 h 1074875"/>
                        <a:gd name="connsiteX0" fmla="*/ 0 w 945938"/>
                        <a:gd name="connsiteY0" fmla="*/ 702760 h 1716099"/>
                        <a:gd name="connsiteX1" fmla="*/ 377865 w 945938"/>
                        <a:gd name="connsiteY1" fmla="*/ 0 h 1716099"/>
                        <a:gd name="connsiteX2" fmla="*/ 720929 w 945938"/>
                        <a:gd name="connsiteY2" fmla="*/ 725493 h 1716099"/>
                        <a:gd name="connsiteX3" fmla="*/ 945938 w 945938"/>
                        <a:gd name="connsiteY3" fmla="*/ 1716099 h 1716099"/>
                        <a:gd name="connsiteX4" fmla="*/ 247813 w 945938"/>
                        <a:gd name="connsiteY4" fmla="*/ 1043126 h 1716099"/>
                        <a:gd name="connsiteX5" fmla="*/ 0 w 945938"/>
                        <a:gd name="connsiteY5" fmla="*/ 702760 h 1716099"/>
                        <a:gd name="connsiteX0" fmla="*/ 0 w 1299287"/>
                        <a:gd name="connsiteY0" fmla="*/ 702760 h 1716099"/>
                        <a:gd name="connsiteX1" fmla="*/ 377865 w 1299287"/>
                        <a:gd name="connsiteY1" fmla="*/ 0 h 1716099"/>
                        <a:gd name="connsiteX2" fmla="*/ 1299287 w 1299287"/>
                        <a:gd name="connsiteY2" fmla="*/ 562044 h 1716099"/>
                        <a:gd name="connsiteX3" fmla="*/ 945938 w 1299287"/>
                        <a:gd name="connsiteY3" fmla="*/ 1716099 h 1716099"/>
                        <a:gd name="connsiteX4" fmla="*/ 247813 w 1299287"/>
                        <a:gd name="connsiteY4" fmla="*/ 1043126 h 1716099"/>
                        <a:gd name="connsiteX5" fmla="*/ 0 w 1299287"/>
                        <a:gd name="connsiteY5" fmla="*/ 702760 h 1716099"/>
                        <a:gd name="connsiteX0" fmla="*/ 0 w 1299287"/>
                        <a:gd name="connsiteY0" fmla="*/ 140716 h 1154055"/>
                        <a:gd name="connsiteX1" fmla="*/ 377865 w 1299287"/>
                        <a:gd name="connsiteY1" fmla="*/ 41460 h 1154055"/>
                        <a:gd name="connsiteX2" fmla="*/ 1299287 w 1299287"/>
                        <a:gd name="connsiteY2" fmla="*/ 0 h 1154055"/>
                        <a:gd name="connsiteX3" fmla="*/ 945938 w 1299287"/>
                        <a:gd name="connsiteY3" fmla="*/ 1154055 h 1154055"/>
                        <a:gd name="connsiteX4" fmla="*/ 247813 w 1299287"/>
                        <a:gd name="connsiteY4" fmla="*/ 481082 h 1154055"/>
                        <a:gd name="connsiteX5" fmla="*/ 0 w 1299287"/>
                        <a:gd name="connsiteY5" fmla="*/ 140716 h 1154055"/>
                        <a:gd name="connsiteX0" fmla="*/ 0 w 1299287"/>
                        <a:gd name="connsiteY0" fmla="*/ 287852 h 1301191"/>
                        <a:gd name="connsiteX1" fmla="*/ 377865 w 1299287"/>
                        <a:gd name="connsiteY1" fmla="*/ 0 h 1301191"/>
                        <a:gd name="connsiteX2" fmla="*/ 1299287 w 1299287"/>
                        <a:gd name="connsiteY2" fmla="*/ 147136 h 1301191"/>
                        <a:gd name="connsiteX3" fmla="*/ 945938 w 1299287"/>
                        <a:gd name="connsiteY3" fmla="*/ 1301191 h 1301191"/>
                        <a:gd name="connsiteX4" fmla="*/ 247813 w 1299287"/>
                        <a:gd name="connsiteY4" fmla="*/ 628218 h 1301191"/>
                        <a:gd name="connsiteX5" fmla="*/ 0 w 1299287"/>
                        <a:gd name="connsiteY5" fmla="*/ 287852 h 1301191"/>
                        <a:gd name="connsiteX0" fmla="*/ 0 w 1123265"/>
                        <a:gd name="connsiteY0" fmla="*/ 363289 h 1301191"/>
                        <a:gd name="connsiteX1" fmla="*/ 201843 w 1123265"/>
                        <a:gd name="connsiteY1" fmla="*/ 0 h 1301191"/>
                        <a:gd name="connsiteX2" fmla="*/ 1123265 w 1123265"/>
                        <a:gd name="connsiteY2" fmla="*/ 147136 h 1301191"/>
                        <a:gd name="connsiteX3" fmla="*/ 769916 w 1123265"/>
                        <a:gd name="connsiteY3" fmla="*/ 1301191 h 1301191"/>
                        <a:gd name="connsiteX4" fmla="*/ 71791 w 1123265"/>
                        <a:gd name="connsiteY4" fmla="*/ 628218 h 1301191"/>
                        <a:gd name="connsiteX5" fmla="*/ 0 w 1123265"/>
                        <a:gd name="connsiteY5" fmla="*/ 363289 h 1301191"/>
                        <a:gd name="connsiteX0" fmla="*/ 0 w 1412444"/>
                        <a:gd name="connsiteY0" fmla="*/ 275278 h 1301191"/>
                        <a:gd name="connsiteX1" fmla="*/ 491022 w 1412444"/>
                        <a:gd name="connsiteY1" fmla="*/ 0 h 1301191"/>
                        <a:gd name="connsiteX2" fmla="*/ 1412444 w 1412444"/>
                        <a:gd name="connsiteY2" fmla="*/ 147136 h 1301191"/>
                        <a:gd name="connsiteX3" fmla="*/ 1059095 w 1412444"/>
                        <a:gd name="connsiteY3" fmla="*/ 1301191 h 1301191"/>
                        <a:gd name="connsiteX4" fmla="*/ 360970 w 1412444"/>
                        <a:gd name="connsiteY4" fmla="*/ 628218 h 1301191"/>
                        <a:gd name="connsiteX5" fmla="*/ 0 w 1412444"/>
                        <a:gd name="connsiteY5" fmla="*/ 275278 h 1301191"/>
                        <a:gd name="connsiteX0" fmla="*/ 0 w 1412444"/>
                        <a:gd name="connsiteY0" fmla="*/ 275278 h 1301191"/>
                        <a:gd name="connsiteX1" fmla="*/ 491022 w 1412444"/>
                        <a:gd name="connsiteY1" fmla="*/ 0 h 1301191"/>
                        <a:gd name="connsiteX2" fmla="*/ 1412444 w 1412444"/>
                        <a:gd name="connsiteY2" fmla="*/ 147136 h 1301191"/>
                        <a:gd name="connsiteX3" fmla="*/ 1059095 w 1412444"/>
                        <a:gd name="connsiteY3" fmla="*/ 1301191 h 1301191"/>
                        <a:gd name="connsiteX4" fmla="*/ 411261 w 1412444"/>
                        <a:gd name="connsiteY4" fmla="*/ 552780 h 1301191"/>
                        <a:gd name="connsiteX5" fmla="*/ 0 w 1412444"/>
                        <a:gd name="connsiteY5" fmla="*/ 275278 h 1301191"/>
                        <a:gd name="connsiteX0" fmla="*/ 0 w 1412444"/>
                        <a:gd name="connsiteY0" fmla="*/ 275278 h 1188034"/>
                        <a:gd name="connsiteX1" fmla="*/ 491022 w 1412444"/>
                        <a:gd name="connsiteY1" fmla="*/ 0 h 1188034"/>
                        <a:gd name="connsiteX2" fmla="*/ 1412444 w 1412444"/>
                        <a:gd name="connsiteY2" fmla="*/ 147136 h 1188034"/>
                        <a:gd name="connsiteX3" fmla="*/ 958511 w 1412444"/>
                        <a:gd name="connsiteY3" fmla="*/ 1188034 h 1188034"/>
                        <a:gd name="connsiteX4" fmla="*/ 411261 w 1412444"/>
                        <a:gd name="connsiteY4" fmla="*/ 552780 h 1188034"/>
                        <a:gd name="connsiteX5" fmla="*/ 0 w 1412444"/>
                        <a:gd name="connsiteY5" fmla="*/ 275278 h 1188034"/>
                        <a:gd name="connsiteX0" fmla="*/ 0 w 1261568"/>
                        <a:gd name="connsiteY0" fmla="*/ 275278 h 1188034"/>
                        <a:gd name="connsiteX1" fmla="*/ 491022 w 1261568"/>
                        <a:gd name="connsiteY1" fmla="*/ 0 h 1188034"/>
                        <a:gd name="connsiteX2" fmla="*/ 1261568 w 1261568"/>
                        <a:gd name="connsiteY2" fmla="*/ 172282 h 1188034"/>
                        <a:gd name="connsiteX3" fmla="*/ 958511 w 1261568"/>
                        <a:gd name="connsiteY3" fmla="*/ 1188034 h 1188034"/>
                        <a:gd name="connsiteX4" fmla="*/ 411261 w 1261568"/>
                        <a:gd name="connsiteY4" fmla="*/ 552780 h 1188034"/>
                        <a:gd name="connsiteX5" fmla="*/ 0 w 1261568"/>
                        <a:gd name="connsiteY5" fmla="*/ 275278 h 1188034"/>
                        <a:gd name="connsiteX0" fmla="*/ 0 w 1261568"/>
                        <a:gd name="connsiteY0" fmla="*/ 275278 h 1162888"/>
                        <a:gd name="connsiteX1" fmla="*/ 491022 w 1261568"/>
                        <a:gd name="connsiteY1" fmla="*/ 0 h 1162888"/>
                        <a:gd name="connsiteX2" fmla="*/ 1261568 w 1261568"/>
                        <a:gd name="connsiteY2" fmla="*/ 172282 h 1162888"/>
                        <a:gd name="connsiteX3" fmla="*/ 971084 w 1261568"/>
                        <a:gd name="connsiteY3" fmla="*/ 1162888 h 1162888"/>
                        <a:gd name="connsiteX4" fmla="*/ 411261 w 1261568"/>
                        <a:gd name="connsiteY4" fmla="*/ 552780 h 1162888"/>
                        <a:gd name="connsiteX5" fmla="*/ 0 w 1261568"/>
                        <a:gd name="connsiteY5" fmla="*/ 275278 h 1162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1568" h="1162888">
                          <a:moveTo>
                            <a:pt x="0" y="275278"/>
                          </a:moveTo>
                          <a:lnTo>
                            <a:pt x="491022" y="0"/>
                          </a:lnTo>
                          <a:lnTo>
                            <a:pt x="1261568" y="172282"/>
                          </a:lnTo>
                          <a:lnTo>
                            <a:pt x="971084" y="1162888"/>
                          </a:lnTo>
                          <a:lnTo>
                            <a:pt x="411261" y="552780"/>
                          </a:lnTo>
                          <a:lnTo>
                            <a:pt x="0" y="275278"/>
                          </a:lnTo>
                          <a:close/>
                        </a:path>
                      </a:pathLst>
                    </a:custGeom>
                    <a:solidFill>
                      <a:schemeClr val="accent4">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sp>
              <p:nvSpPr>
                <p:cNvPr id="38" name="テキスト ボックス 37">
                  <a:extLst>
                    <a:ext uri="{FF2B5EF4-FFF2-40B4-BE49-F238E27FC236}">
                      <a16:creationId xmlns:a16="http://schemas.microsoft.com/office/drawing/2014/main" id="{D7E063D8-7BEE-A946-AF4D-EDE4E912ED87}"/>
                    </a:ext>
                  </a:extLst>
                </p:cNvPr>
                <p:cNvSpPr txBox="1"/>
                <p:nvPr/>
              </p:nvSpPr>
              <p:spPr>
                <a:xfrm>
                  <a:off x="6307298" y="6344643"/>
                  <a:ext cx="1290739" cy="338554"/>
                </a:xfrm>
                <a:prstGeom prst="rect">
                  <a:avLst/>
                </a:prstGeom>
                <a:noFill/>
              </p:spPr>
              <p:txBody>
                <a:bodyPr wrap="none" rtlCol="0">
                  <a:spAutoFit/>
                </a:bodyPr>
                <a:lstStyle/>
                <a:p>
                  <a:pPr algn="ctr"/>
                  <a:r>
                    <a:rPr kumimoji="1" lang="en-US" altLang="ja-JP" sz="1400" dirty="0"/>
                    <a:t>B</a:t>
                  </a:r>
                  <a:r>
                    <a:rPr kumimoji="1" lang="ja-JP" altLang="en-US" sz="1400"/>
                    <a:t>さんの特性</a:t>
                  </a:r>
                </a:p>
              </p:txBody>
            </p:sp>
          </p:grpSp>
          <p:sp>
            <p:nvSpPr>
              <p:cNvPr id="53" name="角丸四角形吹き出し 52">
                <a:extLst>
                  <a:ext uri="{FF2B5EF4-FFF2-40B4-BE49-F238E27FC236}">
                    <a16:creationId xmlns:a16="http://schemas.microsoft.com/office/drawing/2014/main" id="{55AE8263-3E35-7F44-B44B-0AD243FB0462}"/>
                  </a:ext>
                </a:extLst>
              </p:cNvPr>
              <p:cNvSpPr/>
              <p:nvPr/>
            </p:nvSpPr>
            <p:spPr>
              <a:xfrm>
                <a:off x="4491686" y="5179730"/>
                <a:ext cx="2298249" cy="1407600"/>
              </a:xfrm>
              <a:prstGeom prst="wedgeRoundRectCallout">
                <a:avLst>
                  <a:gd name="adj1" fmla="val 58603"/>
                  <a:gd name="adj2" fmla="val -36002"/>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t>・割と気分屋</a:t>
                </a:r>
                <a:r>
                  <a:rPr kumimoji="1" lang="en-US" altLang="ja-JP" sz="1600" dirty="0"/>
                  <a:t>(N)</a:t>
                </a:r>
              </a:p>
              <a:p>
                <a:r>
                  <a:rPr kumimoji="1" lang="ja-JP" altLang="en-US" sz="1600"/>
                  <a:t>・スリルが好き</a:t>
                </a:r>
                <a:r>
                  <a:rPr kumimoji="1" lang="en-US" altLang="ja-JP" sz="1600" dirty="0"/>
                  <a:t>(E)</a:t>
                </a:r>
              </a:p>
              <a:p>
                <a:r>
                  <a:rPr kumimoji="1" lang="ja-JP" altLang="en-US" sz="1600"/>
                  <a:t>・柔軟な発想</a:t>
                </a:r>
                <a:r>
                  <a:rPr kumimoji="1" lang="en-US" altLang="ja-JP" sz="1600" dirty="0"/>
                  <a:t>(O)</a:t>
                </a:r>
              </a:p>
              <a:p>
                <a:r>
                  <a:rPr kumimoji="1" lang="ja-JP" altLang="en-US" sz="1600"/>
                  <a:t>・</a:t>
                </a:r>
                <a:r>
                  <a:rPr kumimoji="1" lang="en-US" altLang="ja-JP" sz="1600" dirty="0"/>
                  <a:t>1</a:t>
                </a:r>
                <a:r>
                  <a:rPr kumimoji="1" lang="ja-JP" altLang="en-US" sz="1600"/>
                  <a:t>人が気楽</a:t>
                </a:r>
                <a:r>
                  <a:rPr kumimoji="1" lang="en-US" altLang="ja-JP" sz="1600" dirty="0"/>
                  <a:t>(A)</a:t>
                </a:r>
              </a:p>
              <a:p>
                <a:r>
                  <a:rPr kumimoji="1" lang="ja-JP" altLang="en-US" sz="1600"/>
                  <a:t>・たまに羽目を外す</a:t>
                </a:r>
                <a:r>
                  <a:rPr kumimoji="1" lang="en-US" altLang="ja-JP" sz="1600" dirty="0"/>
                  <a:t>(C)</a:t>
                </a:r>
              </a:p>
            </p:txBody>
          </p:sp>
        </p:grpSp>
        <p:grpSp>
          <p:nvGrpSpPr>
            <p:cNvPr id="17" name="グループ化 16">
              <a:extLst>
                <a:ext uri="{FF2B5EF4-FFF2-40B4-BE49-F238E27FC236}">
                  <a16:creationId xmlns:a16="http://schemas.microsoft.com/office/drawing/2014/main" id="{9218513A-2CB9-E243-8F2B-3D0E4B9535D7}"/>
                </a:ext>
              </a:extLst>
            </p:cNvPr>
            <p:cNvGrpSpPr/>
            <p:nvPr/>
          </p:nvGrpSpPr>
          <p:grpSpPr>
            <a:xfrm>
              <a:off x="4491686" y="1806327"/>
              <a:ext cx="4690526" cy="2495932"/>
              <a:chOff x="4491686" y="1806327"/>
              <a:chExt cx="4690526" cy="2495932"/>
            </a:xfrm>
          </p:grpSpPr>
          <p:grpSp>
            <p:nvGrpSpPr>
              <p:cNvPr id="15" name="グループ化 14">
                <a:extLst>
                  <a:ext uri="{FF2B5EF4-FFF2-40B4-BE49-F238E27FC236}">
                    <a16:creationId xmlns:a16="http://schemas.microsoft.com/office/drawing/2014/main" id="{7FB63810-29AD-B140-BC25-4D4DDC6E51B9}"/>
                  </a:ext>
                </a:extLst>
              </p:cNvPr>
              <p:cNvGrpSpPr/>
              <p:nvPr/>
            </p:nvGrpSpPr>
            <p:grpSpPr>
              <a:xfrm>
                <a:off x="6799322" y="1806327"/>
                <a:ext cx="2382890" cy="2369698"/>
                <a:chOff x="718730" y="4086962"/>
                <a:chExt cx="2621177" cy="2606668"/>
              </a:xfrm>
            </p:grpSpPr>
            <p:grpSp>
              <p:nvGrpSpPr>
                <p:cNvPr id="19" name="グループ化 18">
                  <a:extLst>
                    <a:ext uri="{FF2B5EF4-FFF2-40B4-BE49-F238E27FC236}">
                      <a16:creationId xmlns:a16="http://schemas.microsoft.com/office/drawing/2014/main" id="{52C71551-A00F-2744-A586-E593519688EE}"/>
                    </a:ext>
                  </a:extLst>
                </p:cNvPr>
                <p:cNvGrpSpPr/>
                <p:nvPr/>
              </p:nvGrpSpPr>
              <p:grpSpPr>
                <a:xfrm>
                  <a:off x="718730" y="4086962"/>
                  <a:ext cx="2621177" cy="2306999"/>
                  <a:chOff x="4137813" y="3222898"/>
                  <a:chExt cx="3488780" cy="3070615"/>
                </a:xfrm>
              </p:grpSpPr>
              <p:sp>
                <p:nvSpPr>
                  <p:cNvPr id="20" name="テキスト ボックス 19">
                    <a:extLst>
                      <a:ext uri="{FF2B5EF4-FFF2-40B4-BE49-F238E27FC236}">
                        <a16:creationId xmlns:a16="http://schemas.microsoft.com/office/drawing/2014/main" id="{53F25B95-E5C8-D04E-A1E8-A3D136EF0A59}"/>
                      </a:ext>
                    </a:extLst>
                  </p:cNvPr>
                  <p:cNvSpPr txBox="1"/>
                  <p:nvPr/>
                </p:nvSpPr>
                <p:spPr>
                  <a:xfrm>
                    <a:off x="5249246" y="3222898"/>
                    <a:ext cx="1256092" cy="608331"/>
                  </a:xfrm>
                  <a:prstGeom prst="rect">
                    <a:avLst/>
                  </a:prstGeom>
                  <a:noFill/>
                </p:spPr>
                <p:txBody>
                  <a:bodyPr wrap="none" rtlCol="0">
                    <a:spAutoFit/>
                  </a:bodyPr>
                  <a:lstStyle/>
                  <a:p>
                    <a:pPr algn="ctr"/>
                    <a:r>
                      <a:rPr kumimoji="1" lang="ja-JP" altLang="en-US" sz="1050"/>
                      <a:t>神経症傾向</a:t>
                    </a:r>
                    <a:endParaRPr kumimoji="1" lang="en-US" altLang="ja-JP" sz="1050" dirty="0"/>
                  </a:p>
                  <a:p>
                    <a:pPr algn="ctr"/>
                    <a:r>
                      <a:rPr kumimoji="1" lang="en-US" altLang="ja-JP" sz="1050" dirty="0"/>
                      <a:t>(N)</a:t>
                    </a:r>
                    <a:endParaRPr kumimoji="1" lang="ja-JP" altLang="en-US" sz="1050"/>
                  </a:p>
                </p:txBody>
              </p:sp>
              <p:sp>
                <p:nvSpPr>
                  <p:cNvPr id="21" name="テキスト ボックス 20">
                    <a:extLst>
                      <a:ext uri="{FF2B5EF4-FFF2-40B4-BE49-F238E27FC236}">
                        <a16:creationId xmlns:a16="http://schemas.microsoft.com/office/drawing/2014/main" id="{193D2B07-069A-2940-B777-015F277DDC72}"/>
                      </a:ext>
                    </a:extLst>
                  </p:cNvPr>
                  <p:cNvSpPr txBox="1"/>
                  <p:nvPr/>
                </p:nvSpPr>
                <p:spPr>
                  <a:xfrm>
                    <a:off x="5717356" y="5682852"/>
                    <a:ext cx="1650380" cy="608331"/>
                  </a:xfrm>
                  <a:prstGeom prst="rect">
                    <a:avLst/>
                  </a:prstGeom>
                  <a:noFill/>
                </p:spPr>
                <p:txBody>
                  <a:bodyPr wrap="none" rtlCol="0">
                    <a:spAutoFit/>
                  </a:bodyPr>
                  <a:lstStyle/>
                  <a:p>
                    <a:pPr algn="ctr"/>
                    <a:r>
                      <a:rPr kumimoji="1" lang="ja-JP" altLang="en-US" sz="1050"/>
                      <a:t>経験への開放性</a:t>
                    </a:r>
                    <a:endParaRPr kumimoji="1" lang="en-US" altLang="ja-JP" sz="1050" dirty="0"/>
                  </a:p>
                  <a:p>
                    <a:pPr algn="ctr"/>
                    <a:r>
                      <a:rPr kumimoji="1" lang="en-US" altLang="ja-JP" sz="1050" dirty="0"/>
                      <a:t>(O)</a:t>
                    </a:r>
                    <a:endParaRPr kumimoji="1" lang="ja-JP" altLang="en-US" sz="1050"/>
                  </a:p>
                </p:txBody>
              </p:sp>
              <p:sp>
                <p:nvSpPr>
                  <p:cNvPr id="22" name="テキスト ボックス 21">
                    <a:extLst>
                      <a:ext uri="{FF2B5EF4-FFF2-40B4-BE49-F238E27FC236}">
                        <a16:creationId xmlns:a16="http://schemas.microsoft.com/office/drawing/2014/main" id="{13C11DF5-95B1-3B4D-84ED-71A7879D0702}"/>
                      </a:ext>
                    </a:extLst>
                  </p:cNvPr>
                  <p:cNvSpPr txBox="1"/>
                  <p:nvPr/>
                </p:nvSpPr>
                <p:spPr>
                  <a:xfrm>
                    <a:off x="6764791" y="4236252"/>
                    <a:ext cx="861802" cy="608331"/>
                  </a:xfrm>
                  <a:prstGeom prst="rect">
                    <a:avLst/>
                  </a:prstGeom>
                  <a:noFill/>
                </p:spPr>
                <p:txBody>
                  <a:bodyPr wrap="none" rtlCol="0">
                    <a:spAutoFit/>
                  </a:bodyPr>
                  <a:lstStyle/>
                  <a:p>
                    <a:pPr algn="ctr"/>
                    <a:r>
                      <a:rPr kumimoji="1" lang="ja-JP" altLang="en-US" sz="1050"/>
                      <a:t>外向性</a:t>
                    </a:r>
                    <a:endParaRPr kumimoji="1" lang="en-US" altLang="ja-JP" sz="1050" dirty="0"/>
                  </a:p>
                  <a:p>
                    <a:pPr algn="ctr"/>
                    <a:r>
                      <a:rPr kumimoji="1" lang="en-US" altLang="ja-JP" sz="1050" dirty="0"/>
                      <a:t>(E)</a:t>
                    </a:r>
                    <a:endParaRPr kumimoji="1" lang="ja-JP" altLang="en-US" sz="1050"/>
                  </a:p>
                </p:txBody>
              </p:sp>
              <p:sp>
                <p:nvSpPr>
                  <p:cNvPr id="23" name="テキスト ボックス 22">
                    <a:extLst>
                      <a:ext uri="{FF2B5EF4-FFF2-40B4-BE49-F238E27FC236}">
                        <a16:creationId xmlns:a16="http://schemas.microsoft.com/office/drawing/2014/main" id="{DB268488-5F7A-EA46-8C87-939B38E83BCD}"/>
                      </a:ext>
                    </a:extLst>
                  </p:cNvPr>
                  <p:cNvSpPr txBox="1"/>
                  <p:nvPr/>
                </p:nvSpPr>
                <p:spPr>
                  <a:xfrm>
                    <a:off x="4711498" y="5685182"/>
                    <a:ext cx="861802" cy="608331"/>
                  </a:xfrm>
                  <a:prstGeom prst="rect">
                    <a:avLst/>
                  </a:prstGeom>
                  <a:noFill/>
                </p:spPr>
                <p:txBody>
                  <a:bodyPr wrap="none" rtlCol="0">
                    <a:spAutoFit/>
                  </a:bodyPr>
                  <a:lstStyle/>
                  <a:p>
                    <a:pPr algn="ctr"/>
                    <a:r>
                      <a:rPr kumimoji="1" lang="ja-JP" altLang="en-US" sz="1050"/>
                      <a:t>協調性</a:t>
                    </a:r>
                    <a:endParaRPr kumimoji="1" lang="en-US" altLang="ja-JP" sz="1050" dirty="0"/>
                  </a:p>
                  <a:p>
                    <a:pPr algn="ctr"/>
                    <a:r>
                      <a:rPr kumimoji="1" lang="en-US" altLang="ja-JP" sz="1050" dirty="0"/>
                      <a:t>(A)</a:t>
                    </a:r>
                    <a:endParaRPr kumimoji="1" lang="ja-JP" altLang="en-US" sz="1050"/>
                  </a:p>
                </p:txBody>
              </p:sp>
              <p:sp>
                <p:nvSpPr>
                  <p:cNvPr id="24" name="テキスト ボックス 23">
                    <a:extLst>
                      <a:ext uri="{FF2B5EF4-FFF2-40B4-BE49-F238E27FC236}">
                        <a16:creationId xmlns:a16="http://schemas.microsoft.com/office/drawing/2014/main" id="{0C5001F5-A4B9-7348-A55B-764E0476AA05}"/>
                      </a:ext>
                    </a:extLst>
                  </p:cNvPr>
                  <p:cNvSpPr txBox="1"/>
                  <p:nvPr/>
                </p:nvSpPr>
                <p:spPr>
                  <a:xfrm>
                    <a:off x="4137813" y="4236252"/>
                    <a:ext cx="861802" cy="608331"/>
                  </a:xfrm>
                  <a:prstGeom prst="rect">
                    <a:avLst/>
                  </a:prstGeom>
                  <a:noFill/>
                </p:spPr>
                <p:txBody>
                  <a:bodyPr wrap="none" rtlCol="0">
                    <a:spAutoFit/>
                  </a:bodyPr>
                  <a:lstStyle/>
                  <a:p>
                    <a:r>
                      <a:rPr kumimoji="1" lang="ja-JP" altLang="en-US" sz="1050"/>
                      <a:t>誠実性</a:t>
                    </a:r>
                    <a:endParaRPr kumimoji="1" lang="en-US" altLang="ja-JP" sz="1050" dirty="0"/>
                  </a:p>
                  <a:p>
                    <a:pPr algn="ctr"/>
                    <a:r>
                      <a:rPr kumimoji="1" lang="en-US" altLang="ja-JP" sz="1050" dirty="0"/>
                      <a:t>(C)</a:t>
                    </a:r>
                    <a:endParaRPr kumimoji="1" lang="ja-JP" altLang="en-US" sz="1050"/>
                  </a:p>
                </p:txBody>
              </p:sp>
              <p:grpSp>
                <p:nvGrpSpPr>
                  <p:cNvPr id="25" name="グループ化 24">
                    <a:extLst>
                      <a:ext uri="{FF2B5EF4-FFF2-40B4-BE49-F238E27FC236}">
                        <a16:creationId xmlns:a16="http://schemas.microsoft.com/office/drawing/2014/main" id="{705E77B5-A6BD-2E4F-B479-AA25CBC0AAA4}"/>
                      </a:ext>
                    </a:extLst>
                  </p:cNvPr>
                  <p:cNvGrpSpPr/>
                  <p:nvPr/>
                </p:nvGrpSpPr>
                <p:grpSpPr>
                  <a:xfrm>
                    <a:off x="4938565" y="3795935"/>
                    <a:ext cx="1865455" cy="1871189"/>
                    <a:chOff x="4938565" y="3795935"/>
                    <a:chExt cx="1865455" cy="1871189"/>
                  </a:xfrm>
                </p:grpSpPr>
                <p:sp>
                  <p:nvSpPr>
                    <p:cNvPr id="26" name="五角形 25">
                      <a:extLst>
                        <a:ext uri="{FF2B5EF4-FFF2-40B4-BE49-F238E27FC236}">
                          <a16:creationId xmlns:a16="http://schemas.microsoft.com/office/drawing/2014/main" id="{482367C9-17F8-684A-8BE3-963AED2CEB35}"/>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cxnSp>
                  <p:nvCxnSpPr>
                    <p:cNvPr id="27" name="直線コネクタ 26">
                      <a:extLst>
                        <a:ext uri="{FF2B5EF4-FFF2-40B4-BE49-F238E27FC236}">
                          <a16:creationId xmlns:a16="http://schemas.microsoft.com/office/drawing/2014/main" id="{676BFE58-3CD8-844B-8152-E59538A76DD1}"/>
                        </a:ext>
                      </a:extLst>
                    </p:cNvPr>
                    <p:cNvCxnSpPr>
                      <a:cxnSpLocks/>
                      <a:stCxn id="26" idx="0"/>
                      <a:endCxn id="3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A57BE1E-C39B-EE48-BD38-2DA99B654512}"/>
                        </a:ext>
                      </a:extLst>
                    </p:cNvPr>
                    <p:cNvCxnSpPr>
                      <a:cxnSpLocks/>
                      <a:stCxn id="32" idx="3"/>
                      <a:endCxn id="2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386CDF1-3A0A-5243-844E-5BD2EA9AB95B}"/>
                        </a:ext>
                      </a:extLst>
                    </p:cNvPr>
                    <p:cNvCxnSpPr>
                      <a:cxnSpLocks/>
                      <a:stCxn id="32" idx="5"/>
                      <a:endCxn id="2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77A26F8-323D-5542-9856-08E4E070C741}"/>
                        </a:ext>
                      </a:extLst>
                    </p:cNvPr>
                    <p:cNvCxnSpPr>
                      <a:cxnSpLocks/>
                      <a:stCxn id="32" idx="6"/>
                      <a:endCxn id="2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48FE9C4-1DAA-CE4D-B284-C2B179BDA807}"/>
                        </a:ext>
                      </a:extLst>
                    </p:cNvPr>
                    <p:cNvCxnSpPr>
                      <a:cxnSpLocks/>
                      <a:stCxn id="26" idx="1"/>
                      <a:endCxn id="3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2" name="円/楕円 31">
                      <a:extLst>
                        <a:ext uri="{FF2B5EF4-FFF2-40B4-BE49-F238E27FC236}">
                          <a16:creationId xmlns:a16="http://schemas.microsoft.com/office/drawing/2014/main" id="{4F750818-9C93-B749-99BB-5C97184B4934}"/>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3" name="五角形 278">
                      <a:extLst>
                        <a:ext uri="{FF2B5EF4-FFF2-40B4-BE49-F238E27FC236}">
                          <a16:creationId xmlns:a16="http://schemas.microsoft.com/office/drawing/2014/main" id="{4ED90A91-43CA-0A4F-979B-AB4E5A48E9E7}"/>
                        </a:ext>
                      </a:extLst>
                    </p:cNvPr>
                    <p:cNvSpPr>
                      <a:spLocks noChangeAspect="1"/>
                    </p:cNvSpPr>
                    <p:nvPr/>
                  </p:nvSpPr>
                  <p:spPr>
                    <a:xfrm>
                      <a:off x="5291027" y="3957630"/>
                      <a:ext cx="925745" cy="1709494"/>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 name="connsiteX0" fmla="*/ 53941 w 1126912"/>
                        <a:gd name="connsiteY0" fmla="*/ 489019 h 1546046"/>
                        <a:gd name="connsiteX1" fmla="*/ 570107 w 1126912"/>
                        <a:gd name="connsiteY1" fmla="*/ 0 h 1546046"/>
                        <a:gd name="connsiteX2" fmla="*/ 1126912 w 1126912"/>
                        <a:gd name="connsiteY2" fmla="*/ 499179 h 1546046"/>
                        <a:gd name="connsiteX3" fmla="*/ 811283 w 1126912"/>
                        <a:gd name="connsiteY3" fmla="*/ 1012010 h 1546046"/>
                        <a:gd name="connsiteX4" fmla="*/ 0 w 1126912"/>
                        <a:gd name="connsiteY4" fmla="*/ 1546046 h 1546046"/>
                        <a:gd name="connsiteX5" fmla="*/ 53941 w 1126912"/>
                        <a:gd name="connsiteY5" fmla="*/ 489019 h 1546046"/>
                        <a:gd name="connsiteX0" fmla="*/ 53941 w 925745"/>
                        <a:gd name="connsiteY0" fmla="*/ 489019 h 1546046"/>
                        <a:gd name="connsiteX1" fmla="*/ 570107 w 925745"/>
                        <a:gd name="connsiteY1" fmla="*/ 0 h 1546046"/>
                        <a:gd name="connsiteX2" fmla="*/ 925745 w 925745"/>
                        <a:gd name="connsiteY2" fmla="*/ 562044 h 1546046"/>
                        <a:gd name="connsiteX3" fmla="*/ 811283 w 925745"/>
                        <a:gd name="connsiteY3" fmla="*/ 1012010 h 1546046"/>
                        <a:gd name="connsiteX4" fmla="*/ 0 w 925745"/>
                        <a:gd name="connsiteY4" fmla="*/ 1546046 h 1546046"/>
                        <a:gd name="connsiteX5" fmla="*/ 53941 w 925745"/>
                        <a:gd name="connsiteY5" fmla="*/ 489019 h 1546046"/>
                        <a:gd name="connsiteX0" fmla="*/ 53941 w 925745"/>
                        <a:gd name="connsiteY0" fmla="*/ 489019 h 1546046"/>
                        <a:gd name="connsiteX1" fmla="*/ 570107 w 925745"/>
                        <a:gd name="connsiteY1" fmla="*/ 0 h 1546046"/>
                        <a:gd name="connsiteX2" fmla="*/ 925745 w 925745"/>
                        <a:gd name="connsiteY2" fmla="*/ 562044 h 1546046"/>
                        <a:gd name="connsiteX3" fmla="*/ 748418 w 925745"/>
                        <a:gd name="connsiteY3" fmla="*/ 911426 h 1546046"/>
                        <a:gd name="connsiteX4" fmla="*/ 0 w 925745"/>
                        <a:gd name="connsiteY4" fmla="*/ 1546046 h 1546046"/>
                        <a:gd name="connsiteX5" fmla="*/ 53941 w 925745"/>
                        <a:gd name="connsiteY5" fmla="*/ 489019 h 1546046"/>
                        <a:gd name="connsiteX0" fmla="*/ 53941 w 925745"/>
                        <a:gd name="connsiteY0" fmla="*/ 652468 h 1709495"/>
                        <a:gd name="connsiteX1" fmla="*/ 582681 w 925745"/>
                        <a:gd name="connsiteY1" fmla="*/ 0 h 1709495"/>
                        <a:gd name="connsiteX2" fmla="*/ 925745 w 925745"/>
                        <a:gd name="connsiteY2" fmla="*/ 725493 h 1709495"/>
                        <a:gd name="connsiteX3" fmla="*/ 748418 w 925745"/>
                        <a:gd name="connsiteY3" fmla="*/ 1074875 h 1709495"/>
                        <a:gd name="connsiteX4" fmla="*/ 0 w 925745"/>
                        <a:gd name="connsiteY4" fmla="*/ 1709495 h 1709495"/>
                        <a:gd name="connsiteX5" fmla="*/ 53941 w 925745"/>
                        <a:gd name="connsiteY5" fmla="*/ 652468 h 1709495"/>
                        <a:gd name="connsiteX0" fmla="*/ 405984 w 925745"/>
                        <a:gd name="connsiteY0" fmla="*/ 790771 h 1709495"/>
                        <a:gd name="connsiteX1" fmla="*/ 582681 w 925745"/>
                        <a:gd name="connsiteY1" fmla="*/ 0 h 1709495"/>
                        <a:gd name="connsiteX2" fmla="*/ 925745 w 925745"/>
                        <a:gd name="connsiteY2" fmla="*/ 725493 h 1709495"/>
                        <a:gd name="connsiteX3" fmla="*/ 748418 w 925745"/>
                        <a:gd name="connsiteY3" fmla="*/ 1074875 h 1709495"/>
                        <a:gd name="connsiteX4" fmla="*/ 0 w 925745"/>
                        <a:gd name="connsiteY4" fmla="*/ 1709495 h 1709495"/>
                        <a:gd name="connsiteX5" fmla="*/ 405984 w 925745"/>
                        <a:gd name="connsiteY5" fmla="*/ 790771 h 1709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5745" h="1709495">
                          <a:moveTo>
                            <a:pt x="405984" y="790771"/>
                          </a:moveTo>
                          <a:lnTo>
                            <a:pt x="582681" y="0"/>
                          </a:lnTo>
                          <a:lnTo>
                            <a:pt x="925745" y="725493"/>
                          </a:lnTo>
                          <a:lnTo>
                            <a:pt x="748418" y="1074875"/>
                          </a:lnTo>
                          <a:lnTo>
                            <a:pt x="0" y="1709495"/>
                          </a:lnTo>
                          <a:lnTo>
                            <a:pt x="405984" y="790771"/>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sp>
              <p:nvSpPr>
                <p:cNvPr id="35" name="テキスト ボックス 34">
                  <a:extLst>
                    <a:ext uri="{FF2B5EF4-FFF2-40B4-BE49-F238E27FC236}">
                      <a16:creationId xmlns:a16="http://schemas.microsoft.com/office/drawing/2014/main" id="{BE6D53B5-338C-F44B-AA4F-D99EC9E7D800}"/>
                    </a:ext>
                  </a:extLst>
                </p:cNvPr>
                <p:cNvSpPr txBox="1"/>
                <p:nvPr/>
              </p:nvSpPr>
              <p:spPr>
                <a:xfrm>
                  <a:off x="1382676" y="6355076"/>
                  <a:ext cx="1290739" cy="338554"/>
                </a:xfrm>
                <a:prstGeom prst="rect">
                  <a:avLst/>
                </a:prstGeom>
                <a:noFill/>
              </p:spPr>
              <p:txBody>
                <a:bodyPr wrap="none" rtlCol="0">
                  <a:spAutoFit/>
                </a:bodyPr>
                <a:lstStyle/>
                <a:p>
                  <a:pPr algn="ctr"/>
                  <a:r>
                    <a:rPr kumimoji="1" lang="en-US" altLang="ja-JP" sz="1400" dirty="0"/>
                    <a:t>A</a:t>
                  </a:r>
                  <a:r>
                    <a:rPr kumimoji="1" lang="ja-JP" altLang="en-US" sz="1400"/>
                    <a:t>さんの特性</a:t>
                  </a:r>
                </a:p>
              </p:txBody>
            </p:sp>
          </p:grpSp>
          <p:sp>
            <p:nvSpPr>
              <p:cNvPr id="59" name="角丸四角形吹き出し 58">
                <a:extLst>
                  <a:ext uri="{FF2B5EF4-FFF2-40B4-BE49-F238E27FC236}">
                    <a16:creationId xmlns:a16="http://schemas.microsoft.com/office/drawing/2014/main" id="{46E10CA9-D4D0-1C43-8697-BF4F61CACED3}"/>
                  </a:ext>
                </a:extLst>
              </p:cNvPr>
              <p:cNvSpPr/>
              <p:nvPr/>
            </p:nvSpPr>
            <p:spPr>
              <a:xfrm>
                <a:off x="4491686" y="2896538"/>
                <a:ext cx="2298249" cy="1405721"/>
              </a:xfrm>
              <a:prstGeom prst="wedgeRoundRectCallout">
                <a:avLst>
                  <a:gd name="adj1" fmla="val 58603"/>
                  <a:gd name="adj2" fmla="val -36002"/>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t>・心配性</a:t>
                </a:r>
                <a:r>
                  <a:rPr kumimoji="1" lang="en-US" altLang="ja-JP" sz="1600" dirty="0"/>
                  <a:t>(N)</a:t>
                </a:r>
              </a:p>
              <a:p>
                <a:r>
                  <a:rPr kumimoji="1" lang="ja-JP" altLang="en-US" sz="1600"/>
                  <a:t>・緊張しい</a:t>
                </a:r>
                <a:r>
                  <a:rPr kumimoji="1" lang="en-US" altLang="ja-JP" sz="1600" dirty="0"/>
                  <a:t>(E)</a:t>
                </a:r>
              </a:p>
              <a:p>
                <a:r>
                  <a:rPr kumimoji="1" lang="ja-JP" altLang="en-US" sz="1600"/>
                  <a:t>・芸術に疎い</a:t>
                </a:r>
                <a:r>
                  <a:rPr kumimoji="1" lang="en-US" altLang="ja-JP" sz="1600" dirty="0"/>
                  <a:t>(O)</a:t>
                </a:r>
              </a:p>
              <a:p>
                <a:r>
                  <a:rPr kumimoji="1" lang="ja-JP" altLang="en-US" sz="1600"/>
                  <a:t>・人に尽くすタイプ</a:t>
                </a:r>
                <a:r>
                  <a:rPr kumimoji="1" lang="en-US" altLang="ja-JP" sz="1600" dirty="0"/>
                  <a:t>(A)</a:t>
                </a:r>
              </a:p>
              <a:p>
                <a:r>
                  <a:rPr kumimoji="1" lang="ja-JP" altLang="en-US" sz="1600"/>
                  <a:t>・欲求に忠実</a:t>
                </a:r>
                <a:r>
                  <a:rPr kumimoji="1" lang="en-US" altLang="ja-JP" sz="1600" dirty="0"/>
                  <a:t>(C)</a:t>
                </a:r>
              </a:p>
            </p:txBody>
          </p:sp>
        </p:grpSp>
      </p:grpSp>
      <p:sp>
        <p:nvSpPr>
          <p:cNvPr id="60" name="テキスト ボックス 59">
            <a:extLst>
              <a:ext uri="{FF2B5EF4-FFF2-40B4-BE49-F238E27FC236}">
                <a16:creationId xmlns:a16="http://schemas.microsoft.com/office/drawing/2014/main" id="{61C5B3F9-BD55-4D49-960C-8C42157D31D7}"/>
              </a:ext>
            </a:extLst>
          </p:cNvPr>
          <p:cNvSpPr txBox="1"/>
          <p:nvPr/>
        </p:nvSpPr>
        <p:spPr>
          <a:xfrm>
            <a:off x="825689" y="3026741"/>
            <a:ext cx="2481105" cy="369332"/>
          </a:xfrm>
          <a:prstGeom prst="rect">
            <a:avLst/>
          </a:prstGeom>
          <a:noFill/>
        </p:spPr>
        <p:txBody>
          <a:bodyPr wrap="square" rtlCol="0">
            <a:spAutoFit/>
          </a:bodyPr>
          <a:lstStyle/>
          <a:p>
            <a:pPr algn="ctr"/>
            <a:r>
              <a:rPr kumimoji="1" lang="ja-JP" altLang="en-US"/>
              <a:t>アンケート内容の例</a:t>
            </a:r>
          </a:p>
        </p:txBody>
      </p:sp>
    </p:spTree>
    <p:extLst>
      <p:ext uri="{BB962C8B-B14F-4D97-AF65-F5344CB8AC3E}">
        <p14:creationId xmlns:p14="http://schemas.microsoft.com/office/powerpoint/2010/main" val="3167841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相手の</a:t>
            </a:r>
            <a:r>
              <a:rPr lang="en-US" altLang="ja-JP" dirty="0"/>
              <a:t>offer</a:t>
            </a:r>
            <a:r>
              <a:rPr lang="ja-JP" altLang="en-US"/>
              <a:t>内容から相手の</a:t>
            </a:r>
            <a:r>
              <a:rPr lang="ja-JP" altLang="en-US">
                <a:solidFill>
                  <a:schemeClr val="accent1"/>
                </a:solidFill>
              </a:rPr>
              <a:t>積極性</a:t>
            </a:r>
            <a:r>
              <a:rPr lang="ja-JP" altLang="en-US"/>
              <a:t>・</a:t>
            </a:r>
            <a:r>
              <a:rPr lang="ja-JP" altLang="en-US">
                <a:solidFill>
                  <a:schemeClr val="accent1"/>
                </a:solidFill>
              </a:rPr>
              <a:t>協調性</a:t>
            </a:r>
            <a:r>
              <a:rPr lang="ja-JP" altLang="en-US"/>
              <a:t>の値を</a:t>
            </a:r>
            <a:br>
              <a:rPr lang="en-US" altLang="ja-JP" dirty="0"/>
            </a:br>
            <a:r>
              <a:rPr lang="ja-JP" altLang="en-US"/>
              <a:t>求める</a:t>
            </a:r>
            <a:endParaRPr lang="en-US" altLang="ja-JP" dirty="0"/>
          </a:p>
          <a:p>
            <a:pPr lvl="1"/>
            <a:r>
              <a:rPr lang="ja-JP" altLang="en-US"/>
              <a:t>積極性</a:t>
            </a:r>
            <a:endParaRPr lang="en-US" altLang="ja-JP" dirty="0"/>
          </a:p>
          <a:p>
            <a:pPr lvl="2"/>
            <a:r>
              <a:rPr lang="en-US" altLang="ja-JP" dirty="0">
                <a:solidFill>
                  <a:schemeClr val="accent2"/>
                </a:solidFill>
              </a:rPr>
              <a:t>offer</a:t>
            </a:r>
            <a:r>
              <a:rPr lang="ja-JP" altLang="en-US">
                <a:solidFill>
                  <a:schemeClr val="accent2"/>
                </a:solidFill>
              </a:rPr>
              <a:t>の効用の分散</a:t>
            </a:r>
            <a:endParaRPr lang="en-US" altLang="ja-JP" dirty="0">
              <a:solidFill>
                <a:schemeClr val="accent2"/>
              </a:solidFill>
            </a:endParaRPr>
          </a:p>
          <a:p>
            <a:pPr lvl="1"/>
            <a:r>
              <a:rPr lang="ja-JP" altLang="en-US"/>
              <a:t>協調性</a:t>
            </a:r>
            <a:endParaRPr lang="en-US" altLang="ja-JP" dirty="0"/>
          </a:p>
          <a:p>
            <a:pPr lvl="2"/>
            <a:r>
              <a:rPr lang="en-US" altLang="ja-JP" dirty="0">
                <a:solidFill>
                  <a:schemeClr val="accent2"/>
                </a:solidFill>
              </a:rPr>
              <a:t>offer</a:t>
            </a:r>
            <a:r>
              <a:rPr lang="ja-JP" altLang="en-US">
                <a:solidFill>
                  <a:schemeClr val="accent2"/>
                </a:solidFill>
              </a:rPr>
              <a:t>の効用の平均</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譲歩速度などを変更</a:t>
            </a:r>
            <a:endParaRPr lang="en-US" altLang="ja-JP" dirty="0">
              <a:solidFill>
                <a:schemeClr val="accent2"/>
              </a:solidFill>
            </a:endParaRPr>
          </a:p>
          <a:p>
            <a:pPr lvl="1"/>
            <a:r>
              <a:rPr lang="ja-JP" altLang="en-US"/>
              <a:t>譲歩関数は既存研究のものを使用</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10</a:t>
            </a:fld>
            <a:endParaRPr kumimoji="1" lang="ja-JP" altLang="en-US"/>
          </a:p>
        </p:txBody>
      </p:sp>
      <p:sp>
        <p:nvSpPr>
          <p:cNvPr id="56" name="テキスト プレースホルダー 7">
            <a:extLst>
              <a:ext uri="{FF2B5EF4-FFF2-40B4-BE49-F238E27FC236}">
                <a16:creationId xmlns:a16="http://schemas.microsoft.com/office/drawing/2014/main" id="{03C70ABB-CEB2-8B49-AA54-18AFA942E6EC}"/>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r>
              <a:rPr lang="en-US" altLang="ja-JP" dirty="0"/>
              <a:t>(TKI)</a:t>
            </a:r>
            <a:endParaRPr lang="ja-JP" altLang="en-US"/>
          </a:p>
        </p:txBody>
      </p:sp>
      <p:grpSp>
        <p:nvGrpSpPr>
          <p:cNvPr id="57" name="グループ化 56">
            <a:extLst>
              <a:ext uri="{FF2B5EF4-FFF2-40B4-BE49-F238E27FC236}">
                <a16:creationId xmlns:a16="http://schemas.microsoft.com/office/drawing/2014/main" id="{62176FF5-4F4A-9340-B20C-CDD1D13FF830}"/>
              </a:ext>
            </a:extLst>
          </p:cNvPr>
          <p:cNvGrpSpPr/>
          <p:nvPr/>
        </p:nvGrpSpPr>
        <p:grpSpPr>
          <a:xfrm flipH="1" flipV="1">
            <a:off x="358775" y="1019593"/>
            <a:ext cx="4361549" cy="244800"/>
            <a:chOff x="195674" y="1377865"/>
            <a:chExt cx="4361549" cy="244800"/>
          </a:xfrm>
        </p:grpSpPr>
        <p:cxnSp>
          <p:nvCxnSpPr>
            <p:cNvPr id="58" name="直線コネクタ 57">
              <a:extLst>
                <a:ext uri="{FF2B5EF4-FFF2-40B4-BE49-F238E27FC236}">
                  <a16:creationId xmlns:a16="http://schemas.microsoft.com/office/drawing/2014/main" id="{560DF7C1-EBC5-C140-8018-41EED973E6CC}"/>
                </a:ext>
              </a:extLst>
            </p:cNvPr>
            <p:cNvCxnSpPr>
              <a:cxnSpLocks/>
            </p:cNvCxnSpPr>
            <p:nvPr userDrawn="1"/>
          </p:nvCxnSpPr>
          <p:spPr>
            <a:xfrm flipV="1">
              <a:off x="413216" y="1607575"/>
              <a:ext cx="414400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9" name="フリーフォーム 58">
              <a:extLst>
                <a:ext uri="{FF2B5EF4-FFF2-40B4-BE49-F238E27FC236}">
                  <a16:creationId xmlns:a16="http://schemas.microsoft.com/office/drawing/2014/main" id="{29C9ADB2-CCE4-0F48-A0A1-6731F0A5204B}"/>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60" name="グループ化 59">
            <a:extLst>
              <a:ext uri="{FF2B5EF4-FFF2-40B4-BE49-F238E27FC236}">
                <a16:creationId xmlns:a16="http://schemas.microsoft.com/office/drawing/2014/main" id="{2A95DC43-F70A-254F-B04C-7E155C75CA86}"/>
              </a:ext>
            </a:extLst>
          </p:cNvPr>
          <p:cNvGrpSpPr/>
          <p:nvPr/>
        </p:nvGrpSpPr>
        <p:grpSpPr>
          <a:xfrm>
            <a:off x="140729" y="1384215"/>
            <a:ext cx="4378081" cy="244800"/>
            <a:chOff x="143915" y="1384215"/>
            <a:chExt cx="4378081" cy="244800"/>
          </a:xfrm>
        </p:grpSpPr>
        <p:cxnSp>
          <p:nvCxnSpPr>
            <p:cNvPr id="61" name="直線コネクタ 60">
              <a:extLst>
                <a:ext uri="{FF2B5EF4-FFF2-40B4-BE49-F238E27FC236}">
                  <a16:creationId xmlns:a16="http://schemas.microsoft.com/office/drawing/2014/main" id="{888DABB2-44EE-4B47-8F6F-D8E7C4641177}"/>
                </a:ext>
              </a:extLst>
            </p:cNvPr>
            <p:cNvCxnSpPr>
              <a:cxnSpLocks/>
            </p:cNvCxnSpPr>
            <p:nvPr userDrawn="1"/>
          </p:nvCxnSpPr>
          <p:spPr>
            <a:xfrm>
              <a:off x="364660" y="1607575"/>
              <a:ext cx="4157336"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2" name="フリーフォーム 61">
              <a:extLst>
                <a:ext uri="{FF2B5EF4-FFF2-40B4-BE49-F238E27FC236}">
                  <a16:creationId xmlns:a16="http://schemas.microsoft.com/office/drawing/2014/main" id="{612840E5-F083-A443-A030-614BDB9C365E}"/>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mc:AlternateContent xmlns:mc="http://schemas.openxmlformats.org/markup-compatibility/2006">
        <mc:Choice xmlns:a14="http://schemas.microsoft.com/office/drawing/2010/main" Requires="a14">
          <p:graphicFrame>
            <p:nvGraphicFramePr>
              <p:cNvPr id="63" name="表 62">
                <a:extLst>
                  <a:ext uri="{FF2B5EF4-FFF2-40B4-BE49-F238E27FC236}">
                    <a16:creationId xmlns:a16="http://schemas.microsoft.com/office/drawing/2014/main" id="{1B358337-08CF-4F45-A830-A73F545961B1}"/>
                  </a:ext>
                </a:extLst>
              </p:cNvPr>
              <p:cNvGraphicFramePr>
                <a:graphicFrameLocks noGrp="1"/>
              </p:cNvGraphicFramePr>
              <p:nvPr>
                <p:extLst>
                  <p:ext uri="{D42A27DB-BD31-4B8C-83A1-F6EECF244321}">
                    <p14:modId xmlns:p14="http://schemas.microsoft.com/office/powerpoint/2010/main" val="2676267649"/>
                  </p:ext>
                </p:extLst>
              </p:nvPr>
            </p:nvGraphicFramePr>
            <p:xfrm>
              <a:off x="1166406" y="5409079"/>
              <a:ext cx="6845055" cy="1112520"/>
            </p:xfrm>
            <a:graphic>
              <a:graphicData uri="http://schemas.openxmlformats.org/drawingml/2006/table">
                <a:tbl>
                  <a:tblPr firstRow="1" firstCol="1" bandRow="1">
                    <a:tableStyleId>{5C22544A-7EE6-4342-B048-85BDC9FD1C3A}</a:tableStyleId>
                  </a:tblPr>
                  <a:tblGrid>
                    <a:gridCol w="1404000">
                      <a:extLst>
                        <a:ext uri="{9D8B030D-6E8A-4147-A177-3AD203B41FA5}">
                          <a16:colId xmlns:a16="http://schemas.microsoft.com/office/drawing/2014/main" val="867293798"/>
                        </a:ext>
                      </a:extLst>
                    </a:gridCol>
                    <a:gridCol w="1088211">
                      <a:extLst>
                        <a:ext uri="{9D8B030D-6E8A-4147-A177-3AD203B41FA5}">
                          <a16:colId xmlns:a16="http://schemas.microsoft.com/office/drawing/2014/main" val="2450102447"/>
                        </a:ext>
                      </a:extLst>
                    </a:gridCol>
                    <a:gridCol w="1088211">
                      <a:extLst>
                        <a:ext uri="{9D8B030D-6E8A-4147-A177-3AD203B41FA5}">
                          <a16:colId xmlns:a16="http://schemas.microsoft.com/office/drawing/2014/main" val="1159568895"/>
                        </a:ext>
                      </a:extLst>
                    </a:gridCol>
                    <a:gridCol w="1088211">
                      <a:extLst>
                        <a:ext uri="{9D8B030D-6E8A-4147-A177-3AD203B41FA5}">
                          <a16:colId xmlns:a16="http://schemas.microsoft.com/office/drawing/2014/main" val="1871227000"/>
                        </a:ext>
                      </a:extLst>
                    </a:gridCol>
                    <a:gridCol w="1088211">
                      <a:extLst>
                        <a:ext uri="{9D8B030D-6E8A-4147-A177-3AD203B41FA5}">
                          <a16:colId xmlns:a16="http://schemas.microsoft.com/office/drawing/2014/main" val="2275043351"/>
                        </a:ext>
                      </a:extLst>
                    </a:gridCol>
                    <a:gridCol w="1088211">
                      <a:extLst>
                        <a:ext uri="{9D8B030D-6E8A-4147-A177-3AD203B41FA5}">
                          <a16:colId xmlns:a16="http://schemas.microsoft.com/office/drawing/2014/main" val="1886332784"/>
                        </a:ext>
                      </a:extLst>
                    </a:gridCol>
                  </a:tblGrid>
                  <a:tr h="370840">
                    <a:tc>
                      <a:txBody>
                        <a:bodyPr/>
                        <a:lstStyle/>
                        <a:p>
                          <a:pPr algn="ctr"/>
                          <a:endParaRPr kumimoji="1" lang="ja-JP" altLang="en-US" sz="1600">
                            <a:solidFill>
                              <a:schemeClr val="bg1"/>
                            </a:solidFill>
                          </a:endParaRPr>
                        </a:p>
                      </a:txBody>
                      <a:tcPr marL="121706" marR="121706"/>
                    </a:tc>
                    <a:tc>
                      <a:txBody>
                        <a:bodyPr/>
                        <a:lstStyle/>
                        <a:p>
                          <a:pPr algn="ctr"/>
                          <a:r>
                            <a:rPr kumimoji="1" lang="ja-JP" altLang="en-US" sz="1600"/>
                            <a:t>競争</a:t>
                          </a:r>
                        </a:p>
                      </a:txBody>
                      <a:tcPr marL="121706" marR="121706"/>
                    </a:tc>
                    <a:tc>
                      <a:txBody>
                        <a:bodyPr/>
                        <a:lstStyle/>
                        <a:p>
                          <a:pPr algn="ctr"/>
                          <a:r>
                            <a:rPr kumimoji="1" lang="ja-JP" altLang="en-US" sz="1600"/>
                            <a:t>共存</a:t>
                          </a:r>
                        </a:p>
                      </a:txBody>
                      <a:tcPr marL="121706" marR="121706"/>
                    </a:tc>
                    <a:tc>
                      <a:txBody>
                        <a:bodyPr/>
                        <a:lstStyle/>
                        <a:p>
                          <a:pPr algn="ctr"/>
                          <a:r>
                            <a:rPr kumimoji="1" lang="ja-JP" altLang="en-US" sz="1600"/>
                            <a:t>妥協</a:t>
                          </a:r>
                        </a:p>
                      </a:txBody>
                      <a:tcPr marL="121706" marR="121706"/>
                    </a:tc>
                    <a:tc>
                      <a:txBody>
                        <a:bodyPr/>
                        <a:lstStyle/>
                        <a:p>
                          <a:pPr algn="ctr"/>
                          <a:r>
                            <a:rPr kumimoji="1" lang="ja-JP" altLang="en-US" sz="1600"/>
                            <a:t>回避</a:t>
                          </a:r>
                        </a:p>
                      </a:txBody>
                      <a:tcPr marL="121706" marR="121706"/>
                    </a:tc>
                    <a:tc>
                      <a:txBody>
                        <a:bodyPr/>
                        <a:lstStyle/>
                        <a:p>
                          <a:pPr algn="ctr"/>
                          <a:r>
                            <a:rPr kumimoji="1" lang="ja-JP" altLang="en-US" sz="1600"/>
                            <a:t>順応</a:t>
                          </a:r>
                        </a:p>
                      </a:txBody>
                      <a:tcPr marL="121706" marR="121706"/>
                    </a:tc>
                    <a:extLst>
                      <a:ext uri="{0D108BD9-81ED-4DB2-BD59-A6C34878D82A}">
                        <a16:rowId xmlns:a16="http://schemas.microsoft.com/office/drawing/2014/main" val="1927177420"/>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100584" marR="100584"/>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0.5</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100584" marR="100584"/>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100584" marR="100584"/>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extLst>
                      <a:ext uri="{0D108BD9-81ED-4DB2-BD59-A6C34878D82A}">
                        <a16:rowId xmlns:a16="http://schemas.microsoft.com/office/drawing/2014/main" val="1442960975"/>
                      </a:ext>
                    </a:extLst>
                  </a:tr>
                </a:tbl>
              </a:graphicData>
            </a:graphic>
          </p:graphicFrame>
        </mc:Choice>
        <mc:Fallback>
          <p:graphicFrame>
            <p:nvGraphicFramePr>
              <p:cNvPr id="63" name="表 62">
                <a:extLst>
                  <a:ext uri="{FF2B5EF4-FFF2-40B4-BE49-F238E27FC236}">
                    <a16:creationId xmlns:a16="http://schemas.microsoft.com/office/drawing/2014/main" id="{1B358337-08CF-4F45-A830-A73F545961B1}"/>
                  </a:ext>
                </a:extLst>
              </p:cNvPr>
              <p:cNvGraphicFramePr>
                <a:graphicFrameLocks noGrp="1"/>
              </p:cNvGraphicFramePr>
              <p:nvPr>
                <p:extLst>
                  <p:ext uri="{D42A27DB-BD31-4B8C-83A1-F6EECF244321}">
                    <p14:modId xmlns:p14="http://schemas.microsoft.com/office/powerpoint/2010/main" val="2676267649"/>
                  </p:ext>
                </p:extLst>
              </p:nvPr>
            </p:nvGraphicFramePr>
            <p:xfrm>
              <a:off x="1166406" y="5409079"/>
              <a:ext cx="6845055" cy="1112520"/>
            </p:xfrm>
            <a:graphic>
              <a:graphicData uri="http://schemas.openxmlformats.org/drawingml/2006/table">
                <a:tbl>
                  <a:tblPr firstRow="1" firstCol="1" bandRow="1">
                    <a:tableStyleId>{5C22544A-7EE6-4342-B048-85BDC9FD1C3A}</a:tableStyleId>
                  </a:tblPr>
                  <a:tblGrid>
                    <a:gridCol w="1404000">
                      <a:extLst>
                        <a:ext uri="{9D8B030D-6E8A-4147-A177-3AD203B41FA5}">
                          <a16:colId xmlns:a16="http://schemas.microsoft.com/office/drawing/2014/main" val="867293798"/>
                        </a:ext>
                      </a:extLst>
                    </a:gridCol>
                    <a:gridCol w="1088211">
                      <a:extLst>
                        <a:ext uri="{9D8B030D-6E8A-4147-A177-3AD203B41FA5}">
                          <a16:colId xmlns:a16="http://schemas.microsoft.com/office/drawing/2014/main" val="2450102447"/>
                        </a:ext>
                      </a:extLst>
                    </a:gridCol>
                    <a:gridCol w="1088211">
                      <a:extLst>
                        <a:ext uri="{9D8B030D-6E8A-4147-A177-3AD203B41FA5}">
                          <a16:colId xmlns:a16="http://schemas.microsoft.com/office/drawing/2014/main" val="1159568895"/>
                        </a:ext>
                      </a:extLst>
                    </a:gridCol>
                    <a:gridCol w="1088211">
                      <a:extLst>
                        <a:ext uri="{9D8B030D-6E8A-4147-A177-3AD203B41FA5}">
                          <a16:colId xmlns:a16="http://schemas.microsoft.com/office/drawing/2014/main" val="1871227000"/>
                        </a:ext>
                      </a:extLst>
                    </a:gridCol>
                    <a:gridCol w="1088211">
                      <a:extLst>
                        <a:ext uri="{9D8B030D-6E8A-4147-A177-3AD203B41FA5}">
                          <a16:colId xmlns:a16="http://schemas.microsoft.com/office/drawing/2014/main" val="2275043351"/>
                        </a:ext>
                      </a:extLst>
                    </a:gridCol>
                    <a:gridCol w="1088211">
                      <a:extLst>
                        <a:ext uri="{9D8B030D-6E8A-4147-A177-3AD203B41FA5}">
                          <a16:colId xmlns:a16="http://schemas.microsoft.com/office/drawing/2014/main" val="1886332784"/>
                        </a:ext>
                      </a:extLst>
                    </a:gridCol>
                  </a:tblGrid>
                  <a:tr h="370840">
                    <a:tc>
                      <a:txBody>
                        <a:bodyPr/>
                        <a:lstStyle/>
                        <a:p>
                          <a:pPr algn="ctr"/>
                          <a:endParaRPr kumimoji="1" lang="ja-JP" altLang="en-US" sz="1600">
                            <a:solidFill>
                              <a:schemeClr val="bg1"/>
                            </a:solidFill>
                          </a:endParaRPr>
                        </a:p>
                      </a:txBody>
                      <a:tcPr marL="121706" marR="121706"/>
                    </a:tc>
                    <a:tc>
                      <a:txBody>
                        <a:bodyPr/>
                        <a:lstStyle/>
                        <a:p>
                          <a:pPr algn="ctr"/>
                          <a:r>
                            <a:rPr kumimoji="1" lang="ja-JP" altLang="en-US" sz="1600"/>
                            <a:t>競争</a:t>
                          </a:r>
                        </a:p>
                      </a:txBody>
                      <a:tcPr marL="121706" marR="121706"/>
                    </a:tc>
                    <a:tc>
                      <a:txBody>
                        <a:bodyPr/>
                        <a:lstStyle/>
                        <a:p>
                          <a:pPr algn="ctr"/>
                          <a:r>
                            <a:rPr kumimoji="1" lang="ja-JP" altLang="en-US" sz="1600"/>
                            <a:t>共存</a:t>
                          </a:r>
                        </a:p>
                      </a:txBody>
                      <a:tcPr marL="121706" marR="121706"/>
                    </a:tc>
                    <a:tc>
                      <a:txBody>
                        <a:bodyPr/>
                        <a:lstStyle/>
                        <a:p>
                          <a:pPr algn="ctr"/>
                          <a:r>
                            <a:rPr kumimoji="1" lang="ja-JP" altLang="en-US" sz="1600"/>
                            <a:t>妥協</a:t>
                          </a:r>
                        </a:p>
                      </a:txBody>
                      <a:tcPr marL="121706" marR="121706"/>
                    </a:tc>
                    <a:tc>
                      <a:txBody>
                        <a:bodyPr/>
                        <a:lstStyle/>
                        <a:p>
                          <a:pPr algn="ctr"/>
                          <a:r>
                            <a:rPr kumimoji="1" lang="ja-JP" altLang="en-US" sz="1600"/>
                            <a:t>回避</a:t>
                          </a:r>
                        </a:p>
                      </a:txBody>
                      <a:tcPr marL="121706" marR="121706"/>
                    </a:tc>
                    <a:tc>
                      <a:txBody>
                        <a:bodyPr/>
                        <a:lstStyle/>
                        <a:p>
                          <a:pPr algn="ctr"/>
                          <a:r>
                            <a:rPr kumimoji="1" lang="ja-JP" altLang="en-US" sz="1600"/>
                            <a:t>順応</a:t>
                          </a:r>
                        </a:p>
                      </a:txBody>
                      <a:tcPr marL="121706" marR="121706"/>
                    </a:tc>
                    <a:extLst>
                      <a:ext uri="{0D108BD9-81ED-4DB2-BD59-A6C34878D82A}">
                        <a16:rowId xmlns:a16="http://schemas.microsoft.com/office/drawing/2014/main" val="1927177420"/>
                      </a:ext>
                    </a:extLst>
                  </a:tr>
                  <a:tr h="370840">
                    <a:tc>
                      <a:txBody>
                        <a:bodyPr/>
                        <a:lstStyle/>
                        <a:p>
                          <a:endParaRPr lang="ja-JP"/>
                        </a:p>
                      </a:txBody>
                      <a:tcPr marL="100584" marR="100584">
                        <a:blipFill>
                          <a:blip r:embed="rId2"/>
                          <a:stretch>
                            <a:fillRect t="-110345" r="-388288" b="-113793"/>
                          </a:stretch>
                        </a:blipFill>
                      </a:tcPr>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0.5</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100584" marR="100584"/>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100584" marR="100584"/>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100584" marR="100584"/>
                    </a:tc>
                    <a:extLst>
                      <a:ext uri="{0D108BD9-81ED-4DB2-BD59-A6C34878D82A}">
                        <a16:rowId xmlns:a16="http://schemas.microsoft.com/office/drawing/2014/main" val="1442960975"/>
                      </a:ext>
                    </a:extLst>
                  </a:tr>
                </a:tbl>
              </a:graphicData>
            </a:graphic>
          </p:graphicFrame>
        </mc:Fallback>
      </mc:AlternateContent>
    </p:spTree>
    <p:extLst>
      <p:ext uri="{BB962C8B-B14F-4D97-AF65-F5344CB8AC3E}">
        <p14:creationId xmlns:p14="http://schemas.microsoft.com/office/powerpoint/2010/main" val="3520919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相手の</a:t>
            </a:r>
            <a:r>
              <a:rPr lang="en-US" altLang="ja-JP" dirty="0"/>
              <a:t>offer</a:t>
            </a:r>
            <a:r>
              <a:rPr lang="ja-JP" altLang="en-US"/>
              <a:t>内容から相手の</a:t>
            </a:r>
            <a:r>
              <a:rPr lang="ja-JP" altLang="en-US">
                <a:solidFill>
                  <a:schemeClr val="accent1"/>
                </a:solidFill>
              </a:rPr>
              <a:t>積極性</a:t>
            </a:r>
            <a:r>
              <a:rPr lang="ja-JP" altLang="en-US"/>
              <a:t>・</a:t>
            </a:r>
            <a:r>
              <a:rPr lang="ja-JP" altLang="en-US">
                <a:solidFill>
                  <a:schemeClr val="accent1"/>
                </a:solidFill>
              </a:rPr>
              <a:t>協調性</a:t>
            </a:r>
            <a:r>
              <a:rPr lang="ja-JP" altLang="en-US"/>
              <a:t>の値を</a:t>
            </a:r>
            <a:br>
              <a:rPr lang="en-US" altLang="ja-JP" dirty="0"/>
            </a:br>
            <a:r>
              <a:rPr lang="ja-JP" altLang="en-US"/>
              <a:t>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譲歩速度などを変更</a:t>
            </a:r>
            <a:endParaRPr lang="en-US" altLang="ja-JP" dirty="0">
              <a:solidFill>
                <a:schemeClr val="accent2"/>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11</a:t>
            </a:fld>
            <a:endParaRPr kumimoji="1" lang="ja-JP" altLang="en-US"/>
          </a:p>
        </p:txBody>
      </p:sp>
      <p:sp>
        <p:nvSpPr>
          <p:cNvPr id="35" name="左矢印 34">
            <a:extLst>
              <a:ext uri="{FF2B5EF4-FFF2-40B4-BE49-F238E27FC236}">
                <a16:creationId xmlns:a16="http://schemas.microsoft.com/office/drawing/2014/main" id="{6254CD95-731F-F84B-A6C6-8403132DC911}"/>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a16="http://schemas.microsoft.com/office/drawing/2014/main" id="{F14259E4-AC2B-BC48-8BA7-1B55D7B3603A}"/>
              </a:ext>
            </a:extLst>
          </p:cNvPr>
          <p:cNvGrpSpPr/>
          <p:nvPr/>
        </p:nvGrpSpPr>
        <p:grpSpPr>
          <a:xfrm>
            <a:off x="5430251" y="3882263"/>
            <a:ext cx="2067461" cy="2448664"/>
            <a:chOff x="4947651" y="3882263"/>
            <a:chExt cx="2067461" cy="2448664"/>
          </a:xfrm>
        </p:grpSpPr>
        <mc:AlternateContent xmlns:mc="http://schemas.openxmlformats.org/markup-compatibility/2006">
          <mc:Choice xmlns:a14="http://schemas.microsoft.com/office/drawing/2010/main" Requires="a14">
            <p:sp>
              <p:nvSpPr>
                <p:cNvPr id="37" name="テキスト ボックス 36">
                  <a:extLst>
                    <a:ext uri="{FF2B5EF4-FFF2-40B4-BE49-F238E27FC236}">
                      <a16:creationId xmlns:a16="http://schemas.microsoft.com/office/drawing/2014/main" id="{02F94926-F6C0-1841-BC30-D11B3A65A63A}"/>
                    </a:ext>
                  </a:extLst>
                </p:cNvPr>
                <p:cNvSpPr txBox="1"/>
                <p:nvPr/>
              </p:nvSpPr>
              <p:spPr>
                <a:xfrm>
                  <a:off x="4947651" y="5684596"/>
                  <a:ext cx="2067461" cy="646331"/>
                </a:xfrm>
                <a:prstGeom prst="rect">
                  <a:avLst/>
                </a:prstGeom>
                <a:noFill/>
              </p:spPr>
              <p:txBody>
                <a:bodyPr wrap="square" rtlCol="0">
                  <a:spAutoFit/>
                </a:bodyPr>
                <a:lstStyle/>
                <a:p>
                  <a:pPr algn="ctr"/>
                  <a14:m>
                    <m:oMath xmlns:m="http://schemas.openxmlformats.org/officeDocument/2006/math">
                      <m:r>
                        <a:rPr kumimoji="1" lang="en-US" altLang="ja-JP" i="1" smtClean="0">
                          <a:solidFill>
                            <a:schemeClr val="tx1"/>
                          </a:solidFill>
                          <a:latin typeface="Cambria Math" panose="02040503050406030204" pitchFamily="18" charset="0"/>
                        </a:rPr>
                        <m:t>𝛼</m:t>
                      </m:r>
                    </m:oMath>
                  </a14:m>
                  <a:r>
                    <a:rPr kumimoji="1" lang="en-US" altLang="ja-JP" dirty="0">
                      <a:solidFill>
                        <a:schemeClr val="tx1"/>
                      </a:solidFill>
                    </a:rPr>
                    <a:t>=</a:t>
                  </a:r>
                  <a:r>
                    <a:rPr kumimoji="1" lang="en-US" altLang="ja-JP" dirty="0">
                      <a:solidFill>
                        <a:schemeClr val="accent1"/>
                      </a:solidFill>
                    </a:rPr>
                    <a:t>0.575</a:t>
                  </a:r>
                </a:p>
                <a:p>
                  <a:pPr algn="ctr"/>
                  <a:r>
                    <a:rPr kumimoji="1" lang="en-US" altLang="ja-JP" dirty="0"/>
                    <a:t>(</a:t>
                  </a:r>
                  <a:r>
                    <a:rPr kumimoji="1" lang="ja-JP" altLang="en-US"/>
                    <a:t>混合比</a:t>
                  </a:r>
                  <a:r>
                    <a:rPr kumimoji="1" lang="en-US" altLang="ja-JP" dirty="0"/>
                    <a:t>1:3)</a:t>
                  </a:r>
                  <a:endParaRPr kumimoji="1" lang="ja-JP" altLang="en-US"/>
                </a:p>
              </p:txBody>
            </p:sp>
          </mc:Choice>
          <mc:Fallback>
            <p:sp>
              <p:nvSpPr>
                <p:cNvPr id="37" name="テキスト ボックス 36">
                  <a:extLst>
                    <a:ext uri="{FF2B5EF4-FFF2-40B4-BE49-F238E27FC236}">
                      <a16:creationId xmlns:a16="http://schemas.microsoft.com/office/drawing/2014/main" id="{02F94926-F6C0-1841-BC30-D11B3A65A63A}"/>
                    </a:ext>
                  </a:extLst>
                </p:cNvPr>
                <p:cNvSpPr txBox="1">
                  <a:spLocks noRot="1" noChangeAspect="1" noMove="1" noResize="1" noEditPoints="1" noAdjustHandles="1" noChangeArrowheads="1" noChangeShapeType="1" noTextEdit="1"/>
                </p:cNvSpPr>
                <p:nvPr/>
              </p:nvSpPr>
              <p:spPr>
                <a:xfrm>
                  <a:off x="4947651" y="5684596"/>
                  <a:ext cx="2067461" cy="646331"/>
                </a:xfrm>
                <a:prstGeom prst="rect">
                  <a:avLst/>
                </a:prstGeom>
                <a:blipFill>
                  <a:blip r:embed="rId2"/>
                  <a:stretch>
                    <a:fillRect t="-3922" b="-13725"/>
                  </a:stretch>
                </a:blipFill>
              </p:spPr>
              <p:txBody>
                <a:bodyPr/>
                <a:lstStyle/>
                <a:p>
                  <a:r>
                    <a:rPr lang="ja-JP" altLang="en-US">
                      <a:noFill/>
                    </a:rPr>
                    <a:t> </a:t>
                  </a:r>
                </a:p>
              </p:txBody>
            </p:sp>
          </mc:Fallback>
        </mc:AlternateContent>
        <p:grpSp>
          <p:nvGrpSpPr>
            <p:cNvPr id="38" name="グループ化 37">
              <a:extLst>
                <a:ext uri="{FF2B5EF4-FFF2-40B4-BE49-F238E27FC236}">
                  <a16:creationId xmlns:a16="http://schemas.microsoft.com/office/drawing/2014/main" id="{5B0CC0BC-C013-5040-86AF-3566C3A121D7}"/>
                </a:ext>
              </a:extLst>
            </p:cNvPr>
            <p:cNvGrpSpPr/>
            <p:nvPr/>
          </p:nvGrpSpPr>
          <p:grpSpPr>
            <a:xfrm>
              <a:off x="5048817" y="3882263"/>
              <a:ext cx="1690907" cy="1690907"/>
              <a:chOff x="5048817" y="3742563"/>
              <a:chExt cx="1690907" cy="1690907"/>
            </a:xfrm>
          </p:grpSpPr>
          <p:sp>
            <p:nvSpPr>
              <p:cNvPr id="39" name="フリーフォーム 38">
                <a:extLst>
                  <a:ext uri="{FF2B5EF4-FFF2-40B4-BE49-F238E27FC236}">
                    <a16:creationId xmlns:a16="http://schemas.microsoft.com/office/drawing/2014/main" id="{1399F8D6-85DE-3C40-8A48-AC7495E313EA}"/>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39">
                <a:extLst>
                  <a:ext uri="{FF2B5EF4-FFF2-40B4-BE49-F238E27FC236}">
                    <a16:creationId xmlns:a16="http://schemas.microsoft.com/office/drawing/2014/main" id="{62E4C185-ED30-CB45-AE6D-34F7FD929CAD}"/>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40">
                <a:extLst>
                  <a:ext uri="{FF2B5EF4-FFF2-40B4-BE49-F238E27FC236}">
                    <a16:creationId xmlns:a16="http://schemas.microsoft.com/office/drawing/2014/main" id="{111E5B75-1107-6840-8661-79F9A67E1907}"/>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463A661A-532D-A141-802E-74CAC5FB3419}"/>
                  </a:ext>
                </a:extLst>
              </p:cNvPr>
              <p:cNvGrpSpPr/>
              <p:nvPr/>
            </p:nvGrpSpPr>
            <p:grpSpPr>
              <a:xfrm>
                <a:off x="5048817" y="3742563"/>
                <a:ext cx="1690907" cy="1690907"/>
                <a:chOff x="6676684" y="4465921"/>
                <a:chExt cx="1690907" cy="1690907"/>
              </a:xfrm>
            </p:grpSpPr>
            <p:cxnSp>
              <p:nvCxnSpPr>
                <p:cNvPr id="43" name="直線コネクタ 42">
                  <a:extLst>
                    <a:ext uri="{FF2B5EF4-FFF2-40B4-BE49-F238E27FC236}">
                      <a16:creationId xmlns:a16="http://schemas.microsoft.com/office/drawing/2014/main" id="{DAE07550-CEBA-BD48-B83D-E9CFB9CB0A39}"/>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E7AEC0A3-14DB-584C-8796-C902A0F29B2B}"/>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mc:AlternateContent xmlns:mc="http://schemas.openxmlformats.org/markup-compatibility/2006">
        <mc:Choice xmlns:a14="http://schemas.microsoft.com/office/drawing/2010/main" Requires="a14">
          <p:graphicFrame>
            <p:nvGraphicFramePr>
              <p:cNvPr id="45" name="表 44">
                <a:extLst>
                  <a:ext uri="{FF2B5EF4-FFF2-40B4-BE49-F238E27FC236}">
                    <a16:creationId xmlns:a16="http://schemas.microsoft.com/office/drawing/2014/main" id="{82C8B3EF-79B5-0641-9E71-FE2F0929F016}"/>
                  </a:ext>
                </a:extLst>
              </p:cNvPr>
              <p:cNvGraphicFramePr>
                <a:graphicFrameLocks noGrp="1"/>
              </p:cNvGraphicFramePr>
              <p:nvPr>
                <p:extLst>
                  <p:ext uri="{D42A27DB-BD31-4B8C-83A1-F6EECF244321}">
                    <p14:modId xmlns:p14="http://schemas.microsoft.com/office/powerpoint/2010/main" val="3709884992"/>
                  </p:ext>
                </p:extLst>
              </p:nvPr>
            </p:nvGraphicFramePr>
            <p:xfrm>
              <a:off x="1047485" y="5817963"/>
              <a:ext cx="2962802" cy="741680"/>
            </p:xfrm>
            <a:graphic>
              <a:graphicData uri="http://schemas.openxmlformats.org/drawingml/2006/table">
                <a:tbl>
                  <a:tblPr firstRow="1" bandRow="1">
                    <a:tableStyleId>{5C22544A-7EE6-4342-B048-85BDC9FD1C3A}</a:tableStyleId>
                  </a:tblPr>
                  <a:tblGrid>
                    <a:gridCol w="1481401">
                      <a:extLst>
                        <a:ext uri="{9D8B030D-6E8A-4147-A177-3AD203B41FA5}">
                          <a16:colId xmlns:a16="http://schemas.microsoft.com/office/drawing/2014/main" val="2450102447"/>
                        </a:ext>
                      </a:extLst>
                    </a:gridCol>
                    <a:gridCol w="1481401">
                      <a:extLst>
                        <a:ext uri="{9D8B030D-6E8A-4147-A177-3AD203B41FA5}">
                          <a16:colId xmlns:a16="http://schemas.microsoft.com/office/drawing/2014/main" val="3506212313"/>
                        </a:ext>
                      </a:extLst>
                    </a:gridCol>
                  </a:tblGrid>
                  <a:tr h="370840">
                    <a:tc>
                      <a:txBody>
                        <a:bodyPr/>
                        <a:lstStyle/>
                        <a:p>
                          <a:pPr algn="ctr"/>
                          <a:r>
                            <a:rPr kumimoji="1" lang="ja-JP" altLang="en-US" sz="1600"/>
                            <a:t>競争</a:t>
                          </a:r>
                        </a:p>
                      </a:txBody>
                      <a:tcPr marL="68700" marR="68700"/>
                    </a:tc>
                    <a:tc>
                      <a:txBody>
                        <a:bodyPr/>
                        <a:lstStyle/>
                        <a:p>
                          <a:pPr algn="ctr"/>
                          <a:r>
                            <a:rPr kumimoji="1" lang="ja-JP" altLang="en-US" sz="1600"/>
                            <a:t>共存</a:t>
                          </a:r>
                        </a:p>
                      </a:txBody>
                      <a:tcPr marL="68700" marR="68700"/>
                    </a:tc>
                    <a:extLst>
                      <a:ext uri="{0D108BD9-81ED-4DB2-BD59-A6C34878D82A}">
                        <a16:rowId xmlns:a16="http://schemas.microsoft.com/office/drawing/2014/main" val="1927177420"/>
                      </a:ext>
                    </a:extLst>
                  </a:tr>
                  <a:tr h="370840">
                    <a:tc>
                      <a:txBody>
                        <a:bodyPr/>
                        <a:lstStyle/>
                        <a:p>
                          <a:pPr algn="ctr"/>
                          <a14:m>
                            <m:oMath xmlns:m="http://schemas.openxmlformats.org/officeDocument/2006/math">
                              <m:r>
                                <a:rPr kumimoji="1" lang="en-US" altLang="ja-JP" sz="1600" b="0" i="1" smtClean="0">
                                  <a:solidFill>
                                    <a:schemeClr val="tx1"/>
                                  </a:solidFill>
                                  <a:latin typeface="Cambria Math" panose="02040503050406030204" pitchFamily="18" charset="0"/>
                                </a:rPr>
                                <m:t>𝛼</m:t>
                              </m:r>
                            </m:oMath>
                          </a14:m>
                          <a:r>
                            <a:rPr kumimoji="1" lang="en-US" altLang="ja-JP" sz="1600" dirty="0">
                              <a:solidFill>
                                <a:schemeClr val="tx1"/>
                              </a:solidFill>
                            </a:rPr>
                            <a:t>=</a:t>
                          </a:r>
                          <a:r>
                            <a:rPr kumimoji="1" lang="en-US" altLang="ja-JP" sz="1600" dirty="0">
                              <a:solidFill>
                                <a:schemeClr val="accent3"/>
                              </a:solidFill>
                            </a:rPr>
                            <a:t>0.2</a:t>
                          </a:r>
                          <a:endParaRPr kumimoji="1" lang="ja-JP" altLang="en-US" sz="1600">
                            <a:solidFill>
                              <a:schemeClr val="accent3"/>
                            </a:solidFill>
                          </a:endParaRPr>
                        </a:p>
                      </a:txBody>
                      <a:tcPr marL="56777" marR="56777"/>
                    </a:tc>
                    <a:tc>
                      <a:txBody>
                        <a:bodyPr/>
                        <a:lstStyle/>
                        <a:p>
                          <a:pPr algn="ctr"/>
                          <a14:m>
                            <m:oMath xmlns:m="http://schemas.openxmlformats.org/officeDocument/2006/math">
                              <m:r>
                                <a:rPr kumimoji="1" lang="en-US" altLang="ja-JP" sz="1600" b="0" i="1" smtClean="0">
                                  <a:solidFill>
                                    <a:schemeClr val="tx1"/>
                                  </a:solidFill>
                                  <a:latin typeface="Cambria Math" panose="02040503050406030204" pitchFamily="18" charset="0"/>
                                </a:rPr>
                                <m:t>𝛼</m:t>
                              </m:r>
                            </m:oMath>
                          </a14:m>
                          <a:r>
                            <a:rPr kumimoji="1" lang="en-US" altLang="ja-JP" sz="1600" dirty="0">
                              <a:solidFill>
                                <a:schemeClr val="tx1"/>
                              </a:solidFill>
                            </a:rPr>
                            <a:t>=</a:t>
                          </a:r>
                          <a:r>
                            <a:rPr kumimoji="1" lang="en-US" altLang="ja-JP" sz="1600" dirty="0">
                              <a:solidFill>
                                <a:schemeClr val="accent2"/>
                              </a:solidFill>
                            </a:rPr>
                            <a:t>0.7</a:t>
                          </a:r>
                          <a:endParaRPr kumimoji="1" lang="ja-JP" altLang="en-US" sz="1600">
                            <a:solidFill>
                              <a:schemeClr val="accent2"/>
                            </a:solidFill>
                          </a:endParaRPr>
                        </a:p>
                      </a:txBody>
                      <a:tcPr marL="56777" marR="56777"/>
                    </a:tc>
                    <a:extLst>
                      <a:ext uri="{0D108BD9-81ED-4DB2-BD59-A6C34878D82A}">
                        <a16:rowId xmlns:a16="http://schemas.microsoft.com/office/drawing/2014/main" val="2956610254"/>
                      </a:ext>
                    </a:extLst>
                  </a:tr>
                </a:tbl>
              </a:graphicData>
            </a:graphic>
          </p:graphicFrame>
        </mc:Choice>
        <mc:Fallback>
          <p:graphicFrame>
            <p:nvGraphicFramePr>
              <p:cNvPr id="45" name="表 44">
                <a:extLst>
                  <a:ext uri="{FF2B5EF4-FFF2-40B4-BE49-F238E27FC236}">
                    <a16:creationId xmlns:a16="http://schemas.microsoft.com/office/drawing/2014/main" id="{82C8B3EF-79B5-0641-9E71-FE2F0929F016}"/>
                  </a:ext>
                </a:extLst>
              </p:cNvPr>
              <p:cNvGraphicFramePr>
                <a:graphicFrameLocks noGrp="1"/>
              </p:cNvGraphicFramePr>
              <p:nvPr>
                <p:extLst>
                  <p:ext uri="{D42A27DB-BD31-4B8C-83A1-F6EECF244321}">
                    <p14:modId xmlns:p14="http://schemas.microsoft.com/office/powerpoint/2010/main" val="3709884992"/>
                  </p:ext>
                </p:extLst>
              </p:nvPr>
            </p:nvGraphicFramePr>
            <p:xfrm>
              <a:off x="1047485" y="5817963"/>
              <a:ext cx="2962802" cy="741680"/>
            </p:xfrm>
            <a:graphic>
              <a:graphicData uri="http://schemas.openxmlformats.org/drawingml/2006/table">
                <a:tbl>
                  <a:tblPr firstRow="1" bandRow="1">
                    <a:tableStyleId>{5C22544A-7EE6-4342-B048-85BDC9FD1C3A}</a:tableStyleId>
                  </a:tblPr>
                  <a:tblGrid>
                    <a:gridCol w="1481401">
                      <a:extLst>
                        <a:ext uri="{9D8B030D-6E8A-4147-A177-3AD203B41FA5}">
                          <a16:colId xmlns:a16="http://schemas.microsoft.com/office/drawing/2014/main" val="2450102447"/>
                        </a:ext>
                      </a:extLst>
                    </a:gridCol>
                    <a:gridCol w="1481401">
                      <a:extLst>
                        <a:ext uri="{9D8B030D-6E8A-4147-A177-3AD203B41FA5}">
                          <a16:colId xmlns:a16="http://schemas.microsoft.com/office/drawing/2014/main" val="3506212313"/>
                        </a:ext>
                      </a:extLst>
                    </a:gridCol>
                  </a:tblGrid>
                  <a:tr h="370840">
                    <a:tc>
                      <a:txBody>
                        <a:bodyPr/>
                        <a:lstStyle/>
                        <a:p>
                          <a:pPr algn="ctr"/>
                          <a:r>
                            <a:rPr kumimoji="1" lang="ja-JP" altLang="en-US" sz="1600"/>
                            <a:t>競争</a:t>
                          </a:r>
                        </a:p>
                      </a:txBody>
                      <a:tcPr marL="68700" marR="68700"/>
                    </a:tc>
                    <a:tc>
                      <a:txBody>
                        <a:bodyPr/>
                        <a:lstStyle/>
                        <a:p>
                          <a:pPr algn="ctr"/>
                          <a:r>
                            <a:rPr kumimoji="1" lang="ja-JP" altLang="en-US" sz="1600"/>
                            <a:t>共存</a:t>
                          </a:r>
                        </a:p>
                      </a:txBody>
                      <a:tcPr marL="68700" marR="68700"/>
                    </a:tc>
                    <a:extLst>
                      <a:ext uri="{0D108BD9-81ED-4DB2-BD59-A6C34878D82A}">
                        <a16:rowId xmlns:a16="http://schemas.microsoft.com/office/drawing/2014/main" val="1927177420"/>
                      </a:ext>
                    </a:extLst>
                  </a:tr>
                  <a:tr h="370840">
                    <a:tc>
                      <a:txBody>
                        <a:bodyPr/>
                        <a:lstStyle/>
                        <a:p>
                          <a:endParaRPr lang="ja-JP"/>
                        </a:p>
                      </a:txBody>
                      <a:tcPr marL="56777" marR="56777">
                        <a:blipFill>
                          <a:blip r:embed="rId3"/>
                          <a:stretch>
                            <a:fillRect l="-855" t="-113793" r="-101709" b="-10345"/>
                          </a:stretch>
                        </a:blipFill>
                      </a:tcPr>
                    </a:tc>
                    <a:tc>
                      <a:txBody>
                        <a:bodyPr/>
                        <a:lstStyle/>
                        <a:p>
                          <a:endParaRPr lang="ja-JP"/>
                        </a:p>
                      </a:txBody>
                      <a:tcPr marL="56777" marR="56777">
                        <a:blipFill>
                          <a:blip r:embed="rId3"/>
                          <a:stretch>
                            <a:fillRect l="-100855" t="-113793" r="-1709" b="-10345"/>
                          </a:stretch>
                        </a:blipFill>
                      </a:tcPr>
                    </a:tc>
                    <a:extLst>
                      <a:ext uri="{0D108BD9-81ED-4DB2-BD59-A6C34878D82A}">
                        <a16:rowId xmlns:a16="http://schemas.microsoft.com/office/drawing/2014/main" val="2956610254"/>
                      </a:ext>
                    </a:extLst>
                  </a:tr>
                </a:tbl>
              </a:graphicData>
            </a:graphic>
          </p:graphicFrame>
        </mc:Fallback>
      </mc:AlternateContent>
      <p:sp>
        <p:nvSpPr>
          <p:cNvPr id="46" name="テキスト ボックス 45">
            <a:extLst>
              <a:ext uri="{FF2B5EF4-FFF2-40B4-BE49-F238E27FC236}">
                <a16:creationId xmlns:a16="http://schemas.microsoft.com/office/drawing/2014/main" id="{27655224-A4E5-3241-ABA2-60C426A98BB2}"/>
              </a:ext>
            </a:extLst>
          </p:cNvPr>
          <p:cNvSpPr txBox="1"/>
          <p:nvPr/>
        </p:nvSpPr>
        <p:spPr>
          <a:xfrm>
            <a:off x="1274115" y="5472977"/>
            <a:ext cx="2481105" cy="369332"/>
          </a:xfrm>
          <a:prstGeom prst="rect">
            <a:avLst/>
          </a:prstGeom>
          <a:noFill/>
        </p:spPr>
        <p:txBody>
          <a:bodyPr wrap="square" rtlCol="0">
            <a:spAutoFit/>
          </a:bodyPr>
          <a:lstStyle/>
          <a:p>
            <a:pPr algn="ctr"/>
            <a:r>
              <a:rPr kumimoji="1" lang="ja-JP" altLang="en-US"/>
              <a:t>エージェントの戦略</a:t>
            </a:r>
          </a:p>
        </p:txBody>
      </p:sp>
      <p:grpSp>
        <p:nvGrpSpPr>
          <p:cNvPr id="47" name="グループ化 46">
            <a:extLst>
              <a:ext uri="{FF2B5EF4-FFF2-40B4-BE49-F238E27FC236}">
                <a16:creationId xmlns:a16="http://schemas.microsoft.com/office/drawing/2014/main" id="{43846E16-776A-3E49-992D-A501B4270BA3}"/>
              </a:ext>
            </a:extLst>
          </p:cNvPr>
          <p:cNvGrpSpPr/>
          <p:nvPr/>
        </p:nvGrpSpPr>
        <p:grpSpPr>
          <a:xfrm>
            <a:off x="1416718" y="3469437"/>
            <a:ext cx="3477507" cy="1992238"/>
            <a:chOff x="1416718" y="3537169"/>
            <a:chExt cx="3477507" cy="1992238"/>
          </a:xfrm>
        </p:grpSpPr>
        <p:grpSp>
          <p:nvGrpSpPr>
            <p:cNvPr id="48" name="グループ化 47">
              <a:extLst>
                <a:ext uri="{FF2B5EF4-FFF2-40B4-BE49-F238E27FC236}">
                  <a16:creationId xmlns:a16="http://schemas.microsoft.com/office/drawing/2014/main" id="{D36DAEE3-6D0A-9747-B60D-E831100EDE39}"/>
                </a:ext>
              </a:extLst>
            </p:cNvPr>
            <p:cNvGrpSpPr/>
            <p:nvPr/>
          </p:nvGrpSpPr>
          <p:grpSpPr>
            <a:xfrm>
              <a:off x="1416718" y="3537169"/>
              <a:ext cx="2004121" cy="1992238"/>
              <a:chOff x="7784582" y="19015474"/>
              <a:chExt cx="5505296" cy="5472656"/>
            </a:xfrm>
          </p:grpSpPr>
          <p:pic>
            <p:nvPicPr>
              <p:cNvPr id="51" name="図 50">
                <a:extLst>
                  <a:ext uri="{FF2B5EF4-FFF2-40B4-BE49-F238E27FC236}">
                    <a16:creationId xmlns:a16="http://schemas.microsoft.com/office/drawing/2014/main" id="{F9DD4B1C-C076-DA40-8B76-0713C2AE01C4}"/>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52" name="直線矢印コネクタ 51">
                <a:extLst>
                  <a:ext uri="{FF2B5EF4-FFF2-40B4-BE49-F238E27FC236}">
                    <a16:creationId xmlns:a16="http://schemas.microsoft.com/office/drawing/2014/main" id="{8C451CA1-CBAE-B94B-A9BC-52E3331AC706}"/>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E3A2EFE7-7859-D447-A323-D087292CA23B}"/>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642ECB20-8323-E04D-BF9B-C174ED35FC4C}"/>
                  </a:ext>
                </a:extLst>
              </p:cNvPr>
              <p:cNvSpPr txBox="1"/>
              <p:nvPr/>
            </p:nvSpPr>
            <p:spPr>
              <a:xfrm>
                <a:off x="9420397" y="23769490"/>
                <a:ext cx="2490051" cy="718640"/>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55" name="テキスト ボックス 54">
                <a:extLst>
                  <a:ext uri="{FF2B5EF4-FFF2-40B4-BE49-F238E27FC236}">
                    <a16:creationId xmlns:a16="http://schemas.microsoft.com/office/drawing/2014/main" id="{CB12B7E0-496C-6F42-8B48-319D5E254BAF}"/>
                  </a:ext>
                </a:extLst>
              </p:cNvPr>
              <p:cNvSpPr txBox="1"/>
              <p:nvPr/>
            </p:nvSpPr>
            <p:spPr>
              <a:xfrm rot="16200000">
                <a:off x="6898876" y="21197789"/>
                <a:ext cx="2490052" cy="718639"/>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49" name="図 48">
              <a:extLst>
                <a:ext uri="{FF2B5EF4-FFF2-40B4-BE49-F238E27FC236}">
                  <a16:creationId xmlns:a16="http://schemas.microsoft.com/office/drawing/2014/main" id="{1BFFF84E-3BD1-D04F-B79D-CEE6E464DB1B}"/>
                </a:ext>
              </a:extLst>
            </p:cNvPr>
            <p:cNvPicPr>
              <a:picLocks noChangeAspect="1"/>
            </p:cNvPicPr>
            <p:nvPr/>
          </p:nvPicPr>
          <p:blipFill>
            <a:blip r:embed="rId5"/>
            <a:stretch>
              <a:fillRect/>
            </a:stretch>
          </p:blipFill>
          <p:spPr>
            <a:xfrm>
              <a:off x="2677139" y="3667820"/>
              <a:ext cx="252618" cy="430601"/>
            </a:xfrm>
            <a:prstGeom prst="rect">
              <a:avLst/>
            </a:prstGeom>
          </p:spPr>
        </p:pic>
        <p:sp>
          <p:nvSpPr>
            <p:cNvPr id="50" name="角丸四角形吹き出し 49">
              <a:extLst>
                <a:ext uri="{FF2B5EF4-FFF2-40B4-BE49-F238E27FC236}">
                  <a16:creationId xmlns:a16="http://schemas.microsoft.com/office/drawing/2014/main" id="{2B916A34-9FCC-E14A-BBDC-39975F3009AE}"/>
                </a:ext>
              </a:extLst>
            </p:cNvPr>
            <p:cNvSpPr/>
            <p:nvPr/>
          </p:nvSpPr>
          <p:spPr>
            <a:xfrm>
              <a:off x="3418000" y="4152511"/>
              <a:ext cx="1476225" cy="564786"/>
            </a:xfrm>
            <a:prstGeom prst="wedgeRoundRectCallout">
              <a:avLst>
                <a:gd name="adj1" fmla="val -67324"/>
                <a:gd name="adj2" fmla="val -50786"/>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t>競争</a:t>
              </a:r>
              <a:r>
                <a:rPr kumimoji="1" lang="en-US" altLang="ja-JP" sz="1600" dirty="0"/>
                <a:t>25%</a:t>
              </a:r>
            </a:p>
            <a:p>
              <a:pPr algn="ctr"/>
              <a:r>
                <a:rPr kumimoji="1" lang="ja-JP" altLang="en-US" sz="1600"/>
                <a:t>共存</a:t>
              </a:r>
              <a:r>
                <a:rPr kumimoji="1" lang="en-US" altLang="ja-JP" sz="1600" dirty="0"/>
                <a:t>75%</a:t>
              </a:r>
              <a:endParaRPr kumimoji="1" lang="ja-JP" altLang="en-US" sz="1600"/>
            </a:p>
          </p:txBody>
        </p:sp>
      </p:grpSp>
      <p:sp>
        <p:nvSpPr>
          <p:cNvPr id="56" name="テキスト プレースホルダー 7">
            <a:extLst>
              <a:ext uri="{FF2B5EF4-FFF2-40B4-BE49-F238E27FC236}">
                <a16:creationId xmlns:a16="http://schemas.microsoft.com/office/drawing/2014/main" id="{03C70ABB-CEB2-8B49-AA54-18AFA942E6EC}"/>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r>
              <a:rPr lang="en-US" altLang="ja-JP" dirty="0"/>
              <a:t>(TKI)</a:t>
            </a:r>
            <a:endParaRPr lang="ja-JP" altLang="en-US"/>
          </a:p>
        </p:txBody>
      </p:sp>
      <p:grpSp>
        <p:nvGrpSpPr>
          <p:cNvPr id="57" name="グループ化 56">
            <a:extLst>
              <a:ext uri="{FF2B5EF4-FFF2-40B4-BE49-F238E27FC236}">
                <a16:creationId xmlns:a16="http://schemas.microsoft.com/office/drawing/2014/main" id="{62176FF5-4F4A-9340-B20C-CDD1D13FF830}"/>
              </a:ext>
            </a:extLst>
          </p:cNvPr>
          <p:cNvGrpSpPr/>
          <p:nvPr/>
        </p:nvGrpSpPr>
        <p:grpSpPr>
          <a:xfrm flipH="1" flipV="1">
            <a:off x="358775" y="1019593"/>
            <a:ext cx="4361549" cy="244800"/>
            <a:chOff x="195674" y="1377865"/>
            <a:chExt cx="4361549" cy="244800"/>
          </a:xfrm>
        </p:grpSpPr>
        <p:cxnSp>
          <p:nvCxnSpPr>
            <p:cNvPr id="58" name="直線コネクタ 57">
              <a:extLst>
                <a:ext uri="{FF2B5EF4-FFF2-40B4-BE49-F238E27FC236}">
                  <a16:creationId xmlns:a16="http://schemas.microsoft.com/office/drawing/2014/main" id="{560DF7C1-EBC5-C140-8018-41EED973E6CC}"/>
                </a:ext>
              </a:extLst>
            </p:cNvPr>
            <p:cNvCxnSpPr>
              <a:cxnSpLocks/>
            </p:cNvCxnSpPr>
            <p:nvPr userDrawn="1"/>
          </p:nvCxnSpPr>
          <p:spPr>
            <a:xfrm flipV="1">
              <a:off x="413216" y="1607575"/>
              <a:ext cx="414400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9" name="フリーフォーム 58">
              <a:extLst>
                <a:ext uri="{FF2B5EF4-FFF2-40B4-BE49-F238E27FC236}">
                  <a16:creationId xmlns:a16="http://schemas.microsoft.com/office/drawing/2014/main" id="{29C9ADB2-CCE4-0F48-A0A1-6731F0A5204B}"/>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60" name="グループ化 59">
            <a:extLst>
              <a:ext uri="{FF2B5EF4-FFF2-40B4-BE49-F238E27FC236}">
                <a16:creationId xmlns:a16="http://schemas.microsoft.com/office/drawing/2014/main" id="{2A95DC43-F70A-254F-B04C-7E155C75CA86}"/>
              </a:ext>
            </a:extLst>
          </p:cNvPr>
          <p:cNvGrpSpPr/>
          <p:nvPr/>
        </p:nvGrpSpPr>
        <p:grpSpPr>
          <a:xfrm>
            <a:off x="140729" y="1384215"/>
            <a:ext cx="4378081" cy="244800"/>
            <a:chOff x="143915" y="1384215"/>
            <a:chExt cx="4378081" cy="244800"/>
          </a:xfrm>
        </p:grpSpPr>
        <p:cxnSp>
          <p:nvCxnSpPr>
            <p:cNvPr id="61" name="直線コネクタ 60">
              <a:extLst>
                <a:ext uri="{FF2B5EF4-FFF2-40B4-BE49-F238E27FC236}">
                  <a16:creationId xmlns:a16="http://schemas.microsoft.com/office/drawing/2014/main" id="{888DABB2-44EE-4B47-8F6F-D8E7C4641177}"/>
                </a:ext>
              </a:extLst>
            </p:cNvPr>
            <p:cNvCxnSpPr>
              <a:cxnSpLocks/>
            </p:cNvCxnSpPr>
            <p:nvPr userDrawn="1"/>
          </p:nvCxnSpPr>
          <p:spPr>
            <a:xfrm>
              <a:off x="364660" y="1607575"/>
              <a:ext cx="4157336"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2" name="フリーフォーム 61">
              <a:extLst>
                <a:ext uri="{FF2B5EF4-FFF2-40B4-BE49-F238E27FC236}">
                  <a16:creationId xmlns:a16="http://schemas.microsoft.com/office/drawing/2014/main" id="{612840E5-F083-A443-A030-614BDB9C365E}"/>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1152024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993236"/>
          </a:xfrm>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a:t>
            </a:r>
            <a:r>
              <a:rPr lang="ja-JP" altLang="en-US"/>
              <a:t>の</a:t>
            </a:r>
            <a:br>
              <a:rPr lang="en-US" altLang="ja-JP" dirty="0"/>
            </a:br>
            <a:r>
              <a:rPr lang="ja-JP" altLang="en-US"/>
              <a:t>値を求める</a:t>
            </a:r>
            <a:endParaRPr lang="en-US" altLang="ja-JP" dirty="0"/>
          </a:p>
          <a:p>
            <a:pPr lvl="1"/>
            <a:r>
              <a:rPr lang="ja-JP" altLang="en-US"/>
              <a:t>神経症的傾向</a:t>
            </a:r>
            <a:endParaRPr lang="en-US" altLang="ja-JP" dirty="0"/>
          </a:p>
          <a:p>
            <a:pPr lvl="2"/>
            <a:r>
              <a:rPr lang="en" altLang="ja-JP" dirty="0">
                <a:solidFill>
                  <a:schemeClr val="accent2"/>
                </a:solidFill>
              </a:rPr>
              <a:t>Nice</a:t>
            </a:r>
            <a:r>
              <a:rPr lang="ja-JP" altLang="en-US">
                <a:solidFill>
                  <a:schemeClr val="accent2"/>
                </a:solidFill>
              </a:rPr>
              <a:t>と</a:t>
            </a:r>
            <a:r>
              <a:rPr lang="en-US" altLang="ja-JP" dirty="0">
                <a:solidFill>
                  <a:schemeClr val="accent2"/>
                </a:solidFill>
              </a:rPr>
              <a:t>C</a:t>
            </a:r>
            <a:r>
              <a:rPr lang="en" altLang="ja-JP" dirty="0" err="1">
                <a:solidFill>
                  <a:schemeClr val="accent2"/>
                </a:solidFill>
              </a:rPr>
              <a:t>oncession</a:t>
            </a:r>
            <a:r>
              <a:rPr lang="ja-JP" altLang="en-US">
                <a:solidFill>
                  <a:schemeClr val="accent2"/>
                </a:solidFill>
              </a:rPr>
              <a:t>の値</a:t>
            </a:r>
            <a:r>
              <a:rPr lang="en-US" altLang="ja-JP" dirty="0"/>
              <a:t>+</a:t>
            </a:r>
            <a:r>
              <a:rPr lang="ja-JP" altLang="en-US">
                <a:solidFill>
                  <a:schemeClr val="accent3"/>
                </a:solidFill>
              </a:rPr>
              <a:t>否定的な感情の割合</a:t>
            </a:r>
          </a:p>
          <a:p>
            <a:pPr lvl="1"/>
            <a:r>
              <a:rPr lang="ja-JP" altLang="en-US"/>
              <a:t>外向性</a:t>
            </a:r>
            <a:endParaRPr lang="en-US" altLang="ja-JP" dirty="0"/>
          </a:p>
          <a:p>
            <a:pPr lvl="2"/>
            <a:r>
              <a:rPr lang="en-US" altLang="ja-JP" dirty="0">
                <a:solidFill>
                  <a:schemeClr val="accent2"/>
                </a:solidFill>
              </a:rPr>
              <a:t>Selfish</a:t>
            </a:r>
            <a:r>
              <a:rPr lang="ja-JP" altLang="en-US">
                <a:solidFill>
                  <a:schemeClr val="accent2"/>
                </a:solidFill>
              </a:rPr>
              <a:t>と</a:t>
            </a:r>
            <a:r>
              <a:rPr lang="en-US" altLang="ja-JP" dirty="0">
                <a:solidFill>
                  <a:schemeClr val="accent2"/>
                </a:solidFill>
              </a:rPr>
              <a:t>Fortunate</a:t>
            </a:r>
            <a:r>
              <a:rPr lang="ja-JP" altLang="en-US">
                <a:solidFill>
                  <a:schemeClr val="accent2"/>
                </a:solidFill>
              </a:rPr>
              <a:t>の値</a:t>
            </a:r>
            <a:r>
              <a:rPr lang="en-US" altLang="ja-JP" dirty="0"/>
              <a:t>+</a:t>
            </a:r>
            <a:r>
              <a:rPr lang="ja-JP" altLang="en-US">
                <a:solidFill>
                  <a:schemeClr val="accent3"/>
                </a:solidFill>
              </a:rPr>
              <a:t>行動の頻度</a:t>
            </a:r>
          </a:p>
          <a:p>
            <a:pPr lvl="1"/>
            <a:r>
              <a:rPr lang="ja-JP" altLang="en-US"/>
              <a:t>経験への開放性</a:t>
            </a:r>
            <a:endParaRPr lang="en-US" altLang="ja-JP" dirty="0"/>
          </a:p>
          <a:p>
            <a:pPr lvl="2"/>
            <a:r>
              <a:rPr lang="en" altLang="ja-JP" dirty="0">
                <a:solidFill>
                  <a:schemeClr val="accent2"/>
                </a:solidFill>
              </a:rPr>
              <a:t>offer</a:t>
            </a:r>
            <a:r>
              <a:rPr lang="ja-JP" altLang="en-US">
                <a:solidFill>
                  <a:schemeClr val="accent2"/>
                </a:solidFill>
              </a:rPr>
              <a:t>の各選択肢の分散</a:t>
            </a:r>
            <a:r>
              <a:rPr lang="en-US" altLang="ja-JP" dirty="0"/>
              <a:t>+</a:t>
            </a:r>
            <a:r>
              <a:rPr lang="ja-JP" altLang="en-US">
                <a:solidFill>
                  <a:schemeClr val="accent3"/>
                </a:solidFill>
              </a:rPr>
              <a:t>選好に関する質問の回数</a:t>
            </a:r>
          </a:p>
          <a:p>
            <a:pPr lvl="1"/>
            <a:r>
              <a:rPr lang="ja-JP" altLang="en-US"/>
              <a:t>誠実性</a:t>
            </a:r>
            <a:endParaRPr lang="en-US" altLang="ja-JP" dirty="0"/>
          </a:p>
          <a:p>
            <a:pPr lvl="2"/>
            <a:r>
              <a:rPr lang="ja-JP" altLang="en-US">
                <a:solidFill>
                  <a:schemeClr val="accent2"/>
                </a:solidFill>
              </a:rPr>
              <a:t>相手の</a:t>
            </a:r>
            <a:r>
              <a:rPr lang="en" altLang="ja-JP" dirty="0">
                <a:solidFill>
                  <a:schemeClr val="accent2"/>
                </a:solidFill>
              </a:rPr>
              <a:t>offer</a:t>
            </a:r>
            <a:r>
              <a:rPr lang="ja-JP" altLang="en-US">
                <a:solidFill>
                  <a:schemeClr val="accent2"/>
                </a:solidFill>
              </a:rPr>
              <a:t>の効用値の分散の逆数</a:t>
            </a:r>
            <a:r>
              <a:rPr lang="en-US" altLang="ja-JP" dirty="0"/>
              <a:t>+</a:t>
            </a:r>
            <a:r>
              <a:rPr lang="ja-JP" altLang="en-US">
                <a:solidFill>
                  <a:schemeClr val="accent3"/>
                </a:solidFill>
              </a:rPr>
              <a:t>自分の選好を</a:t>
            </a:r>
            <a:br>
              <a:rPr lang="en-US" altLang="ja-JP" dirty="0">
                <a:solidFill>
                  <a:schemeClr val="accent3"/>
                </a:solidFill>
              </a:rPr>
            </a:br>
            <a:r>
              <a:rPr lang="ja-JP" altLang="en-US">
                <a:solidFill>
                  <a:schemeClr val="accent3"/>
                </a:solidFill>
              </a:rPr>
              <a:t>公開した回数</a:t>
            </a:r>
            <a:r>
              <a:rPr lang="en-US" altLang="ja-JP" dirty="0"/>
              <a:t>+</a:t>
            </a:r>
            <a:r>
              <a:rPr lang="ja-JP" altLang="en-US">
                <a:solidFill>
                  <a:schemeClr val="accent3"/>
                </a:solidFill>
              </a:rPr>
              <a:t>選好に関して矛盾があった回数</a:t>
            </a:r>
            <a:endParaRPr lang="en-US" altLang="ja-JP" dirty="0">
              <a:solidFill>
                <a:schemeClr val="accent3"/>
              </a:solidFill>
            </a:endParaRPr>
          </a:p>
          <a:p>
            <a:pPr lvl="1"/>
            <a:r>
              <a:rPr lang="ja-JP" altLang="en-US"/>
              <a:t>協調性</a:t>
            </a:r>
            <a:endParaRPr lang="en-US" altLang="ja-JP" dirty="0"/>
          </a:p>
          <a:p>
            <a:pPr lvl="2"/>
            <a:r>
              <a:rPr lang="ja-JP" altLang="en-US">
                <a:solidFill>
                  <a:schemeClr val="accent2"/>
                </a:solidFill>
              </a:rPr>
              <a:t>行動に対する感受性</a:t>
            </a:r>
            <a:r>
              <a:rPr lang="en-US" altLang="ja-JP" dirty="0"/>
              <a:t>+</a:t>
            </a:r>
            <a:r>
              <a:rPr lang="ja-JP" altLang="en-US">
                <a:solidFill>
                  <a:schemeClr val="accent3"/>
                </a:solidFill>
              </a:rPr>
              <a:t>肯定的なメッセージの送信回数</a:t>
            </a: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12</a:t>
            </a:fld>
            <a:endParaRPr kumimoji="1" lang="ja-JP" altLang="en-US"/>
          </a:p>
        </p:txBody>
      </p:sp>
      <p:sp>
        <p:nvSpPr>
          <p:cNvPr id="39" name="テキスト プレースホルダー 7">
            <a:extLst>
              <a:ext uri="{FF2B5EF4-FFF2-40B4-BE49-F238E27FC236}">
                <a16:creationId xmlns:a16="http://schemas.microsoft.com/office/drawing/2014/main" id="{69383ABF-B223-3A4C-B1E9-6AADBFEDF024}"/>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r>
              <a:rPr lang="en-US" altLang="ja-JP" dirty="0"/>
              <a:t>(</a:t>
            </a:r>
            <a:r>
              <a:rPr lang="ja-JP" altLang="en-US"/>
              <a:t>ビッグファイブ</a:t>
            </a:r>
            <a:r>
              <a:rPr lang="en-US" altLang="ja-JP" dirty="0"/>
              <a:t>)</a:t>
            </a:r>
            <a:endParaRPr lang="ja-JP" altLang="en-US"/>
          </a:p>
        </p:txBody>
      </p:sp>
      <p:grpSp>
        <p:nvGrpSpPr>
          <p:cNvPr id="40" name="グループ化 39">
            <a:extLst>
              <a:ext uri="{FF2B5EF4-FFF2-40B4-BE49-F238E27FC236}">
                <a16:creationId xmlns:a16="http://schemas.microsoft.com/office/drawing/2014/main" id="{5574A581-644E-1641-8452-8BDDFBB6230C}"/>
              </a:ext>
            </a:extLst>
          </p:cNvPr>
          <p:cNvGrpSpPr/>
          <p:nvPr/>
        </p:nvGrpSpPr>
        <p:grpSpPr>
          <a:xfrm flipH="1" flipV="1">
            <a:off x="361474" y="1019593"/>
            <a:ext cx="6077505" cy="244800"/>
            <a:chOff x="195674" y="1377865"/>
            <a:chExt cx="6077505" cy="244800"/>
          </a:xfrm>
        </p:grpSpPr>
        <p:cxnSp>
          <p:nvCxnSpPr>
            <p:cNvPr id="41" name="直線コネクタ 40">
              <a:extLst>
                <a:ext uri="{FF2B5EF4-FFF2-40B4-BE49-F238E27FC236}">
                  <a16:creationId xmlns:a16="http://schemas.microsoft.com/office/drawing/2014/main" id="{078F25DB-4894-CB46-9950-E812FC97ADE4}"/>
                </a:ext>
              </a:extLst>
            </p:cNvPr>
            <p:cNvCxnSpPr>
              <a:cxnSpLocks/>
            </p:cNvCxnSpPr>
            <p:nvPr userDrawn="1"/>
          </p:nvCxnSpPr>
          <p:spPr>
            <a:xfrm flipV="1">
              <a:off x="413216" y="1607575"/>
              <a:ext cx="585996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2" name="フリーフォーム 41">
              <a:extLst>
                <a:ext uri="{FF2B5EF4-FFF2-40B4-BE49-F238E27FC236}">
                  <a16:creationId xmlns:a16="http://schemas.microsoft.com/office/drawing/2014/main" id="{21E949D9-3C08-7740-8632-554D838D5C36}"/>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43" name="グループ化 42">
            <a:extLst>
              <a:ext uri="{FF2B5EF4-FFF2-40B4-BE49-F238E27FC236}">
                <a16:creationId xmlns:a16="http://schemas.microsoft.com/office/drawing/2014/main" id="{9C2EAFB2-3DF9-9742-9574-4FDA2A043306}"/>
              </a:ext>
            </a:extLst>
          </p:cNvPr>
          <p:cNvGrpSpPr/>
          <p:nvPr/>
        </p:nvGrpSpPr>
        <p:grpSpPr>
          <a:xfrm>
            <a:off x="140729" y="1384215"/>
            <a:ext cx="6093816" cy="244800"/>
            <a:chOff x="143915" y="1384215"/>
            <a:chExt cx="6093816" cy="244800"/>
          </a:xfrm>
        </p:grpSpPr>
        <p:cxnSp>
          <p:nvCxnSpPr>
            <p:cNvPr id="44" name="直線コネクタ 43">
              <a:extLst>
                <a:ext uri="{FF2B5EF4-FFF2-40B4-BE49-F238E27FC236}">
                  <a16:creationId xmlns:a16="http://schemas.microsoft.com/office/drawing/2014/main" id="{4360EAC7-EBDA-214E-B432-EF4BD6EAD96B}"/>
                </a:ext>
              </a:extLst>
            </p:cNvPr>
            <p:cNvCxnSpPr>
              <a:cxnSpLocks/>
            </p:cNvCxnSpPr>
            <p:nvPr userDrawn="1"/>
          </p:nvCxnSpPr>
          <p:spPr>
            <a:xfrm>
              <a:off x="364660" y="1607575"/>
              <a:ext cx="58730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5" name="フリーフォーム 44">
              <a:extLst>
                <a:ext uri="{FF2B5EF4-FFF2-40B4-BE49-F238E27FC236}">
                  <a16:creationId xmlns:a16="http://schemas.microsoft.com/office/drawing/2014/main" id="{EA2D9895-0CE8-7C49-9303-0B23C39E7D64}"/>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2437454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993236"/>
          </a:xfrm>
        </p:spPr>
        <p:txBody>
          <a:bodyPr/>
          <a:lstStyle/>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a:p>
            <a:pPr lvl="1"/>
            <a:r>
              <a:rPr lang="ja-JP" altLang="en-US"/>
              <a:t>譲歩関数は既存研究のものを使用</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13</a:t>
            </a:fld>
            <a:endParaRPr kumimoji="1" lang="ja-JP" altLang="en-US"/>
          </a:p>
        </p:txBody>
      </p:sp>
      <p:sp>
        <p:nvSpPr>
          <p:cNvPr id="39" name="テキスト プレースホルダー 7">
            <a:extLst>
              <a:ext uri="{FF2B5EF4-FFF2-40B4-BE49-F238E27FC236}">
                <a16:creationId xmlns:a16="http://schemas.microsoft.com/office/drawing/2014/main" id="{69383ABF-B223-3A4C-B1E9-6AADBFEDF024}"/>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r>
              <a:rPr lang="en-US" altLang="ja-JP" dirty="0"/>
              <a:t>(</a:t>
            </a:r>
            <a:r>
              <a:rPr lang="ja-JP" altLang="en-US"/>
              <a:t>ビッグファイブ</a:t>
            </a:r>
            <a:r>
              <a:rPr lang="en-US" altLang="ja-JP" dirty="0"/>
              <a:t>)</a:t>
            </a:r>
            <a:endParaRPr lang="ja-JP" altLang="en-US"/>
          </a:p>
        </p:txBody>
      </p:sp>
      <p:grpSp>
        <p:nvGrpSpPr>
          <p:cNvPr id="40" name="グループ化 39">
            <a:extLst>
              <a:ext uri="{FF2B5EF4-FFF2-40B4-BE49-F238E27FC236}">
                <a16:creationId xmlns:a16="http://schemas.microsoft.com/office/drawing/2014/main" id="{5574A581-644E-1641-8452-8BDDFBB6230C}"/>
              </a:ext>
            </a:extLst>
          </p:cNvPr>
          <p:cNvGrpSpPr/>
          <p:nvPr/>
        </p:nvGrpSpPr>
        <p:grpSpPr>
          <a:xfrm flipH="1" flipV="1">
            <a:off x="361474" y="1019593"/>
            <a:ext cx="6077505" cy="244800"/>
            <a:chOff x="195674" y="1377865"/>
            <a:chExt cx="6077505" cy="244800"/>
          </a:xfrm>
        </p:grpSpPr>
        <p:cxnSp>
          <p:nvCxnSpPr>
            <p:cNvPr id="41" name="直線コネクタ 40">
              <a:extLst>
                <a:ext uri="{FF2B5EF4-FFF2-40B4-BE49-F238E27FC236}">
                  <a16:creationId xmlns:a16="http://schemas.microsoft.com/office/drawing/2014/main" id="{078F25DB-4894-CB46-9950-E812FC97ADE4}"/>
                </a:ext>
              </a:extLst>
            </p:cNvPr>
            <p:cNvCxnSpPr>
              <a:cxnSpLocks/>
            </p:cNvCxnSpPr>
            <p:nvPr userDrawn="1"/>
          </p:nvCxnSpPr>
          <p:spPr>
            <a:xfrm flipV="1">
              <a:off x="413216" y="1607575"/>
              <a:ext cx="585996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2" name="フリーフォーム 41">
              <a:extLst>
                <a:ext uri="{FF2B5EF4-FFF2-40B4-BE49-F238E27FC236}">
                  <a16:creationId xmlns:a16="http://schemas.microsoft.com/office/drawing/2014/main" id="{21E949D9-3C08-7740-8632-554D838D5C36}"/>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43" name="グループ化 42">
            <a:extLst>
              <a:ext uri="{FF2B5EF4-FFF2-40B4-BE49-F238E27FC236}">
                <a16:creationId xmlns:a16="http://schemas.microsoft.com/office/drawing/2014/main" id="{9C2EAFB2-3DF9-9742-9574-4FDA2A043306}"/>
              </a:ext>
            </a:extLst>
          </p:cNvPr>
          <p:cNvGrpSpPr/>
          <p:nvPr/>
        </p:nvGrpSpPr>
        <p:grpSpPr>
          <a:xfrm>
            <a:off x="140729" y="1384215"/>
            <a:ext cx="6093816" cy="244800"/>
            <a:chOff x="143915" y="1384215"/>
            <a:chExt cx="6093816" cy="244800"/>
          </a:xfrm>
        </p:grpSpPr>
        <p:cxnSp>
          <p:nvCxnSpPr>
            <p:cNvPr id="44" name="直線コネクタ 43">
              <a:extLst>
                <a:ext uri="{FF2B5EF4-FFF2-40B4-BE49-F238E27FC236}">
                  <a16:creationId xmlns:a16="http://schemas.microsoft.com/office/drawing/2014/main" id="{4360EAC7-EBDA-214E-B432-EF4BD6EAD96B}"/>
                </a:ext>
              </a:extLst>
            </p:cNvPr>
            <p:cNvCxnSpPr>
              <a:cxnSpLocks/>
            </p:cNvCxnSpPr>
            <p:nvPr userDrawn="1"/>
          </p:nvCxnSpPr>
          <p:spPr>
            <a:xfrm>
              <a:off x="364660" y="1607575"/>
              <a:ext cx="58730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5" name="フリーフォーム 44">
              <a:extLst>
                <a:ext uri="{FF2B5EF4-FFF2-40B4-BE49-F238E27FC236}">
                  <a16:creationId xmlns:a16="http://schemas.microsoft.com/office/drawing/2014/main" id="{EA2D9895-0CE8-7C49-9303-0B23C39E7D64}"/>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mc:AlternateContent xmlns:mc="http://schemas.openxmlformats.org/markup-compatibility/2006">
        <mc:Choice xmlns:a14="http://schemas.microsoft.com/office/drawing/2010/main" Requires="a14">
          <p:graphicFrame>
            <p:nvGraphicFramePr>
              <p:cNvPr id="15" name="表 14">
                <a:extLst>
                  <a:ext uri="{FF2B5EF4-FFF2-40B4-BE49-F238E27FC236}">
                    <a16:creationId xmlns:a16="http://schemas.microsoft.com/office/drawing/2014/main" id="{6094B63D-3162-F144-8A30-F1D076510647}"/>
                  </a:ext>
                </a:extLst>
              </p:cNvPr>
              <p:cNvGraphicFramePr>
                <a:graphicFrameLocks noGrp="1"/>
              </p:cNvGraphicFramePr>
              <p:nvPr>
                <p:extLst>
                  <p:ext uri="{D42A27DB-BD31-4B8C-83A1-F6EECF244321}">
                    <p14:modId xmlns:p14="http://schemas.microsoft.com/office/powerpoint/2010/main" val="2054741126"/>
                  </p:ext>
                </p:extLst>
              </p:nvPr>
            </p:nvGraphicFramePr>
            <p:xfrm>
              <a:off x="632454" y="3217422"/>
              <a:ext cx="7907412"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gridCol w="1095902">
                      <a:extLst>
                        <a:ext uri="{9D8B030D-6E8A-4147-A177-3AD203B41FA5}">
                          <a16:colId xmlns:a16="http://schemas.microsoft.com/office/drawing/2014/main" val="1871227000"/>
                        </a:ext>
                      </a:extLst>
                    </a:gridCol>
                    <a:gridCol w="1095902">
                      <a:extLst>
                        <a:ext uri="{9D8B030D-6E8A-4147-A177-3AD203B41FA5}">
                          <a16:colId xmlns:a16="http://schemas.microsoft.com/office/drawing/2014/main" val="1501210995"/>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神経症傾向</a:t>
                          </a:r>
                        </a:p>
                      </a:txBody>
                      <a:tcPr marL="83127" marR="83127"/>
                    </a:tc>
                    <a:tc hMerge="1">
                      <a:txBody>
                        <a:bodyPr/>
                        <a:lstStyle/>
                        <a:p>
                          <a:endParaRPr kumimoji="1" lang="ja-JP" altLang="en-US"/>
                        </a:p>
                      </a:txBody>
                      <a:tcPr/>
                    </a:tc>
                    <a:tc gridSpan="2">
                      <a:txBody>
                        <a:bodyPr/>
                        <a:lstStyle/>
                        <a:p>
                          <a:pPr algn="ctr"/>
                          <a:r>
                            <a:rPr kumimoji="1" lang="ja-JP" altLang="en-US" sz="1600"/>
                            <a:t>外向性</a:t>
                          </a:r>
                        </a:p>
                      </a:txBody>
                      <a:tcPr marL="83127" marR="83127"/>
                    </a:tc>
                    <a:tc hMerge="1">
                      <a:txBody>
                        <a:bodyPr/>
                        <a:lstStyle/>
                        <a:p>
                          <a:endParaRPr kumimoji="1" lang="ja-JP" altLang="en-US"/>
                        </a:p>
                      </a:txBody>
                      <a:tcPr/>
                    </a:tc>
                    <a:tc gridSpan="2">
                      <a:txBody>
                        <a:bodyPr/>
                        <a:lstStyle/>
                        <a:p>
                          <a:pPr algn="ctr"/>
                          <a:r>
                            <a:rPr kumimoji="1" lang="ja-JP" altLang="en-US" sz="1600"/>
                            <a:t>経験への開放性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0.8</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0.3</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extLst>
                      <a:ext uri="{0D108BD9-81ED-4DB2-BD59-A6C34878D82A}">
                        <a16:rowId xmlns:a16="http://schemas.microsoft.com/office/drawing/2014/main" val="1442960975"/>
                      </a:ext>
                    </a:extLst>
                  </a:tr>
                </a:tbl>
              </a:graphicData>
            </a:graphic>
          </p:graphicFrame>
        </mc:Choice>
        <mc:Fallback>
          <p:graphicFrame>
            <p:nvGraphicFramePr>
              <p:cNvPr id="15" name="表 14">
                <a:extLst>
                  <a:ext uri="{FF2B5EF4-FFF2-40B4-BE49-F238E27FC236}">
                    <a16:creationId xmlns:a16="http://schemas.microsoft.com/office/drawing/2014/main" id="{6094B63D-3162-F144-8A30-F1D076510647}"/>
                  </a:ext>
                </a:extLst>
              </p:cNvPr>
              <p:cNvGraphicFramePr>
                <a:graphicFrameLocks noGrp="1"/>
              </p:cNvGraphicFramePr>
              <p:nvPr>
                <p:extLst>
                  <p:ext uri="{D42A27DB-BD31-4B8C-83A1-F6EECF244321}">
                    <p14:modId xmlns:p14="http://schemas.microsoft.com/office/powerpoint/2010/main" val="2054741126"/>
                  </p:ext>
                </p:extLst>
              </p:nvPr>
            </p:nvGraphicFramePr>
            <p:xfrm>
              <a:off x="632454" y="3217422"/>
              <a:ext cx="7907412"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gridCol w="1095902">
                      <a:extLst>
                        <a:ext uri="{9D8B030D-6E8A-4147-A177-3AD203B41FA5}">
                          <a16:colId xmlns:a16="http://schemas.microsoft.com/office/drawing/2014/main" val="1871227000"/>
                        </a:ext>
                      </a:extLst>
                    </a:gridCol>
                    <a:gridCol w="1095902">
                      <a:extLst>
                        <a:ext uri="{9D8B030D-6E8A-4147-A177-3AD203B41FA5}">
                          <a16:colId xmlns:a16="http://schemas.microsoft.com/office/drawing/2014/main" val="1501210995"/>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神経症傾向</a:t>
                          </a:r>
                        </a:p>
                      </a:txBody>
                      <a:tcPr marL="83127" marR="83127"/>
                    </a:tc>
                    <a:tc hMerge="1">
                      <a:txBody>
                        <a:bodyPr/>
                        <a:lstStyle/>
                        <a:p>
                          <a:endParaRPr kumimoji="1" lang="ja-JP" altLang="en-US"/>
                        </a:p>
                      </a:txBody>
                      <a:tcPr/>
                    </a:tc>
                    <a:tc gridSpan="2">
                      <a:txBody>
                        <a:bodyPr/>
                        <a:lstStyle/>
                        <a:p>
                          <a:pPr algn="ctr"/>
                          <a:r>
                            <a:rPr kumimoji="1" lang="ja-JP" altLang="en-US" sz="1600"/>
                            <a:t>外向性</a:t>
                          </a:r>
                        </a:p>
                      </a:txBody>
                      <a:tcPr marL="83127" marR="83127"/>
                    </a:tc>
                    <a:tc hMerge="1">
                      <a:txBody>
                        <a:bodyPr/>
                        <a:lstStyle/>
                        <a:p>
                          <a:endParaRPr kumimoji="1" lang="ja-JP" altLang="en-US"/>
                        </a:p>
                      </a:txBody>
                      <a:tcPr/>
                    </a:tc>
                    <a:tc gridSpan="2">
                      <a:txBody>
                        <a:bodyPr/>
                        <a:lstStyle/>
                        <a:p>
                          <a:pPr algn="ctr"/>
                          <a:r>
                            <a:rPr kumimoji="1" lang="ja-JP" altLang="en-US" sz="1600"/>
                            <a:t>経験への開放性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endParaRPr lang="ja-JP"/>
                        </a:p>
                      </a:txBody>
                      <a:tcPr marL="68700" marR="68700">
                        <a:blipFill>
                          <a:blip r:embed="rId2"/>
                          <a:stretch>
                            <a:fillRect l="-952" t="-203333" r="-495238" b="-106667"/>
                          </a:stretch>
                        </a:blipFill>
                      </a:tcPr>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0.8</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0.3</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0.6</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20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60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extLst>
                      <a:ext uri="{0D108BD9-81ED-4DB2-BD59-A6C34878D82A}">
                        <a16:rowId xmlns:a16="http://schemas.microsoft.com/office/drawing/2014/main" val="144296097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6" name="表 15">
                <a:extLst>
                  <a:ext uri="{FF2B5EF4-FFF2-40B4-BE49-F238E27FC236}">
                    <a16:creationId xmlns:a16="http://schemas.microsoft.com/office/drawing/2014/main" id="{8AB317E3-2327-3F45-97DB-CDEDA124D91C}"/>
                  </a:ext>
                </a:extLst>
              </p:cNvPr>
              <p:cNvGraphicFramePr>
                <a:graphicFrameLocks noGrp="1"/>
              </p:cNvGraphicFramePr>
              <p:nvPr>
                <p:extLst>
                  <p:ext uri="{D42A27DB-BD31-4B8C-83A1-F6EECF244321}">
                    <p14:modId xmlns:p14="http://schemas.microsoft.com/office/powerpoint/2010/main" val="886415336"/>
                  </p:ext>
                </p:extLst>
              </p:nvPr>
            </p:nvGraphicFramePr>
            <p:xfrm>
              <a:off x="1726071" y="4973262"/>
              <a:ext cx="5715608"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協調性</a:t>
                          </a:r>
                        </a:p>
                      </a:txBody>
                      <a:tcPr marL="83127" marR="83127"/>
                    </a:tc>
                    <a:tc hMerge="1">
                      <a:txBody>
                        <a:bodyPr/>
                        <a:lstStyle/>
                        <a:p>
                          <a:endParaRPr kumimoji="1" lang="ja-JP" altLang="en-US"/>
                        </a:p>
                      </a:txBody>
                      <a:tcPr/>
                    </a:tc>
                    <a:tc gridSpan="2">
                      <a:txBody>
                        <a:bodyPr/>
                        <a:lstStyle/>
                        <a:p>
                          <a:pPr algn="ctr"/>
                          <a:r>
                            <a:rPr kumimoji="1" lang="ja-JP" altLang="en-US" sz="1600"/>
                            <a:t>誠実性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pPr algn="ctr"/>
                          <a14:m>
                            <m:oMath xmlns:m="http://schemas.openxmlformats.org/officeDocument/2006/math">
                              <m:r>
                                <a:rPr kumimoji="1" lang="en-US" altLang="ja-JP" sz="1600" b="0" i="1" smtClean="0">
                                  <a:latin typeface="Cambria Math" panose="02040503050406030204" pitchFamily="18" charset="0"/>
                                </a:rPr>
                                <m:t>𝛼</m:t>
                              </m:r>
                            </m:oMath>
                          </a14:m>
                          <a:r>
                            <a:rPr kumimoji="1" lang="ja-JP" altLang="en-US" sz="1600">
                              <a:solidFill>
                                <a:schemeClr val="bg1"/>
                              </a:solidFill>
                            </a:rPr>
                            <a:t>の値</a:t>
                          </a:r>
                        </a:p>
                      </a:txBody>
                      <a:tcPr marL="68700" marR="68700"/>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extLst>
                      <a:ext uri="{0D108BD9-81ED-4DB2-BD59-A6C34878D82A}">
                        <a16:rowId xmlns:a16="http://schemas.microsoft.com/office/drawing/2014/main" val="3790916764"/>
                      </a:ext>
                    </a:extLst>
                  </a:tr>
                </a:tbl>
              </a:graphicData>
            </a:graphic>
          </p:graphicFrame>
        </mc:Choice>
        <mc:Fallback>
          <p:graphicFrame>
            <p:nvGraphicFramePr>
              <p:cNvPr id="16" name="表 15">
                <a:extLst>
                  <a:ext uri="{FF2B5EF4-FFF2-40B4-BE49-F238E27FC236}">
                    <a16:creationId xmlns:a16="http://schemas.microsoft.com/office/drawing/2014/main" id="{8AB317E3-2327-3F45-97DB-CDEDA124D91C}"/>
                  </a:ext>
                </a:extLst>
              </p:cNvPr>
              <p:cNvGraphicFramePr>
                <a:graphicFrameLocks noGrp="1"/>
              </p:cNvGraphicFramePr>
              <p:nvPr>
                <p:extLst>
                  <p:ext uri="{D42A27DB-BD31-4B8C-83A1-F6EECF244321}">
                    <p14:modId xmlns:p14="http://schemas.microsoft.com/office/powerpoint/2010/main" val="886415336"/>
                  </p:ext>
                </p:extLst>
              </p:nvPr>
            </p:nvGraphicFramePr>
            <p:xfrm>
              <a:off x="1726071" y="4973262"/>
              <a:ext cx="5715608" cy="1483360"/>
            </p:xfrm>
            <a:graphic>
              <a:graphicData uri="http://schemas.openxmlformats.org/drawingml/2006/table">
                <a:tbl>
                  <a:tblPr firstRow="1" firstCol="1" bandRow="1">
                    <a:tableStyleId>{5C22544A-7EE6-4342-B048-85BDC9FD1C3A}</a:tableStyleId>
                  </a:tblPr>
                  <a:tblGrid>
                    <a:gridCol w="1332000">
                      <a:extLst>
                        <a:ext uri="{9D8B030D-6E8A-4147-A177-3AD203B41FA5}">
                          <a16:colId xmlns:a16="http://schemas.microsoft.com/office/drawing/2014/main" val="867293798"/>
                        </a:ext>
                      </a:extLst>
                    </a:gridCol>
                    <a:gridCol w="1095902">
                      <a:extLst>
                        <a:ext uri="{9D8B030D-6E8A-4147-A177-3AD203B41FA5}">
                          <a16:colId xmlns:a16="http://schemas.microsoft.com/office/drawing/2014/main" val="2450102447"/>
                        </a:ext>
                      </a:extLst>
                    </a:gridCol>
                    <a:gridCol w="1095902">
                      <a:extLst>
                        <a:ext uri="{9D8B030D-6E8A-4147-A177-3AD203B41FA5}">
                          <a16:colId xmlns:a16="http://schemas.microsoft.com/office/drawing/2014/main" val="3506212313"/>
                        </a:ext>
                      </a:extLst>
                    </a:gridCol>
                    <a:gridCol w="1095902">
                      <a:extLst>
                        <a:ext uri="{9D8B030D-6E8A-4147-A177-3AD203B41FA5}">
                          <a16:colId xmlns:a16="http://schemas.microsoft.com/office/drawing/2014/main" val="1159568895"/>
                        </a:ext>
                      </a:extLst>
                    </a:gridCol>
                    <a:gridCol w="1095902">
                      <a:extLst>
                        <a:ext uri="{9D8B030D-6E8A-4147-A177-3AD203B41FA5}">
                          <a16:colId xmlns:a16="http://schemas.microsoft.com/office/drawing/2014/main" val="3977540476"/>
                        </a:ext>
                      </a:extLst>
                    </a:gridCol>
                  </a:tblGrid>
                  <a:tr h="370840">
                    <a:tc>
                      <a:txBody>
                        <a:bodyPr/>
                        <a:lstStyle/>
                        <a:p>
                          <a:pPr algn="ctr"/>
                          <a:endParaRPr kumimoji="1" lang="ja-JP" altLang="en-US" sz="1600">
                            <a:solidFill>
                              <a:schemeClr val="bg1"/>
                            </a:solidFill>
                          </a:endParaRPr>
                        </a:p>
                      </a:txBody>
                      <a:tcPr marL="83127" marR="83127"/>
                    </a:tc>
                    <a:tc gridSpan="2">
                      <a:txBody>
                        <a:bodyPr/>
                        <a:lstStyle/>
                        <a:p>
                          <a:pPr algn="ctr"/>
                          <a:r>
                            <a:rPr kumimoji="1" lang="ja-JP" altLang="en-US" sz="1600"/>
                            <a:t>協調性</a:t>
                          </a:r>
                        </a:p>
                      </a:txBody>
                      <a:tcPr marL="83127" marR="83127"/>
                    </a:tc>
                    <a:tc hMerge="1">
                      <a:txBody>
                        <a:bodyPr/>
                        <a:lstStyle/>
                        <a:p>
                          <a:endParaRPr kumimoji="1" lang="ja-JP" altLang="en-US"/>
                        </a:p>
                      </a:txBody>
                      <a:tcPr/>
                    </a:tc>
                    <a:tc gridSpan="2">
                      <a:txBody>
                        <a:bodyPr/>
                        <a:lstStyle/>
                        <a:p>
                          <a:pPr algn="ctr"/>
                          <a:r>
                            <a:rPr kumimoji="1" lang="ja-JP" altLang="en-US" sz="1600"/>
                            <a:t>誠実性</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bg1"/>
                              </a:solidFill>
                            </a:rPr>
                            <a:t>因子の値</a:t>
                          </a: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68700" marR="68700"/>
                    </a:tc>
                    <a:extLst>
                      <a:ext uri="{0D108BD9-81ED-4DB2-BD59-A6C34878D82A}">
                        <a16:rowId xmlns:a16="http://schemas.microsoft.com/office/drawing/2014/main" val="1780244524"/>
                      </a:ext>
                    </a:extLst>
                  </a:tr>
                  <a:tr h="370840">
                    <a:tc>
                      <a:txBody>
                        <a:bodyPr/>
                        <a:lstStyle/>
                        <a:p>
                          <a:endParaRPr lang="ja-JP"/>
                        </a:p>
                      </a:txBody>
                      <a:tcPr marL="68700" marR="68700">
                        <a:blipFill>
                          <a:blip r:embed="rId3"/>
                          <a:stretch>
                            <a:fillRect t="-203333" r="-331429" b="-106667"/>
                          </a:stretch>
                        </a:blipFill>
                      </a:tcPr>
                    </a:tc>
                    <a:tc>
                      <a:txBody>
                        <a:bodyPr/>
                        <a:lstStyle/>
                        <a:p>
                          <a:pPr algn="ctr"/>
                          <a:r>
                            <a:rPr kumimoji="1" lang="en-US" altLang="ja-JP" sz="1600" dirty="0">
                              <a:solidFill>
                                <a:schemeClr val="tx1"/>
                              </a:solidFill>
                            </a:rPr>
                            <a:t>0.2</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0.7</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0.1</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0.9</a:t>
                          </a:r>
                          <a:endParaRPr kumimoji="1" lang="ja-JP" altLang="en-US" sz="1600">
                            <a:solidFill>
                              <a:schemeClr val="tx1"/>
                            </a:solidFill>
                          </a:endParaRPr>
                        </a:p>
                      </a:txBody>
                      <a:tcPr marL="68700" marR="68700"/>
                    </a:tc>
                    <a:extLst>
                      <a:ext uri="{0D108BD9-81ED-4DB2-BD59-A6C34878D82A}">
                        <a16:rowId xmlns:a16="http://schemas.microsoft.com/office/drawing/2014/main" val="2956610254"/>
                      </a:ext>
                    </a:extLst>
                  </a:tr>
                  <a:tr h="370840">
                    <a:tc>
                      <a:txBody>
                        <a:bodyPr/>
                        <a:lstStyle/>
                        <a:p>
                          <a:pPr algn="ctr"/>
                          <a:r>
                            <a:rPr kumimoji="1" lang="ja-JP" altLang="en-US" sz="1600">
                              <a:solidFill>
                                <a:schemeClr val="bg1"/>
                              </a:solidFill>
                            </a:rPr>
                            <a:t>行動頻度</a:t>
                          </a:r>
                          <a:r>
                            <a:rPr kumimoji="1" lang="en-US" altLang="ja-JP" sz="1600" dirty="0">
                              <a:solidFill>
                                <a:schemeClr val="bg1"/>
                              </a:solidFill>
                            </a:rPr>
                            <a:t>(</a:t>
                          </a:r>
                          <a:r>
                            <a:rPr kumimoji="1" lang="ja-JP" altLang="en-US" sz="1600">
                              <a:solidFill>
                                <a:schemeClr val="bg1"/>
                              </a:solidFill>
                            </a:rPr>
                            <a:t>秒</a:t>
                          </a:r>
                          <a:r>
                            <a:rPr kumimoji="1" lang="en-US" altLang="ja-JP" sz="1600" dirty="0">
                              <a:solidFill>
                                <a:schemeClr val="bg1"/>
                              </a:solidFill>
                            </a:rPr>
                            <a:t>)</a:t>
                          </a:r>
                          <a:endParaRPr kumimoji="1" lang="ja-JP" altLang="en-US" sz="1600">
                            <a:solidFill>
                              <a:schemeClr val="bg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30</a:t>
                          </a:r>
                          <a:endParaRPr kumimoji="1" lang="ja-JP" altLang="en-US" sz="1600">
                            <a:solidFill>
                              <a:schemeClr val="tx1"/>
                            </a:solidFill>
                          </a:endParaRPr>
                        </a:p>
                      </a:txBody>
                      <a:tcPr marL="68700" marR="68700"/>
                    </a:tc>
                    <a:tc>
                      <a:txBody>
                        <a:bodyPr/>
                        <a:lstStyle/>
                        <a:p>
                          <a:pPr algn="ctr"/>
                          <a:r>
                            <a:rPr kumimoji="1" lang="en-US" altLang="ja-JP" sz="1600" dirty="0">
                              <a:solidFill>
                                <a:schemeClr val="tx1"/>
                              </a:solidFill>
                            </a:rPr>
                            <a:t>40</a:t>
                          </a:r>
                          <a:endParaRPr kumimoji="1" lang="ja-JP" altLang="en-US" sz="1600">
                            <a:solidFill>
                              <a:schemeClr val="tx1"/>
                            </a:solidFill>
                          </a:endParaRPr>
                        </a:p>
                      </a:txBody>
                      <a:tcPr marL="68700" marR="68700"/>
                    </a:tc>
                    <a:extLst>
                      <a:ext uri="{0D108BD9-81ED-4DB2-BD59-A6C34878D82A}">
                        <a16:rowId xmlns:a16="http://schemas.microsoft.com/office/drawing/2014/main" val="3790916764"/>
                      </a:ext>
                    </a:extLst>
                  </a:tr>
                </a:tbl>
              </a:graphicData>
            </a:graphic>
          </p:graphicFrame>
        </mc:Fallback>
      </mc:AlternateContent>
    </p:spTree>
    <p:extLst>
      <p:ext uri="{BB962C8B-B14F-4D97-AF65-F5344CB8AC3E}">
        <p14:creationId xmlns:p14="http://schemas.microsoft.com/office/powerpoint/2010/main" val="2110435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a:t>
            </a:r>
            <a:r>
              <a:rPr lang="ja-JP" altLang="en-US"/>
              <a:t>の</a:t>
            </a:r>
            <a:br>
              <a:rPr lang="en-US" altLang="ja-JP" dirty="0"/>
            </a:br>
            <a:r>
              <a:rPr lang="ja-JP" altLang="en-US"/>
              <a:t>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14</a:t>
            </a:fld>
            <a:endParaRPr kumimoji="1" lang="ja-JP" altLang="en-US"/>
          </a:p>
        </p:txBody>
      </p:sp>
      <mc:AlternateContent xmlns:mc="http://schemas.openxmlformats.org/markup-compatibility/2006">
        <mc:Choice xmlns:a14="http://schemas.microsoft.com/office/drawing/2010/main" Requires="a14">
          <p:graphicFrame>
            <p:nvGraphicFramePr>
              <p:cNvPr id="19" name="表 18">
                <a:extLst>
                  <a:ext uri="{FF2B5EF4-FFF2-40B4-BE49-F238E27FC236}">
                    <a16:creationId xmlns:a16="http://schemas.microsoft.com/office/drawing/2014/main" id="{17170ECC-8C33-2A4F-9D71-A20FC1902DD9}"/>
                  </a:ext>
                </a:extLst>
              </p:cNvPr>
              <p:cNvGraphicFramePr>
                <a:graphicFrameLocks noGrp="1"/>
              </p:cNvGraphicFramePr>
              <p:nvPr>
                <p:extLst>
                  <p:ext uri="{D42A27DB-BD31-4B8C-83A1-F6EECF244321}">
                    <p14:modId xmlns:p14="http://schemas.microsoft.com/office/powerpoint/2010/main" val="1840126718"/>
                  </p:ext>
                </p:extLst>
              </p:nvPr>
            </p:nvGraphicFramePr>
            <p:xfrm>
              <a:off x="1099440" y="5441581"/>
              <a:ext cx="2962802" cy="1112520"/>
            </p:xfrm>
            <a:graphic>
              <a:graphicData uri="http://schemas.openxmlformats.org/drawingml/2006/table">
                <a:tbl>
                  <a:tblPr firstRow="1" bandRow="1">
                    <a:tableStyleId>{5C22544A-7EE6-4342-B048-85BDC9FD1C3A}</a:tableStyleId>
                  </a:tblPr>
                  <a:tblGrid>
                    <a:gridCol w="1481401">
                      <a:extLst>
                        <a:ext uri="{9D8B030D-6E8A-4147-A177-3AD203B41FA5}">
                          <a16:colId xmlns:a16="http://schemas.microsoft.com/office/drawing/2014/main" val="2450102447"/>
                        </a:ext>
                      </a:extLst>
                    </a:gridCol>
                    <a:gridCol w="1481401">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56777" marR="56777"/>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56777" marR="56777"/>
                    </a:tc>
                    <a:extLst>
                      <a:ext uri="{0D108BD9-81ED-4DB2-BD59-A6C34878D82A}">
                        <a16:rowId xmlns:a16="http://schemas.microsoft.com/office/drawing/2014/main" val="1780244524"/>
                      </a:ext>
                    </a:extLst>
                  </a:tr>
                  <a:tr h="370840">
                    <a:tc>
                      <a:txBody>
                        <a:bodyPr/>
                        <a:lstStyle/>
                        <a:p>
                          <a:pPr algn="ctr"/>
                          <a14:m>
                            <m:oMath xmlns:m="http://schemas.openxmlformats.org/officeDocument/2006/math">
                              <m:r>
                                <a:rPr kumimoji="1" lang="en-US" altLang="ja-JP" sz="1600" b="0" i="1" smtClean="0">
                                  <a:solidFill>
                                    <a:schemeClr val="tx1"/>
                                  </a:solidFill>
                                  <a:latin typeface="Cambria Math" panose="02040503050406030204" pitchFamily="18" charset="0"/>
                                </a:rPr>
                                <m:t>𝛼</m:t>
                              </m:r>
                            </m:oMath>
                          </a14:m>
                          <a:r>
                            <a:rPr kumimoji="1" lang="en-US" altLang="ja-JP" sz="1600" dirty="0">
                              <a:solidFill>
                                <a:schemeClr val="tx1"/>
                              </a:solidFill>
                            </a:rPr>
                            <a:t>=</a:t>
                          </a:r>
                          <a:r>
                            <a:rPr kumimoji="1" lang="en-US" altLang="ja-JP" sz="1600" dirty="0">
                              <a:solidFill>
                                <a:schemeClr val="accent2"/>
                              </a:solidFill>
                            </a:rPr>
                            <a:t>0.2</a:t>
                          </a:r>
                          <a:endParaRPr kumimoji="1" lang="ja-JP" altLang="en-US" sz="1600">
                            <a:solidFill>
                              <a:schemeClr val="accent2"/>
                            </a:solidFill>
                          </a:endParaRPr>
                        </a:p>
                      </a:txBody>
                      <a:tcPr marL="56777" marR="56777"/>
                    </a:tc>
                    <a:tc>
                      <a:txBody>
                        <a:bodyPr/>
                        <a:lstStyle/>
                        <a:p>
                          <a:pPr algn="ctr"/>
                          <a14:m>
                            <m:oMath xmlns:m="http://schemas.openxmlformats.org/officeDocument/2006/math">
                              <m:r>
                                <a:rPr kumimoji="1" lang="en-US" altLang="ja-JP" sz="1600" b="0" i="1" smtClean="0">
                                  <a:solidFill>
                                    <a:schemeClr val="tx1"/>
                                  </a:solidFill>
                                  <a:latin typeface="Cambria Math" panose="02040503050406030204" pitchFamily="18" charset="0"/>
                                </a:rPr>
                                <m:t>𝛼</m:t>
                              </m:r>
                            </m:oMath>
                          </a14:m>
                          <a:r>
                            <a:rPr kumimoji="1" lang="en-US" altLang="ja-JP" sz="1600" dirty="0">
                              <a:solidFill>
                                <a:schemeClr val="tx1"/>
                              </a:solidFill>
                            </a:rPr>
                            <a:t>=</a:t>
                          </a:r>
                          <a:r>
                            <a:rPr kumimoji="1" lang="en-US" altLang="ja-JP" sz="1600" dirty="0">
                              <a:solidFill>
                                <a:schemeClr val="accent3"/>
                              </a:solidFill>
                            </a:rPr>
                            <a:t>0.7</a:t>
                          </a:r>
                          <a:endParaRPr kumimoji="1" lang="ja-JP" altLang="en-US" sz="1600">
                            <a:solidFill>
                              <a:schemeClr val="accent3"/>
                            </a:solidFill>
                          </a:endParaRPr>
                        </a:p>
                      </a:txBody>
                      <a:tcPr marL="56777" marR="56777"/>
                    </a:tc>
                    <a:extLst>
                      <a:ext uri="{0D108BD9-81ED-4DB2-BD59-A6C34878D82A}">
                        <a16:rowId xmlns:a16="http://schemas.microsoft.com/office/drawing/2014/main" val="2956610254"/>
                      </a:ext>
                    </a:extLst>
                  </a:tr>
                </a:tbl>
              </a:graphicData>
            </a:graphic>
          </p:graphicFrame>
        </mc:Choice>
        <mc:Fallback>
          <p:graphicFrame>
            <p:nvGraphicFramePr>
              <p:cNvPr id="19" name="表 18">
                <a:extLst>
                  <a:ext uri="{FF2B5EF4-FFF2-40B4-BE49-F238E27FC236}">
                    <a16:creationId xmlns:a16="http://schemas.microsoft.com/office/drawing/2014/main" id="{17170ECC-8C33-2A4F-9D71-A20FC1902DD9}"/>
                  </a:ext>
                </a:extLst>
              </p:cNvPr>
              <p:cNvGraphicFramePr>
                <a:graphicFrameLocks noGrp="1"/>
              </p:cNvGraphicFramePr>
              <p:nvPr>
                <p:extLst>
                  <p:ext uri="{D42A27DB-BD31-4B8C-83A1-F6EECF244321}">
                    <p14:modId xmlns:p14="http://schemas.microsoft.com/office/powerpoint/2010/main" val="1840126718"/>
                  </p:ext>
                </p:extLst>
              </p:nvPr>
            </p:nvGraphicFramePr>
            <p:xfrm>
              <a:off x="1099440" y="5441581"/>
              <a:ext cx="2962802" cy="1112520"/>
            </p:xfrm>
            <a:graphic>
              <a:graphicData uri="http://schemas.openxmlformats.org/drawingml/2006/table">
                <a:tbl>
                  <a:tblPr firstRow="1" bandRow="1">
                    <a:tableStyleId>{5C22544A-7EE6-4342-B048-85BDC9FD1C3A}</a:tableStyleId>
                  </a:tblPr>
                  <a:tblGrid>
                    <a:gridCol w="1481401">
                      <a:extLst>
                        <a:ext uri="{9D8B030D-6E8A-4147-A177-3AD203B41FA5}">
                          <a16:colId xmlns:a16="http://schemas.microsoft.com/office/drawing/2014/main" val="2450102447"/>
                        </a:ext>
                      </a:extLst>
                    </a:gridCol>
                    <a:gridCol w="1481401">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56777" marR="56777"/>
                    </a:tc>
                    <a:tc>
                      <a:txBody>
                        <a:bodyPr/>
                        <a:lstStyle/>
                        <a:p>
                          <a:pPr algn="ctr"/>
                          <a:r>
                            <a:rPr kumimoji="1" lang="ja-JP" altLang="en-US" sz="1600">
                              <a:solidFill>
                                <a:schemeClr val="accent3"/>
                              </a:solidFill>
                            </a:rPr>
                            <a:t>高い</a:t>
                          </a:r>
                          <a:r>
                            <a:rPr kumimoji="1" lang="en-US" altLang="ja-JP" sz="1600" dirty="0">
                              <a:solidFill>
                                <a:schemeClr val="accent3"/>
                              </a:solidFill>
                            </a:rPr>
                            <a:t>(1.0)</a:t>
                          </a:r>
                          <a:endParaRPr kumimoji="1" lang="ja-JP" altLang="en-US" sz="1600">
                            <a:solidFill>
                              <a:schemeClr val="accent3"/>
                            </a:solidFill>
                          </a:endParaRPr>
                        </a:p>
                      </a:txBody>
                      <a:tcPr marL="56777" marR="56777"/>
                    </a:tc>
                    <a:extLst>
                      <a:ext uri="{0D108BD9-81ED-4DB2-BD59-A6C34878D82A}">
                        <a16:rowId xmlns:a16="http://schemas.microsoft.com/office/drawing/2014/main" val="1780244524"/>
                      </a:ext>
                    </a:extLst>
                  </a:tr>
                  <a:tr h="370840">
                    <a:tc>
                      <a:txBody>
                        <a:bodyPr/>
                        <a:lstStyle/>
                        <a:p>
                          <a:endParaRPr lang="ja-JP"/>
                        </a:p>
                      </a:txBody>
                      <a:tcPr marL="56777" marR="56777">
                        <a:blipFill>
                          <a:blip r:embed="rId2"/>
                          <a:stretch>
                            <a:fillRect l="-855" t="-203333" r="-101709" b="-10000"/>
                          </a:stretch>
                        </a:blipFill>
                      </a:tcPr>
                    </a:tc>
                    <a:tc>
                      <a:txBody>
                        <a:bodyPr/>
                        <a:lstStyle/>
                        <a:p>
                          <a:endParaRPr lang="ja-JP"/>
                        </a:p>
                      </a:txBody>
                      <a:tcPr marL="56777" marR="56777">
                        <a:blipFill>
                          <a:blip r:embed="rId2"/>
                          <a:stretch>
                            <a:fillRect l="-100855" t="-203333" r="-1709" b="-10000"/>
                          </a:stretch>
                        </a:blipFill>
                      </a:tcPr>
                    </a:tc>
                    <a:extLst>
                      <a:ext uri="{0D108BD9-81ED-4DB2-BD59-A6C34878D82A}">
                        <a16:rowId xmlns:a16="http://schemas.microsoft.com/office/drawing/2014/main" val="2956610254"/>
                      </a:ext>
                    </a:extLst>
                  </a:tr>
                </a:tbl>
              </a:graphicData>
            </a:graphic>
          </p:graphicFrame>
        </mc:Fallback>
      </mc:AlternateContent>
      <p:grpSp>
        <p:nvGrpSpPr>
          <p:cNvPr id="20" name="グループ化 19">
            <a:extLst>
              <a:ext uri="{FF2B5EF4-FFF2-40B4-BE49-F238E27FC236}">
                <a16:creationId xmlns:a16="http://schemas.microsoft.com/office/drawing/2014/main" id="{810403B9-9304-6C4A-B905-AB6D77E03E0F}"/>
              </a:ext>
            </a:extLst>
          </p:cNvPr>
          <p:cNvGrpSpPr/>
          <p:nvPr/>
        </p:nvGrpSpPr>
        <p:grpSpPr>
          <a:xfrm flipH="1">
            <a:off x="1150765" y="3614806"/>
            <a:ext cx="2897962" cy="1296851"/>
            <a:chOff x="6206270" y="4671682"/>
            <a:chExt cx="2634511" cy="1071777"/>
          </a:xfrm>
        </p:grpSpPr>
        <p:grpSp>
          <p:nvGrpSpPr>
            <p:cNvPr id="21" name="グループ化 20">
              <a:extLst>
                <a:ext uri="{FF2B5EF4-FFF2-40B4-BE49-F238E27FC236}">
                  <a16:creationId xmlns:a16="http://schemas.microsoft.com/office/drawing/2014/main" id="{F179826F-89B7-A743-A172-5E0EDB6FF2AF}"/>
                </a:ext>
              </a:extLst>
            </p:cNvPr>
            <p:cNvGrpSpPr/>
            <p:nvPr/>
          </p:nvGrpSpPr>
          <p:grpSpPr>
            <a:xfrm>
              <a:off x="6206270" y="4671682"/>
              <a:ext cx="2634511" cy="725056"/>
              <a:chOff x="6393389" y="4669288"/>
              <a:chExt cx="2634511" cy="725056"/>
            </a:xfrm>
          </p:grpSpPr>
          <p:grpSp>
            <p:nvGrpSpPr>
              <p:cNvPr id="23" name="グループ化 22">
                <a:extLst>
                  <a:ext uri="{FF2B5EF4-FFF2-40B4-BE49-F238E27FC236}">
                    <a16:creationId xmlns:a16="http://schemas.microsoft.com/office/drawing/2014/main" id="{A01D51C2-5E98-D341-8311-4C839649385C}"/>
                  </a:ext>
                </a:extLst>
              </p:cNvPr>
              <p:cNvGrpSpPr/>
              <p:nvPr/>
            </p:nvGrpSpPr>
            <p:grpSpPr>
              <a:xfrm>
                <a:off x="6393389" y="4669288"/>
                <a:ext cx="2634511" cy="725056"/>
                <a:chOff x="2785497" y="3353410"/>
                <a:chExt cx="2634511" cy="725056"/>
              </a:xfrm>
            </p:grpSpPr>
            <p:cxnSp>
              <p:nvCxnSpPr>
                <p:cNvPr id="25" name="直線矢印コネクタ 24">
                  <a:extLst>
                    <a:ext uri="{FF2B5EF4-FFF2-40B4-BE49-F238E27FC236}">
                      <a16:creationId xmlns:a16="http://schemas.microsoft.com/office/drawing/2014/main" id="{2E27ABFB-FFFE-EF43-9471-2286F6801345}"/>
                    </a:ext>
                  </a:extLst>
                </p:cNvPr>
                <p:cNvCxnSpPr/>
                <p:nvPr/>
              </p:nvCxnSpPr>
              <p:spPr>
                <a:xfrm>
                  <a:off x="3086825" y="3750198"/>
                  <a:ext cx="1994463"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96C0AAF1-D789-1149-B8C3-28AE6DC719B4}"/>
                    </a:ext>
                  </a:extLst>
                </p:cNvPr>
                <p:cNvSpPr txBox="1"/>
                <p:nvPr/>
              </p:nvSpPr>
              <p:spPr>
                <a:xfrm>
                  <a:off x="2785497" y="3798669"/>
                  <a:ext cx="2634511" cy="279797"/>
                </a:xfrm>
                <a:prstGeom prst="rect">
                  <a:avLst/>
                </a:prstGeom>
                <a:noFill/>
              </p:spPr>
              <p:txBody>
                <a:bodyPr wrap="square" rtlCol="0">
                  <a:spAutoFit/>
                </a:bodyPr>
                <a:lstStyle/>
                <a:p>
                  <a:pPr algn="ctr"/>
                  <a:r>
                    <a:rPr kumimoji="1" lang="en-US" altLang="ja-JP" sz="1600" dirty="0"/>
                    <a:t>-1.0                                 1.0</a:t>
                  </a:r>
                  <a:endParaRPr kumimoji="1" lang="ja-JP" altLang="en-US" sz="1600"/>
                </a:p>
              </p:txBody>
            </p:sp>
            <p:sp>
              <p:nvSpPr>
                <p:cNvPr id="27" name="テキスト ボックス 26">
                  <a:extLst>
                    <a:ext uri="{FF2B5EF4-FFF2-40B4-BE49-F238E27FC236}">
                      <a16:creationId xmlns:a16="http://schemas.microsoft.com/office/drawing/2014/main" id="{C0FB05A3-ADAD-7B4C-8CEB-3031F9FB6F5A}"/>
                    </a:ext>
                  </a:extLst>
                </p:cNvPr>
                <p:cNvSpPr txBox="1"/>
                <p:nvPr/>
              </p:nvSpPr>
              <p:spPr>
                <a:xfrm>
                  <a:off x="4099525" y="3353410"/>
                  <a:ext cx="789973" cy="338554"/>
                </a:xfrm>
                <a:prstGeom prst="rect">
                  <a:avLst/>
                </a:prstGeom>
                <a:noFill/>
              </p:spPr>
              <p:txBody>
                <a:bodyPr wrap="square" rtlCol="0">
                  <a:spAutoFit/>
                </a:bodyPr>
                <a:lstStyle/>
                <a:p>
                  <a:pPr algn="ctr"/>
                  <a:r>
                    <a:rPr kumimoji="1" lang="en-US" altLang="ja-JP" sz="1600" dirty="0"/>
                    <a:t>-0.5</a:t>
                  </a:r>
                  <a:endParaRPr kumimoji="1" lang="ja-JP" altLang="en-US" sz="1600"/>
                </a:p>
              </p:txBody>
            </p:sp>
          </p:grpSp>
          <p:cxnSp>
            <p:nvCxnSpPr>
              <p:cNvPr id="24" name="直線矢印コネクタ 23">
                <a:extLst>
                  <a:ext uri="{FF2B5EF4-FFF2-40B4-BE49-F238E27FC236}">
                    <a16:creationId xmlns:a16="http://schemas.microsoft.com/office/drawing/2014/main" id="{B5BEC1A5-860C-D94B-A5C9-66776869A09F}"/>
                  </a:ext>
                </a:extLst>
              </p:cNvPr>
              <p:cNvCxnSpPr>
                <a:cxnSpLocks/>
              </p:cNvCxnSpPr>
              <p:nvPr/>
            </p:nvCxnSpPr>
            <p:spPr>
              <a:xfrm>
                <a:off x="8125496" y="4944538"/>
                <a:ext cx="0" cy="244723"/>
              </a:xfrm>
              <a:prstGeom prst="straightConnector1">
                <a:avLst/>
              </a:prstGeom>
              <a:ln w="38100">
                <a:solidFill>
                  <a:srgbClr val="FF7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2" name="テキスト ボックス 21">
              <a:extLst>
                <a:ext uri="{FF2B5EF4-FFF2-40B4-BE49-F238E27FC236}">
                  <a16:creationId xmlns:a16="http://schemas.microsoft.com/office/drawing/2014/main" id="{21E31BA2-3903-CF47-9629-AD570453591C}"/>
                </a:ext>
              </a:extLst>
            </p:cNvPr>
            <p:cNvSpPr txBox="1"/>
            <p:nvPr/>
          </p:nvSpPr>
          <p:spPr>
            <a:xfrm>
              <a:off x="6479579" y="5438226"/>
              <a:ext cx="2050500" cy="305233"/>
            </a:xfrm>
            <a:prstGeom prst="rect">
              <a:avLst/>
            </a:prstGeom>
            <a:noFill/>
          </p:spPr>
          <p:txBody>
            <a:bodyPr wrap="square" rtlCol="0">
              <a:spAutoFit/>
            </a:bodyPr>
            <a:lstStyle/>
            <a:p>
              <a:pPr algn="ctr"/>
              <a:r>
                <a:rPr kumimoji="1" lang="ja-JP" altLang="en-US"/>
                <a:t>相手の神経症傾向</a:t>
              </a:r>
            </a:p>
          </p:txBody>
        </p:sp>
      </p:grpSp>
      <p:sp>
        <p:nvSpPr>
          <p:cNvPr id="28" name="左矢印 27">
            <a:extLst>
              <a:ext uri="{FF2B5EF4-FFF2-40B4-BE49-F238E27FC236}">
                <a16:creationId xmlns:a16="http://schemas.microsoft.com/office/drawing/2014/main" id="{D9FCFA9F-BF1B-C440-8653-4F2AE5B3390B}"/>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0" name="グループ化 29">
            <a:extLst>
              <a:ext uri="{FF2B5EF4-FFF2-40B4-BE49-F238E27FC236}">
                <a16:creationId xmlns:a16="http://schemas.microsoft.com/office/drawing/2014/main" id="{B01BF822-51DD-DD49-89B3-4AFE8C9DCA65}"/>
              </a:ext>
            </a:extLst>
          </p:cNvPr>
          <p:cNvGrpSpPr/>
          <p:nvPr/>
        </p:nvGrpSpPr>
        <p:grpSpPr>
          <a:xfrm>
            <a:off x="5430251" y="3882263"/>
            <a:ext cx="2067461" cy="2448664"/>
            <a:chOff x="4947651" y="3882263"/>
            <a:chExt cx="2067461" cy="2448664"/>
          </a:xfrm>
        </p:grpSpPr>
        <mc:AlternateContent xmlns:mc="http://schemas.openxmlformats.org/markup-compatibility/2006">
          <mc:Choice xmlns:a14="http://schemas.microsoft.com/office/drawing/2010/main" Requires="a14">
            <p:sp>
              <p:nvSpPr>
                <p:cNvPr id="31" name="テキスト ボックス 30">
                  <a:extLst>
                    <a:ext uri="{FF2B5EF4-FFF2-40B4-BE49-F238E27FC236}">
                      <a16:creationId xmlns:a16="http://schemas.microsoft.com/office/drawing/2014/main" id="{12CC72D3-D8D1-CE48-82DD-AECF92FFC042}"/>
                    </a:ext>
                  </a:extLst>
                </p:cNvPr>
                <p:cNvSpPr txBox="1"/>
                <p:nvPr/>
              </p:nvSpPr>
              <p:spPr>
                <a:xfrm>
                  <a:off x="4947651" y="5684596"/>
                  <a:ext cx="2067461" cy="646331"/>
                </a:xfrm>
                <a:prstGeom prst="rect">
                  <a:avLst/>
                </a:prstGeom>
                <a:noFill/>
              </p:spPr>
              <p:txBody>
                <a:bodyPr wrap="square" rtlCol="0">
                  <a:spAutoFit/>
                </a:bodyPr>
                <a:lstStyle/>
                <a:p>
                  <a:pPr algn="ctr"/>
                  <a14:m>
                    <m:oMath xmlns:m="http://schemas.openxmlformats.org/officeDocument/2006/math">
                      <m:r>
                        <a:rPr kumimoji="1" lang="en-US" altLang="ja-JP" i="1">
                          <a:latin typeface="Cambria Math" panose="02040503050406030204" pitchFamily="18" charset="0"/>
                        </a:rPr>
                        <m:t>𝛼</m:t>
                      </m:r>
                    </m:oMath>
                  </a14:m>
                  <a:r>
                    <a:rPr kumimoji="1" lang="en-US" altLang="ja-JP" dirty="0"/>
                    <a:t>=</a:t>
                  </a:r>
                  <a:r>
                    <a:rPr kumimoji="1" lang="en-US" altLang="ja-JP" dirty="0">
                      <a:solidFill>
                        <a:schemeClr val="accent1"/>
                      </a:solidFill>
                    </a:rPr>
                    <a:t>0.325</a:t>
                  </a:r>
                </a:p>
                <a:p>
                  <a:pPr algn="ctr"/>
                  <a:r>
                    <a:rPr kumimoji="1" lang="en-US" altLang="ja-JP" dirty="0"/>
                    <a:t>(</a:t>
                  </a:r>
                  <a:r>
                    <a:rPr kumimoji="1" lang="ja-JP" altLang="en-US"/>
                    <a:t>混合比</a:t>
                  </a:r>
                  <a:r>
                    <a:rPr kumimoji="1" lang="en-US" altLang="ja-JP" dirty="0"/>
                    <a:t>3:1)</a:t>
                  </a:r>
                  <a:endParaRPr kumimoji="1" lang="ja-JP" altLang="en-US"/>
                </a:p>
              </p:txBody>
            </p:sp>
          </mc:Choice>
          <mc:Fallback>
            <p:sp>
              <p:nvSpPr>
                <p:cNvPr id="31" name="テキスト ボックス 30">
                  <a:extLst>
                    <a:ext uri="{FF2B5EF4-FFF2-40B4-BE49-F238E27FC236}">
                      <a16:creationId xmlns:a16="http://schemas.microsoft.com/office/drawing/2014/main" id="{12CC72D3-D8D1-CE48-82DD-AECF92FFC042}"/>
                    </a:ext>
                  </a:extLst>
                </p:cNvPr>
                <p:cNvSpPr txBox="1">
                  <a:spLocks noRot="1" noChangeAspect="1" noMove="1" noResize="1" noEditPoints="1" noAdjustHandles="1" noChangeArrowheads="1" noChangeShapeType="1" noTextEdit="1"/>
                </p:cNvSpPr>
                <p:nvPr/>
              </p:nvSpPr>
              <p:spPr>
                <a:xfrm>
                  <a:off x="4947651" y="5684596"/>
                  <a:ext cx="2067461" cy="646331"/>
                </a:xfrm>
                <a:prstGeom prst="rect">
                  <a:avLst/>
                </a:prstGeom>
                <a:blipFill>
                  <a:blip r:embed="rId3"/>
                  <a:stretch>
                    <a:fillRect t="-3922" b="-13725"/>
                  </a:stretch>
                </a:blipFill>
              </p:spPr>
              <p:txBody>
                <a:bodyPr/>
                <a:lstStyle/>
                <a:p>
                  <a:r>
                    <a:rPr lang="ja-JP" altLang="en-US">
                      <a:noFill/>
                    </a:rPr>
                    <a:t> </a:t>
                  </a:r>
                </a:p>
              </p:txBody>
            </p:sp>
          </mc:Fallback>
        </mc:AlternateContent>
        <p:grpSp>
          <p:nvGrpSpPr>
            <p:cNvPr id="32" name="グループ化 31">
              <a:extLst>
                <a:ext uri="{FF2B5EF4-FFF2-40B4-BE49-F238E27FC236}">
                  <a16:creationId xmlns:a16="http://schemas.microsoft.com/office/drawing/2014/main" id="{84E9ABC2-109E-2B41-9CF9-24649B0D437F}"/>
                </a:ext>
              </a:extLst>
            </p:cNvPr>
            <p:cNvGrpSpPr/>
            <p:nvPr/>
          </p:nvGrpSpPr>
          <p:grpSpPr>
            <a:xfrm>
              <a:off x="5048817" y="3882263"/>
              <a:ext cx="1690907" cy="1690907"/>
              <a:chOff x="5048817" y="3742563"/>
              <a:chExt cx="1690907" cy="1690907"/>
            </a:xfrm>
          </p:grpSpPr>
          <p:sp>
            <p:nvSpPr>
              <p:cNvPr id="33" name="フリーフォーム 32">
                <a:extLst>
                  <a:ext uri="{FF2B5EF4-FFF2-40B4-BE49-F238E27FC236}">
                    <a16:creationId xmlns:a16="http://schemas.microsoft.com/office/drawing/2014/main" id="{C888C4AC-9082-D34F-B231-C0053A642805}"/>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フリーフォーム 33">
                <a:extLst>
                  <a:ext uri="{FF2B5EF4-FFF2-40B4-BE49-F238E27FC236}">
                    <a16:creationId xmlns:a16="http://schemas.microsoft.com/office/drawing/2014/main" id="{04864B49-B8B8-A84D-9C07-C12C096672FE}"/>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フリーフォーム 34">
                <a:extLst>
                  <a:ext uri="{FF2B5EF4-FFF2-40B4-BE49-F238E27FC236}">
                    <a16:creationId xmlns:a16="http://schemas.microsoft.com/office/drawing/2014/main" id="{21F43DE4-3432-E24F-A583-D67D3248CDC2}"/>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a16="http://schemas.microsoft.com/office/drawing/2014/main" id="{562322D7-900D-0545-AA1C-3A7598A9B241}"/>
                  </a:ext>
                </a:extLst>
              </p:cNvPr>
              <p:cNvGrpSpPr/>
              <p:nvPr/>
            </p:nvGrpSpPr>
            <p:grpSpPr>
              <a:xfrm>
                <a:off x="5048817" y="3742563"/>
                <a:ext cx="1690907" cy="1690907"/>
                <a:chOff x="6676684" y="4465921"/>
                <a:chExt cx="1690907" cy="1690907"/>
              </a:xfrm>
            </p:grpSpPr>
            <p:cxnSp>
              <p:nvCxnSpPr>
                <p:cNvPr id="37" name="直線コネクタ 36">
                  <a:extLst>
                    <a:ext uri="{FF2B5EF4-FFF2-40B4-BE49-F238E27FC236}">
                      <a16:creationId xmlns:a16="http://schemas.microsoft.com/office/drawing/2014/main" id="{7FAF86E6-D37C-F247-999F-4C9E70F6E757}"/>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3D9E1A8-E8C8-0F49-B7E4-18BB69C067A7}"/>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9" name="テキスト プレースホルダー 7">
            <a:extLst>
              <a:ext uri="{FF2B5EF4-FFF2-40B4-BE49-F238E27FC236}">
                <a16:creationId xmlns:a16="http://schemas.microsoft.com/office/drawing/2014/main" id="{69383ABF-B223-3A4C-B1E9-6AADBFEDF024}"/>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r>
              <a:rPr lang="en-US" altLang="ja-JP" dirty="0"/>
              <a:t>(</a:t>
            </a:r>
            <a:r>
              <a:rPr lang="ja-JP" altLang="en-US"/>
              <a:t>ビッグファイブ</a:t>
            </a:r>
            <a:r>
              <a:rPr lang="en-US" altLang="ja-JP" dirty="0"/>
              <a:t>)</a:t>
            </a:r>
            <a:endParaRPr lang="ja-JP" altLang="en-US"/>
          </a:p>
        </p:txBody>
      </p:sp>
      <p:grpSp>
        <p:nvGrpSpPr>
          <p:cNvPr id="40" name="グループ化 39">
            <a:extLst>
              <a:ext uri="{FF2B5EF4-FFF2-40B4-BE49-F238E27FC236}">
                <a16:creationId xmlns:a16="http://schemas.microsoft.com/office/drawing/2014/main" id="{5574A581-644E-1641-8452-8BDDFBB6230C}"/>
              </a:ext>
            </a:extLst>
          </p:cNvPr>
          <p:cNvGrpSpPr/>
          <p:nvPr/>
        </p:nvGrpSpPr>
        <p:grpSpPr>
          <a:xfrm flipH="1" flipV="1">
            <a:off x="361474" y="1019593"/>
            <a:ext cx="6077505" cy="244800"/>
            <a:chOff x="195674" y="1377865"/>
            <a:chExt cx="6077505" cy="244800"/>
          </a:xfrm>
        </p:grpSpPr>
        <p:cxnSp>
          <p:nvCxnSpPr>
            <p:cNvPr id="41" name="直線コネクタ 40">
              <a:extLst>
                <a:ext uri="{FF2B5EF4-FFF2-40B4-BE49-F238E27FC236}">
                  <a16:creationId xmlns:a16="http://schemas.microsoft.com/office/drawing/2014/main" id="{078F25DB-4894-CB46-9950-E812FC97ADE4}"/>
                </a:ext>
              </a:extLst>
            </p:cNvPr>
            <p:cNvCxnSpPr>
              <a:cxnSpLocks/>
            </p:cNvCxnSpPr>
            <p:nvPr userDrawn="1"/>
          </p:nvCxnSpPr>
          <p:spPr>
            <a:xfrm flipV="1">
              <a:off x="413216" y="1607575"/>
              <a:ext cx="585996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2" name="フリーフォーム 41">
              <a:extLst>
                <a:ext uri="{FF2B5EF4-FFF2-40B4-BE49-F238E27FC236}">
                  <a16:creationId xmlns:a16="http://schemas.microsoft.com/office/drawing/2014/main" id="{21E949D9-3C08-7740-8632-554D838D5C36}"/>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43" name="グループ化 42">
            <a:extLst>
              <a:ext uri="{FF2B5EF4-FFF2-40B4-BE49-F238E27FC236}">
                <a16:creationId xmlns:a16="http://schemas.microsoft.com/office/drawing/2014/main" id="{9C2EAFB2-3DF9-9742-9574-4FDA2A043306}"/>
              </a:ext>
            </a:extLst>
          </p:cNvPr>
          <p:cNvGrpSpPr/>
          <p:nvPr/>
        </p:nvGrpSpPr>
        <p:grpSpPr>
          <a:xfrm>
            <a:off x="140729" y="1384215"/>
            <a:ext cx="6093816" cy="244800"/>
            <a:chOff x="143915" y="1384215"/>
            <a:chExt cx="6093816" cy="244800"/>
          </a:xfrm>
        </p:grpSpPr>
        <p:cxnSp>
          <p:nvCxnSpPr>
            <p:cNvPr id="44" name="直線コネクタ 43">
              <a:extLst>
                <a:ext uri="{FF2B5EF4-FFF2-40B4-BE49-F238E27FC236}">
                  <a16:creationId xmlns:a16="http://schemas.microsoft.com/office/drawing/2014/main" id="{4360EAC7-EBDA-214E-B432-EF4BD6EAD96B}"/>
                </a:ext>
              </a:extLst>
            </p:cNvPr>
            <p:cNvCxnSpPr>
              <a:cxnSpLocks/>
            </p:cNvCxnSpPr>
            <p:nvPr userDrawn="1"/>
          </p:nvCxnSpPr>
          <p:spPr>
            <a:xfrm>
              <a:off x="364660" y="1607575"/>
              <a:ext cx="58730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5" name="フリーフォーム 44">
              <a:extLst>
                <a:ext uri="{FF2B5EF4-FFF2-40B4-BE49-F238E27FC236}">
                  <a16:creationId xmlns:a16="http://schemas.microsoft.com/office/drawing/2014/main" id="{EA2D9895-0CE8-7C49-9303-0B23C39E7D64}"/>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46" name="テキスト ボックス 45">
            <a:extLst>
              <a:ext uri="{FF2B5EF4-FFF2-40B4-BE49-F238E27FC236}">
                <a16:creationId xmlns:a16="http://schemas.microsoft.com/office/drawing/2014/main" id="{31407A6B-9F23-0441-B6BB-930A194D4CCB}"/>
              </a:ext>
            </a:extLst>
          </p:cNvPr>
          <p:cNvSpPr txBox="1"/>
          <p:nvPr/>
        </p:nvSpPr>
        <p:spPr>
          <a:xfrm>
            <a:off x="1329034" y="5100353"/>
            <a:ext cx="2481105" cy="369332"/>
          </a:xfrm>
          <a:prstGeom prst="rect">
            <a:avLst/>
          </a:prstGeom>
          <a:noFill/>
        </p:spPr>
        <p:txBody>
          <a:bodyPr wrap="square" rtlCol="0">
            <a:spAutoFit/>
          </a:bodyPr>
          <a:lstStyle/>
          <a:p>
            <a:pPr algn="ctr"/>
            <a:r>
              <a:rPr kumimoji="1" lang="ja-JP" altLang="en-US"/>
              <a:t>エージェントの戦略</a:t>
            </a:r>
          </a:p>
        </p:txBody>
      </p:sp>
    </p:spTree>
    <p:extLst>
      <p:ext uri="{BB962C8B-B14F-4D97-AF65-F5344CB8AC3E}">
        <p14:creationId xmlns:p14="http://schemas.microsoft.com/office/powerpoint/2010/main" val="1230980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特性を推定</a:t>
            </a:r>
            <a:endParaRPr lang="en-US" altLang="ja-JP" dirty="0">
              <a:solidFill>
                <a:schemeClr val="accent1"/>
              </a:solidFill>
            </a:endParaRPr>
          </a:p>
          <a:p>
            <a:r>
              <a:rPr lang="ja-JP" altLang="en-US"/>
              <a:t>相手の特性に応じて戦略を決定し</a:t>
            </a:r>
            <a:r>
              <a:rPr lang="ja-JP" altLang="en-US">
                <a:solidFill>
                  <a:schemeClr val="accent2"/>
                </a:solidFill>
              </a:rPr>
              <a:t>譲歩速度などを変更</a:t>
            </a:r>
            <a:endParaRPr lang="en-US" altLang="ja-JP" dirty="0">
              <a:solidFill>
                <a:schemeClr val="accent2"/>
              </a:solidFill>
            </a:endParaRPr>
          </a:p>
          <a:p>
            <a:pPr lvl="1"/>
            <a:r>
              <a:rPr lang="en-US" altLang="ja-JP" dirty="0">
                <a:solidFill>
                  <a:schemeClr val="accent1"/>
                </a:solidFill>
              </a:rPr>
              <a:t>TKI</a:t>
            </a:r>
            <a:r>
              <a:rPr lang="ja-JP" altLang="en-US"/>
              <a:t>・</a:t>
            </a:r>
            <a:r>
              <a:rPr lang="ja-JP" altLang="en-US">
                <a:solidFill>
                  <a:schemeClr val="accent1"/>
                </a:solidFill>
              </a:rPr>
              <a:t>ビッグファイブの結果を平均</a:t>
            </a:r>
            <a:r>
              <a:rPr lang="ja-JP" altLang="en-US"/>
              <a:t>して最終的な値を決定</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プロファイリングによる交渉戦略</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3</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15</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5898" y="1019593"/>
            <a:ext cx="3495746" cy="244800"/>
            <a:chOff x="195674" y="1377865"/>
            <a:chExt cx="3495746"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413217" y="1607575"/>
              <a:ext cx="327820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3483417" cy="244800"/>
            <a:chOff x="143915" y="1384215"/>
            <a:chExt cx="3483417"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326267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2" name="グループ化 11">
            <a:extLst>
              <a:ext uri="{FF2B5EF4-FFF2-40B4-BE49-F238E27FC236}">
                <a16:creationId xmlns:a16="http://schemas.microsoft.com/office/drawing/2014/main" id="{178AA664-7FC7-0044-AF08-A9A7DC91A238}"/>
              </a:ext>
            </a:extLst>
          </p:cNvPr>
          <p:cNvGrpSpPr/>
          <p:nvPr/>
        </p:nvGrpSpPr>
        <p:grpSpPr>
          <a:xfrm>
            <a:off x="72050" y="3173202"/>
            <a:ext cx="8704725" cy="3525985"/>
            <a:chOff x="72050" y="3173202"/>
            <a:chExt cx="8704725" cy="3525985"/>
          </a:xfrm>
        </p:grpSpPr>
        <p:sp>
          <p:nvSpPr>
            <p:cNvPr id="63" name="右矢印 62">
              <a:extLst>
                <a:ext uri="{FF2B5EF4-FFF2-40B4-BE49-F238E27FC236}">
                  <a16:creationId xmlns:a16="http://schemas.microsoft.com/office/drawing/2014/main" id="{FA83EE2B-6E9B-AD4B-8251-851A444D77C2}"/>
                </a:ext>
              </a:extLst>
            </p:cNvPr>
            <p:cNvSpPr/>
            <p:nvPr/>
          </p:nvSpPr>
          <p:spPr>
            <a:xfrm>
              <a:off x="6014348"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三角形 64">
              <a:extLst>
                <a:ext uri="{FF2B5EF4-FFF2-40B4-BE49-F238E27FC236}">
                  <a16:creationId xmlns:a16="http://schemas.microsoft.com/office/drawing/2014/main" id="{6A82CAD2-B5FE-6341-9A75-E9E0ED168848}"/>
                </a:ext>
              </a:extLst>
            </p:cNvPr>
            <p:cNvSpPr/>
            <p:nvPr/>
          </p:nvSpPr>
          <p:spPr>
            <a:xfrm rot="5400000">
              <a:off x="3649510" y="47786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6" name="グループ化 65">
              <a:extLst>
                <a:ext uri="{FF2B5EF4-FFF2-40B4-BE49-F238E27FC236}">
                  <a16:creationId xmlns:a16="http://schemas.microsoft.com/office/drawing/2014/main" id="{385F6456-5D72-7648-B22D-832FA75AD79C}"/>
                </a:ext>
              </a:extLst>
            </p:cNvPr>
            <p:cNvGrpSpPr/>
            <p:nvPr/>
          </p:nvGrpSpPr>
          <p:grpSpPr>
            <a:xfrm>
              <a:off x="72050" y="3879486"/>
              <a:ext cx="3627006" cy="2495100"/>
              <a:chOff x="550036" y="3879486"/>
              <a:chExt cx="3627006" cy="2495100"/>
            </a:xfrm>
          </p:grpSpPr>
          <p:sp>
            <p:nvSpPr>
              <p:cNvPr id="67" name="テキスト ボックス 66">
                <a:extLst>
                  <a:ext uri="{FF2B5EF4-FFF2-40B4-BE49-F238E27FC236}">
                    <a16:creationId xmlns:a16="http://schemas.microsoft.com/office/drawing/2014/main" id="{460F7366-43EE-314C-BCA8-8D6FE7BA03D4}"/>
                  </a:ext>
                </a:extLst>
              </p:cNvPr>
              <p:cNvSpPr txBox="1"/>
              <p:nvPr/>
            </p:nvSpPr>
            <p:spPr>
              <a:xfrm>
                <a:off x="835959" y="6005254"/>
                <a:ext cx="3272612" cy="369332"/>
              </a:xfrm>
              <a:prstGeom prst="rect">
                <a:avLst/>
              </a:prstGeom>
              <a:noFill/>
            </p:spPr>
            <p:txBody>
              <a:bodyPr wrap="square" rtlCol="0">
                <a:spAutoFit/>
              </a:bodyPr>
              <a:lstStyle/>
              <a:p>
                <a:pPr algn="ctr"/>
                <a:r>
                  <a:rPr kumimoji="1" lang="ja-JP" altLang="en-US"/>
                  <a:t>相手の行動から特性を推定</a:t>
                </a:r>
              </a:p>
            </p:txBody>
          </p:sp>
          <p:grpSp>
            <p:nvGrpSpPr>
              <p:cNvPr id="68" name="グループ化 67">
                <a:extLst>
                  <a:ext uri="{FF2B5EF4-FFF2-40B4-BE49-F238E27FC236}">
                    <a16:creationId xmlns:a16="http://schemas.microsoft.com/office/drawing/2014/main" id="{BCF24C93-2C23-CD49-82B9-12B40A57C573}"/>
                  </a:ext>
                </a:extLst>
              </p:cNvPr>
              <p:cNvGrpSpPr/>
              <p:nvPr/>
            </p:nvGrpSpPr>
            <p:grpSpPr>
              <a:xfrm>
                <a:off x="550036" y="3879486"/>
                <a:ext cx="3627006" cy="2281087"/>
                <a:chOff x="626236" y="3930286"/>
                <a:chExt cx="3627006" cy="2281087"/>
              </a:xfrm>
            </p:grpSpPr>
            <p:sp>
              <p:nvSpPr>
                <p:cNvPr id="69" name="右矢印 68">
                  <a:extLst>
                    <a:ext uri="{FF2B5EF4-FFF2-40B4-BE49-F238E27FC236}">
                      <a16:creationId xmlns:a16="http://schemas.microsoft.com/office/drawing/2014/main" id="{6AA2D12E-DD3F-DB4F-9AED-77EA1AF4B1B4}"/>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70" name="グループ化 69">
                  <a:extLst>
                    <a:ext uri="{FF2B5EF4-FFF2-40B4-BE49-F238E27FC236}">
                      <a16:creationId xmlns:a16="http://schemas.microsoft.com/office/drawing/2014/main" id="{4AD2BBA6-230D-F845-A6C6-9094A938C563}"/>
                    </a:ext>
                  </a:extLst>
                </p:cNvPr>
                <p:cNvGrpSpPr/>
                <p:nvPr/>
              </p:nvGrpSpPr>
              <p:grpSpPr>
                <a:xfrm>
                  <a:off x="2279956" y="4474964"/>
                  <a:ext cx="861781" cy="783058"/>
                  <a:chOff x="1647102" y="4614762"/>
                  <a:chExt cx="861781" cy="783058"/>
                </a:xfrm>
              </p:grpSpPr>
              <p:sp>
                <p:nvSpPr>
                  <p:cNvPr id="78" name="メモ 77">
                    <a:extLst>
                      <a:ext uri="{FF2B5EF4-FFF2-40B4-BE49-F238E27FC236}">
                        <a16:creationId xmlns:a16="http://schemas.microsoft.com/office/drawing/2014/main" id="{A67DFC0E-A368-DE45-9AE5-590C752AB7D0}"/>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ボックス 78">
                    <a:extLst>
                      <a:ext uri="{FF2B5EF4-FFF2-40B4-BE49-F238E27FC236}">
                        <a16:creationId xmlns:a16="http://schemas.microsoft.com/office/drawing/2014/main" id="{BA1D33BA-045E-AC45-9164-BB89274F2C8D}"/>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71" name="図 70">
                  <a:extLst>
                    <a:ext uri="{FF2B5EF4-FFF2-40B4-BE49-F238E27FC236}">
                      <a16:creationId xmlns:a16="http://schemas.microsoft.com/office/drawing/2014/main" id="{73F38DBA-EFC9-7E49-B510-15ADB42FB24C}"/>
                    </a:ext>
                  </a:extLst>
                </p:cNvPr>
                <p:cNvPicPr>
                  <a:picLocks noChangeAspect="1"/>
                </p:cNvPicPr>
                <p:nvPr/>
              </p:nvPicPr>
              <p:blipFill>
                <a:blip r:embed="rId2"/>
                <a:stretch>
                  <a:fillRect/>
                </a:stretch>
              </p:blipFill>
              <p:spPr>
                <a:xfrm>
                  <a:off x="710926" y="4073984"/>
                  <a:ext cx="1286093" cy="1523000"/>
                </a:xfrm>
                <a:prstGeom prst="rect">
                  <a:avLst/>
                </a:prstGeom>
              </p:spPr>
            </p:pic>
            <p:pic>
              <p:nvPicPr>
                <p:cNvPr id="72" name="図 71">
                  <a:extLst>
                    <a:ext uri="{FF2B5EF4-FFF2-40B4-BE49-F238E27FC236}">
                      <a16:creationId xmlns:a16="http://schemas.microsoft.com/office/drawing/2014/main" id="{7E48551C-7D92-ED4F-BE61-A0A5C3911795}"/>
                    </a:ext>
                  </a:extLst>
                </p:cNvPr>
                <p:cNvPicPr>
                  <a:picLocks noChangeAspect="1"/>
                </p:cNvPicPr>
                <p:nvPr/>
              </p:nvPicPr>
              <p:blipFill>
                <a:blip r:embed="rId3"/>
                <a:stretch>
                  <a:fillRect/>
                </a:stretch>
              </p:blipFill>
              <p:spPr>
                <a:xfrm>
                  <a:off x="3381133" y="4115316"/>
                  <a:ext cx="872109" cy="1486553"/>
                </a:xfrm>
                <a:prstGeom prst="rect">
                  <a:avLst/>
                </a:prstGeom>
              </p:spPr>
            </p:pic>
            <p:sp>
              <p:nvSpPr>
                <p:cNvPr id="73" name="テキスト ボックス 72">
                  <a:extLst>
                    <a:ext uri="{FF2B5EF4-FFF2-40B4-BE49-F238E27FC236}">
                      <a16:creationId xmlns:a16="http://schemas.microsoft.com/office/drawing/2014/main" id="{34EC6FE0-4916-FA4C-BA39-E28373910965}"/>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74" name="テキスト ボックス 73">
                  <a:extLst>
                    <a:ext uri="{FF2B5EF4-FFF2-40B4-BE49-F238E27FC236}">
                      <a16:creationId xmlns:a16="http://schemas.microsoft.com/office/drawing/2014/main" id="{F082FDC6-B03D-5641-8DB5-08AFC7FF5AEA}"/>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sp>
              <p:nvSpPr>
                <p:cNvPr id="75" name="角丸四角形吹き出し 74">
                  <a:extLst>
                    <a:ext uri="{FF2B5EF4-FFF2-40B4-BE49-F238E27FC236}">
                      <a16:creationId xmlns:a16="http://schemas.microsoft.com/office/drawing/2014/main" id="{EA44866A-B470-2440-87BB-B74C6CA25896}"/>
                    </a:ext>
                  </a:extLst>
                </p:cNvPr>
                <p:cNvSpPr/>
                <p:nvPr/>
              </p:nvSpPr>
              <p:spPr>
                <a:xfrm>
                  <a:off x="2190377" y="3930286"/>
                  <a:ext cx="1072368" cy="466765"/>
                </a:xfrm>
                <a:prstGeom prst="wedgeRoundRectCallout">
                  <a:avLst>
                    <a:gd name="adj1" fmla="val 65620"/>
                    <a:gd name="adj2" fmla="val 40733"/>
                    <a:gd name="adj3" fmla="val 1666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Hello</a:t>
                  </a:r>
                  <a:endParaRPr kumimoji="1" lang="ja-JP" altLang="en-US"/>
                </a:p>
              </p:txBody>
            </p:sp>
            <p:sp>
              <p:nvSpPr>
                <p:cNvPr id="76" name="円形吹き出し 75">
                  <a:extLst>
                    <a:ext uri="{FF2B5EF4-FFF2-40B4-BE49-F238E27FC236}">
                      <a16:creationId xmlns:a16="http://schemas.microsoft.com/office/drawing/2014/main" id="{30EA570C-0C4B-0342-96B4-6EC84F041839}"/>
                    </a:ext>
                  </a:extLst>
                </p:cNvPr>
                <p:cNvSpPr/>
                <p:nvPr/>
              </p:nvSpPr>
              <p:spPr>
                <a:xfrm>
                  <a:off x="2157495" y="5338387"/>
                  <a:ext cx="1042362" cy="578966"/>
                </a:xfrm>
                <a:prstGeom prst="wedgeEllipseCallout">
                  <a:avLst>
                    <a:gd name="adj1" fmla="val 66669"/>
                    <a:gd name="adj2" fmla="val -35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7" name="グラフィックス 76" descr="悲しそうな顔 (塗りつぶし)">
                  <a:extLst>
                    <a:ext uri="{FF2B5EF4-FFF2-40B4-BE49-F238E27FC236}">
                      <a16:creationId xmlns:a16="http://schemas.microsoft.com/office/drawing/2014/main" id="{A8D11EBD-6F0D-C64D-9306-FBED39FA71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42035" y="5393594"/>
                  <a:ext cx="469232" cy="469232"/>
                </a:xfrm>
                <a:prstGeom prst="rect">
                  <a:avLst/>
                </a:prstGeom>
              </p:spPr>
            </p:pic>
          </p:grpSp>
        </p:grpSp>
        <p:grpSp>
          <p:nvGrpSpPr>
            <p:cNvPr id="10" name="グループ化 9">
              <a:extLst>
                <a:ext uri="{FF2B5EF4-FFF2-40B4-BE49-F238E27FC236}">
                  <a16:creationId xmlns:a16="http://schemas.microsoft.com/office/drawing/2014/main" id="{4C3C0127-5D05-8C46-96FB-55594383A7FF}"/>
                </a:ext>
              </a:extLst>
            </p:cNvPr>
            <p:cNvGrpSpPr/>
            <p:nvPr/>
          </p:nvGrpSpPr>
          <p:grpSpPr>
            <a:xfrm>
              <a:off x="3878604" y="3173202"/>
              <a:ext cx="2723294" cy="3445330"/>
              <a:chOff x="3878604" y="3173202"/>
              <a:chExt cx="2723294" cy="3445330"/>
            </a:xfrm>
          </p:grpSpPr>
          <p:grpSp>
            <p:nvGrpSpPr>
              <p:cNvPr id="16" name="グループ化 15">
                <a:extLst>
                  <a:ext uri="{FF2B5EF4-FFF2-40B4-BE49-F238E27FC236}">
                    <a16:creationId xmlns:a16="http://schemas.microsoft.com/office/drawing/2014/main" id="{94AE47AE-84E6-0F41-BD68-44E5D7F658A9}"/>
                  </a:ext>
                </a:extLst>
              </p:cNvPr>
              <p:cNvGrpSpPr/>
              <p:nvPr/>
            </p:nvGrpSpPr>
            <p:grpSpPr>
              <a:xfrm>
                <a:off x="3878604" y="3173202"/>
                <a:ext cx="1892023" cy="3445330"/>
                <a:chOff x="4356590" y="3173202"/>
                <a:chExt cx="1892023" cy="3445330"/>
              </a:xfrm>
            </p:grpSpPr>
            <p:grpSp>
              <p:nvGrpSpPr>
                <p:cNvPr id="88" name="グループ化 87">
                  <a:extLst>
                    <a:ext uri="{FF2B5EF4-FFF2-40B4-BE49-F238E27FC236}">
                      <a16:creationId xmlns:a16="http://schemas.microsoft.com/office/drawing/2014/main" id="{E0F556B4-93FE-4745-AC48-532215F12341}"/>
                    </a:ext>
                  </a:extLst>
                </p:cNvPr>
                <p:cNvGrpSpPr/>
                <p:nvPr/>
              </p:nvGrpSpPr>
              <p:grpSpPr>
                <a:xfrm>
                  <a:off x="4356590" y="3173202"/>
                  <a:ext cx="1892023" cy="1816317"/>
                  <a:chOff x="8311692" y="20185942"/>
                  <a:chExt cx="4295341" cy="4123471"/>
                </a:xfrm>
              </p:grpSpPr>
              <p:pic>
                <p:nvPicPr>
                  <p:cNvPr id="89" name="図 88">
                    <a:extLst>
                      <a:ext uri="{FF2B5EF4-FFF2-40B4-BE49-F238E27FC236}">
                        <a16:creationId xmlns:a16="http://schemas.microsoft.com/office/drawing/2014/main" id="{1CCD8957-49EA-F448-83E6-05F666F8C2C1}"/>
                      </a:ext>
                    </a:extLst>
                  </p:cNvPr>
                  <p:cNvPicPr>
                    <a:picLocks noChangeAspect="1"/>
                  </p:cNvPicPr>
                  <p:nvPr/>
                </p:nvPicPr>
                <p:blipFill rotWithShape="1">
                  <a:blip r:embed="rId6"/>
                  <a:srcRect l="10972" t="1550" r="-1061" b="21005"/>
                  <a:stretch/>
                </p:blipFill>
                <p:spPr>
                  <a:xfrm>
                    <a:off x="9119958" y="20185942"/>
                    <a:ext cx="3487075" cy="3375364"/>
                  </a:xfrm>
                  <a:prstGeom prst="rect">
                    <a:avLst/>
                  </a:prstGeom>
                </p:spPr>
              </p:pic>
              <p:cxnSp>
                <p:nvCxnSpPr>
                  <p:cNvPr id="90" name="直線矢印コネクタ 89">
                    <a:extLst>
                      <a:ext uri="{FF2B5EF4-FFF2-40B4-BE49-F238E27FC236}">
                        <a16:creationId xmlns:a16="http://schemas.microsoft.com/office/drawing/2014/main" id="{E51E8616-D0DC-364B-86B3-A7E5CE308A70}"/>
                      </a:ext>
                    </a:extLst>
                  </p:cNvPr>
                  <p:cNvCxnSpPr/>
                  <p:nvPr/>
                </p:nvCxnSpPr>
                <p:spPr>
                  <a:xfrm>
                    <a:off x="9171425" y="23717323"/>
                    <a:ext cx="2987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2DDDDE79-D6CD-644C-88C2-66899E8CE940}"/>
                      </a:ext>
                    </a:extLst>
                  </p:cNvPr>
                  <p:cNvCxnSpPr>
                    <a:cxnSpLocks/>
                  </p:cNvCxnSpPr>
                  <p:nvPr/>
                </p:nvCxnSpPr>
                <p:spPr>
                  <a:xfrm rot="16200000">
                    <a:off x="7320230" y="22064335"/>
                    <a:ext cx="309599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F829278B-D429-5641-95E9-87CC08E1AA0B}"/>
                      </a:ext>
                    </a:extLst>
                  </p:cNvPr>
                  <p:cNvSpPr txBox="1"/>
                  <p:nvPr/>
                </p:nvSpPr>
                <p:spPr>
                  <a:xfrm>
                    <a:off x="9420397" y="23769489"/>
                    <a:ext cx="2490051" cy="539924"/>
                  </a:xfrm>
                  <a:prstGeom prst="rect">
                    <a:avLst/>
                  </a:prstGeom>
                  <a:noFill/>
                </p:spPr>
                <p:txBody>
                  <a:bodyPr wrap="square" rtlCol="0">
                    <a:spAutoFit/>
                  </a:bodyPr>
                  <a:lstStyle/>
                  <a:p>
                    <a:pPr algn="ctr"/>
                    <a:r>
                      <a:rPr kumimoji="1" lang="ja-JP" altLang="en-US" sz="1100">
                        <a:latin typeface="+mn-ea"/>
                      </a:rPr>
                      <a:t>協調性</a:t>
                    </a:r>
                  </a:p>
                </p:txBody>
              </p:sp>
              <p:sp>
                <p:nvSpPr>
                  <p:cNvPr id="93" name="テキスト ボックス 92">
                    <a:extLst>
                      <a:ext uri="{FF2B5EF4-FFF2-40B4-BE49-F238E27FC236}">
                        <a16:creationId xmlns:a16="http://schemas.microsoft.com/office/drawing/2014/main" id="{956CD617-E4F8-5445-9A8D-4F0D51BDAFE5}"/>
                      </a:ext>
                    </a:extLst>
                  </p:cNvPr>
                  <p:cNvSpPr txBox="1"/>
                  <p:nvPr/>
                </p:nvSpPr>
                <p:spPr>
                  <a:xfrm rot="16200000">
                    <a:off x="7336629" y="21867195"/>
                    <a:ext cx="2490049" cy="539924"/>
                  </a:xfrm>
                  <a:prstGeom prst="rect">
                    <a:avLst/>
                  </a:prstGeom>
                  <a:noFill/>
                </p:spPr>
                <p:txBody>
                  <a:bodyPr wrap="square" rtlCol="0">
                    <a:spAutoFit/>
                  </a:bodyPr>
                  <a:lstStyle/>
                  <a:p>
                    <a:pPr algn="ctr"/>
                    <a:r>
                      <a:rPr kumimoji="1" lang="ja-JP" altLang="en-US" sz="1100">
                        <a:latin typeface="+mn-ea"/>
                      </a:rPr>
                      <a:t>積極性</a:t>
                    </a:r>
                  </a:p>
                </p:txBody>
              </p:sp>
            </p:grpSp>
            <p:grpSp>
              <p:nvGrpSpPr>
                <p:cNvPr id="15" name="グループ化 14">
                  <a:extLst>
                    <a:ext uri="{FF2B5EF4-FFF2-40B4-BE49-F238E27FC236}">
                      <a16:creationId xmlns:a16="http://schemas.microsoft.com/office/drawing/2014/main" id="{2D8848B0-E603-3647-81D5-D5E0096E969D}"/>
                    </a:ext>
                  </a:extLst>
                </p:cNvPr>
                <p:cNvGrpSpPr/>
                <p:nvPr/>
              </p:nvGrpSpPr>
              <p:grpSpPr>
                <a:xfrm>
                  <a:off x="4457390" y="5049335"/>
                  <a:ext cx="1622122" cy="1569197"/>
                  <a:chOff x="4457390" y="5049335"/>
                  <a:chExt cx="1622122" cy="1569197"/>
                </a:xfrm>
              </p:grpSpPr>
              <p:sp>
                <p:nvSpPr>
                  <p:cNvPr id="94" name="テキスト ボックス 93">
                    <a:extLst>
                      <a:ext uri="{FF2B5EF4-FFF2-40B4-BE49-F238E27FC236}">
                        <a16:creationId xmlns:a16="http://schemas.microsoft.com/office/drawing/2014/main" id="{89D51F17-4ECE-B04D-9167-F713AF60E4F1}"/>
                      </a:ext>
                    </a:extLst>
                  </p:cNvPr>
                  <p:cNvSpPr txBox="1"/>
                  <p:nvPr/>
                </p:nvSpPr>
                <p:spPr>
                  <a:xfrm>
                    <a:off x="5135837" y="5049335"/>
                    <a:ext cx="265517" cy="237827"/>
                  </a:xfrm>
                  <a:prstGeom prst="rect">
                    <a:avLst/>
                  </a:prstGeom>
                  <a:noFill/>
                </p:spPr>
                <p:txBody>
                  <a:bodyPr wrap="none" rtlCol="0">
                    <a:spAutoFit/>
                  </a:bodyPr>
                  <a:lstStyle/>
                  <a:p>
                    <a:pPr algn="ctr"/>
                    <a:r>
                      <a:rPr kumimoji="1" lang="en-US" altLang="ja-JP" sz="1100" dirty="0">
                        <a:latin typeface="+mn-ea"/>
                      </a:rPr>
                      <a:t>N</a:t>
                    </a:r>
                    <a:endParaRPr kumimoji="1" lang="ja-JP" altLang="en-US" sz="1100">
                      <a:latin typeface="+mn-ea"/>
                    </a:endParaRPr>
                  </a:p>
                </p:txBody>
              </p:sp>
              <p:sp>
                <p:nvSpPr>
                  <p:cNvPr id="95" name="テキスト ボックス 94">
                    <a:extLst>
                      <a:ext uri="{FF2B5EF4-FFF2-40B4-BE49-F238E27FC236}">
                        <a16:creationId xmlns:a16="http://schemas.microsoft.com/office/drawing/2014/main" id="{44125380-384E-1344-846D-8152A2FFFF3B}"/>
                      </a:ext>
                    </a:extLst>
                  </p:cNvPr>
                  <p:cNvSpPr txBox="1"/>
                  <p:nvPr/>
                </p:nvSpPr>
                <p:spPr>
                  <a:xfrm>
                    <a:off x="5565683" y="6380705"/>
                    <a:ext cx="269887" cy="237827"/>
                  </a:xfrm>
                  <a:prstGeom prst="rect">
                    <a:avLst/>
                  </a:prstGeom>
                  <a:noFill/>
                </p:spPr>
                <p:txBody>
                  <a:bodyPr wrap="none" rtlCol="0">
                    <a:spAutoFit/>
                  </a:bodyPr>
                  <a:lstStyle/>
                  <a:p>
                    <a:pPr algn="ctr"/>
                    <a:r>
                      <a:rPr kumimoji="1" lang="en-US" altLang="ja-JP" sz="1100" dirty="0">
                        <a:latin typeface="+mn-ea"/>
                      </a:rPr>
                      <a:t>O</a:t>
                    </a:r>
                    <a:endParaRPr kumimoji="1" lang="ja-JP" altLang="en-US" sz="1100">
                      <a:latin typeface="+mn-ea"/>
                    </a:endParaRPr>
                  </a:p>
                </p:txBody>
              </p:sp>
              <p:sp>
                <p:nvSpPr>
                  <p:cNvPr id="96" name="テキスト ボックス 95">
                    <a:extLst>
                      <a:ext uri="{FF2B5EF4-FFF2-40B4-BE49-F238E27FC236}">
                        <a16:creationId xmlns:a16="http://schemas.microsoft.com/office/drawing/2014/main" id="{5C6628DB-D38F-3148-84C8-1BDADE526499}"/>
                      </a:ext>
                    </a:extLst>
                  </p:cNvPr>
                  <p:cNvSpPr txBox="1"/>
                  <p:nvPr/>
                </p:nvSpPr>
                <p:spPr>
                  <a:xfrm>
                    <a:off x="5825654" y="5607856"/>
                    <a:ext cx="253858" cy="237827"/>
                  </a:xfrm>
                  <a:prstGeom prst="rect">
                    <a:avLst/>
                  </a:prstGeom>
                  <a:noFill/>
                </p:spPr>
                <p:txBody>
                  <a:bodyPr wrap="none" rtlCol="0">
                    <a:spAutoFit/>
                  </a:bodyPr>
                  <a:lstStyle/>
                  <a:p>
                    <a:pPr algn="ctr"/>
                    <a:r>
                      <a:rPr kumimoji="1" lang="en-US" altLang="ja-JP" sz="1100" dirty="0">
                        <a:latin typeface="+mn-ea"/>
                      </a:rPr>
                      <a:t>E</a:t>
                    </a:r>
                    <a:endParaRPr kumimoji="1" lang="ja-JP" altLang="en-US" sz="1100">
                      <a:latin typeface="+mn-ea"/>
                    </a:endParaRPr>
                  </a:p>
                </p:txBody>
              </p:sp>
              <p:sp>
                <p:nvSpPr>
                  <p:cNvPr id="97" name="テキスト ボックス 96">
                    <a:extLst>
                      <a:ext uri="{FF2B5EF4-FFF2-40B4-BE49-F238E27FC236}">
                        <a16:creationId xmlns:a16="http://schemas.microsoft.com/office/drawing/2014/main" id="{101BB666-AED5-2744-A49C-BE07BFECD236}"/>
                      </a:ext>
                    </a:extLst>
                  </p:cNvPr>
                  <p:cNvSpPr txBox="1"/>
                  <p:nvPr/>
                </p:nvSpPr>
                <p:spPr>
                  <a:xfrm>
                    <a:off x="4700694" y="6375267"/>
                    <a:ext cx="262602" cy="237827"/>
                  </a:xfrm>
                  <a:prstGeom prst="rect">
                    <a:avLst/>
                  </a:prstGeom>
                  <a:noFill/>
                </p:spPr>
                <p:txBody>
                  <a:bodyPr wrap="none" rtlCol="0">
                    <a:spAutoFit/>
                  </a:bodyPr>
                  <a:lstStyle/>
                  <a:p>
                    <a:pPr algn="ctr"/>
                    <a:r>
                      <a:rPr kumimoji="1" lang="en-US" altLang="ja-JP" sz="1100" dirty="0">
                        <a:latin typeface="+mn-ea"/>
                      </a:rPr>
                      <a:t>A</a:t>
                    </a:r>
                    <a:endParaRPr kumimoji="1" lang="ja-JP" altLang="en-US" sz="1100">
                      <a:latin typeface="+mn-ea"/>
                    </a:endParaRPr>
                  </a:p>
                </p:txBody>
              </p:sp>
              <p:sp>
                <p:nvSpPr>
                  <p:cNvPr id="98" name="テキスト ボックス 97">
                    <a:extLst>
                      <a:ext uri="{FF2B5EF4-FFF2-40B4-BE49-F238E27FC236}">
                        <a16:creationId xmlns:a16="http://schemas.microsoft.com/office/drawing/2014/main" id="{2C78FE80-0750-274B-8883-54CD60893BCF}"/>
                      </a:ext>
                    </a:extLst>
                  </p:cNvPr>
                  <p:cNvSpPr txBox="1"/>
                  <p:nvPr/>
                </p:nvSpPr>
                <p:spPr>
                  <a:xfrm>
                    <a:off x="4457390" y="5606674"/>
                    <a:ext cx="264058" cy="237827"/>
                  </a:xfrm>
                  <a:prstGeom prst="rect">
                    <a:avLst/>
                  </a:prstGeom>
                  <a:noFill/>
                </p:spPr>
                <p:txBody>
                  <a:bodyPr wrap="none" rtlCol="0">
                    <a:spAutoFit/>
                  </a:bodyPr>
                  <a:lstStyle/>
                  <a:p>
                    <a:r>
                      <a:rPr kumimoji="1" lang="en-US" altLang="ja-JP" sz="1100" dirty="0">
                        <a:latin typeface="+mn-ea"/>
                      </a:rPr>
                      <a:t>C</a:t>
                    </a:r>
                    <a:endParaRPr kumimoji="1" lang="ja-JP" altLang="en-US" sz="1100">
                      <a:latin typeface="+mn-ea"/>
                    </a:endParaRPr>
                  </a:p>
                </p:txBody>
              </p:sp>
              <p:sp>
                <p:nvSpPr>
                  <p:cNvPr id="101" name="五角形 100">
                    <a:extLst>
                      <a:ext uri="{FF2B5EF4-FFF2-40B4-BE49-F238E27FC236}">
                        <a16:creationId xmlns:a16="http://schemas.microsoft.com/office/drawing/2014/main" id="{F69F45FC-270F-CD49-BC0D-2D688DF6BFBF}"/>
                      </a:ext>
                    </a:extLst>
                  </p:cNvPr>
                  <p:cNvSpPr>
                    <a:spLocks noChangeAspect="1"/>
                  </p:cNvSpPr>
                  <p:nvPr/>
                </p:nvSpPr>
                <p:spPr>
                  <a:xfrm>
                    <a:off x="4685720" y="5272869"/>
                    <a:ext cx="1158300" cy="1158298"/>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cxnSp>
                <p:nvCxnSpPr>
                  <p:cNvPr id="102" name="直線コネクタ 101">
                    <a:extLst>
                      <a:ext uri="{FF2B5EF4-FFF2-40B4-BE49-F238E27FC236}">
                        <a16:creationId xmlns:a16="http://schemas.microsoft.com/office/drawing/2014/main" id="{527166F2-720F-5E4F-8291-CFB45287E7A1}"/>
                      </a:ext>
                    </a:extLst>
                  </p:cNvPr>
                  <p:cNvCxnSpPr>
                    <a:cxnSpLocks/>
                    <a:stCxn id="101" idx="0"/>
                    <a:endCxn id="107" idx="0"/>
                  </p:cNvCxnSpPr>
                  <p:nvPr/>
                </p:nvCxnSpPr>
                <p:spPr>
                  <a:xfrm>
                    <a:off x="5264871" y="5272868"/>
                    <a:ext cx="2938" cy="59662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42441A6A-7EF7-7F49-A688-8683B36C8DED}"/>
                      </a:ext>
                    </a:extLst>
                  </p:cNvPr>
                  <p:cNvCxnSpPr>
                    <a:cxnSpLocks/>
                    <a:stCxn id="107" idx="3"/>
                    <a:endCxn id="101" idx="2"/>
                  </p:cNvCxnSpPr>
                  <p:nvPr/>
                </p:nvCxnSpPr>
                <p:spPr>
                  <a:xfrm flipH="1">
                    <a:off x="4906936" y="5893187"/>
                    <a:ext cx="351058" cy="53797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5364D879-7056-8141-9EB5-7E9496EFF852}"/>
                      </a:ext>
                    </a:extLst>
                  </p:cNvPr>
                  <p:cNvCxnSpPr>
                    <a:cxnSpLocks/>
                    <a:stCxn id="107" idx="5"/>
                    <a:endCxn id="101" idx="4"/>
                  </p:cNvCxnSpPr>
                  <p:nvPr/>
                </p:nvCxnSpPr>
                <p:spPr>
                  <a:xfrm>
                    <a:off x="5277623" y="5893187"/>
                    <a:ext cx="345181" cy="53797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FDBA1D98-C425-704F-AE5D-E135E9DB64D3}"/>
                      </a:ext>
                    </a:extLst>
                  </p:cNvPr>
                  <p:cNvCxnSpPr>
                    <a:cxnSpLocks/>
                    <a:stCxn id="107" idx="6"/>
                    <a:endCxn id="101" idx="5"/>
                  </p:cNvCxnSpPr>
                  <p:nvPr/>
                </p:nvCxnSpPr>
                <p:spPr>
                  <a:xfrm flipV="1">
                    <a:off x="5281686" y="5715298"/>
                    <a:ext cx="562330" cy="1680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059EBEF0-BEF4-EA4F-A6F9-51030C65B05C}"/>
                      </a:ext>
                    </a:extLst>
                  </p:cNvPr>
                  <p:cNvCxnSpPr>
                    <a:cxnSpLocks/>
                    <a:stCxn id="101" idx="1"/>
                    <a:endCxn id="107" idx="2"/>
                  </p:cNvCxnSpPr>
                  <p:nvPr/>
                </p:nvCxnSpPr>
                <p:spPr>
                  <a:xfrm>
                    <a:off x="4685720" y="5715293"/>
                    <a:ext cx="568207" cy="16807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07" name="円/楕円 106">
                    <a:extLst>
                      <a:ext uri="{FF2B5EF4-FFF2-40B4-BE49-F238E27FC236}">
                        <a16:creationId xmlns:a16="http://schemas.microsoft.com/office/drawing/2014/main" id="{ACEE9576-2B80-1C4A-B74D-C9F5C29C9F5F}"/>
                      </a:ext>
                    </a:extLst>
                  </p:cNvPr>
                  <p:cNvSpPr/>
                  <p:nvPr/>
                </p:nvSpPr>
                <p:spPr>
                  <a:xfrm>
                    <a:off x="5253939" y="5869504"/>
                    <a:ext cx="27759" cy="2775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sp>
                <p:nvSpPr>
                  <p:cNvPr id="100" name="五角形 278">
                    <a:extLst>
                      <a:ext uri="{FF2B5EF4-FFF2-40B4-BE49-F238E27FC236}">
                        <a16:creationId xmlns:a16="http://schemas.microsoft.com/office/drawing/2014/main" id="{954A9BC3-0414-8E43-AC65-A9481F466644}"/>
                      </a:ext>
                    </a:extLst>
                  </p:cNvPr>
                  <p:cNvSpPr>
                    <a:spLocks noChangeAspect="1"/>
                  </p:cNvSpPr>
                  <p:nvPr/>
                </p:nvSpPr>
                <p:spPr>
                  <a:xfrm>
                    <a:off x="4938064" y="5474758"/>
                    <a:ext cx="666231" cy="842867"/>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n-ea"/>
                    </a:endParaRPr>
                  </a:p>
                </p:txBody>
              </p:sp>
            </p:grpSp>
          </p:grpSp>
          <mc:AlternateContent xmlns:mc="http://schemas.openxmlformats.org/markup-compatibility/2006">
            <mc:Choice xmlns:a14="http://schemas.microsoft.com/office/drawing/2010/main" Requires="a14">
              <p:sp>
                <p:nvSpPr>
                  <p:cNvPr id="61" name="角丸四角形吹き出し 60">
                    <a:extLst>
                      <a:ext uri="{FF2B5EF4-FFF2-40B4-BE49-F238E27FC236}">
                        <a16:creationId xmlns:a16="http://schemas.microsoft.com/office/drawing/2014/main" id="{7A3EF219-B757-6045-9B8B-DE5157625FA3}"/>
                      </a:ext>
                    </a:extLst>
                  </p:cNvPr>
                  <p:cNvSpPr/>
                  <p:nvPr/>
                </p:nvSpPr>
                <p:spPr>
                  <a:xfrm>
                    <a:off x="5614440" y="3959500"/>
                    <a:ext cx="985278" cy="466765"/>
                  </a:xfrm>
                  <a:prstGeom prst="wedgeRoundRectCallout">
                    <a:avLst>
                      <a:gd name="adj1" fmla="val -49227"/>
                      <a:gd name="adj2" fmla="val -79479"/>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kumimoji="1" lang="en-US" altLang="ja-JP" sz="1600" i="1" smtClean="0">
                            <a:solidFill>
                              <a:schemeClr val="bg1"/>
                            </a:solidFill>
                            <a:latin typeface="Cambria Math" panose="02040503050406030204" pitchFamily="18" charset="0"/>
                          </a:rPr>
                          <m:t>𝛼</m:t>
                        </m:r>
                      </m:oMath>
                    </a14:m>
                    <a:r>
                      <a:rPr kumimoji="1" lang="en-US" altLang="ja-JP" sz="1600" dirty="0">
                        <a:solidFill>
                          <a:schemeClr val="bg1"/>
                        </a:solidFill>
                      </a:rPr>
                      <a:t>=0.575</a:t>
                    </a:r>
                    <a:endParaRPr kumimoji="1" lang="ja-JP" altLang="en-US" sz="1600">
                      <a:solidFill>
                        <a:schemeClr val="bg1"/>
                      </a:solidFill>
                    </a:endParaRPr>
                  </a:p>
                </p:txBody>
              </p:sp>
            </mc:Choice>
            <mc:Fallback>
              <p:sp>
                <p:nvSpPr>
                  <p:cNvPr id="61" name="角丸四角形吹き出し 60">
                    <a:extLst>
                      <a:ext uri="{FF2B5EF4-FFF2-40B4-BE49-F238E27FC236}">
                        <a16:creationId xmlns:a16="http://schemas.microsoft.com/office/drawing/2014/main" id="{7A3EF219-B757-6045-9B8B-DE5157625FA3}"/>
                      </a:ext>
                    </a:extLst>
                  </p:cNvPr>
                  <p:cNvSpPr>
                    <a:spLocks noRot="1" noChangeAspect="1" noMove="1" noResize="1" noEditPoints="1" noAdjustHandles="1" noChangeArrowheads="1" noChangeShapeType="1" noTextEdit="1"/>
                  </p:cNvSpPr>
                  <p:nvPr/>
                </p:nvSpPr>
                <p:spPr>
                  <a:xfrm>
                    <a:off x="5614440" y="3959500"/>
                    <a:ext cx="985278" cy="466765"/>
                  </a:xfrm>
                  <a:prstGeom prst="wedgeRoundRectCallout">
                    <a:avLst>
                      <a:gd name="adj1" fmla="val -49227"/>
                      <a:gd name="adj2" fmla="val -79479"/>
                      <a:gd name="adj3" fmla="val 16667"/>
                    </a:avLst>
                  </a:prstGeom>
                  <a:blipFill>
                    <a:blip r:embed="rId7"/>
                    <a:stretch>
                      <a:fillRect b="-2041"/>
                    </a:stretch>
                  </a:blipFill>
                  <a:ln>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2" name="角丸四角形吹き出し 61">
                    <a:extLst>
                      <a:ext uri="{FF2B5EF4-FFF2-40B4-BE49-F238E27FC236}">
                        <a16:creationId xmlns:a16="http://schemas.microsoft.com/office/drawing/2014/main" id="{20ABC680-C3CA-004C-A7D1-D288813338AE}"/>
                      </a:ext>
                    </a:extLst>
                  </p:cNvPr>
                  <p:cNvSpPr/>
                  <p:nvPr/>
                </p:nvSpPr>
                <p:spPr>
                  <a:xfrm>
                    <a:off x="5616620" y="5338255"/>
                    <a:ext cx="985278" cy="466765"/>
                  </a:xfrm>
                  <a:prstGeom prst="wedgeRoundRectCallout">
                    <a:avLst>
                      <a:gd name="adj1" fmla="val -52103"/>
                      <a:gd name="adj2" fmla="val 87483"/>
                      <a:gd name="adj3" fmla="val 1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kumimoji="1" lang="en-US" altLang="ja-JP" sz="1600" i="1" smtClean="0">
                            <a:solidFill>
                              <a:schemeClr val="bg1"/>
                            </a:solidFill>
                            <a:latin typeface="Cambria Math" panose="02040503050406030204" pitchFamily="18" charset="0"/>
                          </a:rPr>
                          <m:t>𝛼</m:t>
                        </m:r>
                      </m:oMath>
                    </a14:m>
                    <a:r>
                      <a:rPr kumimoji="1" lang="en-US" altLang="ja-JP" sz="1600" dirty="0">
                        <a:solidFill>
                          <a:schemeClr val="bg1"/>
                        </a:solidFill>
                      </a:rPr>
                      <a:t>=0.325</a:t>
                    </a:r>
                    <a:endParaRPr kumimoji="1" lang="ja-JP" altLang="en-US" sz="1600">
                      <a:solidFill>
                        <a:schemeClr val="bg1"/>
                      </a:solidFill>
                    </a:endParaRPr>
                  </a:p>
                </p:txBody>
              </p:sp>
            </mc:Choice>
            <mc:Fallback>
              <p:sp>
                <p:nvSpPr>
                  <p:cNvPr id="62" name="角丸四角形吹き出し 61">
                    <a:extLst>
                      <a:ext uri="{FF2B5EF4-FFF2-40B4-BE49-F238E27FC236}">
                        <a16:creationId xmlns:a16="http://schemas.microsoft.com/office/drawing/2014/main" id="{20ABC680-C3CA-004C-A7D1-D288813338AE}"/>
                      </a:ext>
                    </a:extLst>
                  </p:cNvPr>
                  <p:cNvSpPr>
                    <a:spLocks noRot="1" noChangeAspect="1" noMove="1" noResize="1" noEditPoints="1" noAdjustHandles="1" noChangeArrowheads="1" noChangeShapeType="1" noTextEdit="1"/>
                  </p:cNvSpPr>
                  <p:nvPr/>
                </p:nvSpPr>
                <p:spPr>
                  <a:xfrm>
                    <a:off x="5616620" y="5338255"/>
                    <a:ext cx="985278" cy="466765"/>
                  </a:xfrm>
                  <a:prstGeom prst="wedgeRoundRectCallout">
                    <a:avLst>
                      <a:gd name="adj1" fmla="val -52103"/>
                      <a:gd name="adj2" fmla="val 87483"/>
                      <a:gd name="adj3" fmla="val 16667"/>
                    </a:avLst>
                  </a:prstGeom>
                  <a:blipFill>
                    <a:blip r:embed="rId8"/>
                    <a:stretch>
                      <a:fillRect/>
                    </a:stretch>
                  </a:blipFill>
                  <a:ln>
                    <a:noFill/>
                  </a:ln>
                </p:spPr>
                <p:txBody>
                  <a:bodyPr/>
                  <a:lstStyle/>
                  <a:p>
                    <a:r>
                      <a:rPr lang="ja-JP" altLang="en-US">
                        <a:noFill/>
                      </a:rPr>
                      <a:t> </a:t>
                    </a:r>
                  </a:p>
                </p:txBody>
              </p:sp>
            </mc:Fallback>
          </mc:AlternateContent>
        </p:grpSp>
        <p:grpSp>
          <p:nvGrpSpPr>
            <p:cNvPr id="11" name="グループ化 10">
              <a:extLst>
                <a:ext uri="{FF2B5EF4-FFF2-40B4-BE49-F238E27FC236}">
                  <a16:creationId xmlns:a16="http://schemas.microsoft.com/office/drawing/2014/main" id="{5CDB62E3-38A4-FF4A-A7B0-438269891F5A}"/>
                </a:ext>
              </a:extLst>
            </p:cNvPr>
            <p:cNvGrpSpPr/>
            <p:nvPr/>
          </p:nvGrpSpPr>
          <p:grpSpPr>
            <a:xfrm>
              <a:off x="6424966" y="3751121"/>
              <a:ext cx="2351809" cy="2948066"/>
              <a:chOff x="6424966" y="3751121"/>
              <a:chExt cx="2351809" cy="2948066"/>
            </a:xfrm>
          </p:grpSpPr>
          <p:grpSp>
            <p:nvGrpSpPr>
              <p:cNvPr id="9" name="グループ化 8">
                <a:extLst>
                  <a:ext uri="{FF2B5EF4-FFF2-40B4-BE49-F238E27FC236}">
                    <a16:creationId xmlns:a16="http://schemas.microsoft.com/office/drawing/2014/main" id="{FB7438EF-BC22-DE41-A391-C742E6FD4A51}"/>
                  </a:ext>
                </a:extLst>
              </p:cNvPr>
              <p:cNvGrpSpPr/>
              <p:nvPr/>
            </p:nvGrpSpPr>
            <p:grpSpPr>
              <a:xfrm>
                <a:off x="6424966" y="4107207"/>
                <a:ext cx="2351809" cy="2591980"/>
                <a:chOff x="6663959" y="3795477"/>
                <a:chExt cx="2351809" cy="2591980"/>
              </a:xfrm>
            </p:grpSpPr>
            <p:sp>
              <p:nvSpPr>
                <p:cNvPr id="81" name="テキスト ボックス 80">
                  <a:extLst>
                    <a:ext uri="{FF2B5EF4-FFF2-40B4-BE49-F238E27FC236}">
                      <a16:creationId xmlns:a16="http://schemas.microsoft.com/office/drawing/2014/main" id="{36C57E2C-C1D8-8542-9DB8-2C71CC3CC0F0}"/>
                    </a:ext>
                  </a:extLst>
                </p:cNvPr>
                <p:cNvSpPr txBox="1"/>
                <p:nvPr/>
              </p:nvSpPr>
              <p:spPr>
                <a:xfrm>
                  <a:off x="6663959" y="5741126"/>
                  <a:ext cx="2351809" cy="646331"/>
                </a:xfrm>
                <a:prstGeom prst="rect">
                  <a:avLst/>
                </a:prstGeom>
                <a:noFill/>
              </p:spPr>
              <p:txBody>
                <a:bodyPr wrap="square" rtlCol="0">
                  <a:spAutoFit/>
                </a:bodyPr>
                <a:lstStyle/>
                <a:p>
                  <a:pPr algn="ctr"/>
                  <a:r>
                    <a:rPr kumimoji="1" lang="ja-JP" altLang="en-US"/>
                    <a:t>譲歩速度などの変更</a:t>
                  </a:r>
                </a:p>
              </p:txBody>
            </p:sp>
            <p:grpSp>
              <p:nvGrpSpPr>
                <p:cNvPr id="108" name="グループ化 107">
                  <a:extLst>
                    <a:ext uri="{FF2B5EF4-FFF2-40B4-BE49-F238E27FC236}">
                      <a16:creationId xmlns:a16="http://schemas.microsoft.com/office/drawing/2014/main" id="{D50F4915-FF7F-1646-95C7-AAFBD142D8CE}"/>
                    </a:ext>
                  </a:extLst>
                </p:cNvPr>
                <p:cNvGrpSpPr/>
                <p:nvPr/>
              </p:nvGrpSpPr>
              <p:grpSpPr>
                <a:xfrm>
                  <a:off x="6982255" y="3795477"/>
                  <a:ext cx="1690907" cy="1690907"/>
                  <a:chOff x="5048817" y="3742563"/>
                  <a:chExt cx="1690907" cy="1690907"/>
                </a:xfrm>
              </p:grpSpPr>
              <p:sp>
                <p:nvSpPr>
                  <p:cNvPr id="109" name="フリーフォーム 108">
                    <a:extLst>
                      <a:ext uri="{FF2B5EF4-FFF2-40B4-BE49-F238E27FC236}">
                        <a16:creationId xmlns:a16="http://schemas.microsoft.com/office/drawing/2014/main" id="{4771C174-52FC-E040-A658-61BDA576DB92}"/>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フリーフォーム 109">
                    <a:extLst>
                      <a:ext uri="{FF2B5EF4-FFF2-40B4-BE49-F238E27FC236}">
                        <a16:creationId xmlns:a16="http://schemas.microsoft.com/office/drawing/2014/main" id="{E85F6542-FC03-E34D-A9D4-4F5AA021852A}"/>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フリーフォーム 110">
                    <a:extLst>
                      <a:ext uri="{FF2B5EF4-FFF2-40B4-BE49-F238E27FC236}">
                        <a16:creationId xmlns:a16="http://schemas.microsoft.com/office/drawing/2014/main" id="{C5B007C9-205A-FB4B-BACD-37058D89B1E0}"/>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2" name="グループ化 111">
                    <a:extLst>
                      <a:ext uri="{FF2B5EF4-FFF2-40B4-BE49-F238E27FC236}">
                        <a16:creationId xmlns:a16="http://schemas.microsoft.com/office/drawing/2014/main" id="{DAA1DF4F-2824-A64E-AA02-60556B2C270C}"/>
                      </a:ext>
                    </a:extLst>
                  </p:cNvPr>
                  <p:cNvGrpSpPr/>
                  <p:nvPr/>
                </p:nvGrpSpPr>
                <p:grpSpPr>
                  <a:xfrm>
                    <a:off x="5048817" y="3742563"/>
                    <a:ext cx="1690907" cy="1690907"/>
                    <a:chOff x="6676684" y="4465921"/>
                    <a:chExt cx="1690907" cy="1690907"/>
                  </a:xfrm>
                </p:grpSpPr>
                <p:cxnSp>
                  <p:nvCxnSpPr>
                    <p:cNvPr id="113" name="直線コネクタ 112">
                      <a:extLst>
                        <a:ext uri="{FF2B5EF4-FFF2-40B4-BE49-F238E27FC236}">
                          <a16:creationId xmlns:a16="http://schemas.microsoft.com/office/drawing/2014/main" id="{48DAFDEA-9BBB-F04D-9307-EF3DBC4684B9}"/>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61948189-9C6F-9D4E-8DCB-B6F6085A85D1}"/>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mc:AlternateContent xmlns:mc="http://schemas.openxmlformats.org/markup-compatibility/2006">
            <mc:Choice xmlns:a14="http://schemas.microsoft.com/office/drawing/2010/main" Requires="a14">
              <p:sp>
                <p:nvSpPr>
                  <p:cNvPr id="115" name="角丸四角形吹き出し 114">
                    <a:extLst>
                      <a:ext uri="{FF2B5EF4-FFF2-40B4-BE49-F238E27FC236}">
                        <a16:creationId xmlns:a16="http://schemas.microsoft.com/office/drawing/2014/main" id="{DF804F7B-1772-CB4C-B32E-C261981C040E}"/>
                      </a:ext>
                    </a:extLst>
                  </p:cNvPr>
                  <p:cNvSpPr/>
                  <p:nvPr/>
                </p:nvSpPr>
                <p:spPr>
                  <a:xfrm>
                    <a:off x="7413267" y="3751121"/>
                    <a:ext cx="985278" cy="466765"/>
                  </a:xfrm>
                  <a:prstGeom prst="wedgeRoundRectCallout">
                    <a:avLst>
                      <a:gd name="adj1" fmla="val -35517"/>
                      <a:gd name="adj2" fmla="val 74126"/>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kumimoji="1" lang="en-US" altLang="ja-JP" sz="1600" i="1" smtClean="0">
                            <a:solidFill>
                              <a:schemeClr val="bg1"/>
                            </a:solidFill>
                            <a:latin typeface="Cambria Math" panose="02040503050406030204" pitchFamily="18" charset="0"/>
                          </a:rPr>
                          <m:t>𝛼</m:t>
                        </m:r>
                      </m:oMath>
                    </a14:m>
                    <a:r>
                      <a:rPr kumimoji="1" lang="en-US" altLang="ja-JP" sz="1600" dirty="0">
                        <a:solidFill>
                          <a:schemeClr val="bg1"/>
                        </a:solidFill>
                      </a:rPr>
                      <a:t>=0.45</a:t>
                    </a:r>
                    <a:endParaRPr kumimoji="1" lang="ja-JP" altLang="en-US" sz="1600">
                      <a:solidFill>
                        <a:schemeClr val="bg1"/>
                      </a:solidFill>
                    </a:endParaRPr>
                  </a:p>
                </p:txBody>
              </p:sp>
            </mc:Choice>
            <mc:Fallback>
              <p:sp>
                <p:nvSpPr>
                  <p:cNvPr id="115" name="角丸四角形吹き出し 114">
                    <a:extLst>
                      <a:ext uri="{FF2B5EF4-FFF2-40B4-BE49-F238E27FC236}">
                        <a16:creationId xmlns:a16="http://schemas.microsoft.com/office/drawing/2014/main" id="{DF804F7B-1772-CB4C-B32E-C261981C040E}"/>
                      </a:ext>
                    </a:extLst>
                  </p:cNvPr>
                  <p:cNvSpPr>
                    <a:spLocks noRot="1" noChangeAspect="1" noMove="1" noResize="1" noEditPoints="1" noAdjustHandles="1" noChangeArrowheads="1" noChangeShapeType="1" noTextEdit="1"/>
                  </p:cNvSpPr>
                  <p:nvPr/>
                </p:nvSpPr>
                <p:spPr>
                  <a:xfrm>
                    <a:off x="7413267" y="3751121"/>
                    <a:ext cx="985278" cy="466765"/>
                  </a:xfrm>
                  <a:prstGeom prst="wedgeRoundRectCallout">
                    <a:avLst>
                      <a:gd name="adj1" fmla="val -35517"/>
                      <a:gd name="adj2" fmla="val 74126"/>
                      <a:gd name="adj3" fmla="val 16667"/>
                    </a:avLst>
                  </a:prstGeom>
                  <a:blipFill>
                    <a:blip r:embed="rId9"/>
                    <a:stretch>
                      <a:fillRect/>
                    </a:stretch>
                  </a:blipFill>
                  <a:ln>
                    <a:noFill/>
                  </a:ln>
                </p:spPr>
                <p:txBody>
                  <a:bodyPr/>
                  <a:lstStyle/>
                  <a:p>
                    <a:r>
                      <a:rPr lang="ja-JP" altLang="en-US">
                        <a:noFill/>
                      </a:rPr>
                      <a:t> </a:t>
                    </a:r>
                  </a:p>
                </p:txBody>
              </p:sp>
            </mc:Fallback>
          </mc:AlternateContent>
        </p:grpSp>
      </p:grpSp>
    </p:spTree>
    <p:extLst>
      <p:ext uri="{BB962C8B-B14F-4D97-AF65-F5344CB8AC3E}">
        <p14:creationId xmlns:p14="http://schemas.microsoft.com/office/powerpoint/2010/main" val="3550365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線コネクタ 13">
            <a:extLst>
              <a:ext uri="{FF2B5EF4-FFF2-40B4-BE49-F238E27FC236}">
                <a16:creationId xmlns:a16="http://schemas.microsoft.com/office/drawing/2014/main" id="{38A583E5-632C-C04E-A4EB-2A9A8D8DE70F}"/>
              </a:ext>
            </a:extLst>
          </p:cNvPr>
          <p:cNvCxnSpPr/>
          <p:nvPr/>
        </p:nvCxnSpPr>
        <p:spPr>
          <a:xfrm>
            <a:off x="1778000" y="1278068"/>
            <a:ext cx="0" cy="4673031"/>
          </a:xfrm>
          <a:prstGeom prst="line">
            <a:avLst/>
          </a:prstGeom>
          <a:ln w="381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進捗と今後の予定</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4</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16</a:t>
            </a:fld>
            <a:endParaRPr kumimoji="1" lang="ja-JP" altLang="en-US"/>
          </a:p>
        </p:txBody>
      </p:sp>
      <p:grpSp>
        <p:nvGrpSpPr>
          <p:cNvPr id="10" name="グループ化 9">
            <a:extLst>
              <a:ext uri="{FF2B5EF4-FFF2-40B4-BE49-F238E27FC236}">
                <a16:creationId xmlns:a16="http://schemas.microsoft.com/office/drawing/2014/main" id="{6E5BCDA7-8851-B04C-A261-FD5B76FE3331}"/>
              </a:ext>
            </a:extLst>
          </p:cNvPr>
          <p:cNvGrpSpPr/>
          <p:nvPr/>
        </p:nvGrpSpPr>
        <p:grpSpPr>
          <a:xfrm>
            <a:off x="291698" y="1301792"/>
            <a:ext cx="8560605" cy="531194"/>
            <a:chOff x="-2256266" y="2287272"/>
            <a:chExt cx="7074880" cy="531194"/>
          </a:xfrm>
        </p:grpSpPr>
        <p:sp>
          <p:nvSpPr>
            <p:cNvPr id="40" name="ホームベース 39">
              <a:extLst>
                <a:ext uri="{FF2B5EF4-FFF2-40B4-BE49-F238E27FC236}">
                  <a16:creationId xmlns:a16="http://schemas.microsoft.com/office/drawing/2014/main" id="{79833FCD-3ED0-114C-B0A0-55A51C72D462}"/>
                </a:ext>
              </a:extLst>
            </p:cNvPr>
            <p:cNvSpPr/>
            <p:nvPr/>
          </p:nvSpPr>
          <p:spPr>
            <a:xfrm>
              <a:off x="3205405" y="2287272"/>
              <a:ext cx="1613209" cy="529214"/>
            </a:xfrm>
            <a:prstGeom prst="homePlate">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1</a:t>
              </a:r>
              <a:r>
                <a:rPr kumimoji="1" lang="ja-JP" altLang="en-US" sz="2000"/>
                <a:t>月</a:t>
              </a:r>
            </a:p>
          </p:txBody>
        </p:sp>
        <p:sp>
          <p:nvSpPr>
            <p:cNvPr id="41" name="ホームベース 40">
              <a:extLst>
                <a:ext uri="{FF2B5EF4-FFF2-40B4-BE49-F238E27FC236}">
                  <a16:creationId xmlns:a16="http://schemas.microsoft.com/office/drawing/2014/main" id="{BC525C2C-D8EA-EA45-8080-9DB8875EAD98}"/>
                </a:ext>
              </a:extLst>
            </p:cNvPr>
            <p:cNvSpPr/>
            <p:nvPr/>
          </p:nvSpPr>
          <p:spPr>
            <a:xfrm>
              <a:off x="1821986" y="2287272"/>
              <a:ext cx="1613209" cy="529214"/>
            </a:xfrm>
            <a:prstGeom prst="homePlate">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12</a:t>
              </a:r>
              <a:r>
                <a:rPr kumimoji="1" lang="ja-JP" altLang="en-US" sz="2000"/>
                <a:t>月</a:t>
              </a:r>
            </a:p>
          </p:txBody>
        </p:sp>
        <p:sp>
          <p:nvSpPr>
            <p:cNvPr id="39" name="ホームベース 38">
              <a:extLst>
                <a:ext uri="{FF2B5EF4-FFF2-40B4-BE49-F238E27FC236}">
                  <a16:creationId xmlns:a16="http://schemas.microsoft.com/office/drawing/2014/main" id="{0EED0505-5BB0-E14B-9650-68A7C4B31A54}"/>
                </a:ext>
              </a:extLst>
            </p:cNvPr>
            <p:cNvSpPr/>
            <p:nvPr/>
          </p:nvSpPr>
          <p:spPr>
            <a:xfrm>
              <a:off x="517123" y="2287272"/>
              <a:ext cx="1613209" cy="529214"/>
            </a:xfrm>
            <a:prstGeom prst="homePlate">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11</a:t>
              </a:r>
              <a:r>
                <a:rPr kumimoji="1" lang="ja-JP" altLang="en-US" sz="2000"/>
                <a:t>月</a:t>
              </a:r>
            </a:p>
          </p:txBody>
        </p:sp>
        <p:sp>
          <p:nvSpPr>
            <p:cNvPr id="38" name="ホームベース 37">
              <a:extLst>
                <a:ext uri="{FF2B5EF4-FFF2-40B4-BE49-F238E27FC236}">
                  <a16:creationId xmlns:a16="http://schemas.microsoft.com/office/drawing/2014/main" id="{ECBCC2D1-36DD-E440-9126-67F2B8A346ED}"/>
                </a:ext>
              </a:extLst>
            </p:cNvPr>
            <p:cNvSpPr/>
            <p:nvPr/>
          </p:nvSpPr>
          <p:spPr>
            <a:xfrm>
              <a:off x="-866296" y="2287272"/>
              <a:ext cx="1613209" cy="529214"/>
            </a:xfrm>
            <a:prstGeom prst="homePlate">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10</a:t>
              </a:r>
              <a:r>
                <a:rPr kumimoji="1" lang="ja-JP" altLang="en-US" sz="2000"/>
                <a:t>月</a:t>
              </a:r>
            </a:p>
          </p:txBody>
        </p:sp>
        <p:sp>
          <p:nvSpPr>
            <p:cNvPr id="9" name="ホームベース 8">
              <a:extLst>
                <a:ext uri="{FF2B5EF4-FFF2-40B4-BE49-F238E27FC236}">
                  <a16:creationId xmlns:a16="http://schemas.microsoft.com/office/drawing/2014/main" id="{68FB54A5-0CB0-464C-BFA1-8E94BA6ACA3B}"/>
                </a:ext>
              </a:extLst>
            </p:cNvPr>
            <p:cNvSpPr/>
            <p:nvPr/>
          </p:nvSpPr>
          <p:spPr>
            <a:xfrm>
              <a:off x="-2256266" y="2289252"/>
              <a:ext cx="1613209" cy="529214"/>
            </a:xfrm>
            <a:prstGeom prst="homePlate">
              <a:avLst/>
            </a:pr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9</a:t>
              </a:r>
              <a:r>
                <a:rPr kumimoji="1" lang="ja-JP" altLang="en-US" sz="2000"/>
                <a:t>月</a:t>
              </a:r>
            </a:p>
          </p:txBody>
        </p:sp>
      </p:grpSp>
      <p:sp>
        <p:nvSpPr>
          <p:cNvPr id="42" name="ホームベース 41">
            <a:extLst>
              <a:ext uri="{FF2B5EF4-FFF2-40B4-BE49-F238E27FC236}">
                <a16:creationId xmlns:a16="http://schemas.microsoft.com/office/drawing/2014/main" id="{6C45C5AB-508F-E543-80DC-797A820A5C3F}"/>
              </a:ext>
            </a:extLst>
          </p:cNvPr>
          <p:cNvSpPr/>
          <p:nvPr/>
        </p:nvSpPr>
        <p:spPr>
          <a:xfrm>
            <a:off x="306956" y="2004093"/>
            <a:ext cx="2931544" cy="1009934"/>
          </a:xfrm>
          <a:prstGeom prst="homePlat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a:t>エージェントの実装</a:t>
            </a:r>
          </a:p>
        </p:txBody>
      </p:sp>
      <p:sp>
        <p:nvSpPr>
          <p:cNvPr id="43" name="ホームベース 42">
            <a:extLst>
              <a:ext uri="{FF2B5EF4-FFF2-40B4-BE49-F238E27FC236}">
                <a16:creationId xmlns:a16="http://schemas.microsoft.com/office/drawing/2014/main" id="{6678CFD6-D309-EA48-A6B3-5798BC13C2EF}"/>
              </a:ext>
            </a:extLst>
          </p:cNvPr>
          <p:cNvSpPr/>
          <p:nvPr/>
        </p:nvSpPr>
        <p:spPr>
          <a:xfrm>
            <a:off x="2288271" y="3129001"/>
            <a:ext cx="1951983" cy="1009934"/>
          </a:xfrm>
          <a:prstGeom prst="homePlat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a:t>実験準備</a:t>
            </a:r>
          </a:p>
        </p:txBody>
      </p:sp>
      <p:sp>
        <p:nvSpPr>
          <p:cNvPr id="44" name="ホームベース 43">
            <a:extLst>
              <a:ext uri="{FF2B5EF4-FFF2-40B4-BE49-F238E27FC236}">
                <a16:creationId xmlns:a16="http://schemas.microsoft.com/office/drawing/2014/main" id="{08B1994B-C84E-9A46-AA3B-A685000818E9}"/>
              </a:ext>
            </a:extLst>
          </p:cNvPr>
          <p:cNvSpPr/>
          <p:nvPr/>
        </p:nvSpPr>
        <p:spPr>
          <a:xfrm>
            <a:off x="5637315" y="5381033"/>
            <a:ext cx="3082102" cy="1009934"/>
          </a:xfrm>
          <a:prstGeom prst="homePlat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a:t>論文の執筆</a:t>
            </a:r>
          </a:p>
        </p:txBody>
      </p:sp>
      <p:sp>
        <p:nvSpPr>
          <p:cNvPr id="45" name="ホームベース 44">
            <a:extLst>
              <a:ext uri="{FF2B5EF4-FFF2-40B4-BE49-F238E27FC236}">
                <a16:creationId xmlns:a16="http://schemas.microsoft.com/office/drawing/2014/main" id="{961ACA45-B94C-6148-A287-385840CC3BBF}"/>
              </a:ext>
            </a:extLst>
          </p:cNvPr>
          <p:cNvSpPr/>
          <p:nvPr/>
        </p:nvSpPr>
        <p:spPr>
          <a:xfrm>
            <a:off x="4240254" y="4253909"/>
            <a:ext cx="2171700" cy="1009934"/>
          </a:xfrm>
          <a:prstGeom prst="homePlate">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a:t>評価実験</a:t>
            </a:r>
          </a:p>
        </p:txBody>
      </p:sp>
      <p:sp>
        <p:nvSpPr>
          <p:cNvPr id="15" name="テキスト ボックス 14">
            <a:extLst>
              <a:ext uri="{FF2B5EF4-FFF2-40B4-BE49-F238E27FC236}">
                <a16:creationId xmlns:a16="http://schemas.microsoft.com/office/drawing/2014/main" id="{E04A15F9-03A8-1F4C-B563-A749F79F3E7D}"/>
              </a:ext>
            </a:extLst>
          </p:cNvPr>
          <p:cNvSpPr txBox="1"/>
          <p:nvPr/>
        </p:nvSpPr>
        <p:spPr>
          <a:xfrm>
            <a:off x="1454834" y="5983998"/>
            <a:ext cx="646331" cy="369332"/>
          </a:xfrm>
          <a:prstGeom prst="rect">
            <a:avLst/>
          </a:prstGeom>
          <a:noFill/>
        </p:spPr>
        <p:txBody>
          <a:bodyPr wrap="none" rtlCol="0">
            <a:spAutoFit/>
          </a:bodyPr>
          <a:lstStyle/>
          <a:p>
            <a:r>
              <a:rPr kumimoji="1" lang="ja-JP" altLang="en-US"/>
              <a:t>現在</a:t>
            </a:r>
          </a:p>
        </p:txBody>
      </p:sp>
      <p:sp>
        <p:nvSpPr>
          <p:cNvPr id="16" name="角丸四角形吹き出し 15">
            <a:extLst>
              <a:ext uri="{FF2B5EF4-FFF2-40B4-BE49-F238E27FC236}">
                <a16:creationId xmlns:a16="http://schemas.microsoft.com/office/drawing/2014/main" id="{254C0DB9-39B0-3649-A39A-3230FBD2CC0D}"/>
              </a:ext>
            </a:extLst>
          </p:cNvPr>
          <p:cNvSpPr/>
          <p:nvPr/>
        </p:nvSpPr>
        <p:spPr>
          <a:xfrm>
            <a:off x="5981702" y="2604091"/>
            <a:ext cx="2415848" cy="1591223"/>
          </a:xfrm>
          <a:prstGeom prst="wedgeRoundRectCallout">
            <a:avLst>
              <a:gd name="adj1" fmla="val -37769"/>
              <a:gd name="adj2" fmla="val 64500"/>
              <a:gd name="adj3" fmla="val 166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t>・個人効用</a:t>
            </a:r>
            <a:endParaRPr kumimoji="1" lang="en-US" altLang="ja-JP" dirty="0"/>
          </a:p>
          <a:p>
            <a:r>
              <a:rPr kumimoji="1" lang="ja-JP" altLang="en-US"/>
              <a:t>・社会的余剰</a:t>
            </a:r>
            <a:endParaRPr kumimoji="1" lang="en-US" altLang="ja-JP" dirty="0"/>
          </a:p>
          <a:p>
            <a:r>
              <a:rPr kumimoji="1" lang="ja-JP" altLang="en-US"/>
              <a:t>・関係構築の度合い</a:t>
            </a:r>
            <a:endParaRPr kumimoji="1" lang="en-US" altLang="ja-JP" dirty="0"/>
          </a:p>
          <a:p>
            <a:r>
              <a:rPr kumimoji="1" lang="ja-JP" altLang="en-US"/>
              <a:t>・各指標の妥当性</a:t>
            </a:r>
            <a:endParaRPr kumimoji="1" lang="en-US" altLang="ja-JP" dirty="0"/>
          </a:p>
          <a:p>
            <a:r>
              <a:rPr kumimoji="1" lang="ja-JP" altLang="en-US"/>
              <a:t>などを測る</a:t>
            </a:r>
            <a:endParaRPr kumimoji="1" lang="en-US" altLang="ja-JP" dirty="0"/>
          </a:p>
        </p:txBody>
      </p:sp>
    </p:spTree>
    <p:extLst>
      <p:ext uri="{BB962C8B-B14F-4D97-AF65-F5344CB8AC3E}">
        <p14:creationId xmlns:p14="http://schemas.microsoft.com/office/powerpoint/2010/main" val="1997684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83047E2-D336-B448-BEF5-FE54B4094495}"/>
              </a:ext>
            </a:extLst>
          </p:cNvPr>
          <p:cNvSpPr>
            <a:spLocks noGrp="1"/>
          </p:cNvSpPr>
          <p:nvPr>
            <p:ph idx="1"/>
          </p:nvPr>
        </p:nvSpPr>
        <p:spPr/>
        <p:txBody>
          <a:bodyPr/>
          <a:lstStyle/>
          <a:p>
            <a:r>
              <a:rPr lang="ja-JP" altLang="en-US"/>
              <a:t>はじめに</a:t>
            </a:r>
            <a:endParaRPr lang="en-US" altLang="ja-JP" dirty="0"/>
          </a:p>
          <a:p>
            <a:r>
              <a:rPr lang="ja-JP" altLang="en-US"/>
              <a:t>関連研究</a:t>
            </a:r>
            <a:endParaRPr lang="en-US" altLang="ja-JP" dirty="0"/>
          </a:p>
          <a:p>
            <a:r>
              <a:rPr lang="ja-JP" altLang="en-US"/>
              <a:t>問題設定</a:t>
            </a:r>
            <a:endParaRPr lang="en-US" altLang="ja-JP" dirty="0"/>
          </a:p>
          <a:p>
            <a:r>
              <a:rPr lang="ja-JP" altLang="en-US"/>
              <a:t>提案手法</a:t>
            </a:r>
            <a:endParaRPr lang="en-US" altLang="ja-JP" dirty="0"/>
          </a:p>
          <a:p>
            <a:r>
              <a:rPr lang="ja-JP" altLang="en-US"/>
              <a:t>評価実験</a:t>
            </a:r>
            <a:endParaRPr lang="en-US" altLang="ja-JP" dirty="0"/>
          </a:p>
          <a:p>
            <a:r>
              <a:rPr lang="ja-JP" altLang="en-US"/>
              <a:t>おわりに</a:t>
            </a:r>
          </a:p>
          <a:p>
            <a:pPr marL="0" indent="0">
              <a:buNone/>
            </a:pPr>
            <a:endParaRPr kumimoji="1" lang="ja-JP" altLang="en-US"/>
          </a:p>
        </p:txBody>
      </p:sp>
      <p:sp>
        <p:nvSpPr>
          <p:cNvPr id="3" name="日付プレースホルダー 2">
            <a:extLst>
              <a:ext uri="{FF2B5EF4-FFF2-40B4-BE49-F238E27FC236}">
                <a16:creationId xmlns:a16="http://schemas.microsoft.com/office/drawing/2014/main" id="{74C4B1DD-0219-B04F-A14F-AB60FD582D8D}"/>
              </a:ext>
            </a:extLst>
          </p:cNvPr>
          <p:cNvSpPr>
            <a:spLocks noGrp="1"/>
          </p:cNvSpPr>
          <p:nvPr>
            <p:ph type="dt" sz="half" idx="10"/>
          </p:nvPr>
        </p:nvSpPr>
        <p:spPr/>
        <p:txBody>
          <a:bodyPr/>
          <a:lstStyle/>
          <a:p>
            <a:fld id="{D1BF386A-4BF3-3E41-B657-D59D7E5F918D}"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26836B9B-A69C-754C-B781-AF40AFE67FCF}"/>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BB20B32-09A9-3E41-B421-F9ED2DA5A5B1}"/>
              </a:ext>
            </a:extLst>
          </p:cNvPr>
          <p:cNvSpPr>
            <a:spLocks noGrp="1"/>
          </p:cNvSpPr>
          <p:nvPr>
            <p:ph type="body" sz="quarter" idx="13"/>
          </p:nvPr>
        </p:nvSpPr>
        <p:spPr/>
        <p:txBody>
          <a:bodyPr/>
          <a:lstStyle/>
          <a:p>
            <a:r>
              <a:rPr kumimoji="1" lang="ja-JP" altLang="en-US"/>
              <a:t>目次案</a:t>
            </a:r>
          </a:p>
        </p:txBody>
      </p:sp>
      <p:sp>
        <p:nvSpPr>
          <p:cNvPr id="6" name="テキスト プレースホルダー 5">
            <a:extLst>
              <a:ext uri="{FF2B5EF4-FFF2-40B4-BE49-F238E27FC236}">
                <a16:creationId xmlns:a16="http://schemas.microsoft.com/office/drawing/2014/main" id="{10676881-E4A5-074C-BCAA-A693D377C527}"/>
              </a:ext>
            </a:extLst>
          </p:cNvPr>
          <p:cNvSpPr>
            <a:spLocks noGrp="1"/>
          </p:cNvSpPr>
          <p:nvPr>
            <p:ph type="body" sz="quarter" idx="14"/>
          </p:nvPr>
        </p:nvSpPr>
        <p:spPr/>
        <p:txBody>
          <a:bodyPr>
            <a:normAutofit lnSpcReduction="10000"/>
          </a:bodyPr>
          <a:lstStyle/>
          <a:p>
            <a:r>
              <a:rPr lang="en-US" altLang="ja-JP" dirty="0"/>
              <a:t>5</a:t>
            </a:r>
            <a:endParaRPr kumimoji="1" lang="ja-JP" altLang="en-US"/>
          </a:p>
        </p:txBody>
      </p:sp>
      <p:sp>
        <p:nvSpPr>
          <p:cNvPr id="7" name="スライド番号プレースホルダー 6">
            <a:extLst>
              <a:ext uri="{FF2B5EF4-FFF2-40B4-BE49-F238E27FC236}">
                <a16:creationId xmlns:a16="http://schemas.microsoft.com/office/drawing/2014/main" id="{049B6989-902D-1B47-8F2C-951D7F7EE980}"/>
              </a:ext>
            </a:extLst>
          </p:cNvPr>
          <p:cNvSpPr>
            <a:spLocks noGrp="1"/>
          </p:cNvSpPr>
          <p:nvPr>
            <p:ph type="sldNum" sz="quarter" idx="12"/>
          </p:nvPr>
        </p:nvSpPr>
        <p:spPr/>
        <p:txBody>
          <a:bodyPr/>
          <a:lstStyle/>
          <a:p>
            <a:fld id="{89D00F25-B0B7-304F-9AB7-5986EFE77769}" type="slidenum">
              <a:rPr kumimoji="1" lang="ja-JP" altLang="en-US" smtClean="0"/>
              <a:t>17</a:t>
            </a:fld>
            <a:endParaRPr kumimoji="1" lang="ja-JP" altLang="en-US"/>
          </a:p>
        </p:txBody>
      </p:sp>
    </p:spTree>
    <p:extLst>
      <p:ext uri="{BB962C8B-B14F-4D97-AF65-F5344CB8AC3E}">
        <p14:creationId xmlns:p14="http://schemas.microsoft.com/office/powerpoint/2010/main" val="2616007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3B10191-EFAB-7D4E-9027-DD409DE1B19C}"/>
              </a:ext>
            </a:extLst>
          </p:cNvPr>
          <p:cNvSpPr>
            <a:spLocks noGrp="1"/>
          </p:cNvSpPr>
          <p:nvPr>
            <p:ph idx="1"/>
          </p:nvPr>
        </p:nvSpPr>
        <p:spPr>
          <a:xfrm>
            <a:off x="364051" y="1698509"/>
            <a:ext cx="8661196" cy="4351338"/>
          </a:xfrm>
        </p:spPr>
        <p:txBody>
          <a:bodyPr/>
          <a:lstStyle/>
          <a:p>
            <a:r>
              <a:rPr lang="ja-JP" altLang="en-US"/>
              <a:t>相手の提案内容に応じて</a:t>
            </a:r>
            <a:r>
              <a:rPr lang="ja-JP" altLang="en-US">
                <a:solidFill>
                  <a:schemeClr val="accent2"/>
                </a:solidFill>
              </a:rPr>
              <a:t>相手をカテゴリ分け</a:t>
            </a:r>
            <a:r>
              <a:rPr lang="ja-JP" altLang="en-US"/>
              <a:t>する</a:t>
            </a:r>
            <a:br>
              <a:rPr lang="en-US" altLang="ja-JP" dirty="0"/>
            </a:br>
            <a:r>
              <a:rPr lang="ja-JP" altLang="en-US"/>
              <a:t>戦略は効果が高い</a:t>
            </a:r>
            <a:endParaRPr kumimoji="1" lang="ja-JP" altLang="en-US"/>
          </a:p>
        </p:txBody>
      </p:sp>
      <p:sp>
        <p:nvSpPr>
          <p:cNvPr id="3" name="日付プレースホルダー 2">
            <a:extLst>
              <a:ext uri="{FF2B5EF4-FFF2-40B4-BE49-F238E27FC236}">
                <a16:creationId xmlns:a16="http://schemas.microsoft.com/office/drawing/2014/main" id="{595267C7-9ABE-1E48-9216-63C25872BA2C}"/>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71E12B81-325A-1B42-97E4-0CE6879B11BB}"/>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3486A8F7-4974-764D-BFFD-8184F1010C86}"/>
              </a:ext>
            </a:extLst>
          </p:cNvPr>
          <p:cNvSpPr>
            <a:spLocks noGrp="1"/>
          </p:cNvSpPr>
          <p:nvPr>
            <p:ph type="body" sz="quarter" idx="13"/>
          </p:nvPr>
        </p:nvSpPr>
        <p:spPr/>
        <p:txBody>
          <a:bodyPr/>
          <a:lstStyle/>
          <a:p>
            <a:r>
              <a:rPr kumimoji="1" lang="ja-JP" altLang="en-US"/>
              <a:t>おわりに</a:t>
            </a:r>
          </a:p>
        </p:txBody>
      </p:sp>
      <p:sp>
        <p:nvSpPr>
          <p:cNvPr id="6" name="テキスト プレースホルダー 5">
            <a:extLst>
              <a:ext uri="{FF2B5EF4-FFF2-40B4-BE49-F238E27FC236}">
                <a16:creationId xmlns:a16="http://schemas.microsoft.com/office/drawing/2014/main" id="{4CBDB4AC-9217-7640-AFB5-EF7790D7FCD8}"/>
              </a:ext>
            </a:extLst>
          </p:cNvPr>
          <p:cNvSpPr>
            <a:spLocks noGrp="1"/>
          </p:cNvSpPr>
          <p:nvPr>
            <p:ph type="body" sz="quarter" idx="14"/>
          </p:nvPr>
        </p:nvSpPr>
        <p:spPr/>
        <p:txBody>
          <a:bodyPr>
            <a:normAutofit lnSpcReduction="10000"/>
          </a:bodyPr>
          <a:lstStyle/>
          <a:p>
            <a:r>
              <a:rPr kumimoji="1" lang="en-US" altLang="ja-JP" dirty="0"/>
              <a:t>6</a:t>
            </a:r>
            <a:endParaRPr kumimoji="1" lang="ja-JP" altLang="en-US"/>
          </a:p>
        </p:txBody>
      </p:sp>
      <p:sp>
        <p:nvSpPr>
          <p:cNvPr id="7" name="スライド番号プレースホルダー 6">
            <a:extLst>
              <a:ext uri="{FF2B5EF4-FFF2-40B4-BE49-F238E27FC236}">
                <a16:creationId xmlns:a16="http://schemas.microsoft.com/office/drawing/2014/main" id="{DD3227AF-599C-C346-B694-961A805DF35C}"/>
              </a:ext>
            </a:extLst>
          </p:cNvPr>
          <p:cNvSpPr>
            <a:spLocks noGrp="1"/>
          </p:cNvSpPr>
          <p:nvPr>
            <p:ph type="sldNum" sz="quarter" idx="12"/>
          </p:nvPr>
        </p:nvSpPr>
        <p:spPr/>
        <p:txBody>
          <a:bodyPr/>
          <a:lstStyle/>
          <a:p>
            <a:fld id="{89D00F25-B0B7-304F-9AB7-5986EFE77769}" type="slidenum">
              <a:rPr kumimoji="1" lang="ja-JP" altLang="en-US" smtClean="0"/>
              <a:t>18</a:t>
            </a:fld>
            <a:endParaRPr kumimoji="1" lang="ja-JP" altLang="en-US"/>
          </a:p>
        </p:txBody>
      </p:sp>
      <p:sp>
        <p:nvSpPr>
          <p:cNvPr id="8" name="テキスト プレースホルダー 7">
            <a:extLst>
              <a:ext uri="{FF2B5EF4-FFF2-40B4-BE49-F238E27FC236}">
                <a16:creationId xmlns:a16="http://schemas.microsoft.com/office/drawing/2014/main" id="{5CC96C56-A0CD-F343-92B3-D8685AA8EB4F}"/>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grpSp>
        <p:nvGrpSpPr>
          <p:cNvPr id="9" name="グループ化 8">
            <a:extLst>
              <a:ext uri="{FF2B5EF4-FFF2-40B4-BE49-F238E27FC236}">
                <a16:creationId xmlns:a16="http://schemas.microsoft.com/office/drawing/2014/main" id="{A99C5BAB-5241-3B44-93DD-485884630B5E}"/>
              </a:ext>
            </a:extLst>
          </p:cNvPr>
          <p:cNvGrpSpPr/>
          <p:nvPr/>
        </p:nvGrpSpPr>
        <p:grpSpPr>
          <a:xfrm>
            <a:off x="143915" y="1384215"/>
            <a:ext cx="1018135" cy="244800"/>
            <a:chOff x="143915" y="1384215"/>
            <a:chExt cx="1018135" cy="244800"/>
          </a:xfrm>
        </p:grpSpPr>
        <p:cxnSp>
          <p:nvCxnSpPr>
            <p:cNvPr id="10" name="直線コネクタ 9">
              <a:extLst>
                <a:ext uri="{FF2B5EF4-FFF2-40B4-BE49-F238E27FC236}">
                  <a16:creationId xmlns:a16="http://schemas.microsoft.com/office/drawing/2014/main" id="{90F8A8CF-CBDC-ED4B-9EE6-863F0954D311}"/>
                </a:ext>
              </a:extLst>
            </p:cNvPr>
            <p:cNvCxnSpPr>
              <a:cxnSpLocks/>
            </p:cNvCxnSpPr>
            <p:nvPr userDrawn="1"/>
          </p:nvCxnSpPr>
          <p:spPr>
            <a:xfrm>
              <a:off x="364660" y="1607575"/>
              <a:ext cx="79739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 name="フリーフォーム 10">
              <a:extLst>
                <a:ext uri="{FF2B5EF4-FFF2-40B4-BE49-F238E27FC236}">
                  <a16:creationId xmlns:a16="http://schemas.microsoft.com/office/drawing/2014/main" id="{559994B8-7051-A045-BE12-AF86BADB0669}"/>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2" name="グループ化 11">
            <a:extLst>
              <a:ext uri="{FF2B5EF4-FFF2-40B4-BE49-F238E27FC236}">
                <a16:creationId xmlns:a16="http://schemas.microsoft.com/office/drawing/2014/main" id="{BD3FEDA0-9141-734A-A9CB-FE30334C9ECE}"/>
              </a:ext>
            </a:extLst>
          </p:cNvPr>
          <p:cNvGrpSpPr/>
          <p:nvPr/>
        </p:nvGrpSpPr>
        <p:grpSpPr>
          <a:xfrm flipH="1" flipV="1">
            <a:off x="358775" y="1022350"/>
            <a:ext cx="1057649" cy="244800"/>
            <a:chOff x="143915" y="1377865"/>
            <a:chExt cx="1057649" cy="244800"/>
          </a:xfrm>
        </p:grpSpPr>
        <p:cxnSp>
          <p:nvCxnSpPr>
            <p:cNvPr id="13" name="直線コネクタ 12">
              <a:extLst>
                <a:ext uri="{FF2B5EF4-FFF2-40B4-BE49-F238E27FC236}">
                  <a16:creationId xmlns:a16="http://schemas.microsoft.com/office/drawing/2014/main" id="{2B25B3A7-7DD9-2249-8DD8-94A3D9B7EABB}"/>
                </a:ext>
              </a:extLst>
            </p:cNvPr>
            <p:cNvCxnSpPr>
              <a:cxnSpLocks/>
            </p:cNvCxnSpPr>
            <p:nvPr userDrawn="1"/>
          </p:nvCxnSpPr>
          <p:spPr>
            <a:xfrm flipV="1">
              <a:off x="364659" y="1607575"/>
              <a:ext cx="83690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フリーフォーム 13">
              <a:extLst>
                <a:ext uri="{FF2B5EF4-FFF2-40B4-BE49-F238E27FC236}">
                  <a16:creationId xmlns:a16="http://schemas.microsoft.com/office/drawing/2014/main" id="{5E5F9340-BAF0-A243-ADB6-F72A71809F33}"/>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22" name="コンテンツ プレースホルダー 1">
            <a:extLst>
              <a:ext uri="{FF2B5EF4-FFF2-40B4-BE49-F238E27FC236}">
                <a16:creationId xmlns:a16="http://schemas.microsoft.com/office/drawing/2014/main" id="{6CE3E528-2057-2D41-AE6C-2FB617B6F52A}"/>
              </a:ext>
            </a:extLst>
          </p:cNvPr>
          <p:cNvSpPr txBox="1">
            <a:spLocks/>
          </p:cNvSpPr>
          <p:nvPr/>
        </p:nvSpPr>
        <p:spPr>
          <a:xfrm>
            <a:off x="364050" y="3325430"/>
            <a:ext cx="8779949" cy="4351338"/>
          </a:xfrm>
          <a:prstGeom prst="rect">
            <a:avLst/>
          </a:prstGeom>
        </p:spPr>
        <p:txBody>
          <a:bodyPr vert="horz" lIns="91440" tIns="45720" rIns="91440" bIns="45720" rtlCol="0">
            <a:normAutofit/>
          </a:bodyPr>
          <a:lstStyle>
            <a:lvl1pPr marL="311150" indent="-311150" algn="l" defTabSz="914400" rtl="0" eaLnBrk="1" latinLnBrk="0" hangingPunct="1">
              <a:lnSpc>
                <a:spcPct val="90000"/>
              </a:lnSpc>
              <a:spcBef>
                <a:spcPts val="1000"/>
              </a:spcBef>
              <a:buSzPct val="90000"/>
              <a:buFontTx/>
              <a:buBlip>
                <a:blip r:embed="rId2"/>
              </a:buBlip>
              <a:tabLst/>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4"/>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人間の特徴をより具体的に評価できる指標が必要</a:t>
            </a:r>
          </a:p>
        </p:txBody>
      </p:sp>
      <p:sp>
        <p:nvSpPr>
          <p:cNvPr id="23" name="テキスト プレースホルダー 7">
            <a:extLst>
              <a:ext uri="{FF2B5EF4-FFF2-40B4-BE49-F238E27FC236}">
                <a16:creationId xmlns:a16="http://schemas.microsoft.com/office/drawing/2014/main" id="{89130A96-4E04-324D-8D99-8297FF22A0D5}"/>
              </a:ext>
            </a:extLst>
          </p:cNvPr>
          <p:cNvSpPr txBox="1">
            <a:spLocks/>
          </p:cNvSpPr>
          <p:nvPr/>
        </p:nvSpPr>
        <p:spPr>
          <a:xfrm>
            <a:off x="262816" y="2712796"/>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4" name="グループ化 23">
            <a:extLst>
              <a:ext uri="{FF2B5EF4-FFF2-40B4-BE49-F238E27FC236}">
                <a16:creationId xmlns:a16="http://schemas.microsoft.com/office/drawing/2014/main" id="{2E953762-F215-DF40-B9FD-873F76C76B9E}"/>
              </a:ext>
            </a:extLst>
          </p:cNvPr>
          <p:cNvGrpSpPr/>
          <p:nvPr/>
        </p:nvGrpSpPr>
        <p:grpSpPr>
          <a:xfrm flipH="1" flipV="1">
            <a:off x="358775" y="2647072"/>
            <a:ext cx="3438899" cy="244800"/>
            <a:chOff x="143915" y="1377865"/>
            <a:chExt cx="3438899" cy="244800"/>
          </a:xfrm>
        </p:grpSpPr>
        <p:cxnSp>
          <p:nvCxnSpPr>
            <p:cNvPr id="25" name="直線コネクタ 24">
              <a:extLst>
                <a:ext uri="{FF2B5EF4-FFF2-40B4-BE49-F238E27FC236}">
                  <a16:creationId xmlns:a16="http://schemas.microsoft.com/office/drawing/2014/main" id="{A0AF83FC-F0E0-6247-BF69-6F8632723E02}"/>
                </a:ext>
              </a:extLst>
            </p:cNvPr>
            <p:cNvCxnSpPr>
              <a:cxnSpLocks/>
            </p:cNvCxnSpPr>
            <p:nvPr userDrawn="1"/>
          </p:nvCxnSpPr>
          <p:spPr>
            <a:xfrm flipV="1">
              <a:off x="364657" y="1607575"/>
              <a:ext cx="321815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6" name="フリーフォーム 25">
              <a:extLst>
                <a:ext uri="{FF2B5EF4-FFF2-40B4-BE49-F238E27FC236}">
                  <a16:creationId xmlns:a16="http://schemas.microsoft.com/office/drawing/2014/main" id="{4DADA905-7E81-B040-9299-A9737DC473DB}"/>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7" name="グループ化 26">
            <a:extLst>
              <a:ext uri="{FF2B5EF4-FFF2-40B4-BE49-F238E27FC236}">
                <a16:creationId xmlns:a16="http://schemas.microsoft.com/office/drawing/2014/main" id="{B49F5848-423F-9245-B64E-954E9846B82B}"/>
              </a:ext>
            </a:extLst>
          </p:cNvPr>
          <p:cNvGrpSpPr/>
          <p:nvPr/>
        </p:nvGrpSpPr>
        <p:grpSpPr>
          <a:xfrm>
            <a:off x="140729" y="3011136"/>
            <a:ext cx="3436203" cy="244800"/>
            <a:chOff x="143915" y="1384215"/>
            <a:chExt cx="3436203" cy="244800"/>
          </a:xfrm>
        </p:grpSpPr>
        <p:cxnSp>
          <p:nvCxnSpPr>
            <p:cNvPr id="28" name="直線コネクタ 27">
              <a:extLst>
                <a:ext uri="{FF2B5EF4-FFF2-40B4-BE49-F238E27FC236}">
                  <a16:creationId xmlns:a16="http://schemas.microsoft.com/office/drawing/2014/main" id="{A37DAE8D-DD26-BF4D-A714-112076D0325F}"/>
                </a:ext>
              </a:extLst>
            </p:cNvPr>
            <p:cNvCxnSpPr>
              <a:cxnSpLocks/>
            </p:cNvCxnSpPr>
            <p:nvPr userDrawn="1"/>
          </p:nvCxnSpPr>
          <p:spPr>
            <a:xfrm>
              <a:off x="364660" y="1607575"/>
              <a:ext cx="3215458"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9" name="フリーフォーム 28">
              <a:extLst>
                <a:ext uri="{FF2B5EF4-FFF2-40B4-BE49-F238E27FC236}">
                  <a16:creationId xmlns:a16="http://schemas.microsoft.com/office/drawing/2014/main" id="{8DACA9D0-296B-1440-B96D-911E57D4CA93}"/>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30" name="コンテンツ プレースホルダー 1">
            <a:extLst>
              <a:ext uri="{FF2B5EF4-FFF2-40B4-BE49-F238E27FC236}">
                <a16:creationId xmlns:a16="http://schemas.microsoft.com/office/drawing/2014/main" id="{739EA3BC-0ECA-A648-8F61-1A5DBB4641FF}"/>
              </a:ext>
            </a:extLst>
          </p:cNvPr>
          <p:cNvSpPr txBox="1">
            <a:spLocks/>
          </p:cNvSpPr>
          <p:nvPr/>
        </p:nvSpPr>
        <p:spPr>
          <a:xfrm>
            <a:off x="358775" y="5080962"/>
            <a:ext cx="8779949" cy="4351338"/>
          </a:xfrm>
          <a:prstGeom prst="rect">
            <a:avLst/>
          </a:prstGeom>
        </p:spPr>
        <p:txBody>
          <a:bodyPr vert="horz" lIns="91440" tIns="45720" rIns="91440" bIns="45720" rtlCol="0">
            <a:normAutofit/>
          </a:bodyPr>
          <a:lstStyle>
            <a:lvl1pPr marL="311150" indent="-311150" algn="l" defTabSz="914400" rtl="0" eaLnBrk="1" latinLnBrk="0" hangingPunct="1">
              <a:lnSpc>
                <a:spcPct val="90000"/>
              </a:lnSpc>
              <a:spcBef>
                <a:spcPts val="1000"/>
              </a:spcBef>
              <a:buSzPct val="90000"/>
              <a:buFontTx/>
              <a:buBlip>
                <a:blip r:embed="rId2"/>
              </a:buBlip>
              <a:tabLst/>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4"/>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相手の</a:t>
            </a:r>
            <a:r>
              <a:rPr lang="en-US" altLang="ja-JP" dirty="0"/>
              <a:t>offer</a:t>
            </a:r>
            <a:r>
              <a:rPr lang="ja-JP" altLang="en-US"/>
              <a:t>内容・行動などから相手の</a:t>
            </a:r>
            <a:r>
              <a:rPr lang="ja-JP" altLang="en-US">
                <a:solidFill>
                  <a:schemeClr val="accent1"/>
                </a:solidFill>
              </a:rPr>
              <a:t>特性を推定</a:t>
            </a:r>
            <a:endParaRPr lang="en-US" altLang="ja-JP" dirty="0">
              <a:solidFill>
                <a:schemeClr val="accent1"/>
              </a:solidFill>
            </a:endParaRPr>
          </a:p>
          <a:p>
            <a:r>
              <a:rPr lang="ja-JP" altLang="en-US"/>
              <a:t>相手の特性に応じて戦略を決定し</a:t>
            </a:r>
            <a:r>
              <a:rPr lang="ja-JP" altLang="en-US">
                <a:solidFill>
                  <a:schemeClr val="accent2"/>
                </a:solidFill>
              </a:rPr>
              <a:t>譲歩速度などを変更</a:t>
            </a:r>
            <a:endParaRPr lang="en-US" altLang="ja-JP" dirty="0">
              <a:solidFill>
                <a:schemeClr val="accent2"/>
              </a:solidFill>
            </a:endParaRPr>
          </a:p>
          <a:p>
            <a:pPr lvl="1"/>
            <a:r>
              <a:rPr lang="en-US" altLang="ja-JP" dirty="0">
                <a:solidFill>
                  <a:schemeClr val="accent1"/>
                </a:solidFill>
              </a:rPr>
              <a:t>TKI</a:t>
            </a:r>
            <a:r>
              <a:rPr lang="ja-JP" altLang="en-US"/>
              <a:t>・</a:t>
            </a:r>
            <a:r>
              <a:rPr lang="ja-JP" altLang="en-US">
                <a:solidFill>
                  <a:schemeClr val="accent1"/>
                </a:solidFill>
              </a:rPr>
              <a:t>ビッグファイブの結果を平均</a:t>
            </a:r>
            <a:r>
              <a:rPr lang="ja-JP" altLang="en-US"/>
              <a:t>して最終的な値を決定</a:t>
            </a:r>
            <a:endParaRPr lang="en-US" altLang="ja-JP" dirty="0"/>
          </a:p>
        </p:txBody>
      </p:sp>
      <p:sp>
        <p:nvSpPr>
          <p:cNvPr id="31" name="テキスト プレースホルダー 7">
            <a:extLst>
              <a:ext uri="{FF2B5EF4-FFF2-40B4-BE49-F238E27FC236}">
                <a16:creationId xmlns:a16="http://schemas.microsoft.com/office/drawing/2014/main" id="{2B39DBEE-D297-8A49-AFE2-F9C4E587C83D}"/>
              </a:ext>
            </a:extLst>
          </p:cNvPr>
          <p:cNvSpPr txBox="1">
            <a:spLocks/>
          </p:cNvSpPr>
          <p:nvPr/>
        </p:nvSpPr>
        <p:spPr>
          <a:xfrm>
            <a:off x="257541" y="4468328"/>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提案手法</a:t>
            </a:r>
          </a:p>
        </p:txBody>
      </p:sp>
      <p:grpSp>
        <p:nvGrpSpPr>
          <p:cNvPr id="32" name="グループ化 31">
            <a:extLst>
              <a:ext uri="{FF2B5EF4-FFF2-40B4-BE49-F238E27FC236}">
                <a16:creationId xmlns:a16="http://schemas.microsoft.com/office/drawing/2014/main" id="{731400E9-B729-F84D-9958-C3410B7BC1F7}"/>
              </a:ext>
            </a:extLst>
          </p:cNvPr>
          <p:cNvGrpSpPr/>
          <p:nvPr/>
        </p:nvGrpSpPr>
        <p:grpSpPr>
          <a:xfrm flipH="1" flipV="1">
            <a:off x="364050" y="4402604"/>
            <a:ext cx="1828149" cy="244800"/>
            <a:chOff x="143915" y="1377865"/>
            <a:chExt cx="1828149" cy="244800"/>
          </a:xfrm>
        </p:grpSpPr>
        <p:cxnSp>
          <p:nvCxnSpPr>
            <p:cNvPr id="33" name="直線コネクタ 32">
              <a:extLst>
                <a:ext uri="{FF2B5EF4-FFF2-40B4-BE49-F238E27FC236}">
                  <a16:creationId xmlns:a16="http://schemas.microsoft.com/office/drawing/2014/main" id="{267154FD-1C31-0B44-9749-C602242A18AF}"/>
                </a:ext>
              </a:extLst>
            </p:cNvPr>
            <p:cNvCxnSpPr>
              <a:cxnSpLocks/>
            </p:cNvCxnSpPr>
            <p:nvPr userDrawn="1"/>
          </p:nvCxnSpPr>
          <p:spPr>
            <a:xfrm flipV="1">
              <a:off x="364656" y="1607575"/>
              <a:ext cx="1607408"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4" name="フリーフォーム 33">
              <a:extLst>
                <a:ext uri="{FF2B5EF4-FFF2-40B4-BE49-F238E27FC236}">
                  <a16:creationId xmlns:a16="http://schemas.microsoft.com/office/drawing/2014/main" id="{C24923DA-CD47-BA4F-AEB8-797BCE27639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5" name="グループ化 34">
            <a:extLst>
              <a:ext uri="{FF2B5EF4-FFF2-40B4-BE49-F238E27FC236}">
                <a16:creationId xmlns:a16="http://schemas.microsoft.com/office/drawing/2014/main" id="{8F1D46AC-D51E-3D41-9534-82B5180ACF76}"/>
              </a:ext>
            </a:extLst>
          </p:cNvPr>
          <p:cNvGrpSpPr/>
          <p:nvPr/>
        </p:nvGrpSpPr>
        <p:grpSpPr>
          <a:xfrm>
            <a:off x="135454" y="4766668"/>
            <a:ext cx="1818037" cy="244800"/>
            <a:chOff x="143915" y="1384215"/>
            <a:chExt cx="1818037" cy="244800"/>
          </a:xfrm>
        </p:grpSpPr>
        <p:cxnSp>
          <p:nvCxnSpPr>
            <p:cNvPr id="36" name="直線コネクタ 35">
              <a:extLst>
                <a:ext uri="{FF2B5EF4-FFF2-40B4-BE49-F238E27FC236}">
                  <a16:creationId xmlns:a16="http://schemas.microsoft.com/office/drawing/2014/main" id="{53FCFACC-AC40-334B-A4FB-BCDAB50812A4}"/>
                </a:ext>
              </a:extLst>
            </p:cNvPr>
            <p:cNvCxnSpPr>
              <a:cxnSpLocks/>
            </p:cNvCxnSpPr>
            <p:nvPr userDrawn="1"/>
          </p:nvCxnSpPr>
          <p:spPr>
            <a:xfrm>
              <a:off x="364660" y="1607575"/>
              <a:ext cx="159729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7" name="フリーフォーム 36">
              <a:extLst>
                <a:ext uri="{FF2B5EF4-FFF2-40B4-BE49-F238E27FC236}">
                  <a16:creationId xmlns:a16="http://schemas.microsoft.com/office/drawing/2014/main" id="{C1698220-3530-FB46-9CBA-FA2FC494744E}"/>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3368840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自動交渉で用いられるエージェントを人間との交渉に</a:t>
            </a:r>
            <a:br>
              <a:rPr lang="en-US" altLang="ja-JP" dirty="0"/>
            </a:br>
            <a:r>
              <a:rPr lang="ja-JP" altLang="en-US"/>
              <a:t>用いることは困難</a:t>
            </a:r>
            <a:endParaRPr lang="en-US" altLang="ja-JP" dirty="0"/>
          </a:p>
          <a:p>
            <a:endParaRPr kumimoji="1" lang="ja-JP" altLang="en-US"/>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補足資料</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19</a:t>
            </a:fld>
            <a:endParaRPr kumimoji="1" lang="ja-JP" altLang="en-US"/>
          </a:p>
        </p:txBody>
      </p:sp>
      <p:sp>
        <p:nvSpPr>
          <p:cNvPr id="19" name="テキスト プレースホルダー 7">
            <a:extLst>
              <a:ext uri="{FF2B5EF4-FFF2-40B4-BE49-F238E27FC236}">
                <a16:creationId xmlns:a16="http://schemas.microsoft.com/office/drawing/2014/main" id="{229675A9-230B-834E-98DB-D677D9E8288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grpSp>
        <p:nvGrpSpPr>
          <p:cNvPr id="20" name="グループ化 19">
            <a:extLst>
              <a:ext uri="{FF2B5EF4-FFF2-40B4-BE49-F238E27FC236}">
                <a16:creationId xmlns:a16="http://schemas.microsoft.com/office/drawing/2014/main" id="{011219B7-28F8-784C-8410-5B579C7EA1F6}"/>
              </a:ext>
            </a:extLst>
          </p:cNvPr>
          <p:cNvGrpSpPr/>
          <p:nvPr/>
        </p:nvGrpSpPr>
        <p:grpSpPr>
          <a:xfrm>
            <a:off x="143915" y="1384215"/>
            <a:ext cx="1018135" cy="244800"/>
            <a:chOff x="143915" y="1384215"/>
            <a:chExt cx="1018135" cy="244800"/>
          </a:xfrm>
        </p:grpSpPr>
        <p:cxnSp>
          <p:nvCxnSpPr>
            <p:cNvPr id="21" name="直線コネクタ 20">
              <a:extLst>
                <a:ext uri="{FF2B5EF4-FFF2-40B4-BE49-F238E27FC236}">
                  <a16:creationId xmlns:a16="http://schemas.microsoft.com/office/drawing/2014/main" id="{919D5B70-E95D-EC43-9DC5-846041C9DC7F}"/>
                </a:ext>
              </a:extLst>
            </p:cNvPr>
            <p:cNvCxnSpPr>
              <a:cxnSpLocks/>
            </p:cNvCxnSpPr>
            <p:nvPr userDrawn="1"/>
          </p:nvCxnSpPr>
          <p:spPr>
            <a:xfrm>
              <a:off x="364660" y="1607575"/>
              <a:ext cx="79739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フリーフォーム 21">
              <a:extLst>
                <a:ext uri="{FF2B5EF4-FFF2-40B4-BE49-F238E27FC236}">
                  <a16:creationId xmlns:a16="http://schemas.microsoft.com/office/drawing/2014/main" id="{2701DA74-9354-F044-BCD2-9BC046AD1E6B}"/>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3" name="グループ化 22">
            <a:extLst>
              <a:ext uri="{FF2B5EF4-FFF2-40B4-BE49-F238E27FC236}">
                <a16:creationId xmlns:a16="http://schemas.microsoft.com/office/drawing/2014/main" id="{D7996F71-BDE9-5840-B209-853761AF74EF}"/>
              </a:ext>
            </a:extLst>
          </p:cNvPr>
          <p:cNvGrpSpPr/>
          <p:nvPr/>
        </p:nvGrpSpPr>
        <p:grpSpPr>
          <a:xfrm flipH="1" flipV="1">
            <a:off x="358775" y="1022350"/>
            <a:ext cx="1057649" cy="244800"/>
            <a:chOff x="143915" y="1377865"/>
            <a:chExt cx="1057649" cy="244800"/>
          </a:xfrm>
        </p:grpSpPr>
        <p:cxnSp>
          <p:nvCxnSpPr>
            <p:cNvPr id="24" name="直線コネクタ 23">
              <a:extLst>
                <a:ext uri="{FF2B5EF4-FFF2-40B4-BE49-F238E27FC236}">
                  <a16:creationId xmlns:a16="http://schemas.microsoft.com/office/drawing/2014/main" id="{A1A45C5C-4D9D-7740-AB9D-98CCDAAE2FF1}"/>
                </a:ext>
              </a:extLst>
            </p:cNvPr>
            <p:cNvCxnSpPr>
              <a:cxnSpLocks/>
            </p:cNvCxnSpPr>
            <p:nvPr userDrawn="1"/>
          </p:nvCxnSpPr>
          <p:spPr>
            <a:xfrm flipV="1">
              <a:off x="364659" y="1607575"/>
              <a:ext cx="83690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フリーフォーム 24">
              <a:extLst>
                <a:ext uri="{FF2B5EF4-FFF2-40B4-BE49-F238E27FC236}">
                  <a16:creationId xmlns:a16="http://schemas.microsoft.com/office/drawing/2014/main" id="{6572BC20-627B-6946-949D-23C791BA08D3}"/>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aphicFrame>
        <p:nvGraphicFramePr>
          <p:cNvPr id="17" name="表 16">
            <a:extLst>
              <a:ext uri="{FF2B5EF4-FFF2-40B4-BE49-F238E27FC236}">
                <a16:creationId xmlns:a16="http://schemas.microsoft.com/office/drawing/2014/main" id="{EEDEE47D-239B-D643-9D16-D766A1731B1F}"/>
              </a:ext>
            </a:extLst>
          </p:cNvPr>
          <p:cNvGraphicFramePr>
            <a:graphicFrameLocks noGrp="1"/>
          </p:cNvGraphicFramePr>
          <p:nvPr>
            <p:extLst>
              <p:ext uri="{D42A27DB-BD31-4B8C-83A1-F6EECF244321}">
                <p14:modId xmlns:p14="http://schemas.microsoft.com/office/powerpoint/2010/main" val="971570508"/>
              </p:ext>
            </p:extLst>
          </p:nvPr>
        </p:nvGraphicFramePr>
        <p:xfrm>
          <a:off x="1432216" y="2866078"/>
          <a:ext cx="6299531" cy="1926208"/>
        </p:xfrm>
        <a:graphic>
          <a:graphicData uri="http://schemas.openxmlformats.org/drawingml/2006/table">
            <a:tbl>
              <a:tblPr firstRow="1" bandRow="1">
                <a:tableStyleId>{5C22544A-7EE6-4342-B048-85BDC9FD1C3A}</a:tableStyleId>
              </a:tblPr>
              <a:tblGrid>
                <a:gridCol w="2397885">
                  <a:extLst>
                    <a:ext uri="{9D8B030D-6E8A-4147-A177-3AD203B41FA5}">
                      <a16:colId xmlns:a16="http://schemas.microsoft.com/office/drawing/2014/main" val="4249962592"/>
                    </a:ext>
                  </a:extLst>
                </a:gridCol>
                <a:gridCol w="1950823">
                  <a:extLst>
                    <a:ext uri="{9D8B030D-6E8A-4147-A177-3AD203B41FA5}">
                      <a16:colId xmlns:a16="http://schemas.microsoft.com/office/drawing/2014/main" val="2784172759"/>
                    </a:ext>
                  </a:extLst>
                </a:gridCol>
                <a:gridCol w="1950823">
                  <a:extLst>
                    <a:ext uri="{9D8B030D-6E8A-4147-A177-3AD203B41FA5}">
                      <a16:colId xmlns:a16="http://schemas.microsoft.com/office/drawing/2014/main" val="2945936030"/>
                    </a:ext>
                  </a:extLst>
                </a:gridCol>
              </a:tblGrid>
              <a:tr h="342206">
                <a:tc>
                  <a:txBody>
                    <a:bodyPr/>
                    <a:lstStyle/>
                    <a:p>
                      <a:pPr algn="ctr"/>
                      <a:endParaRPr kumimoji="1" lang="ja-JP" altLang="en-US" sz="1700"/>
                    </a:p>
                  </a:txBody>
                  <a:tcPr marL="51615" marR="51615" marT="41564" marB="41564"/>
                </a:tc>
                <a:tc>
                  <a:txBody>
                    <a:bodyPr/>
                    <a:lstStyle/>
                    <a:p>
                      <a:pPr algn="ctr"/>
                      <a:r>
                        <a:rPr kumimoji="1" lang="ja-JP" altLang="en-US" sz="1700">
                          <a:solidFill>
                            <a:schemeClr val="bg1"/>
                          </a:solidFill>
                        </a:rPr>
                        <a:t>人間</a:t>
                      </a:r>
                    </a:p>
                  </a:txBody>
                  <a:tcPr marL="51615" marR="51615" marT="41564" marB="41564"/>
                </a:tc>
                <a:tc>
                  <a:txBody>
                    <a:bodyPr/>
                    <a:lstStyle/>
                    <a:p>
                      <a:pPr algn="ctr"/>
                      <a:r>
                        <a:rPr kumimoji="1" lang="ja-JP" altLang="en-US" sz="1700">
                          <a:solidFill>
                            <a:schemeClr val="bg1"/>
                          </a:solidFill>
                        </a:rPr>
                        <a:t>エージェント</a:t>
                      </a:r>
                    </a:p>
                  </a:txBody>
                  <a:tcPr marL="51615" marR="51615" marT="41564" marB="41564"/>
                </a:tc>
                <a:extLst>
                  <a:ext uri="{0D108BD9-81ED-4DB2-BD59-A6C34878D82A}">
                    <a16:rowId xmlns:a16="http://schemas.microsoft.com/office/drawing/2014/main" val="3999418044"/>
                  </a:ext>
                </a:extLst>
              </a:tr>
              <a:tr h="396000">
                <a:tc>
                  <a:txBody>
                    <a:bodyPr/>
                    <a:lstStyle/>
                    <a:p>
                      <a:pPr algn="ctr"/>
                      <a:r>
                        <a:rPr kumimoji="1" lang="en-US" altLang="ja-JP" sz="1700" dirty="0"/>
                        <a:t>offer</a:t>
                      </a:r>
                      <a:r>
                        <a:rPr kumimoji="1" lang="ja-JP" altLang="en-US" sz="1700"/>
                        <a:t>のやり取り</a:t>
                      </a:r>
                    </a:p>
                  </a:txBody>
                  <a:tcPr marL="51615" marR="51615" marT="41564" marB="41564"/>
                </a:tc>
                <a:tc>
                  <a:txBody>
                    <a:bodyPr/>
                    <a:lstStyle/>
                    <a:p>
                      <a:pPr algn="r"/>
                      <a:r>
                        <a:rPr kumimoji="1" lang="ja-JP" altLang="en-US" sz="1700"/>
                        <a:t>数十秒</a:t>
                      </a:r>
                      <a:r>
                        <a:rPr kumimoji="1" lang="en-US" altLang="ja-JP" sz="1700" dirty="0"/>
                        <a:t>〜</a:t>
                      </a:r>
                      <a:r>
                        <a:rPr kumimoji="1" lang="ja-JP" altLang="en-US" sz="1700"/>
                        <a:t>数分</a:t>
                      </a:r>
                    </a:p>
                  </a:txBody>
                  <a:tcPr marL="51615" marR="51615" marT="41564" marB="41564"/>
                </a:tc>
                <a:tc>
                  <a:txBody>
                    <a:bodyPr/>
                    <a:lstStyle/>
                    <a:p>
                      <a:pPr algn="r"/>
                      <a:r>
                        <a:rPr kumimoji="1" lang="en-US" altLang="ja-JP" sz="1700" dirty="0"/>
                        <a:t>〜</a:t>
                      </a:r>
                      <a:r>
                        <a:rPr kumimoji="1" lang="ja-JP" altLang="en-US" sz="1700"/>
                        <a:t>数ミリ秒</a:t>
                      </a:r>
                    </a:p>
                  </a:txBody>
                  <a:tcPr marL="51615" marR="51615" marT="41564" marB="41564"/>
                </a:tc>
                <a:extLst>
                  <a:ext uri="{0D108BD9-81ED-4DB2-BD59-A6C34878D82A}">
                    <a16:rowId xmlns:a16="http://schemas.microsoft.com/office/drawing/2014/main" val="3871592815"/>
                  </a:ext>
                </a:extLst>
              </a:tr>
              <a:tr h="396000">
                <a:tc>
                  <a:txBody>
                    <a:bodyPr/>
                    <a:lstStyle/>
                    <a:p>
                      <a:pPr algn="ctr"/>
                      <a:r>
                        <a:rPr kumimoji="1" lang="ja-JP" altLang="en-US" sz="1700"/>
                        <a:t>交渉のプロトコル</a:t>
                      </a:r>
                    </a:p>
                  </a:txBody>
                  <a:tcPr marL="51615" marR="51615" marT="41564" marB="41564"/>
                </a:tc>
                <a:tc>
                  <a:txBody>
                    <a:bodyPr/>
                    <a:lstStyle/>
                    <a:p>
                      <a:pPr algn="r"/>
                      <a:r>
                        <a:rPr kumimoji="1" lang="ja-JP" altLang="en-US" sz="1700"/>
                        <a:t>臨機応変</a:t>
                      </a:r>
                    </a:p>
                  </a:txBody>
                  <a:tcPr marL="51615" marR="51615" marT="41564" marB="41564"/>
                </a:tc>
                <a:tc>
                  <a:txBody>
                    <a:bodyPr/>
                    <a:lstStyle/>
                    <a:p>
                      <a:pPr algn="r"/>
                      <a:r>
                        <a:rPr kumimoji="1" lang="ja-JP" altLang="en-US" sz="1700"/>
                        <a:t>厳格</a:t>
                      </a:r>
                    </a:p>
                  </a:txBody>
                  <a:tcPr marL="51615" marR="51615" marT="41564" marB="41564"/>
                </a:tc>
                <a:extLst>
                  <a:ext uri="{0D108BD9-81ED-4DB2-BD59-A6C34878D82A}">
                    <a16:rowId xmlns:a16="http://schemas.microsoft.com/office/drawing/2014/main" val="1239973184"/>
                  </a:ext>
                </a:extLst>
              </a:tr>
              <a:tr h="396000">
                <a:tc>
                  <a:txBody>
                    <a:bodyPr/>
                    <a:lstStyle/>
                    <a:p>
                      <a:pPr algn="ctr"/>
                      <a:r>
                        <a:rPr kumimoji="1" lang="ja-JP" altLang="en-US" sz="1700"/>
                        <a:t>選好に関する通信</a:t>
                      </a:r>
                    </a:p>
                  </a:txBody>
                  <a:tcPr marL="51615" marR="51615" marT="41564" marB="41564"/>
                </a:tc>
                <a:tc>
                  <a:txBody>
                    <a:bodyPr/>
                    <a:lstStyle/>
                    <a:p>
                      <a:pPr algn="r"/>
                      <a:r>
                        <a:rPr kumimoji="1" lang="ja-JP" altLang="en-US" sz="1700"/>
                        <a:t>必要</a:t>
                      </a:r>
                    </a:p>
                  </a:txBody>
                  <a:tcPr marL="51615" marR="51615" marT="41564" marB="41564"/>
                </a:tc>
                <a:tc>
                  <a:txBody>
                    <a:bodyPr/>
                    <a:lstStyle/>
                    <a:p>
                      <a:pPr algn="r"/>
                      <a:r>
                        <a:rPr kumimoji="1" lang="ja-JP" altLang="en-US" sz="1700"/>
                        <a:t>なし</a:t>
                      </a:r>
                      <a:r>
                        <a:rPr kumimoji="1" lang="en-US" altLang="ja-JP" sz="1700" dirty="0"/>
                        <a:t> or </a:t>
                      </a:r>
                      <a:r>
                        <a:rPr kumimoji="1" lang="ja-JP" altLang="en-US" sz="1700"/>
                        <a:t>限定</a:t>
                      </a:r>
                    </a:p>
                  </a:txBody>
                  <a:tcPr marL="51615" marR="51615" marT="41564" marB="41564"/>
                </a:tc>
                <a:extLst>
                  <a:ext uri="{0D108BD9-81ED-4DB2-BD59-A6C34878D82A}">
                    <a16:rowId xmlns:a16="http://schemas.microsoft.com/office/drawing/2014/main" val="3993563669"/>
                  </a:ext>
                </a:extLst>
              </a:tr>
              <a:tr h="396000">
                <a:tc>
                  <a:txBody>
                    <a:bodyPr/>
                    <a:lstStyle/>
                    <a:p>
                      <a:pPr algn="ctr"/>
                      <a:r>
                        <a:rPr kumimoji="1" lang="ja-JP" altLang="en-US" sz="1700"/>
                        <a:t>感情に関する通信</a:t>
                      </a:r>
                    </a:p>
                  </a:txBody>
                  <a:tcPr marL="51615" marR="51615" marT="41564" marB="41564"/>
                </a:tc>
                <a:tc>
                  <a:txBody>
                    <a:bodyPr/>
                    <a:lstStyle/>
                    <a:p>
                      <a:pPr algn="r"/>
                      <a:r>
                        <a:rPr kumimoji="1" lang="ja-JP" altLang="en-US" sz="1700"/>
                        <a:t>必要</a:t>
                      </a:r>
                    </a:p>
                  </a:txBody>
                  <a:tcPr marL="51615" marR="51615" marT="41564" marB="41564"/>
                </a:tc>
                <a:tc>
                  <a:txBody>
                    <a:bodyPr/>
                    <a:lstStyle/>
                    <a:p>
                      <a:pPr algn="r"/>
                      <a:r>
                        <a:rPr kumimoji="1" lang="ja-JP" altLang="en-US" sz="1700"/>
                        <a:t>なし</a:t>
                      </a:r>
                    </a:p>
                  </a:txBody>
                  <a:tcPr marL="51615" marR="51615" marT="41564" marB="41564"/>
                </a:tc>
                <a:extLst>
                  <a:ext uri="{0D108BD9-81ED-4DB2-BD59-A6C34878D82A}">
                    <a16:rowId xmlns:a16="http://schemas.microsoft.com/office/drawing/2014/main" val="1966800538"/>
                  </a:ext>
                </a:extLst>
              </a:tr>
            </a:tbl>
          </a:graphicData>
        </a:graphic>
      </p:graphicFrame>
    </p:spTree>
    <p:extLst>
      <p:ext uri="{BB962C8B-B14F-4D97-AF65-F5344CB8AC3E}">
        <p14:creationId xmlns:p14="http://schemas.microsoft.com/office/powerpoint/2010/main" val="269454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保険の契約</a:t>
            </a:r>
            <a:endParaRPr lang="en-US" altLang="ja-JP" dirty="0"/>
          </a:p>
          <a:p>
            <a:pPr lvl="1"/>
            <a:r>
              <a:rPr lang="ja-JP" altLang="en-US"/>
              <a:t>エージェントが人間の選好を知ることができる</a:t>
            </a:r>
            <a:endParaRPr lang="en-US" altLang="ja-JP" dirty="0"/>
          </a:p>
          <a:p>
            <a:pPr lvl="1"/>
            <a:r>
              <a:rPr lang="ja-JP" altLang="en-US"/>
              <a:t>買い手が</a:t>
            </a:r>
            <a:r>
              <a:rPr lang="ja-JP" altLang="en-US">
                <a:solidFill>
                  <a:schemeClr val="accent2"/>
                </a:solidFill>
              </a:rPr>
              <a:t>エージェント</a:t>
            </a:r>
            <a:endParaRPr lang="en-US" altLang="ja-JP" dirty="0">
              <a:solidFill>
                <a:schemeClr val="accent2"/>
              </a:solidFill>
            </a:endParaRPr>
          </a:p>
          <a:p>
            <a:pPr lvl="1"/>
            <a:r>
              <a:rPr lang="ja-JP" altLang="en-US"/>
              <a:t>売り手が</a:t>
            </a:r>
            <a:r>
              <a:rPr lang="ja-JP" altLang="en-US">
                <a:solidFill>
                  <a:schemeClr val="accent1"/>
                </a:solidFill>
              </a:rPr>
              <a:t>人間</a:t>
            </a:r>
            <a:endParaRPr lang="en-US" altLang="ja-JP" dirty="0">
              <a:solidFill>
                <a:schemeClr val="accent1"/>
              </a:solidFill>
            </a:endParaRPr>
          </a:p>
          <a:p>
            <a:pPr marL="457200" lvl="1" indent="0">
              <a:buNone/>
            </a:pP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補足資料</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20</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問題設定</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6991" y="1019512"/>
            <a:ext cx="1823403" cy="244800"/>
            <a:chOff x="143915" y="1377865"/>
            <a:chExt cx="1823403"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4" y="1607575"/>
              <a:ext cx="160266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1819594" cy="244800"/>
            <a:chOff x="143915" y="1384215"/>
            <a:chExt cx="1819594"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159884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aphicFrame>
        <p:nvGraphicFramePr>
          <p:cNvPr id="114" name="表 113">
            <a:extLst>
              <a:ext uri="{FF2B5EF4-FFF2-40B4-BE49-F238E27FC236}">
                <a16:creationId xmlns:a16="http://schemas.microsoft.com/office/drawing/2014/main" id="{9CD25AA8-94BA-214F-80DA-1AFAA799A432}"/>
              </a:ext>
            </a:extLst>
          </p:cNvPr>
          <p:cNvGraphicFramePr>
            <a:graphicFrameLocks noGrp="1"/>
          </p:cNvGraphicFramePr>
          <p:nvPr/>
        </p:nvGraphicFramePr>
        <p:xfrm>
          <a:off x="874845" y="4684047"/>
          <a:ext cx="7428735" cy="1685635"/>
        </p:xfrm>
        <a:graphic>
          <a:graphicData uri="http://schemas.openxmlformats.org/drawingml/2006/table">
            <a:tbl>
              <a:tblPr firstRow="1" firstCol="1" bandRow="1">
                <a:tableStyleId>{5C22544A-7EE6-4342-B048-85BDC9FD1C3A}</a:tableStyleId>
              </a:tblPr>
              <a:tblGrid>
                <a:gridCol w="1053747">
                  <a:extLst>
                    <a:ext uri="{9D8B030D-6E8A-4147-A177-3AD203B41FA5}">
                      <a16:colId xmlns:a16="http://schemas.microsoft.com/office/drawing/2014/main" val="839403089"/>
                    </a:ext>
                  </a:extLst>
                </a:gridCol>
                <a:gridCol w="1053747">
                  <a:extLst>
                    <a:ext uri="{9D8B030D-6E8A-4147-A177-3AD203B41FA5}">
                      <a16:colId xmlns:a16="http://schemas.microsoft.com/office/drawing/2014/main" val="316063321"/>
                    </a:ext>
                  </a:extLst>
                </a:gridCol>
                <a:gridCol w="1080000">
                  <a:extLst>
                    <a:ext uri="{9D8B030D-6E8A-4147-A177-3AD203B41FA5}">
                      <a16:colId xmlns:a16="http://schemas.microsoft.com/office/drawing/2014/main" val="828750057"/>
                    </a:ext>
                  </a:extLst>
                </a:gridCol>
                <a:gridCol w="1053747">
                  <a:extLst>
                    <a:ext uri="{9D8B030D-6E8A-4147-A177-3AD203B41FA5}">
                      <a16:colId xmlns:a16="http://schemas.microsoft.com/office/drawing/2014/main" val="3790308961"/>
                    </a:ext>
                  </a:extLst>
                </a:gridCol>
                <a:gridCol w="1080000">
                  <a:extLst>
                    <a:ext uri="{9D8B030D-6E8A-4147-A177-3AD203B41FA5}">
                      <a16:colId xmlns:a16="http://schemas.microsoft.com/office/drawing/2014/main" val="288253547"/>
                    </a:ext>
                  </a:extLst>
                </a:gridCol>
                <a:gridCol w="1053747">
                  <a:extLst>
                    <a:ext uri="{9D8B030D-6E8A-4147-A177-3AD203B41FA5}">
                      <a16:colId xmlns:a16="http://schemas.microsoft.com/office/drawing/2014/main" val="3396473503"/>
                    </a:ext>
                  </a:extLst>
                </a:gridCol>
                <a:gridCol w="1053747">
                  <a:extLst>
                    <a:ext uri="{9D8B030D-6E8A-4147-A177-3AD203B41FA5}">
                      <a16:colId xmlns:a16="http://schemas.microsoft.com/office/drawing/2014/main" val="3564305167"/>
                    </a:ext>
                  </a:extLst>
                </a:gridCol>
              </a:tblGrid>
              <a:tr h="337127">
                <a:tc rowSpan="2">
                  <a:txBody>
                    <a:bodyPr/>
                    <a:lstStyle/>
                    <a:p>
                      <a:endParaRPr kumimoji="1" lang="ja-JP" altLang="en-US" sz="1500"/>
                    </a:p>
                  </a:txBody>
                  <a:tcPr marL="83127" marR="83127" marT="41564" marB="41564"/>
                </a:tc>
                <a:tc gridSpan="2">
                  <a:txBody>
                    <a:bodyPr/>
                    <a:lstStyle/>
                    <a:p>
                      <a:pPr algn="ctr"/>
                      <a:r>
                        <a:rPr kumimoji="1" lang="ja-JP" altLang="en-US" sz="1500"/>
                        <a:t>生命保険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損害保険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医療保険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360431693"/>
                  </a:ext>
                </a:extLst>
              </a:tr>
              <a:tr h="337127">
                <a:tc vMerge="1">
                  <a:txBody>
                    <a:bodyPr/>
                    <a:lstStyle/>
                    <a:p>
                      <a:endParaRPr kumimoji="1" lang="ja-JP" altLang="en-US"/>
                    </a:p>
                  </a:txBody>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39599213"/>
                  </a:ext>
                </a:extLst>
              </a:tr>
              <a:tr h="337127">
                <a:tc>
                  <a:txBody>
                    <a:bodyPr/>
                    <a:lstStyle/>
                    <a:p>
                      <a:r>
                        <a:rPr kumimoji="1" lang="ja-JP" altLang="en-US" sz="1500"/>
                        <a:t>レベル</a:t>
                      </a:r>
                      <a:r>
                        <a:rPr kumimoji="1" lang="en-US" altLang="ja-JP" sz="1500" dirty="0"/>
                        <a:t>1</a:t>
                      </a:r>
                      <a:endParaRPr kumimoji="1" lang="ja-JP" altLang="en-US" sz="1500"/>
                    </a:p>
                  </a:txBody>
                  <a:tcPr marL="83127" marR="83127" marT="41564" marB="41564"/>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50000/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10000/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endParaRPr kumimoji="1" lang="en-US" altLang="ja-JP" sz="1500" dirty="0"/>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3000/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757409057"/>
                  </a:ext>
                </a:extLst>
              </a:tr>
              <a:tr h="337127">
                <a:tc>
                  <a:txBody>
                    <a:bodyPr/>
                    <a:lstStyle/>
                    <a:p>
                      <a:r>
                        <a:rPr kumimoji="1" lang="ja-JP" altLang="en-US" sz="1500"/>
                        <a:t>レベル</a:t>
                      </a:r>
                      <a:r>
                        <a:rPr kumimoji="1" lang="en-US" altLang="ja-JP" sz="1500" dirty="0"/>
                        <a:t>2</a:t>
                      </a:r>
                      <a:endParaRPr kumimoji="1" lang="ja-JP" altLang="en-US" sz="1500"/>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60000/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20000/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5000/</a:t>
                      </a:r>
                      <a:r>
                        <a:rPr kumimoji="1" lang="ja-JP" altLang="en-US" sz="1500"/>
                        <a:t>月</a:t>
                      </a:r>
                    </a:p>
                  </a:txBody>
                  <a:tcPr marL="83127" marR="83127" marT="41564" marB="41564"/>
                </a:tc>
                <a:extLst>
                  <a:ext uri="{0D108BD9-81ED-4DB2-BD59-A6C34878D82A}">
                    <a16:rowId xmlns:a16="http://schemas.microsoft.com/office/drawing/2014/main" val="142469566"/>
                  </a:ext>
                </a:extLst>
              </a:tr>
              <a:tr h="337127">
                <a:tc>
                  <a:txBody>
                    <a:bodyPr/>
                    <a:lstStyle/>
                    <a:p>
                      <a:r>
                        <a:rPr kumimoji="1" lang="ja-JP" altLang="en-US" sz="1500"/>
                        <a:t>レベル</a:t>
                      </a:r>
                      <a:r>
                        <a:rPr kumimoji="1" lang="en-US" altLang="ja-JP" sz="1500" dirty="0"/>
                        <a:t>3</a:t>
                      </a:r>
                      <a:endParaRPr kumimoji="1" lang="ja-JP" altLang="en-US" sz="1500"/>
                    </a:p>
                  </a:txBody>
                  <a:tcPr marL="83127" marR="83127" marT="41564" marB="41564"/>
                </a:tc>
                <a:tc>
                  <a:txBody>
                    <a:bodyPr/>
                    <a:lstStyle/>
                    <a:p>
                      <a:pPr algn="ctr"/>
                      <a:r>
                        <a:rPr kumimoji="1" lang="ja-JP" altLang="en-US" sz="1500"/>
                        <a:t>秀</a:t>
                      </a:r>
                      <a:endParaRPr kumimoji="1" lang="en-US" altLang="ja-JP" sz="1500" dirty="0"/>
                    </a:p>
                  </a:txBody>
                  <a:tcPr marL="83127" marR="83127" marT="41564" marB="41564"/>
                </a:tc>
                <a:tc>
                  <a:txBody>
                    <a:bodyPr/>
                    <a:lstStyle/>
                    <a:p>
                      <a:pPr algn="ctr"/>
                      <a:r>
                        <a:rPr kumimoji="1" lang="en-US" altLang="ja-JP" sz="1500" dirty="0"/>
                        <a:t>70000/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30000/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7000/</a:t>
                      </a:r>
                      <a:r>
                        <a:rPr kumimoji="1" lang="ja-JP" altLang="en-US" sz="1500"/>
                        <a:t>月</a:t>
                      </a:r>
                    </a:p>
                  </a:txBody>
                  <a:tcPr marL="83127" marR="83127" marT="41564" marB="41564"/>
                </a:tc>
                <a:extLst>
                  <a:ext uri="{0D108BD9-81ED-4DB2-BD59-A6C34878D82A}">
                    <a16:rowId xmlns:a16="http://schemas.microsoft.com/office/drawing/2014/main" val="2493777769"/>
                  </a:ext>
                </a:extLst>
              </a:tr>
            </a:tbl>
          </a:graphicData>
        </a:graphic>
      </p:graphicFrame>
      <p:grpSp>
        <p:nvGrpSpPr>
          <p:cNvPr id="115" name="グループ化 114">
            <a:extLst>
              <a:ext uri="{FF2B5EF4-FFF2-40B4-BE49-F238E27FC236}">
                <a16:creationId xmlns:a16="http://schemas.microsoft.com/office/drawing/2014/main" id="{73D67A76-CB6B-184D-95EB-B6DE7C8669E1}"/>
              </a:ext>
            </a:extLst>
          </p:cNvPr>
          <p:cNvGrpSpPr/>
          <p:nvPr/>
        </p:nvGrpSpPr>
        <p:grpSpPr>
          <a:xfrm>
            <a:off x="7402190" y="2870451"/>
            <a:ext cx="1077768" cy="1455164"/>
            <a:chOff x="1777460" y="7716381"/>
            <a:chExt cx="4952308" cy="6686441"/>
          </a:xfrm>
        </p:grpSpPr>
        <p:pic>
          <p:nvPicPr>
            <p:cNvPr id="116" name="図 115">
              <a:extLst>
                <a:ext uri="{FF2B5EF4-FFF2-40B4-BE49-F238E27FC236}">
                  <a16:creationId xmlns:a16="http://schemas.microsoft.com/office/drawing/2014/main" id="{F92CA8EA-2C78-FB4D-967E-C9E110CCADC1}"/>
                </a:ext>
              </a:extLst>
            </p:cNvPr>
            <p:cNvPicPr>
              <a:picLocks noChangeAspect="1"/>
            </p:cNvPicPr>
            <p:nvPr/>
          </p:nvPicPr>
          <p:blipFill>
            <a:blip r:embed="rId2"/>
            <a:stretch>
              <a:fillRect/>
            </a:stretch>
          </p:blipFill>
          <p:spPr>
            <a:xfrm>
              <a:off x="2449331" y="7716381"/>
              <a:ext cx="3608570" cy="3922357"/>
            </a:xfrm>
            <a:prstGeom prst="rect">
              <a:avLst/>
            </a:prstGeom>
          </p:spPr>
        </p:pic>
        <p:sp>
          <p:nvSpPr>
            <p:cNvPr id="117" name="テキスト ボックス 116">
              <a:extLst>
                <a:ext uri="{FF2B5EF4-FFF2-40B4-BE49-F238E27FC236}">
                  <a16:creationId xmlns:a16="http://schemas.microsoft.com/office/drawing/2014/main" id="{6E934FFC-4E98-5949-8881-372A405E1C0F}"/>
                </a:ext>
              </a:extLst>
            </p:cNvPr>
            <p:cNvSpPr txBox="1"/>
            <p:nvPr/>
          </p:nvSpPr>
          <p:spPr>
            <a:xfrm>
              <a:off x="1777460" y="11715796"/>
              <a:ext cx="4952308" cy="2687026"/>
            </a:xfrm>
            <a:prstGeom prst="rect">
              <a:avLst/>
            </a:prstGeom>
            <a:noFill/>
          </p:spPr>
          <p:txBody>
            <a:bodyPr wrap="square" rtlCol="0">
              <a:spAutoFit/>
            </a:bodyPr>
            <a:lstStyle/>
            <a:p>
              <a:pPr algn="ctr"/>
              <a:r>
                <a:rPr lang="ja-JP" altLang="en-US" sz="1600"/>
                <a:t>売り</a:t>
              </a:r>
              <a:r>
                <a:rPr kumimoji="1" lang="ja-JP" altLang="en-US" sz="1600"/>
                <a:t>手</a:t>
              </a:r>
              <a:endParaRPr kumimoji="1" lang="en-US" altLang="ja-JP" sz="1600" dirty="0"/>
            </a:p>
            <a:p>
              <a:pPr algn="ctr"/>
              <a:r>
                <a:rPr kumimoji="1" lang="en-US" altLang="ja-JP" sz="1600" dirty="0"/>
                <a:t>(</a:t>
              </a:r>
              <a:r>
                <a:rPr kumimoji="1" lang="ja-JP" altLang="en-US" sz="1600"/>
                <a:t>人間</a:t>
              </a:r>
              <a:r>
                <a:rPr kumimoji="1" lang="en-US" altLang="ja-JP" sz="1600" dirty="0"/>
                <a:t>)</a:t>
              </a:r>
              <a:endParaRPr kumimoji="1" lang="ja-JP" altLang="en-US" sz="1600"/>
            </a:p>
          </p:txBody>
        </p:sp>
      </p:grpSp>
      <p:grpSp>
        <p:nvGrpSpPr>
          <p:cNvPr id="118" name="グループ化 117">
            <a:extLst>
              <a:ext uri="{FF2B5EF4-FFF2-40B4-BE49-F238E27FC236}">
                <a16:creationId xmlns:a16="http://schemas.microsoft.com/office/drawing/2014/main" id="{5F595B48-8706-344F-B93B-465DA8BF6801}"/>
              </a:ext>
            </a:extLst>
          </p:cNvPr>
          <p:cNvGrpSpPr/>
          <p:nvPr/>
        </p:nvGrpSpPr>
        <p:grpSpPr>
          <a:xfrm>
            <a:off x="5458878" y="3060302"/>
            <a:ext cx="1577961" cy="1267497"/>
            <a:chOff x="589000" y="2554772"/>
            <a:chExt cx="2795459" cy="2245447"/>
          </a:xfrm>
        </p:grpSpPr>
        <p:sp>
          <p:nvSpPr>
            <p:cNvPr id="119" name="テキスト ボックス 118">
              <a:extLst>
                <a:ext uri="{FF2B5EF4-FFF2-40B4-BE49-F238E27FC236}">
                  <a16:creationId xmlns:a16="http://schemas.microsoft.com/office/drawing/2014/main" id="{3F8CFBFA-C06F-3642-A9F9-BF441700AFD7}"/>
                </a:ext>
              </a:extLst>
            </p:cNvPr>
            <p:cNvSpPr txBox="1"/>
            <p:nvPr/>
          </p:nvSpPr>
          <p:spPr>
            <a:xfrm>
              <a:off x="589000" y="3764255"/>
              <a:ext cx="2795459" cy="1035964"/>
            </a:xfrm>
            <a:prstGeom prst="rect">
              <a:avLst/>
            </a:prstGeom>
            <a:noFill/>
          </p:spPr>
          <p:txBody>
            <a:bodyPr wrap="square" rtlCol="0">
              <a:spAutoFit/>
            </a:bodyPr>
            <a:lstStyle/>
            <a:p>
              <a:pPr algn="ctr"/>
              <a:r>
                <a:rPr lang="ja-JP" altLang="en-US" sz="1600"/>
                <a:t>買い</a:t>
              </a:r>
              <a:r>
                <a:rPr kumimoji="1" lang="ja-JP" altLang="en-US" sz="1600"/>
                <a:t>手</a:t>
              </a:r>
              <a:endParaRPr kumimoji="1" lang="en-US" altLang="ja-JP" sz="1600" dirty="0"/>
            </a:p>
            <a:p>
              <a:pPr algn="ctr"/>
              <a:r>
                <a:rPr kumimoji="1" lang="en-US" altLang="ja-JP" sz="1600" dirty="0"/>
                <a:t>(</a:t>
              </a:r>
              <a:r>
                <a:rPr kumimoji="1" lang="ja-JP" altLang="en-US" sz="1600"/>
                <a:t>エージェント</a:t>
              </a:r>
              <a:r>
                <a:rPr kumimoji="1" lang="en-US" altLang="ja-JP" sz="1600" dirty="0"/>
                <a:t>)</a:t>
              </a:r>
              <a:endParaRPr kumimoji="1" lang="ja-JP" altLang="en-US" sz="1600"/>
            </a:p>
          </p:txBody>
        </p:sp>
        <p:pic>
          <p:nvPicPr>
            <p:cNvPr id="120" name="図 119">
              <a:extLst>
                <a:ext uri="{FF2B5EF4-FFF2-40B4-BE49-F238E27FC236}">
                  <a16:creationId xmlns:a16="http://schemas.microsoft.com/office/drawing/2014/main" id="{4FBC5C92-5730-E345-A75E-C4D84C8BA9EC}"/>
                </a:ext>
              </a:extLst>
            </p:cNvPr>
            <p:cNvPicPr>
              <a:picLocks noChangeAspect="1"/>
            </p:cNvPicPr>
            <p:nvPr/>
          </p:nvPicPr>
          <p:blipFill>
            <a:blip r:embed="rId3"/>
            <a:stretch>
              <a:fillRect/>
            </a:stretch>
          </p:blipFill>
          <p:spPr>
            <a:xfrm>
              <a:off x="1276892" y="2554772"/>
              <a:ext cx="1419672" cy="1235115"/>
            </a:xfrm>
            <a:prstGeom prst="rect">
              <a:avLst/>
            </a:prstGeom>
          </p:spPr>
        </p:pic>
      </p:grpSp>
      <p:sp>
        <p:nvSpPr>
          <p:cNvPr id="121" name="テキスト ボックス 120">
            <a:extLst>
              <a:ext uri="{FF2B5EF4-FFF2-40B4-BE49-F238E27FC236}">
                <a16:creationId xmlns:a16="http://schemas.microsoft.com/office/drawing/2014/main" id="{DD4ADAC0-3D87-D648-BF77-326ADC0A21BC}"/>
              </a:ext>
            </a:extLst>
          </p:cNvPr>
          <p:cNvSpPr txBox="1"/>
          <p:nvPr/>
        </p:nvSpPr>
        <p:spPr>
          <a:xfrm>
            <a:off x="3800146" y="4292430"/>
            <a:ext cx="1577961" cy="369332"/>
          </a:xfrm>
          <a:prstGeom prst="rect">
            <a:avLst/>
          </a:prstGeom>
          <a:noFill/>
        </p:spPr>
        <p:txBody>
          <a:bodyPr wrap="square" rtlCol="0">
            <a:spAutoFit/>
          </a:bodyPr>
          <a:lstStyle/>
          <a:p>
            <a:pPr algn="ctr"/>
            <a:r>
              <a:rPr lang="ja-JP" altLang="en-US"/>
              <a:t>交渉内容</a:t>
            </a:r>
            <a:endParaRPr kumimoji="1" lang="ja-JP" altLang="en-US"/>
          </a:p>
        </p:txBody>
      </p:sp>
    </p:spTree>
    <p:extLst>
      <p:ext uri="{BB962C8B-B14F-4D97-AF65-F5344CB8AC3E}">
        <p14:creationId xmlns:p14="http://schemas.microsoft.com/office/powerpoint/2010/main" val="2229099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BBB92A1E-4C15-0E4B-AC8B-C3EC091C9C85}"/>
                  </a:ext>
                </a:extLst>
              </p:cNvPr>
              <p:cNvSpPr>
                <a:spLocks noGrp="1"/>
              </p:cNvSpPr>
              <p:nvPr>
                <p:ph idx="1"/>
              </p:nvPr>
            </p:nvSpPr>
            <p:spPr/>
            <p:txBody>
              <a:bodyPr/>
              <a:lstStyle/>
              <a:p>
                <a:r>
                  <a:rPr lang="ja-JP" altLang="en-US"/>
                  <a:t>相手がどれだけ感受性があるかを測る指標</a:t>
                </a:r>
                <a:endParaRPr lang="en-US" altLang="ja-JP" dirty="0"/>
              </a:p>
              <a:p>
                <a:pPr lvl="1"/>
                <a:r>
                  <a:rPr lang="ja-JP" altLang="en-US"/>
                  <a:t>相手が送ってきた</a:t>
                </a:r>
                <a:r>
                  <a:rPr lang="en-US" altLang="ja-JP" dirty="0"/>
                  <a:t>offer</a:t>
                </a:r>
                <a:r>
                  <a:rPr lang="ja-JP" altLang="en-US"/>
                  <a:t>から計算</a:t>
                </a:r>
                <a:endParaRPr lang="en-US" altLang="ja-JP" dirty="0"/>
              </a:p>
              <a:p>
                <a:pPr marL="457200" lvl="1" indent="0">
                  <a:buNone/>
                </a:pP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a:p>
                <a:endParaRPr kumimoji="1" lang="ja-JP" altLang="en-US"/>
              </a:p>
            </p:txBody>
          </p:sp>
        </mc:Choice>
        <mc:Fallback xmlns="">
          <p:sp>
            <p:nvSpPr>
              <p:cNvPr id="2" name="コンテンツ プレースホルダー 1">
                <a:extLst>
                  <a:ext uri="{FF2B5EF4-FFF2-40B4-BE49-F238E27FC236}">
                    <a16:creationId xmlns:a16="http://schemas.microsoft.com/office/drawing/2014/main" id="{BBB92A1E-4C15-0E4B-AC8B-C3EC091C9C85}"/>
                  </a:ext>
                </a:extLst>
              </p:cNvPr>
              <p:cNvSpPr>
                <a:spLocks noGrp="1" noRot="1" noChangeAspect="1" noMove="1" noResize="1" noEditPoints="1" noAdjustHandles="1" noChangeArrowheads="1" noChangeShapeType="1" noTextEdit="1"/>
              </p:cNvSpPr>
              <p:nvPr>
                <p:ph idx="1"/>
              </p:nvPr>
            </p:nvSpPr>
            <p:spPr>
              <a:blipFill>
                <a:blip r:embed="rId2"/>
                <a:stretch>
                  <a:fillRect t="-2915"/>
                </a:stretch>
              </a:blipFill>
            </p:spPr>
            <p:txBody>
              <a:bodyPr/>
              <a:lstStyle/>
              <a:p>
                <a:r>
                  <a:rPr lang="ja-JP" altLang="en-US">
                    <a:noFill/>
                  </a:rPr>
                  <a:t> </a:t>
                </a:r>
              </a:p>
            </p:txBody>
          </p:sp>
        </mc:Fallback>
      </mc:AlternateContent>
      <p:sp>
        <p:nvSpPr>
          <p:cNvPr id="3" name="日付プレースホルダー 2">
            <a:extLst>
              <a:ext uri="{FF2B5EF4-FFF2-40B4-BE49-F238E27FC236}">
                <a16:creationId xmlns:a16="http://schemas.microsoft.com/office/drawing/2014/main" id="{7DF187AC-F3C2-374C-A876-3C4C5918F995}"/>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63132CD3-517B-6840-9AA0-0F6B691C31D9}"/>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5BE298ED-E98B-F14C-AC64-4EDC8C83631C}"/>
              </a:ext>
            </a:extLst>
          </p:cNvPr>
          <p:cNvSpPr>
            <a:spLocks noGrp="1"/>
          </p:cNvSpPr>
          <p:nvPr>
            <p:ph type="body" sz="quarter" idx="13"/>
          </p:nvPr>
        </p:nvSpPr>
        <p:spPr/>
        <p:txBody>
          <a:bodyPr/>
          <a:lstStyle/>
          <a:p>
            <a:r>
              <a:rPr kumimoji="1" lang="ja-JP" altLang="en-US"/>
              <a:t>補足資料</a:t>
            </a:r>
          </a:p>
        </p:txBody>
      </p:sp>
      <p:sp>
        <p:nvSpPr>
          <p:cNvPr id="6" name="テキスト プレースホルダー 5">
            <a:extLst>
              <a:ext uri="{FF2B5EF4-FFF2-40B4-BE49-F238E27FC236}">
                <a16:creationId xmlns:a16="http://schemas.microsoft.com/office/drawing/2014/main" id="{7D2A3504-B613-1D45-91F9-4A7AEA7CA90D}"/>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E256C4F8-69AB-FA46-A9AE-49D9A19C8A19}"/>
              </a:ext>
            </a:extLst>
          </p:cNvPr>
          <p:cNvSpPr>
            <a:spLocks noGrp="1"/>
          </p:cNvSpPr>
          <p:nvPr>
            <p:ph type="sldNum" sz="quarter" idx="12"/>
          </p:nvPr>
        </p:nvSpPr>
        <p:spPr/>
        <p:txBody>
          <a:bodyPr/>
          <a:lstStyle/>
          <a:p>
            <a:fld id="{89D00F25-B0B7-304F-9AB7-5986EFE77769}" type="slidenum">
              <a:rPr kumimoji="1" lang="ja-JP" altLang="en-US" smtClean="0"/>
              <a:t>21</a:t>
            </a:fld>
            <a:endParaRPr kumimoji="1" lang="ja-JP" altLang="en-US"/>
          </a:p>
        </p:txBody>
      </p:sp>
      <p:sp>
        <p:nvSpPr>
          <p:cNvPr id="8" name="テキスト プレースホルダー 7">
            <a:extLst>
              <a:ext uri="{FF2B5EF4-FFF2-40B4-BE49-F238E27FC236}">
                <a16:creationId xmlns:a16="http://schemas.microsoft.com/office/drawing/2014/main" id="{845EF880-FFBE-164D-A606-C93FC9CD0301}"/>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行動に対する感受性</a:t>
            </a:r>
          </a:p>
        </p:txBody>
      </p:sp>
      <p:grpSp>
        <p:nvGrpSpPr>
          <p:cNvPr id="9" name="グループ化 8">
            <a:extLst>
              <a:ext uri="{FF2B5EF4-FFF2-40B4-BE49-F238E27FC236}">
                <a16:creationId xmlns:a16="http://schemas.microsoft.com/office/drawing/2014/main" id="{769BAB31-DF6E-EA4D-A5FA-8E9589922018}"/>
              </a:ext>
            </a:extLst>
          </p:cNvPr>
          <p:cNvGrpSpPr/>
          <p:nvPr/>
        </p:nvGrpSpPr>
        <p:grpSpPr>
          <a:xfrm flipH="1" flipV="1">
            <a:off x="359093" y="1019512"/>
            <a:ext cx="3757153" cy="244800"/>
            <a:chOff x="143915" y="1377865"/>
            <a:chExt cx="3757153" cy="244800"/>
          </a:xfrm>
        </p:grpSpPr>
        <p:cxnSp>
          <p:nvCxnSpPr>
            <p:cNvPr id="10" name="直線コネクタ 9">
              <a:extLst>
                <a:ext uri="{FF2B5EF4-FFF2-40B4-BE49-F238E27FC236}">
                  <a16:creationId xmlns:a16="http://schemas.microsoft.com/office/drawing/2014/main" id="{68F456A2-741E-464B-B033-02DFDF901A5A}"/>
                </a:ext>
              </a:extLst>
            </p:cNvPr>
            <p:cNvCxnSpPr>
              <a:cxnSpLocks/>
            </p:cNvCxnSpPr>
            <p:nvPr userDrawn="1"/>
          </p:nvCxnSpPr>
          <p:spPr>
            <a:xfrm flipV="1">
              <a:off x="360744" y="1607575"/>
              <a:ext cx="354032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 name="フリーフォーム 10">
              <a:extLst>
                <a:ext uri="{FF2B5EF4-FFF2-40B4-BE49-F238E27FC236}">
                  <a16:creationId xmlns:a16="http://schemas.microsoft.com/office/drawing/2014/main" id="{4832F12D-58B3-6E46-A29A-D0E946150472}"/>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2" name="グループ化 11">
            <a:extLst>
              <a:ext uri="{FF2B5EF4-FFF2-40B4-BE49-F238E27FC236}">
                <a16:creationId xmlns:a16="http://schemas.microsoft.com/office/drawing/2014/main" id="{29763560-144C-D24E-974C-2BE15353D463}"/>
              </a:ext>
            </a:extLst>
          </p:cNvPr>
          <p:cNvGrpSpPr/>
          <p:nvPr/>
        </p:nvGrpSpPr>
        <p:grpSpPr>
          <a:xfrm>
            <a:off x="140729" y="1384215"/>
            <a:ext cx="3758696" cy="244800"/>
            <a:chOff x="143915" y="1384215"/>
            <a:chExt cx="3758696" cy="244800"/>
          </a:xfrm>
        </p:grpSpPr>
        <p:cxnSp>
          <p:nvCxnSpPr>
            <p:cNvPr id="13" name="直線コネクタ 12">
              <a:extLst>
                <a:ext uri="{FF2B5EF4-FFF2-40B4-BE49-F238E27FC236}">
                  <a16:creationId xmlns:a16="http://schemas.microsoft.com/office/drawing/2014/main" id="{C9926C6C-A855-5B4E-BBA2-FDD8832160E2}"/>
                </a:ext>
              </a:extLst>
            </p:cNvPr>
            <p:cNvCxnSpPr>
              <a:cxnSpLocks/>
            </p:cNvCxnSpPr>
            <p:nvPr userDrawn="1"/>
          </p:nvCxnSpPr>
          <p:spPr>
            <a:xfrm>
              <a:off x="364660" y="1607575"/>
              <a:ext cx="353795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フリーフォーム 13">
              <a:extLst>
                <a:ext uri="{FF2B5EF4-FFF2-40B4-BE49-F238E27FC236}">
                  <a16:creationId xmlns:a16="http://schemas.microsoft.com/office/drawing/2014/main" id="{C11B69F4-8D3C-6347-8F4B-327C6EBE03CA}"/>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mc:AlternateContent xmlns:mc="http://schemas.openxmlformats.org/markup-compatibility/2006" xmlns:a14="http://schemas.microsoft.com/office/drawing/2010/main">
        <mc:Choice Requires="a14">
          <p:graphicFrame>
            <p:nvGraphicFramePr>
              <p:cNvPr id="15" name="表 14">
                <a:extLst>
                  <a:ext uri="{FF2B5EF4-FFF2-40B4-BE49-F238E27FC236}">
                    <a16:creationId xmlns:a16="http://schemas.microsoft.com/office/drawing/2014/main" id="{C702C1B5-96A0-FA48-85C1-535556512DEE}"/>
                  </a:ext>
                </a:extLst>
              </p:cNvPr>
              <p:cNvGraphicFramePr>
                <a:graphicFrameLocks noGrp="1"/>
              </p:cNvGraphicFramePr>
              <p:nvPr>
                <p:extLst>
                  <p:ext uri="{D42A27DB-BD31-4B8C-83A1-F6EECF244321}">
                    <p14:modId xmlns:p14="http://schemas.microsoft.com/office/powerpoint/2010/main" val="71716029"/>
                  </p:ext>
                </p:extLst>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15" name="表 14">
                <a:extLst>
                  <a:ext uri="{FF2B5EF4-FFF2-40B4-BE49-F238E27FC236}">
                    <a16:creationId xmlns:a16="http://schemas.microsoft.com/office/drawing/2014/main" id="{C702C1B5-96A0-FA48-85C1-535556512DEE}"/>
                  </a:ext>
                </a:extLst>
              </p:cNvPr>
              <p:cNvGraphicFramePr>
                <a:graphicFrameLocks noGrp="1"/>
              </p:cNvGraphicFramePr>
              <p:nvPr>
                <p:extLst>
                  <p:ext uri="{D42A27DB-BD31-4B8C-83A1-F6EECF244321}">
                    <p14:modId xmlns:p14="http://schemas.microsoft.com/office/powerpoint/2010/main" val="71716029"/>
                  </p:ext>
                </p:extLst>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108696" r="-102041" b="-517391"/>
                          </a:stretch>
                        </a:blipFill>
                      </a:tcPr>
                    </a:tc>
                    <a:tc>
                      <a:txBody>
                        <a:bodyPr/>
                        <a:lstStyle/>
                        <a:p>
                          <a:endParaRPr lang="ja-JP"/>
                        </a:p>
                      </a:txBody>
                      <a:tcPr marL="75570" marR="75570">
                        <a:blipFill>
                          <a:blip r:embed="rId3"/>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200000" r="-102041" b="-395833"/>
                          </a:stretch>
                        </a:blipFill>
                      </a:tcPr>
                    </a:tc>
                    <a:tc>
                      <a:txBody>
                        <a:bodyPr/>
                        <a:lstStyle/>
                        <a:p>
                          <a:endParaRPr lang="ja-JP"/>
                        </a:p>
                      </a:txBody>
                      <a:tcPr marL="75570" marR="75570">
                        <a:blipFill>
                          <a:blip r:embed="rId3"/>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313043" r="-102041" b="-313043"/>
                          </a:stretch>
                        </a:blipFill>
                      </a:tcPr>
                    </a:tc>
                    <a:tc>
                      <a:txBody>
                        <a:bodyPr/>
                        <a:lstStyle/>
                        <a:p>
                          <a:endParaRPr lang="ja-JP"/>
                        </a:p>
                      </a:txBody>
                      <a:tcPr marL="75570" marR="75570">
                        <a:blipFill>
                          <a:blip r:embed="rId3"/>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395833" r="-102041" b="-200000"/>
                          </a:stretch>
                        </a:blipFill>
                      </a:tcPr>
                    </a:tc>
                    <a:tc>
                      <a:txBody>
                        <a:bodyPr/>
                        <a:lstStyle/>
                        <a:p>
                          <a:endParaRPr lang="ja-JP"/>
                        </a:p>
                      </a:txBody>
                      <a:tcPr marL="75570" marR="75570">
                        <a:blipFill>
                          <a:blip r:embed="rId3"/>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517391" r="-102041" b="-108696"/>
                          </a:stretch>
                        </a:blipFill>
                      </a:tcPr>
                    </a:tc>
                    <a:tc>
                      <a:txBody>
                        <a:bodyPr/>
                        <a:lstStyle/>
                        <a:p>
                          <a:endParaRPr lang="ja-JP"/>
                        </a:p>
                      </a:txBody>
                      <a:tcPr marL="75570" marR="75570">
                        <a:blipFill>
                          <a:blip r:embed="rId3"/>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591667" r="-102041" b="-4167"/>
                          </a:stretch>
                        </a:blipFill>
                      </a:tcPr>
                    </a:tc>
                    <a:tc>
                      <a:txBody>
                        <a:bodyPr/>
                        <a:lstStyle/>
                        <a:p>
                          <a:endParaRPr lang="ja-JP"/>
                        </a:p>
                      </a:txBody>
                      <a:tcPr marL="75570" marR="75570">
                        <a:blipFill>
                          <a:blip r:embed="rId3"/>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2342000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BB92A1E-4C15-0E4B-AC8B-C3EC091C9C85}"/>
              </a:ext>
            </a:extLst>
          </p:cNvPr>
          <p:cNvSpPr>
            <a:spLocks noGrp="1"/>
          </p:cNvSpPr>
          <p:nvPr>
            <p:ph idx="1"/>
          </p:nvPr>
        </p:nvSpPr>
        <p:spPr>
          <a:xfrm>
            <a:off x="364050" y="1698508"/>
            <a:ext cx="8423333" cy="4684003"/>
          </a:xfrm>
        </p:spPr>
        <p:txBody>
          <a:bodyPr/>
          <a:lstStyle/>
          <a:p>
            <a:r>
              <a:rPr lang="ja-JP" altLang="en-US"/>
              <a:t>人間の被験者を募りエージェントと交渉を行う</a:t>
            </a:r>
            <a:endParaRPr lang="en-US" altLang="ja-JP" dirty="0"/>
          </a:p>
          <a:p>
            <a:pPr lvl="1"/>
            <a:r>
              <a:rPr lang="en-US" altLang="ja-JP" dirty="0"/>
              <a:t>1</a:t>
            </a:r>
            <a:r>
              <a:rPr lang="ja-JP" altLang="en-US"/>
              <a:t>交渉</a:t>
            </a:r>
            <a:r>
              <a:rPr lang="en-US" altLang="ja-JP" dirty="0"/>
              <a:t>10</a:t>
            </a:r>
            <a:r>
              <a:rPr lang="ja-JP" altLang="en-US"/>
              <a:t>分</a:t>
            </a:r>
            <a:endParaRPr lang="en-US" altLang="ja-JP" dirty="0"/>
          </a:p>
          <a:p>
            <a:pPr lvl="1"/>
            <a:r>
              <a:rPr lang="ja-JP" altLang="en-US"/>
              <a:t>提案手法</a:t>
            </a:r>
            <a:r>
              <a:rPr lang="en-US" altLang="ja-JP" dirty="0"/>
              <a:t>+IAGO</a:t>
            </a:r>
            <a:r>
              <a:rPr lang="ja-JP" altLang="en-US"/>
              <a:t>のデフォルト</a:t>
            </a:r>
            <a:r>
              <a:rPr lang="en-US" altLang="ja-JP" dirty="0"/>
              <a:t>+</a:t>
            </a:r>
            <a:r>
              <a:rPr lang="ja-JP" altLang="en-US"/>
              <a:t>既存手法の</a:t>
            </a:r>
            <a:r>
              <a:rPr lang="en-US" altLang="ja-JP" dirty="0"/>
              <a:t>3</a:t>
            </a:r>
            <a:r>
              <a:rPr lang="ja-JP" altLang="en-US"/>
              <a:t>種</a:t>
            </a:r>
            <a:endParaRPr lang="en-US" altLang="ja-JP" dirty="0"/>
          </a:p>
          <a:p>
            <a:r>
              <a:rPr lang="ja-JP" altLang="en-US"/>
              <a:t>評価指標</a:t>
            </a:r>
            <a:endParaRPr lang="en-US" altLang="ja-JP" dirty="0"/>
          </a:p>
          <a:p>
            <a:pPr lvl="1"/>
            <a:r>
              <a:rPr lang="ja-JP" altLang="en-US"/>
              <a:t>個人効用</a:t>
            </a:r>
            <a:endParaRPr lang="en-US" altLang="ja-JP" dirty="0"/>
          </a:p>
          <a:p>
            <a:pPr lvl="1"/>
            <a:r>
              <a:rPr lang="ja-JP" altLang="en-US"/>
              <a:t>社会的余剰</a:t>
            </a:r>
            <a:endParaRPr lang="en-US" altLang="ja-JP" dirty="0"/>
          </a:p>
          <a:p>
            <a:pPr lvl="1"/>
            <a:r>
              <a:rPr lang="ja-JP" altLang="en-US"/>
              <a:t>関係構築の度合い</a:t>
            </a:r>
            <a:endParaRPr lang="en-US" altLang="ja-JP" dirty="0"/>
          </a:p>
          <a:p>
            <a:pPr lvl="1"/>
            <a:r>
              <a:rPr lang="ja-JP" altLang="en-US"/>
              <a:t>プロファイリングの妥当性</a:t>
            </a:r>
            <a:endParaRPr lang="en-US" altLang="ja-JP" dirty="0"/>
          </a:p>
          <a:p>
            <a:endParaRPr lang="en-US" altLang="ja-JP" dirty="0"/>
          </a:p>
          <a:p>
            <a:endParaRPr lang="en-US" altLang="ja-JP" dirty="0"/>
          </a:p>
          <a:p>
            <a:endParaRPr kumimoji="1" lang="ja-JP" altLang="en-US"/>
          </a:p>
        </p:txBody>
      </p:sp>
      <p:sp>
        <p:nvSpPr>
          <p:cNvPr id="3" name="日付プレースホルダー 2">
            <a:extLst>
              <a:ext uri="{FF2B5EF4-FFF2-40B4-BE49-F238E27FC236}">
                <a16:creationId xmlns:a16="http://schemas.microsoft.com/office/drawing/2014/main" id="{7DF187AC-F3C2-374C-A876-3C4C5918F995}"/>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63132CD3-517B-6840-9AA0-0F6B691C31D9}"/>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5BE298ED-E98B-F14C-AC64-4EDC8C83631C}"/>
              </a:ext>
            </a:extLst>
          </p:cNvPr>
          <p:cNvSpPr>
            <a:spLocks noGrp="1"/>
          </p:cNvSpPr>
          <p:nvPr>
            <p:ph type="body" sz="quarter" idx="13"/>
          </p:nvPr>
        </p:nvSpPr>
        <p:spPr/>
        <p:txBody>
          <a:bodyPr/>
          <a:lstStyle/>
          <a:p>
            <a:r>
              <a:rPr kumimoji="1" lang="ja-JP" altLang="en-US"/>
              <a:t>補足資料</a:t>
            </a:r>
          </a:p>
        </p:txBody>
      </p:sp>
      <p:sp>
        <p:nvSpPr>
          <p:cNvPr id="6" name="テキスト プレースホルダー 5">
            <a:extLst>
              <a:ext uri="{FF2B5EF4-FFF2-40B4-BE49-F238E27FC236}">
                <a16:creationId xmlns:a16="http://schemas.microsoft.com/office/drawing/2014/main" id="{7D2A3504-B613-1D45-91F9-4A7AEA7CA90D}"/>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E256C4F8-69AB-FA46-A9AE-49D9A19C8A19}"/>
              </a:ext>
            </a:extLst>
          </p:cNvPr>
          <p:cNvSpPr>
            <a:spLocks noGrp="1"/>
          </p:cNvSpPr>
          <p:nvPr>
            <p:ph type="sldNum" sz="quarter" idx="12"/>
          </p:nvPr>
        </p:nvSpPr>
        <p:spPr/>
        <p:txBody>
          <a:bodyPr/>
          <a:lstStyle/>
          <a:p>
            <a:fld id="{89D00F25-B0B7-304F-9AB7-5986EFE77769}" type="slidenum">
              <a:rPr kumimoji="1" lang="ja-JP" altLang="en-US" smtClean="0"/>
              <a:t>22</a:t>
            </a:fld>
            <a:endParaRPr kumimoji="1" lang="ja-JP" altLang="en-US"/>
          </a:p>
        </p:txBody>
      </p:sp>
      <p:sp>
        <p:nvSpPr>
          <p:cNvPr id="8" name="テキスト プレースホルダー 7">
            <a:extLst>
              <a:ext uri="{FF2B5EF4-FFF2-40B4-BE49-F238E27FC236}">
                <a16:creationId xmlns:a16="http://schemas.microsoft.com/office/drawing/2014/main" id="{845EF880-FFBE-164D-A606-C93FC9CD0301}"/>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評価実験</a:t>
            </a:r>
          </a:p>
        </p:txBody>
      </p:sp>
      <p:grpSp>
        <p:nvGrpSpPr>
          <p:cNvPr id="9" name="グループ化 8">
            <a:extLst>
              <a:ext uri="{FF2B5EF4-FFF2-40B4-BE49-F238E27FC236}">
                <a16:creationId xmlns:a16="http://schemas.microsoft.com/office/drawing/2014/main" id="{769BAB31-DF6E-EA4D-A5FA-8E9589922018}"/>
              </a:ext>
            </a:extLst>
          </p:cNvPr>
          <p:cNvGrpSpPr/>
          <p:nvPr/>
        </p:nvGrpSpPr>
        <p:grpSpPr>
          <a:xfrm flipH="1" flipV="1">
            <a:off x="358775" y="1015893"/>
            <a:ext cx="1878576" cy="244800"/>
            <a:chOff x="143915" y="1377865"/>
            <a:chExt cx="1878576" cy="244800"/>
          </a:xfrm>
        </p:grpSpPr>
        <p:cxnSp>
          <p:nvCxnSpPr>
            <p:cNvPr id="10" name="直線コネクタ 9">
              <a:extLst>
                <a:ext uri="{FF2B5EF4-FFF2-40B4-BE49-F238E27FC236}">
                  <a16:creationId xmlns:a16="http://schemas.microsoft.com/office/drawing/2014/main" id="{68F456A2-741E-464B-B033-02DFDF901A5A}"/>
                </a:ext>
              </a:extLst>
            </p:cNvPr>
            <p:cNvCxnSpPr>
              <a:cxnSpLocks/>
            </p:cNvCxnSpPr>
            <p:nvPr userDrawn="1"/>
          </p:nvCxnSpPr>
          <p:spPr>
            <a:xfrm flipV="1">
              <a:off x="360744" y="1607575"/>
              <a:ext cx="166174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 name="フリーフォーム 10">
              <a:extLst>
                <a:ext uri="{FF2B5EF4-FFF2-40B4-BE49-F238E27FC236}">
                  <a16:creationId xmlns:a16="http://schemas.microsoft.com/office/drawing/2014/main" id="{4832F12D-58B3-6E46-A29A-D0E946150472}"/>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2" name="グループ化 11">
            <a:extLst>
              <a:ext uri="{FF2B5EF4-FFF2-40B4-BE49-F238E27FC236}">
                <a16:creationId xmlns:a16="http://schemas.microsoft.com/office/drawing/2014/main" id="{29763560-144C-D24E-974C-2BE15353D463}"/>
              </a:ext>
            </a:extLst>
          </p:cNvPr>
          <p:cNvGrpSpPr/>
          <p:nvPr/>
        </p:nvGrpSpPr>
        <p:grpSpPr>
          <a:xfrm>
            <a:off x="140729" y="1384215"/>
            <a:ext cx="1827771" cy="244800"/>
            <a:chOff x="143915" y="1384215"/>
            <a:chExt cx="1827771" cy="244800"/>
          </a:xfrm>
        </p:grpSpPr>
        <p:cxnSp>
          <p:nvCxnSpPr>
            <p:cNvPr id="13" name="直線コネクタ 12">
              <a:extLst>
                <a:ext uri="{FF2B5EF4-FFF2-40B4-BE49-F238E27FC236}">
                  <a16:creationId xmlns:a16="http://schemas.microsoft.com/office/drawing/2014/main" id="{C9926C6C-A855-5B4E-BBA2-FDD8832160E2}"/>
                </a:ext>
              </a:extLst>
            </p:cNvPr>
            <p:cNvCxnSpPr>
              <a:cxnSpLocks/>
            </p:cNvCxnSpPr>
            <p:nvPr userDrawn="1"/>
          </p:nvCxnSpPr>
          <p:spPr>
            <a:xfrm>
              <a:off x="364660" y="1607575"/>
              <a:ext cx="1607026"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4" name="フリーフォーム 13">
              <a:extLst>
                <a:ext uri="{FF2B5EF4-FFF2-40B4-BE49-F238E27FC236}">
                  <a16:creationId xmlns:a16="http://schemas.microsoft.com/office/drawing/2014/main" id="{C11B69F4-8D3C-6347-8F4B-327C6EBE03CA}"/>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2822385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神経症的傾向</a:t>
            </a:r>
            <a:endParaRPr lang="en-US" altLang="ja-JP" dirty="0"/>
          </a:p>
          <a:p>
            <a:pPr lvl="1"/>
            <a:r>
              <a:rPr lang="ja-JP" altLang="en-US"/>
              <a:t>脅威に対して過敏に反応→協調的になる</a:t>
            </a:r>
            <a:endParaRPr lang="en-US" altLang="ja-JP" dirty="0"/>
          </a:p>
          <a:p>
            <a:pPr lvl="2"/>
            <a:r>
              <a:rPr lang="ja-JP" altLang="en-US">
                <a:solidFill>
                  <a:schemeClr val="accent2"/>
                </a:solidFill>
              </a:rPr>
              <a:t>譲歩速度早め</a:t>
            </a:r>
            <a:r>
              <a:rPr lang="ja-JP" altLang="en-US"/>
              <a:t>・</a:t>
            </a:r>
            <a:r>
              <a:rPr lang="ja-JP" altLang="en-US">
                <a:solidFill>
                  <a:schemeClr val="accent2"/>
                </a:solidFill>
              </a:rPr>
              <a:t>行動頻度高め</a:t>
            </a:r>
            <a:endParaRPr lang="en-US" altLang="ja-JP" dirty="0">
              <a:solidFill>
                <a:schemeClr val="accent2"/>
              </a:solidFill>
            </a:endParaRPr>
          </a:p>
          <a:p>
            <a:r>
              <a:rPr lang="ja-JP" altLang="en-US"/>
              <a:t>外向性</a:t>
            </a:r>
            <a:endParaRPr lang="en-US" altLang="ja-JP" dirty="0"/>
          </a:p>
          <a:p>
            <a:pPr lvl="1"/>
            <a:r>
              <a:rPr lang="ja-JP" altLang="en-US"/>
              <a:t>報酬に対してかなり積極的→あまり譲歩しない</a:t>
            </a:r>
            <a:endParaRPr lang="en-US" altLang="ja-JP" dirty="0">
              <a:solidFill>
                <a:schemeClr val="accent1"/>
              </a:solidFill>
            </a:endParaRPr>
          </a:p>
          <a:p>
            <a:pPr lvl="2"/>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r>
              <a:rPr lang="ja-JP" altLang="en-US"/>
              <a:t>経験への開放性</a:t>
            </a:r>
            <a:endParaRPr lang="en-US" altLang="ja-JP" dirty="0"/>
          </a:p>
          <a:p>
            <a:pPr lvl="1"/>
            <a:r>
              <a:rPr lang="ja-JP" altLang="en-US"/>
              <a:t>精神的に不安定→強硬な戦略をとると関係が悪化する</a:t>
            </a:r>
            <a:endParaRPr lang="en-US" altLang="ja-JP" dirty="0"/>
          </a:p>
          <a:p>
            <a:pPr lvl="2"/>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補足資料</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23</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9093" y="1019512"/>
            <a:ext cx="3757153" cy="244800"/>
            <a:chOff x="143915" y="1377865"/>
            <a:chExt cx="375715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0744" y="1607575"/>
              <a:ext cx="354032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3758696" cy="244800"/>
            <a:chOff x="143915" y="1384215"/>
            <a:chExt cx="3758696"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353795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9" name="グループ化 18">
            <a:extLst>
              <a:ext uri="{FF2B5EF4-FFF2-40B4-BE49-F238E27FC236}">
                <a16:creationId xmlns:a16="http://schemas.microsoft.com/office/drawing/2014/main" id="{52C71551-A00F-2744-A586-E593519688EE}"/>
              </a:ext>
            </a:extLst>
          </p:cNvPr>
          <p:cNvGrpSpPr/>
          <p:nvPr/>
        </p:nvGrpSpPr>
        <p:grpSpPr>
          <a:xfrm>
            <a:off x="6422824" y="824915"/>
            <a:ext cx="2686889" cy="2458891"/>
            <a:chOff x="4259517" y="3268537"/>
            <a:chExt cx="3251136" cy="2975259"/>
          </a:xfrm>
        </p:grpSpPr>
        <p:sp>
          <p:nvSpPr>
            <p:cNvPr id="20" name="テキスト ボックス 19">
              <a:extLst>
                <a:ext uri="{FF2B5EF4-FFF2-40B4-BE49-F238E27FC236}">
                  <a16:creationId xmlns:a16="http://schemas.microsoft.com/office/drawing/2014/main" id="{53F25B95-E5C8-D04E-A1E8-A3D136EF0A59}"/>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21" name="テキスト ボックス 20">
              <a:extLst>
                <a:ext uri="{FF2B5EF4-FFF2-40B4-BE49-F238E27FC236}">
                  <a16:creationId xmlns:a16="http://schemas.microsoft.com/office/drawing/2014/main" id="{193D2B07-069A-2940-B777-015F277DDC72}"/>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22" name="テキスト ボックス 21">
              <a:extLst>
                <a:ext uri="{FF2B5EF4-FFF2-40B4-BE49-F238E27FC236}">
                  <a16:creationId xmlns:a16="http://schemas.microsoft.com/office/drawing/2014/main" id="{13C11DF5-95B1-3B4D-84ED-71A7879D0702}"/>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23" name="テキスト ボックス 22">
              <a:extLst>
                <a:ext uri="{FF2B5EF4-FFF2-40B4-BE49-F238E27FC236}">
                  <a16:creationId xmlns:a16="http://schemas.microsoft.com/office/drawing/2014/main" id="{DB268488-5F7A-EA46-8C87-939B38E83BCD}"/>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24" name="テキスト ボックス 23">
              <a:extLst>
                <a:ext uri="{FF2B5EF4-FFF2-40B4-BE49-F238E27FC236}">
                  <a16:creationId xmlns:a16="http://schemas.microsoft.com/office/drawing/2014/main" id="{0C5001F5-A4B9-7348-A55B-764E0476AA05}"/>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25" name="グループ化 24">
              <a:extLst>
                <a:ext uri="{FF2B5EF4-FFF2-40B4-BE49-F238E27FC236}">
                  <a16:creationId xmlns:a16="http://schemas.microsoft.com/office/drawing/2014/main" id="{705E77B5-A6BD-2E4F-B479-AA25CBC0AAA4}"/>
                </a:ext>
              </a:extLst>
            </p:cNvPr>
            <p:cNvGrpSpPr/>
            <p:nvPr/>
          </p:nvGrpSpPr>
          <p:grpSpPr>
            <a:xfrm>
              <a:off x="4938565" y="3795935"/>
              <a:ext cx="1865455" cy="1865455"/>
              <a:chOff x="4938565" y="3795935"/>
              <a:chExt cx="1865455" cy="1865455"/>
            </a:xfrm>
          </p:grpSpPr>
          <p:sp>
            <p:nvSpPr>
              <p:cNvPr id="26" name="五角形 25">
                <a:extLst>
                  <a:ext uri="{FF2B5EF4-FFF2-40B4-BE49-F238E27FC236}">
                    <a16:creationId xmlns:a16="http://schemas.microsoft.com/office/drawing/2014/main" id="{482367C9-17F8-684A-8BE3-963AED2CEB35}"/>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27" name="直線コネクタ 26">
                <a:extLst>
                  <a:ext uri="{FF2B5EF4-FFF2-40B4-BE49-F238E27FC236}">
                    <a16:creationId xmlns:a16="http://schemas.microsoft.com/office/drawing/2014/main" id="{676BFE58-3CD8-844B-8152-E59538A76DD1}"/>
                  </a:ext>
                </a:extLst>
              </p:cNvPr>
              <p:cNvCxnSpPr>
                <a:cxnSpLocks/>
                <a:stCxn id="26" idx="0"/>
                <a:endCxn id="3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A57BE1E-C39B-EE48-BD38-2DA99B654512}"/>
                  </a:ext>
                </a:extLst>
              </p:cNvPr>
              <p:cNvCxnSpPr>
                <a:cxnSpLocks/>
                <a:stCxn id="32" idx="3"/>
                <a:endCxn id="2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386CDF1-3A0A-5243-844E-5BD2EA9AB95B}"/>
                  </a:ext>
                </a:extLst>
              </p:cNvPr>
              <p:cNvCxnSpPr>
                <a:cxnSpLocks/>
                <a:stCxn id="32" idx="5"/>
                <a:endCxn id="2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77A26F8-323D-5542-9856-08E4E070C741}"/>
                  </a:ext>
                </a:extLst>
              </p:cNvPr>
              <p:cNvCxnSpPr>
                <a:cxnSpLocks/>
                <a:stCxn id="32" idx="6"/>
                <a:endCxn id="2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48FE9C4-1DAA-CE4D-B284-C2B179BDA807}"/>
                  </a:ext>
                </a:extLst>
              </p:cNvPr>
              <p:cNvCxnSpPr>
                <a:cxnSpLocks/>
                <a:stCxn id="26" idx="1"/>
                <a:endCxn id="3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2" name="円/楕円 31">
                <a:extLst>
                  <a:ext uri="{FF2B5EF4-FFF2-40B4-BE49-F238E27FC236}">
                    <a16:creationId xmlns:a16="http://schemas.microsoft.com/office/drawing/2014/main" id="{4F750818-9C93-B749-99BB-5C97184B4934}"/>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3" name="五角形 278">
                <a:extLst>
                  <a:ext uri="{FF2B5EF4-FFF2-40B4-BE49-F238E27FC236}">
                    <a16:creationId xmlns:a16="http://schemas.microsoft.com/office/drawing/2014/main" id="{4ED90A91-43CA-0A4F-979B-AB4E5A48E9E7}"/>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2562235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誠実性</a:t>
            </a:r>
            <a:endParaRPr lang="en-US" altLang="ja-JP" dirty="0"/>
          </a:p>
          <a:p>
            <a:pPr lvl="1"/>
            <a:r>
              <a:rPr lang="ja-JP" altLang="en-US"/>
              <a:t>自分を律する能力が高い→協調的になる</a:t>
            </a:r>
            <a:endParaRPr lang="en-US" altLang="ja-JP" dirty="0"/>
          </a:p>
          <a:p>
            <a:pPr lvl="2"/>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r>
              <a:rPr lang="ja-JP" altLang="en-US"/>
              <a:t>協調性</a:t>
            </a:r>
            <a:endParaRPr lang="en-US" altLang="ja-JP" dirty="0"/>
          </a:p>
          <a:p>
            <a:pPr lvl="1"/>
            <a:r>
              <a:rPr lang="ja-JP" altLang="en-US"/>
              <a:t>協調的なのでこちらも協調的に</a:t>
            </a:r>
            <a:endParaRPr lang="en-US" altLang="ja-JP" dirty="0">
              <a:solidFill>
                <a:schemeClr val="accent2"/>
              </a:solidFill>
            </a:endParaRPr>
          </a:p>
          <a:p>
            <a:pPr lvl="2"/>
            <a:r>
              <a:rPr lang="ja-JP" altLang="en-US">
                <a:solidFill>
                  <a:schemeClr val="accent2"/>
                </a:solidFill>
              </a:rPr>
              <a:t>譲歩速度かなり早め</a:t>
            </a:r>
            <a:r>
              <a:rPr lang="ja-JP" altLang="en-US"/>
              <a:t>・</a:t>
            </a:r>
            <a:r>
              <a:rPr lang="ja-JP" altLang="en-US">
                <a:solidFill>
                  <a:schemeClr val="accent1"/>
                </a:solidFill>
              </a:rPr>
              <a:t>行動頻度低め</a:t>
            </a:r>
            <a:endParaRPr lang="en-US" altLang="ja-JP" dirty="0">
              <a:solidFill>
                <a:schemeClr val="accent1"/>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補足資料</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24</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9093" y="1019512"/>
            <a:ext cx="3757153" cy="244800"/>
            <a:chOff x="143915" y="1377865"/>
            <a:chExt cx="375715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0744" y="1607575"/>
              <a:ext cx="3540324"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3758696" cy="244800"/>
            <a:chOff x="143915" y="1384215"/>
            <a:chExt cx="3758696"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353795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9" name="グループ化 18">
            <a:extLst>
              <a:ext uri="{FF2B5EF4-FFF2-40B4-BE49-F238E27FC236}">
                <a16:creationId xmlns:a16="http://schemas.microsoft.com/office/drawing/2014/main" id="{52C71551-A00F-2744-A586-E593519688EE}"/>
              </a:ext>
            </a:extLst>
          </p:cNvPr>
          <p:cNvGrpSpPr/>
          <p:nvPr/>
        </p:nvGrpSpPr>
        <p:grpSpPr>
          <a:xfrm>
            <a:off x="6422824" y="824915"/>
            <a:ext cx="2686889" cy="2458891"/>
            <a:chOff x="4259517" y="3268537"/>
            <a:chExt cx="3251136" cy="2975259"/>
          </a:xfrm>
        </p:grpSpPr>
        <p:sp>
          <p:nvSpPr>
            <p:cNvPr id="20" name="テキスト ボックス 19">
              <a:extLst>
                <a:ext uri="{FF2B5EF4-FFF2-40B4-BE49-F238E27FC236}">
                  <a16:creationId xmlns:a16="http://schemas.microsoft.com/office/drawing/2014/main" id="{53F25B95-E5C8-D04E-A1E8-A3D136EF0A59}"/>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21" name="テキスト ボックス 20">
              <a:extLst>
                <a:ext uri="{FF2B5EF4-FFF2-40B4-BE49-F238E27FC236}">
                  <a16:creationId xmlns:a16="http://schemas.microsoft.com/office/drawing/2014/main" id="{193D2B07-069A-2940-B777-015F277DDC72}"/>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22" name="テキスト ボックス 21">
              <a:extLst>
                <a:ext uri="{FF2B5EF4-FFF2-40B4-BE49-F238E27FC236}">
                  <a16:creationId xmlns:a16="http://schemas.microsoft.com/office/drawing/2014/main" id="{13C11DF5-95B1-3B4D-84ED-71A7879D0702}"/>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23" name="テキスト ボックス 22">
              <a:extLst>
                <a:ext uri="{FF2B5EF4-FFF2-40B4-BE49-F238E27FC236}">
                  <a16:creationId xmlns:a16="http://schemas.microsoft.com/office/drawing/2014/main" id="{DB268488-5F7A-EA46-8C87-939B38E83BCD}"/>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24" name="テキスト ボックス 23">
              <a:extLst>
                <a:ext uri="{FF2B5EF4-FFF2-40B4-BE49-F238E27FC236}">
                  <a16:creationId xmlns:a16="http://schemas.microsoft.com/office/drawing/2014/main" id="{0C5001F5-A4B9-7348-A55B-764E0476AA05}"/>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25" name="グループ化 24">
              <a:extLst>
                <a:ext uri="{FF2B5EF4-FFF2-40B4-BE49-F238E27FC236}">
                  <a16:creationId xmlns:a16="http://schemas.microsoft.com/office/drawing/2014/main" id="{705E77B5-A6BD-2E4F-B479-AA25CBC0AAA4}"/>
                </a:ext>
              </a:extLst>
            </p:cNvPr>
            <p:cNvGrpSpPr/>
            <p:nvPr/>
          </p:nvGrpSpPr>
          <p:grpSpPr>
            <a:xfrm>
              <a:off x="4938565" y="3795935"/>
              <a:ext cx="1865455" cy="1865455"/>
              <a:chOff x="4938565" y="3795935"/>
              <a:chExt cx="1865455" cy="1865455"/>
            </a:xfrm>
          </p:grpSpPr>
          <p:sp>
            <p:nvSpPr>
              <p:cNvPr id="26" name="五角形 25">
                <a:extLst>
                  <a:ext uri="{FF2B5EF4-FFF2-40B4-BE49-F238E27FC236}">
                    <a16:creationId xmlns:a16="http://schemas.microsoft.com/office/drawing/2014/main" id="{482367C9-17F8-684A-8BE3-963AED2CEB35}"/>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27" name="直線コネクタ 26">
                <a:extLst>
                  <a:ext uri="{FF2B5EF4-FFF2-40B4-BE49-F238E27FC236}">
                    <a16:creationId xmlns:a16="http://schemas.microsoft.com/office/drawing/2014/main" id="{676BFE58-3CD8-844B-8152-E59538A76DD1}"/>
                  </a:ext>
                </a:extLst>
              </p:cNvPr>
              <p:cNvCxnSpPr>
                <a:cxnSpLocks/>
                <a:stCxn id="26" idx="0"/>
                <a:endCxn id="32"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EA57BE1E-C39B-EE48-BD38-2DA99B654512}"/>
                  </a:ext>
                </a:extLst>
              </p:cNvPr>
              <p:cNvCxnSpPr>
                <a:cxnSpLocks/>
                <a:stCxn id="32" idx="3"/>
                <a:endCxn id="26"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5386CDF1-3A0A-5243-844E-5BD2EA9AB95B}"/>
                  </a:ext>
                </a:extLst>
              </p:cNvPr>
              <p:cNvCxnSpPr>
                <a:cxnSpLocks/>
                <a:stCxn id="32" idx="5"/>
                <a:endCxn id="26"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77A26F8-323D-5542-9856-08E4E070C741}"/>
                  </a:ext>
                </a:extLst>
              </p:cNvPr>
              <p:cNvCxnSpPr>
                <a:cxnSpLocks/>
                <a:stCxn id="32" idx="6"/>
                <a:endCxn id="26"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48FE9C4-1DAA-CE4D-B284-C2B179BDA807}"/>
                  </a:ext>
                </a:extLst>
              </p:cNvPr>
              <p:cNvCxnSpPr>
                <a:cxnSpLocks/>
                <a:stCxn id="26" idx="1"/>
                <a:endCxn id="32"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2" name="円/楕円 31">
                <a:extLst>
                  <a:ext uri="{FF2B5EF4-FFF2-40B4-BE49-F238E27FC236}">
                    <a16:creationId xmlns:a16="http://schemas.microsoft.com/office/drawing/2014/main" id="{4F750818-9C93-B749-99BB-5C97184B4934}"/>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3" name="五角形 278">
                <a:extLst>
                  <a:ext uri="{FF2B5EF4-FFF2-40B4-BE49-F238E27FC236}">
                    <a16:creationId xmlns:a16="http://schemas.microsoft.com/office/drawing/2014/main" id="{4ED90A91-43CA-0A4F-979B-AB4E5A48E9E7}"/>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2621824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競争</a:t>
            </a:r>
            <a:endParaRPr lang="en-US" altLang="ja-JP" dirty="0"/>
          </a:p>
          <a:p>
            <a:pPr lvl="1"/>
            <a:r>
              <a:rPr lang="ja-JP" altLang="en-US"/>
              <a:t>積極性が高く協調性が低い→かなり強硬に</a:t>
            </a:r>
            <a:br>
              <a:rPr lang="en-US" altLang="ja-JP" dirty="0"/>
            </a:br>
            <a:r>
              <a:rPr lang="ja-JP" altLang="en-US"/>
              <a:t>なる必要がある</a:t>
            </a:r>
            <a:endParaRPr lang="en-US" altLang="ja-JP" dirty="0"/>
          </a:p>
          <a:p>
            <a:pPr lvl="2"/>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r>
              <a:rPr lang="ja-JP" altLang="en-US"/>
              <a:t>順応</a:t>
            </a:r>
            <a:endParaRPr lang="en-US" altLang="ja-JP" dirty="0"/>
          </a:p>
          <a:p>
            <a:pPr lvl="1"/>
            <a:r>
              <a:rPr lang="ja-JP" altLang="en-US"/>
              <a:t>積極性が低く協調性が高い→かなり譲歩しても良い</a:t>
            </a:r>
            <a:endParaRPr lang="en-US" altLang="ja-JP" dirty="0"/>
          </a:p>
          <a:p>
            <a:pPr lvl="2"/>
            <a:r>
              <a:rPr lang="ja-JP" altLang="en-US">
                <a:solidFill>
                  <a:schemeClr val="accent2"/>
                </a:solidFill>
              </a:rPr>
              <a:t>譲歩速度かなり早め</a:t>
            </a:r>
            <a:r>
              <a:rPr lang="ja-JP" altLang="en-US"/>
              <a:t>・</a:t>
            </a:r>
            <a:r>
              <a:rPr lang="ja-JP" altLang="en-US">
                <a:solidFill>
                  <a:schemeClr val="accent2"/>
                </a:solidFill>
              </a:rPr>
              <a:t>行動頻度高め</a:t>
            </a:r>
            <a:endParaRPr lang="en-US" altLang="ja-JP" dirty="0">
              <a:solidFill>
                <a:schemeClr val="accent2"/>
              </a:solidFill>
            </a:endParaRPr>
          </a:p>
          <a:p>
            <a:r>
              <a:rPr lang="ja-JP" altLang="en-US"/>
              <a:t>共存</a:t>
            </a:r>
            <a:endParaRPr lang="en-US" altLang="ja-JP" dirty="0"/>
          </a:p>
          <a:p>
            <a:pPr lvl="1"/>
            <a:r>
              <a:rPr lang="ja-JP" altLang="en-US"/>
              <a:t>積極性が高く協調性が高い→結構譲歩しても良い</a:t>
            </a:r>
            <a:endParaRPr lang="en-US" altLang="ja-JP" dirty="0"/>
          </a:p>
          <a:p>
            <a:pPr lvl="2"/>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補足資料</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25</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8728" y="1019512"/>
            <a:ext cx="4274012" cy="244800"/>
            <a:chOff x="143915" y="1377865"/>
            <a:chExt cx="4274012"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56835" y="1607575"/>
              <a:ext cx="406109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4288745" cy="244800"/>
            <a:chOff x="143915" y="1384215"/>
            <a:chExt cx="4288745"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406800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56" name="グループ化 55">
            <a:extLst>
              <a:ext uri="{FF2B5EF4-FFF2-40B4-BE49-F238E27FC236}">
                <a16:creationId xmlns:a16="http://schemas.microsoft.com/office/drawing/2014/main" id="{25D4A574-9A79-E54A-BCF4-D0FCB8A00CC1}"/>
              </a:ext>
            </a:extLst>
          </p:cNvPr>
          <p:cNvGrpSpPr/>
          <p:nvPr/>
        </p:nvGrpSpPr>
        <p:grpSpPr>
          <a:xfrm>
            <a:off x="6822717" y="816352"/>
            <a:ext cx="2199147" cy="2180690"/>
            <a:chOff x="7798032" y="19015474"/>
            <a:chExt cx="5491846" cy="5445754"/>
          </a:xfrm>
        </p:grpSpPr>
        <p:pic>
          <p:nvPicPr>
            <p:cNvPr id="57" name="図 56">
              <a:extLst>
                <a:ext uri="{FF2B5EF4-FFF2-40B4-BE49-F238E27FC236}">
                  <a16:creationId xmlns:a16="http://schemas.microsoft.com/office/drawing/2014/main" id="{CE603763-6943-D84B-84C1-E96219FC3A50}"/>
                </a:ext>
              </a:extLst>
            </p:cNvPr>
            <p:cNvPicPr>
              <a:picLocks noChangeAspect="1"/>
            </p:cNvPicPr>
            <p:nvPr/>
          </p:nvPicPr>
          <p:blipFill rotWithShape="1">
            <a:blip r:embed="rId2"/>
            <a:srcRect l="10972" t="1550" r="-1061" b="21005"/>
            <a:stretch/>
          </p:blipFill>
          <p:spPr>
            <a:xfrm>
              <a:off x="8648581" y="19015474"/>
              <a:ext cx="4641297" cy="4492610"/>
            </a:xfrm>
            <a:prstGeom prst="rect">
              <a:avLst/>
            </a:prstGeom>
          </p:spPr>
        </p:pic>
        <p:cxnSp>
          <p:nvCxnSpPr>
            <p:cNvPr id="58" name="直線矢印コネクタ 57">
              <a:extLst>
                <a:ext uri="{FF2B5EF4-FFF2-40B4-BE49-F238E27FC236}">
                  <a16:creationId xmlns:a16="http://schemas.microsoft.com/office/drawing/2014/main" id="{2A3FE60E-0D6F-6848-9A1E-325BD97DE06A}"/>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03B40883-61D5-FC4D-B4D1-5432E84158DA}"/>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9F9C89BA-C2D6-064D-9EB1-C67ACACEBD5F}"/>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61" name="テキスト ボックス 60">
              <a:extLst>
                <a:ext uri="{FF2B5EF4-FFF2-40B4-BE49-F238E27FC236}">
                  <a16:creationId xmlns:a16="http://schemas.microsoft.com/office/drawing/2014/main" id="{25D20AF2-F064-3945-9680-3B3C0984AACB}"/>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Tree>
    <p:extLst>
      <p:ext uri="{BB962C8B-B14F-4D97-AF65-F5344CB8AC3E}">
        <p14:creationId xmlns:p14="http://schemas.microsoft.com/office/powerpoint/2010/main" val="978749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回避</a:t>
            </a:r>
            <a:endParaRPr lang="en-US" altLang="ja-JP" dirty="0"/>
          </a:p>
          <a:p>
            <a:pPr lvl="1"/>
            <a:r>
              <a:rPr lang="ja-JP" altLang="en-US"/>
              <a:t>積極性が低く協調性が低い→結構強硬に</a:t>
            </a:r>
            <a:br>
              <a:rPr lang="en-US" altLang="ja-JP" dirty="0"/>
            </a:br>
            <a:r>
              <a:rPr lang="ja-JP" altLang="en-US"/>
              <a:t>なる必要がある</a:t>
            </a:r>
            <a:endParaRPr lang="en-US" altLang="ja-JP" dirty="0"/>
          </a:p>
          <a:p>
            <a:pPr lvl="2"/>
            <a:r>
              <a:rPr lang="ja-JP" altLang="en-US">
                <a:solidFill>
                  <a:schemeClr val="accent1"/>
                </a:solidFill>
              </a:rPr>
              <a:t>譲歩速度遅め</a:t>
            </a:r>
            <a:r>
              <a:rPr lang="ja-JP" altLang="en-US"/>
              <a:t>・</a:t>
            </a:r>
            <a:r>
              <a:rPr lang="ja-JP" altLang="en-US">
                <a:solidFill>
                  <a:schemeClr val="accent2"/>
                </a:solidFill>
              </a:rPr>
              <a:t>行動頻度高め</a:t>
            </a:r>
            <a:endParaRPr lang="en-US" altLang="ja-JP" dirty="0">
              <a:solidFill>
                <a:schemeClr val="accent2"/>
              </a:solidFill>
            </a:endParaRPr>
          </a:p>
          <a:p>
            <a:r>
              <a:rPr lang="ja-JP" altLang="en-US"/>
              <a:t>妥協</a:t>
            </a:r>
            <a:endParaRPr lang="en-US" altLang="ja-JP" dirty="0"/>
          </a:p>
          <a:p>
            <a:pPr lvl="1"/>
            <a:r>
              <a:rPr lang="ja-JP" altLang="en-US"/>
              <a:t>積極性も協調性も中程度→譲歩速度なども中程度</a:t>
            </a:r>
            <a:endParaRPr lang="en-US" altLang="ja-JP" dirty="0"/>
          </a:p>
          <a:p>
            <a:pPr lvl="2"/>
            <a:r>
              <a:rPr lang="ja-JP" altLang="en-US">
                <a:solidFill>
                  <a:schemeClr val="accent2"/>
                </a:solidFill>
              </a:rPr>
              <a:t>譲歩速度やや早め</a:t>
            </a:r>
            <a:r>
              <a:rPr lang="ja-JP" altLang="en-US"/>
              <a:t>・</a:t>
            </a:r>
            <a:r>
              <a:rPr lang="ja-JP" altLang="en-US">
                <a:solidFill>
                  <a:schemeClr val="accent2"/>
                </a:solidFill>
              </a:rPr>
              <a:t>行動頻度やや高め</a:t>
            </a:r>
            <a:endParaRPr lang="en-US" altLang="ja-JP" dirty="0">
              <a:solidFill>
                <a:schemeClr val="accent2"/>
              </a:solidFill>
            </a:endParaRP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補足資料</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0</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26</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8728" y="1019512"/>
            <a:ext cx="4274012" cy="244800"/>
            <a:chOff x="143915" y="1377865"/>
            <a:chExt cx="4274012"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56835" y="1607575"/>
              <a:ext cx="406109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4288745" cy="244800"/>
            <a:chOff x="143915" y="1384215"/>
            <a:chExt cx="4288745"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406800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56" name="グループ化 55">
            <a:extLst>
              <a:ext uri="{FF2B5EF4-FFF2-40B4-BE49-F238E27FC236}">
                <a16:creationId xmlns:a16="http://schemas.microsoft.com/office/drawing/2014/main" id="{25D4A574-9A79-E54A-BCF4-D0FCB8A00CC1}"/>
              </a:ext>
            </a:extLst>
          </p:cNvPr>
          <p:cNvGrpSpPr/>
          <p:nvPr/>
        </p:nvGrpSpPr>
        <p:grpSpPr>
          <a:xfrm>
            <a:off x="6822717" y="816352"/>
            <a:ext cx="2199147" cy="2180690"/>
            <a:chOff x="7798032" y="19015474"/>
            <a:chExt cx="5491846" cy="5445754"/>
          </a:xfrm>
        </p:grpSpPr>
        <p:pic>
          <p:nvPicPr>
            <p:cNvPr id="57" name="図 56">
              <a:extLst>
                <a:ext uri="{FF2B5EF4-FFF2-40B4-BE49-F238E27FC236}">
                  <a16:creationId xmlns:a16="http://schemas.microsoft.com/office/drawing/2014/main" id="{CE603763-6943-D84B-84C1-E96219FC3A50}"/>
                </a:ext>
              </a:extLst>
            </p:cNvPr>
            <p:cNvPicPr>
              <a:picLocks noChangeAspect="1"/>
            </p:cNvPicPr>
            <p:nvPr/>
          </p:nvPicPr>
          <p:blipFill rotWithShape="1">
            <a:blip r:embed="rId2"/>
            <a:srcRect l="10972" t="1550" r="-1061" b="21005"/>
            <a:stretch/>
          </p:blipFill>
          <p:spPr>
            <a:xfrm>
              <a:off x="8648581" y="19015474"/>
              <a:ext cx="4641297" cy="4492610"/>
            </a:xfrm>
            <a:prstGeom prst="rect">
              <a:avLst/>
            </a:prstGeom>
          </p:spPr>
        </p:pic>
        <p:cxnSp>
          <p:nvCxnSpPr>
            <p:cNvPr id="58" name="直線矢印コネクタ 57">
              <a:extLst>
                <a:ext uri="{FF2B5EF4-FFF2-40B4-BE49-F238E27FC236}">
                  <a16:creationId xmlns:a16="http://schemas.microsoft.com/office/drawing/2014/main" id="{2A3FE60E-0D6F-6848-9A1E-325BD97DE06A}"/>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03B40883-61D5-FC4D-B4D1-5432E84158DA}"/>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9F9C89BA-C2D6-064D-9EB1-C67ACACEBD5F}"/>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61" name="テキスト ボックス 60">
              <a:extLst>
                <a:ext uri="{FF2B5EF4-FFF2-40B4-BE49-F238E27FC236}">
                  <a16:creationId xmlns:a16="http://schemas.microsoft.com/office/drawing/2014/main" id="{25D20AF2-F064-3945-9680-3B3C0984AACB}"/>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Tree>
    <p:extLst>
      <p:ext uri="{BB962C8B-B14F-4D97-AF65-F5344CB8AC3E}">
        <p14:creationId xmlns:p14="http://schemas.microsoft.com/office/powerpoint/2010/main" val="3989187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既存研究では</a:t>
            </a:r>
            <a:r>
              <a:rPr lang="ja-JP" altLang="en-US">
                <a:solidFill>
                  <a:schemeClr val="accent2"/>
                </a:solidFill>
              </a:rPr>
              <a:t>現在の</a:t>
            </a:r>
            <a:r>
              <a:rPr lang="en" altLang="ja-JP" dirty="0">
                <a:solidFill>
                  <a:schemeClr val="accent2"/>
                </a:solidFill>
              </a:rPr>
              <a:t>offer</a:t>
            </a:r>
            <a:r>
              <a:rPr lang="ja-JP" altLang="en-US">
                <a:solidFill>
                  <a:schemeClr val="accent2"/>
                </a:solidFill>
              </a:rPr>
              <a:t>を過去の</a:t>
            </a:r>
            <a:r>
              <a:rPr lang="en" altLang="ja-JP" dirty="0">
                <a:solidFill>
                  <a:schemeClr val="accent2"/>
                </a:solidFill>
              </a:rPr>
              <a:t>offer</a:t>
            </a:r>
            <a:r>
              <a:rPr lang="ja-JP" altLang="en-US">
                <a:solidFill>
                  <a:schemeClr val="accent2"/>
                </a:solidFill>
              </a:rPr>
              <a:t>と比べる</a:t>
            </a:r>
            <a:r>
              <a:rPr lang="ja-JP" altLang="en-US"/>
              <a:t>という点のみで譲歩するかを判断している</a:t>
            </a:r>
          </a:p>
          <a:p>
            <a:pPr lvl="1"/>
            <a:r>
              <a:rPr lang="ja-JP" altLang="en-US">
                <a:solidFill>
                  <a:schemeClr val="accent1"/>
                </a:solidFill>
              </a:rPr>
              <a:t>極端な</a:t>
            </a:r>
            <a:r>
              <a:rPr lang="en" altLang="ja-JP" dirty="0">
                <a:solidFill>
                  <a:schemeClr val="accent1"/>
                </a:solidFill>
              </a:rPr>
              <a:t>offer</a:t>
            </a:r>
            <a:r>
              <a:rPr lang="ja-JP" altLang="en-US"/>
              <a:t>が来た時に対応が困難</a:t>
            </a:r>
            <a:endParaRPr lang="en-US" altLang="ja-JP" dirty="0"/>
          </a:p>
          <a:p>
            <a:pPr lvl="1"/>
            <a:r>
              <a:rPr lang="ja-JP" altLang="en-US"/>
              <a:t>俯瞰的に</a:t>
            </a:r>
            <a:r>
              <a:rPr lang="ja-JP" altLang="en-US">
                <a:solidFill>
                  <a:schemeClr val="accent1"/>
                </a:solidFill>
              </a:rPr>
              <a:t>相手の特徴を把握</a:t>
            </a:r>
            <a:r>
              <a:rPr lang="ja-JP" altLang="en-US"/>
              <a:t>するのが困難</a:t>
            </a:r>
            <a:endParaRPr lang="en-US" altLang="ja-JP" dirty="0"/>
          </a:p>
          <a:p>
            <a:pPr lvl="1"/>
            <a:r>
              <a:rPr lang="en" altLang="ja-JP" dirty="0"/>
              <a:t>offer</a:t>
            </a:r>
            <a:r>
              <a:rPr lang="ja-JP" altLang="en-US"/>
              <a:t>の送信以外の行動も人間の交渉では行われる</a:t>
            </a:r>
            <a:endParaRPr lang="en-US" altLang="ja-JP" dirty="0"/>
          </a:p>
          <a:p>
            <a:r>
              <a:rPr lang="ja-JP" altLang="en-US"/>
              <a:t>交渉では相手と</a:t>
            </a:r>
            <a:r>
              <a:rPr lang="ja-JP" altLang="en-US">
                <a:solidFill>
                  <a:schemeClr val="accent2"/>
                </a:solidFill>
              </a:rPr>
              <a:t>コミットメント</a:t>
            </a:r>
            <a:r>
              <a:rPr lang="ja-JP" altLang="en-US"/>
              <a:t>を築くことも重要</a:t>
            </a:r>
          </a:p>
          <a:p>
            <a:pPr lvl="1"/>
            <a:r>
              <a:rPr lang="en-US" altLang="ja-JP" dirty="0"/>
              <a:t>offer</a:t>
            </a:r>
            <a:r>
              <a:rPr lang="ja-JP" altLang="en-US"/>
              <a:t>以外の要素も加味することで良い関係構築を行うことが期待できる</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27</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8775" y="1020151"/>
            <a:ext cx="3438899" cy="244800"/>
            <a:chOff x="143915" y="1377865"/>
            <a:chExt cx="3438899"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7" y="1607575"/>
              <a:ext cx="321815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3436203" cy="244800"/>
            <a:chOff x="143915" y="1384215"/>
            <a:chExt cx="3436203"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3215458"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1211063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人間の特徴をより具体的に評価できる指標が必要</a:t>
            </a:r>
            <a:endParaRPr lang="en-US" altLang="ja-JP" dirty="0"/>
          </a:p>
          <a:p>
            <a:pPr lvl="1"/>
            <a:r>
              <a:rPr lang="ja-JP" altLang="en-US"/>
              <a:t>特定のカテゴリに入ったときの戦略しか考えられていない</a:t>
            </a: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はじめに</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1</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28</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8775" y="1020151"/>
            <a:ext cx="3438899" cy="244800"/>
            <a:chOff x="143915" y="1377865"/>
            <a:chExt cx="3438899"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7" y="1607575"/>
              <a:ext cx="321815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3436203" cy="244800"/>
            <a:chOff x="143915" y="1384215"/>
            <a:chExt cx="3436203"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3215458"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5" name="グループ化 14">
            <a:extLst>
              <a:ext uri="{FF2B5EF4-FFF2-40B4-BE49-F238E27FC236}">
                <a16:creationId xmlns:a16="http://schemas.microsoft.com/office/drawing/2014/main" id="{67F5618D-B853-2F4B-9CAE-65AA51C0B1DB}"/>
              </a:ext>
            </a:extLst>
          </p:cNvPr>
          <p:cNvGrpSpPr/>
          <p:nvPr/>
        </p:nvGrpSpPr>
        <p:grpSpPr>
          <a:xfrm>
            <a:off x="1366225" y="3291324"/>
            <a:ext cx="6388466" cy="3266002"/>
            <a:chOff x="1224873" y="3291324"/>
            <a:chExt cx="6388466" cy="3266002"/>
          </a:xfrm>
        </p:grpSpPr>
        <p:grpSp>
          <p:nvGrpSpPr>
            <p:cNvPr id="16" name="グループ化 15">
              <a:extLst>
                <a:ext uri="{FF2B5EF4-FFF2-40B4-BE49-F238E27FC236}">
                  <a16:creationId xmlns:a16="http://schemas.microsoft.com/office/drawing/2014/main" id="{5CC46125-7761-6A48-A2DD-E7C343DC8441}"/>
                </a:ext>
              </a:extLst>
            </p:cNvPr>
            <p:cNvGrpSpPr/>
            <p:nvPr/>
          </p:nvGrpSpPr>
          <p:grpSpPr>
            <a:xfrm>
              <a:off x="1224873" y="3557524"/>
              <a:ext cx="2647273" cy="2999802"/>
              <a:chOff x="1224873" y="3557524"/>
              <a:chExt cx="2647273" cy="2999802"/>
            </a:xfrm>
          </p:grpSpPr>
          <p:grpSp>
            <p:nvGrpSpPr>
              <p:cNvPr id="40" name="グループ化 39">
                <a:extLst>
                  <a:ext uri="{FF2B5EF4-FFF2-40B4-BE49-F238E27FC236}">
                    <a16:creationId xmlns:a16="http://schemas.microsoft.com/office/drawing/2014/main" id="{237B469D-AE53-154D-8BED-152130A9BE07}"/>
                  </a:ext>
                </a:extLst>
              </p:cNvPr>
              <p:cNvGrpSpPr/>
              <p:nvPr/>
            </p:nvGrpSpPr>
            <p:grpSpPr>
              <a:xfrm>
                <a:off x="1224873" y="3557524"/>
                <a:ext cx="2647273" cy="2611244"/>
                <a:chOff x="7826296" y="19015474"/>
                <a:chExt cx="5463582" cy="5389221"/>
              </a:xfrm>
            </p:grpSpPr>
            <p:pic>
              <p:nvPicPr>
                <p:cNvPr id="42" name="図 41">
                  <a:extLst>
                    <a:ext uri="{FF2B5EF4-FFF2-40B4-BE49-F238E27FC236}">
                      <a16:creationId xmlns:a16="http://schemas.microsoft.com/office/drawing/2014/main" id="{E2957559-94EC-3540-8EBF-27B93B301780}"/>
                    </a:ext>
                  </a:extLst>
                </p:cNvPr>
                <p:cNvPicPr>
                  <a:picLocks noChangeAspect="1"/>
                </p:cNvPicPr>
                <p:nvPr/>
              </p:nvPicPr>
              <p:blipFill rotWithShape="1">
                <a:blip r:embed="rId2"/>
                <a:srcRect l="10972" t="1550" r="-1061" b="21005"/>
                <a:stretch/>
              </p:blipFill>
              <p:spPr>
                <a:xfrm>
                  <a:off x="8648581" y="19015474"/>
                  <a:ext cx="4641297" cy="4492610"/>
                </a:xfrm>
                <a:prstGeom prst="rect">
                  <a:avLst/>
                </a:prstGeom>
              </p:spPr>
            </p:pic>
            <p:cxnSp>
              <p:nvCxnSpPr>
                <p:cNvPr id="43" name="直線矢印コネクタ 42">
                  <a:extLst>
                    <a:ext uri="{FF2B5EF4-FFF2-40B4-BE49-F238E27FC236}">
                      <a16:creationId xmlns:a16="http://schemas.microsoft.com/office/drawing/2014/main" id="{7375FDD7-B784-BE48-8BF0-AC90C25D750A}"/>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D304C2C0-997B-304F-89BF-4B265335A17B}"/>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D4CDC2D6-5D65-2C4B-8F34-6E5E1AA0DD47}"/>
                    </a:ext>
                  </a:extLst>
                </p:cNvPr>
                <p:cNvSpPr txBox="1"/>
                <p:nvPr/>
              </p:nvSpPr>
              <p:spPr>
                <a:xfrm>
                  <a:off x="9420397" y="23769489"/>
                  <a:ext cx="2490051" cy="635206"/>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協調性</a:t>
                  </a:r>
                </a:p>
              </p:txBody>
            </p:sp>
            <p:sp>
              <p:nvSpPr>
                <p:cNvPr id="46" name="テキスト ボックス 45">
                  <a:extLst>
                    <a:ext uri="{FF2B5EF4-FFF2-40B4-BE49-F238E27FC236}">
                      <a16:creationId xmlns:a16="http://schemas.microsoft.com/office/drawing/2014/main" id="{2DC8F989-C80A-884D-9773-C65A72138EC7}"/>
                    </a:ext>
                  </a:extLst>
                </p:cNvPr>
                <p:cNvSpPr txBox="1"/>
                <p:nvPr/>
              </p:nvSpPr>
              <p:spPr>
                <a:xfrm rot="16200000">
                  <a:off x="6898875" y="21239507"/>
                  <a:ext cx="2490050" cy="635207"/>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積極性</a:t>
                  </a:r>
                </a:p>
              </p:txBody>
            </p:sp>
          </p:grpSp>
          <p:sp>
            <p:nvSpPr>
              <p:cNvPr id="41" name="テキスト ボックス 40">
                <a:extLst>
                  <a:ext uri="{FF2B5EF4-FFF2-40B4-BE49-F238E27FC236}">
                    <a16:creationId xmlns:a16="http://schemas.microsoft.com/office/drawing/2014/main" id="{62E3BBCF-4856-2D43-A34D-13A76E9FC29B}"/>
                  </a:ext>
                </a:extLst>
              </p:cNvPr>
              <p:cNvSpPr txBox="1"/>
              <p:nvPr/>
            </p:nvSpPr>
            <p:spPr>
              <a:xfrm>
                <a:off x="2356971" y="6218772"/>
                <a:ext cx="513282" cy="338554"/>
              </a:xfrm>
              <a:prstGeom prst="rect">
                <a:avLst/>
              </a:prstGeom>
              <a:noFill/>
            </p:spPr>
            <p:txBody>
              <a:bodyPr wrap="none" rtlCol="0">
                <a:spAutoFit/>
              </a:bodyPr>
              <a:lstStyle/>
              <a:p>
                <a:r>
                  <a:rPr kumimoji="1" lang="en-US" altLang="ja-JP" sz="1600" dirty="0"/>
                  <a:t>TKI</a:t>
                </a:r>
                <a:endParaRPr kumimoji="1" lang="ja-JP" altLang="en-US" sz="1600"/>
              </a:p>
            </p:txBody>
          </p:sp>
        </p:grpSp>
        <p:grpSp>
          <p:nvGrpSpPr>
            <p:cNvPr id="17" name="グループ化 16">
              <a:extLst>
                <a:ext uri="{FF2B5EF4-FFF2-40B4-BE49-F238E27FC236}">
                  <a16:creationId xmlns:a16="http://schemas.microsoft.com/office/drawing/2014/main" id="{2E15D3AB-0310-0247-821B-8AF014DD6CF5}"/>
                </a:ext>
              </a:extLst>
            </p:cNvPr>
            <p:cNvGrpSpPr/>
            <p:nvPr/>
          </p:nvGrpSpPr>
          <p:grpSpPr>
            <a:xfrm>
              <a:off x="4420335" y="3291324"/>
              <a:ext cx="3193004" cy="3261920"/>
              <a:chOff x="4288255" y="3311644"/>
              <a:chExt cx="3193004" cy="3261920"/>
            </a:xfrm>
          </p:grpSpPr>
          <p:sp>
            <p:nvSpPr>
              <p:cNvPr id="18" name="テキスト ボックス 17">
                <a:extLst>
                  <a:ext uri="{FF2B5EF4-FFF2-40B4-BE49-F238E27FC236}">
                    <a16:creationId xmlns:a16="http://schemas.microsoft.com/office/drawing/2014/main" id="{4A6DA660-3607-964A-B850-90706C25C8C7}"/>
                  </a:ext>
                </a:extLst>
              </p:cNvPr>
              <p:cNvSpPr txBox="1"/>
              <p:nvPr/>
            </p:nvSpPr>
            <p:spPr>
              <a:xfrm>
                <a:off x="5336117" y="3311644"/>
                <a:ext cx="1082348" cy="523220"/>
              </a:xfrm>
              <a:prstGeom prst="rect">
                <a:avLst/>
              </a:prstGeom>
              <a:noFill/>
            </p:spPr>
            <p:txBody>
              <a:bodyPr wrap="none" rtlCol="0">
                <a:spAutoFit/>
              </a:bodyPr>
              <a:lstStyle/>
              <a:p>
                <a:pPr algn="ctr"/>
                <a:r>
                  <a:rPr kumimoji="1" lang="ja-JP" altLang="en-US" sz="1400"/>
                  <a:t>神経症傾向</a:t>
                </a:r>
                <a:endParaRPr kumimoji="1" lang="en-US" altLang="ja-JP" sz="1400" dirty="0"/>
              </a:p>
              <a:p>
                <a:pPr algn="ctr"/>
                <a:r>
                  <a:rPr kumimoji="1" lang="en-US" altLang="ja-JP" sz="1400" dirty="0"/>
                  <a:t>(N)</a:t>
                </a:r>
                <a:endParaRPr kumimoji="1" lang="ja-JP" altLang="en-US" sz="1400"/>
              </a:p>
            </p:txBody>
          </p:sp>
          <p:sp>
            <p:nvSpPr>
              <p:cNvPr id="19" name="テキスト ボックス 18">
                <a:extLst>
                  <a:ext uri="{FF2B5EF4-FFF2-40B4-BE49-F238E27FC236}">
                    <a16:creationId xmlns:a16="http://schemas.microsoft.com/office/drawing/2014/main" id="{81AFA2B7-8CF0-6649-ABBD-C5489CB52006}"/>
                  </a:ext>
                </a:extLst>
              </p:cNvPr>
              <p:cNvSpPr txBox="1"/>
              <p:nvPr/>
            </p:nvSpPr>
            <p:spPr>
              <a:xfrm>
                <a:off x="5821836" y="5682852"/>
                <a:ext cx="1441419" cy="523220"/>
              </a:xfrm>
              <a:prstGeom prst="rect">
                <a:avLst/>
              </a:prstGeom>
              <a:noFill/>
            </p:spPr>
            <p:txBody>
              <a:bodyPr wrap="none" rtlCol="0">
                <a:spAutoFit/>
              </a:bodyPr>
              <a:lstStyle/>
              <a:p>
                <a:pPr algn="ctr"/>
                <a:r>
                  <a:rPr kumimoji="1" lang="ja-JP" altLang="en-US" sz="1400"/>
                  <a:t>経験への開放性</a:t>
                </a:r>
                <a:endParaRPr kumimoji="1" lang="en-US" altLang="ja-JP" sz="1400" dirty="0"/>
              </a:p>
              <a:p>
                <a:pPr algn="ctr"/>
                <a:r>
                  <a:rPr kumimoji="1" lang="en-US" altLang="ja-JP" sz="1400" dirty="0"/>
                  <a:t>(O)</a:t>
                </a:r>
                <a:endParaRPr kumimoji="1" lang="ja-JP" altLang="en-US" sz="1400"/>
              </a:p>
            </p:txBody>
          </p:sp>
          <p:sp>
            <p:nvSpPr>
              <p:cNvPr id="20" name="テキスト ボックス 19">
                <a:extLst>
                  <a:ext uri="{FF2B5EF4-FFF2-40B4-BE49-F238E27FC236}">
                    <a16:creationId xmlns:a16="http://schemas.microsoft.com/office/drawing/2014/main" id="{CFB616AC-05CC-5B4F-860B-E01605F8842A}"/>
                  </a:ext>
                </a:extLst>
              </p:cNvPr>
              <p:cNvSpPr txBox="1"/>
              <p:nvPr/>
            </p:nvSpPr>
            <p:spPr>
              <a:xfrm>
                <a:off x="6757984" y="4236252"/>
                <a:ext cx="723275" cy="523220"/>
              </a:xfrm>
              <a:prstGeom prst="rect">
                <a:avLst/>
              </a:prstGeom>
              <a:noFill/>
            </p:spPr>
            <p:txBody>
              <a:bodyPr wrap="none" rtlCol="0">
                <a:spAutoFit/>
              </a:bodyPr>
              <a:lstStyle/>
              <a:p>
                <a:pPr algn="ctr"/>
                <a:r>
                  <a:rPr kumimoji="1" lang="ja-JP" altLang="en-US" sz="1400"/>
                  <a:t>外向性</a:t>
                </a:r>
                <a:endParaRPr kumimoji="1" lang="en-US" altLang="ja-JP" sz="1400" dirty="0"/>
              </a:p>
              <a:p>
                <a:pPr algn="ctr"/>
                <a:r>
                  <a:rPr kumimoji="1" lang="en-US" altLang="ja-JP" sz="1400" dirty="0"/>
                  <a:t>(E)</a:t>
                </a:r>
                <a:endParaRPr kumimoji="1" lang="ja-JP" altLang="en-US" sz="1400"/>
              </a:p>
            </p:txBody>
          </p:sp>
          <p:sp>
            <p:nvSpPr>
              <p:cNvPr id="21" name="テキスト ボックス 20">
                <a:extLst>
                  <a:ext uri="{FF2B5EF4-FFF2-40B4-BE49-F238E27FC236}">
                    <a16:creationId xmlns:a16="http://schemas.microsoft.com/office/drawing/2014/main" id="{2A0E4256-935B-264F-999A-06D5FA6A8DAA}"/>
                  </a:ext>
                </a:extLst>
              </p:cNvPr>
              <p:cNvSpPr txBox="1"/>
              <p:nvPr/>
            </p:nvSpPr>
            <p:spPr>
              <a:xfrm>
                <a:off x="4780760" y="5685181"/>
                <a:ext cx="723275" cy="523220"/>
              </a:xfrm>
              <a:prstGeom prst="rect">
                <a:avLst/>
              </a:prstGeom>
              <a:noFill/>
            </p:spPr>
            <p:txBody>
              <a:bodyPr wrap="none" rtlCol="0">
                <a:spAutoFit/>
              </a:bodyPr>
              <a:lstStyle/>
              <a:p>
                <a:pPr algn="ctr"/>
                <a:r>
                  <a:rPr kumimoji="1" lang="ja-JP" altLang="en-US" sz="1400"/>
                  <a:t>協調性</a:t>
                </a:r>
                <a:endParaRPr kumimoji="1" lang="en-US" altLang="ja-JP" sz="1400" dirty="0"/>
              </a:p>
              <a:p>
                <a:pPr algn="ctr"/>
                <a:r>
                  <a:rPr kumimoji="1" lang="en-US" altLang="ja-JP" sz="1400" dirty="0"/>
                  <a:t>(A)</a:t>
                </a:r>
                <a:endParaRPr kumimoji="1" lang="ja-JP" altLang="en-US" sz="1400"/>
              </a:p>
            </p:txBody>
          </p:sp>
          <p:sp>
            <p:nvSpPr>
              <p:cNvPr id="23" name="テキスト ボックス 22">
                <a:extLst>
                  <a:ext uri="{FF2B5EF4-FFF2-40B4-BE49-F238E27FC236}">
                    <a16:creationId xmlns:a16="http://schemas.microsoft.com/office/drawing/2014/main" id="{C3F604DF-5211-C444-91EC-0F30428F6B0A}"/>
                  </a:ext>
                </a:extLst>
              </p:cNvPr>
              <p:cNvSpPr txBox="1"/>
              <p:nvPr/>
            </p:nvSpPr>
            <p:spPr>
              <a:xfrm>
                <a:off x="4288255" y="4236252"/>
                <a:ext cx="723275" cy="523220"/>
              </a:xfrm>
              <a:prstGeom prst="rect">
                <a:avLst/>
              </a:prstGeom>
              <a:noFill/>
            </p:spPr>
            <p:txBody>
              <a:bodyPr wrap="none" rtlCol="0">
                <a:spAutoFit/>
              </a:bodyPr>
              <a:lstStyle/>
              <a:p>
                <a:r>
                  <a:rPr kumimoji="1" lang="ja-JP" altLang="en-US" sz="1400"/>
                  <a:t>誠実性</a:t>
                </a:r>
                <a:endParaRPr kumimoji="1" lang="en-US" altLang="ja-JP" sz="1400" dirty="0"/>
              </a:p>
              <a:p>
                <a:pPr algn="ctr"/>
                <a:r>
                  <a:rPr kumimoji="1" lang="en-US" altLang="ja-JP" sz="1400" dirty="0"/>
                  <a:t>(C)</a:t>
                </a:r>
                <a:endParaRPr kumimoji="1" lang="ja-JP" altLang="en-US" sz="1400"/>
              </a:p>
            </p:txBody>
          </p:sp>
          <p:sp>
            <p:nvSpPr>
              <p:cNvPr id="24" name="テキスト ボックス 23">
                <a:extLst>
                  <a:ext uri="{FF2B5EF4-FFF2-40B4-BE49-F238E27FC236}">
                    <a16:creationId xmlns:a16="http://schemas.microsoft.com/office/drawing/2014/main" id="{2B56E1C0-DF3E-3840-8BC7-26BC95D15398}"/>
                  </a:ext>
                </a:extLst>
              </p:cNvPr>
              <p:cNvSpPr txBox="1"/>
              <p:nvPr/>
            </p:nvSpPr>
            <p:spPr>
              <a:xfrm>
                <a:off x="5029549" y="6235010"/>
                <a:ext cx="1620957" cy="338554"/>
              </a:xfrm>
              <a:prstGeom prst="rect">
                <a:avLst/>
              </a:prstGeom>
              <a:noFill/>
            </p:spPr>
            <p:txBody>
              <a:bodyPr wrap="none" rtlCol="0">
                <a:spAutoFit/>
              </a:bodyPr>
              <a:lstStyle/>
              <a:p>
                <a:pPr algn="ctr"/>
                <a:r>
                  <a:rPr kumimoji="1" lang="ja-JP" altLang="en-US" sz="1600"/>
                  <a:t>ビッグファイブ</a:t>
                </a:r>
              </a:p>
            </p:txBody>
          </p:sp>
          <p:grpSp>
            <p:nvGrpSpPr>
              <p:cNvPr id="25" name="グループ化 24">
                <a:extLst>
                  <a:ext uri="{FF2B5EF4-FFF2-40B4-BE49-F238E27FC236}">
                    <a16:creationId xmlns:a16="http://schemas.microsoft.com/office/drawing/2014/main" id="{27FDF14F-A946-934F-B60E-38A490731FB0}"/>
                  </a:ext>
                </a:extLst>
              </p:cNvPr>
              <p:cNvGrpSpPr/>
              <p:nvPr/>
            </p:nvGrpSpPr>
            <p:grpSpPr>
              <a:xfrm>
                <a:off x="4938565" y="3795935"/>
                <a:ext cx="1865455" cy="1865455"/>
                <a:chOff x="4938565" y="3795935"/>
                <a:chExt cx="1865455" cy="1865455"/>
              </a:xfrm>
            </p:grpSpPr>
            <p:sp>
              <p:nvSpPr>
                <p:cNvPr id="32" name="五角形 31">
                  <a:extLst>
                    <a:ext uri="{FF2B5EF4-FFF2-40B4-BE49-F238E27FC236}">
                      <a16:creationId xmlns:a16="http://schemas.microsoft.com/office/drawing/2014/main" id="{61256AC4-319A-6C4D-9C18-DC23F043AD5E}"/>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64CA686D-95DA-A746-889C-34696FFCA62F}"/>
                    </a:ext>
                  </a:extLst>
                </p:cNvPr>
                <p:cNvCxnSpPr>
                  <a:cxnSpLocks/>
                  <a:stCxn id="32" idx="0"/>
                  <a:endCxn id="38"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3D284154-C20C-C84A-A71F-879F96818754}"/>
                    </a:ext>
                  </a:extLst>
                </p:cNvPr>
                <p:cNvCxnSpPr>
                  <a:cxnSpLocks/>
                  <a:stCxn id="38" idx="3"/>
                  <a:endCxn id="32"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E0D6A0EC-DAB0-104A-8057-D05671B4CC7D}"/>
                    </a:ext>
                  </a:extLst>
                </p:cNvPr>
                <p:cNvCxnSpPr>
                  <a:cxnSpLocks/>
                  <a:stCxn id="38" idx="5"/>
                  <a:endCxn id="32"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640DA011-665A-8D43-BC78-86E95BFC515E}"/>
                    </a:ext>
                  </a:extLst>
                </p:cNvPr>
                <p:cNvCxnSpPr>
                  <a:cxnSpLocks/>
                  <a:stCxn id="38" idx="6"/>
                  <a:endCxn id="32"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AC2B369-238C-3541-8445-1ECBEC22DC8B}"/>
                    </a:ext>
                  </a:extLst>
                </p:cNvPr>
                <p:cNvCxnSpPr>
                  <a:cxnSpLocks/>
                  <a:stCxn id="32" idx="1"/>
                  <a:endCxn id="38"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8" name="円/楕円 37">
                  <a:extLst>
                    <a:ext uri="{FF2B5EF4-FFF2-40B4-BE49-F238E27FC236}">
                      <a16:creationId xmlns:a16="http://schemas.microsoft.com/office/drawing/2014/main" id="{28EFB913-B80B-1941-B889-EFAA3CB6AC79}"/>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五角形 278">
                  <a:extLst>
                    <a:ext uri="{FF2B5EF4-FFF2-40B4-BE49-F238E27FC236}">
                      <a16:creationId xmlns:a16="http://schemas.microsoft.com/office/drawing/2014/main" id="{F10A5DA0-E7D6-C048-9A9B-74D9496FA5F5}"/>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spTree>
    <p:extLst>
      <p:ext uri="{BB962C8B-B14F-4D97-AF65-F5344CB8AC3E}">
        <p14:creationId xmlns:p14="http://schemas.microsoft.com/office/powerpoint/2010/main" val="213598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人間と交渉を行う際に用いられるプラットフォーム</a:t>
            </a:r>
            <a:endParaRPr lang="en-US" altLang="ja-JP" dirty="0"/>
          </a:p>
          <a:p>
            <a:pPr lvl="1"/>
            <a:r>
              <a:rPr lang="ja-JP" altLang="en-US"/>
              <a:t>自動交渉の競技会でも使用されている</a:t>
            </a:r>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人間とエージェントの交渉</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2</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29</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IAGO</a:t>
            </a:r>
            <a:endParaRPr lang="ja-JP" altLang="en-US"/>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7014" y="1019512"/>
            <a:ext cx="1253447" cy="244800"/>
            <a:chOff x="143915" y="1377865"/>
            <a:chExt cx="1253447"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364655" y="1607575"/>
              <a:ext cx="103270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1234415" cy="244800"/>
            <a:chOff x="143915" y="1384215"/>
            <a:chExt cx="1234415"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101367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pic>
        <p:nvPicPr>
          <p:cNvPr id="88" name="図 87" descr="スクリーンショットの画面&#10;&#10;自動的に生成された説明">
            <a:extLst>
              <a:ext uri="{FF2B5EF4-FFF2-40B4-BE49-F238E27FC236}">
                <a16:creationId xmlns:a16="http://schemas.microsoft.com/office/drawing/2014/main" id="{2E4A34B0-B63F-EE4D-B2D2-2B385F1F125F}"/>
              </a:ext>
            </a:extLst>
          </p:cNvPr>
          <p:cNvPicPr>
            <a:picLocks noChangeAspect="1"/>
          </p:cNvPicPr>
          <p:nvPr/>
        </p:nvPicPr>
        <p:blipFill>
          <a:blip r:embed="rId2"/>
          <a:stretch>
            <a:fillRect/>
          </a:stretch>
        </p:blipFill>
        <p:spPr>
          <a:xfrm>
            <a:off x="1739599" y="3005999"/>
            <a:ext cx="5677705" cy="3100543"/>
          </a:xfrm>
          <a:prstGeom prst="rect">
            <a:avLst/>
          </a:prstGeom>
        </p:spPr>
      </p:pic>
      <p:sp>
        <p:nvSpPr>
          <p:cNvPr id="89" name="テキスト ボックス 88">
            <a:extLst>
              <a:ext uri="{FF2B5EF4-FFF2-40B4-BE49-F238E27FC236}">
                <a16:creationId xmlns:a16="http://schemas.microsoft.com/office/drawing/2014/main" id="{1A86CF41-3878-C24B-9AD3-7A7DFD26CAEB}"/>
              </a:ext>
            </a:extLst>
          </p:cNvPr>
          <p:cNvSpPr txBox="1"/>
          <p:nvPr/>
        </p:nvSpPr>
        <p:spPr>
          <a:xfrm>
            <a:off x="3262186" y="6190152"/>
            <a:ext cx="2619628" cy="369332"/>
          </a:xfrm>
          <a:prstGeom prst="rect">
            <a:avLst/>
          </a:prstGeom>
          <a:noFill/>
        </p:spPr>
        <p:txBody>
          <a:bodyPr wrap="none" rtlCol="0">
            <a:spAutoFit/>
          </a:bodyPr>
          <a:lstStyle/>
          <a:p>
            <a:r>
              <a:rPr kumimoji="1" lang="en-US" altLang="ja-JP" dirty="0"/>
              <a:t>IAGO</a:t>
            </a:r>
            <a:r>
              <a:rPr kumimoji="1" lang="ja-JP" altLang="en-US"/>
              <a:t>のインタフェース</a:t>
            </a:r>
          </a:p>
        </p:txBody>
      </p:sp>
    </p:spTree>
    <p:extLst>
      <p:ext uri="{BB962C8B-B14F-4D97-AF65-F5344CB8AC3E}">
        <p14:creationId xmlns:p14="http://schemas.microsoft.com/office/powerpoint/2010/main" val="360917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ja-JP" altLang="en-US"/>
              <a:t>対立状態の時にどのように対応するか</a:t>
            </a:r>
            <a:br>
              <a:rPr lang="en-US" altLang="ja-JP" dirty="0"/>
            </a:br>
            <a:r>
              <a:rPr lang="ja-JP" altLang="en-US"/>
              <a:t>カテゴリ分け</a:t>
            </a:r>
            <a:endParaRPr lang="en-US" altLang="ja-JP" dirty="0"/>
          </a:p>
          <a:p>
            <a:pPr lvl="1"/>
            <a:r>
              <a:rPr lang="ja-JP" altLang="en-US"/>
              <a:t>積極性・協調性によって分類</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プロファイリングの手法</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2</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30</a:t>
            </a:fld>
            <a:endParaRPr kumimoji="1" lang="ja-JP" altLang="en-US"/>
          </a:p>
        </p:txBody>
      </p:sp>
      <p:sp>
        <p:nvSpPr>
          <p:cNvPr id="22" name="テキスト プレースホルダー 7">
            <a:extLst>
              <a:ext uri="{FF2B5EF4-FFF2-40B4-BE49-F238E27FC236}">
                <a16:creationId xmlns:a16="http://schemas.microsoft.com/office/drawing/2014/main" id="{8960EA78-9129-6B45-A62D-590F8989E54B}"/>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endParaRPr lang="ja-JP" altLang="en-US"/>
          </a:p>
        </p:txBody>
      </p:sp>
      <p:grpSp>
        <p:nvGrpSpPr>
          <p:cNvPr id="26" name="グループ化 25">
            <a:extLst>
              <a:ext uri="{FF2B5EF4-FFF2-40B4-BE49-F238E27FC236}">
                <a16:creationId xmlns:a16="http://schemas.microsoft.com/office/drawing/2014/main" id="{C9DF9A82-5CF4-0D44-9E08-4554DA109E0B}"/>
              </a:ext>
            </a:extLst>
          </p:cNvPr>
          <p:cNvGrpSpPr/>
          <p:nvPr/>
        </p:nvGrpSpPr>
        <p:grpSpPr>
          <a:xfrm flipH="1" flipV="1">
            <a:off x="357447" y="1019593"/>
            <a:ext cx="901543" cy="244800"/>
            <a:chOff x="195674" y="1377865"/>
            <a:chExt cx="901543" cy="244800"/>
          </a:xfrm>
        </p:grpSpPr>
        <p:cxnSp>
          <p:nvCxnSpPr>
            <p:cNvPr id="27" name="直線コネクタ 26">
              <a:extLst>
                <a:ext uri="{FF2B5EF4-FFF2-40B4-BE49-F238E27FC236}">
                  <a16:creationId xmlns:a16="http://schemas.microsoft.com/office/drawing/2014/main" id="{A11267EA-40D4-064D-8BE3-47C986117ACC}"/>
                </a:ext>
              </a:extLst>
            </p:cNvPr>
            <p:cNvCxnSpPr>
              <a:cxnSpLocks/>
            </p:cNvCxnSpPr>
            <p:nvPr userDrawn="1"/>
          </p:nvCxnSpPr>
          <p:spPr>
            <a:xfrm flipV="1">
              <a:off x="413217" y="1607575"/>
              <a:ext cx="68400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8" name="フリーフォーム 27">
              <a:extLst>
                <a:ext uri="{FF2B5EF4-FFF2-40B4-BE49-F238E27FC236}">
                  <a16:creationId xmlns:a16="http://schemas.microsoft.com/office/drawing/2014/main" id="{FB1F7B51-395E-3341-9DA3-DFCF202F3017}"/>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9" name="グループ化 28">
            <a:extLst>
              <a:ext uri="{FF2B5EF4-FFF2-40B4-BE49-F238E27FC236}">
                <a16:creationId xmlns:a16="http://schemas.microsoft.com/office/drawing/2014/main" id="{12944555-ED5F-2F43-B97D-AA1FB368ECEA}"/>
              </a:ext>
            </a:extLst>
          </p:cNvPr>
          <p:cNvGrpSpPr/>
          <p:nvPr/>
        </p:nvGrpSpPr>
        <p:grpSpPr>
          <a:xfrm>
            <a:off x="140729" y="1384215"/>
            <a:ext cx="907347" cy="244800"/>
            <a:chOff x="143915" y="1384215"/>
            <a:chExt cx="907347" cy="244800"/>
          </a:xfrm>
        </p:grpSpPr>
        <p:cxnSp>
          <p:nvCxnSpPr>
            <p:cNvPr id="30" name="直線コネクタ 29">
              <a:extLst>
                <a:ext uri="{FF2B5EF4-FFF2-40B4-BE49-F238E27FC236}">
                  <a16:creationId xmlns:a16="http://schemas.microsoft.com/office/drawing/2014/main" id="{C85B7A82-FA8E-1A48-98E3-F08F3F8BAB32}"/>
                </a:ext>
              </a:extLst>
            </p:cNvPr>
            <p:cNvCxnSpPr>
              <a:cxnSpLocks/>
            </p:cNvCxnSpPr>
            <p:nvPr userDrawn="1"/>
          </p:nvCxnSpPr>
          <p:spPr>
            <a:xfrm>
              <a:off x="364660" y="1607575"/>
              <a:ext cx="686602"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フリーフォーム 30">
              <a:extLst>
                <a:ext uri="{FF2B5EF4-FFF2-40B4-BE49-F238E27FC236}">
                  <a16:creationId xmlns:a16="http://schemas.microsoft.com/office/drawing/2014/main" id="{1DD08C79-4E1D-554E-B721-15B6629FA972}"/>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23" name="コンテンツ プレースホルダー 1">
            <a:extLst>
              <a:ext uri="{FF2B5EF4-FFF2-40B4-BE49-F238E27FC236}">
                <a16:creationId xmlns:a16="http://schemas.microsoft.com/office/drawing/2014/main" id="{AC85DC09-FB47-0043-9CEA-95C750F90F45}"/>
              </a:ext>
            </a:extLst>
          </p:cNvPr>
          <p:cNvSpPr txBox="1">
            <a:spLocks/>
          </p:cNvSpPr>
          <p:nvPr/>
        </p:nvSpPr>
        <p:spPr>
          <a:xfrm>
            <a:off x="364051" y="3864225"/>
            <a:ext cx="8779949" cy="2707320"/>
          </a:xfrm>
          <a:prstGeom prst="rect">
            <a:avLst/>
          </a:prstGeom>
        </p:spPr>
        <p:txBody>
          <a:bodyPr vert="horz" lIns="91440" tIns="45720" rIns="91440" bIns="45720" rtlCol="0">
            <a:normAutofit/>
          </a:bodyPr>
          <a:lstStyle>
            <a:lvl1pPr marL="311150" indent="-311150" algn="l" defTabSz="914400" rtl="0" eaLnBrk="1" latinLnBrk="0" hangingPunct="1">
              <a:lnSpc>
                <a:spcPct val="90000"/>
              </a:lnSpc>
              <a:spcBef>
                <a:spcPts val="1000"/>
              </a:spcBef>
              <a:buSzPct val="90000"/>
              <a:buFontTx/>
              <a:buBlip>
                <a:blip r:embed="rId2"/>
              </a:buBlip>
              <a:tabLst/>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4"/>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人の性格を</a:t>
            </a:r>
            <a:r>
              <a:rPr lang="en-US" altLang="ja-JP" dirty="0"/>
              <a:t>5</a:t>
            </a:r>
            <a:r>
              <a:rPr lang="ja-JP" altLang="en-US"/>
              <a:t>つの因子の程度で分類する</a:t>
            </a:r>
            <a:endParaRPr lang="en-US" altLang="ja-JP" dirty="0"/>
          </a:p>
          <a:p>
            <a:pPr lvl="1"/>
            <a:r>
              <a:rPr lang="ja-JP" altLang="en-US"/>
              <a:t>神経症的傾向</a:t>
            </a:r>
            <a:r>
              <a:rPr lang="en-US" altLang="ja-JP" dirty="0"/>
              <a:t>(Neuroticism)</a:t>
            </a:r>
          </a:p>
          <a:p>
            <a:pPr lvl="1"/>
            <a:r>
              <a:rPr lang="ja-JP" altLang="en-US"/>
              <a:t>外向性</a:t>
            </a:r>
            <a:r>
              <a:rPr lang="en-US" altLang="ja-JP" dirty="0"/>
              <a:t>(Extraversion)</a:t>
            </a:r>
          </a:p>
          <a:p>
            <a:pPr lvl="1"/>
            <a:r>
              <a:rPr lang="ja-JP" altLang="en-US"/>
              <a:t>経験への開放性</a:t>
            </a:r>
            <a:r>
              <a:rPr lang="en-US" altLang="ja-JP" dirty="0"/>
              <a:t>(Openness)</a:t>
            </a:r>
          </a:p>
          <a:p>
            <a:pPr lvl="1"/>
            <a:r>
              <a:rPr lang="ja-JP" altLang="en-US"/>
              <a:t>協調性</a:t>
            </a:r>
            <a:r>
              <a:rPr lang="en-US" altLang="ja-JP" dirty="0"/>
              <a:t>(Agreeableness)</a:t>
            </a:r>
          </a:p>
          <a:p>
            <a:pPr lvl="1"/>
            <a:r>
              <a:rPr lang="ja-JP" altLang="en-US"/>
              <a:t>誠実性</a:t>
            </a:r>
            <a:r>
              <a:rPr lang="en-US" altLang="ja-JP" dirty="0"/>
              <a:t>(Conscientiousness)</a:t>
            </a:r>
          </a:p>
        </p:txBody>
      </p:sp>
      <p:sp>
        <p:nvSpPr>
          <p:cNvPr id="24" name="テキスト プレースホルダー 7">
            <a:extLst>
              <a:ext uri="{FF2B5EF4-FFF2-40B4-BE49-F238E27FC236}">
                <a16:creationId xmlns:a16="http://schemas.microsoft.com/office/drawing/2014/main" id="{F5663A97-C700-774D-8963-A9D9CEEF0385}"/>
              </a:ext>
            </a:extLst>
          </p:cNvPr>
          <p:cNvSpPr txBox="1">
            <a:spLocks/>
          </p:cNvSpPr>
          <p:nvPr/>
        </p:nvSpPr>
        <p:spPr>
          <a:xfrm>
            <a:off x="262817" y="3251591"/>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ビッグファイブ</a:t>
            </a:r>
          </a:p>
        </p:txBody>
      </p:sp>
      <p:grpSp>
        <p:nvGrpSpPr>
          <p:cNvPr id="25" name="グループ化 24">
            <a:extLst>
              <a:ext uri="{FF2B5EF4-FFF2-40B4-BE49-F238E27FC236}">
                <a16:creationId xmlns:a16="http://schemas.microsoft.com/office/drawing/2014/main" id="{0C56A3B8-C598-E74F-8044-ED71549AAC98}"/>
              </a:ext>
            </a:extLst>
          </p:cNvPr>
          <p:cNvGrpSpPr/>
          <p:nvPr/>
        </p:nvGrpSpPr>
        <p:grpSpPr>
          <a:xfrm flipH="1" flipV="1">
            <a:off x="377928" y="3185309"/>
            <a:ext cx="2599798" cy="244800"/>
            <a:chOff x="195674" y="1377865"/>
            <a:chExt cx="2599798" cy="244800"/>
          </a:xfrm>
        </p:grpSpPr>
        <p:cxnSp>
          <p:nvCxnSpPr>
            <p:cNvPr id="32" name="直線コネクタ 31">
              <a:extLst>
                <a:ext uri="{FF2B5EF4-FFF2-40B4-BE49-F238E27FC236}">
                  <a16:creationId xmlns:a16="http://schemas.microsoft.com/office/drawing/2014/main" id="{D034F8BC-F07C-5A45-A022-87B005D2073A}"/>
                </a:ext>
              </a:extLst>
            </p:cNvPr>
            <p:cNvCxnSpPr>
              <a:cxnSpLocks/>
            </p:cNvCxnSpPr>
            <p:nvPr userDrawn="1"/>
          </p:nvCxnSpPr>
          <p:spPr>
            <a:xfrm flipV="1">
              <a:off x="413217" y="1607575"/>
              <a:ext cx="238225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3" name="フリーフォーム 32">
              <a:extLst>
                <a:ext uri="{FF2B5EF4-FFF2-40B4-BE49-F238E27FC236}">
                  <a16:creationId xmlns:a16="http://schemas.microsoft.com/office/drawing/2014/main" id="{56A0F542-E931-324F-B3AB-34B7FE05B0A9}"/>
                </a:ext>
              </a:extLst>
            </p:cNvPr>
            <p:cNvSpPr/>
            <p:nvPr userDrawn="1"/>
          </p:nvSpPr>
          <p:spPr>
            <a:xfrm>
              <a:off x="195674"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4" name="グループ化 33">
            <a:extLst>
              <a:ext uri="{FF2B5EF4-FFF2-40B4-BE49-F238E27FC236}">
                <a16:creationId xmlns:a16="http://schemas.microsoft.com/office/drawing/2014/main" id="{577918DD-D65E-4F4E-A314-1E318B195C83}"/>
              </a:ext>
            </a:extLst>
          </p:cNvPr>
          <p:cNvGrpSpPr/>
          <p:nvPr/>
        </p:nvGrpSpPr>
        <p:grpSpPr>
          <a:xfrm>
            <a:off x="140730" y="3549931"/>
            <a:ext cx="2577070" cy="244800"/>
            <a:chOff x="143915" y="1384215"/>
            <a:chExt cx="2577070" cy="244800"/>
          </a:xfrm>
        </p:grpSpPr>
        <p:cxnSp>
          <p:nvCxnSpPr>
            <p:cNvPr id="35" name="直線コネクタ 34">
              <a:extLst>
                <a:ext uri="{FF2B5EF4-FFF2-40B4-BE49-F238E27FC236}">
                  <a16:creationId xmlns:a16="http://schemas.microsoft.com/office/drawing/2014/main" id="{4BD020B9-B0C1-B24C-B8C6-523AEF9D7B96}"/>
                </a:ext>
              </a:extLst>
            </p:cNvPr>
            <p:cNvCxnSpPr>
              <a:cxnSpLocks/>
            </p:cNvCxnSpPr>
            <p:nvPr userDrawn="1"/>
          </p:nvCxnSpPr>
          <p:spPr>
            <a:xfrm>
              <a:off x="364660" y="1607575"/>
              <a:ext cx="235632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6" name="フリーフォーム 35">
              <a:extLst>
                <a:ext uri="{FF2B5EF4-FFF2-40B4-BE49-F238E27FC236}">
                  <a16:creationId xmlns:a16="http://schemas.microsoft.com/office/drawing/2014/main" id="{7F1BAEEB-B13E-284A-A7FD-A183C35C073A}"/>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7" name="グループ化 36">
            <a:extLst>
              <a:ext uri="{FF2B5EF4-FFF2-40B4-BE49-F238E27FC236}">
                <a16:creationId xmlns:a16="http://schemas.microsoft.com/office/drawing/2014/main" id="{79552E1F-9120-E64C-9540-DDFB9FDEF671}"/>
              </a:ext>
            </a:extLst>
          </p:cNvPr>
          <p:cNvGrpSpPr/>
          <p:nvPr/>
        </p:nvGrpSpPr>
        <p:grpSpPr>
          <a:xfrm>
            <a:off x="6785580" y="989972"/>
            <a:ext cx="2199147" cy="2507155"/>
            <a:chOff x="1211179" y="3557524"/>
            <a:chExt cx="2660968" cy="3033659"/>
          </a:xfrm>
        </p:grpSpPr>
        <p:grpSp>
          <p:nvGrpSpPr>
            <p:cNvPr id="38" name="グループ化 37">
              <a:extLst>
                <a:ext uri="{FF2B5EF4-FFF2-40B4-BE49-F238E27FC236}">
                  <a16:creationId xmlns:a16="http://schemas.microsoft.com/office/drawing/2014/main" id="{69803433-F61A-1A40-B9AE-691A35BE47F5}"/>
                </a:ext>
              </a:extLst>
            </p:cNvPr>
            <p:cNvGrpSpPr/>
            <p:nvPr/>
          </p:nvGrpSpPr>
          <p:grpSpPr>
            <a:xfrm>
              <a:off x="1211179" y="3557524"/>
              <a:ext cx="2660968" cy="2638636"/>
              <a:chOff x="7798032" y="19015474"/>
              <a:chExt cx="5491846" cy="5445754"/>
            </a:xfrm>
          </p:grpSpPr>
          <p:pic>
            <p:nvPicPr>
              <p:cNvPr id="40" name="図 39">
                <a:extLst>
                  <a:ext uri="{FF2B5EF4-FFF2-40B4-BE49-F238E27FC236}">
                    <a16:creationId xmlns:a16="http://schemas.microsoft.com/office/drawing/2014/main" id="{AA9BD915-E82A-5241-BF62-EA3FAB66FBC1}"/>
                  </a:ext>
                </a:extLst>
              </p:cNvPr>
              <p:cNvPicPr>
                <a:picLocks noChangeAspect="1"/>
              </p:cNvPicPr>
              <p:nvPr/>
            </p:nvPicPr>
            <p:blipFill rotWithShape="1">
              <a:blip r:embed="rId5"/>
              <a:srcRect l="10972" t="1550" r="-1061" b="21005"/>
              <a:stretch/>
            </p:blipFill>
            <p:spPr>
              <a:xfrm>
                <a:off x="8648581" y="19015474"/>
                <a:ext cx="4641297" cy="4492610"/>
              </a:xfrm>
              <a:prstGeom prst="rect">
                <a:avLst/>
              </a:prstGeom>
            </p:spPr>
          </p:pic>
          <p:cxnSp>
            <p:nvCxnSpPr>
              <p:cNvPr id="41" name="直線矢印コネクタ 40">
                <a:extLst>
                  <a:ext uri="{FF2B5EF4-FFF2-40B4-BE49-F238E27FC236}">
                    <a16:creationId xmlns:a16="http://schemas.microsoft.com/office/drawing/2014/main" id="{858B0478-FE4A-6E4C-9591-7EEEC15A2797}"/>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56DFAC94-F35C-CB49-B3A9-F5C8C1B287C0}"/>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DC1A6760-BBCE-1145-BB80-C589EB99A503}"/>
                  </a:ext>
                </a:extLst>
              </p:cNvPr>
              <p:cNvSpPr txBox="1"/>
              <p:nvPr/>
            </p:nvSpPr>
            <p:spPr>
              <a:xfrm>
                <a:off x="9420398" y="23769489"/>
                <a:ext cx="2490050"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協調性</a:t>
                </a:r>
              </a:p>
            </p:txBody>
          </p:sp>
          <p:sp>
            <p:nvSpPr>
              <p:cNvPr id="44" name="テキスト ボックス 43">
                <a:extLst>
                  <a:ext uri="{FF2B5EF4-FFF2-40B4-BE49-F238E27FC236}">
                    <a16:creationId xmlns:a16="http://schemas.microsoft.com/office/drawing/2014/main" id="{3C03E323-BD53-9743-B9A6-7A8ACC51D829}"/>
                  </a:ext>
                </a:extLst>
              </p:cNvPr>
              <p:cNvSpPr txBox="1"/>
              <p:nvPr/>
            </p:nvSpPr>
            <p:spPr>
              <a:xfrm rot="16200000">
                <a:off x="6898876" y="21211240"/>
                <a:ext cx="2490051" cy="691739"/>
              </a:xfrm>
              <a:prstGeom prst="rect">
                <a:avLst/>
              </a:prstGeom>
              <a:noFill/>
            </p:spPr>
            <p:txBody>
              <a:bodyPr wrap="square" rtlCol="0">
                <a:spAutoFit/>
              </a:bodyPr>
              <a:lstStyle/>
              <a:p>
                <a:pPr algn="ctr"/>
                <a:r>
                  <a:rPr kumimoji="1" lang="ja-JP" altLang="en-US" sz="1200">
                    <a:latin typeface="Meiryo" panose="020B0604030504040204" pitchFamily="34" charset="-128"/>
                    <a:ea typeface="Meiryo" panose="020B0604030504040204" pitchFamily="34" charset="-128"/>
                  </a:rPr>
                  <a:t>積極性</a:t>
                </a:r>
              </a:p>
            </p:txBody>
          </p:sp>
        </p:grpSp>
        <p:sp>
          <p:nvSpPr>
            <p:cNvPr id="39" name="テキスト ボックス 38">
              <a:extLst>
                <a:ext uri="{FF2B5EF4-FFF2-40B4-BE49-F238E27FC236}">
                  <a16:creationId xmlns:a16="http://schemas.microsoft.com/office/drawing/2014/main" id="{06F96016-67B1-2047-96BC-D68CF39D216E}"/>
                </a:ext>
              </a:extLst>
            </p:cNvPr>
            <p:cNvSpPr txBox="1"/>
            <p:nvPr/>
          </p:nvSpPr>
          <p:spPr>
            <a:xfrm>
              <a:off x="2356970" y="6218772"/>
              <a:ext cx="572579" cy="372410"/>
            </a:xfrm>
            <a:prstGeom prst="rect">
              <a:avLst/>
            </a:prstGeom>
            <a:noFill/>
          </p:spPr>
          <p:txBody>
            <a:bodyPr wrap="none" rtlCol="0">
              <a:spAutoFit/>
            </a:bodyPr>
            <a:lstStyle/>
            <a:p>
              <a:r>
                <a:rPr kumimoji="1" lang="en-US" altLang="ja-JP" sz="1400" dirty="0"/>
                <a:t>TKI</a:t>
              </a:r>
              <a:endParaRPr kumimoji="1" lang="ja-JP" altLang="en-US" sz="1400"/>
            </a:p>
          </p:txBody>
        </p:sp>
      </p:grpSp>
      <p:grpSp>
        <p:nvGrpSpPr>
          <p:cNvPr id="45" name="グループ化 44">
            <a:extLst>
              <a:ext uri="{FF2B5EF4-FFF2-40B4-BE49-F238E27FC236}">
                <a16:creationId xmlns:a16="http://schemas.microsoft.com/office/drawing/2014/main" id="{9334BA59-FE86-6F4F-B021-70E2EBED6B99}"/>
              </a:ext>
            </a:extLst>
          </p:cNvPr>
          <p:cNvGrpSpPr/>
          <p:nvPr/>
        </p:nvGrpSpPr>
        <p:grpSpPr>
          <a:xfrm>
            <a:off x="6298657" y="3825223"/>
            <a:ext cx="2686889" cy="2759407"/>
            <a:chOff x="4259517" y="3268537"/>
            <a:chExt cx="3251136" cy="3338883"/>
          </a:xfrm>
        </p:grpSpPr>
        <p:sp>
          <p:nvSpPr>
            <p:cNvPr id="46" name="テキスト ボックス 45">
              <a:extLst>
                <a:ext uri="{FF2B5EF4-FFF2-40B4-BE49-F238E27FC236}">
                  <a16:creationId xmlns:a16="http://schemas.microsoft.com/office/drawing/2014/main" id="{8CADAB5E-A723-DF47-A8A6-AFA684354675}"/>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47" name="テキスト ボックス 46">
              <a:extLst>
                <a:ext uri="{FF2B5EF4-FFF2-40B4-BE49-F238E27FC236}">
                  <a16:creationId xmlns:a16="http://schemas.microsoft.com/office/drawing/2014/main" id="{4F2DB935-4AEF-8648-9276-93905AA5BD87}"/>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48" name="テキスト ボックス 47">
              <a:extLst>
                <a:ext uri="{FF2B5EF4-FFF2-40B4-BE49-F238E27FC236}">
                  <a16:creationId xmlns:a16="http://schemas.microsoft.com/office/drawing/2014/main" id="{DA30A470-EB00-BF48-AB50-8D5BA8DB86A7}"/>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49" name="テキスト ボックス 48">
              <a:extLst>
                <a:ext uri="{FF2B5EF4-FFF2-40B4-BE49-F238E27FC236}">
                  <a16:creationId xmlns:a16="http://schemas.microsoft.com/office/drawing/2014/main" id="{066F7378-11E5-C24F-85B0-D0F8C84B406C}"/>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50" name="テキスト ボックス 49">
              <a:extLst>
                <a:ext uri="{FF2B5EF4-FFF2-40B4-BE49-F238E27FC236}">
                  <a16:creationId xmlns:a16="http://schemas.microsoft.com/office/drawing/2014/main" id="{D70AC1A9-CBE8-A540-B210-5D1BD9C58908}"/>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sp>
          <p:nvSpPr>
            <p:cNvPr id="51" name="テキスト ボックス 50">
              <a:extLst>
                <a:ext uri="{FF2B5EF4-FFF2-40B4-BE49-F238E27FC236}">
                  <a16:creationId xmlns:a16="http://schemas.microsoft.com/office/drawing/2014/main" id="{E25FCC40-E029-A046-B3EA-2EC730025458}"/>
                </a:ext>
              </a:extLst>
            </p:cNvPr>
            <p:cNvSpPr txBox="1"/>
            <p:nvPr/>
          </p:nvSpPr>
          <p:spPr>
            <a:xfrm>
              <a:off x="5015490" y="6235010"/>
              <a:ext cx="1744118" cy="372410"/>
            </a:xfrm>
            <a:prstGeom prst="rect">
              <a:avLst/>
            </a:prstGeom>
            <a:noFill/>
          </p:spPr>
          <p:txBody>
            <a:bodyPr wrap="none" rtlCol="0">
              <a:spAutoFit/>
            </a:bodyPr>
            <a:lstStyle/>
            <a:p>
              <a:r>
                <a:rPr kumimoji="1" lang="ja-JP" altLang="en-US" sz="1400"/>
                <a:t>ビッグファイブ</a:t>
              </a:r>
            </a:p>
          </p:txBody>
        </p:sp>
        <p:grpSp>
          <p:nvGrpSpPr>
            <p:cNvPr id="52" name="グループ化 51">
              <a:extLst>
                <a:ext uri="{FF2B5EF4-FFF2-40B4-BE49-F238E27FC236}">
                  <a16:creationId xmlns:a16="http://schemas.microsoft.com/office/drawing/2014/main" id="{BC1CD89B-00CD-2541-B4B1-E9190B82FDA9}"/>
                </a:ext>
              </a:extLst>
            </p:cNvPr>
            <p:cNvGrpSpPr/>
            <p:nvPr/>
          </p:nvGrpSpPr>
          <p:grpSpPr>
            <a:xfrm>
              <a:off x="4938565" y="3795935"/>
              <a:ext cx="1865455" cy="1865455"/>
              <a:chOff x="4938565" y="3795935"/>
              <a:chExt cx="1865455" cy="1865455"/>
            </a:xfrm>
          </p:grpSpPr>
          <p:sp>
            <p:nvSpPr>
              <p:cNvPr id="53" name="五角形 52">
                <a:extLst>
                  <a:ext uri="{FF2B5EF4-FFF2-40B4-BE49-F238E27FC236}">
                    <a16:creationId xmlns:a16="http://schemas.microsoft.com/office/drawing/2014/main" id="{938BA656-BD4A-E340-985C-61AF5AA8CCE7}"/>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54" name="直線コネクタ 53">
                <a:extLst>
                  <a:ext uri="{FF2B5EF4-FFF2-40B4-BE49-F238E27FC236}">
                    <a16:creationId xmlns:a16="http://schemas.microsoft.com/office/drawing/2014/main" id="{356CF6FC-95A1-3F45-8199-C2EC472D05D5}"/>
                  </a:ext>
                </a:extLst>
              </p:cNvPr>
              <p:cNvCxnSpPr>
                <a:cxnSpLocks/>
                <a:stCxn id="53" idx="0"/>
                <a:endCxn id="59"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30E6701B-9FFA-B742-8F7C-D6DFDDFE0D0F}"/>
                  </a:ext>
                </a:extLst>
              </p:cNvPr>
              <p:cNvCxnSpPr>
                <a:cxnSpLocks/>
                <a:stCxn id="59" idx="3"/>
                <a:endCxn id="53"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903EE62D-9A24-2E48-9E4A-789F222A1090}"/>
                  </a:ext>
                </a:extLst>
              </p:cNvPr>
              <p:cNvCxnSpPr>
                <a:cxnSpLocks/>
                <a:stCxn id="59" idx="5"/>
                <a:endCxn id="53"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5070F39A-CDB4-794D-A20D-75C07715B2A3}"/>
                  </a:ext>
                </a:extLst>
              </p:cNvPr>
              <p:cNvCxnSpPr>
                <a:cxnSpLocks/>
                <a:stCxn id="59" idx="6"/>
                <a:endCxn id="53"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DB69D057-DEBE-9846-A21E-39AD50B78EFC}"/>
                  </a:ext>
                </a:extLst>
              </p:cNvPr>
              <p:cNvCxnSpPr>
                <a:cxnSpLocks/>
                <a:stCxn id="53" idx="1"/>
                <a:endCxn id="59"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59" name="円/楕円 58">
                <a:extLst>
                  <a:ext uri="{FF2B5EF4-FFF2-40B4-BE49-F238E27FC236}">
                    <a16:creationId xmlns:a16="http://schemas.microsoft.com/office/drawing/2014/main" id="{D9266A5E-3C72-F943-A4AB-5DF52ABE0CE8}"/>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0" name="五角形 278">
                <a:extLst>
                  <a:ext uri="{FF2B5EF4-FFF2-40B4-BE49-F238E27FC236}">
                    <a16:creationId xmlns:a16="http://schemas.microsoft.com/office/drawing/2014/main" id="{10F9DD58-92B5-BC4C-ADC1-CE15C1CB68C7}"/>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3886483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351338"/>
              </a:xfrm>
            </p:spPr>
            <p:txBody>
              <a:bodyPr/>
              <a:lstStyle/>
              <a:p>
                <a:r>
                  <a:rPr lang="en-US" altLang="ja-JP" dirty="0"/>
                  <a:t>offer</a:t>
                </a:r>
                <a:r>
                  <a:rPr lang="ja-JP" altLang="en-US"/>
                  <a:t>とそれ以外の行動どちらも</a:t>
                </a:r>
                <a:br>
                  <a:rPr lang="en-US" altLang="ja-JP" dirty="0"/>
                </a:br>
                <a:r>
                  <a:rPr lang="ja-JP" altLang="en-US"/>
                  <a:t>考慮する</a:t>
                </a:r>
                <a:endParaRPr lang="en-US" altLang="ja-JP" dirty="0"/>
              </a:p>
              <a:p>
                <a:r>
                  <a:rPr lang="ja-JP" altLang="en-US"/>
                  <a:t>協調性は行動に対する感受性を</a:t>
                </a:r>
                <a:br>
                  <a:rPr lang="en-US" altLang="ja-JP" dirty="0"/>
                </a:br>
                <a:r>
                  <a:rPr lang="ja-JP" altLang="en-US"/>
                  <a:t>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2" name="コンテンツ プレースホルダー 1">
                <a:extLst>
                  <a:ext uri="{FF2B5EF4-FFF2-40B4-BE49-F238E27FC236}">
                    <a16:creationId xmlns:a16="http://schemas.microsoft.com/office/drawing/2014/main" id="{9ADC1F6C-8F26-944A-ABB2-D8B080F14CCE}"/>
                  </a:ext>
                </a:extLst>
              </p:cNvPr>
              <p:cNvSpPr>
                <a:spLocks noGrp="1" noRot="1" noChangeAspect="1" noMove="1" noResize="1" noEditPoints="1" noAdjustHandles="1" noChangeArrowheads="1" noChangeShapeType="1" noTextEdit="1"/>
              </p:cNvSpPr>
              <p:nvPr>
                <p:ph idx="1"/>
              </p:nvPr>
            </p:nvSpPr>
            <p:spPr>
              <a:xfrm>
                <a:off x="364050" y="1698509"/>
                <a:ext cx="8779949" cy="4351338"/>
              </a:xfrm>
              <a:blipFill>
                <a:blip r:embed="rId2"/>
                <a:stretch>
                  <a:fillRect t="-2915"/>
                </a:stretch>
              </a:blipFill>
            </p:spPr>
            <p:txBody>
              <a:bodyPr/>
              <a:lstStyle/>
              <a:p>
                <a:r>
                  <a:rPr lang="ja-JP" altLang="en-US">
                    <a:noFill/>
                  </a:rPr>
                  <a:t> </a:t>
                </a:r>
              </a:p>
            </p:txBody>
          </p:sp>
        </mc:Fallback>
      </mc:AlternateContent>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lang="ja-JP" altLang="en-US"/>
              <a:t>提案手法</a:t>
            </a:r>
            <a:endParaRPr kumimoji="1" lang="ja-JP" altLang="en-US"/>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lang="en-US" altLang="ja-JP" dirty="0"/>
              <a:t>4</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31</a:t>
            </a:fld>
            <a:endParaRPr kumimoji="1" lang="ja-JP" altLang="en-US"/>
          </a:p>
        </p:txBody>
      </p:sp>
      <p:sp>
        <p:nvSpPr>
          <p:cNvPr id="112" name="テキスト プレースホルダー 7">
            <a:extLst>
              <a:ext uri="{FF2B5EF4-FFF2-40B4-BE49-F238E27FC236}">
                <a16:creationId xmlns:a16="http://schemas.microsoft.com/office/drawing/2014/main" id="{FDC02265-D684-6A4D-8127-A316EA22CA22}"/>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a:t>
            </a:r>
            <a:r>
              <a:rPr lang="ja-JP" altLang="en-US"/>
              <a:t>ビッグファイブ</a:t>
            </a:r>
            <a:r>
              <a:rPr lang="en-US" altLang="ja-JP" dirty="0"/>
              <a:t>)</a:t>
            </a:r>
            <a:endParaRPr lang="ja-JP" altLang="en-US"/>
          </a:p>
        </p:txBody>
      </p:sp>
      <p:grpSp>
        <p:nvGrpSpPr>
          <p:cNvPr id="113" name="グループ化 112">
            <a:extLst>
              <a:ext uri="{FF2B5EF4-FFF2-40B4-BE49-F238E27FC236}">
                <a16:creationId xmlns:a16="http://schemas.microsoft.com/office/drawing/2014/main" id="{B74839B2-53D6-D242-A54B-A000577060E9}"/>
              </a:ext>
            </a:extLst>
          </p:cNvPr>
          <p:cNvGrpSpPr/>
          <p:nvPr/>
        </p:nvGrpSpPr>
        <p:grpSpPr>
          <a:xfrm flipH="1" flipV="1">
            <a:off x="358775" y="1019512"/>
            <a:ext cx="5314213" cy="244800"/>
            <a:chOff x="143915" y="1377865"/>
            <a:chExt cx="5314213" cy="244800"/>
          </a:xfrm>
        </p:grpSpPr>
        <p:cxnSp>
          <p:nvCxnSpPr>
            <p:cNvPr id="114" name="直線コネクタ 113">
              <a:extLst>
                <a:ext uri="{FF2B5EF4-FFF2-40B4-BE49-F238E27FC236}">
                  <a16:creationId xmlns:a16="http://schemas.microsoft.com/office/drawing/2014/main" id="{13685F28-4C0B-A14E-95E1-B9BDAC8672DF}"/>
                </a:ext>
              </a:extLst>
            </p:cNvPr>
            <p:cNvCxnSpPr>
              <a:cxnSpLocks/>
            </p:cNvCxnSpPr>
            <p:nvPr userDrawn="1"/>
          </p:nvCxnSpPr>
          <p:spPr>
            <a:xfrm flipV="1">
              <a:off x="364653" y="1607575"/>
              <a:ext cx="509347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5" name="フリーフォーム 114">
              <a:extLst>
                <a:ext uri="{FF2B5EF4-FFF2-40B4-BE49-F238E27FC236}">
                  <a16:creationId xmlns:a16="http://schemas.microsoft.com/office/drawing/2014/main" id="{5C0610F9-D2F3-C84E-9BC4-083434EDEF38}"/>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116" name="グループ化 115">
            <a:extLst>
              <a:ext uri="{FF2B5EF4-FFF2-40B4-BE49-F238E27FC236}">
                <a16:creationId xmlns:a16="http://schemas.microsoft.com/office/drawing/2014/main" id="{F6A928BE-8134-5044-9B83-1898980FDCD6}"/>
              </a:ext>
            </a:extLst>
          </p:cNvPr>
          <p:cNvGrpSpPr/>
          <p:nvPr/>
        </p:nvGrpSpPr>
        <p:grpSpPr>
          <a:xfrm>
            <a:off x="140729" y="1384215"/>
            <a:ext cx="5265842" cy="244800"/>
            <a:chOff x="143915" y="1384215"/>
            <a:chExt cx="5265842" cy="244800"/>
          </a:xfrm>
        </p:grpSpPr>
        <p:cxnSp>
          <p:nvCxnSpPr>
            <p:cNvPr id="117" name="直線コネクタ 116">
              <a:extLst>
                <a:ext uri="{FF2B5EF4-FFF2-40B4-BE49-F238E27FC236}">
                  <a16:creationId xmlns:a16="http://schemas.microsoft.com/office/drawing/2014/main" id="{EA46C0D9-5A38-2148-86E2-279052AA79E0}"/>
                </a:ext>
              </a:extLst>
            </p:cNvPr>
            <p:cNvCxnSpPr>
              <a:cxnSpLocks/>
            </p:cNvCxnSpPr>
            <p:nvPr userDrawn="1"/>
          </p:nvCxnSpPr>
          <p:spPr>
            <a:xfrm>
              <a:off x="364660" y="1607575"/>
              <a:ext cx="5045097"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18" name="フリーフォーム 117">
              <a:extLst>
                <a:ext uri="{FF2B5EF4-FFF2-40B4-BE49-F238E27FC236}">
                  <a16:creationId xmlns:a16="http://schemas.microsoft.com/office/drawing/2014/main" id="{B7537492-AE47-B245-A667-2B43FA084878}"/>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mc:AlternateContent xmlns:mc="http://schemas.openxmlformats.org/markup-compatibility/2006" xmlns:a14="http://schemas.microsoft.com/office/drawing/2010/main">
        <mc:Choice Requires="a14">
          <p:graphicFrame>
            <p:nvGraphicFramePr>
              <p:cNvPr id="39" name="表 38">
                <a:extLst>
                  <a:ext uri="{FF2B5EF4-FFF2-40B4-BE49-F238E27FC236}">
                    <a16:creationId xmlns:a16="http://schemas.microsoft.com/office/drawing/2014/main" id="{C026B755-FA06-7247-99D9-442CEE97D15F}"/>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39" name="表 38">
                <a:extLst>
                  <a:ext uri="{FF2B5EF4-FFF2-40B4-BE49-F238E27FC236}">
                    <a16:creationId xmlns:a16="http://schemas.microsoft.com/office/drawing/2014/main" id="{C026B755-FA06-7247-99D9-442CEE97D15F}"/>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108696" r="-102041" b="-517391"/>
                          </a:stretch>
                        </a:blipFill>
                      </a:tcPr>
                    </a:tc>
                    <a:tc>
                      <a:txBody>
                        <a:bodyPr/>
                        <a:lstStyle/>
                        <a:p>
                          <a:endParaRPr lang="ja-JP"/>
                        </a:p>
                      </a:txBody>
                      <a:tcPr marL="75570" marR="75570">
                        <a:blipFill>
                          <a:blip r:embed="rId3"/>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200000" r="-102041" b="-395833"/>
                          </a:stretch>
                        </a:blipFill>
                      </a:tcPr>
                    </a:tc>
                    <a:tc>
                      <a:txBody>
                        <a:bodyPr/>
                        <a:lstStyle/>
                        <a:p>
                          <a:endParaRPr lang="ja-JP"/>
                        </a:p>
                      </a:txBody>
                      <a:tcPr marL="75570" marR="75570">
                        <a:blipFill>
                          <a:blip r:embed="rId3"/>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313043" r="-102041" b="-313043"/>
                          </a:stretch>
                        </a:blipFill>
                      </a:tcPr>
                    </a:tc>
                    <a:tc>
                      <a:txBody>
                        <a:bodyPr/>
                        <a:lstStyle/>
                        <a:p>
                          <a:endParaRPr lang="ja-JP"/>
                        </a:p>
                      </a:txBody>
                      <a:tcPr marL="75570" marR="75570">
                        <a:blipFill>
                          <a:blip r:embed="rId3"/>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395833" r="-102041" b="-200000"/>
                          </a:stretch>
                        </a:blipFill>
                      </a:tcPr>
                    </a:tc>
                    <a:tc>
                      <a:txBody>
                        <a:bodyPr/>
                        <a:lstStyle/>
                        <a:p>
                          <a:endParaRPr lang="ja-JP"/>
                        </a:p>
                      </a:txBody>
                      <a:tcPr marL="75570" marR="75570">
                        <a:blipFill>
                          <a:blip r:embed="rId3"/>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517391" r="-102041" b="-108696"/>
                          </a:stretch>
                        </a:blipFill>
                      </a:tcPr>
                    </a:tc>
                    <a:tc>
                      <a:txBody>
                        <a:bodyPr/>
                        <a:lstStyle/>
                        <a:p>
                          <a:endParaRPr lang="ja-JP"/>
                        </a:p>
                      </a:txBody>
                      <a:tcPr marL="75570" marR="75570">
                        <a:blipFill>
                          <a:blip r:embed="rId3"/>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3"/>
                          <a:stretch>
                            <a:fillRect l="-64626" t="-591667" r="-102041" b="-4167"/>
                          </a:stretch>
                        </a:blipFill>
                      </a:tcPr>
                    </a:tc>
                    <a:tc>
                      <a:txBody>
                        <a:bodyPr/>
                        <a:lstStyle/>
                        <a:p>
                          <a:endParaRPr lang="ja-JP"/>
                        </a:p>
                      </a:txBody>
                      <a:tcPr marL="75570" marR="75570">
                        <a:blipFill>
                          <a:blip r:embed="rId3"/>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grpSp>
        <p:nvGrpSpPr>
          <p:cNvPr id="40" name="グループ化 39">
            <a:extLst>
              <a:ext uri="{FF2B5EF4-FFF2-40B4-BE49-F238E27FC236}">
                <a16:creationId xmlns:a16="http://schemas.microsoft.com/office/drawing/2014/main" id="{01C84E03-0504-C041-A9E6-8BD87F5CC641}"/>
              </a:ext>
            </a:extLst>
          </p:cNvPr>
          <p:cNvGrpSpPr/>
          <p:nvPr/>
        </p:nvGrpSpPr>
        <p:grpSpPr>
          <a:xfrm>
            <a:off x="6422824" y="824915"/>
            <a:ext cx="2686889" cy="2458891"/>
            <a:chOff x="4259517" y="3268537"/>
            <a:chExt cx="3251136" cy="2975259"/>
          </a:xfrm>
        </p:grpSpPr>
        <p:sp>
          <p:nvSpPr>
            <p:cNvPr id="41" name="テキスト ボックス 40">
              <a:extLst>
                <a:ext uri="{FF2B5EF4-FFF2-40B4-BE49-F238E27FC236}">
                  <a16:creationId xmlns:a16="http://schemas.microsoft.com/office/drawing/2014/main" id="{68E7D119-44DD-B348-8C91-88FEDA3932D1}"/>
                </a:ext>
              </a:extLst>
            </p:cNvPr>
            <p:cNvSpPr txBox="1"/>
            <p:nvPr/>
          </p:nvSpPr>
          <p:spPr>
            <a:xfrm>
              <a:off x="5300057" y="3268537"/>
              <a:ext cx="1154469" cy="558615"/>
            </a:xfrm>
            <a:prstGeom prst="rect">
              <a:avLst/>
            </a:prstGeom>
            <a:noFill/>
          </p:spPr>
          <p:txBody>
            <a:bodyPr wrap="none" rtlCol="0">
              <a:spAutoFit/>
            </a:bodyPr>
            <a:lstStyle/>
            <a:p>
              <a:pPr algn="ctr"/>
              <a:r>
                <a:rPr kumimoji="1" lang="ja-JP" altLang="en-US" sz="1200"/>
                <a:t>神経症傾向</a:t>
              </a:r>
              <a:endParaRPr kumimoji="1" lang="en-US" altLang="ja-JP" sz="1200" dirty="0"/>
            </a:p>
            <a:p>
              <a:pPr algn="ctr"/>
              <a:r>
                <a:rPr kumimoji="1" lang="en-US" altLang="ja-JP" sz="1200" dirty="0"/>
                <a:t>(N)</a:t>
              </a:r>
              <a:endParaRPr kumimoji="1" lang="ja-JP" altLang="en-US" sz="1200"/>
            </a:p>
          </p:txBody>
        </p:sp>
        <p:sp>
          <p:nvSpPr>
            <p:cNvPr id="42" name="テキスト ボックス 41">
              <a:extLst>
                <a:ext uri="{FF2B5EF4-FFF2-40B4-BE49-F238E27FC236}">
                  <a16:creationId xmlns:a16="http://schemas.microsoft.com/office/drawing/2014/main" id="{F78F923F-F878-EA4A-B2EC-D9A966E833AC}"/>
                </a:ext>
              </a:extLst>
            </p:cNvPr>
            <p:cNvSpPr txBox="1"/>
            <p:nvPr/>
          </p:nvSpPr>
          <p:spPr>
            <a:xfrm>
              <a:off x="5779106" y="5682852"/>
              <a:ext cx="1526880" cy="558615"/>
            </a:xfrm>
            <a:prstGeom prst="rect">
              <a:avLst/>
            </a:prstGeom>
            <a:noFill/>
          </p:spPr>
          <p:txBody>
            <a:bodyPr wrap="none" rtlCol="0">
              <a:spAutoFit/>
            </a:bodyPr>
            <a:lstStyle/>
            <a:p>
              <a:pPr algn="ctr"/>
              <a:r>
                <a:rPr kumimoji="1" lang="ja-JP" altLang="en-US" sz="1200"/>
                <a:t>経験への開放性</a:t>
              </a:r>
              <a:endParaRPr kumimoji="1" lang="en-US" altLang="ja-JP" sz="1200" dirty="0"/>
            </a:p>
            <a:p>
              <a:pPr algn="ctr"/>
              <a:r>
                <a:rPr kumimoji="1" lang="en-US" altLang="ja-JP" sz="1200" dirty="0"/>
                <a:t>(O)</a:t>
              </a:r>
              <a:endParaRPr kumimoji="1" lang="ja-JP" altLang="en-US" sz="1200"/>
            </a:p>
          </p:txBody>
        </p:sp>
        <p:sp>
          <p:nvSpPr>
            <p:cNvPr id="43" name="テキスト ボックス 42">
              <a:extLst>
                <a:ext uri="{FF2B5EF4-FFF2-40B4-BE49-F238E27FC236}">
                  <a16:creationId xmlns:a16="http://schemas.microsoft.com/office/drawing/2014/main" id="{1F36E157-FEAD-544A-9731-336309F1D5FC}"/>
                </a:ext>
              </a:extLst>
            </p:cNvPr>
            <p:cNvSpPr txBox="1"/>
            <p:nvPr/>
          </p:nvSpPr>
          <p:spPr>
            <a:xfrm>
              <a:off x="6728591" y="4236252"/>
              <a:ext cx="782062" cy="558615"/>
            </a:xfrm>
            <a:prstGeom prst="rect">
              <a:avLst/>
            </a:prstGeom>
            <a:noFill/>
          </p:spPr>
          <p:txBody>
            <a:bodyPr wrap="none" rtlCol="0">
              <a:spAutoFit/>
            </a:bodyPr>
            <a:lstStyle/>
            <a:p>
              <a:pPr algn="ctr"/>
              <a:r>
                <a:rPr kumimoji="1" lang="ja-JP" altLang="en-US" sz="1200"/>
                <a:t>外向性</a:t>
              </a:r>
              <a:endParaRPr kumimoji="1" lang="en-US" altLang="ja-JP" sz="1200" dirty="0"/>
            </a:p>
            <a:p>
              <a:pPr algn="ctr"/>
              <a:r>
                <a:rPr kumimoji="1" lang="en-US" altLang="ja-JP" sz="1200" dirty="0"/>
                <a:t>(E)</a:t>
              </a:r>
              <a:endParaRPr kumimoji="1" lang="ja-JP" altLang="en-US" sz="1200"/>
            </a:p>
          </p:txBody>
        </p:sp>
        <p:sp>
          <p:nvSpPr>
            <p:cNvPr id="44" name="テキスト ボックス 43">
              <a:extLst>
                <a:ext uri="{FF2B5EF4-FFF2-40B4-BE49-F238E27FC236}">
                  <a16:creationId xmlns:a16="http://schemas.microsoft.com/office/drawing/2014/main" id="{B1A75B81-7170-2843-A658-054A4591DED5}"/>
                </a:ext>
              </a:extLst>
            </p:cNvPr>
            <p:cNvSpPr txBox="1"/>
            <p:nvPr/>
          </p:nvSpPr>
          <p:spPr>
            <a:xfrm>
              <a:off x="4751367" y="5685181"/>
              <a:ext cx="782062" cy="558615"/>
            </a:xfrm>
            <a:prstGeom prst="rect">
              <a:avLst/>
            </a:prstGeom>
            <a:noFill/>
          </p:spPr>
          <p:txBody>
            <a:bodyPr wrap="none" rtlCol="0">
              <a:spAutoFit/>
            </a:bodyPr>
            <a:lstStyle/>
            <a:p>
              <a:pPr algn="ctr"/>
              <a:r>
                <a:rPr kumimoji="1" lang="ja-JP" altLang="en-US" sz="1200"/>
                <a:t>協調性</a:t>
              </a:r>
              <a:endParaRPr kumimoji="1" lang="en-US" altLang="ja-JP" sz="1200" dirty="0"/>
            </a:p>
            <a:p>
              <a:pPr algn="ctr"/>
              <a:r>
                <a:rPr kumimoji="1" lang="en-US" altLang="ja-JP" sz="1200" dirty="0"/>
                <a:t>(A)</a:t>
              </a:r>
              <a:endParaRPr kumimoji="1" lang="ja-JP" altLang="en-US" sz="1200"/>
            </a:p>
          </p:txBody>
        </p:sp>
        <p:sp>
          <p:nvSpPr>
            <p:cNvPr id="45" name="テキスト ボックス 44">
              <a:extLst>
                <a:ext uri="{FF2B5EF4-FFF2-40B4-BE49-F238E27FC236}">
                  <a16:creationId xmlns:a16="http://schemas.microsoft.com/office/drawing/2014/main" id="{DF1E3187-C5E6-6D4E-9C23-13FDC55CC6B8}"/>
                </a:ext>
              </a:extLst>
            </p:cNvPr>
            <p:cNvSpPr txBox="1"/>
            <p:nvPr/>
          </p:nvSpPr>
          <p:spPr>
            <a:xfrm>
              <a:off x="4259517" y="4236252"/>
              <a:ext cx="782061" cy="558615"/>
            </a:xfrm>
            <a:prstGeom prst="rect">
              <a:avLst/>
            </a:prstGeom>
            <a:noFill/>
          </p:spPr>
          <p:txBody>
            <a:bodyPr wrap="none" rtlCol="0">
              <a:spAutoFit/>
            </a:bodyPr>
            <a:lstStyle/>
            <a:p>
              <a:r>
                <a:rPr kumimoji="1" lang="ja-JP" altLang="en-US" sz="1200"/>
                <a:t>誠実性</a:t>
              </a:r>
              <a:endParaRPr kumimoji="1" lang="en-US" altLang="ja-JP" sz="1200" dirty="0"/>
            </a:p>
            <a:p>
              <a:pPr algn="ctr"/>
              <a:r>
                <a:rPr kumimoji="1" lang="en-US" altLang="ja-JP" sz="1200" dirty="0"/>
                <a:t>(C)</a:t>
              </a:r>
              <a:endParaRPr kumimoji="1" lang="ja-JP" altLang="en-US" sz="1200"/>
            </a:p>
          </p:txBody>
        </p:sp>
        <p:grpSp>
          <p:nvGrpSpPr>
            <p:cNvPr id="46" name="グループ化 45">
              <a:extLst>
                <a:ext uri="{FF2B5EF4-FFF2-40B4-BE49-F238E27FC236}">
                  <a16:creationId xmlns:a16="http://schemas.microsoft.com/office/drawing/2014/main" id="{9E073D9B-2456-CB4F-96BA-8BCD9A8738E1}"/>
                </a:ext>
              </a:extLst>
            </p:cNvPr>
            <p:cNvGrpSpPr/>
            <p:nvPr/>
          </p:nvGrpSpPr>
          <p:grpSpPr>
            <a:xfrm>
              <a:off x="4938565" y="3795935"/>
              <a:ext cx="1865455" cy="1865455"/>
              <a:chOff x="4938565" y="3795935"/>
              <a:chExt cx="1865455" cy="1865455"/>
            </a:xfrm>
          </p:grpSpPr>
          <p:sp>
            <p:nvSpPr>
              <p:cNvPr id="47" name="五角形 46">
                <a:extLst>
                  <a:ext uri="{FF2B5EF4-FFF2-40B4-BE49-F238E27FC236}">
                    <a16:creationId xmlns:a16="http://schemas.microsoft.com/office/drawing/2014/main" id="{EC062242-BE66-904E-90B6-2C9304EF1E7F}"/>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cxnSp>
            <p:nvCxnSpPr>
              <p:cNvPr id="48" name="直線コネクタ 47">
                <a:extLst>
                  <a:ext uri="{FF2B5EF4-FFF2-40B4-BE49-F238E27FC236}">
                    <a16:creationId xmlns:a16="http://schemas.microsoft.com/office/drawing/2014/main" id="{572BE81B-5898-B94D-B913-0E9F8A8D2D18}"/>
                  </a:ext>
                </a:extLst>
              </p:cNvPr>
              <p:cNvCxnSpPr>
                <a:cxnSpLocks/>
                <a:stCxn id="47" idx="0"/>
                <a:endCxn id="53"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BC12414D-DE42-4F4C-9A0D-C431505648DC}"/>
                  </a:ext>
                </a:extLst>
              </p:cNvPr>
              <p:cNvCxnSpPr>
                <a:cxnSpLocks/>
                <a:stCxn id="53" idx="3"/>
                <a:endCxn id="47"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4711E3A6-4795-9F4E-B097-13F9FD479C25}"/>
                  </a:ext>
                </a:extLst>
              </p:cNvPr>
              <p:cNvCxnSpPr>
                <a:cxnSpLocks/>
                <a:stCxn id="53" idx="5"/>
                <a:endCxn id="47"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094267F9-0F59-BC4F-B50F-1AD22C97FB08}"/>
                  </a:ext>
                </a:extLst>
              </p:cNvPr>
              <p:cNvCxnSpPr>
                <a:cxnSpLocks/>
                <a:stCxn id="53" idx="6"/>
                <a:endCxn id="47"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16591170-D2C8-8A40-814E-955A21005DF1}"/>
                  </a:ext>
                </a:extLst>
              </p:cNvPr>
              <p:cNvCxnSpPr>
                <a:cxnSpLocks/>
                <a:stCxn id="47" idx="1"/>
                <a:endCxn id="53"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53" name="円/楕円 52">
                <a:extLst>
                  <a:ext uri="{FF2B5EF4-FFF2-40B4-BE49-F238E27FC236}">
                    <a16:creationId xmlns:a16="http://schemas.microsoft.com/office/drawing/2014/main" id="{094B9D48-2A3B-2947-8DAF-0A436CCEEFC8}"/>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4" name="五角形 278">
                <a:extLst>
                  <a:ext uri="{FF2B5EF4-FFF2-40B4-BE49-F238E27FC236}">
                    <a16:creationId xmlns:a16="http://schemas.microsoft.com/office/drawing/2014/main" id="{E2F17124-A2BB-1749-B30E-09CC6727FE24}"/>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chemeClr val="accent3">
                  <a:alpha val="45098"/>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spTree>
    <p:extLst>
      <p:ext uri="{BB962C8B-B14F-4D97-AF65-F5344CB8AC3E}">
        <p14:creationId xmlns:p14="http://schemas.microsoft.com/office/powerpoint/2010/main" val="3330762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9ADC1F6C-8F26-944A-ABB2-D8B080F14CCE}"/>
              </a:ext>
            </a:extLst>
          </p:cNvPr>
          <p:cNvSpPr>
            <a:spLocks noGrp="1"/>
          </p:cNvSpPr>
          <p:nvPr>
            <p:ph idx="1"/>
          </p:nvPr>
        </p:nvSpPr>
        <p:spPr>
          <a:xfrm>
            <a:off x="364050" y="1698509"/>
            <a:ext cx="8779949" cy="4881286"/>
          </a:xfrm>
        </p:spPr>
        <p:txBody>
          <a:bodyPr>
            <a:normAutofit/>
          </a:bodyPr>
          <a:lstStyle/>
          <a:p>
            <a:r>
              <a:rPr lang="ja-JP" altLang="en-US"/>
              <a:t>エージェントの実装</a:t>
            </a:r>
            <a:endParaRPr lang="en-US" altLang="ja-JP" dirty="0"/>
          </a:p>
          <a:p>
            <a:pPr lvl="1"/>
            <a:r>
              <a:rPr lang="ja-JP" altLang="en-US"/>
              <a:t>ビッグファイブ・</a:t>
            </a:r>
            <a:r>
              <a:rPr lang="en-US" altLang="ja-JP" dirty="0"/>
              <a:t>TKI</a:t>
            </a:r>
            <a:r>
              <a:rPr lang="ja-JP" altLang="en-US"/>
              <a:t>の各尺度の計算部分</a:t>
            </a:r>
            <a:endParaRPr lang="en-US" altLang="ja-JP" dirty="0"/>
          </a:p>
        </p:txBody>
      </p:sp>
      <p:sp>
        <p:nvSpPr>
          <p:cNvPr id="3" name="日付プレースホルダー 2">
            <a:extLst>
              <a:ext uri="{FF2B5EF4-FFF2-40B4-BE49-F238E27FC236}">
                <a16:creationId xmlns:a16="http://schemas.microsoft.com/office/drawing/2014/main" id="{D7004D94-60A0-884A-853C-C590E5E4408D}"/>
              </a:ext>
            </a:extLst>
          </p:cNvPr>
          <p:cNvSpPr>
            <a:spLocks noGrp="1"/>
          </p:cNvSpPr>
          <p:nvPr>
            <p:ph type="dt" sz="half" idx="10"/>
          </p:nvPr>
        </p:nvSpPr>
        <p:spPr/>
        <p:txBody>
          <a:bodyPr/>
          <a:lstStyle/>
          <a:p>
            <a:fld id="{032ACDFB-5625-9F49-9336-96019DE23F9C}" type="datetime1">
              <a:rPr kumimoji="1" lang="ja-JP" altLang="en-US" smtClean="0"/>
              <a:t>2020/9/18</a:t>
            </a:fld>
            <a:endParaRPr kumimoji="1" lang="ja-JP" altLang="en-US"/>
          </a:p>
        </p:txBody>
      </p:sp>
      <p:sp>
        <p:nvSpPr>
          <p:cNvPr id="4" name="フッター プレースホルダー 3">
            <a:extLst>
              <a:ext uri="{FF2B5EF4-FFF2-40B4-BE49-F238E27FC236}">
                <a16:creationId xmlns:a16="http://schemas.microsoft.com/office/drawing/2014/main" id="{A03114BE-5078-5440-87E7-C643C07ACD72}"/>
              </a:ext>
            </a:extLst>
          </p:cNvPr>
          <p:cNvSpPr>
            <a:spLocks noGrp="1"/>
          </p:cNvSpPr>
          <p:nvPr>
            <p:ph type="ftr" sz="quarter" idx="11"/>
          </p:nvPr>
        </p:nvSpPr>
        <p:spPr/>
        <p:txBody>
          <a:bodyPr/>
          <a:lstStyle/>
          <a:p>
            <a:r>
              <a:rPr kumimoji="1" lang="ja-JP" altLang="en-US"/>
              <a:t>中間発表</a:t>
            </a:r>
          </a:p>
        </p:txBody>
      </p:sp>
      <p:sp>
        <p:nvSpPr>
          <p:cNvPr id="5" name="テキスト プレースホルダー 4">
            <a:extLst>
              <a:ext uri="{FF2B5EF4-FFF2-40B4-BE49-F238E27FC236}">
                <a16:creationId xmlns:a16="http://schemas.microsoft.com/office/drawing/2014/main" id="{B359E75D-F783-264D-840E-F3EC34449097}"/>
              </a:ext>
            </a:extLst>
          </p:cNvPr>
          <p:cNvSpPr>
            <a:spLocks noGrp="1"/>
          </p:cNvSpPr>
          <p:nvPr>
            <p:ph type="body" sz="quarter" idx="13"/>
          </p:nvPr>
        </p:nvSpPr>
        <p:spPr/>
        <p:txBody>
          <a:bodyPr/>
          <a:lstStyle/>
          <a:p>
            <a:r>
              <a:rPr kumimoji="1" lang="ja-JP" altLang="en-US"/>
              <a:t>進捗と今後の予定</a:t>
            </a:r>
          </a:p>
        </p:txBody>
      </p:sp>
      <p:sp>
        <p:nvSpPr>
          <p:cNvPr id="6" name="テキスト プレースホルダー 5">
            <a:extLst>
              <a:ext uri="{FF2B5EF4-FFF2-40B4-BE49-F238E27FC236}">
                <a16:creationId xmlns:a16="http://schemas.microsoft.com/office/drawing/2014/main" id="{E3664FC4-E84A-D24E-B155-FAA3DE8CFDD7}"/>
              </a:ext>
            </a:extLst>
          </p:cNvPr>
          <p:cNvSpPr>
            <a:spLocks noGrp="1"/>
          </p:cNvSpPr>
          <p:nvPr>
            <p:ph type="body" sz="quarter" idx="14"/>
          </p:nvPr>
        </p:nvSpPr>
        <p:spPr/>
        <p:txBody>
          <a:bodyPr>
            <a:normAutofit lnSpcReduction="10000"/>
          </a:bodyPr>
          <a:lstStyle/>
          <a:p>
            <a:r>
              <a:rPr kumimoji="1" lang="en-US" altLang="ja-JP" dirty="0"/>
              <a:t>5</a:t>
            </a:r>
            <a:endParaRPr kumimoji="1" lang="ja-JP" altLang="en-US"/>
          </a:p>
        </p:txBody>
      </p:sp>
      <p:sp>
        <p:nvSpPr>
          <p:cNvPr id="7" name="スライド番号プレースホルダー 6">
            <a:extLst>
              <a:ext uri="{FF2B5EF4-FFF2-40B4-BE49-F238E27FC236}">
                <a16:creationId xmlns:a16="http://schemas.microsoft.com/office/drawing/2014/main" id="{AD3E405C-B664-2C42-B336-59521B1F68CE}"/>
              </a:ext>
            </a:extLst>
          </p:cNvPr>
          <p:cNvSpPr>
            <a:spLocks noGrp="1"/>
          </p:cNvSpPr>
          <p:nvPr>
            <p:ph type="sldNum" sz="quarter" idx="12"/>
          </p:nvPr>
        </p:nvSpPr>
        <p:spPr/>
        <p:txBody>
          <a:bodyPr/>
          <a:lstStyle/>
          <a:p>
            <a:fld id="{89D00F25-B0B7-304F-9AB7-5986EFE77769}" type="slidenum">
              <a:rPr kumimoji="1" lang="ja-JP" altLang="en-US" smtClean="0"/>
              <a:t>32</a:t>
            </a:fld>
            <a:endParaRPr kumimoji="1" lang="ja-JP" altLang="en-US"/>
          </a:p>
        </p:txBody>
      </p:sp>
      <p:sp>
        <p:nvSpPr>
          <p:cNvPr id="22" name="テキスト プレースホルダー 7">
            <a:extLst>
              <a:ext uri="{FF2B5EF4-FFF2-40B4-BE49-F238E27FC236}">
                <a16:creationId xmlns:a16="http://schemas.microsoft.com/office/drawing/2014/main" id="{BF6C5B31-0A8F-EB4D-8DFF-E6C41F606567}"/>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進捗</a:t>
            </a:r>
          </a:p>
        </p:txBody>
      </p:sp>
      <p:grpSp>
        <p:nvGrpSpPr>
          <p:cNvPr id="24" name="グループ化 23">
            <a:extLst>
              <a:ext uri="{FF2B5EF4-FFF2-40B4-BE49-F238E27FC236}">
                <a16:creationId xmlns:a16="http://schemas.microsoft.com/office/drawing/2014/main" id="{99BEC7CA-39D1-4042-9F6F-DCB93878E5FC}"/>
              </a:ext>
            </a:extLst>
          </p:cNvPr>
          <p:cNvGrpSpPr/>
          <p:nvPr/>
        </p:nvGrpSpPr>
        <p:grpSpPr>
          <a:xfrm>
            <a:off x="140007" y="1384215"/>
            <a:ext cx="1018135" cy="244800"/>
            <a:chOff x="143915" y="1384215"/>
            <a:chExt cx="1018135" cy="244800"/>
          </a:xfrm>
        </p:grpSpPr>
        <p:cxnSp>
          <p:nvCxnSpPr>
            <p:cNvPr id="25" name="直線コネクタ 24">
              <a:extLst>
                <a:ext uri="{FF2B5EF4-FFF2-40B4-BE49-F238E27FC236}">
                  <a16:creationId xmlns:a16="http://schemas.microsoft.com/office/drawing/2014/main" id="{3CBB2935-1DAC-614D-91A7-12260913AC91}"/>
                </a:ext>
              </a:extLst>
            </p:cNvPr>
            <p:cNvCxnSpPr>
              <a:cxnSpLocks/>
            </p:cNvCxnSpPr>
            <p:nvPr userDrawn="1"/>
          </p:nvCxnSpPr>
          <p:spPr>
            <a:xfrm>
              <a:off x="364660" y="1607575"/>
              <a:ext cx="797390"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6" name="フリーフォーム 25">
              <a:extLst>
                <a:ext uri="{FF2B5EF4-FFF2-40B4-BE49-F238E27FC236}">
                  <a16:creationId xmlns:a16="http://schemas.microsoft.com/office/drawing/2014/main" id="{AA286378-E4A7-C643-BB18-865E4FA90F44}"/>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27" name="グループ化 26">
            <a:extLst>
              <a:ext uri="{FF2B5EF4-FFF2-40B4-BE49-F238E27FC236}">
                <a16:creationId xmlns:a16="http://schemas.microsoft.com/office/drawing/2014/main" id="{F677D93B-A6AF-B64A-B518-7A386E0D7F80}"/>
              </a:ext>
            </a:extLst>
          </p:cNvPr>
          <p:cNvGrpSpPr/>
          <p:nvPr/>
        </p:nvGrpSpPr>
        <p:grpSpPr>
          <a:xfrm flipH="1" flipV="1">
            <a:off x="358775" y="1022350"/>
            <a:ext cx="1057649" cy="244800"/>
            <a:chOff x="143915" y="1377865"/>
            <a:chExt cx="1057649" cy="244800"/>
          </a:xfrm>
        </p:grpSpPr>
        <p:cxnSp>
          <p:nvCxnSpPr>
            <p:cNvPr id="28" name="直線コネクタ 27">
              <a:extLst>
                <a:ext uri="{FF2B5EF4-FFF2-40B4-BE49-F238E27FC236}">
                  <a16:creationId xmlns:a16="http://schemas.microsoft.com/office/drawing/2014/main" id="{3AE99F83-DD16-B14D-8518-08FDF6BDC0E8}"/>
                </a:ext>
              </a:extLst>
            </p:cNvPr>
            <p:cNvCxnSpPr>
              <a:cxnSpLocks/>
            </p:cNvCxnSpPr>
            <p:nvPr userDrawn="1"/>
          </p:nvCxnSpPr>
          <p:spPr>
            <a:xfrm flipV="1">
              <a:off x="364659" y="1607575"/>
              <a:ext cx="83690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9" name="フリーフォーム 28">
              <a:extLst>
                <a:ext uri="{FF2B5EF4-FFF2-40B4-BE49-F238E27FC236}">
                  <a16:creationId xmlns:a16="http://schemas.microsoft.com/office/drawing/2014/main" id="{9EFF5559-78CC-D74E-A563-2981F9AEF6FC}"/>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30" name="コンテンツ プレースホルダー 1">
            <a:extLst>
              <a:ext uri="{FF2B5EF4-FFF2-40B4-BE49-F238E27FC236}">
                <a16:creationId xmlns:a16="http://schemas.microsoft.com/office/drawing/2014/main" id="{4BD00C16-73E4-494E-99DE-C36A7AC76CE9}"/>
              </a:ext>
            </a:extLst>
          </p:cNvPr>
          <p:cNvSpPr txBox="1">
            <a:spLocks/>
          </p:cNvSpPr>
          <p:nvPr/>
        </p:nvSpPr>
        <p:spPr>
          <a:xfrm>
            <a:off x="364050" y="3602614"/>
            <a:ext cx="8779949" cy="2460011"/>
          </a:xfrm>
          <a:prstGeom prst="rect">
            <a:avLst/>
          </a:prstGeom>
        </p:spPr>
        <p:txBody>
          <a:bodyPr vert="horz" lIns="91440" tIns="45720" rIns="91440" bIns="45720" rtlCol="0">
            <a:normAutofit/>
          </a:bodyPr>
          <a:lstStyle>
            <a:lvl1pPr marL="311150" indent="-311150" algn="l" defTabSz="914400" rtl="0" eaLnBrk="1" latinLnBrk="0" hangingPunct="1">
              <a:lnSpc>
                <a:spcPct val="90000"/>
              </a:lnSpc>
              <a:spcBef>
                <a:spcPts val="1000"/>
              </a:spcBef>
              <a:buSzPct val="90000"/>
              <a:buFontTx/>
              <a:buBlip>
                <a:blip r:embed="rId2"/>
              </a:buBlip>
              <a:tabLst/>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Tx/>
              <a:buBlip>
                <a:blip r:embed="rId3"/>
              </a:buBlip>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Tx/>
              <a:buBlip>
                <a:blip r:embed="rId4"/>
              </a:buBli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引き続きエージェントの実装を行う</a:t>
            </a:r>
            <a:endParaRPr lang="en-US" altLang="ja-JP" dirty="0"/>
          </a:p>
          <a:p>
            <a:pPr lvl="1"/>
            <a:r>
              <a:rPr lang="ja-JP" altLang="en-US"/>
              <a:t>各因子・各カテゴリごとの戦略の実装</a:t>
            </a:r>
            <a:endParaRPr lang="en-US" altLang="ja-JP" dirty="0"/>
          </a:p>
          <a:p>
            <a:pPr lvl="1"/>
            <a:r>
              <a:rPr lang="ja-JP" altLang="en-US"/>
              <a:t>その他実験を行うための部分</a:t>
            </a:r>
            <a:r>
              <a:rPr lang="en-US" altLang="ja-JP" dirty="0"/>
              <a:t>(</a:t>
            </a:r>
            <a:r>
              <a:rPr lang="ja-JP" altLang="en-US"/>
              <a:t>データの保存など</a:t>
            </a:r>
            <a:r>
              <a:rPr lang="en-US" altLang="ja-JP" dirty="0"/>
              <a:t>)</a:t>
            </a:r>
          </a:p>
          <a:p>
            <a:r>
              <a:rPr lang="ja-JP" altLang="en-US"/>
              <a:t>評価実験</a:t>
            </a:r>
            <a:endParaRPr lang="en-US" altLang="ja-JP" dirty="0"/>
          </a:p>
          <a:p>
            <a:pPr lvl="1"/>
            <a:r>
              <a:rPr lang="ja-JP" altLang="en-US"/>
              <a:t>人間の被験者と交渉を行う</a:t>
            </a:r>
            <a:endParaRPr lang="en-US" altLang="ja-JP" dirty="0"/>
          </a:p>
        </p:txBody>
      </p:sp>
      <p:sp>
        <p:nvSpPr>
          <p:cNvPr id="31" name="テキスト プレースホルダー 7">
            <a:extLst>
              <a:ext uri="{FF2B5EF4-FFF2-40B4-BE49-F238E27FC236}">
                <a16:creationId xmlns:a16="http://schemas.microsoft.com/office/drawing/2014/main" id="{67CF35C0-5285-DD47-8B07-17F03B0B9081}"/>
              </a:ext>
            </a:extLst>
          </p:cNvPr>
          <p:cNvSpPr txBox="1">
            <a:spLocks/>
          </p:cNvSpPr>
          <p:nvPr/>
        </p:nvSpPr>
        <p:spPr>
          <a:xfrm>
            <a:off x="262816" y="2989980"/>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今後の予定</a:t>
            </a:r>
          </a:p>
        </p:txBody>
      </p:sp>
      <p:grpSp>
        <p:nvGrpSpPr>
          <p:cNvPr id="32" name="グループ化 31">
            <a:extLst>
              <a:ext uri="{FF2B5EF4-FFF2-40B4-BE49-F238E27FC236}">
                <a16:creationId xmlns:a16="http://schemas.microsoft.com/office/drawing/2014/main" id="{C0C21231-1EAC-5749-AE58-A7BB3883E99E}"/>
              </a:ext>
            </a:extLst>
          </p:cNvPr>
          <p:cNvGrpSpPr/>
          <p:nvPr/>
        </p:nvGrpSpPr>
        <p:grpSpPr>
          <a:xfrm flipH="1" flipV="1">
            <a:off x="358775" y="2922510"/>
            <a:ext cx="2269816" cy="244800"/>
            <a:chOff x="143915" y="1377865"/>
            <a:chExt cx="2269816" cy="244800"/>
          </a:xfrm>
        </p:grpSpPr>
        <p:cxnSp>
          <p:nvCxnSpPr>
            <p:cNvPr id="33" name="直線コネクタ 32">
              <a:extLst>
                <a:ext uri="{FF2B5EF4-FFF2-40B4-BE49-F238E27FC236}">
                  <a16:creationId xmlns:a16="http://schemas.microsoft.com/office/drawing/2014/main" id="{45A58ACD-1251-F846-A537-E17B0D6B740D}"/>
                </a:ext>
              </a:extLst>
            </p:cNvPr>
            <p:cNvCxnSpPr>
              <a:cxnSpLocks/>
            </p:cNvCxnSpPr>
            <p:nvPr userDrawn="1"/>
          </p:nvCxnSpPr>
          <p:spPr>
            <a:xfrm flipV="1">
              <a:off x="364656" y="1607575"/>
              <a:ext cx="2049075"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4" name="フリーフォーム 33">
              <a:extLst>
                <a:ext uri="{FF2B5EF4-FFF2-40B4-BE49-F238E27FC236}">
                  <a16:creationId xmlns:a16="http://schemas.microsoft.com/office/drawing/2014/main" id="{508D88A4-FB89-9D4B-B306-2DB05CB2787F}"/>
                </a:ext>
              </a:extLst>
            </p:cNvPr>
            <p:cNvSpPr/>
            <p:nvPr userDrawn="1"/>
          </p:nvSpPr>
          <p:spPr>
            <a:xfrm>
              <a:off x="143915" y="137786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5" name="グループ化 34">
            <a:extLst>
              <a:ext uri="{FF2B5EF4-FFF2-40B4-BE49-F238E27FC236}">
                <a16:creationId xmlns:a16="http://schemas.microsoft.com/office/drawing/2014/main" id="{8C79C812-9357-C34D-BDD6-45029E11C01D}"/>
              </a:ext>
            </a:extLst>
          </p:cNvPr>
          <p:cNvGrpSpPr/>
          <p:nvPr/>
        </p:nvGrpSpPr>
        <p:grpSpPr>
          <a:xfrm>
            <a:off x="140729" y="3288320"/>
            <a:ext cx="2226294" cy="244800"/>
            <a:chOff x="143915" y="1384215"/>
            <a:chExt cx="2226294" cy="244800"/>
          </a:xfrm>
        </p:grpSpPr>
        <p:cxnSp>
          <p:nvCxnSpPr>
            <p:cNvPr id="36" name="直線コネクタ 35">
              <a:extLst>
                <a:ext uri="{FF2B5EF4-FFF2-40B4-BE49-F238E27FC236}">
                  <a16:creationId xmlns:a16="http://schemas.microsoft.com/office/drawing/2014/main" id="{11FC7481-C193-C640-BF62-01F43F83DA0A}"/>
                </a:ext>
              </a:extLst>
            </p:cNvPr>
            <p:cNvCxnSpPr>
              <a:cxnSpLocks/>
            </p:cNvCxnSpPr>
            <p:nvPr userDrawn="1"/>
          </p:nvCxnSpPr>
          <p:spPr>
            <a:xfrm>
              <a:off x="364660" y="1607575"/>
              <a:ext cx="200554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7" name="フリーフォーム 36">
              <a:extLst>
                <a:ext uri="{FF2B5EF4-FFF2-40B4-BE49-F238E27FC236}">
                  <a16:creationId xmlns:a16="http://schemas.microsoft.com/office/drawing/2014/main" id="{FB274D12-A6DA-DA41-850D-38077CD24299}"/>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3232056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B44C093-66CE-3345-940D-7CA075932287}"/>
              </a:ext>
            </a:extLst>
          </p:cNvPr>
          <p:cNvSpPr>
            <a:spLocks noGrp="1"/>
          </p:cNvSpPr>
          <p:nvPr>
            <p:ph type="dt" sz="half" idx="10"/>
          </p:nvPr>
        </p:nvSpPr>
        <p:spPr/>
        <p:txBody>
          <a:bodyPr/>
          <a:lstStyle/>
          <a:p>
            <a:fld id="{67690DEA-6ACA-A741-B16D-EC0888A9A250}" type="datetime1">
              <a:rPr kumimoji="1" lang="ja-JP" altLang="en-US" smtClean="0"/>
              <a:t>2020/9/18</a:t>
            </a:fld>
            <a:endParaRPr kumimoji="1" lang="ja-JP" altLang="en-US"/>
          </a:p>
        </p:txBody>
      </p:sp>
      <p:sp>
        <p:nvSpPr>
          <p:cNvPr id="3" name="フッター プレースホルダー 2">
            <a:extLst>
              <a:ext uri="{FF2B5EF4-FFF2-40B4-BE49-F238E27FC236}">
                <a16:creationId xmlns:a16="http://schemas.microsoft.com/office/drawing/2014/main" id="{33D545AC-76D9-4147-9F24-739BF8630034}"/>
              </a:ext>
            </a:extLst>
          </p:cNvPr>
          <p:cNvSpPr>
            <a:spLocks noGrp="1"/>
          </p:cNvSpPr>
          <p:nvPr>
            <p:ph type="ftr" sz="quarter" idx="11"/>
          </p:nvPr>
        </p:nvSpPr>
        <p:spPr/>
        <p:txBody>
          <a:bodyPr/>
          <a:lstStyle/>
          <a:p>
            <a:r>
              <a:rPr kumimoji="1" lang="ja-JP" altLang="en-US"/>
              <a:t>中間発表</a:t>
            </a:r>
          </a:p>
        </p:txBody>
      </p:sp>
      <p:sp>
        <p:nvSpPr>
          <p:cNvPr id="4" name="スライド番号プレースホルダー 3">
            <a:extLst>
              <a:ext uri="{FF2B5EF4-FFF2-40B4-BE49-F238E27FC236}">
                <a16:creationId xmlns:a16="http://schemas.microsoft.com/office/drawing/2014/main" id="{3A44E415-FFEC-D046-9E66-344D17FA45E7}"/>
              </a:ext>
            </a:extLst>
          </p:cNvPr>
          <p:cNvSpPr>
            <a:spLocks noGrp="1"/>
          </p:cNvSpPr>
          <p:nvPr>
            <p:ph type="sldNum" sz="quarter" idx="12"/>
          </p:nvPr>
        </p:nvSpPr>
        <p:spPr/>
        <p:txBody>
          <a:bodyPr/>
          <a:lstStyle/>
          <a:p>
            <a:fld id="{89D00F25-B0B7-304F-9AB7-5986EFE77769}" type="slidenum">
              <a:rPr kumimoji="1" lang="ja-JP" altLang="en-US" smtClean="0"/>
              <a:t>33</a:t>
            </a:fld>
            <a:endParaRPr kumimoji="1" lang="ja-JP" altLang="en-US"/>
          </a:p>
        </p:txBody>
      </p:sp>
      <p:sp>
        <p:nvSpPr>
          <p:cNvPr id="29" name="テキスト プレースホルダー 7">
            <a:extLst>
              <a:ext uri="{FF2B5EF4-FFF2-40B4-BE49-F238E27FC236}">
                <a16:creationId xmlns:a16="http://schemas.microsoft.com/office/drawing/2014/main" id="{CE847623-EB35-9B40-B372-D704E9D6567D}"/>
              </a:ext>
            </a:extLst>
          </p:cNvPr>
          <p:cNvSpPr txBox="1">
            <a:spLocks/>
          </p:cNvSpPr>
          <p:nvPr/>
        </p:nvSpPr>
        <p:spPr>
          <a:xfrm>
            <a:off x="262816" y="1085875"/>
            <a:ext cx="8286750" cy="55166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サブタイトル</a:t>
            </a:r>
          </a:p>
        </p:txBody>
      </p:sp>
      <p:grpSp>
        <p:nvGrpSpPr>
          <p:cNvPr id="30" name="グループ化 29">
            <a:extLst>
              <a:ext uri="{FF2B5EF4-FFF2-40B4-BE49-F238E27FC236}">
                <a16:creationId xmlns:a16="http://schemas.microsoft.com/office/drawing/2014/main" id="{E016A743-D5AA-A44E-98EE-60665ECA10E8}"/>
              </a:ext>
            </a:extLst>
          </p:cNvPr>
          <p:cNvGrpSpPr/>
          <p:nvPr/>
        </p:nvGrpSpPr>
        <p:grpSpPr>
          <a:xfrm>
            <a:off x="140729" y="1384215"/>
            <a:ext cx="2307216" cy="244800"/>
            <a:chOff x="143915" y="1384215"/>
            <a:chExt cx="2307216" cy="244800"/>
          </a:xfrm>
        </p:grpSpPr>
        <p:cxnSp>
          <p:nvCxnSpPr>
            <p:cNvPr id="31" name="直線コネクタ 30">
              <a:extLst>
                <a:ext uri="{FF2B5EF4-FFF2-40B4-BE49-F238E27FC236}">
                  <a16:creationId xmlns:a16="http://schemas.microsoft.com/office/drawing/2014/main" id="{4157CA65-3490-D14C-A02C-DC4502BAE691}"/>
                </a:ext>
              </a:extLst>
            </p:cNvPr>
            <p:cNvCxnSpPr/>
            <p:nvPr userDrawn="1"/>
          </p:nvCxnSpPr>
          <p:spPr>
            <a:xfrm>
              <a:off x="364660" y="1607575"/>
              <a:ext cx="20864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2" name="フリーフォーム 31">
              <a:extLst>
                <a:ext uri="{FF2B5EF4-FFF2-40B4-BE49-F238E27FC236}">
                  <a16:creationId xmlns:a16="http://schemas.microsoft.com/office/drawing/2014/main" id="{DB4B3465-24C8-9845-B4DD-CAF724CDC5DE}"/>
                </a:ext>
              </a:extLst>
            </p:cNvPr>
            <p:cNvSpPr/>
            <p:nvPr userDrawn="1"/>
          </p:nvSpPr>
          <p:spPr>
            <a:xfrm>
              <a:off x="143915" y="1384215"/>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3" name="グループ化 32">
            <a:extLst>
              <a:ext uri="{FF2B5EF4-FFF2-40B4-BE49-F238E27FC236}">
                <a16:creationId xmlns:a16="http://schemas.microsoft.com/office/drawing/2014/main" id="{E486C840-B65B-1946-AE7B-179D85AC3C0E}"/>
              </a:ext>
            </a:extLst>
          </p:cNvPr>
          <p:cNvGrpSpPr/>
          <p:nvPr/>
        </p:nvGrpSpPr>
        <p:grpSpPr>
          <a:xfrm flipH="1" flipV="1">
            <a:off x="361474" y="1019611"/>
            <a:ext cx="2307216" cy="244800"/>
            <a:chOff x="143915" y="1379299"/>
            <a:chExt cx="2307216" cy="244800"/>
          </a:xfrm>
        </p:grpSpPr>
        <p:cxnSp>
          <p:nvCxnSpPr>
            <p:cNvPr id="34" name="直線コネクタ 33">
              <a:extLst>
                <a:ext uri="{FF2B5EF4-FFF2-40B4-BE49-F238E27FC236}">
                  <a16:creationId xmlns:a16="http://schemas.microsoft.com/office/drawing/2014/main" id="{DF8AA162-309F-2948-AD8F-8173506A516A}"/>
                </a:ext>
              </a:extLst>
            </p:cNvPr>
            <p:cNvCxnSpPr/>
            <p:nvPr userDrawn="1"/>
          </p:nvCxnSpPr>
          <p:spPr>
            <a:xfrm>
              <a:off x="364660" y="1607575"/>
              <a:ext cx="208647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5" name="フリーフォーム 34">
              <a:extLst>
                <a:ext uri="{FF2B5EF4-FFF2-40B4-BE49-F238E27FC236}">
                  <a16:creationId xmlns:a16="http://schemas.microsoft.com/office/drawing/2014/main" id="{0282A46B-48F0-2540-A908-5E386626A743}"/>
                </a:ext>
              </a:extLst>
            </p:cNvPr>
            <p:cNvSpPr/>
            <p:nvPr userDrawn="1"/>
          </p:nvSpPr>
          <p:spPr>
            <a:xfrm>
              <a:off x="143915" y="1379299"/>
              <a:ext cx="288000" cy="244800"/>
            </a:xfrm>
            <a:custGeom>
              <a:avLst/>
              <a:gdLst>
                <a:gd name="connsiteX0" fmla="*/ 737 w 263899"/>
                <a:gd name="connsiteY0" fmla="*/ 0 h 245879"/>
                <a:gd name="connsiteX1" fmla="*/ 75497 w 263899"/>
                <a:gd name="connsiteY1" fmla="*/ 0 h 245879"/>
                <a:gd name="connsiteX2" fmla="*/ 75209 w 263899"/>
                <a:gd name="connsiteY2" fmla="*/ 387 h 245879"/>
                <a:gd name="connsiteX3" fmla="*/ 257514 w 263899"/>
                <a:gd name="connsiteY3" fmla="*/ 245276 h 245879"/>
                <a:gd name="connsiteX4" fmla="*/ 263899 w 263899"/>
                <a:gd name="connsiteY4" fmla="*/ 245276 h 245879"/>
                <a:gd name="connsiteX5" fmla="*/ 263899 w 263899"/>
                <a:gd name="connsiteY5" fmla="*/ 245879 h 245879"/>
                <a:gd name="connsiteX6" fmla="*/ 182305 w 263899"/>
                <a:gd name="connsiteY6" fmla="*/ 245879 h 245879"/>
                <a:gd name="connsiteX7" fmla="*/ 0 w 263899"/>
                <a:gd name="connsiteY7" fmla="*/ 990 h 24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899" h="245879">
                  <a:moveTo>
                    <a:pt x="737" y="0"/>
                  </a:moveTo>
                  <a:lnTo>
                    <a:pt x="75497" y="0"/>
                  </a:lnTo>
                  <a:lnTo>
                    <a:pt x="75209" y="387"/>
                  </a:lnTo>
                  <a:lnTo>
                    <a:pt x="257514" y="245276"/>
                  </a:lnTo>
                  <a:lnTo>
                    <a:pt x="263899" y="245276"/>
                  </a:lnTo>
                  <a:lnTo>
                    <a:pt x="263899" y="245879"/>
                  </a:lnTo>
                  <a:lnTo>
                    <a:pt x="182305" y="245879"/>
                  </a:lnTo>
                  <a:lnTo>
                    <a:pt x="0" y="990"/>
                  </a:lnTo>
                  <a:close/>
                </a:path>
              </a:pathLst>
            </a:custGeom>
            <a:solidFill>
              <a:schemeClr val="accent1"/>
            </a:solidFill>
            <a:ln w="571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Tree>
    <p:extLst>
      <p:ext uri="{BB962C8B-B14F-4D97-AF65-F5344CB8AC3E}">
        <p14:creationId xmlns:p14="http://schemas.microsoft.com/office/powerpoint/2010/main" val="2389421020"/>
      </p:ext>
    </p:extLst>
  </p:cSld>
  <p:clrMapOvr>
    <a:masterClrMapping/>
  </p:clrMapOvr>
</p:sld>
</file>

<file path=ppt/theme/theme1.xml><?xml version="1.0" encoding="utf-8"?>
<a:theme xmlns:a="http://schemas.openxmlformats.org/drawingml/2006/main" name="Office テーマ">
  <a:themeElements>
    <a:clrScheme name="Matsushita_ver4">
      <a:dk1>
        <a:srgbClr val="373C3C"/>
      </a:dk1>
      <a:lt1>
        <a:srgbClr val="FBFAF4"/>
      </a:lt1>
      <a:dk2>
        <a:srgbClr val="46494D"/>
      </a:dk2>
      <a:lt2>
        <a:srgbClr val="EAE5E2"/>
      </a:lt2>
      <a:accent1>
        <a:srgbClr val="F29800"/>
      </a:accent1>
      <a:accent2>
        <a:srgbClr val="007ABB"/>
      </a:accent2>
      <a:accent3>
        <a:srgbClr val="B7282D"/>
      </a:accent3>
      <a:accent4>
        <a:srgbClr val="38B38B"/>
      </a:accent4>
      <a:accent5>
        <a:srgbClr val="885B8A"/>
      </a:accent5>
      <a:accent6>
        <a:srgbClr val="A86F4B"/>
      </a:accent6>
      <a:hlink>
        <a:srgbClr val="18438E"/>
      </a:hlink>
      <a:folHlink>
        <a:srgbClr val="705B6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7" id="{9AD4E96E-DA1A-8847-870F-C4C15136C28E}" vid="{CFD12823-6040-5E44-B726-7E31799C624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4018</TotalTime>
  <Words>2707</Words>
  <Application>Microsoft Macintosh PowerPoint</Application>
  <PresentationFormat>画面に合わせる (4:3)</PresentationFormat>
  <Paragraphs>704</Paragraphs>
  <Slides>33</Slides>
  <Notes>0</Notes>
  <HiddenSlides>7</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33</vt:i4>
      </vt:variant>
    </vt:vector>
  </HeadingPairs>
  <TitlesOfParts>
    <vt:vector size="39" baseType="lpstr">
      <vt:lpstr>ＭＳ Ｐゴシック</vt:lpstr>
      <vt:lpstr>Meiryo</vt:lpstr>
      <vt:lpstr>游ゴシック</vt:lpstr>
      <vt:lpstr>Arial</vt:lpstr>
      <vt:lpstr>Cambria Math</vt:lpstr>
      <vt:lpstr>Office テーマ</vt:lpstr>
      <vt:lpstr>人間とエージェントの交渉における プロファイリングを用いた交渉戦略</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人間とエージェントの交渉における プロファイリングを用いた交渉戦略</dc:title>
  <dc:creator>昌悟 松下</dc:creator>
  <cp:lastModifiedBy>昌悟 松下</cp:lastModifiedBy>
  <cp:revision>39</cp:revision>
  <dcterms:created xsi:type="dcterms:W3CDTF">2020-09-11T08:18:02Z</dcterms:created>
  <dcterms:modified xsi:type="dcterms:W3CDTF">2020-09-18T12:09:59Z</dcterms:modified>
</cp:coreProperties>
</file>