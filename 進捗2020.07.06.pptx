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393" r:id="rId3"/>
    <p:sldId id="464" r:id="rId4"/>
    <p:sldId id="467" r:id="rId5"/>
    <p:sldId id="468" r:id="rId6"/>
    <p:sldId id="469" r:id="rId7"/>
    <p:sldId id="454" r:id="rId8"/>
    <p:sldId id="451" r:id="rId9"/>
    <p:sldId id="453" r:id="rId10"/>
    <p:sldId id="457" r:id="rId11"/>
    <p:sldId id="25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B37F"/>
    <a:srgbClr val="ABCFDB"/>
    <a:srgbClr val="B2D6E4"/>
    <a:srgbClr val="ECCA5E"/>
    <a:srgbClr val="E4C35B"/>
    <a:srgbClr val="ABD7D1"/>
    <a:srgbClr val="E0AC7B"/>
    <a:srgbClr val="B8E6E0"/>
    <a:srgbClr val="FFDA66"/>
    <a:srgbClr val="FFC6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25"/>
    <p:restoredTop sz="94624"/>
  </p:normalViewPr>
  <p:slideViewPr>
    <p:cSldViewPr snapToGrid="0" snapToObjects="1" showGuides="1">
      <p:cViewPr varScale="1">
        <p:scale>
          <a:sx n="110" d="100"/>
          <a:sy n="110" d="100"/>
        </p:scale>
        <p:origin x="376" y="184"/>
      </p:cViewPr>
      <p:guideLst>
        <p:guide orient="horz" pos="213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0CCDC2-C448-5942-B3C6-FAFA0B7166CF}" type="datetimeFigureOut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68E3D-F587-EC48-9825-EB28F12809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7373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D7740A0-10A2-AC4B-9E37-89A047D63AA9}"/>
              </a:ext>
            </a:extLst>
          </p:cNvPr>
          <p:cNvSpPr/>
          <p:nvPr userDrawn="1"/>
        </p:nvSpPr>
        <p:spPr>
          <a:xfrm>
            <a:off x="-18000" y="1735015"/>
            <a:ext cx="9180000" cy="341141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30302" y="1368546"/>
            <a:ext cx="9404604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18818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275-3977-4849-BBDE-F9BC93110E65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EE0A9B93-3B75-BD4C-97FF-D428AE5ADB8E}"/>
              </a:ext>
            </a:extLst>
          </p:cNvPr>
          <p:cNvSpPr/>
          <p:nvPr userDrawn="1"/>
        </p:nvSpPr>
        <p:spPr>
          <a:xfrm>
            <a:off x="562708" y="3934582"/>
            <a:ext cx="8006861" cy="720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2891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番号なし_箇条書き貼り付け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5238" y="-128952"/>
            <a:ext cx="8198828" cy="1095506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ja-JP" altLang="en-US"/>
              <a:t>スライドのタイトル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A1E6-C3B8-DE4D-A346-09EF080BA12A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28059" y="6443601"/>
            <a:ext cx="721106" cy="401638"/>
          </a:xfrm>
        </p:spPr>
        <p:txBody>
          <a:bodyPr/>
          <a:lstStyle>
            <a:lvl1pPr>
              <a:defRPr sz="2800"/>
            </a:lvl1pPr>
          </a:lstStyle>
          <a:p>
            <a:fld id="{2981C279-7323-A845-8A27-BB5908B2F04D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CB6FB83-902B-494A-98B3-A5B53F5B8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98" y="1884384"/>
            <a:ext cx="8859709" cy="4692114"/>
          </a:xfrm>
        </p:spPr>
        <p:txBody>
          <a:bodyPr/>
          <a:lstStyle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388139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番号あり_箇条書き貼り付け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79634" y="-128952"/>
            <a:ext cx="8198828" cy="1095506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ja-JP" altLang="en-US"/>
              <a:t>スライドのタイトル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898" y="1884384"/>
            <a:ext cx="8859709" cy="4692114"/>
          </a:xfrm>
        </p:spPr>
        <p:txBody>
          <a:bodyPr/>
          <a:lstStyle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58CC-F5BE-2345-99BA-C49B60654C2B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フリーフォーム 8">
            <a:extLst>
              <a:ext uri="{FF2B5EF4-FFF2-40B4-BE49-F238E27FC236}">
                <a16:creationId xmlns:a16="http://schemas.microsoft.com/office/drawing/2014/main" id="{2088A402-64A7-4F4B-9DF6-0F821459DD04}"/>
              </a:ext>
            </a:extLst>
          </p:cNvPr>
          <p:cNvSpPr/>
          <p:nvPr userDrawn="1"/>
        </p:nvSpPr>
        <p:spPr>
          <a:xfrm>
            <a:off x="-63877" y="-128952"/>
            <a:ext cx="1172309" cy="1160586"/>
          </a:xfrm>
          <a:custGeom>
            <a:avLst/>
            <a:gdLst>
              <a:gd name="connsiteX0" fmla="*/ 0 w 1289540"/>
              <a:gd name="connsiteY0" fmla="*/ 0 h 1160586"/>
              <a:gd name="connsiteX1" fmla="*/ 1286782 w 1289540"/>
              <a:gd name="connsiteY1" fmla="*/ 0 h 1160586"/>
              <a:gd name="connsiteX2" fmla="*/ 1289540 w 1289540"/>
              <a:gd name="connsiteY2" fmla="*/ 27360 h 1160586"/>
              <a:gd name="connsiteX3" fmla="*/ 1289540 w 1289540"/>
              <a:gd name="connsiteY3" fmla="*/ 933935 h 1160586"/>
              <a:gd name="connsiteX4" fmla="*/ 1062889 w 1289540"/>
              <a:gd name="connsiteY4" fmla="*/ 1160586 h 1160586"/>
              <a:gd name="connsiteX5" fmla="*/ 49937 w 1289540"/>
              <a:gd name="connsiteY5" fmla="*/ 1160586 h 1160586"/>
              <a:gd name="connsiteX6" fmla="*/ 4259 w 1289540"/>
              <a:gd name="connsiteY6" fmla="*/ 1155981 h 1160586"/>
              <a:gd name="connsiteX7" fmla="*/ 0 w 1289540"/>
              <a:gd name="connsiteY7" fmla="*/ 1154659 h 116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9540" h="1160586">
                <a:moveTo>
                  <a:pt x="0" y="0"/>
                </a:moveTo>
                <a:lnTo>
                  <a:pt x="1286782" y="0"/>
                </a:lnTo>
                <a:lnTo>
                  <a:pt x="1289540" y="27360"/>
                </a:lnTo>
                <a:lnTo>
                  <a:pt x="1289540" y="933935"/>
                </a:lnTo>
                <a:cubicBezTo>
                  <a:pt x="1289540" y="1059111"/>
                  <a:pt x="1188065" y="1160586"/>
                  <a:pt x="1062889" y="1160586"/>
                </a:cubicBezTo>
                <a:lnTo>
                  <a:pt x="49937" y="1160586"/>
                </a:lnTo>
                <a:cubicBezTo>
                  <a:pt x="34290" y="1160586"/>
                  <a:pt x="19013" y="1159001"/>
                  <a:pt x="4259" y="1155981"/>
                </a:cubicBezTo>
                <a:lnTo>
                  <a:pt x="0" y="1154659"/>
                </a:lnTo>
                <a:close/>
              </a:path>
            </a:pathLst>
          </a:custGeom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9B857D65-C0D5-C14C-9A10-143D21D4BE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425464" y="-27300"/>
            <a:ext cx="1879127" cy="972000"/>
          </a:xfrm>
        </p:spPr>
        <p:txBody>
          <a:bodyPr>
            <a:noAutofit/>
          </a:bodyPr>
          <a:lstStyle>
            <a:lvl1pPr marL="0" indent="0" algn="ctr">
              <a:buNone/>
              <a:defRPr sz="8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No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7242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番号なし＿箇条書き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5238" y="-128952"/>
            <a:ext cx="8198828" cy="1095506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ja-JP" altLang="en-US"/>
              <a:t>スライドのタイトル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470E-4BC5-1945-9506-A510EA67C3DE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28059" y="6443601"/>
            <a:ext cx="721106" cy="401638"/>
          </a:xfrm>
        </p:spPr>
        <p:txBody>
          <a:bodyPr/>
          <a:lstStyle>
            <a:lvl1pPr>
              <a:defRPr sz="2800"/>
            </a:lvl1pPr>
          </a:lstStyle>
          <a:p>
            <a:fld id="{2981C279-7323-A845-8A27-BB5908B2F04D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CB6FB83-902B-494A-98B3-A5B53F5B8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98" y="1169281"/>
            <a:ext cx="8859709" cy="4692114"/>
          </a:xfrm>
        </p:spPr>
        <p:txBody>
          <a:bodyPr/>
          <a:lstStyle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602699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番号あり_箇条書き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79634" y="-128952"/>
            <a:ext cx="8198828" cy="1095506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ja-JP" altLang="en-US"/>
              <a:t>スライドのタイトル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468A3-0919-F54E-B59A-E9ED9FABFE93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フリーフォーム 8">
            <a:extLst>
              <a:ext uri="{FF2B5EF4-FFF2-40B4-BE49-F238E27FC236}">
                <a16:creationId xmlns:a16="http://schemas.microsoft.com/office/drawing/2014/main" id="{2088A402-64A7-4F4B-9DF6-0F821459DD04}"/>
              </a:ext>
            </a:extLst>
          </p:cNvPr>
          <p:cNvSpPr/>
          <p:nvPr userDrawn="1"/>
        </p:nvSpPr>
        <p:spPr>
          <a:xfrm>
            <a:off x="-63877" y="-128952"/>
            <a:ext cx="1172309" cy="1160586"/>
          </a:xfrm>
          <a:custGeom>
            <a:avLst/>
            <a:gdLst>
              <a:gd name="connsiteX0" fmla="*/ 0 w 1289540"/>
              <a:gd name="connsiteY0" fmla="*/ 0 h 1160586"/>
              <a:gd name="connsiteX1" fmla="*/ 1286782 w 1289540"/>
              <a:gd name="connsiteY1" fmla="*/ 0 h 1160586"/>
              <a:gd name="connsiteX2" fmla="*/ 1289540 w 1289540"/>
              <a:gd name="connsiteY2" fmla="*/ 27360 h 1160586"/>
              <a:gd name="connsiteX3" fmla="*/ 1289540 w 1289540"/>
              <a:gd name="connsiteY3" fmla="*/ 933935 h 1160586"/>
              <a:gd name="connsiteX4" fmla="*/ 1062889 w 1289540"/>
              <a:gd name="connsiteY4" fmla="*/ 1160586 h 1160586"/>
              <a:gd name="connsiteX5" fmla="*/ 49937 w 1289540"/>
              <a:gd name="connsiteY5" fmla="*/ 1160586 h 1160586"/>
              <a:gd name="connsiteX6" fmla="*/ 4259 w 1289540"/>
              <a:gd name="connsiteY6" fmla="*/ 1155981 h 1160586"/>
              <a:gd name="connsiteX7" fmla="*/ 0 w 1289540"/>
              <a:gd name="connsiteY7" fmla="*/ 1154659 h 116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9540" h="1160586">
                <a:moveTo>
                  <a:pt x="0" y="0"/>
                </a:moveTo>
                <a:lnTo>
                  <a:pt x="1286782" y="0"/>
                </a:lnTo>
                <a:lnTo>
                  <a:pt x="1289540" y="27360"/>
                </a:lnTo>
                <a:lnTo>
                  <a:pt x="1289540" y="933935"/>
                </a:lnTo>
                <a:cubicBezTo>
                  <a:pt x="1289540" y="1059111"/>
                  <a:pt x="1188065" y="1160586"/>
                  <a:pt x="1062889" y="1160586"/>
                </a:cubicBezTo>
                <a:lnTo>
                  <a:pt x="49937" y="1160586"/>
                </a:lnTo>
                <a:cubicBezTo>
                  <a:pt x="34290" y="1160586"/>
                  <a:pt x="19013" y="1159001"/>
                  <a:pt x="4259" y="1155981"/>
                </a:cubicBezTo>
                <a:lnTo>
                  <a:pt x="0" y="1154659"/>
                </a:lnTo>
                <a:close/>
              </a:path>
            </a:pathLst>
          </a:custGeom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9B857D65-C0D5-C14C-9A10-143D21D4BE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425464" y="-27300"/>
            <a:ext cx="1879127" cy="972000"/>
          </a:xfrm>
        </p:spPr>
        <p:txBody>
          <a:bodyPr>
            <a:noAutofit/>
          </a:bodyPr>
          <a:lstStyle>
            <a:lvl1pPr marL="0" indent="0" algn="ctr">
              <a:buNone/>
              <a:defRPr sz="8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No</a:t>
            </a:r>
            <a:endParaRPr kumimoji="1" lang="ja-JP" alt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08DC9C3-5553-BD40-9933-0A4D05E8E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98" y="1169281"/>
            <a:ext cx="8859709" cy="4692114"/>
          </a:xfrm>
        </p:spPr>
        <p:txBody>
          <a:bodyPr/>
          <a:lstStyle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562719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F3555-E93B-3A4D-AF4E-8776BA7B7879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5596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D34DB-DCA4-3E46-8E9A-438514557B03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6941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2B0B-3EB1-7D48-BCB2-B34EB8C22E6E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1846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9526-C6B6-3C4B-B48C-57A5608CC1DE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4043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ピー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E972-7F9F-8545-A12B-9CBEE476963D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BF48DF8D-E5BC-9044-9980-A872104EC9D1}"/>
              </a:ext>
            </a:extLst>
          </p:cNvPr>
          <p:cNvGrpSpPr/>
          <p:nvPr userDrawn="1"/>
        </p:nvGrpSpPr>
        <p:grpSpPr>
          <a:xfrm>
            <a:off x="2438030" y="3497736"/>
            <a:ext cx="513617" cy="487974"/>
            <a:chOff x="5777279" y="1326905"/>
            <a:chExt cx="513617" cy="487974"/>
          </a:xfrm>
          <a:solidFill>
            <a:schemeClr val="accent1"/>
          </a:solidFill>
        </p:grpSpPr>
        <p:sp>
          <p:nvSpPr>
            <p:cNvPr id="6" name="三角形 5">
              <a:extLst>
                <a:ext uri="{FF2B5EF4-FFF2-40B4-BE49-F238E27FC236}">
                  <a16:creationId xmlns:a16="http://schemas.microsoft.com/office/drawing/2014/main" id="{3DC6B543-7F25-FF44-97B2-229A862B52F5}"/>
                </a:ext>
              </a:extLst>
            </p:cNvPr>
            <p:cNvSpPr/>
            <p:nvPr userDrawn="1"/>
          </p:nvSpPr>
          <p:spPr>
            <a:xfrm rot="5400000">
              <a:off x="5882786" y="1406770"/>
              <a:ext cx="487973" cy="328246"/>
            </a:xfrm>
            <a:prstGeom prst="triangl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三角形 6">
              <a:extLst>
                <a:ext uri="{FF2B5EF4-FFF2-40B4-BE49-F238E27FC236}">
                  <a16:creationId xmlns:a16="http://schemas.microsoft.com/office/drawing/2014/main" id="{39018809-A256-1446-9BCB-F9BC0B2CEFC5}"/>
                </a:ext>
              </a:extLst>
            </p:cNvPr>
            <p:cNvSpPr/>
            <p:nvPr userDrawn="1"/>
          </p:nvSpPr>
          <p:spPr>
            <a:xfrm rot="5400000">
              <a:off x="5697415" y="1406769"/>
              <a:ext cx="487973" cy="328246"/>
            </a:xfrm>
            <a:prstGeom prst="triangl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EEA83C1B-5795-FE4D-8A70-6E249896CB42}"/>
              </a:ext>
            </a:extLst>
          </p:cNvPr>
          <p:cNvGrpSpPr/>
          <p:nvPr userDrawn="1"/>
        </p:nvGrpSpPr>
        <p:grpSpPr>
          <a:xfrm>
            <a:off x="697504" y="3453857"/>
            <a:ext cx="686164" cy="488219"/>
            <a:chOff x="5159252" y="1181176"/>
            <a:chExt cx="686164" cy="488219"/>
          </a:xfrm>
          <a:solidFill>
            <a:schemeClr val="accent1"/>
          </a:solidFill>
        </p:grpSpPr>
        <p:sp>
          <p:nvSpPr>
            <p:cNvPr id="9" name="三角形 8">
              <a:extLst>
                <a:ext uri="{FF2B5EF4-FFF2-40B4-BE49-F238E27FC236}">
                  <a16:creationId xmlns:a16="http://schemas.microsoft.com/office/drawing/2014/main" id="{C16B67FE-3CD0-2140-8383-24074EDF5FCE}"/>
                </a:ext>
              </a:extLst>
            </p:cNvPr>
            <p:cNvSpPr/>
            <p:nvPr userDrawn="1"/>
          </p:nvSpPr>
          <p:spPr>
            <a:xfrm rot="5400000">
              <a:off x="5437306" y="1261040"/>
              <a:ext cx="487973" cy="328246"/>
            </a:xfrm>
            <a:prstGeom prst="triangl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Tx/>
                <a:buBlip>
                  <a:blip r:embed="rId2"/>
                </a:buBlip>
              </a:pPr>
              <a:endParaRPr kumimoji="1" lang="ja-JP" altLang="en-US"/>
            </a:p>
          </p:txBody>
        </p:sp>
        <p:sp>
          <p:nvSpPr>
            <p:cNvPr id="10" name="三角形 9">
              <a:extLst>
                <a:ext uri="{FF2B5EF4-FFF2-40B4-BE49-F238E27FC236}">
                  <a16:creationId xmlns:a16="http://schemas.microsoft.com/office/drawing/2014/main" id="{460DA42C-3A8C-854B-87D3-67D552964AF8}"/>
                </a:ext>
              </a:extLst>
            </p:cNvPr>
            <p:cNvSpPr/>
            <p:nvPr userDrawn="1"/>
          </p:nvSpPr>
          <p:spPr>
            <a:xfrm rot="5400000">
              <a:off x="5264759" y="1261286"/>
              <a:ext cx="487973" cy="328246"/>
            </a:xfrm>
            <a:prstGeom prst="triangl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Tx/>
                <a:buBlip>
                  <a:blip r:embed="rId2"/>
                </a:buBlip>
              </a:pPr>
              <a:endParaRPr kumimoji="1" lang="ja-JP" altLang="en-US"/>
            </a:p>
          </p:txBody>
        </p:sp>
        <p:sp>
          <p:nvSpPr>
            <p:cNvPr id="11" name="三角形 10">
              <a:extLst>
                <a:ext uri="{FF2B5EF4-FFF2-40B4-BE49-F238E27FC236}">
                  <a16:creationId xmlns:a16="http://schemas.microsoft.com/office/drawing/2014/main" id="{9E4FAB19-4805-5048-B3D0-482B1B63211B}"/>
                </a:ext>
              </a:extLst>
            </p:cNvPr>
            <p:cNvSpPr/>
            <p:nvPr userDrawn="1"/>
          </p:nvSpPr>
          <p:spPr>
            <a:xfrm rot="5400000">
              <a:off x="5079388" y="1261285"/>
              <a:ext cx="487973" cy="328246"/>
            </a:xfrm>
            <a:prstGeom prst="triangl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Tx/>
                <a:buBlip>
                  <a:blip r:embed="rId2"/>
                </a:buBlip>
              </a:pPr>
              <a:endParaRPr kumimoji="1" lang="ja-JP" altLang="en-US"/>
            </a:p>
          </p:txBody>
        </p:sp>
      </p:grpSp>
      <p:sp>
        <p:nvSpPr>
          <p:cNvPr id="12" name="三角形 11">
            <a:extLst>
              <a:ext uri="{FF2B5EF4-FFF2-40B4-BE49-F238E27FC236}">
                <a16:creationId xmlns:a16="http://schemas.microsoft.com/office/drawing/2014/main" id="{2C762878-2D1B-CD44-AFDF-6B039A7E14AE}"/>
              </a:ext>
            </a:extLst>
          </p:cNvPr>
          <p:cNvSpPr/>
          <p:nvPr userDrawn="1"/>
        </p:nvSpPr>
        <p:spPr>
          <a:xfrm rot="5400000">
            <a:off x="3707109" y="3508864"/>
            <a:ext cx="487973" cy="328246"/>
          </a:xfrm>
          <a:prstGeom prst="triangl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D0F0539D-82B8-914D-9DE6-05B3A42AEE90}"/>
              </a:ext>
            </a:extLst>
          </p:cNvPr>
          <p:cNvGrpSpPr/>
          <p:nvPr userDrawn="1"/>
        </p:nvGrpSpPr>
        <p:grpSpPr>
          <a:xfrm>
            <a:off x="163626" y="1160115"/>
            <a:ext cx="4103574" cy="680876"/>
            <a:chOff x="163626" y="1160115"/>
            <a:chExt cx="4103574" cy="680876"/>
          </a:xfrm>
        </p:grpSpPr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CCB3DF71-233C-784B-A40E-F763DAF7410E}"/>
                </a:ext>
              </a:extLst>
            </p:cNvPr>
            <p:cNvCxnSpPr/>
            <p:nvPr userDrawn="1"/>
          </p:nvCxnSpPr>
          <p:spPr>
            <a:xfrm>
              <a:off x="163626" y="1699846"/>
              <a:ext cx="4103574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CA15AE55-A3D1-3048-9E8F-3A81DFB0C414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6" name="テキスト プレースホルダー 12">
            <a:extLst>
              <a:ext uri="{FF2B5EF4-FFF2-40B4-BE49-F238E27FC236}">
                <a16:creationId xmlns:a16="http://schemas.microsoft.com/office/drawing/2014/main" id="{3013F31D-8B87-584D-8A56-225A22C7C6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4691" y="1192726"/>
            <a:ext cx="8147050" cy="680876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r>
              <a:rPr kumimoji="1" lang="ja-JP" altLang="en-US"/>
              <a:t>テキスト</a:t>
            </a:r>
          </a:p>
        </p:txBody>
      </p:sp>
    </p:spTree>
    <p:extLst>
      <p:ext uri="{BB962C8B-B14F-4D97-AF65-F5344CB8AC3E}">
        <p14:creationId xmlns:p14="http://schemas.microsoft.com/office/powerpoint/2010/main" val="524085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15014-30FE-CC43-81CB-CE71B2D66247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45468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62DB-EF94-E646-B694-C43CC85D160D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150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0722B-D148-BE44-BF67-6510CE43B9F9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81140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08DE0-8C54-1A48-96D9-0CB1F61C3B86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9014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64C4851-9044-7944-A997-D3E4769EC61B}"/>
              </a:ext>
            </a:extLst>
          </p:cNvPr>
          <p:cNvSpPr/>
          <p:nvPr userDrawn="1"/>
        </p:nvSpPr>
        <p:spPr>
          <a:xfrm>
            <a:off x="-11723" y="-8304"/>
            <a:ext cx="9180000" cy="7692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 b="0" i="0">
              <a:solidFill>
                <a:schemeClr val="bg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65581C3-683F-974B-B777-1906334DD7D8}"/>
              </a:ext>
            </a:extLst>
          </p:cNvPr>
          <p:cNvSpPr/>
          <p:nvPr userDrawn="1"/>
        </p:nvSpPr>
        <p:spPr>
          <a:xfrm>
            <a:off x="-11723" y="6624072"/>
            <a:ext cx="9180000" cy="2451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 b="0" i="0">
              <a:solidFill>
                <a:schemeClr val="bg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34" name="フリーフォーム 33">
            <a:extLst>
              <a:ext uri="{FF2B5EF4-FFF2-40B4-BE49-F238E27FC236}">
                <a16:creationId xmlns:a16="http://schemas.microsoft.com/office/drawing/2014/main" id="{2D285060-24CD-0E41-A3F1-0099B6A8A897}"/>
              </a:ext>
            </a:extLst>
          </p:cNvPr>
          <p:cNvSpPr/>
          <p:nvPr userDrawn="1"/>
        </p:nvSpPr>
        <p:spPr>
          <a:xfrm flipH="1">
            <a:off x="8258747" y="6381627"/>
            <a:ext cx="973705" cy="546179"/>
          </a:xfrm>
          <a:custGeom>
            <a:avLst/>
            <a:gdLst>
              <a:gd name="connsiteX0" fmla="*/ 0 w 1209192"/>
              <a:gd name="connsiteY0" fmla="*/ 0 h 245119"/>
              <a:gd name="connsiteX1" fmla="*/ 1077529 w 1209192"/>
              <a:gd name="connsiteY1" fmla="*/ 0 h 245119"/>
              <a:gd name="connsiteX2" fmla="*/ 1209192 w 1209192"/>
              <a:gd name="connsiteY2" fmla="*/ 245119 h 245119"/>
              <a:gd name="connsiteX3" fmla="*/ 0 w 1209192"/>
              <a:gd name="connsiteY3" fmla="*/ 245119 h 24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9192" h="245119">
                <a:moveTo>
                  <a:pt x="0" y="0"/>
                </a:moveTo>
                <a:lnTo>
                  <a:pt x="1077529" y="0"/>
                </a:lnTo>
                <a:lnTo>
                  <a:pt x="1209192" y="245119"/>
                </a:lnTo>
                <a:lnTo>
                  <a:pt x="0" y="245119"/>
                </a:lnTo>
                <a:close/>
              </a:path>
            </a:pathLst>
          </a:custGeom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0" i="0"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4160" y="-154601"/>
            <a:ext cx="7886700" cy="1095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96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577" y="656545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bg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defRPr>
            </a:lvl1pPr>
          </a:lstStyle>
          <a:p>
            <a:fld id="{848FC433-A65A-5E4B-A542-B4358B331384}" type="datetime1">
              <a:rPr lang="ja-JP" altLang="en-US" smtClean="0"/>
              <a:t>2020/7/6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56736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defRPr>
            </a:lvl1pPr>
          </a:lstStyle>
          <a:p>
            <a:r>
              <a:rPr lang="ja-JP" altLang="en-US"/>
              <a:t>進捗報告</a:t>
            </a:r>
            <a:endParaRPr lang="en-US" altLang="ja-JP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19588" y="6485304"/>
            <a:ext cx="5959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0" i="0">
                <a:solidFill>
                  <a:schemeClr val="bg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defRPr>
            </a:lvl1pPr>
          </a:lstStyle>
          <a:p>
            <a:fld id="{2981C279-7323-A845-8A27-BB5908B2F04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31777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5" r:id="rId2"/>
    <p:sldLayoutId id="2147483676" r:id="rId3"/>
    <p:sldLayoutId id="2147483673" r:id="rId4"/>
    <p:sldLayoutId id="2147483674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0" i="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+mj-cs"/>
        </a:defRPr>
      </a:lvl1pPr>
    </p:titleStyle>
    <p:bodyStyle>
      <a:lvl1pPr marL="231775" indent="-231775" algn="l" defTabSz="914400" rtl="0" eaLnBrk="1" latinLnBrk="0" hangingPunct="1">
        <a:lnSpc>
          <a:spcPct val="90000"/>
        </a:lnSpc>
        <a:spcBef>
          <a:spcPts val="1000"/>
        </a:spcBef>
        <a:buSzPct val="100000"/>
        <a:buFontTx/>
        <a:buBlip>
          <a:blip r:embed="rId16"/>
        </a:buBlip>
        <a:tabLst/>
        <a:defRPr kumimoji="1" sz="2800" b="0" i="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+mn-cs"/>
        </a:defRPr>
      </a:lvl1pPr>
      <a:lvl2pPr marL="722313" indent="-265113" algn="l" defTabSz="914400" rtl="0" eaLnBrk="1" latinLnBrk="0" hangingPunct="1">
        <a:lnSpc>
          <a:spcPct val="90000"/>
        </a:lnSpc>
        <a:spcBef>
          <a:spcPts val="500"/>
        </a:spcBef>
        <a:buSzPct val="100000"/>
        <a:buFontTx/>
        <a:buBlip>
          <a:blip r:embed="rId17"/>
        </a:buBlip>
        <a:tabLst/>
        <a:defRPr kumimoji="1" sz="2400" b="0" i="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+mn-cs"/>
        </a:defRPr>
      </a:lvl2pPr>
      <a:lvl3pPr marL="1246188" indent="-331788" algn="l" defTabSz="914400" rtl="0" eaLnBrk="1" latinLnBrk="0" hangingPunct="1">
        <a:lnSpc>
          <a:spcPct val="90000"/>
        </a:lnSpc>
        <a:spcBef>
          <a:spcPts val="500"/>
        </a:spcBef>
        <a:buSzPct val="100000"/>
        <a:buFontTx/>
        <a:buBlip>
          <a:blip r:embed="rId18"/>
        </a:buBlip>
        <a:tabLst/>
        <a:defRPr kumimoji="1" sz="2000" b="0" i="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Arial" panose="020B0604020202020204" pitchFamily="34" charset="0"/>
        <a:buChar char="•"/>
        <a:defRPr kumimoji="1" sz="1800" b="0" i="0" kern="1200">
          <a:solidFill>
            <a:schemeClr val="tx1"/>
          </a:solidFill>
          <a:latin typeface="Hiragino Sans W4" panose="020B0400000000000000" pitchFamily="34" charset="-128"/>
          <a:ea typeface="Hiragino Sans W4" panose="020B0400000000000000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Arial" panose="020B0604020202020204" pitchFamily="34" charset="0"/>
        <a:buChar char="•"/>
        <a:defRPr kumimoji="1" sz="1800" b="0" i="0" kern="1200">
          <a:solidFill>
            <a:schemeClr val="tx1"/>
          </a:solidFill>
          <a:latin typeface="Hiragino Sans W4" panose="020B0400000000000000" pitchFamily="34" charset="-128"/>
          <a:ea typeface="Hiragino Sans W4" panose="020B04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48396D-C709-8246-8286-094B8839C3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4C8C94E-7F42-E549-B498-1831334F57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/>
              <a:t>松下昌悟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39C715-D20B-D647-B48B-59A4FF41D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55CFD-0C13-B64F-8475-2B9C4937D230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3DFF42-E302-8446-A693-A684C0738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3A790D-E0F0-AA4D-9672-14F1BBCAA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7363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22F177-332F-5F41-A229-B64AAEC4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進捗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EF7AA8-53FB-7E4A-A9B0-6DF5A6524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971C-747C-6D4C-9C5C-692C46840815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DCEAA7-DB51-9D4A-A5D9-EA182BCD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FF0470-4ED4-8840-B291-82487CD4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658A242-3CAD-F343-813E-CAC67C250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1</a:t>
            </a:r>
            <a:endParaRPr kumimoji="1" lang="ja-JP" altLang="en-US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813CA7AA-D605-594B-ADF0-6CF8BCF67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056" y="1052532"/>
            <a:ext cx="3673279" cy="2316536"/>
          </a:xfrm>
          <a:prstGeom prst="rect">
            <a:avLst/>
          </a:prstGeom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9D0AA023-77FD-8E45-A2FE-9E13FDF597F6}"/>
              </a:ext>
            </a:extLst>
          </p:cNvPr>
          <p:cNvGrpSpPr/>
          <p:nvPr/>
        </p:nvGrpSpPr>
        <p:grpSpPr>
          <a:xfrm>
            <a:off x="163626" y="1160115"/>
            <a:ext cx="4026409" cy="680876"/>
            <a:chOff x="163626" y="1160115"/>
            <a:chExt cx="4026409" cy="680876"/>
          </a:xfrm>
        </p:grpSpPr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53032A18-BA45-7B4C-A12B-71F28C34CB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3626" y="1699846"/>
              <a:ext cx="4026409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6EA7F5F3-06B2-DF42-86C2-191A3B5C05B1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4" name="テキスト プレースホルダー 12">
            <a:extLst>
              <a:ext uri="{FF2B5EF4-FFF2-40B4-BE49-F238E27FC236}">
                <a16:creationId xmlns:a16="http://schemas.microsoft.com/office/drawing/2014/main" id="{7B0D261D-000C-D849-BECE-7D4525F2E1AA}"/>
              </a:ext>
            </a:extLst>
          </p:cNvPr>
          <p:cNvSpPr txBox="1">
            <a:spLocks/>
          </p:cNvSpPr>
          <p:nvPr/>
        </p:nvSpPr>
        <p:spPr>
          <a:xfrm>
            <a:off x="404691" y="1192726"/>
            <a:ext cx="8147050" cy="6808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Tx/>
              <a:buNone/>
              <a:tabLst/>
              <a:defRPr kumimoji="1" sz="3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7223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3"/>
              </a:buBlip>
              <a:tabLst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246188" indent="-3317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4"/>
              </a:buBlip>
              <a:tabLst/>
              <a:defRPr kumimoji="1" sz="2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エージェントの戦略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E2030744-C386-0249-92DD-23CBE73DC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普通カテゴリをベースとして</a:t>
            </a:r>
            <a:br>
              <a:rPr lang="en-US" altLang="ja-JP" dirty="0"/>
            </a:br>
            <a:r>
              <a:rPr lang="ja-JP" altLang="en-US"/>
              <a:t>他のカテゴリの度合いを考慮</a:t>
            </a:r>
            <a:endParaRPr lang="en-US" altLang="ja-JP" dirty="0"/>
          </a:p>
          <a:p>
            <a:pPr lvl="1"/>
            <a:r>
              <a:rPr lang="ja-JP" altLang="en-US"/>
              <a:t>各カテゴリを表す</a:t>
            </a:r>
            <a:r>
              <a:rPr lang="ja-JP" altLang="en-US">
                <a:solidFill>
                  <a:schemeClr val="accent2"/>
                </a:solidFill>
              </a:rPr>
              <a:t>ベクトルとの</a:t>
            </a:r>
            <a:br>
              <a:rPr lang="en-US" altLang="ja-JP" dirty="0">
                <a:solidFill>
                  <a:schemeClr val="accent2"/>
                </a:solidFill>
              </a:rPr>
            </a:br>
            <a:r>
              <a:rPr lang="ja-JP" altLang="en-US">
                <a:solidFill>
                  <a:schemeClr val="accent2"/>
                </a:solidFill>
              </a:rPr>
              <a:t>距離</a:t>
            </a:r>
            <a:r>
              <a:rPr lang="ja-JP" altLang="en-US"/>
              <a:t>で譲歩速度などを変更</a:t>
            </a:r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4F60C014-F75B-2D42-97F5-CA5AE770834B}"/>
              </a:ext>
            </a:extLst>
          </p:cNvPr>
          <p:cNvGrpSpPr/>
          <p:nvPr/>
        </p:nvGrpSpPr>
        <p:grpSpPr>
          <a:xfrm>
            <a:off x="6221903" y="3913192"/>
            <a:ext cx="2727199" cy="708075"/>
            <a:chOff x="2662580" y="3750198"/>
            <a:chExt cx="2727199" cy="708075"/>
          </a:xfrm>
        </p:grpSpPr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B7BBCFA0-F342-3040-91B5-A571B2FA5E9F}"/>
                </a:ext>
              </a:extLst>
            </p:cNvPr>
            <p:cNvCxnSpPr/>
            <p:nvPr/>
          </p:nvCxnSpPr>
          <p:spPr>
            <a:xfrm>
              <a:off x="3028950" y="3750198"/>
              <a:ext cx="1994463" cy="0"/>
            </a:xfrm>
            <a:prstGeom prst="straightConnector1">
              <a:avLst/>
            </a:prstGeom>
            <a:ln w="57150">
              <a:solidFill>
                <a:srgbClr val="D7991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6A91C07F-E09B-6646-8E3C-D8F5F512DE87}"/>
                </a:ext>
              </a:extLst>
            </p:cNvPr>
            <p:cNvSpPr txBox="1"/>
            <p:nvPr/>
          </p:nvSpPr>
          <p:spPr>
            <a:xfrm>
              <a:off x="3256464" y="3798669"/>
              <a:ext cx="15394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/>
                <a:t>わがまま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B4CB7D27-CD72-4248-9428-C83B4E0F2D07}"/>
                    </a:ext>
                  </a:extLst>
                </p:cNvPr>
                <p:cNvSpPr txBox="1"/>
                <p:nvPr/>
              </p:nvSpPr>
              <p:spPr>
                <a:xfrm>
                  <a:off x="2662580" y="4087659"/>
                  <a:ext cx="2727199" cy="3706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[−0.2,0.6,−0.6,−0.5,−0.4]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B4CB7D27-CD72-4248-9428-C83B4E0F2D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2580" y="4087659"/>
                  <a:ext cx="2727199" cy="370614"/>
                </a:xfrm>
                <a:prstGeom prst="rect">
                  <a:avLst/>
                </a:prstGeom>
                <a:blipFill>
                  <a:blip r:embed="rId5"/>
                  <a:stretch>
                    <a:fillRect l="-4167" r="-926" b="-1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E38DC07B-36A3-854B-A9BC-66B0250F37A6}"/>
              </a:ext>
            </a:extLst>
          </p:cNvPr>
          <p:cNvGrpSpPr/>
          <p:nvPr/>
        </p:nvGrpSpPr>
        <p:grpSpPr>
          <a:xfrm>
            <a:off x="3209317" y="3913192"/>
            <a:ext cx="2727199" cy="706793"/>
            <a:chOff x="2662580" y="3750198"/>
            <a:chExt cx="2727199" cy="706793"/>
          </a:xfrm>
        </p:grpSpPr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7E68F4C0-CDA0-2D49-863F-046E0660CECA}"/>
                </a:ext>
              </a:extLst>
            </p:cNvPr>
            <p:cNvCxnSpPr/>
            <p:nvPr/>
          </p:nvCxnSpPr>
          <p:spPr>
            <a:xfrm>
              <a:off x="3028950" y="3750198"/>
              <a:ext cx="1994463" cy="0"/>
            </a:xfrm>
            <a:prstGeom prst="straightConnector1">
              <a:avLst/>
            </a:prstGeom>
            <a:ln w="57150">
              <a:solidFill>
                <a:srgbClr val="4BC44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FAE3B4F8-77E2-7E42-A294-59F5CC4A27E5}"/>
                </a:ext>
              </a:extLst>
            </p:cNvPr>
            <p:cNvSpPr txBox="1"/>
            <p:nvPr/>
          </p:nvSpPr>
          <p:spPr>
            <a:xfrm>
              <a:off x="3256464" y="3798669"/>
              <a:ext cx="15394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/>
                <a:t>つつましい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54B1649E-17F5-CC40-946A-5A2AF629AFCE}"/>
                    </a:ext>
                  </a:extLst>
                </p:cNvPr>
                <p:cNvSpPr txBox="1"/>
                <p:nvPr/>
              </p:nvSpPr>
              <p:spPr>
                <a:xfrm>
                  <a:off x="2662580" y="4087659"/>
                  <a:ext cx="27271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[−0.5,−0.1,−0.6,0.1,0.2]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54B1649E-17F5-CC40-946A-5A2AF629A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2580" y="4087659"/>
                  <a:ext cx="2727199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C107D668-4769-B845-8A0B-82A239B39EE3}"/>
              </a:ext>
            </a:extLst>
          </p:cNvPr>
          <p:cNvGrpSpPr/>
          <p:nvPr/>
        </p:nvGrpSpPr>
        <p:grpSpPr>
          <a:xfrm>
            <a:off x="254606" y="3902926"/>
            <a:ext cx="2727199" cy="706793"/>
            <a:chOff x="2662580" y="3750198"/>
            <a:chExt cx="2727199" cy="706793"/>
          </a:xfrm>
        </p:grpSpPr>
        <p:cxnSp>
          <p:nvCxnSpPr>
            <p:cNvPr id="31" name="直線矢印コネクタ 30">
              <a:extLst>
                <a:ext uri="{FF2B5EF4-FFF2-40B4-BE49-F238E27FC236}">
                  <a16:creationId xmlns:a16="http://schemas.microsoft.com/office/drawing/2014/main" id="{7D02F1D3-E8D6-D748-ADBD-31B0AB3534B8}"/>
                </a:ext>
              </a:extLst>
            </p:cNvPr>
            <p:cNvCxnSpPr/>
            <p:nvPr/>
          </p:nvCxnSpPr>
          <p:spPr>
            <a:xfrm>
              <a:off x="3028950" y="3750198"/>
              <a:ext cx="1994463" cy="0"/>
            </a:xfrm>
            <a:prstGeom prst="straightConnector1">
              <a:avLst/>
            </a:prstGeom>
            <a:ln w="57150">
              <a:solidFill>
                <a:srgbClr val="FF7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930B05F1-51A1-6749-ABE9-5C3AE86B2500}"/>
                </a:ext>
              </a:extLst>
            </p:cNvPr>
            <p:cNvSpPr txBox="1"/>
            <p:nvPr/>
          </p:nvSpPr>
          <p:spPr>
            <a:xfrm>
              <a:off x="3256464" y="3798669"/>
              <a:ext cx="15394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/>
                <a:t>模範的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C8E8D5C4-2AAA-E74D-AADD-AE34A6E426D4}"/>
                    </a:ext>
                  </a:extLst>
                </p:cNvPr>
                <p:cNvSpPr txBox="1"/>
                <p:nvPr/>
              </p:nvSpPr>
              <p:spPr>
                <a:xfrm>
                  <a:off x="2662580" y="4087659"/>
                  <a:ext cx="27271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[−0.6,0.5,0.2,0.6,0.7]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C8E8D5C4-2AAA-E74D-AADD-AE34A6E426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2580" y="4087659"/>
                  <a:ext cx="2727199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79730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22F177-332F-5F41-A229-B64AAEC4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進捗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7CD37B2B-E32E-2D43-8143-0B7A29E79B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4898" y="1884383"/>
                <a:ext cx="8859709" cy="4507316"/>
              </a:xfrm>
            </p:spPr>
            <p:txBody>
              <a:bodyPr/>
              <a:lstStyle/>
              <a:p>
                <a:r>
                  <a:rPr lang="ja-JP" altLang="en-US"/>
                  <a:t>譲歩速度</a:t>
                </a:r>
                <a:endParaRPr lang="en-US" altLang="ja-JP" dirty="0"/>
              </a:p>
              <a:p>
                <a:pPr lvl="1"/>
                <a:r>
                  <a:rPr lang="ja-JP" altLang="en-US"/>
                  <a:t>わがまま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ja-JP" altLang="en-US"/>
                  <a:t>普通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ja-JP" altLang="en-US"/>
                  <a:t>つつましい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ja-JP" altLang="en-US"/>
                  <a:t>模範</a:t>
                </a:r>
                <a:endParaRPr lang="en-US" altLang="ja-JP" dirty="0"/>
              </a:p>
              <a:p>
                <a:r>
                  <a:rPr lang="en-US" altLang="ja-JP" dirty="0"/>
                  <a:t>Offer</a:t>
                </a:r>
                <a:r>
                  <a:rPr lang="ja-JP" altLang="en-US"/>
                  <a:t>のパターン</a:t>
                </a:r>
                <a:endParaRPr lang="en-US" altLang="ja-JP" dirty="0"/>
              </a:p>
              <a:p>
                <a:pPr lvl="1"/>
                <a:r>
                  <a:rPr lang="ja-JP" altLang="en-US"/>
                  <a:t>つつましい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ja-JP" altLang="en-US"/>
                  <a:t>わがまま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ja-JP" altLang="en-US"/>
                  <a:t>普通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ja-JP" altLang="en-US"/>
                  <a:t>模範</a:t>
                </a:r>
                <a:endParaRPr lang="en-US" altLang="ja-JP" dirty="0"/>
              </a:p>
              <a:p>
                <a:r>
                  <a:rPr lang="en-US" altLang="ja-JP" dirty="0"/>
                  <a:t>Offer</a:t>
                </a:r>
                <a:r>
                  <a:rPr lang="ja-JP" altLang="en-US"/>
                  <a:t>・行動頻度</a:t>
                </a:r>
                <a:endParaRPr lang="en-US" altLang="ja-JP" dirty="0"/>
              </a:p>
              <a:p>
                <a:pPr lvl="1"/>
                <a:r>
                  <a:rPr lang="ja-JP" altLang="en-US"/>
                  <a:t>つつましい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ja-JP" altLang="en-US"/>
                  <a:t>普通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ja-JP" altLang="en-US"/>
                  <a:t>模範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ja-JP" altLang="en-US"/>
                  <a:t>わがまま</a:t>
                </a:r>
                <a:endParaRPr lang="en-US" altLang="ja-JP" dirty="0"/>
              </a:p>
              <a:p>
                <a:pPr lvl="1"/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7CD37B2B-E32E-2D43-8143-0B7A29E79B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898" y="1884383"/>
                <a:ext cx="8859709" cy="4507316"/>
              </a:xfrm>
              <a:blipFill>
                <a:blip r:embed="rId2"/>
                <a:stretch>
                  <a:fillRect t="-196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EF7AA8-53FB-7E4A-A9B0-6DF5A6524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971C-747C-6D4C-9C5C-692C46840815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DCEAA7-DB51-9D4A-A5D9-EA182BCD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FF0470-4ED4-8840-B291-82487CD4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658A242-3CAD-F343-813E-CAC67C250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1</a:t>
            </a:r>
            <a:endParaRPr kumimoji="1" lang="ja-JP" altLang="en-US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813CA7AA-D605-594B-ADF0-6CF8BCF67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056" y="1052532"/>
            <a:ext cx="3673279" cy="2316536"/>
          </a:xfrm>
          <a:prstGeom prst="rect">
            <a:avLst/>
          </a:prstGeom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9D0AA023-77FD-8E45-A2FE-9E13FDF597F6}"/>
              </a:ext>
            </a:extLst>
          </p:cNvPr>
          <p:cNvGrpSpPr/>
          <p:nvPr/>
        </p:nvGrpSpPr>
        <p:grpSpPr>
          <a:xfrm>
            <a:off x="163626" y="1160115"/>
            <a:ext cx="4836637" cy="680876"/>
            <a:chOff x="163626" y="1160115"/>
            <a:chExt cx="4836637" cy="680876"/>
          </a:xfrm>
        </p:grpSpPr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53032A18-BA45-7B4C-A12B-71F28C34CB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3626" y="1699846"/>
              <a:ext cx="4836637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6EA7F5F3-06B2-DF42-86C2-191A3B5C05B1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4" name="テキスト プレースホルダー 12">
            <a:extLst>
              <a:ext uri="{FF2B5EF4-FFF2-40B4-BE49-F238E27FC236}">
                <a16:creationId xmlns:a16="http://schemas.microsoft.com/office/drawing/2014/main" id="{7B0D261D-000C-D849-BECE-7D4525F2E1AA}"/>
              </a:ext>
            </a:extLst>
          </p:cNvPr>
          <p:cNvSpPr txBox="1">
            <a:spLocks/>
          </p:cNvSpPr>
          <p:nvPr/>
        </p:nvSpPr>
        <p:spPr>
          <a:xfrm>
            <a:off x="404691" y="1192726"/>
            <a:ext cx="8147050" cy="6808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Tx/>
              <a:buNone/>
              <a:tabLst/>
              <a:defRPr kumimoji="1" sz="3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7223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4"/>
              </a:buBlip>
              <a:tabLst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246188" indent="-3317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5"/>
              </a:buBlip>
              <a:tabLst/>
              <a:defRPr kumimoji="1" sz="2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各カテゴリに対する戦略</a:t>
            </a:r>
          </a:p>
        </p:txBody>
      </p:sp>
    </p:spTree>
    <p:extLst>
      <p:ext uri="{BB962C8B-B14F-4D97-AF65-F5344CB8AC3E}">
        <p14:creationId xmlns:p14="http://schemas.microsoft.com/office/powerpoint/2010/main" val="3004226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0DB537-1938-254E-9646-E1F659D7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進捗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229DDA1-6C79-D941-87FB-D426CD549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98" y="1884384"/>
            <a:ext cx="8859709" cy="3463117"/>
          </a:xfrm>
        </p:spPr>
        <p:txBody>
          <a:bodyPr/>
          <a:lstStyle/>
          <a:p>
            <a:r>
              <a:rPr kumimoji="1" lang="en-US" altLang="ja-JP" dirty="0"/>
              <a:t>BIG5</a:t>
            </a:r>
            <a:r>
              <a:rPr lang="ja-JP" altLang="en-US"/>
              <a:t>は各因子の値のバランスを見て性格を推定する</a:t>
            </a:r>
            <a:endParaRPr lang="en-US" altLang="ja-JP" dirty="0"/>
          </a:p>
          <a:p>
            <a:pPr lvl="1"/>
            <a:r>
              <a:rPr kumimoji="1" lang="ja-JP" altLang="en-US"/>
              <a:t>ベクトルの向き</a:t>
            </a:r>
            <a:r>
              <a:rPr lang="ja-JP" altLang="en-US"/>
              <a:t>より大きさのバランスが重要</a:t>
            </a:r>
            <a:endParaRPr lang="en-US" altLang="ja-JP" dirty="0"/>
          </a:p>
          <a:p>
            <a:pPr lvl="1"/>
            <a:r>
              <a:rPr lang="ja-JP" altLang="en-US"/>
              <a:t>ユークリッド距離を計算し距離が近いほどカテゴリに</a:t>
            </a:r>
            <a:br>
              <a:rPr lang="en-US" altLang="ja-JP" dirty="0"/>
            </a:br>
            <a:r>
              <a:rPr lang="ja-JP" altLang="en-US"/>
              <a:t>分類される可能性が高いとみなす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E71DB6-372F-AC4F-B4AB-05B690094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58CC-F5BE-2345-99BA-C49B60654C2B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DF195F-1A3C-9943-A429-1185F3344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8667CF-ABBD-C945-B743-3E1587C5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90007484-89B5-4348-ABAF-743AD89B12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1</a:t>
            </a:r>
            <a:endParaRPr kumimoji="1" lang="ja-JP" altLang="en-US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1802F486-8564-F042-BB12-D0807C00DBC0}"/>
              </a:ext>
            </a:extLst>
          </p:cNvPr>
          <p:cNvGrpSpPr/>
          <p:nvPr/>
        </p:nvGrpSpPr>
        <p:grpSpPr>
          <a:xfrm>
            <a:off x="163626" y="1160115"/>
            <a:ext cx="6346902" cy="680876"/>
            <a:chOff x="163626" y="1160115"/>
            <a:chExt cx="6346902" cy="680876"/>
          </a:xfrm>
        </p:grpSpPr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11E4DA3D-E02B-7F42-8F6D-496C4C8C48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3626" y="1699846"/>
              <a:ext cx="6346902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D7B6B005-2406-534F-879E-E016C333D647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" name="テキスト プレースホルダー 12">
            <a:extLst>
              <a:ext uri="{FF2B5EF4-FFF2-40B4-BE49-F238E27FC236}">
                <a16:creationId xmlns:a16="http://schemas.microsoft.com/office/drawing/2014/main" id="{F7281F50-E19B-4141-A852-D9CF6AEBD055}"/>
              </a:ext>
            </a:extLst>
          </p:cNvPr>
          <p:cNvSpPr txBox="1">
            <a:spLocks/>
          </p:cNvSpPr>
          <p:nvPr/>
        </p:nvSpPr>
        <p:spPr>
          <a:xfrm>
            <a:off x="404691" y="1192726"/>
            <a:ext cx="8147050" cy="6808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Tx/>
              <a:buNone/>
              <a:tabLst/>
              <a:defRPr kumimoji="1" sz="3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7223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2"/>
              </a:buBlip>
              <a:tabLst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246188" indent="-3317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3"/>
              </a:buBlip>
              <a:tabLst/>
              <a:defRPr kumimoji="1" sz="2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ベクトルの類似度</a:t>
            </a:r>
            <a:r>
              <a:rPr lang="en-US" altLang="ja-JP" dirty="0"/>
              <a:t>(</a:t>
            </a:r>
            <a:r>
              <a:rPr lang="ja-JP" altLang="en-US"/>
              <a:t>距離</a:t>
            </a:r>
            <a:r>
              <a:rPr lang="en-US" altLang="ja-JP" dirty="0"/>
              <a:t>)</a:t>
            </a:r>
            <a:r>
              <a:rPr lang="ja-JP" altLang="en-US"/>
              <a:t>について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9A8C005F-4BA9-5F47-944D-65A056DC0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9352" y="3360705"/>
            <a:ext cx="3127768" cy="335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123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0DB537-1938-254E-9646-E1F659D7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進捗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6229DDA1-6C79-D941-87FB-D426CD549B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4898" y="1884384"/>
                <a:ext cx="8859709" cy="3463117"/>
              </a:xfrm>
            </p:spPr>
            <p:txBody>
              <a:bodyPr/>
              <a:lstStyle/>
              <a:p>
                <a:r>
                  <a:rPr kumimoji="1" lang="ja-JP" altLang="en-US"/>
                  <a:t>既存研究を元に決めていこうと思っている</a:t>
                </a:r>
                <a:endParaRPr kumimoji="1" lang="en-US" altLang="ja-JP" dirty="0"/>
              </a:p>
              <a:p>
                <a:pPr lvl="1"/>
                <a:r>
                  <a:rPr kumimoji="1" lang="ja-JP" altLang="en-US"/>
                  <a:t>その論文で用いている譲歩関数</a:t>
                </a:r>
                <a:br>
                  <a:rPr kumimoji="1" lang="en-US" altLang="ja-JP" dirty="0"/>
                </a:br>
                <a:r>
                  <a:rPr kumimoji="1" lang="ja-JP" altLang="en-US"/>
                  <a:t>は以下の通り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𝑡𝑎𝑟𝑔𝑒𝑡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Γ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</m:oMath>
                </a14:m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Γ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=1−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𝑏𝑖</m:t>
                        </m:r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den>
                        </m:f>
                      </m:sup>
                    </m:sSup>
                  </m:oMath>
                </a14:m>
                <a:endParaRPr lang="en-US" altLang="ja-JP" b="0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6229DDA1-6C79-D941-87FB-D426CD549B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898" y="1884384"/>
                <a:ext cx="8859709" cy="3463117"/>
              </a:xfrm>
              <a:blipFill>
                <a:blip r:embed="rId2"/>
                <a:stretch>
                  <a:fillRect t="-25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E71DB6-372F-AC4F-B4AB-05B690094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58CC-F5BE-2345-99BA-C49B60654C2B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DF195F-1A3C-9943-A429-1185F3344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8667CF-ABBD-C945-B743-3E1587C5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90007484-89B5-4348-ABAF-743AD89B12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1802F486-8564-F042-BB12-D0807C00DBC0}"/>
              </a:ext>
            </a:extLst>
          </p:cNvPr>
          <p:cNvGrpSpPr/>
          <p:nvPr/>
        </p:nvGrpSpPr>
        <p:grpSpPr>
          <a:xfrm>
            <a:off x="163626" y="1160115"/>
            <a:ext cx="3622763" cy="680876"/>
            <a:chOff x="163626" y="1160115"/>
            <a:chExt cx="3622763" cy="680876"/>
          </a:xfrm>
        </p:grpSpPr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11E4DA3D-E02B-7F42-8F6D-496C4C8C48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3626" y="1699846"/>
              <a:ext cx="3622763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D7B6B005-2406-534F-879E-E016C333D647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" name="テキスト プレースホルダー 12">
            <a:extLst>
              <a:ext uri="{FF2B5EF4-FFF2-40B4-BE49-F238E27FC236}">
                <a16:creationId xmlns:a16="http://schemas.microsoft.com/office/drawing/2014/main" id="{F7281F50-E19B-4141-A852-D9CF6AEBD055}"/>
              </a:ext>
            </a:extLst>
          </p:cNvPr>
          <p:cNvSpPr txBox="1">
            <a:spLocks/>
          </p:cNvSpPr>
          <p:nvPr/>
        </p:nvSpPr>
        <p:spPr>
          <a:xfrm>
            <a:off x="404691" y="1192726"/>
            <a:ext cx="8147050" cy="6808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Tx/>
              <a:buNone/>
              <a:tabLst/>
              <a:defRPr kumimoji="1" sz="3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7223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3"/>
              </a:buBlip>
              <a:tabLst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246188" indent="-3317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4"/>
              </a:buBlip>
              <a:tabLst/>
              <a:defRPr kumimoji="1" sz="2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譲歩速度について</a:t>
            </a:r>
          </a:p>
        </p:txBody>
      </p:sp>
      <p:pic>
        <p:nvPicPr>
          <p:cNvPr id="14" name="図 13" descr="テキスト, 地図 が含まれている画像&#10;&#10;自動的に生成された説明">
            <a:extLst>
              <a:ext uri="{FF2B5EF4-FFF2-40B4-BE49-F238E27FC236}">
                <a16:creationId xmlns:a16="http://schemas.microsoft.com/office/drawing/2014/main" id="{7BBBCA6A-D968-9246-8E2E-D89E5B6033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9963" y="2408064"/>
            <a:ext cx="3700660" cy="3463117"/>
          </a:xfrm>
          <a:prstGeom prst="rect">
            <a:avLst/>
          </a:prstGeom>
        </p:spPr>
      </p:pic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34ADD1CD-BAD9-824B-953D-3EA3E7286022}"/>
              </a:ext>
            </a:extLst>
          </p:cNvPr>
          <p:cNvGrpSpPr/>
          <p:nvPr/>
        </p:nvGrpSpPr>
        <p:grpSpPr>
          <a:xfrm>
            <a:off x="542923" y="4629150"/>
            <a:ext cx="4585875" cy="1830524"/>
            <a:chOff x="542923" y="4514848"/>
            <a:chExt cx="4585875" cy="1830524"/>
          </a:xfrm>
        </p:grpSpPr>
        <p:sp>
          <p:nvSpPr>
            <p:cNvPr id="15" name="角丸四角形 14">
              <a:extLst>
                <a:ext uri="{FF2B5EF4-FFF2-40B4-BE49-F238E27FC236}">
                  <a16:creationId xmlns:a16="http://schemas.microsoft.com/office/drawing/2014/main" id="{E267E99A-BE26-E94E-AD62-F2132A1EC497}"/>
                </a:ext>
              </a:extLst>
            </p:cNvPr>
            <p:cNvSpPr/>
            <p:nvPr/>
          </p:nvSpPr>
          <p:spPr>
            <a:xfrm>
              <a:off x="542923" y="4514848"/>
              <a:ext cx="4585875" cy="1830524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C0128703-E186-C442-8F79-E1B1F3A9B551}"/>
                    </a:ext>
                  </a:extLst>
                </p:cNvPr>
                <p:cNvSpPr txBox="1"/>
                <p:nvPr/>
              </p:nvSpPr>
              <p:spPr>
                <a:xfrm>
                  <a:off x="644490" y="4572001"/>
                  <a:ext cx="4455732" cy="17733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kumimoji="1" lang="ja-JP" altLang="en-US" i="1">
                            <a:latin typeface="Cambria Math" panose="02040503050406030204" pitchFamily="18" charset="0"/>
                          </a:rPr>
                          <m:t>現在の</m:t>
                        </m:r>
                        <m:r>
                          <a:rPr kumimoji="1" lang="ja-JP" altLang="en-US" i="1" smtClean="0">
                            <a:latin typeface="Cambria Math" panose="02040503050406030204" pitchFamily="18" charset="0"/>
                          </a:rPr>
                          <m:t>ラウンド</m:t>
                        </m:r>
                      </m:oMath>
                    </m:oMathPara>
                  </a14:m>
                  <a:endParaRPr kumimoji="1" lang="en-US" altLang="ja-JP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kumimoji="1" lang="ja-JP" altLang="en-US" i="1">
                            <a:latin typeface="Cambria Math" panose="02040503050406030204" pitchFamily="18" charset="0"/>
                          </a:rPr>
                          <m:t>ラウンドの</m:t>
                        </m:r>
                        <m:r>
                          <a:rPr kumimoji="1" lang="ja-JP" altLang="en-US" i="1" smtClean="0">
                            <a:latin typeface="Cambria Math" panose="02040503050406030204" pitchFamily="18" charset="0"/>
                          </a:rPr>
                          <m:t>総数</m:t>
                        </m:r>
                      </m:oMath>
                    </m:oMathPara>
                  </a14:m>
                  <a:endParaRPr kumimoji="1" lang="en-US" altLang="ja-JP" dirty="0"/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kumimoji="1" lang="ja-JP" altLang="en-US" i="1">
                          <a:latin typeface="Cambria Math" panose="02040503050406030204" pitchFamily="18" charset="0"/>
                        </a:rPr>
                        <m:t>エージェントの</m:t>
                      </m:r>
                    </m:oMath>
                  </a14:m>
                  <a:r>
                    <a:rPr kumimoji="1" lang="ja-JP" altLang="en-US" dirty="0"/>
                    <a:t>最小</a:t>
                  </a:r>
                  <a:r>
                    <a:rPr kumimoji="1" lang="ja-JP" altLang="en-US"/>
                    <a:t>目標効用</a:t>
                  </a:r>
                  <a:endParaRPr kumimoji="1" lang="en-US" altLang="ja-JP" dirty="0"/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ja-JP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ax</m:t>
                          </m:r>
                        </m:sub>
                      </m:sSub>
                      <m:r>
                        <a:rPr kumimoji="1" lang="en-US" altLang="ja-JP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kumimoji="1" lang="ja-JP" altLang="en-US" i="1">
                          <a:latin typeface="Cambria Math" panose="02040503050406030204" pitchFamily="18" charset="0"/>
                        </a:rPr>
                        <m:t>エージェントの最大</m:t>
                      </m:r>
                    </m:oMath>
                  </a14:m>
                  <a:r>
                    <a:rPr kumimoji="1" lang="ja-JP" altLang="en-US"/>
                    <a:t>目標効用</a:t>
                  </a:r>
                  <a:endParaRPr kumimoji="1" lang="en-US" altLang="ja-JP" dirty="0"/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𝑏𝑖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kumimoji="1" lang="en-US" altLang="ja-JP" dirty="0"/>
                    <a:t>:</a:t>
                  </a:r>
                  <a:r>
                    <a:rPr kumimoji="1" lang="ja-JP" altLang="en-US"/>
                    <a:t>直前の</a:t>
                  </a:r>
                  <a:r>
                    <a:rPr kumimoji="1" lang="en-US" altLang="ja-JP" dirty="0"/>
                    <a:t>Offer</a:t>
                  </a:r>
                  <a:r>
                    <a:rPr kumimoji="1" lang="ja-JP" altLang="en-US"/>
                    <a:t>でエージェントが</a:t>
                  </a:r>
                  <a:br>
                    <a:rPr kumimoji="1" lang="en-US" altLang="ja-JP" dirty="0"/>
                  </a:br>
                  <a:r>
                    <a:rPr kumimoji="1" lang="ja-JP" altLang="en-US"/>
                    <a:t>　　　　　得られる効用</a:t>
                  </a:r>
                  <a:endParaRPr kumimoji="1" lang="en-US" altLang="ja-JP" dirty="0"/>
                </a:p>
              </p:txBody>
            </p:sp>
          </mc:Choice>
          <mc:Fallback xmlns="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C0128703-E186-C442-8F79-E1B1F3A9B5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490" y="4572001"/>
                  <a:ext cx="4455732" cy="1773371"/>
                </a:xfrm>
                <a:prstGeom prst="rect">
                  <a:avLst/>
                </a:prstGeom>
                <a:blipFill>
                  <a:blip r:embed="rId6"/>
                  <a:stretch>
                    <a:fillRect r="-568" b="-425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12067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FC917A-B83F-9A4D-9501-710DA6F17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進捗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91EE29-3B2E-0149-9AB1-D4AE0526F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やっぱりカテゴリ分けでは</a:t>
            </a:r>
            <a:br>
              <a:rPr kumimoji="1" lang="en-US" altLang="ja-JP" dirty="0"/>
            </a:br>
            <a:r>
              <a:rPr kumimoji="1" lang="ja-JP" altLang="en-US"/>
              <a:t>なく各因子</a:t>
            </a:r>
            <a:r>
              <a:rPr lang="ja-JP" altLang="en-US"/>
              <a:t>ごとに戦略を決めた</a:t>
            </a:r>
            <a:br>
              <a:rPr lang="en-US" altLang="ja-JP" dirty="0"/>
            </a:br>
            <a:r>
              <a:rPr lang="ja-JP" altLang="en-US"/>
              <a:t>ほうがいいのでは？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FA3910-EBDA-1F41-B81B-28BEE2E93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58CC-F5BE-2345-99BA-C49B60654C2B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0F8E83-7BA4-7043-BE95-A40B16E66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AA16D6-C5D5-A045-B31A-A708E0334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5713A6CD-9943-1240-9668-51FF38872F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158F481-D8B0-824A-9D88-C783DF4BE99F}"/>
              </a:ext>
            </a:extLst>
          </p:cNvPr>
          <p:cNvGrpSpPr/>
          <p:nvPr/>
        </p:nvGrpSpPr>
        <p:grpSpPr>
          <a:xfrm>
            <a:off x="163626" y="1160115"/>
            <a:ext cx="4119007" cy="680876"/>
            <a:chOff x="163626" y="1160115"/>
            <a:chExt cx="4119007" cy="680876"/>
          </a:xfrm>
        </p:grpSpPr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105F614E-8C50-6647-A66A-3865DD7CF0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3626" y="1699846"/>
              <a:ext cx="4119007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0A9D68CC-ACEF-2544-BBA3-E630E2AF2B03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" name="テキスト プレースホルダー 12">
            <a:extLst>
              <a:ext uri="{FF2B5EF4-FFF2-40B4-BE49-F238E27FC236}">
                <a16:creationId xmlns:a16="http://schemas.microsoft.com/office/drawing/2014/main" id="{6C4C6E99-A8A8-6542-AE34-DECC83D34A2A}"/>
              </a:ext>
            </a:extLst>
          </p:cNvPr>
          <p:cNvSpPr txBox="1">
            <a:spLocks/>
          </p:cNvSpPr>
          <p:nvPr/>
        </p:nvSpPr>
        <p:spPr>
          <a:xfrm>
            <a:off x="404691" y="1192726"/>
            <a:ext cx="8147050" cy="6808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Tx/>
              <a:buNone/>
              <a:tabLst/>
              <a:defRPr kumimoji="1" sz="3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7223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2"/>
              </a:buBlip>
              <a:tabLst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246188" indent="-3317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3"/>
              </a:buBlip>
              <a:tabLst/>
              <a:defRPr kumimoji="1" sz="2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BIG5</a:t>
            </a:r>
            <a:r>
              <a:rPr lang="ja-JP" altLang="en-US"/>
              <a:t>のカテゴリ分け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DC07B6CB-673B-F849-AA4B-91E09EC4C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056" y="1052532"/>
            <a:ext cx="3673279" cy="2316536"/>
          </a:xfrm>
          <a:prstGeom prst="rect">
            <a:avLst/>
          </a:prstGeom>
        </p:spPr>
      </p:pic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06927B05-0716-A442-AED8-C01F8B5C19C2}"/>
              </a:ext>
            </a:extLst>
          </p:cNvPr>
          <p:cNvGrpSpPr/>
          <p:nvPr/>
        </p:nvGrpSpPr>
        <p:grpSpPr>
          <a:xfrm>
            <a:off x="6221903" y="3554373"/>
            <a:ext cx="2727199" cy="708075"/>
            <a:chOff x="2662580" y="3750198"/>
            <a:chExt cx="2727199" cy="708075"/>
          </a:xfrm>
        </p:grpSpPr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9265BDCA-B7A4-BE45-B9B2-AC70BB83E450}"/>
                </a:ext>
              </a:extLst>
            </p:cNvPr>
            <p:cNvCxnSpPr/>
            <p:nvPr/>
          </p:nvCxnSpPr>
          <p:spPr>
            <a:xfrm>
              <a:off x="3028950" y="3750198"/>
              <a:ext cx="1994463" cy="0"/>
            </a:xfrm>
            <a:prstGeom prst="straightConnector1">
              <a:avLst/>
            </a:prstGeom>
            <a:ln w="57150">
              <a:solidFill>
                <a:srgbClr val="D7991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91B125B0-AEE7-7A4C-A675-D9CB11EF6CFC}"/>
                </a:ext>
              </a:extLst>
            </p:cNvPr>
            <p:cNvSpPr txBox="1"/>
            <p:nvPr/>
          </p:nvSpPr>
          <p:spPr>
            <a:xfrm>
              <a:off x="3256464" y="3798669"/>
              <a:ext cx="15394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/>
                <a:t>わがまま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5BD10A00-8453-DB49-A09C-9514494F63A4}"/>
                    </a:ext>
                  </a:extLst>
                </p:cNvPr>
                <p:cNvSpPr txBox="1"/>
                <p:nvPr/>
              </p:nvSpPr>
              <p:spPr>
                <a:xfrm>
                  <a:off x="2662580" y="4087659"/>
                  <a:ext cx="2727199" cy="3706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[−0.2,0.6,−0.6,−0.5,−0.4]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B4CB7D27-CD72-4248-9428-C83B4E0F2D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2580" y="4087659"/>
                  <a:ext cx="2727199" cy="370614"/>
                </a:xfrm>
                <a:prstGeom prst="rect">
                  <a:avLst/>
                </a:prstGeom>
                <a:blipFill>
                  <a:blip r:embed="rId5"/>
                  <a:stretch>
                    <a:fillRect l="-4167" r="-926" b="-1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BF4A14EC-107B-5B41-A54B-9691F778488A}"/>
              </a:ext>
            </a:extLst>
          </p:cNvPr>
          <p:cNvGrpSpPr/>
          <p:nvPr/>
        </p:nvGrpSpPr>
        <p:grpSpPr>
          <a:xfrm>
            <a:off x="3209317" y="3554373"/>
            <a:ext cx="2727199" cy="706793"/>
            <a:chOff x="2662580" y="3750198"/>
            <a:chExt cx="2727199" cy="706793"/>
          </a:xfrm>
        </p:grpSpPr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6F785C29-01E8-9544-83B3-0DA3CA413792}"/>
                </a:ext>
              </a:extLst>
            </p:cNvPr>
            <p:cNvCxnSpPr/>
            <p:nvPr/>
          </p:nvCxnSpPr>
          <p:spPr>
            <a:xfrm>
              <a:off x="3028950" y="3750198"/>
              <a:ext cx="1994463" cy="0"/>
            </a:xfrm>
            <a:prstGeom prst="straightConnector1">
              <a:avLst/>
            </a:prstGeom>
            <a:ln w="57150">
              <a:solidFill>
                <a:srgbClr val="4BC44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9031889B-4F9F-4F4C-A385-21E2F9616872}"/>
                </a:ext>
              </a:extLst>
            </p:cNvPr>
            <p:cNvSpPr txBox="1"/>
            <p:nvPr/>
          </p:nvSpPr>
          <p:spPr>
            <a:xfrm>
              <a:off x="3256464" y="3798669"/>
              <a:ext cx="15394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/>
                <a:t>つつましい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38BFE59E-9092-564E-B2D0-FBEB55DF12A5}"/>
                    </a:ext>
                  </a:extLst>
                </p:cNvPr>
                <p:cNvSpPr txBox="1"/>
                <p:nvPr/>
              </p:nvSpPr>
              <p:spPr>
                <a:xfrm>
                  <a:off x="2662580" y="4087659"/>
                  <a:ext cx="27271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[−0.5,−0.1,−0.6,0.1,0.2]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54B1649E-17F5-CC40-946A-5A2AF629A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2580" y="4087659"/>
                  <a:ext cx="2727199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CC1C9333-6597-4E4C-806A-D84766C10E9F}"/>
              </a:ext>
            </a:extLst>
          </p:cNvPr>
          <p:cNvGrpSpPr/>
          <p:nvPr/>
        </p:nvGrpSpPr>
        <p:grpSpPr>
          <a:xfrm>
            <a:off x="254606" y="3544107"/>
            <a:ext cx="2727199" cy="706793"/>
            <a:chOff x="2662580" y="3750198"/>
            <a:chExt cx="2727199" cy="706793"/>
          </a:xfrm>
        </p:grpSpPr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1D2D43ED-A80F-E348-A417-1BDD69CE651F}"/>
                </a:ext>
              </a:extLst>
            </p:cNvPr>
            <p:cNvCxnSpPr/>
            <p:nvPr/>
          </p:nvCxnSpPr>
          <p:spPr>
            <a:xfrm>
              <a:off x="3028950" y="3750198"/>
              <a:ext cx="1994463" cy="0"/>
            </a:xfrm>
            <a:prstGeom prst="straightConnector1">
              <a:avLst/>
            </a:prstGeom>
            <a:ln w="57150">
              <a:solidFill>
                <a:srgbClr val="FF734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E3BEFC0F-5D33-9843-8119-9A5347298D15}"/>
                </a:ext>
              </a:extLst>
            </p:cNvPr>
            <p:cNvSpPr txBox="1"/>
            <p:nvPr/>
          </p:nvSpPr>
          <p:spPr>
            <a:xfrm>
              <a:off x="3256464" y="3798669"/>
              <a:ext cx="15394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/>
                <a:t>模範的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8934E490-8D61-4245-B2F6-14B87A1C4AE7}"/>
                    </a:ext>
                  </a:extLst>
                </p:cNvPr>
                <p:cNvSpPr txBox="1"/>
                <p:nvPr/>
              </p:nvSpPr>
              <p:spPr>
                <a:xfrm>
                  <a:off x="2662580" y="4087659"/>
                  <a:ext cx="27271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[−0.6,0.5,0.2,0.6,0.7]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C8E8D5C4-2AAA-E74D-AADD-AE34A6E426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2580" y="4087659"/>
                  <a:ext cx="2727199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51D5553-57CB-3B47-8CA9-304F517AB55D}"/>
              </a:ext>
            </a:extLst>
          </p:cNvPr>
          <p:cNvSpPr txBox="1"/>
          <p:nvPr/>
        </p:nvSpPr>
        <p:spPr>
          <a:xfrm>
            <a:off x="2121978" y="5390165"/>
            <a:ext cx="50055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/>
              <a:t>の高低で戦略を変更した方がいい？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1E1DA343-0A7A-B944-83A1-CA57ED2DE662}"/>
                  </a:ext>
                </a:extLst>
              </p:cNvPr>
              <p:cNvSpPr txBox="1"/>
              <p:nvPr/>
            </p:nvSpPr>
            <p:spPr>
              <a:xfrm>
                <a:off x="-722915" y="4789716"/>
                <a:ext cx="5005548" cy="16323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kumimoji="1" lang="ja-JP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ja-JP" altLang="en-US" sz="200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kumimoji="1" lang="ja-JP" altLang="en-US" sz="2000"/>
                                <m:t>神経症傾向</m:t>
                              </m:r>
                              <m:r>
                                <m:rPr>
                                  <m:nor/>
                                </m:rPr>
                                <a:rPr kumimoji="1" lang="en-US" altLang="ja-JP" sz="2000" dirty="0"/>
                                <m:t>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1" lang="ja-JP" altLang="en-US" sz="2000"/>
                                <m:t>外向性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1" lang="en-US" altLang="ja-JP" sz="20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ja-JP" altLang="en-US" sz="2000"/>
                                <m:t>開放性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1" lang="en-US" altLang="ja-JP" sz="20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ja-JP" altLang="en-US" sz="2000"/>
                                <m:t>協調性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kumimoji="1" lang="en-US" altLang="ja-JP" sz="20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ja-JP" altLang="en-US" sz="2000"/>
                                <m:t>誠実性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ja-JP" altLang="en-US" sz="2000"/>
              </a:p>
            </p:txBody>
          </p:sp>
        </mc:Choice>
        <mc:Fallback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1E1DA343-0A7A-B944-83A1-CA57ED2DE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22915" y="4789716"/>
                <a:ext cx="5005548" cy="1632370"/>
              </a:xfrm>
              <a:prstGeom prst="rect">
                <a:avLst/>
              </a:prstGeom>
              <a:blipFill>
                <a:blip r:embed="rId8"/>
                <a:stretch>
                  <a:fillRect t="-1538" b="-61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左矢印 29">
            <a:extLst>
              <a:ext uri="{FF2B5EF4-FFF2-40B4-BE49-F238E27FC236}">
                <a16:creationId xmlns:a16="http://schemas.microsoft.com/office/drawing/2014/main" id="{29A389CA-FEDE-CF4B-B15E-3A6F8D44CCE3}"/>
              </a:ext>
            </a:extLst>
          </p:cNvPr>
          <p:cNvSpPr/>
          <p:nvPr/>
        </p:nvSpPr>
        <p:spPr>
          <a:xfrm rot="16200000">
            <a:off x="4361851" y="4317944"/>
            <a:ext cx="420298" cy="476886"/>
          </a:xfrm>
          <a:prstGeom prst="lef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1500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103724-ACA8-DF4D-A385-1BC4F784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補足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EADFD89-D45F-C942-8216-965C37C51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468A3-0919-F54E-B59A-E9ED9FABFE93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CB8B864-6FF2-414F-B809-58F3F2AAB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CB50CC8-05A9-654B-AEA0-335555BA5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3345BB60-32A5-0A47-89A1-B112566F69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0</a:t>
            </a:r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E33E308-7F92-9F4D-92B7-F943A6AE3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2027604"/>
            <a:ext cx="6832600" cy="4457700"/>
          </a:xfrm>
          <a:prstGeom prst="rect">
            <a:avLst/>
          </a:prstGeom>
        </p:spPr>
      </p:pic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B8CFE30F-3219-9146-9460-D520FAF0DE7B}"/>
              </a:ext>
            </a:extLst>
          </p:cNvPr>
          <p:cNvGrpSpPr/>
          <p:nvPr/>
        </p:nvGrpSpPr>
        <p:grpSpPr>
          <a:xfrm>
            <a:off x="163626" y="1160115"/>
            <a:ext cx="4987108" cy="680876"/>
            <a:chOff x="163626" y="1160115"/>
            <a:chExt cx="4987108" cy="680876"/>
          </a:xfrm>
        </p:grpSpPr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DEB0C066-9DE6-7648-9334-E4615AF107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3626" y="1699846"/>
              <a:ext cx="4987108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30049B49-0802-B04E-AC36-0E24108CE572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4" name="テキスト プレースホルダー 12">
            <a:extLst>
              <a:ext uri="{FF2B5EF4-FFF2-40B4-BE49-F238E27FC236}">
                <a16:creationId xmlns:a16="http://schemas.microsoft.com/office/drawing/2014/main" id="{DE351FF0-BB2B-074D-86F2-EF8E3D35EE25}"/>
              </a:ext>
            </a:extLst>
          </p:cNvPr>
          <p:cNvSpPr txBox="1">
            <a:spLocks/>
          </p:cNvSpPr>
          <p:nvPr/>
        </p:nvSpPr>
        <p:spPr>
          <a:xfrm>
            <a:off x="404691" y="1192726"/>
            <a:ext cx="8147050" cy="6808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Tx/>
              <a:buNone/>
              <a:tabLst/>
              <a:defRPr kumimoji="1" sz="3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7223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3"/>
              </a:buBlip>
              <a:tabLst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246188" indent="-3317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4"/>
              </a:buBlip>
              <a:tabLst/>
              <a:defRPr kumimoji="1" sz="2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BIG5</a:t>
            </a:r>
            <a:r>
              <a:rPr lang="ja-JP" altLang="en-US"/>
              <a:t>によるカテゴリ分類</a:t>
            </a:r>
          </a:p>
        </p:txBody>
      </p:sp>
    </p:spTree>
    <p:extLst>
      <p:ext uri="{BB962C8B-B14F-4D97-AF65-F5344CB8AC3E}">
        <p14:creationId xmlns:p14="http://schemas.microsoft.com/office/powerpoint/2010/main" val="2792762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22F177-332F-5F41-A229-B64AAEC4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補足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7CD37B2B-E32E-2D43-8143-0B7A29E79B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4898" y="1884383"/>
                <a:ext cx="8859709" cy="4507316"/>
              </a:xfrm>
            </p:spPr>
            <p:txBody>
              <a:bodyPr/>
              <a:lstStyle/>
              <a:p>
                <a:r>
                  <a:rPr lang="ja-JP" altLang="en-US"/>
                  <a:t>譲歩速度</a:t>
                </a:r>
                <a:endParaRPr lang="en-US" altLang="ja-JP" dirty="0"/>
              </a:p>
              <a:p>
                <a:pPr lvl="1"/>
                <a:r>
                  <a:rPr lang="ja-JP" altLang="en-US"/>
                  <a:t>わがまま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ja-JP" altLang="en-US"/>
                  <a:t>普通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ja-JP" altLang="en-US"/>
                  <a:t>つつましい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ja-JP" altLang="en-US"/>
                  <a:t>模範</a:t>
                </a:r>
                <a:endParaRPr lang="en-US" altLang="ja-JP" dirty="0"/>
              </a:p>
              <a:p>
                <a:r>
                  <a:rPr lang="en-US" altLang="ja-JP" dirty="0"/>
                  <a:t>Offer</a:t>
                </a:r>
                <a:r>
                  <a:rPr lang="ja-JP" altLang="en-US"/>
                  <a:t>のパターン</a:t>
                </a:r>
                <a:endParaRPr lang="en-US" altLang="ja-JP" dirty="0"/>
              </a:p>
              <a:p>
                <a:pPr lvl="1"/>
                <a:r>
                  <a:rPr lang="ja-JP" altLang="en-US"/>
                  <a:t>つつましい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ja-JP" altLang="en-US"/>
                  <a:t>わがまま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ja-JP" altLang="en-US"/>
                  <a:t>普通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ja-JP" altLang="en-US"/>
                  <a:t>模範</a:t>
                </a:r>
                <a:endParaRPr lang="en-US" altLang="ja-JP" dirty="0"/>
              </a:p>
              <a:p>
                <a:r>
                  <a:rPr lang="en-US" altLang="ja-JP" dirty="0"/>
                  <a:t>Offer</a:t>
                </a:r>
                <a:r>
                  <a:rPr lang="ja-JP" altLang="en-US"/>
                  <a:t>・行動頻度</a:t>
                </a:r>
                <a:endParaRPr lang="en-US" altLang="ja-JP" dirty="0"/>
              </a:p>
              <a:p>
                <a:pPr lvl="1"/>
                <a:r>
                  <a:rPr lang="ja-JP" altLang="en-US"/>
                  <a:t>つつましい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ja-JP" altLang="en-US"/>
                  <a:t>普通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ja-JP" altLang="en-US"/>
                  <a:t>模範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ja-JP" altLang="en-US"/>
                  <a:t>わがまま</a:t>
                </a:r>
                <a:endParaRPr lang="en-US" altLang="ja-JP" dirty="0"/>
              </a:p>
              <a:p>
                <a:pPr lvl="1"/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7CD37B2B-E32E-2D43-8143-0B7A29E79B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898" y="1884383"/>
                <a:ext cx="8859709" cy="4507316"/>
              </a:xfrm>
              <a:blipFill>
                <a:blip r:embed="rId2"/>
                <a:stretch>
                  <a:fillRect t="-196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EF7AA8-53FB-7E4A-A9B0-6DF5A6524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971C-747C-6D4C-9C5C-692C46840815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DCEAA7-DB51-9D4A-A5D9-EA182BCD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FF0470-4ED4-8840-B291-82487CD4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658A242-3CAD-F343-813E-CAC67C250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0</a:t>
            </a:r>
            <a:endParaRPr kumimoji="1" lang="ja-JP" altLang="en-US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813CA7AA-D605-594B-ADF0-6CF8BCF67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056" y="1052532"/>
            <a:ext cx="3673279" cy="2316536"/>
          </a:xfrm>
          <a:prstGeom prst="rect">
            <a:avLst/>
          </a:prstGeom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9D0AA023-77FD-8E45-A2FE-9E13FDF597F6}"/>
              </a:ext>
            </a:extLst>
          </p:cNvPr>
          <p:cNvGrpSpPr/>
          <p:nvPr/>
        </p:nvGrpSpPr>
        <p:grpSpPr>
          <a:xfrm>
            <a:off x="163626" y="1160115"/>
            <a:ext cx="4836637" cy="680876"/>
            <a:chOff x="163626" y="1160115"/>
            <a:chExt cx="4836637" cy="680876"/>
          </a:xfrm>
        </p:grpSpPr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53032A18-BA45-7B4C-A12B-71F28C34CB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3626" y="1699846"/>
              <a:ext cx="4836637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6EA7F5F3-06B2-DF42-86C2-191A3B5C05B1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4" name="テキスト プレースホルダー 12">
            <a:extLst>
              <a:ext uri="{FF2B5EF4-FFF2-40B4-BE49-F238E27FC236}">
                <a16:creationId xmlns:a16="http://schemas.microsoft.com/office/drawing/2014/main" id="{7B0D261D-000C-D849-BECE-7D4525F2E1AA}"/>
              </a:ext>
            </a:extLst>
          </p:cNvPr>
          <p:cNvSpPr txBox="1">
            <a:spLocks/>
          </p:cNvSpPr>
          <p:nvPr/>
        </p:nvSpPr>
        <p:spPr>
          <a:xfrm>
            <a:off x="404691" y="1192726"/>
            <a:ext cx="8147050" cy="6808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Tx/>
              <a:buNone/>
              <a:tabLst/>
              <a:defRPr kumimoji="1" sz="3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7223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4"/>
              </a:buBlip>
              <a:tabLst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246188" indent="-3317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5"/>
              </a:buBlip>
              <a:tabLst/>
              <a:defRPr kumimoji="1" sz="2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各カテゴリに対する戦略</a:t>
            </a:r>
          </a:p>
        </p:txBody>
      </p:sp>
    </p:spTree>
    <p:extLst>
      <p:ext uri="{BB962C8B-B14F-4D97-AF65-F5344CB8AC3E}">
        <p14:creationId xmlns:p14="http://schemas.microsoft.com/office/powerpoint/2010/main" val="3494119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22F177-332F-5F41-A229-B64AAEC4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補足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7CD37B2B-E32E-2D43-8143-0B7A29E79B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/>
                  <a:t>譲歩速度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ja-JP" altLang="en-US" b="0" i="1" dirty="0">
                        <a:latin typeface="Cambria Math" panose="02040503050406030204" pitchFamily="18" charset="0"/>
                      </a:rPr>
                      <m:t>競争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回避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共存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妥協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適応</m:t>
                    </m:r>
                  </m:oMath>
                </a14:m>
                <a:endParaRPr lang="en-US" altLang="ja-JP" dirty="0"/>
              </a:p>
              <a:p>
                <a:r>
                  <a:rPr lang="en-US" altLang="ja-JP" dirty="0"/>
                  <a:t>Offer</a:t>
                </a:r>
                <a:r>
                  <a:rPr lang="ja-JP" altLang="en-US"/>
                  <a:t>のパターン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ja-JP" altLang="en-US" i="1" smtClean="0">
                        <a:latin typeface="Cambria Math" panose="02040503050406030204" pitchFamily="18" charset="0"/>
                      </a:rPr>
                      <m:t>回避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適応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妥協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競争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共存</m:t>
                    </m:r>
                  </m:oMath>
                </a14:m>
                <a:endParaRPr lang="en-US" altLang="ja-JP" dirty="0"/>
              </a:p>
              <a:p>
                <a:r>
                  <a:rPr lang="en-US" altLang="ja-JP" dirty="0"/>
                  <a:t>Offer</a:t>
                </a:r>
                <a:r>
                  <a:rPr lang="ja-JP" altLang="en-US"/>
                  <a:t>・行動頻度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ja-JP" altLang="en-US" b="0" i="1" dirty="0">
                        <a:latin typeface="Cambria Math" panose="02040503050406030204" pitchFamily="18" charset="0"/>
                      </a:rPr>
                      <m:t>回避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適応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ja-JP" altLang="en-US" i="1" smtClean="0">
                        <a:latin typeface="Cambria Math" panose="02040503050406030204" pitchFamily="18" charset="0"/>
                      </a:rPr>
                      <m:t>妥協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ja-JP" altLang="en-US" i="1" smtClean="0">
                        <a:latin typeface="Cambria Math" panose="02040503050406030204" pitchFamily="18" charset="0"/>
                      </a:rPr>
                      <m:t>競争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共存</m:t>
                    </m:r>
                  </m:oMath>
                </a14:m>
                <a:endParaRPr lang="en-US" altLang="ja-JP" dirty="0"/>
              </a:p>
              <a:p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7CD37B2B-E32E-2D43-8143-0B7A29E79B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88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EF7AA8-53FB-7E4A-A9B0-6DF5A6524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60AC5-1500-5F46-BA22-957002E89723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DCEAA7-DB51-9D4A-A5D9-EA182BCD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FF0470-4ED4-8840-B291-82487CD4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658A242-3CAD-F343-813E-CAC67C250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0</a:t>
            </a:r>
            <a:endParaRPr kumimoji="1" lang="ja-JP" altLang="en-US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D8D9E392-8CAF-1248-AC4C-BFBFDE691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144" y="1030556"/>
            <a:ext cx="2222334" cy="2750219"/>
          </a:xfrm>
          <a:prstGeom prst="rect">
            <a:avLst/>
          </a:prstGeom>
        </p:spPr>
      </p:pic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C5C466F6-7EB0-2B4C-8B9F-5F351C14C7EF}"/>
              </a:ext>
            </a:extLst>
          </p:cNvPr>
          <p:cNvGrpSpPr/>
          <p:nvPr/>
        </p:nvGrpSpPr>
        <p:grpSpPr>
          <a:xfrm>
            <a:off x="163626" y="1160115"/>
            <a:ext cx="4836637" cy="680876"/>
            <a:chOff x="163626" y="1160115"/>
            <a:chExt cx="4836637" cy="680876"/>
          </a:xfrm>
        </p:grpSpPr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5C6C6833-EA00-AB40-8A4B-3EC05B9F5CF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3626" y="1699846"/>
              <a:ext cx="4836637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869924E9-9C77-4D4D-BB8F-6AC927DE52B4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9" name="テキスト プレースホルダー 12">
            <a:extLst>
              <a:ext uri="{FF2B5EF4-FFF2-40B4-BE49-F238E27FC236}">
                <a16:creationId xmlns:a16="http://schemas.microsoft.com/office/drawing/2014/main" id="{EB0876A5-390F-D744-AF2F-7706ACC6B6B7}"/>
              </a:ext>
            </a:extLst>
          </p:cNvPr>
          <p:cNvSpPr txBox="1">
            <a:spLocks/>
          </p:cNvSpPr>
          <p:nvPr/>
        </p:nvSpPr>
        <p:spPr>
          <a:xfrm>
            <a:off x="404691" y="1192726"/>
            <a:ext cx="8147050" cy="6808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Tx/>
              <a:buNone/>
              <a:tabLst/>
              <a:defRPr kumimoji="1" sz="3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7223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4"/>
              </a:buBlip>
              <a:tabLst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246188" indent="-3317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5"/>
              </a:buBlip>
              <a:tabLst/>
              <a:defRPr kumimoji="1" sz="2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各カテゴリに対する戦略</a:t>
            </a:r>
          </a:p>
        </p:txBody>
      </p:sp>
    </p:spTree>
    <p:extLst>
      <p:ext uri="{BB962C8B-B14F-4D97-AF65-F5344CB8AC3E}">
        <p14:creationId xmlns:p14="http://schemas.microsoft.com/office/powerpoint/2010/main" val="1463895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0DB537-1938-254E-9646-E1F659D7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その他研究について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229DDA1-6C79-D941-87FB-D426CD549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98" y="1884384"/>
            <a:ext cx="8859709" cy="3463117"/>
          </a:xfrm>
        </p:spPr>
        <p:txBody>
          <a:bodyPr/>
          <a:lstStyle/>
          <a:p>
            <a:endParaRPr lang="en-US" altLang="ja-JP" dirty="0"/>
          </a:p>
          <a:p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E71DB6-372F-AC4F-B4AB-05B690094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58CC-F5BE-2345-99BA-C49B60654C2B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DF195F-1A3C-9943-A429-1185F3344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8667CF-ABBD-C945-B743-3E1587C5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90007484-89B5-4348-ABAF-743AD89B12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3</a:t>
            </a:r>
            <a:endParaRPr kumimoji="1" lang="ja-JP" altLang="en-US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1802F486-8564-F042-BB12-D0807C00DBC0}"/>
              </a:ext>
            </a:extLst>
          </p:cNvPr>
          <p:cNvGrpSpPr/>
          <p:nvPr/>
        </p:nvGrpSpPr>
        <p:grpSpPr>
          <a:xfrm>
            <a:off x="163626" y="1160115"/>
            <a:ext cx="6346902" cy="680876"/>
            <a:chOff x="163626" y="1160115"/>
            <a:chExt cx="6346902" cy="680876"/>
          </a:xfrm>
        </p:grpSpPr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11E4DA3D-E02B-7F42-8F6D-496C4C8C48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3626" y="1699846"/>
              <a:ext cx="6346902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D7B6B005-2406-534F-879E-E016C333D647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" name="テキスト プレースホルダー 12">
            <a:extLst>
              <a:ext uri="{FF2B5EF4-FFF2-40B4-BE49-F238E27FC236}">
                <a16:creationId xmlns:a16="http://schemas.microsoft.com/office/drawing/2014/main" id="{F7281F50-E19B-4141-A852-D9CF6AEBD055}"/>
              </a:ext>
            </a:extLst>
          </p:cNvPr>
          <p:cNvSpPr txBox="1">
            <a:spLocks/>
          </p:cNvSpPr>
          <p:nvPr/>
        </p:nvSpPr>
        <p:spPr>
          <a:xfrm>
            <a:off x="404691" y="1192726"/>
            <a:ext cx="8147050" cy="6808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Tx/>
              <a:buNone/>
              <a:tabLst/>
              <a:defRPr kumimoji="1" sz="3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7223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2"/>
              </a:buBlip>
              <a:tabLst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246188" indent="-3317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3"/>
              </a:buBlip>
              <a:tabLst/>
              <a:defRPr kumimoji="1" sz="2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ベクトルの類似度</a:t>
            </a:r>
            <a:r>
              <a:rPr lang="en-US" altLang="ja-JP" dirty="0"/>
              <a:t>(</a:t>
            </a:r>
            <a:r>
              <a:rPr lang="ja-JP" altLang="en-US"/>
              <a:t>距離</a:t>
            </a:r>
            <a:r>
              <a:rPr lang="en-US" altLang="ja-JP" dirty="0"/>
              <a:t>)</a:t>
            </a:r>
            <a:r>
              <a:rPr lang="ja-JP" altLang="en-US"/>
              <a:t>について</a:t>
            </a:r>
          </a:p>
        </p:txBody>
      </p:sp>
      <p:grpSp>
        <p:nvGrpSpPr>
          <p:cNvPr id="106" name="グループ化 105">
            <a:extLst>
              <a:ext uri="{FF2B5EF4-FFF2-40B4-BE49-F238E27FC236}">
                <a16:creationId xmlns:a16="http://schemas.microsoft.com/office/drawing/2014/main" id="{59B1AFF8-C98A-F54C-81FE-282B1EA1B318}"/>
              </a:ext>
            </a:extLst>
          </p:cNvPr>
          <p:cNvGrpSpPr/>
          <p:nvPr/>
        </p:nvGrpSpPr>
        <p:grpSpPr>
          <a:xfrm>
            <a:off x="3028950" y="2567280"/>
            <a:ext cx="3744987" cy="3897250"/>
            <a:chOff x="4997905" y="2671946"/>
            <a:chExt cx="3744987" cy="3897250"/>
          </a:xfrm>
        </p:grpSpPr>
        <p:grpSp>
          <p:nvGrpSpPr>
            <p:cNvPr id="107" name="グループ化 106">
              <a:extLst>
                <a:ext uri="{FF2B5EF4-FFF2-40B4-BE49-F238E27FC236}">
                  <a16:creationId xmlns:a16="http://schemas.microsoft.com/office/drawing/2014/main" id="{D730C464-E638-8540-A589-0CAC867368EA}"/>
                </a:ext>
              </a:extLst>
            </p:cNvPr>
            <p:cNvGrpSpPr/>
            <p:nvPr/>
          </p:nvGrpSpPr>
          <p:grpSpPr>
            <a:xfrm>
              <a:off x="6972734" y="4589459"/>
              <a:ext cx="1770158" cy="1979737"/>
              <a:chOff x="3066278" y="3558947"/>
              <a:chExt cx="2141892" cy="2395479"/>
            </a:xfrm>
          </p:grpSpPr>
          <p:grpSp>
            <p:nvGrpSpPr>
              <p:cNvPr id="143" name="グループ化 142">
                <a:extLst>
                  <a:ext uri="{FF2B5EF4-FFF2-40B4-BE49-F238E27FC236}">
                    <a16:creationId xmlns:a16="http://schemas.microsoft.com/office/drawing/2014/main" id="{255412B3-F9C2-CC4F-981C-A4CB0AA0C6BC}"/>
                  </a:ext>
                </a:extLst>
              </p:cNvPr>
              <p:cNvGrpSpPr/>
              <p:nvPr/>
            </p:nvGrpSpPr>
            <p:grpSpPr>
              <a:xfrm>
                <a:off x="3066278" y="3558947"/>
                <a:ext cx="2141892" cy="2092323"/>
                <a:chOff x="2756727" y="4237038"/>
                <a:chExt cx="2141892" cy="2092323"/>
              </a:xfrm>
            </p:grpSpPr>
            <p:sp>
              <p:nvSpPr>
                <p:cNvPr id="145" name="五角形 15">
                  <a:extLst>
                    <a:ext uri="{FF2B5EF4-FFF2-40B4-BE49-F238E27FC236}">
                      <a16:creationId xmlns:a16="http://schemas.microsoft.com/office/drawing/2014/main" id="{0EE74927-3B38-374D-AEB7-642AF3A410F1}"/>
                    </a:ext>
                  </a:extLst>
                </p:cNvPr>
                <p:cNvSpPr/>
                <p:nvPr/>
              </p:nvSpPr>
              <p:spPr>
                <a:xfrm>
                  <a:off x="3096519" y="4591221"/>
                  <a:ext cx="1350939" cy="1325181"/>
                </a:xfrm>
                <a:custGeom>
                  <a:avLst/>
                  <a:gdLst>
                    <a:gd name="connsiteX0" fmla="*/ 2 w 1466853"/>
                    <a:gd name="connsiteY0" fmla="*/ 560287 h 1466853"/>
                    <a:gd name="connsiteX1" fmla="*/ 733427 w 1466853"/>
                    <a:gd name="connsiteY1" fmla="*/ 0 h 1466853"/>
                    <a:gd name="connsiteX2" fmla="*/ 1466851 w 1466853"/>
                    <a:gd name="connsiteY2" fmla="*/ 560287 h 1466853"/>
                    <a:gd name="connsiteX3" fmla="*/ 1186708 w 1466853"/>
                    <a:gd name="connsiteY3" fmla="*/ 1466849 h 1466853"/>
                    <a:gd name="connsiteX4" fmla="*/ 280145 w 1466853"/>
                    <a:gd name="connsiteY4" fmla="*/ 1466849 h 1466853"/>
                    <a:gd name="connsiteX5" fmla="*/ 2 w 1466853"/>
                    <a:gd name="connsiteY5" fmla="*/ 560287 h 1466853"/>
                    <a:gd name="connsiteX0" fmla="*/ 0 w 1466849"/>
                    <a:gd name="connsiteY0" fmla="*/ 560287 h 1466849"/>
                    <a:gd name="connsiteX1" fmla="*/ 733425 w 1466849"/>
                    <a:gd name="connsiteY1" fmla="*/ 0 h 1466849"/>
                    <a:gd name="connsiteX2" fmla="*/ 1466849 w 1466849"/>
                    <a:gd name="connsiteY2" fmla="*/ 560287 h 1466849"/>
                    <a:gd name="connsiteX3" fmla="*/ 1186706 w 1466849"/>
                    <a:gd name="connsiteY3" fmla="*/ 1466849 h 1466849"/>
                    <a:gd name="connsiteX4" fmla="*/ 357416 w 1466849"/>
                    <a:gd name="connsiteY4" fmla="*/ 1222150 h 1466849"/>
                    <a:gd name="connsiteX5" fmla="*/ 0 w 1466849"/>
                    <a:gd name="connsiteY5" fmla="*/ 560287 h 1466849"/>
                    <a:gd name="connsiteX0" fmla="*/ 0 w 1466849"/>
                    <a:gd name="connsiteY0" fmla="*/ 560287 h 1466849"/>
                    <a:gd name="connsiteX1" fmla="*/ 733425 w 1466849"/>
                    <a:gd name="connsiteY1" fmla="*/ 0 h 1466849"/>
                    <a:gd name="connsiteX2" fmla="*/ 1466849 w 1466849"/>
                    <a:gd name="connsiteY2" fmla="*/ 560287 h 1466849"/>
                    <a:gd name="connsiteX3" fmla="*/ 1186706 w 1466849"/>
                    <a:gd name="connsiteY3" fmla="*/ 1466849 h 1466849"/>
                    <a:gd name="connsiteX4" fmla="*/ 280143 w 1466849"/>
                    <a:gd name="connsiteY4" fmla="*/ 1389575 h 1466849"/>
                    <a:gd name="connsiteX5" fmla="*/ 0 w 1466849"/>
                    <a:gd name="connsiteY5" fmla="*/ 560287 h 1466849"/>
                    <a:gd name="connsiteX0" fmla="*/ 0 w 1466849"/>
                    <a:gd name="connsiteY0" fmla="*/ 418619 h 1325181"/>
                    <a:gd name="connsiteX1" fmla="*/ 733425 w 1466849"/>
                    <a:gd name="connsiteY1" fmla="*/ 0 h 1325181"/>
                    <a:gd name="connsiteX2" fmla="*/ 1466849 w 1466849"/>
                    <a:gd name="connsiteY2" fmla="*/ 418619 h 1325181"/>
                    <a:gd name="connsiteX3" fmla="*/ 1186706 w 1466849"/>
                    <a:gd name="connsiteY3" fmla="*/ 1325181 h 1325181"/>
                    <a:gd name="connsiteX4" fmla="*/ 280143 w 1466849"/>
                    <a:gd name="connsiteY4" fmla="*/ 1247907 h 1325181"/>
                    <a:gd name="connsiteX5" fmla="*/ 0 w 1466849"/>
                    <a:gd name="connsiteY5" fmla="*/ 418619 h 1325181"/>
                    <a:gd name="connsiteX0" fmla="*/ 0 w 1466849"/>
                    <a:gd name="connsiteY0" fmla="*/ 341346 h 1247908"/>
                    <a:gd name="connsiteX1" fmla="*/ 733425 w 1466849"/>
                    <a:gd name="connsiteY1" fmla="*/ 0 h 1247908"/>
                    <a:gd name="connsiteX2" fmla="*/ 1466849 w 1466849"/>
                    <a:gd name="connsiteY2" fmla="*/ 341346 h 1247908"/>
                    <a:gd name="connsiteX3" fmla="*/ 1186706 w 1466849"/>
                    <a:gd name="connsiteY3" fmla="*/ 1247908 h 1247908"/>
                    <a:gd name="connsiteX4" fmla="*/ 280143 w 1466849"/>
                    <a:gd name="connsiteY4" fmla="*/ 1170634 h 1247908"/>
                    <a:gd name="connsiteX5" fmla="*/ 0 w 1466849"/>
                    <a:gd name="connsiteY5" fmla="*/ 341346 h 1247908"/>
                    <a:gd name="connsiteX0" fmla="*/ 0 w 1466849"/>
                    <a:gd name="connsiteY0" fmla="*/ 341346 h 1247908"/>
                    <a:gd name="connsiteX1" fmla="*/ 733425 w 1466849"/>
                    <a:gd name="connsiteY1" fmla="*/ 0 h 1247908"/>
                    <a:gd name="connsiteX2" fmla="*/ 1466849 w 1466849"/>
                    <a:gd name="connsiteY2" fmla="*/ 341346 h 1247908"/>
                    <a:gd name="connsiteX3" fmla="*/ 1186706 w 1466849"/>
                    <a:gd name="connsiteY3" fmla="*/ 1247908 h 1247908"/>
                    <a:gd name="connsiteX4" fmla="*/ 318780 w 1466849"/>
                    <a:gd name="connsiteY4" fmla="*/ 1119119 h 1247908"/>
                    <a:gd name="connsiteX5" fmla="*/ 0 w 1466849"/>
                    <a:gd name="connsiteY5" fmla="*/ 341346 h 1247908"/>
                    <a:gd name="connsiteX0" fmla="*/ 0 w 1350939"/>
                    <a:gd name="connsiteY0" fmla="*/ 341346 h 1247908"/>
                    <a:gd name="connsiteX1" fmla="*/ 733425 w 1350939"/>
                    <a:gd name="connsiteY1" fmla="*/ 0 h 1247908"/>
                    <a:gd name="connsiteX2" fmla="*/ 1350939 w 1350939"/>
                    <a:gd name="connsiteY2" fmla="*/ 405741 h 1247908"/>
                    <a:gd name="connsiteX3" fmla="*/ 1186706 w 1350939"/>
                    <a:gd name="connsiteY3" fmla="*/ 1247908 h 1247908"/>
                    <a:gd name="connsiteX4" fmla="*/ 318780 w 1350939"/>
                    <a:gd name="connsiteY4" fmla="*/ 1119119 h 1247908"/>
                    <a:gd name="connsiteX5" fmla="*/ 0 w 1350939"/>
                    <a:gd name="connsiteY5" fmla="*/ 341346 h 1247908"/>
                    <a:gd name="connsiteX0" fmla="*/ 0 w 1350939"/>
                    <a:gd name="connsiteY0" fmla="*/ 444377 h 1350939"/>
                    <a:gd name="connsiteX1" fmla="*/ 759183 w 1350939"/>
                    <a:gd name="connsiteY1" fmla="*/ 0 h 1350939"/>
                    <a:gd name="connsiteX2" fmla="*/ 1350939 w 1350939"/>
                    <a:gd name="connsiteY2" fmla="*/ 508772 h 1350939"/>
                    <a:gd name="connsiteX3" fmla="*/ 1186706 w 1350939"/>
                    <a:gd name="connsiteY3" fmla="*/ 1350939 h 1350939"/>
                    <a:gd name="connsiteX4" fmla="*/ 318780 w 1350939"/>
                    <a:gd name="connsiteY4" fmla="*/ 1222150 h 1350939"/>
                    <a:gd name="connsiteX5" fmla="*/ 0 w 1350939"/>
                    <a:gd name="connsiteY5" fmla="*/ 444377 h 1350939"/>
                    <a:gd name="connsiteX0" fmla="*/ 0 w 1350939"/>
                    <a:gd name="connsiteY0" fmla="*/ 431498 h 1338060"/>
                    <a:gd name="connsiteX1" fmla="*/ 694789 w 1350939"/>
                    <a:gd name="connsiteY1" fmla="*/ 0 h 1338060"/>
                    <a:gd name="connsiteX2" fmla="*/ 1350939 w 1350939"/>
                    <a:gd name="connsiteY2" fmla="*/ 495893 h 1338060"/>
                    <a:gd name="connsiteX3" fmla="*/ 1186706 w 1350939"/>
                    <a:gd name="connsiteY3" fmla="*/ 1338060 h 1338060"/>
                    <a:gd name="connsiteX4" fmla="*/ 318780 w 1350939"/>
                    <a:gd name="connsiteY4" fmla="*/ 1209271 h 1338060"/>
                    <a:gd name="connsiteX5" fmla="*/ 0 w 1350939"/>
                    <a:gd name="connsiteY5" fmla="*/ 431498 h 1338060"/>
                    <a:gd name="connsiteX0" fmla="*/ 0 w 1350939"/>
                    <a:gd name="connsiteY0" fmla="*/ 418619 h 1325181"/>
                    <a:gd name="connsiteX1" fmla="*/ 746304 w 1350939"/>
                    <a:gd name="connsiteY1" fmla="*/ 0 h 1325181"/>
                    <a:gd name="connsiteX2" fmla="*/ 1350939 w 1350939"/>
                    <a:gd name="connsiteY2" fmla="*/ 483014 h 1325181"/>
                    <a:gd name="connsiteX3" fmla="*/ 1186706 w 1350939"/>
                    <a:gd name="connsiteY3" fmla="*/ 1325181 h 1325181"/>
                    <a:gd name="connsiteX4" fmla="*/ 318780 w 1350939"/>
                    <a:gd name="connsiteY4" fmla="*/ 1196392 h 1325181"/>
                    <a:gd name="connsiteX5" fmla="*/ 0 w 1350939"/>
                    <a:gd name="connsiteY5" fmla="*/ 418619 h 1325181"/>
                    <a:gd name="connsiteX0" fmla="*/ 0 w 1350939"/>
                    <a:gd name="connsiteY0" fmla="*/ 508771 h 1325181"/>
                    <a:gd name="connsiteX1" fmla="*/ 746304 w 1350939"/>
                    <a:gd name="connsiteY1" fmla="*/ 0 h 1325181"/>
                    <a:gd name="connsiteX2" fmla="*/ 1350939 w 1350939"/>
                    <a:gd name="connsiteY2" fmla="*/ 483014 h 1325181"/>
                    <a:gd name="connsiteX3" fmla="*/ 1186706 w 1350939"/>
                    <a:gd name="connsiteY3" fmla="*/ 1325181 h 1325181"/>
                    <a:gd name="connsiteX4" fmla="*/ 318780 w 1350939"/>
                    <a:gd name="connsiteY4" fmla="*/ 1196392 h 1325181"/>
                    <a:gd name="connsiteX5" fmla="*/ 0 w 1350939"/>
                    <a:gd name="connsiteY5" fmla="*/ 508771 h 13251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50939" h="1325181">
                      <a:moveTo>
                        <a:pt x="0" y="508771"/>
                      </a:moveTo>
                      <a:lnTo>
                        <a:pt x="746304" y="0"/>
                      </a:lnTo>
                      <a:lnTo>
                        <a:pt x="1350939" y="483014"/>
                      </a:lnTo>
                      <a:lnTo>
                        <a:pt x="1186706" y="1325181"/>
                      </a:lnTo>
                      <a:lnTo>
                        <a:pt x="318780" y="1196392"/>
                      </a:lnTo>
                      <a:lnTo>
                        <a:pt x="0" y="50877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46" name="テキスト ボックス 145">
                  <a:extLst>
                    <a:ext uri="{FF2B5EF4-FFF2-40B4-BE49-F238E27FC236}">
                      <a16:creationId xmlns:a16="http://schemas.microsoft.com/office/drawing/2014/main" id="{28391589-C62F-3F43-A92D-BBCAFE07097F}"/>
                    </a:ext>
                  </a:extLst>
                </p:cNvPr>
                <p:cNvSpPr txBox="1"/>
                <p:nvPr/>
              </p:nvSpPr>
              <p:spPr>
                <a:xfrm>
                  <a:off x="3624486" y="4237038"/>
                  <a:ext cx="392195" cy="3724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1400" dirty="0"/>
                    <a:t>N</a:t>
                  </a:r>
                  <a:endParaRPr kumimoji="1" lang="ja-JP" altLang="en-US" sz="1400"/>
                </a:p>
              </p:txBody>
            </p:sp>
            <p:sp>
              <p:nvSpPr>
                <p:cNvPr id="147" name="テキスト ボックス 146">
                  <a:extLst>
                    <a:ext uri="{FF2B5EF4-FFF2-40B4-BE49-F238E27FC236}">
                      <a16:creationId xmlns:a16="http://schemas.microsoft.com/office/drawing/2014/main" id="{D33BE5EA-FFA7-3D47-B7CF-3CD1443F56E1}"/>
                    </a:ext>
                  </a:extLst>
                </p:cNvPr>
                <p:cNvSpPr txBox="1"/>
                <p:nvPr/>
              </p:nvSpPr>
              <p:spPr>
                <a:xfrm>
                  <a:off x="4157616" y="5956951"/>
                  <a:ext cx="396074" cy="3724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1400" dirty="0"/>
                    <a:t>O</a:t>
                  </a:r>
                  <a:endParaRPr kumimoji="1" lang="ja-JP" altLang="en-US" sz="1400"/>
                </a:p>
              </p:txBody>
            </p:sp>
            <p:sp>
              <p:nvSpPr>
                <p:cNvPr id="148" name="テキスト ボックス 147">
                  <a:extLst>
                    <a:ext uri="{FF2B5EF4-FFF2-40B4-BE49-F238E27FC236}">
                      <a16:creationId xmlns:a16="http://schemas.microsoft.com/office/drawing/2014/main" id="{338CA52E-FA79-614A-ABAD-207514E850A8}"/>
                    </a:ext>
                  </a:extLst>
                </p:cNvPr>
                <p:cNvSpPr txBox="1"/>
                <p:nvPr/>
              </p:nvSpPr>
              <p:spPr>
                <a:xfrm>
                  <a:off x="4535520" y="4888186"/>
                  <a:ext cx="363099" cy="3724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1400" dirty="0"/>
                    <a:t>E</a:t>
                  </a:r>
                  <a:endParaRPr kumimoji="1" lang="ja-JP" altLang="en-US" sz="1400"/>
                </a:p>
              </p:txBody>
            </p:sp>
            <p:sp>
              <p:nvSpPr>
                <p:cNvPr id="149" name="テキスト ボックス 148">
                  <a:extLst>
                    <a:ext uri="{FF2B5EF4-FFF2-40B4-BE49-F238E27FC236}">
                      <a16:creationId xmlns:a16="http://schemas.microsoft.com/office/drawing/2014/main" id="{A344A837-1461-E44B-B1C3-F2298E102D7A}"/>
                    </a:ext>
                  </a:extLst>
                </p:cNvPr>
                <p:cNvSpPr txBox="1"/>
                <p:nvPr/>
              </p:nvSpPr>
              <p:spPr>
                <a:xfrm>
                  <a:off x="3156677" y="5956951"/>
                  <a:ext cx="386375" cy="3724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1400" dirty="0"/>
                    <a:t>A</a:t>
                  </a:r>
                  <a:endParaRPr kumimoji="1" lang="ja-JP" altLang="en-US" sz="1400"/>
                </a:p>
              </p:txBody>
            </p:sp>
            <p:sp>
              <p:nvSpPr>
                <p:cNvPr id="150" name="テキスト ボックス 149">
                  <a:extLst>
                    <a:ext uri="{FF2B5EF4-FFF2-40B4-BE49-F238E27FC236}">
                      <a16:creationId xmlns:a16="http://schemas.microsoft.com/office/drawing/2014/main" id="{CA968138-EDEE-784A-8A2E-ED3069C494E9}"/>
                    </a:ext>
                  </a:extLst>
                </p:cNvPr>
                <p:cNvSpPr txBox="1"/>
                <p:nvPr/>
              </p:nvSpPr>
              <p:spPr>
                <a:xfrm>
                  <a:off x="2756727" y="4910171"/>
                  <a:ext cx="388316" cy="3724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1400" dirty="0"/>
                    <a:t>C</a:t>
                  </a:r>
                  <a:endParaRPr kumimoji="1" lang="ja-JP" altLang="en-US" sz="1400"/>
                </a:p>
              </p:txBody>
            </p:sp>
          </p:grpSp>
          <p:sp>
            <p:nvSpPr>
              <p:cNvPr id="144" name="テキスト ボックス 143">
                <a:extLst>
                  <a:ext uri="{FF2B5EF4-FFF2-40B4-BE49-F238E27FC236}">
                    <a16:creationId xmlns:a16="http://schemas.microsoft.com/office/drawing/2014/main" id="{FB3E954F-4FED-FB4E-8A30-E5D2641F0B3A}"/>
                  </a:ext>
                </a:extLst>
              </p:cNvPr>
              <p:cNvSpPr txBox="1"/>
              <p:nvPr/>
            </p:nvSpPr>
            <p:spPr>
              <a:xfrm>
                <a:off x="3618876" y="5615872"/>
                <a:ext cx="10283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600"/>
                  <a:t>被験者</a:t>
                </a:r>
                <a:r>
                  <a:rPr kumimoji="1" lang="en-US" altLang="ja-JP" sz="1600" dirty="0"/>
                  <a:t>2</a:t>
                </a:r>
                <a:endParaRPr kumimoji="1" lang="ja-JP" altLang="en-US" sz="1600"/>
              </a:p>
            </p:txBody>
          </p:sp>
        </p:grpSp>
        <p:grpSp>
          <p:nvGrpSpPr>
            <p:cNvPr id="108" name="グループ化 107">
              <a:extLst>
                <a:ext uri="{FF2B5EF4-FFF2-40B4-BE49-F238E27FC236}">
                  <a16:creationId xmlns:a16="http://schemas.microsoft.com/office/drawing/2014/main" id="{5F944B5F-BB2B-3E40-BF7A-20E52892F954}"/>
                </a:ext>
              </a:extLst>
            </p:cNvPr>
            <p:cNvGrpSpPr/>
            <p:nvPr/>
          </p:nvGrpSpPr>
          <p:grpSpPr>
            <a:xfrm>
              <a:off x="7194416" y="2671946"/>
              <a:ext cx="1198665" cy="1519118"/>
              <a:chOff x="5326362" y="4080350"/>
              <a:chExt cx="1318532" cy="1671029"/>
            </a:xfrm>
          </p:grpSpPr>
          <p:grpSp>
            <p:nvGrpSpPr>
              <p:cNvPr id="135" name="グループ化 134">
                <a:extLst>
                  <a:ext uri="{FF2B5EF4-FFF2-40B4-BE49-F238E27FC236}">
                    <a16:creationId xmlns:a16="http://schemas.microsoft.com/office/drawing/2014/main" id="{3DB8DCC6-ABBB-0540-BD49-F1B350BF6681}"/>
                  </a:ext>
                </a:extLst>
              </p:cNvPr>
              <p:cNvGrpSpPr/>
              <p:nvPr/>
            </p:nvGrpSpPr>
            <p:grpSpPr>
              <a:xfrm>
                <a:off x="5326362" y="4080350"/>
                <a:ext cx="1318532" cy="1324496"/>
                <a:chOff x="4954042" y="4976907"/>
                <a:chExt cx="1318532" cy="1324496"/>
              </a:xfrm>
            </p:grpSpPr>
            <p:sp>
              <p:nvSpPr>
                <p:cNvPr id="137" name="五角形 15">
                  <a:extLst>
                    <a:ext uri="{FF2B5EF4-FFF2-40B4-BE49-F238E27FC236}">
                      <a16:creationId xmlns:a16="http://schemas.microsoft.com/office/drawing/2014/main" id="{A7A4AF50-14F4-DB42-B9D1-9C3290A21008}"/>
                    </a:ext>
                  </a:extLst>
                </p:cNvPr>
                <p:cNvSpPr/>
                <p:nvPr/>
              </p:nvSpPr>
              <p:spPr>
                <a:xfrm>
                  <a:off x="5262291" y="5316561"/>
                  <a:ext cx="693245" cy="680027"/>
                </a:xfrm>
                <a:custGeom>
                  <a:avLst/>
                  <a:gdLst>
                    <a:gd name="connsiteX0" fmla="*/ 2 w 1466853"/>
                    <a:gd name="connsiteY0" fmla="*/ 560287 h 1466853"/>
                    <a:gd name="connsiteX1" fmla="*/ 733427 w 1466853"/>
                    <a:gd name="connsiteY1" fmla="*/ 0 h 1466853"/>
                    <a:gd name="connsiteX2" fmla="*/ 1466851 w 1466853"/>
                    <a:gd name="connsiteY2" fmla="*/ 560287 h 1466853"/>
                    <a:gd name="connsiteX3" fmla="*/ 1186708 w 1466853"/>
                    <a:gd name="connsiteY3" fmla="*/ 1466849 h 1466853"/>
                    <a:gd name="connsiteX4" fmla="*/ 280145 w 1466853"/>
                    <a:gd name="connsiteY4" fmla="*/ 1466849 h 1466853"/>
                    <a:gd name="connsiteX5" fmla="*/ 2 w 1466853"/>
                    <a:gd name="connsiteY5" fmla="*/ 560287 h 1466853"/>
                    <a:gd name="connsiteX0" fmla="*/ 0 w 1466849"/>
                    <a:gd name="connsiteY0" fmla="*/ 560287 h 1466849"/>
                    <a:gd name="connsiteX1" fmla="*/ 733425 w 1466849"/>
                    <a:gd name="connsiteY1" fmla="*/ 0 h 1466849"/>
                    <a:gd name="connsiteX2" fmla="*/ 1466849 w 1466849"/>
                    <a:gd name="connsiteY2" fmla="*/ 560287 h 1466849"/>
                    <a:gd name="connsiteX3" fmla="*/ 1186706 w 1466849"/>
                    <a:gd name="connsiteY3" fmla="*/ 1466849 h 1466849"/>
                    <a:gd name="connsiteX4" fmla="*/ 357416 w 1466849"/>
                    <a:gd name="connsiteY4" fmla="*/ 1222150 h 1466849"/>
                    <a:gd name="connsiteX5" fmla="*/ 0 w 1466849"/>
                    <a:gd name="connsiteY5" fmla="*/ 560287 h 1466849"/>
                    <a:gd name="connsiteX0" fmla="*/ 0 w 1466849"/>
                    <a:gd name="connsiteY0" fmla="*/ 560287 h 1466849"/>
                    <a:gd name="connsiteX1" fmla="*/ 733425 w 1466849"/>
                    <a:gd name="connsiteY1" fmla="*/ 0 h 1466849"/>
                    <a:gd name="connsiteX2" fmla="*/ 1466849 w 1466849"/>
                    <a:gd name="connsiteY2" fmla="*/ 560287 h 1466849"/>
                    <a:gd name="connsiteX3" fmla="*/ 1186706 w 1466849"/>
                    <a:gd name="connsiteY3" fmla="*/ 1466849 h 1466849"/>
                    <a:gd name="connsiteX4" fmla="*/ 280143 w 1466849"/>
                    <a:gd name="connsiteY4" fmla="*/ 1389575 h 1466849"/>
                    <a:gd name="connsiteX5" fmla="*/ 0 w 1466849"/>
                    <a:gd name="connsiteY5" fmla="*/ 560287 h 1466849"/>
                    <a:gd name="connsiteX0" fmla="*/ 0 w 1466849"/>
                    <a:gd name="connsiteY0" fmla="*/ 418619 h 1325181"/>
                    <a:gd name="connsiteX1" fmla="*/ 733425 w 1466849"/>
                    <a:gd name="connsiteY1" fmla="*/ 0 h 1325181"/>
                    <a:gd name="connsiteX2" fmla="*/ 1466849 w 1466849"/>
                    <a:gd name="connsiteY2" fmla="*/ 418619 h 1325181"/>
                    <a:gd name="connsiteX3" fmla="*/ 1186706 w 1466849"/>
                    <a:gd name="connsiteY3" fmla="*/ 1325181 h 1325181"/>
                    <a:gd name="connsiteX4" fmla="*/ 280143 w 1466849"/>
                    <a:gd name="connsiteY4" fmla="*/ 1247907 h 1325181"/>
                    <a:gd name="connsiteX5" fmla="*/ 0 w 1466849"/>
                    <a:gd name="connsiteY5" fmla="*/ 418619 h 1325181"/>
                    <a:gd name="connsiteX0" fmla="*/ 0 w 1466849"/>
                    <a:gd name="connsiteY0" fmla="*/ 341346 h 1247908"/>
                    <a:gd name="connsiteX1" fmla="*/ 733425 w 1466849"/>
                    <a:gd name="connsiteY1" fmla="*/ 0 h 1247908"/>
                    <a:gd name="connsiteX2" fmla="*/ 1466849 w 1466849"/>
                    <a:gd name="connsiteY2" fmla="*/ 341346 h 1247908"/>
                    <a:gd name="connsiteX3" fmla="*/ 1186706 w 1466849"/>
                    <a:gd name="connsiteY3" fmla="*/ 1247908 h 1247908"/>
                    <a:gd name="connsiteX4" fmla="*/ 280143 w 1466849"/>
                    <a:gd name="connsiteY4" fmla="*/ 1170634 h 1247908"/>
                    <a:gd name="connsiteX5" fmla="*/ 0 w 1466849"/>
                    <a:gd name="connsiteY5" fmla="*/ 341346 h 1247908"/>
                    <a:gd name="connsiteX0" fmla="*/ 0 w 1466849"/>
                    <a:gd name="connsiteY0" fmla="*/ 341346 h 1247908"/>
                    <a:gd name="connsiteX1" fmla="*/ 733425 w 1466849"/>
                    <a:gd name="connsiteY1" fmla="*/ 0 h 1247908"/>
                    <a:gd name="connsiteX2" fmla="*/ 1466849 w 1466849"/>
                    <a:gd name="connsiteY2" fmla="*/ 341346 h 1247908"/>
                    <a:gd name="connsiteX3" fmla="*/ 1186706 w 1466849"/>
                    <a:gd name="connsiteY3" fmla="*/ 1247908 h 1247908"/>
                    <a:gd name="connsiteX4" fmla="*/ 318780 w 1466849"/>
                    <a:gd name="connsiteY4" fmla="*/ 1119119 h 1247908"/>
                    <a:gd name="connsiteX5" fmla="*/ 0 w 1466849"/>
                    <a:gd name="connsiteY5" fmla="*/ 341346 h 1247908"/>
                    <a:gd name="connsiteX0" fmla="*/ 0 w 1350939"/>
                    <a:gd name="connsiteY0" fmla="*/ 341346 h 1247908"/>
                    <a:gd name="connsiteX1" fmla="*/ 733425 w 1350939"/>
                    <a:gd name="connsiteY1" fmla="*/ 0 h 1247908"/>
                    <a:gd name="connsiteX2" fmla="*/ 1350939 w 1350939"/>
                    <a:gd name="connsiteY2" fmla="*/ 405741 h 1247908"/>
                    <a:gd name="connsiteX3" fmla="*/ 1186706 w 1350939"/>
                    <a:gd name="connsiteY3" fmla="*/ 1247908 h 1247908"/>
                    <a:gd name="connsiteX4" fmla="*/ 318780 w 1350939"/>
                    <a:gd name="connsiteY4" fmla="*/ 1119119 h 1247908"/>
                    <a:gd name="connsiteX5" fmla="*/ 0 w 1350939"/>
                    <a:gd name="connsiteY5" fmla="*/ 341346 h 1247908"/>
                    <a:gd name="connsiteX0" fmla="*/ 0 w 1350939"/>
                    <a:gd name="connsiteY0" fmla="*/ 444377 h 1350939"/>
                    <a:gd name="connsiteX1" fmla="*/ 759183 w 1350939"/>
                    <a:gd name="connsiteY1" fmla="*/ 0 h 1350939"/>
                    <a:gd name="connsiteX2" fmla="*/ 1350939 w 1350939"/>
                    <a:gd name="connsiteY2" fmla="*/ 508772 h 1350939"/>
                    <a:gd name="connsiteX3" fmla="*/ 1186706 w 1350939"/>
                    <a:gd name="connsiteY3" fmla="*/ 1350939 h 1350939"/>
                    <a:gd name="connsiteX4" fmla="*/ 318780 w 1350939"/>
                    <a:gd name="connsiteY4" fmla="*/ 1222150 h 1350939"/>
                    <a:gd name="connsiteX5" fmla="*/ 0 w 1350939"/>
                    <a:gd name="connsiteY5" fmla="*/ 444377 h 1350939"/>
                    <a:gd name="connsiteX0" fmla="*/ 0 w 1350939"/>
                    <a:gd name="connsiteY0" fmla="*/ 431498 h 1338060"/>
                    <a:gd name="connsiteX1" fmla="*/ 694789 w 1350939"/>
                    <a:gd name="connsiteY1" fmla="*/ 0 h 1338060"/>
                    <a:gd name="connsiteX2" fmla="*/ 1350939 w 1350939"/>
                    <a:gd name="connsiteY2" fmla="*/ 495893 h 1338060"/>
                    <a:gd name="connsiteX3" fmla="*/ 1186706 w 1350939"/>
                    <a:gd name="connsiteY3" fmla="*/ 1338060 h 1338060"/>
                    <a:gd name="connsiteX4" fmla="*/ 318780 w 1350939"/>
                    <a:gd name="connsiteY4" fmla="*/ 1209271 h 1338060"/>
                    <a:gd name="connsiteX5" fmla="*/ 0 w 1350939"/>
                    <a:gd name="connsiteY5" fmla="*/ 431498 h 1338060"/>
                    <a:gd name="connsiteX0" fmla="*/ 0 w 1350939"/>
                    <a:gd name="connsiteY0" fmla="*/ 418619 h 1325181"/>
                    <a:gd name="connsiteX1" fmla="*/ 746304 w 1350939"/>
                    <a:gd name="connsiteY1" fmla="*/ 0 h 1325181"/>
                    <a:gd name="connsiteX2" fmla="*/ 1350939 w 1350939"/>
                    <a:gd name="connsiteY2" fmla="*/ 483014 h 1325181"/>
                    <a:gd name="connsiteX3" fmla="*/ 1186706 w 1350939"/>
                    <a:gd name="connsiteY3" fmla="*/ 1325181 h 1325181"/>
                    <a:gd name="connsiteX4" fmla="*/ 318780 w 1350939"/>
                    <a:gd name="connsiteY4" fmla="*/ 1196392 h 1325181"/>
                    <a:gd name="connsiteX5" fmla="*/ 0 w 1350939"/>
                    <a:gd name="connsiteY5" fmla="*/ 418619 h 1325181"/>
                    <a:gd name="connsiteX0" fmla="*/ 0 w 1350939"/>
                    <a:gd name="connsiteY0" fmla="*/ 508771 h 1325181"/>
                    <a:gd name="connsiteX1" fmla="*/ 746304 w 1350939"/>
                    <a:gd name="connsiteY1" fmla="*/ 0 h 1325181"/>
                    <a:gd name="connsiteX2" fmla="*/ 1350939 w 1350939"/>
                    <a:gd name="connsiteY2" fmla="*/ 483014 h 1325181"/>
                    <a:gd name="connsiteX3" fmla="*/ 1186706 w 1350939"/>
                    <a:gd name="connsiteY3" fmla="*/ 1325181 h 1325181"/>
                    <a:gd name="connsiteX4" fmla="*/ 318780 w 1350939"/>
                    <a:gd name="connsiteY4" fmla="*/ 1196392 h 1325181"/>
                    <a:gd name="connsiteX5" fmla="*/ 0 w 1350939"/>
                    <a:gd name="connsiteY5" fmla="*/ 508771 h 13251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50939" h="1325181">
                      <a:moveTo>
                        <a:pt x="0" y="508771"/>
                      </a:moveTo>
                      <a:lnTo>
                        <a:pt x="746304" y="0"/>
                      </a:lnTo>
                      <a:lnTo>
                        <a:pt x="1350939" y="483014"/>
                      </a:lnTo>
                      <a:lnTo>
                        <a:pt x="1186706" y="1325181"/>
                      </a:lnTo>
                      <a:lnTo>
                        <a:pt x="318780" y="1196392"/>
                      </a:lnTo>
                      <a:lnTo>
                        <a:pt x="0" y="50877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38" name="テキスト ボックス 137">
                  <a:extLst>
                    <a:ext uri="{FF2B5EF4-FFF2-40B4-BE49-F238E27FC236}">
                      <a16:creationId xmlns:a16="http://schemas.microsoft.com/office/drawing/2014/main" id="{A7175952-8800-FE4F-871D-85CDF3B4B8FF}"/>
                    </a:ext>
                  </a:extLst>
                </p:cNvPr>
                <p:cNvSpPr txBox="1"/>
                <p:nvPr/>
              </p:nvSpPr>
              <p:spPr>
                <a:xfrm>
                  <a:off x="5421851" y="4976907"/>
                  <a:ext cx="35654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1400" dirty="0"/>
                    <a:t>N</a:t>
                  </a:r>
                  <a:endParaRPr kumimoji="1" lang="ja-JP" altLang="en-US" sz="1400"/>
                </a:p>
              </p:txBody>
            </p:sp>
            <p:sp>
              <p:nvSpPr>
                <p:cNvPr id="139" name="テキスト ボックス 138">
                  <a:extLst>
                    <a:ext uri="{FF2B5EF4-FFF2-40B4-BE49-F238E27FC236}">
                      <a16:creationId xmlns:a16="http://schemas.microsoft.com/office/drawing/2014/main" id="{186F4D24-D8C3-0A4A-BDF5-2650F9951797}"/>
                    </a:ext>
                  </a:extLst>
                </p:cNvPr>
                <p:cNvSpPr txBox="1"/>
                <p:nvPr/>
              </p:nvSpPr>
              <p:spPr>
                <a:xfrm>
                  <a:off x="5765995" y="5959491"/>
                  <a:ext cx="3600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1400" dirty="0"/>
                    <a:t>O</a:t>
                  </a:r>
                  <a:endParaRPr kumimoji="1" lang="ja-JP" altLang="en-US" sz="1400"/>
                </a:p>
              </p:txBody>
            </p:sp>
            <p:sp>
              <p:nvSpPr>
                <p:cNvPr id="140" name="テキスト ボックス 139">
                  <a:extLst>
                    <a:ext uri="{FF2B5EF4-FFF2-40B4-BE49-F238E27FC236}">
                      <a16:creationId xmlns:a16="http://schemas.microsoft.com/office/drawing/2014/main" id="{665B1584-A1CF-9542-A281-64B93FC8D74D}"/>
                    </a:ext>
                  </a:extLst>
                </p:cNvPr>
                <p:cNvSpPr txBox="1"/>
                <p:nvPr/>
              </p:nvSpPr>
              <p:spPr>
                <a:xfrm>
                  <a:off x="5942484" y="5351653"/>
                  <a:ext cx="33009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1400" dirty="0"/>
                    <a:t>E</a:t>
                  </a:r>
                  <a:endParaRPr kumimoji="1" lang="ja-JP" altLang="en-US" sz="1400"/>
                </a:p>
              </p:txBody>
            </p:sp>
            <p:sp>
              <p:nvSpPr>
                <p:cNvPr id="141" name="テキスト ボックス 140">
                  <a:extLst>
                    <a:ext uri="{FF2B5EF4-FFF2-40B4-BE49-F238E27FC236}">
                      <a16:creationId xmlns:a16="http://schemas.microsoft.com/office/drawing/2014/main" id="{22BC4A6A-599D-424C-9D23-8F89B1FA9565}"/>
                    </a:ext>
                  </a:extLst>
                </p:cNvPr>
                <p:cNvSpPr txBox="1"/>
                <p:nvPr/>
              </p:nvSpPr>
              <p:spPr>
                <a:xfrm>
                  <a:off x="5134874" y="5962849"/>
                  <a:ext cx="35125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1400" dirty="0"/>
                    <a:t>A</a:t>
                  </a:r>
                  <a:endParaRPr kumimoji="1" lang="ja-JP" altLang="en-US" sz="1400"/>
                </a:p>
              </p:txBody>
            </p:sp>
            <p:sp>
              <p:nvSpPr>
                <p:cNvPr id="142" name="テキスト ボックス 141">
                  <a:extLst>
                    <a:ext uri="{FF2B5EF4-FFF2-40B4-BE49-F238E27FC236}">
                      <a16:creationId xmlns:a16="http://schemas.microsoft.com/office/drawing/2014/main" id="{16D8BE9F-3066-3D4F-A69B-624534D163A2}"/>
                    </a:ext>
                  </a:extLst>
                </p:cNvPr>
                <p:cNvSpPr txBox="1"/>
                <p:nvPr/>
              </p:nvSpPr>
              <p:spPr>
                <a:xfrm>
                  <a:off x="4954042" y="5351653"/>
                  <a:ext cx="35301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1400" dirty="0"/>
                    <a:t>C</a:t>
                  </a:r>
                  <a:endParaRPr kumimoji="1" lang="ja-JP" altLang="en-US" sz="1400"/>
                </a:p>
              </p:txBody>
            </p:sp>
          </p:grpSp>
          <p:sp>
            <p:nvSpPr>
              <p:cNvPr id="136" name="テキスト ボックス 135">
                <a:extLst>
                  <a:ext uri="{FF2B5EF4-FFF2-40B4-BE49-F238E27FC236}">
                    <a16:creationId xmlns:a16="http://schemas.microsoft.com/office/drawing/2014/main" id="{233EF6B5-F8A2-5140-B952-34C92E8DDA40}"/>
                  </a:ext>
                </a:extLst>
              </p:cNvPr>
              <p:cNvSpPr txBox="1"/>
              <p:nvPr/>
            </p:nvSpPr>
            <p:spPr>
              <a:xfrm>
                <a:off x="5512892" y="5412826"/>
                <a:ext cx="934871" cy="338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600"/>
                  <a:t>被験者</a:t>
                </a:r>
                <a:r>
                  <a:rPr kumimoji="1" lang="en-US" altLang="ja-JP" sz="1600" dirty="0"/>
                  <a:t>1</a:t>
                </a:r>
                <a:endParaRPr kumimoji="1" lang="ja-JP" altLang="en-US" sz="1600"/>
              </a:p>
            </p:txBody>
          </p:sp>
        </p:grpSp>
        <p:grpSp>
          <p:nvGrpSpPr>
            <p:cNvPr id="109" name="グループ化 108">
              <a:extLst>
                <a:ext uri="{FF2B5EF4-FFF2-40B4-BE49-F238E27FC236}">
                  <a16:creationId xmlns:a16="http://schemas.microsoft.com/office/drawing/2014/main" id="{667EF2D9-E500-AE4E-92E8-E248DA1318E2}"/>
                </a:ext>
              </a:extLst>
            </p:cNvPr>
            <p:cNvGrpSpPr/>
            <p:nvPr/>
          </p:nvGrpSpPr>
          <p:grpSpPr>
            <a:xfrm>
              <a:off x="5334227" y="2684825"/>
              <a:ext cx="1198665" cy="1502024"/>
              <a:chOff x="1089506" y="4249627"/>
              <a:chExt cx="1318532" cy="1652226"/>
            </a:xfrm>
          </p:grpSpPr>
          <p:grpSp>
            <p:nvGrpSpPr>
              <p:cNvPr id="127" name="グループ化 126">
                <a:extLst>
                  <a:ext uri="{FF2B5EF4-FFF2-40B4-BE49-F238E27FC236}">
                    <a16:creationId xmlns:a16="http://schemas.microsoft.com/office/drawing/2014/main" id="{E73BD505-FA87-C04A-B331-3A9CFBCCE5D2}"/>
                  </a:ext>
                </a:extLst>
              </p:cNvPr>
              <p:cNvGrpSpPr/>
              <p:nvPr/>
            </p:nvGrpSpPr>
            <p:grpSpPr>
              <a:xfrm>
                <a:off x="1089506" y="4249627"/>
                <a:ext cx="1318532" cy="1324496"/>
                <a:chOff x="5423734" y="2855336"/>
                <a:chExt cx="1318532" cy="1324496"/>
              </a:xfrm>
            </p:grpSpPr>
            <p:sp>
              <p:nvSpPr>
                <p:cNvPr id="129" name="五角形 128">
                  <a:extLst>
                    <a:ext uri="{FF2B5EF4-FFF2-40B4-BE49-F238E27FC236}">
                      <a16:creationId xmlns:a16="http://schemas.microsoft.com/office/drawing/2014/main" id="{2D244E37-81D4-1641-828C-E27021EB6C6F}"/>
                    </a:ext>
                  </a:extLst>
                </p:cNvPr>
                <p:cNvSpPr/>
                <p:nvPr/>
              </p:nvSpPr>
              <p:spPr>
                <a:xfrm>
                  <a:off x="5713815" y="3173603"/>
                  <a:ext cx="752727" cy="752727"/>
                </a:xfrm>
                <a:prstGeom prst="pentagon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30" name="テキスト ボックス 129">
                  <a:extLst>
                    <a:ext uri="{FF2B5EF4-FFF2-40B4-BE49-F238E27FC236}">
                      <a16:creationId xmlns:a16="http://schemas.microsoft.com/office/drawing/2014/main" id="{536C0DE8-2698-C14A-8D92-1EDB87D8029F}"/>
                    </a:ext>
                  </a:extLst>
                </p:cNvPr>
                <p:cNvSpPr txBox="1"/>
                <p:nvPr/>
              </p:nvSpPr>
              <p:spPr>
                <a:xfrm>
                  <a:off x="5891543" y="2855336"/>
                  <a:ext cx="35654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1400" dirty="0"/>
                    <a:t>N</a:t>
                  </a:r>
                  <a:endParaRPr kumimoji="1" lang="ja-JP" altLang="en-US" sz="1400"/>
                </a:p>
              </p:txBody>
            </p:sp>
            <p:sp>
              <p:nvSpPr>
                <p:cNvPr id="131" name="テキスト ボックス 130">
                  <a:extLst>
                    <a:ext uri="{FF2B5EF4-FFF2-40B4-BE49-F238E27FC236}">
                      <a16:creationId xmlns:a16="http://schemas.microsoft.com/office/drawing/2014/main" id="{5856F4A5-829E-D44E-A21F-71323C63DF1C}"/>
                    </a:ext>
                  </a:extLst>
                </p:cNvPr>
                <p:cNvSpPr txBox="1"/>
                <p:nvPr/>
              </p:nvSpPr>
              <p:spPr>
                <a:xfrm>
                  <a:off x="6235687" y="3837920"/>
                  <a:ext cx="36006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1400" dirty="0"/>
                    <a:t>O</a:t>
                  </a:r>
                  <a:endParaRPr kumimoji="1" lang="ja-JP" altLang="en-US" sz="1400"/>
                </a:p>
              </p:txBody>
            </p:sp>
            <p:sp>
              <p:nvSpPr>
                <p:cNvPr id="132" name="テキスト ボックス 131">
                  <a:extLst>
                    <a:ext uri="{FF2B5EF4-FFF2-40B4-BE49-F238E27FC236}">
                      <a16:creationId xmlns:a16="http://schemas.microsoft.com/office/drawing/2014/main" id="{EBBA7BAE-46F6-B14F-85B9-83409C9CF766}"/>
                    </a:ext>
                  </a:extLst>
                </p:cNvPr>
                <p:cNvSpPr txBox="1"/>
                <p:nvPr/>
              </p:nvSpPr>
              <p:spPr>
                <a:xfrm>
                  <a:off x="6412176" y="3230082"/>
                  <a:ext cx="33009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1400" dirty="0"/>
                    <a:t>E</a:t>
                  </a:r>
                  <a:endParaRPr kumimoji="1" lang="ja-JP" altLang="en-US" sz="1400"/>
                </a:p>
              </p:txBody>
            </p:sp>
            <p:sp>
              <p:nvSpPr>
                <p:cNvPr id="133" name="テキスト ボックス 132">
                  <a:extLst>
                    <a:ext uri="{FF2B5EF4-FFF2-40B4-BE49-F238E27FC236}">
                      <a16:creationId xmlns:a16="http://schemas.microsoft.com/office/drawing/2014/main" id="{775F13D6-11E7-A54F-A4AF-2E8A9DEB8BFD}"/>
                    </a:ext>
                  </a:extLst>
                </p:cNvPr>
                <p:cNvSpPr txBox="1"/>
                <p:nvPr/>
              </p:nvSpPr>
              <p:spPr>
                <a:xfrm>
                  <a:off x="5604566" y="3841278"/>
                  <a:ext cx="35125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1400" dirty="0"/>
                    <a:t>A</a:t>
                  </a:r>
                  <a:endParaRPr kumimoji="1" lang="ja-JP" altLang="en-US" sz="1400"/>
                </a:p>
              </p:txBody>
            </p:sp>
            <p:sp>
              <p:nvSpPr>
                <p:cNvPr id="134" name="テキスト ボックス 133">
                  <a:extLst>
                    <a:ext uri="{FF2B5EF4-FFF2-40B4-BE49-F238E27FC236}">
                      <a16:creationId xmlns:a16="http://schemas.microsoft.com/office/drawing/2014/main" id="{77C85D17-C2F9-E54E-B7BA-AC0192F2E950}"/>
                    </a:ext>
                  </a:extLst>
                </p:cNvPr>
                <p:cNvSpPr txBox="1"/>
                <p:nvPr/>
              </p:nvSpPr>
              <p:spPr>
                <a:xfrm>
                  <a:off x="5423734" y="3230082"/>
                  <a:ext cx="35301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1400" dirty="0"/>
                    <a:t>C</a:t>
                  </a:r>
                  <a:endParaRPr kumimoji="1" lang="ja-JP" altLang="en-US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テキスト ボックス 127">
                    <a:extLst>
                      <a:ext uri="{FF2B5EF4-FFF2-40B4-BE49-F238E27FC236}">
                        <a16:creationId xmlns:a16="http://schemas.microsoft.com/office/drawing/2014/main" id="{A7BE0E01-EC34-2545-949B-F50321658F16}"/>
                      </a:ext>
                    </a:extLst>
                  </p:cNvPr>
                  <p:cNvSpPr txBox="1"/>
                  <p:nvPr/>
                </p:nvSpPr>
                <p:spPr>
                  <a:xfrm>
                    <a:off x="1379440" y="5563300"/>
                    <a:ext cx="724686" cy="3385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ja-JP" altLang="en-US" sz="1600"/>
                      <a:t>性格</a:t>
                    </a:r>
                    <a14:m>
                      <m:oMath xmlns:m="http://schemas.openxmlformats.org/officeDocument/2006/math"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a14:m>
                    <a:endParaRPr kumimoji="1" lang="ja-JP" altLang="en-US" sz="1600"/>
                  </a:p>
                </p:txBody>
              </p:sp>
            </mc:Choice>
            <mc:Fallback xmlns="">
              <p:sp>
                <p:nvSpPr>
                  <p:cNvPr id="128" name="テキスト ボックス 127">
                    <a:extLst>
                      <a:ext uri="{FF2B5EF4-FFF2-40B4-BE49-F238E27FC236}">
                        <a16:creationId xmlns:a16="http://schemas.microsoft.com/office/drawing/2014/main" id="{A7BE0E01-EC34-2545-949B-F50321658F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79440" y="5563300"/>
                    <a:ext cx="724686" cy="33855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774" t="-4000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0" name="グループ化 109">
              <a:extLst>
                <a:ext uri="{FF2B5EF4-FFF2-40B4-BE49-F238E27FC236}">
                  <a16:creationId xmlns:a16="http://schemas.microsoft.com/office/drawing/2014/main" id="{A0C08F29-C377-1843-8469-459F54B1F68E}"/>
                </a:ext>
              </a:extLst>
            </p:cNvPr>
            <p:cNvGrpSpPr/>
            <p:nvPr/>
          </p:nvGrpSpPr>
          <p:grpSpPr>
            <a:xfrm>
              <a:off x="4997905" y="4606628"/>
              <a:ext cx="1770158" cy="1957781"/>
              <a:chOff x="6947629" y="2328837"/>
              <a:chExt cx="2141892" cy="2368914"/>
            </a:xfrm>
          </p:grpSpPr>
          <p:grpSp>
            <p:nvGrpSpPr>
              <p:cNvPr id="119" name="グループ化 118">
                <a:extLst>
                  <a:ext uri="{FF2B5EF4-FFF2-40B4-BE49-F238E27FC236}">
                    <a16:creationId xmlns:a16="http://schemas.microsoft.com/office/drawing/2014/main" id="{9161BD5C-9FD8-974E-9446-90318B00859D}"/>
                  </a:ext>
                </a:extLst>
              </p:cNvPr>
              <p:cNvGrpSpPr/>
              <p:nvPr/>
            </p:nvGrpSpPr>
            <p:grpSpPr>
              <a:xfrm>
                <a:off x="6947629" y="2328837"/>
                <a:ext cx="2141892" cy="2092323"/>
                <a:chOff x="6716594" y="2373464"/>
                <a:chExt cx="2141892" cy="2092323"/>
              </a:xfrm>
            </p:grpSpPr>
            <p:sp>
              <p:nvSpPr>
                <p:cNvPr id="121" name="五角形 120">
                  <a:extLst>
                    <a:ext uri="{FF2B5EF4-FFF2-40B4-BE49-F238E27FC236}">
                      <a16:creationId xmlns:a16="http://schemas.microsoft.com/office/drawing/2014/main" id="{CC6C341E-DD7F-B94E-9251-E520BF124CCC}"/>
                    </a:ext>
                  </a:extLst>
                </p:cNvPr>
                <p:cNvSpPr/>
                <p:nvPr/>
              </p:nvSpPr>
              <p:spPr>
                <a:xfrm>
                  <a:off x="7067634" y="2690229"/>
                  <a:ext cx="1466853" cy="1466853"/>
                </a:xfrm>
                <a:prstGeom prst="pentagon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22" name="テキスト ボックス 121">
                  <a:extLst>
                    <a:ext uri="{FF2B5EF4-FFF2-40B4-BE49-F238E27FC236}">
                      <a16:creationId xmlns:a16="http://schemas.microsoft.com/office/drawing/2014/main" id="{066AF7D6-9A9A-6E44-A8F6-43731139A375}"/>
                    </a:ext>
                  </a:extLst>
                </p:cNvPr>
                <p:cNvSpPr txBox="1"/>
                <p:nvPr/>
              </p:nvSpPr>
              <p:spPr>
                <a:xfrm>
                  <a:off x="7584353" y="2373464"/>
                  <a:ext cx="392195" cy="3724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1400" dirty="0"/>
                    <a:t>N</a:t>
                  </a:r>
                  <a:endParaRPr kumimoji="1" lang="ja-JP" altLang="en-US" sz="1400"/>
                </a:p>
              </p:txBody>
            </p:sp>
            <p:sp>
              <p:nvSpPr>
                <p:cNvPr id="123" name="テキスト ボックス 122">
                  <a:extLst>
                    <a:ext uri="{FF2B5EF4-FFF2-40B4-BE49-F238E27FC236}">
                      <a16:creationId xmlns:a16="http://schemas.microsoft.com/office/drawing/2014/main" id="{5ABF2EDE-B8F4-3045-8A21-08390DAF0C12}"/>
                    </a:ext>
                  </a:extLst>
                </p:cNvPr>
                <p:cNvSpPr txBox="1"/>
                <p:nvPr/>
              </p:nvSpPr>
              <p:spPr>
                <a:xfrm>
                  <a:off x="8117483" y="4093377"/>
                  <a:ext cx="396074" cy="3724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1400" dirty="0"/>
                    <a:t>O</a:t>
                  </a:r>
                  <a:endParaRPr kumimoji="1" lang="ja-JP" altLang="en-US" sz="1400"/>
                </a:p>
              </p:txBody>
            </p:sp>
            <p:sp>
              <p:nvSpPr>
                <p:cNvPr id="124" name="テキスト ボックス 123">
                  <a:extLst>
                    <a:ext uri="{FF2B5EF4-FFF2-40B4-BE49-F238E27FC236}">
                      <a16:creationId xmlns:a16="http://schemas.microsoft.com/office/drawing/2014/main" id="{09F8CF18-9E0A-144F-80EE-7E2FC4EAC96C}"/>
                    </a:ext>
                  </a:extLst>
                </p:cNvPr>
                <p:cNvSpPr txBox="1"/>
                <p:nvPr/>
              </p:nvSpPr>
              <p:spPr>
                <a:xfrm>
                  <a:off x="8495387" y="3024613"/>
                  <a:ext cx="363099" cy="3724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1400" dirty="0"/>
                    <a:t>E</a:t>
                  </a:r>
                  <a:endParaRPr kumimoji="1" lang="ja-JP" altLang="en-US" sz="1400"/>
                </a:p>
              </p:txBody>
            </p:sp>
            <p:sp>
              <p:nvSpPr>
                <p:cNvPr id="125" name="テキスト ボックス 124">
                  <a:extLst>
                    <a:ext uri="{FF2B5EF4-FFF2-40B4-BE49-F238E27FC236}">
                      <a16:creationId xmlns:a16="http://schemas.microsoft.com/office/drawing/2014/main" id="{4527126A-EFD3-294B-AE24-3D2EEEA3A44E}"/>
                    </a:ext>
                  </a:extLst>
                </p:cNvPr>
                <p:cNvSpPr txBox="1"/>
                <p:nvPr/>
              </p:nvSpPr>
              <p:spPr>
                <a:xfrm>
                  <a:off x="7116544" y="4093377"/>
                  <a:ext cx="386375" cy="3724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1400" dirty="0"/>
                    <a:t>A</a:t>
                  </a:r>
                  <a:endParaRPr kumimoji="1" lang="ja-JP" altLang="en-US" sz="1400"/>
                </a:p>
              </p:txBody>
            </p:sp>
            <p:sp>
              <p:nvSpPr>
                <p:cNvPr id="126" name="テキスト ボックス 125">
                  <a:extLst>
                    <a:ext uri="{FF2B5EF4-FFF2-40B4-BE49-F238E27FC236}">
                      <a16:creationId xmlns:a16="http://schemas.microsoft.com/office/drawing/2014/main" id="{EDE3BCE8-9539-A242-B65B-21731C5C32F8}"/>
                    </a:ext>
                  </a:extLst>
                </p:cNvPr>
                <p:cNvSpPr txBox="1"/>
                <p:nvPr/>
              </p:nvSpPr>
              <p:spPr>
                <a:xfrm>
                  <a:off x="6716594" y="3046596"/>
                  <a:ext cx="388316" cy="3724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1400" dirty="0"/>
                    <a:t>C</a:t>
                  </a:r>
                  <a:endParaRPr kumimoji="1" lang="ja-JP" altLang="en-US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テキスト ボックス 119">
                    <a:extLst>
                      <a:ext uri="{FF2B5EF4-FFF2-40B4-BE49-F238E27FC236}">
                        <a16:creationId xmlns:a16="http://schemas.microsoft.com/office/drawing/2014/main" id="{A79AE03C-6C4E-8043-B325-A8A0C42F2D36}"/>
                      </a:ext>
                    </a:extLst>
                  </p:cNvPr>
                  <p:cNvSpPr txBox="1"/>
                  <p:nvPr/>
                </p:nvSpPr>
                <p:spPr>
                  <a:xfrm>
                    <a:off x="7638168" y="4359197"/>
                    <a:ext cx="726289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ja-JP" altLang="en-US" sz="1600"/>
                      <a:t>性格</a:t>
                    </a:r>
                    <a14:m>
                      <m:oMath xmlns:m="http://schemas.openxmlformats.org/officeDocument/2006/math"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a14:m>
                    <a:endParaRPr kumimoji="1" lang="ja-JP" altLang="en-US" sz="1600"/>
                  </a:p>
                </p:txBody>
              </p:sp>
            </mc:Choice>
            <mc:Fallback xmlns="">
              <p:sp>
                <p:nvSpPr>
                  <p:cNvPr id="120" name="テキスト ボックス 119">
                    <a:extLst>
                      <a:ext uri="{FF2B5EF4-FFF2-40B4-BE49-F238E27FC236}">
                        <a16:creationId xmlns:a16="http://schemas.microsoft.com/office/drawing/2014/main" id="{A79AE03C-6C4E-8043-B325-A8A0C42F2D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38168" y="4359197"/>
                    <a:ext cx="726289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082" t="-4348" r="-16327" b="-43478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1" name="左右矢印 110">
              <a:extLst>
                <a:ext uri="{FF2B5EF4-FFF2-40B4-BE49-F238E27FC236}">
                  <a16:creationId xmlns:a16="http://schemas.microsoft.com/office/drawing/2014/main" id="{B71CB0BA-7B99-9449-8A4E-4CF02E4E9CD8}"/>
                </a:ext>
              </a:extLst>
            </p:cNvPr>
            <p:cNvSpPr/>
            <p:nvPr/>
          </p:nvSpPr>
          <p:spPr>
            <a:xfrm rot="5400000">
              <a:off x="5695772" y="4305064"/>
              <a:ext cx="420298" cy="202246"/>
            </a:xfrm>
            <a:prstGeom prst="left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2" name="テキスト ボックス 111">
              <a:extLst>
                <a:ext uri="{FF2B5EF4-FFF2-40B4-BE49-F238E27FC236}">
                  <a16:creationId xmlns:a16="http://schemas.microsoft.com/office/drawing/2014/main" id="{6E8BD1E8-CA33-0C4F-858D-B4FF73A128D6}"/>
                </a:ext>
              </a:extLst>
            </p:cNvPr>
            <p:cNvSpPr txBox="1"/>
            <p:nvPr/>
          </p:nvSpPr>
          <p:spPr>
            <a:xfrm>
              <a:off x="5927205" y="426238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600"/>
                <a:t>相似</a:t>
              </a:r>
            </a:p>
          </p:txBody>
        </p:sp>
        <p:sp>
          <p:nvSpPr>
            <p:cNvPr id="113" name="左右矢印 112">
              <a:extLst>
                <a:ext uri="{FF2B5EF4-FFF2-40B4-BE49-F238E27FC236}">
                  <a16:creationId xmlns:a16="http://schemas.microsoft.com/office/drawing/2014/main" id="{DD9300D9-B410-444C-9154-9AFD843ACD73}"/>
                </a:ext>
              </a:extLst>
            </p:cNvPr>
            <p:cNvSpPr/>
            <p:nvPr/>
          </p:nvSpPr>
          <p:spPr>
            <a:xfrm rot="5400000">
              <a:off x="7647753" y="4304136"/>
              <a:ext cx="420298" cy="202246"/>
            </a:xfrm>
            <a:prstGeom prst="left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4" name="テキスト ボックス 113">
              <a:extLst>
                <a:ext uri="{FF2B5EF4-FFF2-40B4-BE49-F238E27FC236}">
                  <a16:creationId xmlns:a16="http://schemas.microsoft.com/office/drawing/2014/main" id="{AEA127BF-B8DC-3145-84DB-8F4D9EDA08BF}"/>
                </a:ext>
              </a:extLst>
            </p:cNvPr>
            <p:cNvSpPr txBox="1"/>
            <p:nvPr/>
          </p:nvSpPr>
          <p:spPr>
            <a:xfrm>
              <a:off x="7879186" y="4261454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600"/>
                <a:t>相似</a:t>
              </a:r>
            </a:p>
          </p:txBody>
        </p:sp>
        <p:sp>
          <p:nvSpPr>
            <p:cNvPr id="115" name="左矢印 114">
              <a:extLst>
                <a:ext uri="{FF2B5EF4-FFF2-40B4-BE49-F238E27FC236}">
                  <a16:creationId xmlns:a16="http://schemas.microsoft.com/office/drawing/2014/main" id="{F2494D3B-E225-434D-A330-43A4A00DC62F}"/>
                </a:ext>
              </a:extLst>
            </p:cNvPr>
            <p:cNvSpPr/>
            <p:nvPr/>
          </p:nvSpPr>
          <p:spPr>
            <a:xfrm>
              <a:off x="6675799" y="3289826"/>
              <a:ext cx="420298" cy="202246"/>
            </a:xfrm>
            <a:prstGeom prst="lef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6" name="左矢印 115">
              <a:extLst>
                <a:ext uri="{FF2B5EF4-FFF2-40B4-BE49-F238E27FC236}">
                  <a16:creationId xmlns:a16="http://schemas.microsoft.com/office/drawing/2014/main" id="{A880BB0C-62F0-7043-AC6A-66485D58F942}"/>
                </a:ext>
              </a:extLst>
            </p:cNvPr>
            <p:cNvSpPr/>
            <p:nvPr/>
          </p:nvSpPr>
          <p:spPr>
            <a:xfrm>
              <a:off x="6674795" y="5506775"/>
              <a:ext cx="420298" cy="202246"/>
            </a:xfrm>
            <a:prstGeom prst="lef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7" name="テキスト ボックス 116">
              <a:extLst>
                <a:ext uri="{FF2B5EF4-FFF2-40B4-BE49-F238E27FC236}">
                  <a16:creationId xmlns:a16="http://schemas.microsoft.com/office/drawing/2014/main" id="{D7FDCEB9-C133-BD49-B57B-35D9EA1CFE04}"/>
                </a:ext>
              </a:extLst>
            </p:cNvPr>
            <p:cNvSpPr txBox="1"/>
            <p:nvPr/>
          </p:nvSpPr>
          <p:spPr>
            <a:xfrm>
              <a:off x="6601419" y="3461609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600"/>
                <a:t>分類</a:t>
              </a:r>
            </a:p>
          </p:txBody>
        </p:sp>
        <p:sp>
          <p:nvSpPr>
            <p:cNvPr id="118" name="テキスト ボックス 117">
              <a:extLst>
                <a:ext uri="{FF2B5EF4-FFF2-40B4-BE49-F238E27FC236}">
                  <a16:creationId xmlns:a16="http://schemas.microsoft.com/office/drawing/2014/main" id="{4A8B99EC-89F1-4C4D-83FD-C612D5483696}"/>
                </a:ext>
              </a:extLst>
            </p:cNvPr>
            <p:cNvSpPr txBox="1"/>
            <p:nvPr/>
          </p:nvSpPr>
          <p:spPr>
            <a:xfrm>
              <a:off x="6599381" y="5689490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600"/>
                <a:t>分類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0591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3BB963-1B76-4E44-9F6F-44B6F068A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7F9CA9F-EF66-F648-A38A-F9C42ADC3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EA7C-D461-6041-8E0E-F656A44343A5}" type="datetime1">
              <a:rPr kumimoji="1" lang="ja-JP" altLang="en-US" smtClean="0"/>
              <a:t>2020/7/6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50E35C6-CDAF-164F-A217-3A80030B0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DC7A173-3A23-3240-A54F-0FBA70C82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11</a:t>
            </a:fld>
            <a:endParaRPr kumimoji="1" lang="ja-JP" altLang="en-US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90D18F01-2BBF-C84B-8485-C7E7243E88D8}"/>
              </a:ext>
            </a:extLst>
          </p:cNvPr>
          <p:cNvGrpSpPr/>
          <p:nvPr/>
        </p:nvGrpSpPr>
        <p:grpSpPr>
          <a:xfrm>
            <a:off x="163626" y="1160115"/>
            <a:ext cx="4103574" cy="680876"/>
            <a:chOff x="163626" y="1160115"/>
            <a:chExt cx="4103574" cy="680876"/>
          </a:xfrm>
        </p:grpSpPr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E7C6A173-0964-134D-947E-15DC34060103}"/>
                </a:ext>
              </a:extLst>
            </p:cNvPr>
            <p:cNvCxnSpPr/>
            <p:nvPr userDrawn="1"/>
          </p:nvCxnSpPr>
          <p:spPr>
            <a:xfrm>
              <a:off x="163626" y="1699846"/>
              <a:ext cx="4103574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FB915536-105B-5D47-8AEA-1D668ACAEC65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B9E78AD1-3EAD-ED4C-A870-F775161359ED}"/>
              </a:ext>
            </a:extLst>
          </p:cNvPr>
          <p:cNvSpPr txBox="1">
            <a:spLocks/>
          </p:cNvSpPr>
          <p:nvPr/>
        </p:nvSpPr>
        <p:spPr>
          <a:xfrm>
            <a:off x="404691" y="1192726"/>
            <a:ext cx="8147050" cy="6808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Tx/>
              <a:buNone/>
              <a:tabLst/>
              <a:defRPr kumimoji="1" sz="3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7223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2"/>
              </a:buBlip>
              <a:tabLst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246188" indent="-3317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3"/>
              </a:buBlip>
              <a:tabLst/>
              <a:defRPr kumimoji="1" sz="2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テキスト</a:t>
            </a:r>
          </a:p>
        </p:txBody>
      </p:sp>
    </p:spTree>
    <p:extLst>
      <p:ext uri="{BB962C8B-B14F-4D97-AF65-F5344CB8AC3E}">
        <p14:creationId xmlns:p14="http://schemas.microsoft.com/office/powerpoint/2010/main" val="2314095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1D1D1D"/>
      </a:dk1>
      <a:lt1>
        <a:srgbClr val="E4E4E4"/>
      </a:lt1>
      <a:dk2>
        <a:srgbClr val="44546A"/>
      </a:dk2>
      <a:lt2>
        <a:srgbClr val="E7E6E6"/>
      </a:lt2>
      <a:accent1>
        <a:srgbClr val="3090C4"/>
      </a:accent1>
      <a:accent2>
        <a:srgbClr val="D68126"/>
      </a:accent2>
      <a:accent3>
        <a:srgbClr val="42A544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ヒラギノ角ゴシック Pro W3">
      <a:majorFont>
        <a:latin typeface="Hiragino Kaku Gothic ProN W3"/>
        <a:ea typeface="Hiragino Kaku Gothic ProN W3"/>
        <a:cs typeface=""/>
      </a:majorFont>
      <a:minorFont>
        <a:latin typeface="Hiragino Kaku Gothic ProN W3"/>
        <a:ea typeface="Hiragino Kaku Gothic ProN W3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2" id="{9EB16A4D-D7F9-2340-A8EA-104836EA809B}" vid="{4F111AF7-2BB2-9640-B3FE-4B3A89EAF97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テーマ</Template>
  <TotalTime>1293</TotalTime>
  <Words>488</Words>
  <Application>Microsoft Macintosh PowerPoint</Application>
  <PresentationFormat>画面に合わせる (4:3)</PresentationFormat>
  <Paragraphs>139</Paragraphs>
  <Slides>11</Slides>
  <Notes>0</Notes>
  <HiddenSlides>2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8" baseType="lpstr">
      <vt:lpstr>Hiragino Kaku Gothic Pro W3</vt:lpstr>
      <vt:lpstr>Hiragino Kaku Gothic ProN W3</vt:lpstr>
      <vt:lpstr>Hiragino Sans W4</vt:lpstr>
      <vt:lpstr>游ゴシック</vt:lpstr>
      <vt:lpstr>Arial</vt:lpstr>
      <vt:lpstr>Cambria Math</vt:lpstr>
      <vt:lpstr>Office テーマ</vt:lpstr>
      <vt:lpstr>進捗報告</vt:lpstr>
      <vt:lpstr>進捗</vt:lpstr>
      <vt:lpstr>進捗</vt:lpstr>
      <vt:lpstr>進捗</vt:lpstr>
      <vt:lpstr>進捗</vt:lpstr>
      <vt:lpstr>進捗</vt:lpstr>
      <vt:lpstr>補足</vt:lpstr>
      <vt:lpstr>補足</vt:lpstr>
      <vt:lpstr>補足</vt:lpstr>
      <vt:lpstr>その他研究について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進捗報告</dc:title>
  <dc:creator>昌悟 松下</dc:creator>
  <cp:lastModifiedBy>昌悟 松下</cp:lastModifiedBy>
  <cp:revision>84</cp:revision>
  <dcterms:created xsi:type="dcterms:W3CDTF">2020-04-19T09:33:40Z</dcterms:created>
  <dcterms:modified xsi:type="dcterms:W3CDTF">2020-07-06T06:18:18Z</dcterms:modified>
</cp:coreProperties>
</file>