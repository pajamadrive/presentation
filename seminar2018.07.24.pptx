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14"/>
  </p:notesMasterIdLst>
  <p:sldIdLst>
    <p:sldId id="256" r:id="rId2"/>
    <p:sldId id="269" r:id="rId3"/>
    <p:sldId id="270" r:id="rId4"/>
    <p:sldId id="285" r:id="rId5"/>
    <p:sldId id="287" r:id="rId6"/>
    <p:sldId id="289" r:id="rId7"/>
    <p:sldId id="290" r:id="rId8"/>
    <p:sldId id="291" r:id="rId9"/>
    <p:sldId id="282" r:id="rId10"/>
    <p:sldId id="292" r:id="rId11"/>
    <p:sldId id="293" r:id="rId12"/>
    <p:sldId id="267" r:id="rId13"/>
  </p:sldIdLst>
  <p:sldSz cx="18288000" cy="13716000"/>
  <p:notesSz cx="6858000" cy="9144000"/>
  <p:defaultTextStyle>
    <a:defPPr>
      <a:defRPr lang="ja-JP"/>
    </a:defPPr>
    <a:lvl1pPr marL="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kumimoji="1"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654" userDrawn="1">
          <p15:clr>
            <a:srgbClr val="A4A3A4"/>
          </p15:clr>
        </p15:guide>
        <p15:guide id="2" pos="793" userDrawn="1">
          <p15:clr>
            <a:srgbClr val="A4A3A4"/>
          </p15:clr>
        </p15:guide>
        <p15:guide id="3" orient="horz" pos="7291" userDrawn="1">
          <p15:clr>
            <a:srgbClr val="A4A3A4"/>
          </p15:clr>
        </p15:guide>
        <p15:guide id="4" pos="68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24242"/>
    <a:srgbClr val="F3F3F3"/>
    <a:srgbClr val="EDEDED"/>
    <a:srgbClr val="B1B1B1"/>
    <a:srgbClr val="EAEAEA"/>
    <a:srgbClr val="E0E0E0"/>
    <a:srgbClr val="F6F6F6"/>
    <a:srgbClr val="47BEB0"/>
    <a:srgbClr val="45BD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06"/>
    <p:restoredTop sz="94667"/>
  </p:normalViewPr>
  <p:slideViewPr>
    <p:cSldViewPr snapToGrid="0" snapToObjects="1">
      <p:cViewPr>
        <p:scale>
          <a:sx n="70" d="100"/>
          <a:sy n="70" d="100"/>
        </p:scale>
        <p:origin x="552" y="408"/>
      </p:cViewPr>
      <p:guideLst>
        <p:guide orient="horz" pos="7654"/>
        <p:guide pos="793"/>
        <p:guide orient="horz" pos="7291"/>
        <p:guide pos="68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B360EB-EED5-E74A-9E1B-64442734BBCE}" type="datetimeFigureOut">
              <a:rPr kumimoji="1" lang="ja-JP" altLang="en-US" smtClean="0"/>
              <a:t>2018/7/24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4AD5B-25DE-AE41-9ACA-EFDE3C4BB9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236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kumimoji="1"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DB48260-19DA-2240-B1D7-219E5D21CDB1}"/>
              </a:ext>
            </a:extLst>
          </p:cNvPr>
          <p:cNvSpPr/>
          <p:nvPr userDrawn="1"/>
        </p:nvSpPr>
        <p:spPr>
          <a:xfrm>
            <a:off x="8984" y="3505120"/>
            <a:ext cx="18288000" cy="671094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7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26"/>
            <a:ext cx="15544800" cy="4775200"/>
          </a:xfrm>
        </p:spPr>
        <p:txBody>
          <a:bodyPr anchor="b"/>
          <a:lstStyle>
            <a:lvl1pPr algn="ctr">
              <a:defRPr sz="1200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7204076"/>
            <a:ext cx="13716000" cy="3311524"/>
          </a:xfrm>
        </p:spPr>
        <p:txBody>
          <a:bodyPr/>
          <a:lstStyle>
            <a:lvl1pPr marL="0" indent="0" algn="ctr">
              <a:buNone/>
              <a:defRPr sz="4800">
                <a:solidFill>
                  <a:schemeClr val="bg2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17F8D-0EE5-064E-AFD2-B539F3AD1594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12109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8266" userDrawn="1">
          <p15:clr>
            <a:srgbClr val="FBAE40"/>
          </p15:clr>
        </p15:guide>
        <p15:guide id="2" pos="381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0E14-FA86-3F45-A072-083750BA4C5A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D62626F9-B0B3-4E40-A3A6-2578E6811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99962" y="69062"/>
            <a:ext cx="13323887" cy="796352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10" name="円弧 9">
            <a:extLst>
              <a:ext uri="{FF2B5EF4-FFF2-40B4-BE49-F238E27FC236}">
                <a16:creationId xmlns:a16="http://schemas.microsoft.com/office/drawing/2014/main" id="{16AFAE70-4E49-9E48-A796-1F133996FBCA}"/>
              </a:ext>
            </a:extLst>
          </p:cNvPr>
          <p:cNvSpPr/>
          <p:nvPr userDrawn="1"/>
        </p:nvSpPr>
        <p:spPr>
          <a:xfrm rot="5400000">
            <a:off x="-1319547" y="-1502762"/>
            <a:ext cx="2628000" cy="2988000"/>
          </a:xfrm>
          <a:prstGeom prst="arc">
            <a:avLst/>
          </a:prstGeom>
          <a:solidFill>
            <a:schemeClr val="accent1">
              <a:lumMod val="75000"/>
            </a:schemeClr>
          </a:solidFill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4000"/>
          </a:p>
        </p:txBody>
      </p:sp>
      <p:sp>
        <p:nvSpPr>
          <p:cNvPr id="12" name="テキスト プレースホルダー 8">
            <a:extLst>
              <a:ext uri="{FF2B5EF4-FFF2-40B4-BE49-F238E27FC236}">
                <a16:creationId xmlns:a16="http://schemas.microsoft.com/office/drawing/2014/main" id="{BBD7C122-4D56-D542-98E1-1B42D6D0A8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52615" y="-159024"/>
            <a:ext cx="6450012" cy="1420388"/>
          </a:xfrm>
        </p:spPr>
        <p:txBody>
          <a:bodyPr>
            <a:noAutofit/>
          </a:bodyPr>
          <a:lstStyle>
            <a:lvl1pPr marL="0" indent="0">
              <a:buNone/>
              <a:defRPr sz="105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en-US" altLang="ja-JP" dirty="0"/>
              <a:t>No.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3F0DC34E-6387-ED4D-854A-179BF60A024D}"/>
              </a:ext>
            </a:extLst>
          </p:cNvPr>
          <p:cNvSpPr/>
          <p:nvPr userDrawn="1"/>
        </p:nvSpPr>
        <p:spPr>
          <a:xfrm>
            <a:off x="753228" y="866722"/>
            <a:ext cx="126000" cy="126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144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番号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1281A-8BB0-D545-ADE7-432897536F54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D62626F9-B0B3-4E40-A3A6-2578E6811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6578" y="69062"/>
            <a:ext cx="13323887" cy="796352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261953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ピー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0FF7E-A373-1643-8E5E-B14B1E072180}" type="datetime1">
              <a:rPr kumimoji="1" lang="ja-JP" altLang="en-US" smtClean="0"/>
              <a:t>2018/7/24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(2018.07.24)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7C64DA23-46D9-984B-B610-6E67459B873E}"/>
              </a:ext>
            </a:extLst>
          </p:cNvPr>
          <p:cNvGrpSpPr/>
          <p:nvPr userDrawn="1"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D665C4E3-299D-DF48-8BFD-9D032E326C5F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036DCA53-79EE-E047-9C3D-D1D6BE4D29A3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2B75F477-C889-2943-A2CA-1622C8EA202B}"/>
              </a:ext>
            </a:extLst>
          </p:cNvPr>
          <p:cNvGrpSpPr/>
          <p:nvPr userDrawn="1"/>
        </p:nvGrpSpPr>
        <p:grpSpPr>
          <a:xfrm>
            <a:off x="617232" y="2555510"/>
            <a:ext cx="539448" cy="487368"/>
            <a:chOff x="400056" y="1061560"/>
            <a:chExt cx="269724" cy="243684"/>
          </a:xfrm>
        </p:grpSpPr>
        <p:sp>
          <p:nvSpPr>
            <p:cNvPr id="46" name="三角形 45">
              <a:extLst>
                <a:ext uri="{FF2B5EF4-FFF2-40B4-BE49-F238E27FC236}">
                  <a16:creationId xmlns:a16="http://schemas.microsoft.com/office/drawing/2014/main" id="{2A685D1C-1FAF-1B40-9357-32E276CD76E9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47" name="三角形 46">
              <a:extLst>
                <a:ext uri="{FF2B5EF4-FFF2-40B4-BE49-F238E27FC236}">
                  <a16:creationId xmlns:a16="http://schemas.microsoft.com/office/drawing/2014/main" id="{4B27A33D-C837-B14A-83D0-153BF1C23FD2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48" name="三角形 47">
            <a:extLst>
              <a:ext uri="{FF2B5EF4-FFF2-40B4-BE49-F238E27FC236}">
                <a16:creationId xmlns:a16="http://schemas.microsoft.com/office/drawing/2014/main" id="{BEA7B9D1-FCCE-824A-BFC7-6A498C977FD4}"/>
              </a:ext>
            </a:extLst>
          </p:cNvPr>
          <p:cNvSpPr/>
          <p:nvPr userDrawn="1"/>
        </p:nvSpPr>
        <p:spPr>
          <a:xfrm rot="5400000">
            <a:off x="1076238" y="3359928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49" name="テキスト プレースホルダー 27">
            <a:extLst>
              <a:ext uri="{FF2B5EF4-FFF2-40B4-BE49-F238E27FC236}">
                <a16:creationId xmlns:a16="http://schemas.microsoft.com/office/drawing/2014/main" id="{1BC1998B-2FF5-524F-8768-2B4D222F8E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2976" y="2484733"/>
            <a:ext cx="16632960" cy="997834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424242"/>
                </a:solidFill>
              </a:defRPr>
            </a:lvl1pPr>
          </a:lstStyle>
          <a:p>
            <a:pPr lvl="0"/>
            <a:r>
              <a:rPr kumimoji="1" lang="ja-JP" altLang="en-US"/>
              <a:t>レベル</a:t>
            </a:r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50" name="テキスト プレースホルダー 29">
            <a:extLst>
              <a:ext uri="{FF2B5EF4-FFF2-40B4-BE49-F238E27FC236}">
                <a16:creationId xmlns:a16="http://schemas.microsoft.com/office/drawing/2014/main" id="{8BEB543B-9F21-374C-8C29-418CED1A87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57090" y="3246502"/>
            <a:ext cx="16135964" cy="853994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424242"/>
                </a:solidFill>
              </a:defRPr>
            </a:lvl1pPr>
          </a:lstStyle>
          <a:p>
            <a:pPr lvl="0"/>
            <a:r>
              <a:rPr kumimoji="1" lang="ja-JP" altLang="en-US"/>
              <a:t>レベル</a:t>
            </a:r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51" name="テキスト プレースホルダー 30">
            <a:extLst>
              <a:ext uri="{FF2B5EF4-FFF2-40B4-BE49-F238E27FC236}">
                <a16:creationId xmlns:a16="http://schemas.microsoft.com/office/drawing/2014/main" id="{02304497-0A2B-5C45-97ED-E58D120C14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049" y="1583871"/>
            <a:ext cx="17302163" cy="1403350"/>
          </a:xfrm>
        </p:spPr>
        <p:txBody>
          <a:bodyPr>
            <a:normAutofit/>
          </a:bodyPr>
          <a:lstStyle>
            <a:lvl1pPr marL="0" indent="0">
              <a:buNone/>
              <a:defRPr sz="6000"/>
            </a:lvl1pPr>
          </a:lstStyle>
          <a:p>
            <a:pPr lvl="0"/>
            <a:r>
              <a:rPr kumimoji="1" lang="ja-JP" altLang="en-US"/>
              <a:t>レベル</a:t>
            </a:r>
            <a:r>
              <a:rPr kumimoji="1" lang="en-US" altLang="ja-JP" dirty="0"/>
              <a:t>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165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651250"/>
            <a:ext cx="7772400" cy="87026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651250"/>
            <a:ext cx="7772400" cy="87026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D8FD4-5AFF-194A-8E09-63CB8F300967}" type="datetime1">
              <a:rPr kumimoji="1" lang="ja-JP" altLang="en-US" smtClean="0"/>
              <a:t>2018/7/24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(2018.07.24)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858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30253"/>
            <a:ext cx="15773400" cy="265112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3362326"/>
            <a:ext cx="7736680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5010150"/>
            <a:ext cx="7736680" cy="73691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3362326"/>
            <a:ext cx="7774782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5010150"/>
            <a:ext cx="7774782" cy="73691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E745C-8896-B44E-A899-82F3B6A64019}" type="datetime1">
              <a:rPr kumimoji="1" lang="ja-JP" altLang="en-US" smtClean="0"/>
              <a:t>2018/7/24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(2018.07.24)</a:t>
            </a:r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045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4E18-61F5-3A4F-B400-B3947888E700}" type="datetime1">
              <a:rPr kumimoji="1" lang="ja-JP" altLang="en-US" smtClean="0"/>
              <a:t>2018/7/24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(2018.07.24)</a:t>
            </a:r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938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935CC-6A71-8B4A-8A31-30AD5582D30A}" type="datetime1">
              <a:rPr kumimoji="1" lang="ja-JP" altLang="en-US" smtClean="0"/>
              <a:t>2018/7/24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(2018.07.24)</a:t>
            </a:r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164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コンテンツ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974853"/>
            <a:ext cx="92583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A3E9-9135-DE45-BCFC-F72D88203FF6}" type="datetime1">
              <a:rPr kumimoji="1" lang="ja-JP" altLang="en-US" smtClean="0"/>
              <a:t>2018/7/24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(2018.07.24)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97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図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974853"/>
            <a:ext cx="92583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4BE85-566D-AF48-A745-EE5BD0E545F8}" type="datetime1">
              <a:rPr kumimoji="1" lang="ja-JP" altLang="en-US" smtClean="0"/>
              <a:t>2018/7/24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(2018.07.24)</a:t>
            </a:r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558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D4EC-5C53-0245-B7E2-853F3FE6C765}" type="datetime1">
              <a:rPr kumimoji="1" lang="ja-JP" altLang="en-US" smtClean="0"/>
              <a:t>2018/7/24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(2018.07.24)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211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730250"/>
            <a:ext cx="3943350" cy="1162367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730250"/>
            <a:ext cx="11601450" cy="1162367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2E118-266C-E54D-B9FA-A9B97B444FAF}" type="datetime1">
              <a:rPr kumimoji="1" lang="ja-JP" altLang="en-US" smtClean="0"/>
              <a:t>2018/7/24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(2018.07.24)</a:t>
            </a:r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425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3D2571E-41D4-D848-BB3B-72FBCA05A8F2}"/>
              </a:ext>
            </a:extLst>
          </p:cNvPr>
          <p:cNvSpPr/>
          <p:nvPr userDrawn="1"/>
        </p:nvSpPr>
        <p:spPr>
          <a:xfrm>
            <a:off x="0" y="13349930"/>
            <a:ext cx="18288000" cy="3496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700">
              <a:solidFill>
                <a:schemeClr val="bg2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1B798F2-936C-9A42-9A8A-109E75FBD456}"/>
              </a:ext>
            </a:extLst>
          </p:cNvPr>
          <p:cNvSpPr/>
          <p:nvPr userDrawn="1"/>
        </p:nvSpPr>
        <p:spPr>
          <a:xfrm>
            <a:off x="0" y="-1802"/>
            <a:ext cx="18288000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700">
              <a:solidFill>
                <a:schemeClr val="bg2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730253"/>
            <a:ext cx="157734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651250"/>
            <a:ext cx="157734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32658" y="1315493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bg2"/>
                </a:solidFill>
              </a:defRPr>
            </a:lvl1pPr>
          </a:lstStyle>
          <a:p>
            <a:fld id="{7BCFEF49-1293-8D40-8E2A-4A78BC51AAAA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3186238"/>
            <a:ext cx="6172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5862" y="13153581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2"/>
                </a:solidFill>
              </a:defRPr>
            </a:lvl1pPr>
          </a:lstStyle>
          <a:p>
            <a:fld id="{89242BC1-393D-1248-985B-18DA624F296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6555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88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289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C8BF32-0C66-1E44-925C-F1A9DBEC01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514C09A7-F9A3-4246-953E-DEDDA0B9D7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17268508 </a:t>
            </a:r>
            <a:r>
              <a:rPr lang="ja-JP" altLang="en-US">
                <a:latin typeface="Helvetica" pitchFamily="2" charset="0"/>
              </a:rPr>
              <a:t>松下昌悟</a:t>
            </a:r>
            <a:endParaRPr kumimoji="1" lang="ja-JP" altLang="en-US">
              <a:latin typeface="Helvetica" pitchFamily="2" charset="0"/>
            </a:endParaRP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F711B5A-02FA-904E-8709-C7DBEEC3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621DF-DC82-2F4B-A011-3C02559A57A0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702093A-5EED-FE40-9D94-B21C99E12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02F569F-A4A1-AC4F-AF16-B68230E7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88156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11408-517C-E848-8484-21B97505EF23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目次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0</a:t>
            </a:r>
            <a:endParaRPr kumimoji="1" lang="ja-JP" altLang="en-US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94B58C2-DA14-F248-82EE-9B33E99B5546}"/>
              </a:ext>
            </a:extLst>
          </p:cNvPr>
          <p:cNvGrpSpPr/>
          <p:nvPr/>
        </p:nvGrpSpPr>
        <p:grpSpPr>
          <a:xfrm>
            <a:off x="289330" y="2071666"/>
            <a:ext cx="2160000" cy="934436"/>
            <a:chOff x="144665" y="525617"/>
            <a:chExt cx="1080000" cy="467218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586757B4-F2EC-664D-8382-2805B40D4D59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9B50D062-58C6-C441-B13D-5AE19B61AA24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sp>
        <p:nvSpPr>
          <p:cNvPr id="22" name="テキスト プレースホルダー 30">
            <a:extLst>
              <a:ext uri="{FF2B5EF4-FFF2-40B4-BE49-F238E27FC236}">
                <a16:creationId xmlns:a16="http://schemas.microsoft.com/office/drawing/2014/main" id="{E9B4DB3D-A0A7-D84C-B1C9-2E80EAE37DD9}"/>
              </a:ext>
            </a:extLst>
          </p:cNvPr>
          <p:cNvSpPr txBox="1">
            <a:spLocks/>
          </p:cNvSpPr>
          <p:nvPr/>
        </p:nvSpPr>
        <p:spPr>
          <a:xfrm>
            <a:off x="571049" y="2242239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研究テーマについて</a:t>
            </a:r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57A61529-73B9-D14C-AB26-E5FDEE0703E5}"/>
              </a:ext>
            </a:extLst>
          </p:cNvPr>
          <p:cNvGrpSpPr/>
          <p:nvPr/>
        </p:nvGrpSpPr>
        <p:grpSpPr>
          <a:xfrm>
            <a:off x="289330" y="4053010"/>
            <a:ext cx="2160000" cy="934436"/>
            <a:chOff x="144665" y="525617"/>
            <a:chExt cx="1080000" cy="467218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EA072702-BFA0-2842-B8E5-A96233B140B1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DD24905B-A2BB-9E48-815B-8EAFCD0AE235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sp>
        <p:nvSpPr>
          <p:cNvPr id="45" name="テキスト プレースホルダー 30">
            <a:extLst>
              <a:ext uri="{FF2B5EF4-FFF2-40B4-BE49-F238E27FC236}">
                <a16:creationId xmlns:a16="http://schemas.microsoft.com/office/drawing/2014/main" id="{C7E0FC8A-B2F4-8A4F-B7A3-1322491E443C}"/>
              </a:ext>
            </a:extLst>
          </p:cNvPr>
          <p:cNvSpPr txBox="1">
            <a:spLocks/>
          </p:cNvSpPr>
          <p:nvPr/>
        </p:nvSpPr>
        <p:spPr>
          <a:xfrm>
            <a:off x="571049" y="4223583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進捗</a:t>
            </a:r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48D8AC5E-C69C-3449-B1F4-A933DEA675AF}"/>
              </a:ext>
            </a:extLst>
          </p:cNvPr>
          <p:cNvGrpSpPr/>
          <p:nvPr/>
        </p:nvGrpSpPr>
        <p:grpSpPr>
          <a:xfrm>
            <a:off x="289330" y="6038701"/>
            <a:ext cx="2160000" cy="934436"/>
            <a:chOff x="144665" y="525617"/>
            <a:chExt cx="1080000" cy="467218"/>
          </a:xfrm>
        </p:grpSpPr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53C12E8E-0324-3A47-9FA2-2A99CE777DBB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2DA500AF-6FAE-114B-A275-7E320F2C36D7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sp>
        <p:nvSpPr>
          <p:cNvPr id="49" name="テキスト プレースホルダー 30">
            <a:extLst>
              <a:ext uri="{FF2B5EF4-FFF2-40B4-BE49-F238E27FC236}">
                <a16:creationId xmlns:a16="http://schemas.microsoft.com/office/drawing/2014/main" id="{C1421146-B358-7A4A-8CD5-11AF71BFB2C6}"/>
              </a:ext>
            </a:extLst>
          </p:cNvPr>
          <p:cNvSpPr txBox="1">
            <a:spLocks/>
          </p:cNvSpPr>
          <p:nvPr/>
        </p:nvSpPr>
        <p:spPr>
          <a:xfrm>
            <a:off x="571049" y="6209274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文献紹介</a:t>
            </a:r>
          </a:p>
        </p:txBody>
      </p: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31E265E2-C3A1-584A-8C4E-0FDBD1ACE9D7}"/>
              </a:ext>
            </a:extLst>
          </p:cNvPr>
          <p:cNvGrpSpPr/>
          <p:nvPr/>
        </p:nvGrpSpPr>
        <p:grpSpPr>
          <a:xfrm>
            <a:off x="289330" y="8021542"/>
            <a:ext cx="2160000" cy="934436"/>
            <a:chOff x="144665" y="525617"/>
            <a:chExt cx="1080000" cy="467218"/>
          </a:xfrm>
        </p:grpSpPr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142E0041-BB72-8040-8AF0-BE7A47874EBC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93C95566-D253-864E-A50F-C77A7C9879C0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sp>
        <p:nvSpPr>
          <p:cNvPr id="54" name="テキスト プレースホルダー 30">
            <a:extLst>
              <a:ext uri="{FF2B5EF4-FFF2-40B4-BE49-F238E27FC236}">
                <a16:creationId xmlns:a16="http://schemas.microsoft.com/office/drawing/2014/main" id="{43A22EAD-C250-0C4B-8F57-3371302B4150}"/>
              </a:ext>
            </a:extLst>
          </p:cNvPr>
          <p:cNvSpPr txBox="1">
            <a:spLocks/>
          </p:cNvSpPr>
          <p:nvPr/>
        </p:nvSpPr>
        <p:spPr>
          <a:xfrm>
            <a:off x="571049" y="8192115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今後やること</a:t>
            </a:r>
          </a:p>
        </p:txBody>
      </p:sp>
    </p:spTree>
    <p:extLst>
      <p:ext uri="{BB962C8B-B14F-4D97-AF65-F5344CB8AC3E}">
        <p14:creationId xmlns:p14="http://schemas.microsoft.com/office/powerpoint/2010/main" val="330069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68884-E6BD-DB4F-B7E7-470CEF928101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研究テーマについて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AB8183-E74D-5241-879E-C26832EB4A88}"/>
              </a:ext>
            </a:extLst>
          </p:cNvPr>
          <p:cNvGrpSpPr/>
          <p:nvPr/>
        </p:nvGrpSpPr>
        <p:grpSpPr>
          <a:xfrm>
            <a:off x="617232" y="2360138"/>
            <a:ext cx="539448" cy="487368"/>
            <a:chOff x="400056" y="1061560"/>
            <a:chExt cx="269724" cy="243684"/>
          </a:xfrm>
        </p:grpSpPr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3C3F7F12-B52A-4540-833C-96153E15795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F2EBE7B5-C6CB-004D-91B4-60EF0E55340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6E420CC9-ED09-5547-937F-EC6A4FF40FC5}"/>
              </a:ext>
            </a:extLst>
          </p:cNvPr>
          <p:cNvSpPr txBox="1">
            <a:spLocks/>
          </p:cNvSpPr>
          <p:nvPr/>
        </p:nvSpPr>
        <p:spPr>
          <a:xfrm>
            <a:off x="1142976" y="228751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人間とエージェントの交渉</a:t>
            </a:r>
          </a:p>
        </p:txBody>
      </p:sp>
      <p:sp>
        <p:nvSpPr>
          <p:cNvPr id="31" name="三角形 30">
            <a:extLst>
              <a:ext uri="{FF2B5EF4-FFF2-40B4-BE49-F238E27FC236}">
                <a16:creationId xmlns:a16="http://schemas.microsoft.com/office/drawing/2014/main" id="{F048559B-9AFC-244E-8676-4C11F34484D6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88BB5DC5-780D-BA45-BA8C-BEE6B9EE27AF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特に人間の心理的要素を考慮した交渉について研究したい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3676974-6B0C-0944-8B97-7A814C77A587}"/>
              </a:ext>
            </a:extLst>
          </p:cNvPr>
          <p:cNvSpPr txBox="1"/>
          <p:nvPr/>
        </p:nvSpPr>
        <p:spPr>
          <a:xfrm>
            <a:off x="3669590" y="4468626"/>
            <a:ext cx="109488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/>
              <a:t>人間のタイプを分類し戦略を変更する</a:t>
            </a:r>
            <a:endParaRPr lang="en-US" altLang="ja-JP" sz="4800" dirty="0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43DA49F-6756-5C45-9C71-FDA771319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337" y="7512741"/>
            <a:ext cx="5543119" cy="5360880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F199C5D-A2EC-7841-8DE6-BE900DCD69AE}"/>
              </a:ext>
            </a:extLst>
          </p:cNvPr>
          <p:cNvSpPr txBox="1"/>
          <p:nvPr/>
        </p:nvSpPr>
        <p:spPr>
          <a:xfrm>
            <a:off x="931688" y="9555004"/>
            <a:ext cx="10252425" cy="2621994"/>
          </a:xfrm>
          <a:prstGeom prst="round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ja-JP" sz="4000" dirty="0">
                <a:solidFill>
                  <a:schemeClr val="bg1"/>
                </a:solidFill>
              </a:rPr>
              <a:t>TKI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人間関係における衝突を解消するために</a:t>
            </a:r>
            <a:endParaRPr lang="en-US" altLang="ja-JP" dirty="0">
              <a:solidFill>
                <a:schemeClr val="bg1"/>
              </a:solidFill>
            </a:endParaRPr>
          </a:p>
          <a:p>
            <a:pPr marL="361950"/>
            <a:r>
              <a:rPr lang="ja-JP" altLang="en-US">
                <a:solidFill>
                  <a:schemeClr val="bg1"/>
                </a:solidFill>
              </a:rPr>
              <a:t>使用されている検査</a:t>
            </a:r>
            <a:endParaRPr lang="en-US" altLang="ja-JP" dirty="0">
              <a:solidFill>
                <a:schemeClr val="bg1"/>
              </a:solidFill>
            </a:endParaRPr>
          </a:p>
          <a:p>
            <a:pPr marL="401638" indent="-401638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積極性と協調性の度合いで</a:t>
            </a:r>
            <a:r>
              <a:rPr lang="en-US" altLang="ja-JP" dirty="0">
                <a:solidFill>
                  <a:schemeClr val="bg1"/>
                </a:solidFill>
              </a:rPr>
              <a:t>5</a:t>
            </a:r>
            <a:r>
              <a:rPr lang="ja-JP" altLang="en-US">
                <a:solidFill>
                  <a:schemeClr val="bg1"/>
                </a:solidFill>
              </a:rPr>
              <a:t>つのタイプに分類</a:t>
            </a:r>
            <a:endParaRPr lang="en-US" altLang="ja-JP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22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68884-E6BD-DB4F-B7E7-470CEF928101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研究テーマについて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AB8183-E74D-5241-879E-C26832EB4A88}"/>
              </a:ext>
            </a:extLst>
          </p:cNvPr>
          <p:cNvGrpSpPr/>
          <p:nvPr/>
        </p:nvGrpSpPr>
        <p:grpSpPr>
          <a:xfrm>
            <a:off x="617232" y="2360138"/>
            <a:ext cx="539448" cy="487368"/>
            <a:chOff x="400056" y="1061560"/>
            <a:chExt cx="269724" cy="243684"/>
          </a:xfrm>
        </p:grpSpPr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3C3F7F12-B52A-4540-833C-96153E15795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F2EBE7B5-C6CB-004D-91B4-60EF0E55340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6E420CC9-ED09-5547-937F-EC6A4FF40FC5}"/>
              </a:ext>
            </a:extLst>
          </p:cNvPr>
          <p:cNvSpPr txBox="1">
            <a:spLocks/>
          </p:cNvSpPr>
          <p:nvPr/>
        </p:nvSpPr>
        <p:spPr>
          <a:xfrm>
            <a:off x="1142976" y="228751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人間とエージェントの交渉</a:t>
            </a:r>
          </a:p>
        </p:txBody>
      </p:sp>
      <p:sp>
        <p:nvSpPr>
          <p:cNvPr id="31" name="三角形 30">
            <a:extLst>
              <a:ext uri="{FF2B5EF4-FFF2-40B4-BE49-F238E27FC236}">
                <a16:creationId xmlns:a16="http://schemas.microsoft.com/office/drawing/2014/main" id="{F048559B-9AFC-244E-8676-4C11F34484D6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88BB5DC5-780D-BA45-BA8C-BEE6B9EE27AF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特に人間の心理的要素を考慮した交渉について研究したい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3676974-6B0C-0944-8B97-7A814C77A587}"/>
              </a:ext>
            </a:extLst>
          </p:cNvPr>
          <p:cNvSpPr txBox="1"/>
          <p:nvPr/>
        </p:nvSpPr>
        <p:spPr>
          <a:xfrm>
            <a:off x="3669590" y="4468626"/>
            <a:ext cx="109488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/>
              <a:t>人間のタイプを分類し戦略を変更する</a:t>
            </a:r>
            <a:endParaRPr lang="en-US" altLang="ja-JP" sz="4800" dirty="0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43DA49F-6756-5C45-9C71-FDA771319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337" y="7512741"/>
            <a:ext cx="5543119" cy="5360880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F199C5D-A2EC-7841-8DE6-BE900DCD69AE}"/>
              </a:ext>
            </a:extLst>
          </p:cNvPr>
          <p:cNvSpPr txBox="1"/>
          <p:nvPr/>
        </p:nvSpPr>
        <p:spPr>
          <a:xfrm>
            <a:off x="931688" y="9555004"/>
            <a:ext cx="10252425" cy="2621994"/>
          </a:xfrm>
          <a:prstGeom prst="round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ja-JP" sz="4000" dirty="0">
                <a:solidFill>
                  <a:schemeClr val="bg1"/>
                </a:solidFill>
              </a:rPr>
              <a:t>TKI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人間関係における衝突を解消するために</a:t>
            </a:r>
            <a:endParaRPr lang="en-US" altLang="ja-JP" dirty="0">
              <a:solidFill>
                <a:schemeClr val="bg1"/>
              </a:solidFill>
            </a:endParaRPr>
          </a:p>
          <a:p>
            <a:pPr marL="361950"/>
            <a:r>
              <a:rPr lang="ja-JP" altLang="en-US">
                <a:solidFill>
                  <a:schemeClr val="bg1"/>
                </a:solidFill>
              </a:rPr>
              <a:t>使用されている検査</a:t>
            </a:r>
            <a:endParaRPr lang="en-US" altLang="ja-JP" dirty="0">
              <a:solidFill>
                <a:schemeClr val="bg1"/>
              </a:solidFill>
            </a:endParaRPr>
          </a:p>
          <a:p>
            <a:pPr marL="401638" indent="-401638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積極性と協調性の度合いで</a:t>
            </a:r>
            <a:r>
              <a:rPr lang="en-US" altLang="ja-JP" dirty="0">
                <a:solidFill>
                  <a:schemeClr val="bg1"/>
                </a:solidFill>
              </a:rPr>
              <a:t>5</a:t>
            </a:r>
            <a:r>
              <a:rPr lang="ja-JP" altLang="en-US">
                <a:solidFill>
                  <a:schemeClr val="bg1"/>
                </a:solidFill>
              </a:rPr>
              <a:t>つのタイプに分類</a:t>
            </a:r>
            <a:endParaRPr lang="en-US" altLang="ja-JP" dirty="0">
              <a:solidFill>
                <a:schemeClr val="bg1"/>
              </a:solidFill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4DD1E1B6-7DDD-4241-B90B-FE20FDB586AB}"/>
              </a:ext>
            </a:extLst>
          </p:cNvPr>
          <p:cNvGrpSpPr/>
          <p:nvPr/>
        </p:nvGrpSpPr>
        <p:grpSpPr>
          <a:xfrm>
            <a:off x="4856117" y="5282872"/>
            <a:ext cx="8575767" cy="2062549"/>
            <a:chOff x="4856117" y="7527628"/>
            <a:chExt cx="8575767" cy="2062549"/>
          </a:xfrm>
        </p:grpSpPr>
        <p:sp>
          <p:nvSpPr>
            <p:cNvPr id="37" name="角丸四角形 36">
              <a:extLst>
                <a:ext uri="{FF2B5EF4-FFF2-40B4-BE49-F238E27FC236}">
                  <a16:creationId xmlns:a16="http://schemas.microsoft.com/office/drawing/2014/main" id="{828A700C-5068-C943-8A40-D306817D3C3F}"/>
                </a:ext>
              </a:extLst>
            </p:cNvPr>
            <p:cNvSpPr/>
            <p:nvPr/>
          </p:nvSpPr>
          <p:spPr>
            <a:xfrm>
              <a:off x="4856117" y="7991023"/>
              <a:ext cx="8575767" cy="159915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 lvl="0" indent="-3619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rgbClr val="FFFFFF"/>
                  </a:solidFill>
                </a:rPr>
                <a:t>交渉中に十分な情報が得られるのか？</a:t>
              </a:r>
              <a:endParaRPr lang="en-US" altLang="ja-JP" dirty="0">
                <a:solidFill>
                  <a:srgbClr val="FFFFFF"/>
                </a:solidFill>
              </a:endParaRPr>
            </a:p>
            <a:p>
              <a:pPr marL="361950" lvl="0" indent="-361950">
                <a:buFont typeface="Arial" panose="020B0604020202020204" pitchFamily="34" charset="0"/>
                <a:buChar char="•"/>
              </a:pPr>
              <a:r>
                <a:rPr lang="ja-JP" altLang="en-US">
                  <a:solidFill>
                    <a:srgbClr val="FFFFFF"/>
                  </a:solidFill>
                </a:rPr>
                <a:t>タイプ判断を誤る可能性が高そう</a:t>
              </a:r>
              <a:endParaRPr lang="en-US" altLang="ja-JP" dirty="0">
                <a:solidFill>
                  <a:srgbClr val="FFFFFF"/>
                </a:solidFill>
              </a:endParaRPr>
            </a:p>
          </p:txBody>
        </p:sp>
        <p:sp>
          <p:nvSpPr>
            <p:cNvPr id="38" name="三角形 37">
              <a:extLst>
                <a:ext uri="{FF2B5EF4-FFF2-40B4-BE49-F238E27FC236}">
                  <a16:creationId xmlns:a16="http://schemas.microsoft.com/office/drawing/2014/main" id="{A973C84B-7908-7941-A09B-842C7BB4D8E5}"/>
                </a:ext>
              </a:extLst>
            </p:cNvPr>
            <p:cNvSpPr/>
            <p:nvPr/>
          </p:nvSpPr>
          <p:spPr>
            <a:xfrm>
              <a:off x="8830000" y="7527628"/>
              <a:ext cx="628000" cy="49461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0435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68884-E6BD-DB4F-B7E7-470CEF928101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研究テーマについて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AB8183-E74D-5241-879E-C26832EB4A88}"/>
              </a:ext>
            </a:extLst>
          </p:cNvPr>
          <p:cNvGrpSpPr/>
          <p:nvPr/>
        </p:nvGrpSpPr>
        <p:grpSpPr>
          <a:xfrm>
            <a:off x="617232" y="2360138"/>
            <a:ext cx="539448" cy="487368"/>
            <a:chOff x="400056" y="1061560"/>
            <a:chExt cx="269724" cy="243684"/>
          </a:xfrm>
        </p:grpSpPr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3C3F7F12-B52A-4540-833C-96153E15795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F2EBE7B5-C6CB-004D-91B4-60EF0E55340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6E420CC9-ED09-5547-937F-EC6A4FF40FC5}"/>
              </a:ext>
            </a:extLst>
          </p:cNvPr>
          <p:cNvSpPr txBox="1">
            <a:spLocks/>
          </p:cNvSpPr>
          <p:nvPr/>
        </p:nvSpPr>
        <p:spPr>
          <a:xfrm>
            <a:off x="1142976" y="228751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人間とエージェントの交渉</a:t>
            </a:r>
          </a:p>
        </p:txBody>
      </p:sp>
      <p:sp>
        <p:nvSpPr>
          <p:cNvPr id="31" name="三角形 30">
            <a:extLst>
              <a:ext uri="{FF2B5EF4-FFF2-40B4-BE49-F238E27FC236}">
                <a16:creationId xmlns:a16="http://schemas.microsoft.com/office/drawing/2014/main" id="{F048559B-9AFC-244E-8676-4C11F34484D6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88BB5DC5-780D-BA45-BA8C-BEE6B9EE27AF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特に人間の心理的要素を考慮した交渉について研究したい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3676974-6B0C-0944-8B97-7A814C77A587}"/>
              </a:ext>
            </a:extLst>
          </p:cNvPr>
          <p:cNvSpPr txBox="1"/>
          <p:nvPr/>
        </p:nvSpPr>
        <p:spPr>
          <a:xfrm>
            <a:off x="3669590" y="4468626"/>
            <a:ext cx="109488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/>
              <a:t>人間のタイプを分類し戦略を変更する</a:t>
            </a:r>
            <a:endParaRPr lang="en-US" altLang="ja-JP" sz="4800" dirty="0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43DA49F-6756-5C45-9C71-FDA771319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337" y="7512741"/>
            <a:ext cx="5543119" cy="5360880"/>
          </a:xfrm>
          <a:prstGeom prst="rect">
            <a:avLst/>
          </a:prstGeom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F199C5D-A2EC-7841-8DE6-BE900DCD69AE}"/>
              </a:ext>
            </a:extLst>
          </p:cNvPr>
          <p:cNvSpPr txBox="1"/>
          <p:nvPr/>
        </p:nvSpPr>
        <p:spPr>
          <a:xfrm>
            <a:off x="931688" y="9555004"/>
            <a:ext cx="10252425" cy="2621994"/>
          </a:xfrm>
          <a:prstGeom prst="round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ja-JP" sz="4000" dirty="0">
                <a:solidFill>
                  <a:schemeClr val="bg1"/>
                </a:solidFill>
              </a:rPr>
              <a:t>TKI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人間関係における衝突を解消するために</a:t>
            </a:r>
            <a:endParaRPr lang="en-US" altLang="ja-JP" dirty="0">
              <a:solidFill>
                <a:schemeClr val="bg1"/>
              </a:solidFill>
            </a:endParaRPr>
          </a:p>
          <a:p>
            <a:pPr marL="361950"/>
            <a:r>
              <a:rPr lang="ja-JP" altLang="en-US">
                <a:solidFill>
                  <a:schemeClr val="bg1"/>
                </a:solidFill>
              </a:rPr>
              <a:t>使用されている検査</a:t>
            </a:r>
            <a:endParaRPr lang="en-US" altLang="ja-JP" dirty="0">
              <a:solidFill>
                <a:schemeClr val="bg1"/>
              </a:solidFill>
            </a:endParaRPr>
          </a:p>
          <a:p>
            <a:pPr marL="401638" indent="-401638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積極性と協調性の度合いで</a:t>
            </a:r>
            <a:r>
              <a:rPr lang="en-US" altLang="ja-JP" dirty="0">
                <a:solidFill>
                  <a:schemeClr val="bg1"/>
                </a:solidFill>
              </a:rPr>
              <a:t>5</a:t>
            </a:r>
            <a:r>
              <a:rPr lang="ja-JP" altLang="en-US">
                <a:solidFill>
                  <a:schemeClr val="bg1"/>
                </a:solidFill>
              </a:rPr>
              <a:t>つのタイプに分類</a:t>
            </a:r>
            <a:endParaRPr lang="en-US" altLang="ja-JP" dirty="0">
              <a:solidFill>
                <a:schemeClr val="bg1"/>
              </a:solidFill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4DD1E1B6-7DDD-4241-B90B-FE20FDB586AB}"/>
              </a:ext>
            </a:extLst>
          </p:cNvPr>
          <p:cNvGrpSpPr/>
          <p:nvPr/>
        </p:nvGrpSpPr>
        <p:grpSpPr>
          <a:xfrm>
            <a:off x="4856117" y="5282872"/>
            <a:ext cx="8575767" cy="2062549"/>
            <a:chOff x="4856117" y="7527628"/>
            <a:chExt cx="8575767" cy="2062549"/>
          </a:xfrm>
        </p:grpSpPr>
        <p:sp>
          <p:nvSpPr>
            <p:cNvPr id="37" name="角丸四角形 36">
              <a:extLst>
                <a:ext uri="{FF2B5EF4-FFF2-40B4-BE49-F238E27FC236}">
                  <a16:creationId xmlns:a16="http://schemas.microsoft.com/office/drawing/2014/main" id="{828A700C-5068-C943-8A40-D306817D3C3F}"/>
                </a:ext>
              </a:extLst>
            </p:cNvPr>
            <p:cNvSpPr/>
            <p:nvPr/>
          </p:nvSpPr>
          <p:spPr>
            <a:xfrm>
              <a:off x="4856117" y="7991023"/>
              <a:ext cx="8575767" cy="1599154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ja-JP" altLang="en-US">
                  <a:solidFill>
                    <a:srgbClr val="FFFFFF"/>
                  </a:solidFill>
                </a:rPr>
                <a:t>交渉が繰り返し行われる場合なら</a:t>
              </a:r>
              <a:endParaRPr lang="en-US" altLang="ja-JP" dirty="0">
                <a:solidFill>
                  <a:srgbClr val="FFFFFF"/>
                </a:solidFill>
              </a:endParaRPr>
            </a:p>
            <a:p>
              <a:pPr lvl="0" algn="ctr"/>
              <a:r>
                <a:rPr lang="ja-JP" altLang="en-US">
                  <a:solidFill>
                    <a:srgbClr val="FFFFFF"/>
                  </a:solidFill>
                </a:rPr>
                <a:t>適用できそう</a:t>
              </a:r>
              <a:endParaRPr lang="en-US" altLang="ja-JP" dirty="0">
                <a:solidFill>
                  <a:srgbClr val="FFFFFF"/>
                </a:solidFill>
              </a:endParaRPr>
            </a:p>
          </p:txBody>
        </p:sp>
        <p:sp>
          <p:nvSpPr>
            <p:cNvPr id="38" name="三角形 37">
              <a:extLst>
                <a:ext uri="{FF2B5EF4-FFF2-40B4-BE49-F238E27FC236}">
                  <a16:creationId xmlns:a16="http://schemas.microsoft.com/office/drawing/2014/main" id="{A973C84B-7908-7941-A09B-842C7BB4D8E5}"/>
                </a:ext>
              </a:extLst>
            </p:cNvPr>
            <p:cNvSpPr/>
            <p:nvPr/>
          </p:nvSpPr>
          <p:spPr>
            <a:xfrm>
              <a:off x="8830000" y="7527628"/>
              <a:ext cx="628000" cy="49461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91189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68884-E6BD-DB4F-B7E7-470CEF928101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研究テーマについて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AB8183-E74D-5241-879E-C26832EB4A88}"/>
              </a:ext>
            </a:extLst>
          </p:cNvPr>
          <p:cNvGrpSpPr/>
          <p:nvPr/>
        </p:nvGrpSpPr>
        <p:grpSpPr>
          <a:xfrm>
            <a:off x="617232" y="2360138"/>
            <a:ext cx="539448" cy="487368"/>
            <a:chOff x="400056" y="1061560"/>
            <a:chExt cx="269724" cy="243684"/>
          </a:xfrm>
        </p:grpSpPr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3C3F7F12-B52A-4540-833C-96153E15795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F2EBE7B5-C6CB-004D-91B4-60EF0E55340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6E420CC9-ED09-5547-937F-EC6A4FF40FC5}"/>
              </a:ext>
            </a:extLst>
          </p:cNvPr>
          <p:cNvSpPr txBox="1">
            <a:spLocks/>
          </p:cNvSpPr>
          <p:nvPr/>
        </p:nvSpPr>
        <p:spPr>
          <a:xfrm>
            <a:off x="1142976" y="228751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人間とエージェントの交渉</a:t>
            </a:r>
          </a:p>
        </p:txBody>
      </p:sp>
      <p:sp>
        <p:nvSpPr>
          <p:cNvPr id="31" name="三角形 30">
            <a:extLst>
              <a:ext uri="{FF2B5EF4-FFF2-40B4-BE49-F238E27FC236}">
                <a16:creationId xmlns:a16="http://schemas.microsoft.com/office/drawing/2014/main" id="{F048559B-9AFC-244E-8676-4C11F34484D6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88BB5DC5-780D-BA45-BA8C-BEE6B9EE27AF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特に人間の心理的要素を考慮した交渉について研究したい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3676974-6B0C-0944-8B97-7A814C77A587}"/>
              </a:ext>
            </a:extLst>
          </p:cNvPr>
          <p:cNvSpPr txBox="1"/>
          <p:nvPr/>
        </p:nvSpPr>
        <p:spPr>
          <a:xfrm>
            <a:off x="1357268" y="4468626"/>
            <a:ext cx="155734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/>
              <a:t>複数回交渉が行われる場合に効用を高める方法を考える</a:t>
            </a:r>
            <a:endParaRPr lang="en-US" altLang="ja-JP" sz="4800" dirty="0"/>
          </a:p>
        </p:txBody>
      </p:sp>
      <p:sp>
        <p:nvSpPr>
          <p:cNvPr id="19" name="三角形 18">
            <a:extLst>
              <a:ext uri="{FF2B5EF4-FFF2-40B4-BE49-F238E27FC236}">
                <a16:creationId xmlns:a16="http://schemas.microsoft.com/office/drawing/2014/main" id="{1EC3061D-04AB-5F48-8C3C-A3B212DB7356}"/>
              </a:ext>
            </a:extLst>
          </p:cNvPr>
          <p:cNvSpPr/>
          <p:nvPr/>
        </p:nvSpPr>
        <p:spPr>
          <a:xfrm rot="10800000">
            <a:off x="8823961" y="5642869"/>
            <a:ext cx="640078" cy="38722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BC102D0-2593-7A4F-B19B-DBBE8701E4D1}"/>
              </a:ext>
            </a:extLst>
          </p:cNvPr>
          <p:cNvSpPr txBox="1"/>
          <p:nvPr/>
        </p:nvSpPr>
        <p:spPr>
          <a:xfrm>
            <a:off x="2076287" y="6355917"/>
            <a:ext cx="141354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800" dirty="0"/>
              <a:t>TKI</a:t>
            </a:r>
            <a:r>
              <a:rPr lang="ja-JP" altLang="en-US" sz="4800"/>
              <a:t>とかで分類するよりも</a:t>
            </a:r>
            <a:r>
              <a:rPr lang="en-US" altLang="ja-JP" sz="4800" dirty="0"/>
              <a:t>foot in the door</a:t>
            </a:r>
            <a:r>
              <a:rPr lang="ja-JP" altLang="en-US" sz="4800"/>
              <a:t>とかの方が</a:t>
            </a:r>
            <a:endParaRPr lang="en-US" altLang="ja-JP" sz="4800" dirty="0"/>
          </a:p>
          <a:p>
            <a:pPr algn="ctr"/>
            <a:r>
              <a:rPr lang="ja-JP" altLang="en-US" sz="4800"/>
              <a:t>効果ありそう</a:t>
            </a:r>
            <a:endParaRPr lang="en-US" altLang="ja-JP" sz="48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DB52BAB-CFAF-1C41-AA9F-D14411435DAF}"/>
              </a:ext>
            </a:extLst>
          </p:cNvPr>
          <p:cNvSpPr txBox="1"/>
          <p:nvPr/>
        </p:nvSpPr>
        <p:spPr>
          <a:xfrm>
            <a:off x="1306855" y="9555004"/>
            <a:ext cx="9502088" cy="2621994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dirty="0">
                <a:solidFill>
                  <a:schemeClr val="bg1"/>
                </a:solidFill>
              </a:rPr>
              <a:t>foot in the door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相手が承諾しやすい小さい要求から徐々に</a:t>
            </a:r>
            <a:br>
              <a:rPr lang="en-US" altLang="ja-JP" dirty="0">
                <a:solidFill>
                  <a:schemeClr val="bg1"/>
                </a:solidFill>
              </a:rPr>
            </a:br>
            <a:r>
              <a:rPr lang="ja-JP" altLang="en-US">
                <a:solidFill>
                  <a:schemeClr val="bg1"/>
                </a:solidFill>
              </a:rPr>
              <a:t>要求を大きくしていく技法</a:t>
            </a:r>
            <a:endParaRPr lang="en-US" altLang="ja-JP" dirty="0">
              <a:solidFill>
                <a:schemeClr val="bg1"/>
              </a:solidFill>
            </a:endParaRPr>
          </a:p>
          <a:p>
            <a:pPr marL="401638" indent="-401638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人間の返報性の原理を利用</a:t>
            </a:r>
            <a:endParaRPr lang="en-US" altLang="ja-JP" dirty="0">
              <a:solidFill>
                <a:schemeClr val="bg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5F3832C-F666-6D42-81CD-9CEA6188C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9062" y="7778377"/>
            <a:ext cx="46736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3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68884-E6BD-DB4F-B7E7-470CEF928101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研究テーマについて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AB8183-E74D-5241-879E-C26832EB4A88}"/>
              </a:ext>
            </a:extLst>
          </p:cNvPr>
          <p:cNvGrpSpPr/>
          <p:nvPr/>
        </p:nvGrpSpPr>
        <p:grpSpPr>
          <a:xfrm>
            <a:off x="617232" y="2360138"/>
            <a:ext cx="539448" cy="487368"/>
            <a:chOff x="400056" y="1061560"/>
            <a:chExt cx="269724" cy="243684"/>
          </a:xfrm>
        </p:grpSpPr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3C3F7F12-B52A-4540-833C-96153E15795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F2EBE7B5-C6CB-004D-91B4-60EF0E55340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6E420CC9-ED09-5547-937F-EC6A4FF40FC5}"/>
              </a:ext>
            </a:extLst>
          </p:cNvPr>
          <p:cNvSpPr txBox="1">
            <a:spLocks/>
          </p:cNvSpPr>
          <p:nvPr/>
        </p:nvSpPr>
        <p:spPr>
          <a:xfrm>
            <a:off x="1142976" y="228751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人間とエージェントの交渉</a:t>
            </a:r>
          </a:p>
        </p:txBody>
      </p:sp>
      <p:sp>
        <p:nvSpPr>
          <p:cNvPr id="31" name="三角形 30">
            <a:extLst>
              <a:ext uri="{FF2B5EF4-FFF2-40B4-BE49-F238E27FC236}">
                <a16:creationId xmlns:a16="http://schemas.microsoft.com/office/drawing/2014/main" id="{F048559B-9AFC-244E-8676-4C11F34484D6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88BB5DC5-780D-BA45-BA8C-BEE6B9EE27AF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特に人間の心理的要素を考慮した交渉について研究したい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3676974-6B0C-0944-8B97-7A814C77A587}"/>
              </a:ext>
            </a:extLst>
          </p:cNvPr>
          <p:cNvSpPr txBox="1"/>
          <p:nvPr/>
        </p:nvSpPr>
        <p:spPr>
          <a:xfrm>
            <a:off x="1357268" y="4468626"/>
            <a:ext cx="155734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/>
              <a:t>複数回交渉が行われる場合に効用を高める方法を考える</a:t>
            </a:r>
            <a:endParaRPr lang="en-US" altLang="ja-JP" sz="4800" dirty="0"/>
          </a:p>
        </p:txBody>
      </p:sp>
      <p:sp>
        <p:nvSpPr>
          <p:cNvPr id="19" name="三角形 18">
            <a:extLst>
              <a:ext uri="{FF2B5EF4-FFF2-40B4-BE49-F238E27FC236}">
                <a16:creationId xmlns:a16="http://schemas.microsoft.com/office/drawing/2014/main" id="{1EC3061D-04AB-5F48-8C3C-A3B212DB7356}"/>
              </a:ext>
            </a:extLst>
          </p:cNvPr>
          <p:cNvSpPr/>
          <p:nvPr/>
        </p:nvSpPr>
        <p:spPr>
          <a:xfrm rot="10800000">
            <a:off x="8823961" y="5642869"/>
            <a:ext cx="640078" cy="38722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BC102D0-2593-7A4F-B19B-DBBE8701E4D1}"/>
              </a:ext>
            </a:extLst>
          </p:cNvPr>
          <p:cNvSpPr txBox="1"/>
          <p:nvPr/>
        </p:nvSpPr>
        <p:spPr>
          <a:xfrm>
            <a:off x="2076287" y="6355917"/>
            <a:ext cx="141354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4800" dirty="0"/>
              <a:t>TKI</a:t>
            </a:r>
            <a:r>
              <a:rPr lang="ja-JP" altLang="en-US" sz="4800"/>
              <a:t>とかで分類するよりも</a:t>
            </a:r>
            <a:r>
              <a:rPr lang="en-US" altLang="ja-JP" sz="4800" dirty="0"/>
              <a:t>foot in the door</a:t>
            </a:r>
            <a:r>
              <a:rPr lang="ja-JP" altLang="en-US" sz="4800"/>
              <a:t>とかの方が</a:t>
            </a:r>
            <a:endParaRPr lang="en-US" altLang="ja-JP" sz="4800" dirty="0"/>
          </a:p>
          <a:p>
            <a:pPr algn="ctr"/>
            <a:r>
              <a:rPr lang="ja-JP" altLang="en-US" sz="4800"/>
              <a:t>効果ありそう</a:t>
            </a:r>
            <a:endParaRPr lang="en-US" altLang="ja-JP" sz="48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DB52BAB-CFAF-1C41-AA9F-D14411435DAF}"/>
              </a:ext>
            </a:extLst>
          </p:cNvPr>
          <p:cNvSpPr txBox="1"/>
          <p:nvPr/>
        </p:nvSpPr>
        <p:spPr>
          <a:xfrm>
            <a:off x="1313752" y="9555004"/>
            <a:ext cx="9500400" cy="2621994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 dirty="0">
                <a:solidFill>
                  <a:schemeClr val="bg1"/>
                </a:solidFill>
              </a:rPr>
              <a:t>door in the face</a:t>
            </a: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最初に大きい要求を行い徐々に要求を</a:t>
            </a:r>
            <a:endParaRPr lang="en-US" altLang="ja-JP" dirty="0">
              <a:solidFill>
                <a:schemeClr val="bg1"/>
              </a:solidFill>
            </a:endParaRPr>
          </a:p>
          <a:p>
            <a:pPr marL="361950" indent="-3619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小さくしていく技法</a:t>
            </a:r>
            <a:endParaRPr lang="en-US" altLang="ja-JP" dirty="0">
              <a:solidFill>
                <a:schemeClr val="bg1"/>
              </a:solidFill>
            </a:endParaRPr>
          </a:p>
          <a:p>
            <a:pPr marL="401638" indent="-401638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bg1"/>
                </a:solidFill>
              </a:rPr>
              <a:t>人間の一貫性の原理を利用</a:t>
            </a:r>
            <a:endParaRPr lang="en-US" altLang="ja-JP" dirty="0">
              <a:solidFill>
                <a:schemeClr val="bg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8D9B66D-DB34-BF4D-8D16-1A9A8E790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439" y="7438581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2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68884-E6BD-DB4F-B7E7-470CEF928101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研究テーマについて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7AB8183-E74D-5241-879E-C26832EB4A88}"/>
              </a:ext>
            </a:extLst>
          </p:cNvPr>
          <p:cNvGrpSpPr/>
          <p:nvPr/>
        </p:nvGrpSpPr>
        <p:grpSpPr>
          <a:xfrm>
            <a:off x="617232" y="2360138"/>
            <a:ext cx="539448" cy="487368"/>
            <a:chOff x="400056" y="1061560"/>
            <a:chExt cx="269724" cy="243684"/>
          </a:xfrm>
        </p:grpSpPr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3C3F7F12-B52A-4540-833C-96153E15795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F2EBE7B5-C6CB-004D-91B4-60EF0E55340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0" name="テキスト プレースホルダー 27">
            <a:extLst>
              <a:ext uri="{FF2B5EF4-FFF2-40B4-BE49-F238E27FC236}">
                <a16:creationId xmlns:a16="http://schemas.microsoft.com/office/drawing/2014/main" id="{6E420CC9-ED09-5547-937F-EC6A4FF40FC5}"/>
              </a:ext>
            </a:extLst>
          </p:cNvPr>
          <p:cNvSpPr txBox="1">
            <a:spLocks/>
          </p:cNvSpPr>
          <p:nvPr/>
        </p:nvSpPr>
        <p:spPr>
          <a:xfrm>
            <a:off x="1142976" y="228751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人間とエージェントの交渉</a:t>
            </a:r>
          </a:p>
        </p:txBody>
      </p:sp>
      <p:sp>
        <p:nvSpPr>
          <p:cNvPr id="31" name="三角形 30">
            <a:extLst>
              <a:ext uri="{FF2B5EF4-FFF2-40B4-BE49-F238E27FC236}">
                <a16:creationId xmlns:a16="http://schemas.microsoft.com/office/drawing/2014/main" id="{F048559B-9AFC-244E-8676-4C11F34484D6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32" name="テキスト プレースホルダー 29">
            <a:extLst>
              <a:ext uri="{FF2B5EF4-FFF2-40B4-BE49-F238E27FC236}">
                <a16:creationId xmlns:a16="http://schemas.microsoft.com/office/drawing/2014/main" id="{88BB5DC5-780D-BA45-BA8C-BEE6B9EE27AF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特に人間の心理的要素を考慮した交渉について研究したい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3676974-6B0C-0944-8B97-7A814C77A587}"/>
              </a:ext>
            </a:extLst>
          </p:cNvPr>
          <p:cNvSpPr txBox="1"/>
          <p:nvPr/>
        </p:nvSpPr>
        <p:spPr>
          <a:xfrm>
            <a:off x="1665061" y="4468626"/>
            <a:ext cx="149579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4800"/>
              <a:t>人間とエージェントが複数回交渉を行う場合</a:t>
            </a:r>
            <a:endParaRPr lang="en-US" altLang="ja-JP" sz="4800" dirty="0"/>
          </a:p>
          <a:p>
            <a:pPr algn="ctr"/>
            <a:r>
              <a:rPr lang="ja-JP" altLang="en-US" sz="4800"/>
              <a:t>交渉の結果得られた価値のみを測るだけでいいのか？</a:t>
            </a:r>
            <a:endParaRPr lang="en-US" altLang="ja-JP" sz="4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7800DA7-D456-3D43-8F34-72D1D14723C5}"/>
              </a:ext>
            </a:extLst>
          </p:cNvPr>
          <p:cNvSpPr txBox="1"/>
          <p:nvPr/>
        </p:nvSpPr>
        <p:spPr>
          <a:xfrm>
            <a:off x="2193851" y="6975717"/>
            <a:ext cx="13900296" cy="146423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>
                <a:solidFill>
                  <a:schemeClr val="bg1"/>
                </a:solidFill>
              </a:rPr>
              <a:t>価値と関係構築の度合いをうまく数値化できれば</a:t>
            </a:r>
          </a:p>
          <a:p>
            <a:pPr algn="ctr"/>
            <a:r>
              <a:rPr lang="ja-JP" altLang="en-US" sz="4000">
                <a:solidFill>
                  <a:schemeClr val="bg1"/>
                </a:solidFill>
              </a:rPr>
              <a:t>妥当なエージェントの評価ができそうという気持ち</a:t>
            </a:r>
          </a:p>
        </p:txBody>
      </p:sp>
    </p:spTree>
    <p:extLst>
      <p:ext uri="{BB962C8B-B14F-4D97-AF65-F5344CB8AC3E}">
        <p14:creationId xmlns:p14="http://schemas.microsoft.com/office/powerpoint/2010/main" val="3842324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427B-EAB0-1948-8C22-3D9FC84C024F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(2018.07.24)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進捗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910F0BDC-5B02-1948-82BA-CC041096C46F}"/>
              </a:ext>
            </a:extLst>
          </p:cNvPr>
          <p:cNvGrpSpPr/>
          <p:nvPr/>
        </p:nvGrpSpPr>
        <p:grpSpPr>
          <a:xfrm>
            <a:off x="617232" y="2360138"/>
            <a:ext cx="539448" cy="487368"/>
            <a:chOff x="400056" y="1061560"/>
            <a:chExt cx="269724" cy="243684"/>
          </a:xfrm>
        </p:grpSpPr>
        <p:sp>
          <p:nvSpPr>
            <p:cNvPr id="32" name="三角形 31">
              <a:extLst>
                <a:ext uri="{FF2B5EF4-FFF2-40B4-BE49-F238E27FC236}">
                  <a16:creationId xmlns:a16="http://schemas.microsoft.com/office/drawing/2014/main" id="{91613B66-9C38-A24B-B3F9-AA65A6811ABB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3" name="三角形 32">
              <a:extLst>
                <a:ext uri="{FF2B5EF4-FFF2-40B4-BE49-F238E27FC236}">
                  <a16:creationId xmlns:a16="http://schemas.microsoft.com/office/drawing/2014/main" id="{D628D011-894B-2749-A23E-89AE817562BF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4" name="テキスト プレースホルダー 27">
            <a:extLst>
              <a:ext uri="{FF2B5EF4-FFF2-40B4-BE49-F238E27FC236}">
                <a16:creationId xmlns:a16="http://schemas.microsoft.com/office/drawing/2014/main" id="{DBD43840-0082-FB4C-AC19-2E25FBA9BA99}"/>
              </a:ext>
            </a:extLst>
          </p:cNvPr>
          <p:cNvSpPr txBox="1">
            <a:spLocks/>
          </p:cNvSpPr>
          <p:nvPr/>
        </p:nvSpPr>
        <p:spPr>
          <a:xfrm>
            <a:off x="1142976" y="228751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エージェント作成のための環境を構築</a:t>
            </a:r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785F518A-AD76-8342-BFE2-60B27F5EC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941" y="5422007"/>
            <a:ext cx="8287303" cy="7731574"/>
          </a:xfrm>
          <a:prstGeom prst="rect">
            <a:avLst/>
          </a:prstGeom>
        </p:spPr>
      </p:pic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360359B-19B1-9949-9843-BB715B2342D7}"/>
              </a:ext>
            </a:extLst>
          </p:cNvPr>
          <p:cNvGrpSpPr/>
          <p:nvPr/>
        </p:nvGrpSpPr>
        <p:grpSpPr>
          <a:xfrm>
            <a:off x="617232" y="3353901"/>
            <a:ext cx="539448" cy="487368"/>
            <a:chOff x="400056" y="1061560"/>
            <a:chExt cx="269724" cy="243684"/>
          </a:xfrm>
        </p:grpSpPr>
        <p:sp>
          <p:nvSpPr>
            <p:cNvPr id="37" name="三角形 36">
              <a:extLst>
                <a:ext uri="{FF2B5EF4-FFF2-40B4-BE49-F238E27FC236}">
                  <a16:creationId xmlns:a16="http://schemas.microsoft.com/office/drawing/2014/main" id="{9F2C04C9-C035-9A4D-8F58-EA2B9E17AC8F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8" name="三角形 37">
              <a:extLst>
                <a:ext uri="{FF2B5EF4-FFF2-40B4-BE49-F238E27FC236}">
                  <a16:creationId xmlns:a16="http://schemas.microsoft.com/office/drawing/2014/main" id="{27DB53CC-8EDC-3640-8F25-7116716A6865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9" name="テキスト プレースホルダー 27">
            <a:extLst>
              <a:ext uri="{FF2B5EF4-FFF2-40B4-BE49-F238E27FC236}">
                <a16:creationId xmlns:a16="http://schemas.microsoft.com/office/drawing/2014/main" id="{9FA954CC-05D0-1B41-BCE1-C2742135FB60}"/>
              </a:ext>
            </a:extLst>
          </p:cNvPr>
          <p:cNvSpPr txBox="1">
            <a:spLocks/>
          </p:cNvSpPr>
          <p:nvPr/>
        </p:nvSpPr>
        <p:spPr>
          <a:xfrm>
            <a:off x="1142976" y="3281276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foot in the door</a:t>
            </a:r>
            <a:r>
              <a:rPr lang="ja-JP" altLang="en-US"/>
              <a:t>の実装中</a:t>
            </a:r>
          </a:p>
        </p:txBody>
      </p:sp>
      <p:sp>
        <p:nvSpPr>
          <p:cNvPr id="58" name="三角形 57">
            <a:extLst>
              <a:ext uri="{FF2B5EF4-FFF2-40B4-BE49-F238E27FC236}">
                <a16:creationId xmlns:a16="http://schemas.microsoft.com/office/drawing/2014/main" id="{4C413C54-87AF-9F45-AD08-1A3429A74244}"/>
              </a:ext>
            </a:extLst>
          </p:cNvPr>
          <p:cNvSpPr/>
          <p:nvPr/>
        </p:nvSpPr>
        <p:spPr>
          <a:xfrm rot="5400000">
            <a:off x="1076238" y="4331040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59" name="テキスト プレースホルダー 29">
            <a:extLst>
              <a:ext uri="{FF2B5EF4-FFF2-40B4-BE49-F238E27FC236}">
                <a16:creationId xmlns:a16="http://schemas.microsoft.com/office/drawing/2014/main" id="{A57A56D7-7043-5140-97C6-66889472DA44}"/>
              </a:ext>
            </a:extLst>
          </p:cNvPr>
          <p:cNvSpPr txBox="1">
            <a:spLocks/>
          </p:cNvSpPr>
          <p:nvPr/>
        </p:nvSpPr>
        <p:spPr>
          <a:xfrm>
            <a:off x="1457090" y="4215766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accept</a:t>
            </a:r>
            <a:r>
              <a:rPr lang="ja-JP" altLang="en-US"/>
              <a:t>する水準を高める</a:t>
            </a:r>
          </a:p>
        </p:txBody>
      </p:sp>
      <p:sp>
        <p:nvSpPr>
          <p:cNvPr id="60" name="三角形 59">
            <a:extLst>
              <a:ext uri="{FF2B5EF4-FFF2-40B4-BE49-F238E27FC236}">
                <a16:creationId xmlns:a16="http://schemas.microsoft.com/office/drawing/2014/main" id="{4158A93C-8722-F346-A729-ACFD1B6CB6E8}"/>
              </a:ext>
            </a:extLst>
          </p:cNvPr>
          <p:cNvSpPr/>
          <p:nvPr/>
        </p:nvSpPr>
        <p:spPr>
          <a:xfrm rot="5400000">
            <a:off x="1062534" y="5213757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61" name="テキスト プレースホルダー 29">
            <a:extLst>
              <a:ext uri="{FF2B5EF4-FFF2-40B4-BE49-F238E27FC236}">
                <a16:creationId xmlns:a16="http://schemas.microsoft.com/office/drawing/2014/main" id="{3217175D-E5CB-0F45-B814-C2157FE5C0F3}"/>
              </a:ext>
            </a:extLst>
          </p:cNvPr>
          <p:cNvSpPr txBox="1">
            <a:spLocks/>
          </p:cNvSpPr>
          <p:nvPr/>
        </p:nvSpPr>
        <p:spPr>
          <a:xfrm>
            <a:off x="1443386" y="5098483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offer</a:t>
            </a:r>
            <a:r>
              <a:rPr lang="ja-JP" altLang="en-US"/>
              <a:t>の内容を変更</a:t>
            </a:r>
          </a:p>
        </p:txBody>
      </p:sp>
    </p:spTree>
    <p:extLst>
      <p:ext uri="{BB962C8B-B14F-4D97-AF65-F5344CB8AC3E}">
        <p14:creationId xmlns:p14="http://schemas.microsoft.com/office/powerpoint/2010/main" val="254008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831B-0EDE-C548-99F9-10504A962D6E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/>
              <a:t>文献紹介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3</a:t>
            </a:r>
            <a:endParaRPr kumimoji="1" lang="ja-JP" altLang="en-US"/>
          </a:p>
        </p:txBody>
      </p: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2B73E6BB-4F5C-9943-B42B-ABF354319798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60" name="正方形/長方形 59">
              <a:extLst>
                <a:ext uri="{FF2B5EF4-FFF2-40B4-BE49-F238E27FC236}">
                  <a16:creationId xmlns:a16="http://schemas.microsoft.com/office/drawing/2014/main" id="{7BBD8B4F-7516-9048-BBAB-B7A2F01EFD0A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61" name="正方形/長方形 60">
              <a:extLst>
                <a:ext uri="{FF2B5EF4-FFF2-40B4-BE49-F238E27FC236}">
                  <a16:creationId xmlns:a16="http://schemas.microsoft.com/office/drawing/2014/main" id="{3033C001-188B-3545-8DBB-A0EFCE0C57A4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E8A48831-99E7-4C43-A8D8-7E1FC1800103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63" name="三角形 62">
              <a:extLst>
                <a:ext uri="{FF2B5EF4-FFF2-40B4-BE49-F238E27FC236}">
                  <a16:creationId xmlns:a16="http://schemas.microsoft.com/office/drawing/2014/main" id="{CBB9E3FD-66E0-9243-8EEA-C63B05DBE98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64" name="三角形 63">
              <a:extLst>
                <a:ext uri="{FF2B5EF4-FFF2-40B4-BE49-F238E27FC236}">
                  <a16:creationId xmlns:a16="http://schemas.microsoft.com/office/drawing/2014/main" id="{3A7CA70D-5ABE-4344-B0AD-DF8D3977E48C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65" name="テキスト プレースホルダー 30">
            <a:extLst>
              <a:ext uri="{FF2B5EF4-FFF2-40B4-BE49-F238E27FC236}">
                <a16:creationId xmlns:a16="http://schemas.microsoft.com/office/drawing/2014/main" id="{A05361F8-6691-804B-85B2-8437BE7A07D9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タイトル</a:t>
            </a:r>
          </a:p>
        </p:txBody>
      </p:sp>
      <p:sp>
        <p:nvSpPr>
          <p:cNvPr id="66" name="テキスト プレースホルダー 27">
            <a:extLst>
              <a:ext uri="{FF2B5EF4-FFF2-40B4-BE49-F238E27FC236}">
                <a16:creationId xmlns:a16="http://schemas.microsoft.com/office/drawing/2014/main" id="{94C90DFA-8215-744F-9FAF-0361EFDCE698}"/>
              </a:ext>
            </a:extLst>
          </p:cNvPr>
          <p:cNvSpPr txBox="1">
            <a:spLocks/>
          </p:cNvSpPr>
          <p:nvPr/>
        </p:nvSpPr>
        <p:spPr>
          <a:xfrm>
            <a:off x="1254486" y="2484733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現在の社会心理学</a:t>
            </a:r>
            <a:endParaRPr lang="en-US" altLang="ja-JP" dirty="0"/>
          </a:p>
        </p:txBody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CD13159A-B2CB-FE49-8177-01E7C373106F}"/>
              </a:ext>
            </a:extLst>
          </p:cNvPr>
          <p:cNvGrpSpPr/>
          <p:nvPr/>
        </p:nvGrpSpPr>
        <p:grpSpPr>
          <a:xfrm>
            <a:off x="289330" y="3525187"/>
            <a:ext cx="2160000" cy="934436"/>
            <a:chOff x="144665" y="525617"/>
            <a:chExt cx="1080000" cy="467218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8822619E-17B3-144C-8A9F-9A88A20E40F3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4AE6E430-0634-1343-AF71-243CC33CD049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1BDB86F8-D25B-CB40-9DA4-6186C9725923}"/>
              </a:ext>
            </a:extLst>
          </p:cNvPr>
          <p:cNvGrpSpPr/>
          <p:nvPr/>
        </p:nvGrpSpPr>
        <p:grpSpPr>
          <a:xfrm>
            <a:off x="617232" y="4669247"/>
            <a:ext cx="539448" cy="487368"/>
            <a:chOff x="400056" y="1061560"/>
            <a:chExt cx="269724" cy="243684"/>
          </a:xfrm>
        </p:grpSpPr>
        <p:sp>
          <p:nvSpPr>
            <p:cNvPr id="71" name="三角形 70">
              <a:extLst>
                <a:ext uri="{FF2B5EF4-FFF2-40B4-BE49-F238E27FC236}">
                  <a16:creationId xmlns:a16="http://schemas.microsoft.com/office/drawing/2014/main" id="{6F177F71-05D1-7549-8B98-02DB5A70C796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72" name="三角形 71">
              <a:extLst>
                <a:ext uri="{FF2B5EF4-FFF2-40B4-BE49-F238E27FC236}">
                  <a16:creationId xmlns:a16="http://schemas.microsoft.com/office/drawing/2014/main" id="{199D8726-4A76-954E-BC06-C6A3EEC2A540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73" name="テキスト プレースホルダー 30">
            <a:extLst>
              <a:ext uri="{FF2B5EF4-FFF2-40B4-BE49-F238E27FC236}">
                <a16:creationId xmlns:a16="http://schemas.microsoft.com/office/drawing/2014/main" id="{7A48714E-FF6B-6845-A82A-99CC489DAEBB}"/>
              </a:ext>
            </a:extLst>
          </p:cNvPr>
          <p:cNvSpPr txBox="1">
            <a:spLocks/>
          </p:cNvSpPr>
          <p:nvPr/>
        </p:nvSpPr>
        <p:spPr>
          <a:xfrm>
            <a:off x="571049" y="3695760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著者</a:t>
            </a:r>
          </a:p>
        </p:txBody>
      </p:sp>
      <p:sp>
        <p:nvSpPr>
          <p:cNvPr id="74" name="テキスト プレースホルダー 27">
            <a:extLst>
              <a:ext uri="{FF2B5EF4-FFF2-40B4-BE49-F238E27FC236}">
                <a16:creationId xmlns:a16="http://schemas.microsoft.com/office/drawing/2014/main" id="{A57214FD-0C1A-C54C-8A8E-5C28AE7806C6}"/>
              </a:ext>
            </a:extLst>
          </p:cNvPr>
          <p:cNvSpPr txBox="1">
            <a:spLocks/>
          </p:cNvSpPr>
          <p:nvPr/>
        </p:nvSpPr>
        <p:spPr>
          <a:xfrm>
            <a:off x="1254486" y="4596622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亀田達也</a:t>
            </a:r>
            <a:r>
              <a:rPr lang="en-US" altLang="ja-JP" dirty="0"/>
              <a:t>, </a:t>
            </a:r>
            <a:r>
              <a:rPr lang="ja-JP" altLang="en-US"/>
              <a:t>村田光二</a:t>
            </a:r>
            <a:endParaRPr lang="en" altLang="ja-JP" dirty="0"/>
          </a:p>
        </p:txBody>
      </p: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B78C6D93-F57D-ED4D-B04A-04BF03DF943F}"/>
              </a:ext>
            </a:extLst>
          </p:cNvPr>
          <p:cNvGrpSpPr/>
          <p:nvPr/>
        </p:nvGrpSpPr>
        <p:grpSpPr>
          <a:xfrm>
            <a:off x="289330" y="5677187"/>
            <a:ext cx="2160000" cy="934436"/>
            <a:chOff x="144665" y="525617"/>
            <a:chExt cx="1080000" cy="467218"/>
          </a:xfrm>
        </p:grpSpPr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F1149AB2-62FC-B248-BEED-12669A673047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266A994F-20EC-D440-8A23-CCE430DAB690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D79BFA72-7D8D-2246-9A73-7565C41CC0BF}"/>
              </a:ext>
            </a:extLst>
          </p:cNvPr>
          <p:cNvGrpSpPr/>
          <p:nvPr/>
        </p:nvGrpSpPr>
        <p:grpSpPr>
          <a:xfrm>
            <a:off x="617232" y="6821247"/>
            <a:ext cx="539448" cy="487368"/>
            <a:chOff x="400056" y="1061560"/>
            <a:chExt cx="269724" cy="243684"/>
          </a:xfrm>
        </p:grpSpPr>
        <p:sp>
          <p:nvSpPr>
            <p:cNvPr id="79" name="三角形 78">
              <a:extLst>
                <a:ext uri="{FF2B5EF4-FFF2-40B4-BE49-F238E27FC236}">
                  <a16:creationId xmlns:a16="http://schemas.microsoft.com/office/drawing/2014/main" id="{E90265F0-D243-2C4C-B042-61444B2C4081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80" name="三角形 79">
              <a:extLst>
                <a:ext uri="{FF2B5EF4-FFF2-40B4-BE49-F238E27FC236}">
                  <a16:creationId xmlns:a16="http://schemas.microsoft.com/office/drawing/2014/main" id="{99BEC5D6-273B-3A4B-A4A1-884ED85195DC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81" name="テキスト プレースホルダー 30">
            <a:extLst>
              <a:ext uri="{FF2B5EF4-FFF2-40B4-BE49-F238E27FC236}">
                <a16:creationId xmlns:a16="http://schemas.microsoft.com/office/drawing/2014/main" id="{0417B416-E3FD-074C-8651-9C0D31D9AED7}"/>
              </a:ext>
            </a:extLst>
          </p:cNvPr>
          <p:cNvSpPr txBox="1">
            <a:spLocks/>
          </p:cNvSpPr>
          <p:nvPr/>
        </p:nvSpPr>
        <p:spPr>
          <a:xfrm>
            <a:off x="571049" y="5847760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出版</a:t>
            </a:r>
          </a:p>
        </p:txBody>
      </p:sp>
      <p:sp>
        <p:nvSpPr>
          <p:cNvPr id="82" name="テキスト プレースホルダー 27">
            <a:extLst>
              <a:ext uri="{FF2B5EF4-FFF2-40B4-BE49-F238E27FC236}">
                <a16:creationId xmlns:a16="http://schemas.microsoft.com/office/drawing/2014/main" id="{0CABBFC9-9913-354A-A17C-3CA838C0676B}"/>
              </a:ext>
            </a:extLst>
          </p:cNvPr>
          <p:cNvSpPr txBox="1">
            <a:spLocks/>
          </p:cNvSpPr>
          <p:nvPr/>
        </p:nvSpPr>
        <p:spPr>
          <a:xfrm>
            <a:off x="1254486" y="6748622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放送大学教育振興会</a:t>
            </a:r>
            <a:endParaRPr lang="en" altLang="ja-JP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30BB25D-E8F3-8E4F-B8F1-FDB951B47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886" y="7189713"/>
            <a:ext cx="4146042" cy="5889506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D21CD2AB-0B87-E54B-A129-FE52AC5F5F8D}"/>
              </a:ext>
            </a:extLst>
          </p:cNvPr>
          <p:cNvGrpSpPr/>
          <p:nvPr/>
        </p:nvGrpSpPr>
        <p:grpSpPr>
          <a:xfrm>
            <a:off x="293732" y="7842785"/>
            <a:ext cx="2160000" cy="934436"/>
            <a:chOff x="144665" y="525617"/>
            <a:chExt cx="1080000" cy="467218"/>
          </a:xfrm>
        </p:grpSpPr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57CA35DD-E6E2-CE4D-BB84-D25AD0EA98D2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47229453-4C29-3240-AFDF-F4A92F65ED88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6E9D29E7-9A9E-DF4A-ABA0-5727EB9EC119}"/>
              </a:ext>
            </a:extLst>
          </p:cNvPr>
          <p:cNvGrpSpPr/>
          <p:nvPr/>
        </p:nvGrpSpPr>
        <p:grpSpPr>
          <a:xfrm>
            <a:off x="621634" y="8986845"/>
            <a:ext cx="539448" cy="487368"/>
            <a:chOff x="400056" y="1061560"/>
            <a:chExt cx="269724" cy="243684"/>
          </a:xfrm>
        </p:grpSpPr>
        <p:sp>
          <p:nvSpPr>
            <p:cNvPr id="87" name="三角形 86">
              <a:extLst>
                <a:ext uri="{FF2B5EF4-FFF2-40B4-BE49-F238E27FC236}">
                  <a16:creationId xmlns:a16="http://schemas.microsoft.com/office/drawing/2014/main" id="{3BADABC6-1897-1947-9EA7-8F60DE41BDA8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88" name="三角形 87">
              <a:extLst>
                <a:ext uri="{FF2B5EF4-FFF2-40B4-BE49-F238E27FC236}">
                  <a16:creationId xmlns:a16="http://schemas.microsoft.com/office/drawing/2014/main" id="{0DB66EF5-7703-9F4F-9505-917F99F3BCB2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89" name="テキスト プレースホルダー 30">
            <a:extLst>
              <a:ext uri="{FF2B5EF4-FFF2-40B4-BE49-F238E27FC236}">
                <a16:creationId xmlns:a16="http://schemas.microsoft.com/office/drawing/2014/main" id="{07CF97F0-646D-5A43-92B4-0960CE47C5B0}"/>
              </a:ext>
            </a:extLst>
          </p:cNvPr>
          <p:cNvSpPr txBox="1">
            <a:spLocks/>
          </p:cNvSpPr>
          <p:nvPr/>
        </p:nvSpPr>
        <p:spPr>
          <a:xfrm>
            <a:off x="575451" y="8013358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内容</a:t>
            </a:r>
          </a:p>
        </p:txBody>
      </p:sp>
      <p:sp>
        <p:nvSpPr>
          <p:cNvPr id="90" name="テキスト プレースホルダー 27">
            <a:extLst>
              <a:ext uri="{FF2B5EF4-FFF2-40B4-BE49-F238E27FC236}">
                <a16:creationId xmlns:a16="http://schemas.microsoft.com/office/drawing/2014/main" id="{175E757A-3F97-414B-B427-D1F7C37C2A67}"/>
              </a:ext>
            </a:extLst>
          </p:cNvPr>
          <p:cNvSpPr txBox="1">
            <a:spLocks/>
          </p:cNvSpPr>
          <p:nvPr/>
        </p:nvSpPr>
        <p:spPr>
          <a:xfrm>
            <a:off x="1258888" y="8914220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集団での人間の心理・行動をまとめた本</a:t>
            </a:r>
            <a:endParaRPr lang="en" altLang="ja-JP" dirty="0"/>
          </a:p>
        </p:txBody>
      </p: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680942F1-E432-C64B-A8CB-7653125F4135}"/>
              </a:ext>
            </a:extLst>
          </p:cNvPr>
          <p:cNvGrpSpPr/>
          <p:nvPr/>
        </p:nvGrpSpPr>
        <p:grpSpPr>
          <a:xfrm>
            <a:off x="293732" y="9954687"/>
            <a:ext cx="2160000" cy="934436"/>
            <a:chOff x="144665" y="525617"/>
            <a:chExt cx="1080000" cy="467218"/>
          </a:xfrm>
        </p:grpSpPr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B787FC9B-3C23-0846-A19C-D4F8E0725852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8E4D2C27-41CD-7D45-862D-92029EE398AB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A2D986DC-8761-1F42-909A-39C1BA6C00D8}"/>
              </a:ext>
            </a:extLst>
          </p:cNvPr>
          <p:cNvGrpSpPr/>
          <p:nvPr/>
        </p:nvGrpSpPr>
        <p:grpSpPr>
          <a:xfrm>
            <a:off x="621634" y="11098747"/>
            <a:ext cx="539448" cy="487368"/>
            <a:chOff x="400056" y="1061560"/>
            <a:chExt cx="269724" cy="243684"/>
          </a:xfrm>
        </p:grpSpPr>
        <p:sp>
          <p:nvSpPr>
            <p:cNvPr id="103" name="三角形 102">
              <a:extLst>
                <a:ext uri="{FF2B5EF4-FFF2-40B4-BE49-F238E27FC236}">
                  <a16:creationId xmlns:a16="http://schemas.microsoft.com/office/drawing/2014/main" id="{5906391D-C919-AE44-B456-617C3AC85758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104" name="三角形 103">
              <a:extLst>
                <a:ext uri="{FF2B5EF4-FFF2-40B4-BE49-F238E27FC236}">
                  <a16:creationId xmlns:a16="http://schemas.microsoft.com/office/drawing/2014/main" id="{F8FADFD4-CEBB-4F41-AA36-2CE6840B5E68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105" name="テキスト プレースホルダー 30">
            <a:extLst>
              <a:ext uri="{FF2B5EF4-FFF2-40B4-BE49-F238E27FC236}">
                <a16:creationId xmlns:a16="http://schemas.microsoft.com/office/drawing/2014/main" id="{7D1A9FB2-AD92-1C4A-8F8C-62D398CAD636}"/>
              </a:ext>
            </a:extLst>
          </p:cNvPr>
          <p:cNvSpPr txBox="1">
            <a:spLocks/>
          </p:cNvSpPr>
          <p:nvPr/>
        </p:nvSpPr>
        <p:spPr>
          <a:xfrm>
            <a:off x="575451" y="10125260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所感</a:t>
            </a:r>
          </a:p>
        </p:txBody>
      </p:sp>
      <p:sp>
        <p:nvSpPr>
          <p:cNvPr id="106" name="テキスト プレースホルダー 27">
            <a:extLst>
              <a:ext uri="{FF2B5EF4-FFF2-40B4-BE49-F238E27FC236}">
                <a16:creationId xmlns:a16="http://schemas.microsoft.com/office/drawing/2014/main" id="{7DD50F3D-0520-354A-8E68-F89244C0EB64}"/>
              </a:ext>
            </a:extLst>
          </p:cNvPr>
          <p:cNvSpPr txBox="1">
            <a:spLocks/>
          </p:cNvSpPr>
          <p:nvPr/>
        </p:nvSpPr>
        <p:spPr>
          <a:xfrm>
            <a:off x="1258888" y="11026122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非常に読みやすい</a:t>
            </a:r>
            <a:endParaRPr lang="en" altLang="ja-JP" dirty="0"/>
          </a:p>
        </p:txBody>
      </p:sp>
      <p:grpSp>
        <p:nvGrpSpPr>
          <p:cNvPr id="107" name="グループ化 106">
            <a:extLst>
              <a:ext uri="{FF2B5EF4-FFF2-40B4-BE49-F238E27FC236}">
                <a16:creationId xmlns:a16="http://schemas.microsoft.com/office/drawing/2014/main" id="{0F21C71C-693A-4445-8D1C-233B2B20BA71}"/>
              </a:ext>
            </a:extLst>
          </p:cNvPr>
          <p:cNvGrpSpPr/>
          <p:nvPr/>
        </p:nvGrpSpPr>
        <p:grpSpPr>
          <a:xfrm>
            <a:off x="621634" y="11975507"/>
            <a:ext cx="539448" cy="487368"/>
            <a:chOff x="400056" y="1061560"/>
            <a:chExt cx="269724" cy="243684"/>
          </a:xfrm>
        </p:grpSpPr>
        <p:sp>
          <p:nvSpPr>
            <p:cNvPr id="108" name="三角形 107">
              <a:extLst>
                <a:ext uri="{FF2B5EF4-FFF2-40B4-BE49-F238E27FC236}">
                  <a16:creationId xmlns:a16="http://schemas.microsoft.com/office/drawing/2014/main" id="{7E4F9B78-8D94-9E4F-B33D-2857D64F0A8B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109" name="三角形 108">
              <a:extLst>
                <a:ext uri="{FF2B5EF4-FFF2-40B4-BE49-F238E27FC236}">
                  <a16:creationId xmlns:a16="http://schemas.microsoft.com/office/drawing/2014/main" id="{26D9CCCA-BF94-2243-A17F-C952659F53EC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110" name="テキスト プレースホルダー 27">
            <a:extLst>
              <a:ext uri="{FF2B5EF4-FFF2-40B4-BE49-F238E27FC236}">
                <a16:creationId xmlns:a16="http://schemas.microsoft.com/office/drawing/2014/main" id="{BA6E7C99-3D25-E849-8BA2-44BC0D94441C}"/>
              </a:ext>
            </a:extLst>
          </p:cNvPr>
          <p:cNvSpPr txBox="1">
            <a:spLocks/>
          </p:cNvSpPr>
          <p:nvPr/>
        </p:nvSpPr>
        <p:spPr>
          <a:xfrm>
            <a:off x="1258888" y="11902882"/>
            <a:ext cx="17551674" cy="172150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交渉で適用できそうなものはあまりなかった</a:t>
            </a:r>
            <a:endParaRPr lang="en" altLang="ja-JP" dirty="0"/>
          </a:p>
        </p:txBody>
      </p:sp>
    </p:spTree>
    <p:extLst>
      <p:ext uri="{BB962C8B-B14F-4D97-AF65-F5344CB8AC3E}">
        <p14:creationId xmlns:p14="http://schemas.microsoft.com/office/powerpoint/2010/main" val="1310919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3520CDD-7107-D140-A1A0-69D0D69B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831B-0EDE-C548-99F9-10504A962D6E}" type="datetime1">
              <a:rPr lang="ja-JP" altLang="en-US" smtClean="0"/>
              <a:t>2018/7/24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EEFBA0C-3454-8D4D-87CE-5BA9ED8A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進捗報告</a:t>
            </a:r>
            <a:r>
              <a:rPr lang="en-US" altLang="ja-JP"/>
              <a:t>(2018.06.06)</a:t>
            </a: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405AD0-9091-A94B-BA67-32995AD1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DD2A8D-F804-D546-B77D-9693A67C3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/>
              <a:t>今後やること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18F5D246-4675-9D44-B96B-BEDD6F01E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4</a:t>
            </a:r>
            <a:endParaRPr kumimoji="1" lang="ja-JP" altLang="en-US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67F2136A-85AA-B542-A173-E312F88F0976}"/>
              </a:ext>
            </a:extLst>
          </p:cNvPr>
          <p:cNvGrpSpPr/>
          <p:nvPr/>
        </p:nvGrpSpPr>
        <p:grpSpPr>
          <a:xfrm>
            <a:off x="617232" y="2360138"/>
            <a:ext cx="539448" cy="487368"/>
            <a:chOff x="400056" y="1061560"/>
            <a:chExt cx="269724" cy="243684"/>
          </a:xfrm>
        </p:grpSpPr>
        <p:sp>
          <p:nvSpPr>
            <p:cNvPr id="32" name="三角形 31">
              <a:extLst>
                <a:ext uri="{FF2B5EF4-FFF2-40B4-BE49-F238E27FC236}">
                  <a16:creationId xmlns:a16="http://schemas.microsoft.com/office/drawing/2014/main" id="{A76FBC69-1532-1243-80CF-F90E4BEDE838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3" name="三角形 32">
              <a:extLst>
                <a:ext uri="{FF2B5EF4-FFF2-40B4-BE49-F238E27FC236}">
                  <a16:creationId xmlns:a16="http://schemas.microsoft.com/office/drawing/2014/main" id="{73FCD660-188C-1F4B-BAF5-255FE4545030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34" name="テキスト プレースホルダー 27">
            <a:extLst>
              <a:ext uri="{FF2B5EF4-FFF2-40B4-BE49-F238E27FC236}">
                <a16:creationId xmlns:a16="http://schemas.microsoft.com/office/drawing/2014/main" id="{3CCBB6A7-CC8D-814C-A2A4-6D3FB1796355}"/>
              </a:ext>
            </a:extLst>
          </p:cNvPr>
          <p:cNvSpPr txBox="1">
            <a:spLocks/>
          </p:cNvSpPr>
          <p:nvPr/>
        </p:nvSpPr>
        <p:spPr>
          <a:xfrm>
            <a:off x="1142976" y="228751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foot in the door</a:t>
            </a:r>
            <a:r>
              <a:rPr lang="ja-JP" altLang="en-US"/>
              <a:t>の実装</a:t>
            </a:r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2080B5FB-35E6-A646-B941-6E321F3A9DD5}"/>
              </a:ext>
            </a:extLst>
          </p:cNvPr>
          <p:cNvGrpSpPr/>
          <p:nvPr/>
        </p:nvGrpSpPr>
        <p:grpSpPr>
          <a:xfrm>
            <a:off x="617232" y="3353901"/>
            <a:ext cx="539448" cy="487368"/>
            <a:chOff x="400056" y="1061560"/>
            <a:chExt cx="269724" cy="243684"/>
          </a:xfrm>
        </p:grpSpPr>
        <p:sp>
          <p:nvSpPr>
            <p:cNvPr id="38" name="三角形 37">
              <a:extLst>
                <a:ext uri="{FF2B5EF4-FFF2-40B4-BE49-F238E27FC236}">
                  <a16:creationId xmlns:a16="http://schemas.microsoft.com/office/drawing/2014/main" id="{14A606B4-883D-A348-8730-74F867E49B14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39" name="三角形 38">
              <a:extLst>
                <a:ext uri="{FF2B5EF4-FFF2-40B4-BE49-F238E27FC236}">
                  <a16:creationId xmlns:a16="http://schemas.microsoft.com/office/drawing/2014/main" id="{CAB41BD4-6916-9744-82A1-F8E1D570C1AC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40" name="テキスト プレースホルダー 27">
            <a:extLst>
              <a:ext uri="{FF2B5EF4-FFF2-40B4-BE49-F238E27FC236}">
                <a16:creationId xmlns:a16="http://schemas.microsoft.com/office/drawing/2014/main" id="{52CEF2CF-18C4-C448-AFFC-2E2A8A3A9B10}"/>
              </a:ext>
            </a:extLst>
          </p:cNvPr>
          <p:cNvSpPr txBox="1">
            <a:spLocks/>
          </p:cNvSpPr>
          <p:nvPr/>
        </p:nvSpPr>
        <p:spPr>
          <a:xfrm>
            <a:off x="1142976" y="3281276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他に使えそうな心理的な効果があるか調べる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4AFCBB4-C6BC-824B-8484-747E1E802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6099" y="8073581"/>
            <a:ext cx="4635500" cy="5080000"/>
          </a:xfrm>
          <a:prstGeom prst="rect">
            <a:avLst/>
          </a:prstGeom>
        </p:spPr>
      </p:pic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9D6B2773-C21A-0843-93E1-E490F5D69F86}"/>
              </a:ext>
            </a:extLst>
          </p:cNvPr>
          <p:cNvGrpSpPr/>
          <p:nvPr/>
        </p:nvGrpSpPr>
        <p:grpSpPr>
          <a:xfrm>
            <a:off x="617232" y="4347664"/>
            <a:ext cx="539448" cy="487368"/>
            <a:chOff x="400056" y="1061560"/>
            <a:chExt cx="269724" cy="243684"/>
          </a:xfrm>
        </p:grpSpPr>
        <p:sp>
          <p:nvSpPr>
            <p:cNvPr id="50" name="三角形 49">
              <a:extLst>
                <a:ext uri="{FF2B5EF4-FFF2-40B4-BE49-F238E27FC236}">
                  <a16:creationId xmlns:a16="http://schemas.microsoft.com/office/drawing/2014/main" id="{4AFF3634-DCA1-C241-89E6-59218991D1A8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57" name="三角形 56">
              <a:extLst>
                <a:ext uri="{FF2B5EF4-FFF2-40B4-BE49-F238E27FC236}">
                  <a16:creationId xmlns:a16="http://schemas.microsoft.com/office/drawing/2014/main" id="{3BDC9F4F-855F-6246-81A9-A1B5B4789E4B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58" name="テキスト プレースホルダー 27">
            <a:extLst>
              <a:ext uri="{FF2B5EF4-FFF2-40B4-BE49-F238E27FC236}">
                <a16:creationId xmlns:a16="http://schemas.microsoft.com/office/drawing/2014/main" id="{5A3336B8-ED29-BB45-AFC3-F2BBF9D89CAE}"/>
              </a:ext>
            </a:extLst>
          </p:cNvPr>
          <p:cNvSpPr txBox="1">
            <a:spLocks/>
          </p:cNvSpPr>
          <p:nvPr/>
        </p:nvSpPr>
        <p:spPr>
          <a:xfrm>
            <a:off x="1142976" y="4275039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関係構築の度合いを数値化できないか模索</a:t>
            </a:r>
          </a:p>
        </p:txBody>
      </p:sp>
    </p:spTree>
    <p:extLst>
      <p:ext uri="{BB962C8B-B14F-4D97-AF65-F5344CB8AC3E}">
        <p14:creationId xmlns:p14="http://schemas.microsoft.com/office/powerpoint/2010/main" val="2153081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0F43D92D-1E68-EF4A-8153-4DC9B21D77FE}"/>
              </a:ext>
            </a:extLst>
          </p:cNvPr>
          <p:cNvGrpSpPr/>
          <p:nvPr/>
        </p:nvGrpSpPr>
        <p:grpSpPr>
          <a:xfrm>
            <a:off x="289330" y="1413298"/>
            <a:ext cx="2160000" cy="934436"/>
            <a:chOff x="144665" y="525617"/>
            <a:chExt cx="1080000" cy="467218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A34D3398-9322-F748-B364-CA3F60D9B540}"/>
                </a:ext>
              </a:extLst>
            </p:cNvPr>
            <p:cNvSpPr/>
            <p:nvPr userDrawn="1"/>
          </p:nvSpPr>
          <p:spPr>
            <a:xfrm>
              <a:off x="145524" y="542424"/>
              <a:ext cx="91081" cy="450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DD43C602-551C-5746-BC9B-C19E492EADDB}"/>
                </a:ext>
              </a:extLst>
            </p:cNvPr>
            <p:cNvSpPr/>
            <p:nvPr userDrawn="1"/>
          </p:nvSpPr>
          <p:spPr>
            <a:xfrm>
              <a:off x="144665" y="525617"/>
              <a:ext cx="1080000" cy="161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7D2F3500-005E-9541-81E5-8F781456C6E9}"/>
              </a:ext>
            </a:extLst>
          </p:cNvPr>
          <p:cNvGrpSpPr/>
          <p:nvPr/>
        </p:nvGrpSpPr>
        <p:grpSpPr>
          <a:xfrm>
            <a:off x="617232" y="2557358"/>
            <a:ext cx="539448" cy="487368"/>
            <a:chOff x="400056" y="1061560"/>
            <a:chExt cx="269724" cy="243684"/>
          </a:xfrm>
        </p:grpSpPr>
        <p:sp>
          <p:nvSpPr>
            <p:cNvPr id="41" name="三角形 40">
              <a:extLst>
                <a:ext uri="{FF2B5EF4-FFF2-40B4-BE49-F238E27FC236}">
                  <a16:creationId xmlns:a16="http://schemas.microsoft.com/office/drawing/2014/main" id="{D29DEB6E-A193-0546-B684-3CB43FF9DF41}"/>
                </a:ext>
              </a:extLst>
            </p:cNvPr>
            <p:cNvSpPr/>
            <p:nvPr userDrawn="1"/>
          </p:nvSpPr>
          <p:spPr>
            <a:xfrm rot="5400000">
              <a:off x="359835" y="1105015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  <p:sp>
          <p:nvSpPr>
            <p:cNvPr id="42" name="三角形 41">
              <a:extLst>
                <a:ext uri="{FF2B5EF4-FFF2-40B4-BE49-F238E27FC236}">
                  <a16:creationId xmlns:a16="http://schemas.microsoft.com/office/drawing/2014/main" id="{2CEA62FD-E89F-5B40-B5BD-22C36179584A}"/>
                </a:ext>
              </a:extLst>
            </p:cNvPr>
            <p:cNvSpPr/>
            <p:nvPr userDrawn="1"/>
          </p:nvSpPr>
          <p:spPr>
            <a:xfrm rot="5400000">
              <a:off x="469551" y="1101781"/>
              <a:ext cx="240450" cy="16000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7200"/>
            </a:p>
          </p:txBody>
        </p:sp>
      </p:grpSp>
      <p:sp>
        <p:nvSpPr>
          <p:cNvPr id="43" name="三角形 42">
            <a:extLst>
              <a:ext uri="{FF2B5EF4-FFF2-40B4-BE49-F238E27FC236}">
                <a16:creationId xmlns:a16="http://schemas.microsoft.com/office/drawing/2014/main" id="{F0E65632-B875-9644-B7BD-5AC77419A68E}"/>
              </a:ext>
            </a:extLst>
          </p:cNvPr>
          <p:cNvSpPr/>
          <p:nvPr/>
        </p:nvSpPr>
        <p:spPr>
          <a:xfrm rot="5400000">
            <a:off x="1076238" y="3361776"/>
            <a:ext cx="480900" cy="32001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7200"/>
          </a:p>
        </p:txBody>
      </p:sp>
      <p:sp>
        <p:nvSpPr>
          <p:cNvPr id="44" name="テキスト プレースホルダー 27">
            <a:extLst>
              <a:ext uri="{FF2B5EF4-FFF2-40B4-BE49-F238E27FC236}">
                <a16:creationId xmlns:a16="http://schemas.microsoft.com/office/drawing/2014/main" id="{3ED0938B-63CA-DD4A-9751-C64A1DA1B535}"/>
              </a:ext>
            </a:extLst>
          </p:cNvPr>
          <p:cNvSpPr txBox="1">
            <a:spLocks/>
          </p:cNvSpPr>
          <p:nvPr/>
        </p:nvSpPr>
        <p:spPr>
          <a:xfrm>
            <a:off x="1142976" y="2484733"/>
            <a:ext cx="16632960" cy="9978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8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レベル</a:t>
            </a:r>
            <a:r>
              <a:rPr lang="en-US" altLang="ja-JP"/>
              <a:t>2</a:t>
            </a:r>
            <a:endParaRPr lang="ja-JP" altLang="en-US"/>
          </a:p>
        </p:txBody>
      </p:sp>
      <p:sp>
        <p:nvSpPr>
          <p:cNvPr id="45" name="テキスト プレースホルダー 29">
            <a:extLst>
              <a:ext uri="{FF2B5EF4-FFF2-40B4-BE49-F238E27FC236}">
                <a16:creationId xmlns:a16="http://schemas.microsoft.com/office/drawing/2014/main" id="{090E7D85-8568-4F42-952D-8AE547A43A32}"/>
              </a:ext>
            </a:extLst>
          </p:cNvPr>
          <p:cNvSpPr txBox="1">
            <a:spLocks/>
          </p:cNvSpPr>
          <p:nvPr/>
        </p:nvSpPr>
        <p:spPr>
          <a:xfrm>
            <a:off x="1457090" y="3246502"/>
            <a:ext cx="16135964" cy="85399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4000" kern="1200">
                <a:solidFill>
                  <a:srgbClr val="424242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レベル</a:t>
            </a:r>
            <a:r>
              <a:rPr lang="en-US" altLang="ja-JP"/>
              <a:t>3</a:t>
            </a:r>
            <a:endParaRPr lang="ja-JP" altLang="en-US"/>
          </a:p>
        </p:txBody>
      </p:sp>
      <p:sp>
        <p:nvSpPr>
          <p:cNvPr id="46" name="テキスト プレースホルダー 30">
            <a:extLst>
              <a:ext uri="{FF2B5EF4-FFF2-40B4-BE49-F238E27FC236}">
                <a16:creationId xmlns:a16="http://schemas.microsoft.com/office/drawing/2014/main" id="{8C754852-53DA-F34B-BF94-C8A638634541}"/>
              </a:ext>
            </a:extLst>
          </p:cNvPr>
          <p:cNvSpPr txBox="1">
            <a:spLocks/>
          </p:cNvSpPr>
          <p:nvPr/>
        </p:nvSpPr>
        <p:spPr>
          <a:xfrm>
            <a:off x="571049" y="1583871"/>
            <a:ext cx="17302163" cy="14033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None/>
              <a:defRPr kumimoji="1" sz="6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/>
              <a:t>レベル</a:t>
            </a:r>
            <a:r>
              <a:rPr lang="en-US" altLang="ja-JP"/>
              <a:t>1</a:t>
            </a:r>
            <a:endParaRPr lang="ja-JP" altLang="en-US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D3A15E-A677-F84A-B56A-F1630E9B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AE89-F273-0B4E-947B-95998BFA5FED}" type="datetime1">
              <a:rPr kumimoji="1" lang="ja-JP" altLang="en-US" smtClean="0"/>
              <a:t>2018/7/24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4EDDA3E-6952-3D45-BAF8-A47CDA731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進捗報告</a:t>
            </a:r>
            <a:r>
              <a:rPr kumimoji="1" lang="en-US" altLang="ja-JP"/>
              <a:t>(2018.07.24)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ADF68C-23B3-A842-BED8-1B721DFC3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2BC1-393D-1248-985B-18DA624F2964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332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エメラルドグリーンメイン">
      <a:dk1>
        <a:srgbClr val="333333"/>
      </a:dk1>
      <a:lt1>
        <a:srgbClr val="FFFFFF"/>
      </a:lt1>
      <a:dk2>
        <a:srgbClr val="153430"/>
      </a:dk2>
      <a:lt2>
        <a:srgbClr val="EEEEEE"/>
      </a:lt2>
      <a:accent1>
        <a:srgbClr val="4DBDB0"/>
      </a:accent1>
      <a:accent2>
        <a:srgbClr val="CE4457"/>
      </a:accent2>
      <a:accent3>
        <a:srgbClr val="4197B8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1702</TotalTime>
  <Words>630</Words>
  <Application>Microsoft Macintosh PowerPoint</Application>
  <PresentationFormat>ユーザー設定</PresentationFormat>
  <Paragraphs>131</Paragraphs>
  <Slides>12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メイリオ</vt:lpstr>
      <vt:lpstr>游ゴシック</vt:lpstr>
      <vt:lpstr>Arial</vt:lpstr>
      <vt:lpstr>Calibri</vt:lpstr>
      <vt:lpstr>Helvetica</vt:lpstr>
      <vt:lpstr>Office テーマ</vt:lpstr>
      <vt:lpstr>進捗報告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Shogo MATSUSHITA</dc:creator>
  <cp:lastModifiedBy>Shogo MATSUSHITA</cp:lastModifiedBy>
  <cp:revision>91</cp:revision>
  <cp:lastPrinted>2018-04-18T08:51:19Z</cp:lastPrinted>
  <dcterms:created xsi:type="dcterms:W3CDTF">2018-04-18T07:57:09Z</dcterms:created>
  <dcterms:modified xsi:type="dcterms:W3CDTF">2018-07-24T08:26:27Z</dcterms:modified>
</cp:coreProperties>
</file>