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22"/>
  </p:notesMasterIdLst>
  <p:sldIdLst>
    <p:sldId id="256" r:id="rId2"/>
    <p:sldId id="475" r:id="rId3"/>
    <p:sldId id="478" r:id="rId4"/>
    <p:sldId id="479" r:id="rId5"/>
    <p:sldId id="480" r:id="rId6"/>
    <p:sldId id="455" r:id="rId7"/>
    <p:sldId id="481" r:id="rId8"/>
    <p:sldId id="456" r:id="rId9"/>
    <p:sldId id="482" r:id="rId10"/>
    <p:sldId id="462" r:id="rId11"/>
    <p:sldId id="463" r:id="rId12"/>
    <p:sldId id="469" r:id="rId13"/>
    <p:sldId id="472" r:id="rId14"/>
    <p:sldId id="465" r:id="rId15"/>
    <p:sldId id="473" r:id="rId16"/>
    <p:sldId id="474" r:id="rId17"/>
    <p:sldId id="476" r:id="rId18"/>
    <p:sldId id="468" r:id="rId19"/>
    <p:sldId id="441" r:id="rId20"/>
    <p:sldId id="257"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3974"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2A544"/>
    <a:srgbClr val="5B9BD6"/>
    <a:srgbClr val="EAB37F"/>
    <a:srgbClr val="ABCFDB"/>
    <a:srgbClr val="B2D6E4"/>
    <a:srgbClr val="ECCA5E"/>
    <a:srgbClr val="E4C35B"/>
    <a:srgbClr val="ABD7D1"/>
    <a:srgbClr val="E0AC7B"/>
    <a:srgbClr val="B8E6E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95"/>
    <p:restoredTop sz="94624"/>
  </p:normalViewPr>
  <p:slideViewPr>
    <p:cSldViewPr snapToGrid="0" snapToObjects="1" showGuides="1">
      <p:cViewPr varScale="1">
        <p:scale>
          <a:sx n="110" d="100"/>
          <a:sy n="110" d="100"/>
        </p:scale>
        <p:origin x="1336" y="184"/>
      </p:cViewPr>
      <p:guideLst>
        <p:guide orient="horz" pos="3974"/>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40CCDC2-C448-5942-B3C6-FAFA0B7166CF}" type="datetimeFigureOut">
              <a:rPr kumimoji="1" lang="ja-JP" altLang="en-US" smtClean="0"/>
              <a:t>2020/8/28</a:t>
            </a:fld>
            <a:endParaRPr kumimoji="1" lang="ja-JP" altLang="en-US"/>
          </a:p>
        </p:txBody>
      </p:sp>
      <p:sp>
        <p:nvSpPr>
          <p:cNvPr id="4" name="スライド イメージ プレースホルダー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8D68E3D-F587-EC48-9825-EB28F1280931}" type="slidenum">
              <a:rPr kumimoji="1" lang="ja-JP" altLang="en-US" smtClean="0"/>
              <a:t>‹#›</a:t>
            </a:fld>
            <a:endParaRPr kumimoji="1" lang="ja-JP" altLang="en-US"/>
          </a:p>
        </p:txBody>
      </p:sp>
    </p:spTree>
    <p:extLst>
      <p:ext uri="{BB962C8B-B14F-4D97-AF65-F5344CB8AC3E}">
        <p14:creationId xmlns:p14="http://schemas.microsoft.com/office/powerpoint/2010/main" val="279737346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D7740A0-10A2-AC4B-9E37-89A047D63AA9}"/>
              </a:ext>
            </a:extLst>
          </p:cNvPr>
          <p:cNvSpPr/>
          <p:nvPr userDrawn="1"/>
        </p:nvSpPr>
        <p:spPr>
          <a:xfrm>
            <a:off x="-18000" y="1735015"/>
            <a:ext cx="9180000" cy="3411416"/>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Title 1"/>
          <p:cNvSpPr>
            <a:spLocks noGrp="1"/>
          </p:cNvSpPr>
          <p:nvPr>
            <p:ph type="ctrTitle"/>
          </p:nvPr>
        </p:nvSpPr>
        <p:spPr>
          <a:xfrm>
            <a:off x="-130302" y="1368546"/>
            <a:ext cx="9404604" cy="2387600"/>
          </a:xfrm>
        </p:spPr>
        <p:txBody>
          <a:bodyPr anchor="b"/>
          <a:lstStyle>
            <a:lvl1pPr algn="ctr">
              <a:defRPr sz="6000">
                <a:solidFill>
                  <a:schemeClr val="bg1"/>
                </a:solidFill>
              </a:defRPr>
            </a:lvl1pPr>
          </a:lstStyle>
          <a:p>
            <a:r>
              <a:rPr lang="ja-JP" altLang="en-US"/>
              <a:t>マスター タイトルの書式設定</a:t>
            </a:r>
            <a:endParaRPr lang="en-US" dirty="0"/>
          </a:p>
        </p:txBody>
      </p:sp>
      <p:sp>
        <p:nvSpPr>
          <p:cNvPr id="3" name="Subtitle 2"/>
          <p:cNvSpPr>
            <a:spLocks noGrp="1"/>
          </p:cNvSpPr>
          <p:nvPr>
            <p:ph type="subTitle" idx="1"/>
          </p:nvPr>
        </p:nvSpPr>
        <p:spPr>
          <a:xfrm>
            <a:off x="1143000" y="4188188"/>
            <a:ext cx="6858000" cy="1655762"/>
          </a:xfrm>
        </p:spPr>
        <p:txBody>
          <a:bodyPr/>
          <a:lstStyle>
            <a:lvl1pPr marL="0" indent="0" algn="ctr">
              <a:buNone/>
              <a:defRPr sz="24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FDC2C275-3977-4849-BBDE-F9BC93110E65}"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10" name="角丸四角形 9">
            <a:extLst>
              <a:ext uri="{FF2B5EF4-FFF2-40B4-BE49-F238E27FC236}">
                <a16:creationId xmlns:a16="http://schemas.microsoft.com/office/drawing/2014/main" id="{EE0A9B93-3B75-BD4C-97FF-D428AE5ADB8E}"/>
              </a:ext>
            </a:extLst>
          </p:cNvPr>
          <p:cNvSpPr/>
          <p:nvPr userDrawn="1"/>
        </p:nvSpPr>
        <p:spPr>
          <a:xfrm>
            <a:off x="562708" y="3934582"/>
            <a:ext cx="8006861" cy="72000"/>
          </a:xfrm>
          <a:prstGeom prst="roundRect">
            <a:avLst>
              <a:gd name="adj" fmla="val 50000"/>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128916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番号なし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953EA1E6-C3B8-DE4D-A346-09EF080BA12A}"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3881390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番号あり_箇条書き貼り付け用">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3" name="Content Placeholder 2"/>
          <p:cNvSpPr>
            <a:spLocks noGrp="1"/>
          </p:cNvSpPr>
          <p:nvPr>
            <p:ph idx="1"/>
          </p:nvPr>
        </p:nvSpPr>
        <p:spPr>
          <a:xfrm>
            <a:off x="194898" y="1884384"/>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
        <p:nvSpPr>
          <p:cNvPr id="4" name="Date Placeholder 3"/>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Tree>
    <p:extLst>
      <p:ext uri="{BB962C8B-B14F-4D97-AF65-F5344CB8AC3E}">
        <p14:creationId xmlns:p14="http://schemas.microsoft.com/office/powerpoint/2010/main" val="20572426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番号なし＿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5238"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FD99470E-4BC5-1945-9506-A510EA67C3DE}"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a:xfrm>
            <a:off x="8228059" y="6443601"/>
            <a:ext cx="721106" cy="401638"/>
          </a:xfrm>
        </p:spPr>
        <p:txBody>
          <a:bodyPr/>
          <a:lstStyle>
            <a:lvl1pPr>
              <a:defRPr sz="2800"/>
            </a:lvl1pPr>
          </a:lstStyle>
          <a:p>
            <a:fld id="{2981C279-7323-A845-8A27-BB5908B2F04D}" type="slidenum">
              <a:rPr kumimoji="1" lang="ja-JP" altLang="en-US" smtClean="0"/>
              <a:pPr/>
              <a:t>‹#›</a:t>
            </a:fld>
            <a:endParaRPr kumimoji="1" lang="ja-JP" altLang="en-US"/>
          </a:p>
        </p:txBody>
      </p:sp>
      <p:sp>
        <p:nvSpPr>
          <p:cNvPr id="13" name="Content Placeholder 2">
            <a:extLst>
              <a:ext uri="{FF2B5EF4-FFF2-40B4-BE49-F238E27FC236}">
                <a16:creationId xmlns:a16="http://schemas.microsoft.com/office/drawing/2014/main" id="{6CB6FB83-902B-494A-98B3-A5B53F5B8137}"/>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16026999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番号あり_箇条書きのみ">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179634" y="-128952"/>
            <a:ext cx="8198828" cy="1095506"/>
          </a:xfrm>
        </p:spPr>
        <p:txBody>
          <a:bodyPr>
            <a:noAutofit/>
          </a:bodyPr>
          <a:lstStyle>
            <a:lvl1pPr>
              <a:defRPr sz="4800"/>
            </a:lvl1pPr>
          </a:lstStyle>
          <a:p>
            <a:r>
              <a:rPr lang="ja-JP" altLang="en-US"/>
              <a:t>スライドのタイトル</a:t>
            </a:r>
            <a:endParaRPr lang="en-US" dirty="0"/>
          </a:p>
        </p:txBody>
      </p:sp>
      <p:sp>
        <p:nvSpPr>
          <p:cNvPr id="4" name="Date Placeholder 3"/>
          <p:cNvSpPr>
            <a:spLocks noGrp="1"/>
          </p:cNvSpPr>
          <p:nvPr>
            <p:ph type="dt" sz="half" idx="10"/>
          </p:nvPr>
        </p:nvSpPr>
        <p:spPr/>
        <p:txBody>
          <a:bodyPr/>
          <a:lstStyle/>
          <a:p>
            <a:fld id="{484468A3-0919-F54E-B59A-E9ED9FABFE93}"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
        <p:nvSpPr>
          <p:cNvPr id="9" name="フリーフォーム 8">
            <a:extLst>
              <a:ext uri="{FF2B5EF4-FFF2-40B4-BE49-F238E27FC236}">
                <a16:creationId xmlns:a16="http://schemas.microsoft.com/office/drawing/2014/main" id="{2088A402-64A7-4F4B-9DF6-0F821459DD04}"/>
              </a:ext>
            </a:extLst>
          </p:cNvPr>
          <p:cNvSpPr/>
          <p:nvPr userDrawn="1"/>
        </p:nvSpPr>
        <p:spPr>
          <a:xfrm>
            <a:off x="-63877" y="-128952"/>
            <a:ext cx="1172309" cy="1160586"/>
          </a:xfrm>
          <a:custGeom>
            <a:avLst/>
            <a:gdLst>
              <a:gd name="connsiteX0" fmla="*/ 0 w 1289540"/>
              <a:gd name="connsiteY0" fmla="*/ 0 h 1160586"/>
              <a:gd name="connsiteX1" fmla="*/ 1286782 w 1289540"/>
              <a:gd name="connsiteY1" fmla="*/ 0 h 1160586"/>
              <a:gd name="connsiteX2" fmla="*/ 1289540 w 1289540"/>
              <a:gd name="connsiteY2" fmla="*/ 27360 h 1160586"/>
              <a:gd name="connsiteX3" fmla="*/ 1289540 w 1289540"/>
              <a:gd name="connsiteY3" fmla="*/ 933935 h 1160586"/>
              <a:gd name="connsiteX4" fmla="*/ 1062889 w 1289540"/>
              <a:gd name="connsiteY4" fmla="*/ 1160586 h 1160586"/>
              <a:gd name="connsiteX5" fmla="*/ 49937 w 1289540"/>
              <a:gd name="connsiteY5" fmla="*/ 1160586 h 1160586"/>
              <a:gd name="connsiteX6" fmla="*/ 4259 w 1289540"/>
              <a:gd name="connsiteY6" fmla="*/ 1155981 h 1160586"/>
              <a:gd name="connsiteX7" fmla="*/ 0 w 1289540"/>
              <a:gd name="connsiteY7" fmla="*/ 1154659 h 116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89540" h="1160586">
                <a:moveTo>
                  <a:pt x="0" y="0"/>
                </a:moveTo>
                <a:lnTo>
                  <a:pt x="1286782" y="0"/>
                </a:lnTo>
                <a:lnTo>
                  <a:pt x="1289540" y="27360"/>
                </a:lnTo>
                <a:lnTo>
                  <a:pt x="1289540" y="933935"/>
                </a:lnTo>
                <a:cubicBezTo>
                  <a:pt x="1289540" y="1059111"/>
                  <a:pt x="1188065" y="1160586"/>
                  <a:pt x="1062889" y="1160586"/>
                </a:cubicBezTo>
                <a:lnTo>
                  <a:pt x="49937" y="1160586"/>
                </a:lnTo>
                <a:cubicBezTo>
                  <a:pt x="34290" y="1160586"/>
                  <a:pt x="19013" y="1159001"/>
                  <a:pt x="4259" y="1155981"/>
                </a:cubicBezTo>
                <a:lnTo>
                  <a:pt x="0" y="115465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プレースホルダー 10">
            <a:extLst>
              <a:ext uri="{FF2B5EF4-FFF2-40B4-BE49-F238E27FC236}">
                <a16:creationId xmlns:a16="http://schemas.microsoft.com/office/drawing/2014/main" id="{9B857D65-C0D5-C14C-9A10-143D21D4BE97}"/>
              </a:ext>
            </a:extLst>
          </p:cNvPr>
          <p:cNvSpPr>
            <a:spLocks noGrp="1"/>
          </p:cNvSpPr>
          <p:nvPr>
            <p:ph type="body" sz="quarter" idx="13" hasCustomPrompt="1"/>
          </p:nvPr>
        </p:nvSpPr>
        <p:spPr>
          <a:xfrm>
            <a:off x="-425464" y="-27300"/>
            <a:ext cx="1879127" cy="972000"/>
          </a:xfrm>
        </p:spPr>
        <p:txBody>
          <a:bodyPr>
            <a:noAutofit/>
          </a:bodyPr>
          <a:lstStyle>
            <a:lvl1pPr marL="0" indent="0" algn="ctr">
              <a:buNone/>
              <a:defRPr sz="8000">
                <a:solidFill>
                  <a:schemeClr val="bg1"/>
                </a:solidFill>
              </a:defRPr>
            </a:lvl1pPr>
            <a:lvl2pPr marL="457200" indent="0">
              <a:buNone/>
              <a:defRPr/>
            </a:lvl2pPr>
            <a:lvl3pPr marL="914400" indent="0">
              <a:buNone/>
              <a:defRPr/>
            </a:lvl3pPr>
            <a:lvl4pPr marL="1371600" indent="0">
              <a:buNone/>
              <a:defRPr/>
            </a:lvl4pPr>
            <a:lvl5pPr marL="1828800" indent="0">
              <a:buNone/>
              <a:defRPr/>
            </a:lvl5pPr>
          </a:lstStyle>
          <a:p>
            <a:pPr lvl="0"/>
            <a:r>
              <a:rPr kumimoji="1" lang="en-US" altLang="ja-JP" dirty="0"/>
              <a:t>No</a:t>
            </a:r>
            <a:endParaRPr kumimoji="1" lang="ja-JP" altLang="en-US"/>
          </a:p>
        </p:txBody>
      </p:sp>
      <p:sp>
        <p:nvSpPr>
          <p:cNvPr id="10" name="Content Placeholder 2">
            <a:extLst>
              <a:ext uri="{FF2B5EF4-FFF2-40B4-BE49-F238E27FC236}">
                <a16:creationId xmlns:a16="http://schemas.microsoft.com/office/drawing/2014/main" id="{008DC9C3-5553-BD40-9933-0A4D05E8ED7A}"/>
              </a:ext>
            </a:extLst>
          </p:cNvPr>
          <p:cNvSpPr>
            <a:spLocks noGrp="1"/>
          </p:cNvSpPr>
          <p:nvPr>
            <p:ph idx="1"/>
          </p:nvPr>
        </p:nvSpPr>
        <p:spPr>
          <a:xfrm>
            <a:off x="194898" y="1169281"/>
            <a:ext cx="8859709" cy="4692114"/>
          </a:xfrm>
        </p:spPr>
        <p:txBody>
          <a:bodyPr/>
          <a:lstStyle>
            <a:lvl3pPr>
              <a:lnSpc>
                <a:spcPct val="100000"/>
              </a:lnSpc>
              <a:defRPr/>
            </a:lvl3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p:txBody>
      </p:sp>
    </p:spTree>
    <p:extLst>
      <p:ext uri="{BB962C8B-B14F-4D97-AF65-F5344CB8AC3E}">
        <p14:creationId xmlns:p14="http://schemas.microsoft.com/office/powerpoint/2010/main" val="35627199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ja-JP" altLang="en-US"/>
              <a:t>マスター タイトルの書式設定</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409F3555-E93B-3A4D-AF4E-8776BA7B7879}"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7455961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E41D34DB-DCA4-3E46-8E9A-438514557B03}" type="datetime1">
              <a:rPr kumimoji="1" lang="ja-JP" altLang="en-US" smtClean="0"/>
              <a:t>2020/8/28</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3769411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Content Placeholder 3"/>
          <p:cNvSpPr>
            <a:spLocks noGrp="1"/>
          </p:cNvSpPr>
          <p:nvPr>
            <p:ph sz="half" idx="2"/>
          </p:nvPr>
        </p:nvSpPr>
        <p:spPr>
          <a:xfrm>
            <a:off x="629842" y="2505075"/>
            <a:ext cx="3868340"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Content Placeholder 5"/>
          <p:cNvSpPr>
            <a:spLocks noGrp="1"/>
          </p:cNvSpPr>
          <p:nvPr>
            <p:ph sz="quarter" idx="4"/>
          </p:nvPr>
        </p:nvSpPr>
        <p:spPr>
          <a:xfrm>
            <a:off x="4629150" y="2505075"/>
            <a:ext cx="3887391"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B29C2B0B-3EB1-7D48-BCB2-B34EB8C22E6E}" type="datetime1">
              <a:rPr kumimoji="1" lang="ja-JP" altLang="en-US" smtClean="0"/>
              <a:t>2020/8/28</a:t>
            </a:fld>
            <a:endParaRPr kumimoji="1" lang="ja-JP" altLang="en-US"/>
          </a:p>
        </p:txBody>
      </p:sp>
      <p:sp>
        <p:nvSpPr>
          <p:cNvPr id="8" name="Footer Placeholder 7"/>
          <p:cNvSpPr>
            <a:spLocks noGrp="1"/>
          </p:cNvSpPr>
          <p:nvPr>
            <p:ph type="ftr" sz="quarter" idx="11"/>
          </p:nvPr>
        </p:nvSpPr>
        <p:spPr/>
        <p:txBody>
          <a:bodyPr/>
          <a:lstStyle/>
          <a:p>
            <a:r>
              <a:rPr kumimoji="1" lang="ja-JP" altLang="en-US"/>
              <a:t>進捗報告</a:t>
            </a:r>
          </a:p>
        </p:txBody>
      </p:sp>
      <p:sp>
        <p:nvSpPr>
          <p:cNvPr id="9" name="Slide Number Placeholder 8"/>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2418469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50CE9526-C6B6-3C4B-B48C-57A5608CC1DE}" type="datetime1">
              <a:rPr kumimoji="1" lang="ja-JP" altLang="en-US" smtClean="0"/>
              <a:t>2020/8/28</a:t>
            </a:fld>
            <a:endParaRPr kumimoji="1" lang="ja-JP" altLang="en-US"/>
          </a:p>
        </p:txBody>
      </p:sp>
      <p:sp>
        <p:nvSpPr>
          <p:cNvPr id="4" name="Footer Placeholder 3"/>
          <p:cNvSpPr>
            <a:spLocks noGrp="1"/>
          </p:cNvSpPr>
          <p:nvPr>
            <p:ph type="ftr" sz="quarter" idx="11"/>
          </p:nvPr>
        </p:nvSpPr>
        <p:spPr/>
        <p:txBody>
          <a:bodyPr/>
          <a:lstStyle/>
          <a:p>
            <a:r>
              <a:rPr kumimoji="1" lang="ja-JP" altLang="en-US"/>
              <a:t>進捗報告</a:t>
            </a:r>
          </a:p>
        </p:txBody>
      </p:sp>
      <p:sp>
        <p:nvSpPr>
          <p:cNvPr id="5" name="Slide Number Placeholder 4"/>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10140439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コピー用">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EDE972-7F9F-8545-A12B-9CBEE476963D}" type="datetime1">
              <a:rPr kumimoji="1" lang="ja-JP" altLang="en-US" smtClean="0"/>
              <a:t>2020/8/28</a:t>
            </a:fld>
            <a:endParaRPr kumimoji="1" lang="ja-JP" altLang="en-US"/>
          </a:p>
        </p:txBody>
      </p:sp>
      <p:sp>
        <p:nvSpPr>
          <p:cNvPr id="3" name="Footer Placeholder 2"/>
          <p:cNvSpPr>
            <a:spLocks noGrp="1"/>
          </p:cNvSpPr>
          <p:nvPr>
            <p:ph type="ftr" sz="quarter" idx="11"/>
          </p:nvPr>
        </p:nvSpPr>
        <p:spPr/>
        <p:txBody>
          <a:bodyPr/>
          <a:lstStyle/>
          <a:p>
            <a:r>
              <a:rPr kumimoji="1" lang="ja-JP" altLang="en-US"/>
              <a:t>進捗報告</a:t>
            </a:r>
          </a:p>
        </p:txBody>
      </p:sp>
      <p:sp>
        <p:nvSpPr>
          <p:cNvPr id="4" name="Slide Number Placeholder 3"/>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grpSp>
        <p:nvGrpSpPr>
          <p:cNvPr id="5" name="グループ化 4">
            <a:extLst>
              <a:ext uri="{FF2B5EF4-FFF2-40B4-BE49-F238E27FC236}">
                <a16:creationId xmlns:a16="http://schemas.microsoft.com/office/drawing/2014/main" id="{BF48DF8D-E5BC-9044-9980-A872104EC9D1}"/>
              </a:ext>
            </a:extLst>
          </p:cNvPr>
          <p:cNvGrpSpPr/>
          <p:nvPr userDrawn="1"/>
        </p:nvGrpSpPr>
        <p:grpSpPr>
          <a:xfrm>
            <a:off x="2438030" y="3497736"/>
            <a:ext cx="513617" cy="487974"/>
            <a:chOff x="5777279" y="1326905"/>
            <a:chExt cx="513617" cy="487974"/>
          </a:xfrm>
          <a:solidFill>
            <a:schemeClr val="accent1"/>
          </a:solidFill>
        </p:grpSpPr>
        <p:sp>
          <p:nvSpPr>
            <p:cNvPr id="6" name="三角形 5">
              <a:extLst>
                <a:ext uri="{FF2B5EF4-FFF2-40B4-BE49-F238E27FC236}">
                  <a16:creationId xmlns:a16="http://schemas.microsoft.com/office/drawing/2014/main" id="{3DC6B543-7F25-FF44-97B2-229A862B52F5}"/>
                </a:ext>
              </a:extLst>
            </p:cNvPr>
            <p:cNvSpPr/>
            <p:nvPr userDrawn="1"/>
          </p:nvSpPr>
          <p:spPr>
            <a:xfrm rot="5400000">
              <a:off x="5882786" y="140677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三角形 6">
              <a:extLst>
                <a:ext uri="{FF2B5EF4-FFF2-40B4-BE49-F238E27FC236}">
                  <a16:creationId xmlns:a16="http://schemas.microsoft.com/office/drawing/2014/main" id="{39018809-A256-1446-9BCB-F9BC0B2CEFC5}"/>
                </a:ext>
              </a:extLst>
            </p:cNvPr>
            <p:cNvSpPr/>
            <p:nvPr userDrawn="1"/>
          </p:nvSpPr>
          <p:spPr>
            <a:xfrm rot="5400000">
              <a:off x="5697415" y="1406769"/>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nvGrpSpPr>
          <p:cNvPr id="8" name="グループ化 7">
            <a:extLst>
              <a:ext uri="{FF2B5EF4-FFF2-40B4-BE49-F238E27FC236}">
                <a16:creationId xmlns:a16="http://schemas.microsoft.com/office/drawing/2014/main" id="{EEA83C1B-5795-FE4D-8A70-6E249896CB42}"/>
              </a:ext>
            </a:extLst>
          </p:cNvPr>
          <p:cNvGrpSpPr/>
          <p:nvPr userDrawn="1"/>
        </p:nvGrpSpPr>
        <p:grpSpPr>
          <a:xfrm>
            <a:off x="697504" y="3453857"/>
            <a:ext cx="686164" cy="488219"/>
            <a:chOff x="5159252" y="1181176"/>
            <a:chExt cx="686164" cy="488219"/>
          </a:xfrm>
          <a:solidFill>
            <a:schemeClr val="accent1"/>
          </a:solidFill>
        </p:grpSpPr>
        <p:sp>
          <p:nvSpPr>
            <p:cNvPr id="9" name="三角形 8">
              <a:extLst>
                <a:ext uri="{FF2B5EF4-FFF2-40B4-BE49-F238E27FC236}">
                  <a16:creationId xmlns:a16="http://schemas.microsoft.com/office/drawing/2014/main" id="{C16B67FE-3CD0-2140-8383-24074EDF5FCE}"/>
                </a:ext>
              </a:extLst>
            </p:cNvPr>
            <p:cNvSpPr/>
            <p:nvPr userDrawn="1"/>
          </p:nvSpPr>
          <p:spPr>
            <a:xfrm rot="5400000">
              <a:off x="5437306" y="1261040"/>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0" name="三角形 9">
              <a:extLst>
                <a:ext uri="{FF2B5EF4-FFF2-40B4-BE49-F238E27FC236}">
                  <a16:creationId xmlns:a16="http://schemas.microsoft.com/office/drawing/2014/main" id="{460DA42C-3A8C-854B-87D3-67D552964AF8}"/>
                </a:ext>
              </a:extLst>
            </p:cNvPr>
            <p:cNvSpPr/>
            <p:nvPr userDrawn="1"/>
          </p:nvSpPr>
          <p:spPr>
            <a:xfrm rot="5400000">
              <a:off x="5264759" y="1261286"/>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sp>
          <p:nvSpPr>
            <p:cNvPr id="11" name="三角形 10">
              <a:extLst>
                <a:ext uri="{FF2B5EF4-FFF2-40B4-BE49-F238E27FC236}">
                  <a16:creationId xmlns:a16="http://schemas.microsoft.com/office/drawing/2014/main" id="{9E4FAB19-4805-5048-B3D0-482B1B63211B}"/>
                </a:ext>
              </a:extLst>
            </p:cNvPr>
            <p:cNvSpPr/>
            <p:nvPr userDrawn="1"/>
          </p:nvSpPr>
          <p:spPr>
            <a:xfrm rot="5400000">
              <a:off x="5079388" y="1261285"/>
              <a:ext cx="487973" cy="328246"/>
            </a:xfrm>
            <a:prstGeom prst="triangle">
              <a:avLst/>
            </a:prstGeom>
            <a:grp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lgn="ctr">
                <a:buFontTx/>
                <a:buBlip>
                  <a:blip r:embed="rId2"/>
                </a:buBlip>
              </a:pPr>
              <a:endParaRPr kumimoji="1" lang="ja-JP" altLang="en-US"/>
            </a:p>
          </p:txBody>
        </p:sp>
      </p:grpSp>
      <p:sp>
        <p:nvSpPr>
          <p:cNvPr id="12" name="三角形 11">
            <a:extLst>
              <a:ext uri="{FF2B5EF4-FFF2-40B4-BE49-F238E27FC236}">
                <a16:creationId xmlns:a16="http://schemas.microsoft.com/office/drawing/2014/main" id="{2C762878-2D1B-CD44-AFDF-6B039A7E14AE}"/>
              </a:ext>
            </a:extLst>
          </p:cNvPr>
          <p:cNvSpPr/>
          <p:nvPr userDrawn="1"/>
        </p:nvSpPr>
        <p:spPr>
          <a:xfrm rot="5400000">
            <a:off x="3707109" y="3508864"/>
            <a:ext cx="487973" cy="328246"/>
          </a:xfrm>
          <a:prstGeom prst="triangle">
            <a:avLst/>
          </a:prstGeom>
          <a:solidFill>
            <a:schemeClr val="accent1"/>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13" name="グループ化 12">
            <a:extLst>
              <a:ext uri="{FF2B5EF4-FFF2-40B4-BE49-F238E27FC236}">
                <a16:creationId xmlns:a16="http://schemas.microsoft.com/office/drawing/2014/main" id="{D0F0539D-82B8-914D-9DE6-05B3A42AEE90}"/>
              </a:ext>
            </a:extLst>
          </p:cNvPr>
          <p:cNvGrpSpPr/>
          <p:nvPr userDrawn="1"/>
        </p:nvGrpSpPr>
        <p:grpSpPr>
          <a:xfrm>
            <a:off x="163626" y="1160115"/>
            <a:ext cx="4103574" cy="680876"/>
            <a:chOff x="163626" y="1160115"/>
            <a:chExt cx="4103574" cy="680876"/>
          </a:xfrm>
        </p:grpSpPr>
        <p:cxnSp>
          <p:nvCxnSpPr>
            <p:cNvPr id="14" name="直線コネクタ 13">
              <a:extLst>
                <a:ext uri="{FF2B5EF4-FFF2-40B4-BE49-F238E27FC236}">
                  <a16:creationId xmlns:a16="http://schemas.microsoft.com/office/drawing/2014/main" id="{CCB3DF71-233C-784B-A40E-F763DAF7410E}"/>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5" name="正方形/長方形 14">
              <a:extLst>
                <a:ext uri="{FF2B5EF4-FFF2-40B4-BE49-F238E27FC236}">
                  <a16:creationId xmlns:a16="http://schemas.microsoft.com/office/drawing/2014/main" id="{CA15AE55-A3D1-3048-9E8F-3A81DFB0C414}"/>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6" name="テキスト プレースホルダー 12">
            <a:extLst>
              <a:ext uri="{FF2B5EF4-FFF2-40B4-BE49-F238E27FC236}">
                <a16:creationId xmlns:a16="http://schemas.microsoft.com/office/drawing/2014/main" id="{3013F31D-8B87-584D-8A56-225A22C7C61E}"/>
              </a:ext>
            </a:extLst>
          </p:cNvPr>
          <p:cNvSpPr>
            <a:spLocks noGrp="1"/>
          </p:cNvSpPr>
          <p:nvPr>
            <p:ph type="body" sz="quarter" idx="14" hasCustomPrompt="1"/>
          </p:nvPr>
        </p:nvSpPr>
        <p:spPr>
          <a:xfrm>
            <a:off x="404691" y="1192726"/>
            <a:ext cx="8147050" cy="680876"/>
          </a:xfrm>
        </p:spPr>
        <p:txBody>
          <a:bodyPr/>
          <a:lstStyle>
            <a:lvl1pPr marL="0" indent="0">
              <a:buNone/>
              <a:defRPr sz="3200"/>
            </a:lvl1pPr>
          </a:lstStyle>
          <a:p>
            <a:pPr lvl="0"/>
            <a:r>
              <a:rPr kumimoji="1" lang="ja-JP" altLang="en-US"/>
              <a:t>テキスト</a:t>
            </a:r>
          </a:p>
        </p:txBody>
      </p:sp>
    </p:spTree>
    <p:extLst>
      <p:ext uri="{BB962C8B-B14F-4D97-AF65-F5344CB8AC3E}">
        <p14:creationId xmlns:p14="http://schemas.microsoft.com/office/powerpoint/2010/main" val="5240859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B215014-30FE-CC43-81CB-CE71B2D66247}" type="datetime1">
              <a:rPr kumimoji="1" lang="ja-JP" altLang="en-US" smtClean="0"/>
              <a:t>2020/8/28</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83454681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370862DB-EF94-E646-B694-C43CC85D160D}" type="datetime1">
              <a:rPr kumimoji="1" lang="ja-JP" altLang="en-US" smtClean="0"/>
              <a:t>2020/8/28</a:t>
            </a:fld>
            <a:endParaRPr kumimoji="1" lang="ja-JP" altLang="en-US"/>
          </a:p>
        </p:txBody>
      </p:sp>
      <p:sp>
        <p:nvSpPr>
          <p:cNvPr id="6" name="Footer Placeholder 5"/>
          <p:cNvSpPr>
            <a:spLocks noGrp="1"/>
          </p:cNvSpPr>
          <p:nvPr>
            <p:ph type="ftr" sz="quarter" idx="11"/>
          </p:nvPr>
        </p:nvSpPr>
        <p:spPr/>
        <p:txBody>
          <a:bodyPr/>
          <a:lstStyle/>
          <a:p>
            <a:r>
              <a:rPr kumimoji="1" lang="ja-JP" altLang="en-US"/>
              <a:t>進捗報告</a:t>
            </a:r>
          </a:p>
        </p:txBody>
      </p:sp>
      <p:sp>
        <p:nvSpPr>
          <p:cNvPr id="7" name="Slide Number Placeholder 6"/>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21715020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BDB0722B-D148-BE44-BF67-6510CE43B9F9}"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25281140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03608DE0-8C54-1A48-96D9-0CB1F61C3B86}" type="datetime1">
              <a:rPr kumimoji="1" lang="ja-JP" altLang="en-US" smtClean="0"/>
              <a:t>2020/8/28</a:t>
            </a:fld>
            <a:endParaRPr kumimoji="1" lang="ja-JP" altLang="en-US"/>
          </a:p>
        </p:txBody>
      </p:sp>
      <p:sp>
        <p:nvSpPr>
          <p:cNvPr id="5" name="Footer Placeholder 4"/>
          <p:cNvSpPr>
            <a:spLocks noGrp="1"/>
          </p:cNvSpPr>
          <p:nvPr>
            <p:ph type="ftr" sz="quarter" idx="11"/>
          </p:nvPr>
        </p:nvSpPr>
        <p:spPr/>
        <p:txBody>
          <a:bodyPr/>
          <a:lstStyle/>
          <a:p>
            <a:r>
              <a:rPr kumimoji="1" lang="ja-JP" altLang="en-US"/>
              <a:t>進捗報告</a:t>
            </a:r>
          </a:p>
        </p:txBody>
      </p:sp>
      <p:sp>
        <p:nvSpPr>
          <p:cNvPr id="6" name="Slide Number Placeholder 5"/>
          <p:cNvSpPr>
            <a:spLocks noGrp="1"/>
          </p:cNvSpPr>
          <p:nvPr>
            <p:ph type="sldNum" sz="quarter" idx="12"/>
          </p:nvPr>
        </p:nvSpPr>
        <p:spPr/>
        <p:txBody>
          <a:bodyPr/>
          <a:lstStyle/>
          <a:p>
            <a:fld id="{2981C279-7323-A845-8A27-BB5908B2F04D}" type="slidenum">
              <a:rPr kumimoji="1" lang="ja-JP" altLang="en-US" smtClean="0"/>
              <a:t>‹#›</a:t>
            </a:fld>
            <a:endParaRPr kumimoji="1" lang="ja-JP" altLang="en-US"/>
          </a:p>
        </p:txBody>
      </p:sp>
    </p:spTree>
    <p:extLst>
      <p:ext uri="{BB962C8B-B14F-4D97-AF65-F5344CB8AC3E}">
        <p14:creationId xmlns:p14="http://schemas.microsoft.com/office/powerpoint/2010/main" val="6990149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2.png"/><Relationship Id="rId2" Type="http://schemas.openxmlformats.org/officeDocument/2006/relationships/slideLayout" Target="../slideLayouts/slideLayout2.xml"/><Relationship Id="rId16"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464C4851-9044-7944-A997-D3E4769EC61B}"/>
              </a:ext>
            </a:extLst>
          </p:cNvPr>
          <p:cNvSpPr/>
          <p:nvPr userDrawn="1"/>
        </p:nvSpPr>
        <p:spPr>
          <a:xfrm>
            <a:off x="-11723" y="-8304"/>
            <a:ext cx="9180000" cy="769288"/>
          </a:xfrm>
          <a:prstGeom prst="rect">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7" name="正方形/長方形 6">
            <a:extLst>
              <a:ext uri="{FF2B5EF4-FFF2-40B4-BE49-F238E27FC236}">
                <a16:creationId xmlns:a16="http://schemas.microsoft.com/office/drawing/2014/main" id="{B65581C3-683F-974B-B777-1906334DD7D8}"/>
              </a:ext>
            </a:extLst>
          </p:cNvPr>
          <p:cNvSpPr/>
          <p:nvPr userDrawn="1"/>
        </p:nvSpPr>
        <p:spPr>
          <a:xfrm>
            <a:off x="-11723" y="6624072"/>
            <a:ext cx="9180000" cy="24511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prstTxWarp prst="textNoShape">
              <a:avLst/>
            </a:prstTxWarp>
            <a:noAutofit/>
          </a:bodyPr>
          <a:lstStyle/>
          <a:p>
            <a:pPr algn="ctr"/>
            <a:endParaRPr kumimoji="1" lang="ja-JP" altLang="en-US" sz="1350" b="0" i="0">
              <a:solidFill>
                <a:schemeClr val="bg1"/>
              </a:solidFill>
              <a:latin typeface="Hiragino Kaku Gothic Pro W3" panose="020B0300000000000000" pitchFamily="34" charset="-128"/>
              <a:ea typeface="Hiragino Kaku Gothic Pro W3" panose="020B0300000000000000" pitchFamily="34" charset="-128"/>
            </a:endParaRPr>
          </a:p>
        </p:txBody>
      </p:sp>
      <p:sp>
        <p:nvSpPr>
          <p:cNvPr id="34" name="フリーフォーム 33">
            <a:extLst>
              <a:ext uri="{FF2B5EF4-FFF2-40B4-BE49-F238E27FC236}">
                <a16:creationId xmlns:a16="http://schemas.microsoft.com/office/drawing/2014/main" id="{2D285060-24CD-0E41-A3F1-0099B6A8A897}"/>
              </a:ext>
            </a:extLst>
          </p:cNvPr>
          <p:cNvSpPr/>
          <p:nvPr userDrawn="1"/>
        </p:nvSpPr>
        <p:spPr>
          <a:xfrm flipH="1">
            <a:off x="8258747" y="6381627"/>
            <a:ext cx="973705" cy="546179"/>
          </a:xfrm>
          <a:custGeom>
            <a:avLst/>
            <a:gdLst>
              <a:gd name="connsiteX0" fmla="*/ 0 w 1209192"/>
              <a:gd name="connsiteY0" fmla="*/ 0 h 245119"/>
              <a:gd name="connsiteX1" fmla="*/ 1077529 w 1209192"/>
              <a:gd name="connsiteY1" fmla="*/ 0 h 245119"/>
              <a:gd name="connsiteX2" fmla="*/ 1209192 w 1209192"/>
              <a:gd name="connsiteY2" fmla="*/ 245119 h 245119"/>
              <a:gd name="connsiteX3" fmla="*/ 0 w 1209192"/>
              <a:gd name="connsiteY3" fmla="*/ 245119 h 245119"/>
            </a:gdLst>
            <a:ahLst/>
            <a:cxnLst>
              <a:cxn ang="0">
                <a:pos x="connsiteX0" y="connsiteY0"/>
              </a:cxn>
              <a:cxn ang="0">
                <a:pos x="connsiteX1" y="connsiteY1"/>
              </a:cxn>
              <a:cxn ang="0">
                <a:pos x="connsiteX2" y="connsiteY2"/>
              </a:cxn>
              <a:cxn ang="0">
                <a:pos x="connsiteX3" y="connsiteY3"/>
              </a:cxn>
            </a:cxnLst>
            <a:rect l="l" t="t" r="r" b="b"/>
            <a:pathLst>
              <a:path w="1209192" h="245119">
                <a:moveTo>
                  <a:pt x="0" y="0"/>
                </a:moveTo>
                <a:lnTo>
                  <a:pt x="1077529" y="0"/>
                </a:lnTo>
                <a:lnTo>
                  <a:pt x="1209192" y="245119"/>
                </a:lnTo>
                <a:lnTo>
                  <a:pt x="0" y="245119"/>
                </a:lnTo>
                <a:close/>
              </a:path>
            </a:pathLst>
          </a:custGeom>
          <a:ln w="571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b="0" i="0">
              <a:latin typeface="Hiragino Kaku Gothic Pro W3" panose="020B0300000000000000" pitchFamily="34" charset="-128"/>
              <a:ea typeface="Hiragino Kaku Gothic Pro W3" panose="020B0300000000000000" pitchFamily="34" charset="-128"/>
            </a:endParaRPr>
          </a:p>
        </p:txBody>
      </p:sp>
      <p:sp>
        <p:nvSpPr>
          <p:cNvPr id="2" name="Title Placeholder 1"/>
          <p:cNvSpPr>
            <a:spLocks noGrp="1"/>
          </p:cNvSpPr>
          <p:nvPr>
            <p:ph type="title"/>
          </p:nvPr>
        </p:nvSpPr>
        <p:spPr>
          <a:xfrm>
            <a:off x="734160" y="-154601"/>
            <a:ext cx="7886700" cy="1095506"/>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276960" y="1825625"/>
            <a:ext cx="7886700" cy="4351338"/>
          </a:xfrm>
          <a:prstGeom prst="rect">
            <a:avLst/>
          </a:prstGeom>
        </p:spPr>
        <p:txBody>
          <a:bodyPr vert="horz" lIns="91440" tIns="45720" rIns="91440" bIns="45720" rtlCol="0">
            <a:noAutofit/>
          </a:bodyPr>
          <a:lstStyle/>
          <a:p>
            <a:pPr lvl="0"/>
            <a:r>
              <a:rPr lang="ja-JP" altLang="en-US"/>
              <a:t>マスター テキストの書式設定</a:t>
            </a:r>
          </a:p>
          <a:p>
            <a:pPr lvl="1"/>
            <a:r>
              <a:rPr lang="ja-JP" altLang="en-US"/>
              <a:t>第 </a:t>
            </a:r>
            <a:r>
              <a:rPr lang="en-US" altLang="ja-JP" dirty="0"/>
              <a:t>2 </a:t>
            </a:r>
            <a:r>
              <a:rPr lang="ja-JP" altLang="en-US"/>
              <a:t>レベル</a:t>
            </a:r>
          </a:p>
          <a:p>
            <a:pPr lvl="2"/>
            <a:r>
              <a:rPr lang="ja-JP" altLang="en-US"/>
              <a:t>第 </a:t>
            </a:r>
            <a:r>
              <a:rPr lang="en-US" altLang="ja-JP" dirty="0"/>
              <a:t>3 </a:t>
            </a:r>
            <a:r>
              <a:rPr lang="ja-JP" altLang="en-US"/>
              <a:t>レベル</a:t>
            </a:r>
            <a:endParaRPr lang="en-US" dirty="0"/>
          </a:p>
        </p:txBody>
      </p:sp>
      <p:sp>
        <p:nvSpPr>
          <p:cNvPr id="4" name="Date Placeholder 3"/>
          <p:cNvSpPr>
            <a:spLocks noGrp="1"/>
          </p:cNvSpPr>
          <p:nvPr>
            <p:ph type="dt" sz="half" idx="2"/>
          </p:nvPr>
        </p:nvSpPr>
        <p:spPr>
          <a:xfrm>
            <a:off x="22577" y="6565457"/>
            <a:ext cx="2057400" cy="365125"/>
          </a:xfrm>
          <a:prstGeom prst="rect">
            <a:avLst/>
          </a:prstGeom>
        </p:spPr>
        <p:txBody>
          <a:bodyPr vert="horz" lIns="91440" tIns="45720" rIns="91440" bIns="45720" rtlCol="0" anchor="ctr"/>
          <a:lstStyle>
            <a:lvl1pPr algn="l">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fld id="{848FC433-A65A-5E4B-A542-B4358B331384}" type="datetime1">
              <a:rPr lang="ja-JP" altLang="en-US" smtClean="0"/>
              <a:t>2020/8/28</a:t>
            </a:fld>
            <a:endParaRPr lang="ja-JP" altLang="en-US"/>
          </a:p>
        </p:txBody>
      </p:sp>
      <p:sp>
        <p:nvSpPr>
          <p:cNvPr id="5" name="Footer Placeholder 4"/>
          <p:cNvSpPr>
            <a:spLocks noGrp="1"/>
          </p:cNvSpPr>
          <p:nvPr>
            <p:ph type="ftr" sz="quarter" idx="3"/>
          </p:nvPr>
        </p:nvSpPr>
        <p:spPr>
          <a:xfrm>
            <a:off x="3028950" y="6567365"/>
            <a:ext cx="3086100" cy="365125"/>
          </a:xfrm>
          <a:prstGeom prst="rect">
            <a:avLst/>
          </a:prstGeom>
        </p:spPr>
        <p:txBody>
          <a:bodyPr vert="horz" lIns="91440" tIns="45720" rIns="91440" bIns="45720" rtlCol="0" anchor="ctr"/>
          <a:lstStyle>
            <a:lvl1pPr algn="ctr">
              <a:defRPr sz="1200" b="0" i="0">
                <a:solidFill>
                  <a:schemeClr val="bg1"/>
                </a:solidFill>
                <a:latin typeface="Hiragino Kaku Gothic Pro W3" panose="020B0300000000000000" pitchFamily="34" charset="-128"/>
                <a:ea typeface="Hiragino Kaku Gothic Pro W3" panose="020B0300000000000000" pitchFamily="34" charset="-128"/>
              </a:defRPr>
            </a:lvl1pPr>
          </a:lstStyle>
          <a:p>
            <a:r>
              <a:rPr lang="ja-JP" altLang="en-US"/>
              <a:t>進捗報告</a:t>
            </a:r>
            <a:endParaRPr lang="en-US" altLang="ja-JP" dirty="0"/>
          </a:p>
        </p:txBody>
      </p:sp>
      <p:sp>
        <p:nvSpPr>
          <p:cNvPr id="6" name="Slide Number Placeholder 5"/>
          <p:cNvSpPr>
            <a:spLocks noGrp="1"/>
          </p:cNvSpPr>
          <p:nvPr>
            <p:ph type="sldNum" sz="quarter" idx="4"/>
          </p:nvPr>
        </p:nvSpPr>
        <p:spPr>
          <a:xfrm>
            <a:off x="8419588" y="6485304"/>
            <a:ext cx="595955" cy="365125"/>
          </a:xfrm>
          <a:prstGeom prst="rect">
            <a:avLst/>
          </a:prstGeom>
        </p:spPr>
        <p:txBody>
          <a:bodyPr vert="horz" lIns="91440" tIns="45720" rIns="91440" bIns="45720" rtlCol="0" anchor="ctr"/>
          <a:lstStyle>
            <a:lvl1pPr algn="r">
              <a:defRPr sz="2400" b="0" i="0">
                <a:solidFill>
                  <a:schemeClr val="bg1"/>
                </a:solidFill>
                <a:latin typeface="Hiragino Kaku Gothic Pro W3" panose="020B0300000000000000" pitchFamily="34" charset="-128"/>
                <a:ea typeface="Hiragino Kaku Gothic Pro W3" panose="020B0300000000000000" pitchFamily="34" charset="-128"/>
              </a:defRPr>
            </a:lvl1pPr>
          </a:lstStyle>
          <a:p>
            <a:fld id="{2981C279-7323-A845-8A27-BB5908B2F04D}" type="slidenum">
              <a:rPr lang="ja-JP" altLang="en-US" smtClean="0"/>
              <a:pPr/>
              <a:t>‹#›</a:t>
            </a:fld>
            <a:endParaRPr lang="ja-JP" altLang="en-US"/>
          </a:p>
        </p:txBody>
      </p:sp>
    </p:spTree>
    <p:extLst>
      <p:ext uri="{BB962C8B-B14F-4D97-AF65-F5344CB8AC3E}">
        <p14:creationId xmlns:p14="http://schemas.microsoft.com/office/powerpoint/2010/main" val="631777835"/>
      </p:ext>
    </p:extLst>
  </p:cSld>
  <p:clrMap bg1="lt1" tx1="dk1" bg2="lt2" tx2="dk2" accent1="accent1" accent2="accent2" accent3="accent3" accent4="accent4" accent5="accent5" accent6="accent6" hlink="hlink" folHlink="folHlink"/>
  <p:sldLayoutIdLst>
    <p:sldLayoutId id="2147483661" r:id="rId1"/>
    <p:sldLayoutId id="2147483675" r:id="rId2"/>
    <p:sldLayoutId id="2147483676" r:id="rId3"/>
    <p:sldLayoutId id="2147483673" r:id="rId4"/>
    <p:sldLayoutId id="2147483674"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hdr="0"/>
  <p:txStyles>
    <p:titleStyle>
      <a:lvl1pPr algn="l" defTabSz="914400" rtl="0" eaLnBrk="1" latinLnBrk="0" hangingPunct="1">
        <a:lnSpc>
          <a:spcPct val="90000"/>
        </a:lnSpc>
        <a:spcBef>
          <a:spcPct val="0"/>
        </a:spcBef>
        <a:buNone/>
        <a:defRPr kumimoji="1" sz="4400" b="0" i="0" kern="1200">
          <a:solidFill>
            <a:schemeClr val="tx1"/>
          </a:solidFill>
          <a:latin typeface="Hiragino Kaku Gothic Pro W3" panose="020B0300000000000000" pitchFamily="34" charset="-128"/>
          <a:ea typeface="Hiragino Kaku Gothic Pro W3" panose="020B0300000000000000" pitchFamily="34" charset="-128"/>
          <a:cs typeface="+mj-cs"/>
        </a:defRPr>
      </a:lvl1pPr>
    </p:titleStyle>
    <p:bodyStyle>
      <a:lvl1pPr marL="231775" indent="-231775" algn="l" defTabSz="914400" rtl="0" eaLnBrk="1" latinLnBrk="0" hangingPunct="1">
        <a:lnSpc>
          <a:spcPct val="90000"/>
        </a:lnSpc>
        <a:spcBef>
          <a:spcPts val="1000"/>
        </a:spcBef>
        <a:buSzPct val="100000"/>
        <a:buFontTx/>
        <a:buBlip>
          <a:blip r:embed="rId16"/>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17"/>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18"/>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en-US"/>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5.emf"/></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5.emf"/><Relationship Id="rId5" Type="http://schemas.openxmlformats.org/officeDocument/2006/relationships/image" Target="../media/image7.tiff"/><Relationship Id="rId4" Type="http://schemas.openxmlformats.org/officeDocument/2006/relationships/image" Target="../media/image6.tiff"/></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9.sv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8.png"/><Relationship Id="rId5" Type="http://schemas.openxmlformats.org/officeDocument/2006/relationships/image" Target="../media/image7.tiff"/><Relationship Id="rId4" Type="http://schemas.openxmlformats.org/officeDocument/2006/relationships/image" Target="../media/image6.tiff"/></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6" Type="http://schemas.openxmlformats.org/officeDocument/2006/relationships/image" Target="../media/image10.emf"/><Relationship Id="rId5" Type="http://schemas.openxmlformats.org/officeDocument/2006/relationships/image" Target="../media/image7.tiff"/><Relationship Id="rId4" Type="http://schemas.openxmlformats.org/officeDocument/2006/relationships/image" Target="../media/image6.tiff"/></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5" Type="http://schemas.openxmlformats.org/officeDocument/2006/relationships/image" Target="../media/image7.tiff"/><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1.emf"/><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10.png"/><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2.emf"/></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3.emf"/></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4.emf"/><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4.emf"/></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3.xml"/><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9.png"/><Relationship Id="rId1" Type="http://schemas.openxmlformats.org/officeDocument/2006/relationships/slideLayout" Target="../slideLayouts/slideLayout3.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8.tiff"/><Relationship Id="rId2" Type="http://schemas.openxmlformats.org/officeDocument/2006/relationships/image" Target="../media/image17.png"/><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48396D-C709-8246-8286-094B8839C3C3}"/>
              </a:ext>
            </a:extLst>
          </p:cNvPr>
          <p:cNvSpPr>
            <a:spLocks noGrp="1"/>
          </p:cNvSpPr>
          <p:nvPr>
            <p:ph type="ctrTitle"/>
          </p:nvPr>
        </p:nvSpPr>
        <p:spPr/>
        <p:txBody>
          <a:bodyPr/>
          <a:lstStyle/>
          <a:p>
            <a:r>
              <a:rPr kumimoji="1" lang="ja-JP" altLang="en-US"/>
              <a:t>進捗報告</a:t>
            </a:r>
          </a:p>
        </p:txBody>
      </p:sp>
      <p:sp>
        <p:nvSpPr>
          <p:cNvPr id="3" name="字幕 2">
            <a:extLst>
              <a:ext uri="{FF2B5EF4-FFF2-40B4-BE49-F238E27FC236}">
                <a16:creationId xmlns:a16="http://schemas.microsoft.com/office/drawing/2014/main" id="{64C8C94E-7F42-E549-B498-1831334F572C}"/>
              </a:ext>
            </a:extLst>
          </p:cNvPr>
          <p:cNvSpPr>
            <a:spLocks noGrp="1"/>
          </p:cNvSpPr>
          <p:nvPr>
            <p:ph type="subTitle" idx="1"/>
          </p:nvPr>
        </p:nvSpPr>
        <p:spPr/>
        <p:txBody>
          <a:bodyPr/>
          <a:lstStyle/>
          <a:p>
            <a:r>
              <a:rPr kumimoji="1" lang="ja-JP" altLang="en-US"/>
              <a:t>松下昌悟</a:t>
            </a:r>
          </a:p>
        </p:txBody>
      </p:sp>
      <p:sp>
        <p:nvSpPr>
          <p:cNvPr id="4" name="日付プレースホルダー 3">
            <a:extLst>
              <a:ext uri="{FF2B5EF4-FFF2-40B4-BE49-F238E27FC236}">
                <a16:creationId xmlns:a16="http://schemas.microsoft.com/office/drawing/2014/main" id="{D039C715-D20B-D647-B48B-59A4FF41D99B}"/>
              </a:ext>
            </a:extLst>
          </p:cNvPr>
          <p:cNvSpPr>
            <a:spLocks noGrp="1"/>
          </p:cNvSpPr>
          <p:nvPr>
            <p:ph type="dt" sz="half" idx="10"/>
          </p:nvPr>
        </p:nvSpPr>
        <p:spPr/>
        <p:txBody>
          <a:bodyPr/>
          <a:lstStyle/>
          <a:p>
            <a:fld id="{81355CFD-0C13-B64F-8475-2B9C4937D230}"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2C3DFF42-E302-8446-A693-A684C0738F3F}"/>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0B3A790D-E0F0-AA4D-9672-14F1BBCAA13C}"/>
              </a:ext>
            </a:extLst>
          </p:cNvPr>
          <p:cNvSpPr>
            <a:spLocks noGrp="1"/>
          </p:cNvSpPr>
          <p:nvPr>
            <p:ph type="sldNum" sz="quarter" idx="12"/>
          </p:nvPr>
        </p:nvSpPr>
        <p:spPr/>
        <p:txBody>
          <a:bodyPr/>
          <a:lstStyle/>
          <a:p>
            <a:fld id="{2981C279-7323-A845-8A27-BB5908B2F04D}" type="slidenum">
              <a:rPr kumimoji="1" lang="ja-JP" altLang="en-US" smtClean="0"/>
              <a:t>1</a:t>
            </a:fld>
            <a:endParaRPr kumimoji="1" lang="ja-JP" altLang="en-US"/>
          </a:p>
        </p:txBody>
      </p:sp>
    </p:spTree>
    <p:extLst>
      <p:ext uri="{BB962C8B-B14F-4D97-AF65-F5344CB8AC3E}">
        <p14:creationId xmlns:p14="http://schemas.microsoft.com/office/powerpoint/2010/main" val="41873632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C3B8F9A-9C49-D748-9219-42ABC8E34521}"/>
              </a:ext>
            </a:extLst>
          </p:cNvPr>
          <p:cNvSpPr>
            <a:spLocks noGrp="1"/>
          </p:cNvSpPr>
          <p:nvPr>
            <p:ph type="title"/>
          </p:nvPr>
        </p:nvSpPr>
        <p:spPr/>
        <p:txBody>
          <a:bodyPr/>
          <a:lstStyle/>
          <a:p>
            <a:r>
              <a:rPr kumimoji="1" lang="ja-JP" altLang="en-US"/>
              <a:t>研究内容</a:t>
            </a:r>
          </a:p>
        </p:txBody>
      </p:sp>
      <p:sp>
        <p:nvSpPr>
          <p:cNvPr id="3" name="コンテンツ プレースホルダー 2">
            <a:extLst>
              <a:ext uri="{FF2B5EF4-FFF2-40B4-BE49-F238E27FC236}">
                <a16:creationId xmlns:a16="http://schemas.microsoft.com/office/drawing/2014/main" id="{39B2F77A-06B0-934E-AC65-F1CBC1CB73BD}"/>
              </a:ext>
            </a:extLst>
          </p:cNvPr>
          <p:cNvSpPr>
            <a:spLocks noGrp="1"/>
          </p:cNvSpPr>
          <p:nvPr>
            <p:ph idx="1"/>
          </p:nvPr>
        </p:nvSpPr>
        <p:spPr/>
        <p:txBody>
          <a:bodyPr/>
          <a:lstStyle/>
          <a:p>
            <a:r>
              <a:rPr lang="ja-JP" altLang="en-US"/>
              <a:t>エージェント同士の合意形成を行う手段として</a:t>
            </a:r>
            <a:r>
              <a:rPr lang="ja-JP" altLang="en-US">
                <a:solidFill>
                  <a:schemeClr val="accent2"/>
                </a:solidFill>
              </a:rPr>
              <a:t>自動交渉</a:t>
            </a:r>
            <a:r>
              <a:rPr lang="ja-JP" altLang="en-US"/>
              <a:t>が注目されている</a:t>
            </a:r>
            <a:endParaRPr lang="en-US" altLang="ja-JP" dirty="0"/>
          </a:p>
          <a:p>
            <a:r>
              <a:rPr lang="ja-JP" altLang="en-US">
                <a:solidFill>
                  <a:schemeClr val="accent2"/>
                </a:solidFill>
              </a:rPr>
              <a:t>人間とエージェントの交渉</a:t>
            </a:r>
            <a:r>
              <a:rPr lang="ja-JP" altLang="en-US"/>
              <a:t>への関心が高まっている</a:t>
            </a:r>
            <a:endParaRPr lang="en-US" altLang="ja-JP" dirty="0"/>
          </a:p>
          <a:p>
            <a:pPr lvl="1"/>
            <a:r>
              <a:rPr lang="ja-JP" altLang="en-US"/>
              <a:t>交渉の仲介・衝突解消</a:t>
            </a:r>
            <a:endParaRPr lang="en-US" altLang="ja-JP" dirty="0"/>
          </a:p>
          <a:p>
            <a:pPr lvl="1"/>
            <a:r>
              <a:rPr lang="ja-JP" altLang="en-US"/>
              <a:t>交渉技術の訓練</a:t>
            </a:r>
            <a:endParaRPr lang="en-US" altLang="ja-JP" dirty="0"/>
          </a:p>
          <a:p>
            <a:r>
              <a:rPr lang="ja-JP" altLang="en-US"/>
              <a:t>自動交渉で用いられるエージェントを人間との交渉に用いることは困難</a:t>
            </a:r>
            <a:endParaRPr lang="en-US" altLang="ja-JP" dirty="0"/>
          </a:p>
          <a:p>
            <a:r>
              <a:rPr lang="ja-JP" altLang="en-US"/>
              <a:t>相手の提案内容に応じて</a:t>
            </a:r>
            <a:r>
              <a:rPr lang="ja-JP" altLang="en-US">
                <a:solidFill>
                  <a:schemeClr val="accent2"/>
                </a:solidFill>
              </a:rPr>
              <a:t>相手をカテゴリ分け</a:t>
            </a:r>
            <a:r>
              <a:rPr lang="ja-JP" altLang="en-US"/>
              <a:t>する戦略は効果が高い</a:t>
            </a:r>
            <a:r>
              <a:rPr lang="en-US" altLang="ja-JP" dirty="0"/>
              <a:t>[1]</a:t>
            </a:r>
            <a:endParaRPr lang="ja-JP" altLang="en-US"/>
          </a:p>
        </p:txBody>
      </p:sp>
      <p:sp>
        <p:nvSpPr>
          <p:cNvPr id="4" name="日付プレースホルダー 3">
            <a:extLst>
              <a:ext uri="{FF2B5EF4-FFF2-40B4-BE49-F238E27FC236}">
                <a16:creationId xmlns:a16="http://schemas.microsoft.com/office/drawing/2014/main" id="{EAA32442-7E92-0A48-918D-C30BCCAF9AA2}"/>
              </a:ext>
            </a:extLst>
          </p:cNvPr>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602AE7A9-1F8D-FD4F-93CB-614973BC946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95C9F8FE-1DCC-8542-8F36-6893B86CC773}"/>
              </a:ext>
            </a:extLst>
          </p:cNvPr>
          <p:cNvSpPr>
            <a:spLocks noGrp="1"/>
          </p:cNvSpPr>
          <p:nvPr>
            <p:ph type="sldNum" sz="quarter" idx="12"/>
          </p:nvPr>
        </p:nvSpPr>
        <p:spPr/>
        <p:txBody>
          <a:bodyPr/>
          <a:lstStyle/>
          <a:p>
            <a:fld id="{2981C279-7323-A845-8A27-BB5908B2F04D}" type="slidenum">
              <a:rPr kumimoji="1" lang="ja-JP" altLang="en-US" smtClean="0"/>
              <a:t>2</a:t>
            </a:fld>
            <a:endParaRPr kumimoji="1" lang="ja-JP" altLang="en-US"/>
          </a:p>
        </p:txBody>
      </p:sp>
      <p:sp>
        <p:nvSpPr>
          <p:cNvPr id="7" name="テキスト プレースホルダー 6">
            <a:extLst>
              <a:ext uri="{FF2B5EF4-FFF2-40B4-BE49-F238E27FC236}">
                <a16:creationId xmlns:a16="http://schemas.microsoft.com/office/drawing/2014/main" id="{DA8BC238-EAB6-9C42-8C28-59E783743B3C}"/>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A20F7DC3-C0AA-D24D-A983-899F4CD2867F}"/>
              </a:ext>
            </a:extLst>
          </p:cNvPr>
          <p:cNvGrpSpPr/>
          <p:nvPr/>
        </p:nvGrpSpPr>
        <p:grpSpPr>
          <a:xfrm>
            <a:off x="163626" y="1160115"/>
            <a:ext cx="1290037" cy="680876"/>
            <a:chOff x="163626" y="1160115"/>
            <a:chExt cx="1290037" cy="680876"/>
          </a:xfrm>
        </p:grpSpPr>
        <p:cxnSp>
          <p:nvCxnSpPr>
            <p:cNvPr id="9" name="直線コネクタ 8">
              <a:extLst>
                <a:ext uri="{FF2B5EF4-FFF2-40B4-BE49-F238E27FC236}">
                  <a16:creationId xmlns:a16="http://schemas.microsoft.com/office/drawing/2014/main" id="{476AC9B1-7536-3847-91E0-B8335C1722A6}"/>
                </a:ext>
              </a:extLst>
            </p:cNvPr>
            <p:cNvCxnSpPr>
              <a:cxnSpLocks/>
            </p:cNvCxnSpPr>
            <p:nvPr userDrawn="1"/>
          </p:nvCxnSpPr>
          <p:spPr>
            <a:xfrm>
              <a:off x="163626" y="1699846"/>
              <a:ext cx="129003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E98DBD5D-EA17-3444-8D0C-5E95E4D9FEFD}"/>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3C512D8B-4CAB-2346-839F-7CDBAE4349E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背景</a:t>
            </a:r>
          </a:p>
        </p:txBody>
      </p:sp>
      <p:sp>
        <p:nvSpPr>
          <p:cNvPr id="13" name="正方形/長方形 12">
            <a:extLst>
              <a:ext uri="{FF2B5EF4-FFF2-40B4-BE49-F238E27FC236}">
                <a16:creationId xmlns:a16="http://schemas.microsoft.com/office/drawing/2014/main" id="{88059BF6-9EE9-984E-AD81-56039718D29E}"/>
              </a:ext>
            </a:extLst>
          </p:cNvPr>
          <p:cNvSpPr/>
          <p:nvPr/>
        </p:nvSpPr>
        <p:spPr>
          <a:xfrm>
            <a:off x="194898" y="5944983"/>
            <a:ext cx="8330195" cy="577081"/>
          </a:xfrm>
          <a:prstGeom prst="rect">
            <a:avLst/>
          </a:prstGeom>
        </p:spPr>
        <p:txBody>
          <a:bodyPr wrap="square">
            <a:spAutoFit/>
          </a:bodyPr>
          <a:lstStyle/>
          <a:p>
            <a:r>
              <a:rPr lang="en" altLang="ja-JP" sz="1050" dirty="0"/>
              <a:t>[1] Gaurav </a:t>
            </a:r>
            <a:r>
              <a:rPr lang="en" altLang="ja-JP" sz="1050" dirty="0" err="1"/>
              <a:t>Koley</a:t>
            </a:r>
            <a:r>
              <a:rPr lang="en" altLang="ja-JP" sz="1050" dirty="0"/>
              <a:t> and </a:t>
            </a:r>
            <a:r>
              <a:rPr lang="en" altLang="ja-JP" sz="1050" dirty="0" err="1"/>
              <a:t>Shrisha</a:t>
            </a:r>
            <a:r>
              <a:rPr lang="en" altLang="ja-JP" sz="1050" dirty="0"/>
              <a:t> Rao. ”Adaptive Human-Agent Multi-Issue Bilateral Negotiation Using the Thomas-Kilmann Conflict Mode Instrument.” 2018 IEEE/ACM 22nd International Symposium on Distributed Simulation and Real Time Applications (DS-RT),2018</a:t>
            </a:r>
          </a:p>
        </p:txBody>
      </p:sp>
    </p:spTree>
    <p:extLst>
      <p:ext uri="{BB962C8B-B14F-4D97-AF65-F5344CB8AC3E}">
        <p14:creationId xmlns:p14="http://schemas.microsoft.com/office/powerpoint/2010/main" val="16447419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研究内容</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p:txBody>
          <a:bodyPr/>
          <a:lstStyle/>
          <a:p>
            <a:r>
              <a:rPr lang="ja-JP" altLang="en-US"/>
              <a:t>既存研究では</a:t>
            </a:r>
            <a:r>
              <a:rPr lang="ja-JP" altLang="en-US">
                <a:solidFill>
                  <a:schemeClr val="accent2"/>
                </a:solidFill>
              </a:rPr>
              <a:t>現在の</a:t>
            </a:r>
            <a:r>
              <a:rPr lang="en" altLang="ja-JP" dirty="0">
                <a:solidFill>
                  <a:schemeClr val="accent2"/>
                </a:solidFill>
              </a:rPr>
              <a:t>offer</a:t>
            </a:r>
            <a:r>
              <a:rPr lang="ja-JP" altLang="en-US">
                <a:solidFill>
                  <a:schemeClr val="accent2"/>
                </a:solidFill>
              </a:rPr>
              <a:t>を過去の</a:t>
            </a:r>
            <a:r>
              <a:rPr lang="en" altLang="ja-JP" dirty="0">
                <a:solidFill>
                  <a:schemeClr val="accent2"/>
                </a:solidFill>
              </a:rPr>
              <a:t>offer</a:t>
            </a:r>
            <a:r>
              <a:rPr lang="ja-JP" altLang="en-US">
                <a:solidFill>
                  <a:schemeClr val="accent2"/>
                </a:solidFill>
              </a:rPr>
              <a:t>と比べる</a:t>
            </a:r>
            <a:r>
              <a:rPr lang="ja-JP" altLang="en-US"/>
              <a:t>という点のみで譲歩するかを判断している</a:t>
            </a:r>
          </a:p>
          <a:p>
            <a:pPr lvl="1"/>
            <a:r>
              <a:rPr lang="ja-JP" altLang="en-US">
                <a:solidFill>
                  <a:schemeClr val="accent1"/>
                </a:solidFill>
              </a:rPr>
              <a:t>極端な</a:t>
            </a:r>
            <a:r>
              <a:rPr lang="en" altLang="ja-JP" dirty="0">
                <a:solidFill>
                  <a:schemeClr val="accent1"/>
                </a:solidFill>
              </a:rPr>
              <a:t>offer</a:t>
            </a:r>
            <a:r>
              <a:rPr lang="ja-JP" altLang="en-US"/>
              <a:t>が来た時に対応が困難</a:t>
            </a:r>
            <a:endParaRPr lang="en-US" altLang="ja-JP" dirty="0"/>
          </a:p>
          <a:p>
            <a:pPr lvl="1"/>
            <a:r>
              <a:rPr lang="ja-JP" altLang="en-US"/>
              <a:t>俯瞰的に</a:t>
            </a:r>
            <a:r>
              <a:rPr lang="ja-JP" altLang="en-US">
                <a:solidFill>
                  <a:schemeClr val="accent1"/>
                </a:solidFill>
              </a:rPr>
              <a:t>相手の特徴を把握</a:t>
            </a:r>
            <a:r>
              <a:rPr lang="ja-JP" altLang="en-US"/>
              <a:t>するのが困難</a:t>
            </a:r>
            <a:endParaRPr lang="en-US" altLang="ja-JP" dirty="0"/>
          </a:p>
          <a:p>
            <a:pPr lvl="1"/>
            <a:r>
              <a:rPr lang="en" altLang="ja-JP" dirty="0"/>
              <a:t>offer</a:t>
            </a:r>
            <a:r>
              <a:rPr lang="ja-JP" altLang="en-US"/>
              <a:t>の送信以外の行動も人間の交渉では行われる</a:t>
            </a:r>
            <a:endParaRPr lang="en-US" altLang="ja-JP" dirty="0"/>
          </a:p>
          <a:p>
            <a:r>
              <a:rPr lang="ja-JP" altLang="en-US"/>
              <a:t>交渉では相手と</a:t>
            </a:r>
            <a:r>
              <a:rPr lang="ja-JP" altLang="en-US">
                <a:solidFill>
                  <a:schemeClr val="accent2"/>
                </a:solidFill>
              </a:rPr>
              <a:t>コミットメント</a:t>
            </a:r>
            <a:r>
              <a:rPr lang="ja-JP" altLang="en-US"/>
              <a:t>を築くことも重要</a:t>
            </a:r>
          </a:p>
          <a:p>
            <a:pPr lvl="1"/>
            <a:r>
              <a:rPr lang="en-US" altLang="ja-JP" dirty="0"/>
              <a:t>offer</a:t>
            </a:r>
            <a:r>
              <a:rPr lang="ja-JP" altLang="en-US"/>
              <a:t>以外の要素も加味することで良い関係構築を行うことが期待できる</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3</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1</a:t>
            </a:r>
            <a:endParaRPr kumimoji="1" lang="ja-JP" altLang="en-US"/>
          </a:p>
        </p:txBody>
      </p:sp>
      <p:grpSp>
        <p:nvGrpSpPr>
          <p:cNvPr id="8" name="グループ化 7">
            <a:extLst>
              <a:ext uri="{FF2B5EF4-FFF2-40B4-BE49-F238E27FC236}">
                <a16:creationId xmlns:a16="http://schemas.microsoft.com/office/drawing/2014/main" id="{D7A3713D-FAC0-E342-8651-5AFC82B96ABB}"/>
              </a:ext>
            </a:extLst>
          </p:cNvPr>
          <p:cNvGrpSpPr/>
          <p:nvPr/>
        </p:nvGrpSpPr>
        <p:grpSpPr>
          <a:xfrm>
            <a:off x="163626" y="1160115"/>
            <a:ext cx="3574997" cy="680876"/>
            <a:chOff x="163626" y="1160115"/>
            <a:chExt cx="3574997" cy="680876"/>
          </a:xfrm>
        </p:grpSpPr>
        <p:cxnSp>
          <p:nvCxnSpPr>
            <p:cNvPr id="9" name="直線コネクタ 8">
              <a:extLst>
                <a:ext uri="{FF2B5EF4-FFF2-40B4-BE49-F238E27FC236}">
                  <a16:creationId xmlns:a16="http://schemas.microsoft.com/office/drawing/2014/main" id="{9B8D37E1-A3CC-F349-8A06-03F1A47DC98E}"/>
                </a:ext>
              </a:extLst>
            </p:cNvPr>
            <p:cNvCxnSpPr>
              <a:cxnSpLocks/>
            </p:cNvCxnSpPr>
            <p:nvPr userDrawn="1"/>
          </p:nvCxnSpPr>
          <p:spPr>
            <a:xfrm>
              <a:off x="163626" y="1699846"/>
              <a:ext cx="357499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7B467E56-B089-BC47-93BE-36402235BE39}"/>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C26BD3FD-2531-E441-91BF-422CDA68CE77}"/>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spTree>
    <p:extLst>
      <p:ext uri="{BB962C8B-B14F-4D97-AF65-F5344CB8AC3E}">
        <p14:creationId xmlns:p14="http://schemas.microsoft.com/office/powerpoint/2010/main" val="36959132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研究内容</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4"/>
            <a:ext cx="8859709" cy="1310439"/>
          </a:xfrm>
        </p:spPr>
        <p:txBody>
          <a:bodyPr/>
          <a:lstStyle/>
          <a:p>
            <a:r>
              <a:rPr lang="en" altLang="ja-JP" dirty="0"/>
              <a:t>TKI</a:t>
            </a:r>
            <a:r>
              <a:rPr lang="ja-JP" altLang="en-US"/>
              <a:t>だけで</a:t>
            </a:r>
            <a:r>
              <a:rPr lang="ja-JP" altLang="en-US">
                <a:solidFill>
                  <a:schemeClr val="accent2"/>
                </a:solidFill>
              </a:rPr>
              <a:t>相手の特性を把握</a:t>
            </a:r>
            <a:r>
              <a:rPr lang="ja-JP" altLang="en-US"/>
              <a:t>することは困難</a:t>
            </a:r>
          </a:p>
          <a:p>
            <a:pPr lvl="1"/>
            <a:r>
              <a:rPr lang="ja-JP" altLang="en-US"/>
              <a:t>特定のカテゴリに入ったときの戦略しか考えられていない</a:t>
            </a:r>
          </a:p>
          <a:p>
            <a:pPr lvl="1"/>
            <a:r>
              <a:rPr lang="ja-JP" altLang="en-US"/>
              <a:t>人間の特徴をより具体的に評価できる指標が必要</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C312679-4C8B-454B-B289-C34E5B1C4D27}"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自己紹介・研究紹介</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1</a:t>
            </a:r>
            <a:endParaRPr kumimoji="1" lang="ja-JP" altLang="en-US"/>
          </a:p>
        </p:txBody>
      </p:sp>
      <p:grpSp>
        <p:nvGrpSpPr>
          <p:cNvPr id="12" name="グループ化 11">
            <a:extLst>
              <a:ext uri="{FF2B5EF4-FFF2-40B4-BE49-F238E27FC236}">
                <a16:creationId xmlns:a16="http://schemas.microsoft.com/office/drawing/2014/main" id="{41081C47-C264-2A43-8A63-A3887EEA2F66}"/>
              </a:ext>
            </a:extLst>
          </p:cNvPr>
          <p:cNvGrpSpPr/>
          <p:nvPr/>
        </p:nvGrpSpPr>
        <p:grpSpPr>
          <a:xfrm>
            <a:off x="163626" y="1160115"/>
            <a:ext cx="3574997" cy="680876"/>
            <a:chOff x="163626" y="1160115"/>
            <a:chExt cx="3574997" cy="680876"/>
          </a:xfrm>
        </p:grpSpPr>
        <p:cxnSp>
          <p:nvCxnSpPr>
            <p:cNvPr id="13" name="直線コネクタ 12">
              <a:extLst>
                <a:ext uri="{FF2B5EF4-FFF2-40B4-BE49-F238E27FC236}">
                  <a16:creationId xmlns:a16="http://schemas.microsoft.com/office/drawing/2014/main" id="{984F55B4-45B4-D142-AFA2-A75B083F1005}"/>
                </a:ext>
              </a:extLst>
            </p:cNvPr>
            <p:cNvCxnSpPr>
              <a:cxnSpLocks/>
            </p:cNvCxnSpPr>
            <p:nvPr userDrawn="1"/>
          </p:nvCxnSpPr>
          <p:spPr>
            <a:xfrm>
              <a:off x="163626" y="1699846"/>
              <a:ext cx="357499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4" name="正方形/長方形 13">
              <a:extLst>
                <a:ext uri="{FF2B5EF4-FFF2-40B4-BE49-F238E27FC236}">
                  <a16:creationId xmlns:a16="http://schemas.microsoft.com/office/drawing/2014/main" id="{2E260634-5BB9-C44A-ABB5-A96B1B9F882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5" name="テキスト プレースホルダー 12">
            <a:extLst>
              <a:ext uri="{FF2B5EF4-FFF2-40B4-BE49-F238E27FC236}">
                <a16:creationId xmlns:a16="http://schemas.microsoft.com/office/drawing/2014/main" id="{9F94A460-BFC4-B34A-9E57-1AD88BF085B1}"/>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既存研究の問題点</a:t>
            </a:r>
          </a:p>
        </p:txBody>
      </p:sp>
      <p:grpSp>
        <p:nvGrpSpPr>
          <p:cNvPr id="283" name="グループ化 282">
            <a:extLst>
              <a:ext uri="{FF2B5EF4-FFF2-40B4-BE49-F238E27FC236}">
                <a16:creationId xmlns:a16="http://schemas.microsoft.com/office/drawing/2014/main" id="{57E43264-7AC5-3342-8A8B-C313A091A861}"/>
              </a:ext>
            </a:extLst>
          </p:cNvPr>
          <p:cNvGrpSpPr/>
          <p:nvPr/>
        </p:nvGrpSpPr>
        <p:grpSpPr>
          <a:xfrm>
            <a:off x="1366225" y="3291324"/>
            <a:ext cx="6388466" cy="3266002"/>
            <a:chOff x="1224873" y="3291324"/>
            <a:chExt cx="6388466" cy="3266002"/>
          </a:xfrm>
        </p:grpSpPr>
        <p:grpSp>
          <p:nvGrpSpPr>
            <p:cNvPr id="282" name="グループ化 281">
              <a:extLst>
                <a:ext uri="{FF2B5EF4-FFF2-40B4-BE49-F238E27FC236}">
                  <a16:creationId xmlns:a16="http://schemas.microsoft.com/office/drawing/2014/main" id="{B714F0E0-272E-C644-BA15-EB99C38C69F4}"/>
                </a:ext>
              </a:extLst>
            </p:cNvPr>
            <p:cNvGrpSpPr/>
            <p:nvPr/>
          </p:nvGrpSpPr>
          <p:grpSpPr>
            <a:xfrm>
              <a:off x="1224873" y="3557524"/>
              <a:ext cx="2647273" cy="2999802"/>
              <a:chOff x="1224873" y="3557524"/>
              <a:chExt cx="2647273" cy="2999802"/>
            </a:xfrm>
          </p:grpSpPr>
          <p:grpSp>
            <p:nvGrpSpPr>
              <p:cNvPr id="145" name="グループ化 144">
                <a:extLst>
                  <a:ext uri="{FF2B5EF4-FFF2-40B4-BE49-F238E27FC236}">
                    <a16:creationId xmlns:a16="http://schemas.microsoft.com/office/drawing/2014/main" id="{1C08F236-43F1-D645-874D-498F0FAB60DF}"/>
                  </a:ext>
                </a:extLst>
              </p:cNvPr>
              <p:cNvGrpSpPr/>
              <p:nvPr/>
            </p:nvGrpSpPr>
            <p:grpSpPr>
              <a:xfrm>
                <a:off x="1224873" y="3557524"/>
                <a:ext cx="2647273" cy="2611244"/>
                <a:chOff x="7826296" y="19015474"/>
                <a:chExt cx="5463582" cy="5389221"/>
              </a:xfrm>
            </p:grpSpPr>
            <p:pic>
              <p:nvPicPr>
                <p:cNvPr id="148" name="図 147">
                  <a:extLst>
                    <a:ext uri="{FF2B5EF4-FFF2-40B4-BE49-F238E27FC236}">
                      <a16:creationId xmlns:a16="http://schemas.microsoft.com/office/drawing/2014/main" id="{D45E0D51-BC06-DB4C-978F-39ED6CC22F30}"/>
                    </a:ext>
                  </a:extLst>
                </p:cNvPr>
                <p:cNvPicPr>
                  <a:picLocks noChangeAspect="1"/>
                </p:cNvPicPr>
                <p:nvPr/>
              </p:nvPicPr>
              <p:blipFill rotWithShape="1">
                <a:blip r:embed="rId4"/>
                <a:srcRect l="10972" t="1550" r="-1061" b="21005"/>
                <a:stretch/>
              </p:blipFill>
              <p:spPr>
                <a:xfrm>
                  <a:off x="8648581" y="19015474"/>
                  <a:ext cx="4641297" cy="4492610"/>
                </a:xfrm>
                <a:prstGeom prst="rect">
                  <a:avLst/>
                </a:prstGeom>
              </p:spPr>
            </p:pic>
            <p:cxnSp>
              <p:nvCxnSpPr>
                <p:cNvPr id="149" name="直線矢印コネクタ 148">
                  <a:extLst>
                    <a:ext uri="{FF2B5EF4-FFF2-40B4-BE49-F238E27FC236}">
                      <a16:creationId xmlns:a16="http://schemas.microsoft.com/office/drawing/2014/main" id="{53336714-7AC3-8240-8EB2-DFB7C13418AF}"/>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0" name="直線矢印コネクタ 149">
                  <a:extLst>
                    <a:ext uri="{FF2B5EF4-FFF2-40B4-BE49-F238E27FC236}">
                      <a16:creationId xmlns:a16="http://schemas.microsoft.com/office/drawing/2014/main" id="{2B2527DE-9AD5-8C45-84D5-6220C7A09034}"/>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151" name="テキスト ボックス 150">
                  <a:extLst>
                    <a:ext uri="{FF2B5EF4-FFF2-40B4-BE49-F238E27FC236}">
                      <a16:creationId xmlns:a16="http://schemas.microsoft.com/office/drawing/2014/main" id="{67E000EF-C758-A449-8F94-FD3F6C327EC9}"/>
                    </a:ext>
                  </a:extLst>
                </p:cNvPr>
                <p:cNvSpPr txBox="1"/>
                <p:nvPr/>
              </p:nvSpPr>
              <p:spPr>
                <a:xfrm>
                  <a:off x="9420397" y="23769489"/>
                  <a:ext cx="2490051" cy="635206"/>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協調性</a:t>
                  </a:r>
                </a:p>
              </p:txBody>
            </p:sp>
            <p:sp>
              <p:nvSpPr>
                <p:cNvPr id="152" name="テキスト ボックス 151">
                  <a:extLst>
                    <a:ext uri="{FF2B5EF4-FFF2-40B4-BE49-F238E27FC236}">
                      <a16:creationId xmlns:a16="http://schemas.microsoft.com/office/drawing/2014/main" id="{0009238C-17F3-594A-9E74-4B6CE931EDE8}"/>
                    </a:ext>
                  </a:extLst>
                </p:cNvPr>
                <p:cNvSpPr txBox="1"/>
                <p:nvPr/>
              </p:nvSpPr>
              <p:spPr>
                <a:xfrm rot="16200000">
                  <a:off x="6898875" y="21239507"/>
                  <a:ext cx="2490050" cy="635207"/>
                </a:xfrm>
                <a:prstGeom prst="rect">
                  <a:avLst/>
                </a:prstGeom>
                <a:noFill/>
              </p:spPr>
              <p:txBody>
                <a:bodyPr wrap="square" rtlCol="0">
                  <a:spAutoFit/>
                </a:bodyPr>
                <a:lstStyle/>
                <a:p>
                  <a:pPr algn="ctr"/>
                  <a:r>
                    <a:rPr kumimoji="1" lang="ja-JP" altLang="en-US" sz="1400">
                      <a:latin typeface="Meiryo" panose="020B0604030504040204" pitchFamily="34" charset="-128"/>
                      <a:ea typeface="Meiryo" panose="020B0604030504040204" pitchFamily="34" charset="-128"/>
                    </a:rPr>
                    <a:t>積極性</a:t>
                  </a:r>
                </a:p>
              </p:txBody>
            </p:sp>
          </p:grpSp>
          <p:sp>
            <p:nvSpPr>
              <p:cNvPr id="249" name="テキスト ボックス 248">
                <a:extLst>
                  <a:ext uri="{FF2B5EF4-FFF2-40B4-BE49-F238E27FC236}">
                    <a16:creationId xmlns:a16="http://schemas.microsoft.com/office/drawing/2014/main" id="{84E76C39-BC4C-BC48-8295-95AFC2AF1A34}"/>
                  </a:ext>
                </a:extLst>
              </p:cNvPr>
              <p:cNvSpPr txBox="1"/>
              <p:nvPr/>
            </p:nvSpPr>
            <p:spPr>
              <a:xfrm>
                <a:off x="2356971" y="6218772"/>
                <a:ext cx="513282" cy="338554"/>
              </a:xfrm>
              <a:prstGeom prst="rect">
                <a:avLst/>
              </a:prstGeom>
              <a:noFill/>
            </p:spPr>
            <p:txBody>
              <a:bodyPr wrap="none" rtlCol="0">
                <a:spAutoFit/>
              </a:bodyPr>
              <a:lstStyle/>
              <a:p>
                <a:r>
                  <a:rPr kumimoji="1" lang="en-US" altLang="ja-JP" sz="1600" dirty="0"/>
                  <a:t>TKI</a:t>
                </a:r>
                <a:endParaRPr kumimoji="1" lang="ja-JP" altLang="en-US" sz="1600"/>
              </a:p>
            </p:txBody>
          </p:sp>
        </p:grpSp>
        <p:grpSp>
          <p:nvGrpSpPr>
            <p:cNvPr id="281" name="グループ化 280">
              <a:extLst>
                <a:ext uri="{FF2B5EF4-FFF2-40B4-BE49-F238E27FC236}">
                  <a16:creationId xmlns:a16="http://schemas.microsoft.com/office/drawing/2014/main" id="{D0990163-CBA3-E440-AB15-A528BCC4C1F9}"/>
                </a:ext>
              </a:extLst>
            </p:cNvPr>
            <p:cNvGrpSpPr/>
            <p:nvPr/>
          </p:nvGrpSpPr>
          <p:grpSpPr>
            <a:xfrm>
              <a:off x="4420335" y="3291324"/>
              <a:ext cx="3193004" cy="3261920"/>
              <a:chOff x="4288255" y="3311644"/>
              <a:chExt cx="3193004" cy="3261920"/>
            </a:xfrm>
          </p:grpSpPr>
          <p:sp>
            <p:nvSpPr>
              <p:cNvPr id="220" name="テキスト ボックス 219">
                <a:extLst>
                  <a:ext uri="{FF2B5EF4-FFF2-40B4-BE49-F238E27FC236}">
                    <a16:creationId xmlns:a16="http://schemas.microsoft.com/office/drawing/2014/main" id="{F859C044-4DDF-4E45-9A02-1B84E4C973AD}"/>
                  </a:ext>
                </a:extLst>
              </p:cNvPr>
              <p:cNvSpPr txBox="1"/>
              <p:nvPr/>
            </p:nvSpPr>
            <p:spPr>
              <a:xfrm>
                <a:off x="5336117" y="3311644"/>
                <a:ext cx="1082348" cy="523220"/>
              </a:xfrm>
              <a:prstGeom prst="rect">
                <a:avLst/>
              </a:prstGeom>
              <a:noFill/>
            </p:spPr>
            <p:txBody>
              <a:bodyPr wrap="none" rtlCol="0">
                <a:spAutoFit/>
              </a:bodyPr>
              <a:lstStyle/>
              <a:p>
                <a:pPr algn="ctr"/>
                <a:r>
                  <a:rPr kumimoji="1" lang="ja-JP" altLang="en-US" sz="1400"/>
                  <a:t>神経症傾向</a:t>
                </a:r>
                <a:endParaRPr kumimoji="1" lang="en-US" altLang="ja-JP" sz="1400" dirty="0"/>
              </a:p>
              <a:p>
                <a:pPr algn="ctr"/>
                <a:r>
                  <a:rPr kumimoji="1" lang="en-US" altLang="ja-JP" sz="1400" dirty="0"/>
                  <a:t>(N)</a:t>
                </a:r>
                <a:endParaRPr kumimoji="1" lang="ja-JP" altLang="en-US" sz="1400"/>
              </a:p>
            </p:txBody>
          </p:sp>
          <p:sp>
            <p:nvSpPr>
              <p:cNvPr id="221" name="テキスト ボックス 220">
                <a:extLst>
                  <a:ext uri="{FF2B5EF4-FFF2-40B4-BE49-F238E27FC236}">
                    <a16:creationId xmlns:a16="http://schemas.microsoft.com/office/drawing/2014/main" id="{E2D14D1B-77DF-C74F-AFEA-148F5CE2951E}"/>
                  </a:ext>
                </a:extLst>
              </p:cNvPr>
              <p:cNvSpPr txBox="1"/>
              <p:nvPr/>
            </p:nvSpPr>
            <p:spPr>
              <a:xfrm>
                <a:off x="5821836" y="5682852"/>
                <a:ext cx="1441419" cy="523220"/>
              </a:xfrm>
              <a:prstGeom prst="rect">
                <a:avLst/>
              </a:prstGeom>
              <a:noFill/>
            </p:spPr>
            <p:txBody>
              <a:bodyPr wrap="none" rtlCol="0">
                <a:spAutoFit/>
              </a:bodyPr>
              <a:lstStyle/>
              <a:p>
                <a:pPr algn="ctr"/>
                <a:r>
                  <a:rPr kumimoji="1" lang="ja-JP" altLang="en-US" sz="1400"/>
                  <a:t>経験への開放性</a:t>
                </a:r>
                <a:endParaRPr kumimoji="1" lang="en-US" altLang="ja-JP" sz="1400" dirty="0"/>
              </a:p>
              <a:p>
                <a:pPr algn="ctr"/>
                <a:r>
                  <a:rPr kumimoji="1" lang="en-US" altLang="ja-JP" sz="1400" dirty="0"/>
                  <a:t>(O)</a:t>
                </a:r>
                <a:endParaRPr kumimoji="1" lang="ja-JP" altLang="en-US" sz="1400"/>
              </a:p>
            </p:txBody>
          </p:sp>
          <p:sp>
            <p:nvSpPr>
              <p:cNvPr id="222" name="テキスト ボックス 221">
                <a:extLst>
                  <a:ext uri="{FF2B5EF4-FFF2-40B4-BE49-F238E27FC236}">
                    <a16:creationId xmlns:a16="http://schemas.microsoft.com/office/drawing/2014/main" id="{2A2318EA-5A19-8D4F-869A-197020D2B0DE}"/>
                  </a:ext>
                </a:extLst>
              </p:cNvPr>
              <p:cNvSpPr txBox="1"/>
              <p:nvPr/>
            </p:nvSpPr>
            <p:spPr>
              <a:xfrm>
                <a:off x="6757984" y="4236252"/>
                <a:ext cx="723275" cy="523220"/>
              </a:xfrm>
              <a:prstGeom prst="rect">
                <a:avLst/>
              </a:prstGeom>
              <a:noFill/>
            </p:spPr>
            <p:txBody>
              <a:bodyPr wrap="none" rtlCol="0">
                <a:spAutoFit/>
              </a:bodyPr>
              <a:lstStyle/>
              <a:p>
                <a:pPr algn="ctr"/>
                <a:r>
                  <a:rPr kumimoji="1" lang="ja-JP" altLang="en-US" sz="1400"/>
                  <a:t>外向性</a:t>
                </a:r>
                <a:endParaRPr kumimoji="1" lang="en-US" altLang="ja-JP" sz="1400" dirty="0"/>
              </a:p>
              <a:p>
                <a:pPr algn="ctr"/>
                <a:r>
                  <a:rPr kumimoji="1" lang="en-US" altLang="ja-JP" sz="1400" dirty="0"/>
                  <a:t>(E)</a:t>
                </a:r>
                <a:endParaRPr kumimoji="1" lang="ja-JP" altLang="en-US" sz="1400"/>
              </a:p>
            </p:txBody>
          </p:sp>
          <p:sp>
            <p:nvSpPr>
              <p:cNvPr id="223" name="テキスト ボックス 222">
                <a:extLst>
                  <a:ext uri="{FF2B5EF4-FFF2-40B4-BE49-F238E27FC236}">
                    <a16:creationId xmlns:a16="http://schemas.microsoft.com/office/drawing/2014/main" id="{7BFE0E4A-EB60-454A-A7A2-D7847F997FB7}"/>
                  </a:ext>
                </a:extLst>
              </p:cNvPr>
              <p:cNvSpPr txBox="1"/>
              <p:nvPr/>
            </p:nvSpPr>
            <p:spPr>
              <a:xfrm>
                <a:off x="4780760" y="5685181"/>
                <a:ext cx="723275" cy="523220"/>
              </a:xfrm>
              <a:prstGeom prst="rect">
                <a:avLst/>
              </a:prstGeom>
              <a:noFill/>
            </p:spPr>
            <p:txBody>
              <a:bodyPr wrap="none" rtlCol="0">
                <a:spAutoFit/>
              </a:bodyPr>
              <a:lstStyle/>
              <a:p>
                <a:pPr algn="ctr"/>
                <a:r>
                  <a:rPr kumimoji="1" lang="ja-JP" altLang="en-US" sz="1400"/>
                  <a:t>協調性</a:t>
                </a:r>
                <a:endParaRPr kumimoji="1" lang="en-US" altLang="ja-JP" sz="1400" dirty="0"/>
              </a:p>
              <a:p>
                <a:pPr algn="ctr"/>
                <a:r>
                  <a:rPr kumimoji="1" lang="en-US" altLang="ja-JP" sz="1400" dirty="0"/>
                  <a:t>(A)</a:t>
                </a:r>
                <a:endParaRPr kumimoji="1" lang="ja-JP" altLang="en-US" sz="1400"/>
              </a:p>
            </p:txBody>
          </p:sp>
          <p:sp>
            <p:nvSpPr>
              <p:cNvPr id="224" name="テキスト ボックス 223">
                <a:extLst>
                  <a:ext uri="{FF2B5EF4-FFF2-40B4-BE49-F238E27FC236}">
                    <a16:creationId xmlns:a16="http://schemas.microsoft.com/office/drawing/2014/main" id="{7F42A8AD-528E-134D-84D7-3207638447B3}"/>
                  </a:ext>
                </a:extLst>
              </p:cNvPr>
              <p:cNvSpPr txBox="1"/>
              <p:nvPr/>
            </p:nvSpPr>
            <p:spPr>
              <a:xfrm>
                <a:off x="4288255" y="4236252"/>
                <a:ext cx="723275" cy="523220"/>
              </a:xfrm>
              <a:prstGeom prst="rect">
                <a:avLst/>
              </a:prstGeom>
              <a:noFill/>
            </p:spPr>
            <p:txBody>
              <a:bodyPr wrap="none" rtlCol="0">
                <a:spAutoFit/>
              </a:bodyPr>
              <a:lstStyle/>
              <a:p>
                <a:r>
                  <a:rPr kumimoji="1" lang="ja-JP" altLang="en-US" sz="1400"/>
                  <a:t>誠実性</a:t>
                </a:r>
                <a:endParaRPr kumimoji="1" lang="en-US" altLang="ja-JP" sz="1400" dirty="0"/>
              </a:p>
              <a:p>
                <a:pPr algn="ctr"/>
                <a:r>
                  <a:rPr kumimoji="1" lang="en-US" altLang="ja-JP" sz="1400" dirty="0"/>
                  <a:t>(C)</a:t>
                </a:r>
                <a:endParaRPr kumimoji="1" lang="ja-JP" altLang="en-US" sz="1400"/>
              </a:p>
            </p:txBody>
          </p:sp>
          <p:sp>
            <p:nvSpPr>
              <p:cNvPr id="218" name="テキスト ボックス 217">
                <a:extLst>
                  <a:ext uri="{FF2B5EF4-FFF2-40B4-BE49-F238E27FC236}">
                    <a16:creationId xmlns:a16="http://schemas.microsoft.com/office/drawing/2014/main" id="{F6C77B38-F60C-A54B-A76F-26DF765B9CA2}"/>
                  </a:ext>
                </a:extLst>
              </p:cNvPr>
              <p:cNvSpPr txBox="1"/>
              <p:nvPr/>
            </p:nvSpPr>
            <p:spPr>
              <a:xfrm>
                <a:off x="5504036" y="6235010"/>
                <a:ext cx="671979" cy="338554"/>
              </a:xfrm>
              <a:prstGeom prst="rect">
                <a:avLst/>
              </a:prstGeom>
              <a:noFill/>
            </p:spPr>
            <p:txBody>
              <a:bodyPr wrap="none" rtlCol="0">
                <a:spAutoFit/>
              </a:bodyPr>
              <a:lstStyle/>
              <a:p>
                <a:r>
                  <a:rPr kumimoji="1" lang="en-US" altLang="ja-JP" sz="1600" dirty="0"/>
                  <a:t>BIG5</a:t>
                </a:r>
                <a:endParaRPr kumimoji="1" lang="ja-JP" altLang="en-US" sz="1600"/>
              </a:p>
            </p:txBody>
          </p:sp>
          <p:grpSp>
            <p:nvGrpSpPr>
              <p:cNvPr id="280" name="グループ化 279">
                <a:extLst>
                  <a:ext uri="{FF2B5EF4-FFF2-40B4-BE49-F238E27FC236}">
                    <a16:creationId xmlns:a16="http://schemas.microsoft.com/office/drawing/2014/main" id="{15E27822-0C1C-B24F-999A-D29E78F2B11E}"/>
                  </a:ext>
                </a:extLst>
              </p:cNvPr>
              <p:cNvGrpSpPr/>
              <p:nvPr/>
            </p:nvGrpSpPr>
            <p:grpSpPr>
              <a:xfrm>
                <a:off x="4938565" y="3795935"/>
                <a:ext cx="1865455" cy="1865455"/>
                <a:chOff x="4938565" y="3795935"/>
                <a:chExt cx="1865455" cy="1865455"/>
              </a:xfrm>
            </p:grpSpPr>
            <p:sp>
              <p:nvSpPr>
                <p:cNvPr id="219" name="五角形 218">
                  <a:extLst>
                    <a:ext uri="{FF2B5EF4-FFF2-40B4-BE49-F238E27FC236}">
                      <a16:creationId xmlns:a16="http://schemas.microsoft.com/office/drawing/2014/main" id="{8E5805A6-38A9-714E-AE2B-5F34F991D780}"/>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252" name="直線コネクタ 251">
                  <a:extLst>
                    <a:ext uri="{FF2B5EF4-FFF2-40B4-BE49-F238E27FC236}">
                      <a16:creationId xmlns:a16="http://schemas.microsoft.com/office/drawing/2014/main" id="{C896F8F6-DAB1-5C40-B7E4-CAB4251D76DB}"/>
                    </a:ext>
                  </a:extLst>
                </p:cNvPr>
                <p:cNvCxnSpPr>
                  <a:cxnSpLocks/>
                  <a:stCxn id="219" idx="0"/>
                  <a:endCxn id="27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5" name="直線コネクタ 254">
                  <a:extLst>
                    <a:ext uri="{FF2B5EF4-FFF2-40B4-BE49-F238E27FC236}">
                      <a16:creationId xmlns:a16="http://schemas.microsoft.com/office/drawing/2014/main" id="{3AA56CE1-0635-394E-BAF4-B6CBA5F2F13B}"/>
                    </a:ext>
                  </a:extLst>
                </p:cNvPr>
                <p:cNvCxnSpPr>
                  <a:cxnSpLocks/>
                  <a:stCxn id="271" idx="3"/>
                  <a:endCxn id="219"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59" name="直線コネクタ 258">
                  <a:extLst>
                    <a:ext uri="{FF2B5EF4-FFF2-40B4-BE49-F238E27FC236}">
                      <a16:creationId xmlns:a16="http://schemas.microsoft.com/office/drawing/2014/main" id="{EB82DE28-A1AE-0445-A111-31AD3D9696B4}"/>
                    </a:ext>
                  </a:extLst>
                </p:cNvPr>
                <p:cNvCxnSpPr>
                  <a:cxnSpLocks/>
                  <a:stCxn id="271" idx="5"/>
                  <a:endCxn id="219"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2" name="直線コネクタ 261">
                  <a:extLst>
                    <a:ext uri="{FF2B5EF4-FFF2-40B4-BE49-F238E27FC236}">
                      <a16:creationId xmlns:a16="http://schemas.microsoft.com/office/drawing/2014/main" id="{31369290-C0E5-524C-ADD1-6201BEC49298}"/>
                    </a:ext>
                  </a:extLst>
                </p:cNvPr>
                <p:cNvCxnSpPr>
                  <a:cxnSpLocks/>
                  <a:stCxn id="271" idx="6"/>
                  <a:endCxn id="219"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67" name="直線コネクタ 266">
                  <a:extLst>
                    <a:ext uri="{FF2B5EF4-FFF2-40B4-BE49-F238E27FC236}">
                      <a16:creationId xmlns:a16="http://schemas.microsoft.com/office/drawing/2014/main" id="{58774C51-018B-EC45-80CA-65F4ACAB4003}"/>
                    </a:ext>
                  </a:extLst>
                </p:cNvPr>
                <p:cNvCxnSpPr>
                  <a:cxnSpLocks/>
                  <a:stCxn id="219" idx="1"/>
                  <a:endCxn id="27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71" name="円/楕円 270">
                  <a:extLst>
                    <a:ext uri="{FF2B5EF4-FFF2-40B4-BE49-F238E27FC236}">
                      <a16:creationId xmlns:a16="http://schemas.microsoft.com/office/drawing/2014/main" id="{301E45D3-919D-1244-81EA-E8806D0CC92A}"/>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9" name="五角形 278">
                  <a:extLst>
                    <a:ext uri="{FF2B5EF4-FFF2-40B4-BE49-F238E27FC236}">
                      <a16:creationId xmlns:a16="http://schemas.microsoft.com/office/drawing/2014/main" id="{2D620F06-35F3-2648-8FD5-B1A76289A089}"/>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rgbClr val="42A544">
                    <a:alpha val="4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spTree>
    <p:extLst>
      <p:ext uri="{BB962C8B-B14F-4D97-AF65-F5344CB8AC3E}">
        <p14:creationId xmlns:p14="http://schemas.microsoft.com/office/powerpoint/2010/main" val="869042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1EF07BE-F7C5-254D-BD90-BEE921E39240}"/>
              </a:ext>
            </a:extLst>
          </p:cNvPr>
          <p:cNvSpPr>
            <a:spLocks noGrp="1"/>
          </p:cNvSpPr>
          <p:nvPr>
            <p:ph type="title"/>
          </p:nvPr>
        </p:nvSpPr>
        <p:spPr/>
        <p:txBody>
          <a:bodyPr/>
          <a:lstStyle/>
          <a:p>
            <a:r>
              <a:rPr kumimoji="1" lang="ja-JP" altLang="en-US"/>
              <a:t>研究内容</a:t>
            </a:r>
          </a:p>
        </p:txBody>
      </p:sp>
      <p:sp>
        <p:nvSpPr>
          <p:cNvPr id="3" name="コンテンツ プレースホルダー 2">
            <a:extLst>
              <a:ext uri="{FF2B5EF4-FFF2-40B4-BE49-F238E27FC236}">
                <a16:creationId xmlns:a16="http://schemas.microsoft.com/office/drawing/2014/main" id="{A10AEE10-C814-C742-9CB1-7EB68924CEEF}"/>
              </a:ext>
            </a:extLst>
          </p:cNvPr>
          <p:cNvSpPr>
            <a:spLocks noGrp="1"/>
          </p:cNvSpPr>
          <p:nvPr>
            <p:ph idx="1"/>
          </p:nvPr>
        </p:nvSpPr>
        <p:spPr/>
        <p:txBody>
          <a:bodyPr/>
          <a:lstStyle/>
          <a:p>
            <a:r>
              <a:rPr lang="ja-JP" altLang="en-US"/>
              <a:t>本研究では</a:t>
            </a:r>
            <a:r>
              <a:rPr lang="ja-JP" altLang="en-US">
                <a:solidFill>
                  <a:schemeClr val="accent2"/>
                </a:solidFill>
              </a:rPr>
              <a:t>曖昧性を持たせたカテゴリ分類</a:t>
            </a:r>
            <a:r>
              <a:rPr lang="ja-JP" altLang="en-US"/>
              <a:t>を提案</a:t>
            </a:r>
            <a:endParaRPr lang="en-US" altLang="ja-JP" dirty="0"/>
          </a:p>
          <a:p>
            <a:pPr lvl="1"/>
            <a:r>
              <a:rPr lang="ja-JP" altLang="en-US"/>
              <a:t>既存のカテゴリ分類による交渉戦略の問題点を解決する</a:t>
            </a:r>
          </a:p>
          <a:p>
            <a:pPr marL="0" indent="0">
              <a:buNone/>
            </a:pPr>
            <a:endParaRPr kumimoji="1" lang="ja-JP" altLang="en-US"/>
          </a:p>
        </p:txBody>
      </p:sp>
      <p:sp>
        <p:nvSpPr>
          <p:cNvPr id="4" name="日付プレースホルダー 3">
            <a:extLst>
              <a:ext uri="{FF2B5EF4-FFF2-40B4-BE49-F238E27FC236}">
                <a16:creationId xmlns:a16="http://schemas.microsoft.com/office/drawing/2014/main" id="{F69A9420-748A-344E-AE41-9ECEDC30EF79}"/>
              </a:ext>
            </a:extLst>
          </p:cNvPr>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2AF3FB64-1368-FD4C-A937-B8BB9B879591}"/>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E88A5960-7A3A-F544-ADA4-CE3F151E122D}"/>
              </a:ext>
            </a:extLst>
          </p:cNvPr>
          <p:cNvSpPr>
            <a:spLocks noGrp="1"/>
          </p:cNvSpPr>
          <p:nvPr>
            <p:ph type="sldNum" sz="quarter" idx="12"/>
          </p:nvPr>
        </p:nvSpPr>
        <p:spPr/>
        <p:txBody>
          <a:bodyPr/>
          <a:lstStyle/>
          <a:p>
            <a:fld id="{2981C279-7323-A845-8A27-BB5908B2F04D}" type="slidenum">
              <a:rPr kumimoji="1" lang="ja-JP" altLang="en-US" smtClean="0"/>
              <a:t>5</a:t>
            </a:fld>
            <a:endParaRPr kumimoji="1" lang="ja-JP" altLang="en-US"/>
          </a:p>
        </p:txBody>
      </p:sp>
      <p:sp>
        <p:nvSpPr>
          <p:cNvPr id="7" name="テキスト プレースホルダー 6">
            <a:extLst>
              <a:ext uri="{FF2B5EF4-FFF2-40B4-BE49-F238E27FC236}">
                <a16:creationId xmlns:a16="http://schemas.microsoft.com/office/drawing/2014/main" id="{61367AC1-6856-DA4E-A1DF-833FDA310218}"/>
              </a:ext>
            </a:extLst>
          </p:cNvPr>
          <p:cNvSpPr>
            <a:spLocks noGrp="1"/>
          </p:cNvSpPr>
          <p:nvPr>
            <p:ph type="body" sz="quarter" idx="13"/>
          </p:nvPr>
        </p:nvSpPr>
        <p:spPr/>
        <p:txBody>
          <a:bodyPr/>
          <a:lstStyle/>
          <a:p>
            <a:r>
              <a:rPr kumimoji="1" lang="en-US" altLang="ja-JP" dirty="0"/>
              <a:t>1</a:t>
            </a:r>
            <a:endParaRPr kumimoji="1" lang="ja-JP" altLang="en-US"/>
          </a:p>
        </p:txBody>
      </p:sp>
      <p:grpSp>
        <p:nvGrpSpPr>
          <p:cNvPr id="9" name="グループ化 8">
            <a:extLst>
              <a:ext uri="{FF2B5EF4-FFF2-40B4-BE49-F238E27FC236}">
                <a16:creationId xmlns:a16="http://schemas.microsoft.com/office/drawing/2014/main" id="{A82D0715-977F-0548-8823-9EAB025A8165}"/>
              </a:ext>
            </a:extLst>
          </p:cNvPr>
          <p:cNvGrpSpPr/>
          <p:nvPr/>
        </p:nvGrpSpPr>
        <p:grpSpPr>
          <a:xfrm>
            <a:off x="163626" y="1160115"/>
            <a:ext cx="2417528" cy="680876"/>
            <a:chOff x="163626" y="1160115"/>
            <a:chExt cx="2417528" cy="680876"/>
          </a:xfrm>
        </p:grpSpPr>
        <p:cxnSp>
          <p:nvCxnSpPr>
            <p:cNvPr id="10" name="直線コネクタ 9">
              <a:extLst>
                <a:ext uri="{FF2B5EF4-FFF2-40B4-BE49-F238E27FC236}">
                  <a16:creationId xmlns:a16="http://schemas.microsoft.com/office/drawing/2014/main" id="{0D9B70FE-5A7B-CB41-9B9B-93FA6532E027}"/>
                </a:ext>
              </a:extLst>
            </p:cNvPr>
            <p:cNvCxnSpPr>
              <a:cxnSpLocks/>
            </p:cNvCxnSpPr>
            <p:nvPr userDrawn="1"/>
          </p:nvCxnSpPr>
          <p:spPr>
            <a:xfrm>
              <a:off x="163626" y="1699846"/>
              <a:ext cx="2417528"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1" name="正方形/長方形 10">
              <a:extLst>
                <a:ext uri="{FF2B5EF4-FFF2-40B4-BE49-F238E27FC236}">
                  <a16:creationId xmlns:a16="http://schemas.microsoft.com/office/drawing/2014/main" id="{8D2FE1F1-07E6-3947-AE08-C170AC052FD0}"/>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 name="テキスト プレースホルダー 12">
            <a:extLst>
              <a:ext uri="{FF2B5EF4-FFF2-40B4-BE49-F238E27FC236}">
                <a16:creationId xmlns:a16="http://schemas.microsoft.com/office/drawing/2014/main" id="{3A031E20-0E3B-7B48-9F5D-47677AB1B18C}"/>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研究の目的</a:t>
            </a:r>
          </a:p>
        </p:txBody>
      </p:sp>
      <p:grpSp>
        <p:nvGrpSpPr>
          <p:cNvPr id="58" name="グループ化 57">
            <a:extLst>
              <a:ext uri="{FF2B5EF4-FFF2-40B4-BE49-F238E27FC236}">
                <a16:creationId xmlns:a16="http://schemas.microsoft.com/office/drawing/2014/main" id="{2ACC8C9A-C93A-6A48-B107-634610B3D7E2}"/>
              </a:ext>
            </a:extLst>
          </p:cNvPr>
          <p:cNvGrpSpPr>
            <a:grpSpLocks noChangeAspect="1"/>
          </p:cNvGrpSpPr>
          <p:nvPr/>
        </p:nvGrpSpPr>
        <p:grpSpPr>
          <a:xfrm>
            <a:off x="1531683" y="2714058"/>
            <a:ext cx="6042559" cy="3967510"/>
            <a:chOff x="1645453" y="2663259"/>
            <a:chExt cx="5817790" cy="3819929"/>
          </a:xfrm>
        </p:grpSpPr>
        <p:grpSp>
          <p:nvGrpSpPr>
            <p:cNvPr id="56" name="グループ化 55">
              <a:extLst>
                <a:ext uri="{FF2B5EF4-FFF2-40B4-BE49-F238E27FC236}">
                  <a16:creationId xmlns:a16="http://schemas.microsoft.com/office/drawing/2014/main" id="{138777B2-D1F2-164E-8FB5-64E9AC645E23}"/>
                </a:ext>
              </a:extLst>
            </p:cNvPr>
            <p:cNvGrpSpPr/>
            <p:nvPr/>
          </p:nvGrpSpPr>
          <p:grpSpPr>
            <a:xfrm>
              <a:off x="1645453" y="2677223"/>
              <a:ext cx="2582421" cy="3805965"/>
              <a:chOff x="1645453" y="2677223"/>
              <a:chExt cx="2582421" cy="3805965"/>
            </a:xfrm>
          </p:grpSpPr>
          <p:grpSp>
            <p:nvGrpSpPr>
              <p:cNvPr id="16" name="グループ化 15">
                <a:extLst>
                  <a:ext uri="{FF2B5EF4-FFF2-40B4-BE49-F238E27FC236}">
                    <a16:creationId xmlns:a16="http://schemas.microsoft.com/office/drawing/2014/main" id="{0CA23127-DBD3-E746-9D72-209481107C26}"/>
                  </a:ext>
                </a:extLst>
              </p:cNvPr>
              <p:cNvGrpSpPr/>
              <p:nvPr/>
            </p:nvGrpSpPr>
            <p:grpSpPr>
              <a:xfrm>
                <a:off x="1748477" y="2677223"/>
                <a:ext cx="2203288" cy="1530155"/>
                <a:chOff x="16999257" y="21804986"/>
                <a:chExt cx="4722944" cy="3280023"/>
              </a:xfrm>
            </p:grpSpPr>
            <p:pic>
              <p:nvPicPr>
                <p:cNvPr id="44" name="図 43">
                  <a:extLst>
                    <a:ext uri="{FF2B5EF4-FFF2-40B4-BE49-F238E27FC236}">
                      <a16:creationId xmlns:a16="http://schemas.microsoft.com/office/drawing/2014/main" id="{BE04AD06-663A-264B-8296-B50E0E51EF43}"/>
                    </a:ext>
                  </a:extLst>
                </p:cNvPr>
                <p:cNvPicPr>
                  <a:picLocks noChangeAspect="1"/>
                </p:cNvPicPr>
                <p:nvPr/>
              </p:nvPicPr>
              <p:blipFill>
                <a:blip r:embed="rId4"/>
                <a:stretch>
                  <a:fillRect/>
                </a:stretch>
              </p:blipFill>
              <p:spPr>
                <a:xfrm>
                  <a:off x="17564363" y="22957177"/>
                  <a:ext cx="1362076" cy="1612984"/>
                </a:xfrm>
                <a:prstGeom prst="rect">
                  <a:avLst/>
                </a:prstGeom>
              </p:spPr>
            </p:pic>
            <p:sp>
              <p:nvSpPr>
                <p:cNvPr id="45" name="雲形吹き出し 44">
                  <a:extLst>
                    <a:ext uri="{FF2B5EF4-FFF2-40B4-BE49-F238E27FC236}">
                      <a16:creationId xmlns:a16="http://schemas.microsoft.com/office/drawing/2014/main" id="{60216C4F-5A0B-8E41-8FA8-891AD5F7792A}"/>
                    </a:ext>
                  </a:extLst>
                </p:cNvPr>
                <p:cNvSpPr/>
                <p:nvPr/>
              </p:nvSpPr>
              <p:spPr>
                <a:xfrm rot="316483">
                  <a:off x="17835808" y="21804986"/>
                  <a:ext cx="3189024" cy="1142307"/>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46" name="図 45">
                  <a:extLst>
                    <a:ext uri="{FF2B5EF4-FFF2-40B4-BE49-F238E27FC236}">
                      <a16:creationId xmlns:a16="http://schemas.microsoft.com/office/drawing/2014/main" id="{F7BB162B-967F-EA48-B73E-17B09831C77A}"/>
                    </a:ext>
                  </a:extLst>
                </p:cNvPr>
                <p:cNvPicPr>
                  <a:picLocks noChangeAspect="1"/>
                </p:cNvPicPr>
                <p:nvPr/>
              </p:nvPicPr>
              <p:blipFill>
                <a:blip r:embed="rId5"/>
                <a:stretch>
                  <a:fillRect/>
                </a:stretch>
              </p:blipFill>
              <p:spPr>
                <a:xfrm>
                  <a:off x="20676515" y="22999681"/>
                  <a:ext cx="923637" cy="1574380"/>
                </a:xfrm>
                <a:prstGeom prst="rect">
                  <a:avLst/>
                </a:prstGeom>
              </p:spPr>
            </p:pic>
            <p:sp>
              <p:nvSpPr>
                <p:cNvPr id="47" name="正方形/長方形 46">
                  <a:extLst>
                    <a:ext uri="{FF2B5EF4-FFF2-40B4-BE49-F238E27FC236}">
                      <a16:creationId xmlns:a16="http://schemas.microsoft.com/office/drawing/2014/main" id="{488834DF-A317-1947-987C-D52C0945F525}"/>
                    </a:ext>
                  </a:extLst>
                </p:cNvPr>
                <p:cNvSpPr/>
                <p:nvPr/>
              </p:nvSpPr>
              <p:spPr>
                <a:xfrm>
                  <a:off x="18158861" y="21981620"/>
                  <a:ext cx="2899354"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積極的だな・・・</a:t>
                  </a:r>
                </a:p>
              </p:txBody>
            </p:sp>
            <p:sp>
              <p:nvSpPr>
                <p:cNvPr id="48" name="右矢印 47">
                  <a:extLst>
                    <a:ext uri="{FF2B5EF4-FFF2-40B4-BE49-F238E27FC236}">
                      <a16:creationId xmlns:a16="http://schemas.microsoft.com/office/drawing/2014/main" id="{0E5F3B1B-5293-5648-B308-A121459F9D68}"/>
                    </a:ext>
                  </a:extLst>
                </p:cNvPr>
                <p:cNvSpPr/>
                <p:nvPr/>
              </p:nvSpPr>
              <p:spPr>
                <a:xfrm rot="10800000">
                  <a:off x="18944144" y="23702387"/>
                  <a:ext cx="1591855" cy="334213"/>
                </a:xfrm>
                <a:prstGeom prst="rightArrow">
                  <a:avLst>
                    <a:gd name="adj1" fmla="val 68693"/>
                    <a:gd name="adj2" fmla="val 982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49" name="グループ化 48">
                  <a:extLst>
                    <a:ext uri="{FF2B5EF4-FFF2-40B4-BE49-F238E27FC236}">
                      <a16:creationId xmlns:a16="http://schemas.microsoft.com/office/drawing/2014/main" id="{4B164105-7478-CF4C-A11E-113E21F54BA6}"/>
                    </a:ext>
                  </a:extLst>
                </p:cNvPr>
                <p:cNvGrpSpPr/>
                <p:nvPr/>
              </p:nvGrpSpPr>
              <p:grpSpPr>
                <a:xfrm>
                  <a:off x="19256898" y="23257700"/>
                  <a:ext cx="1188125" cy="1086339"/>
                  <a:chOff x="1985286" y="3724205"/>
                  <a:chExt cx="1188126" cy="987581"/>
                </a:xfrm>
                <a:solidFill>
                  <a:schemeClr val="accent2"/>
                </a:solidFill>
              </p:grpSpPr>
              <p:sp>
                <p:nvSpPr>
                  <p:cNvPr id="52" name="メモ 51">
                    <a:extLst>
                      <a:ext uri="{FF2B5EF4-FFF2-40B4-BE49-F238E27FC236}">
                        <a16:creationId xmlns:a16="http://schemas.microsoft.com/office/drawing/2014/main" id="{55AF4180-6D28-4C41-BD82-679BE3BAD6E2}"/>
                      </a:ext>
                    </a:extLst>
                  </p:cNvPr>
                  <p:cNvSpPr/>
                  <p:nvPr/>
                </p:nvSpPr>
                <p:spPr>
                  <a:xfrm rot="10800000">
                    <a:off x="2174915" y="3724205"/>
                    <a:ext cx="809527" cy="987581"/>
                  </a:xfrm>
                  <a:prstGeom prst="foldedCorner">
                    <a:avLst>
                      <a:gd name="adj" fmla="val 33135"/>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53" name="正方形/長方形 52">
                    <a:extLst>
                      <a:ext uri="{FF2B5EF4-FFF2-40B4-BE49-F238E27FC236}">
                        <a16:creationId xmlns:a16="http://schemas.microsoft.com/office/drawing/2014/main" id="{2A3094A5-D7EA-BC49-AD61-2E9ED73D4CA8}"/>
                      </a:ext>
                    </a:extLst>
                  </p:cNvPr>
                  <p:cNvSpPr/>
                  <p:nvPr/>
                </p:nvSpPr>
                <p:spPr>
                  <a:xfrm>
                    <a:off x="1985286" y="3957406"/>
                    <a:ext cx="1188126" cy="5260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sz="1000" dirty="0">
                        <a:solidFill>
                          <a:schemeClr val="bg2"/>
                        </a:solidFill>
                      </a:rPr>
                      <a:t>Offer</a:t>
                    </a:r>
                    <a:endParaRPr kumimoji="1" lang="ja-JP" altLang="en-US" sz="900">
                      <a:solidFill>
                        <a:schemeClr val="bg2"/>
                      </a:solidFill>
                    </a:endParaRPr>
                  </a:p>
                </p:txBody>
              </p:sp>
            </p:grpSp>
            <p:sp>
              <p:nvSpPr>
                <p:cNvPr id="50" name="テキスト ボックス 49">
                  <a:extLst>
                    <a:ext uri="{FF2B5EF4-FFF2-40B4-BE49-F238E27FC236}">
                      <a16:creationId xmlns:a16="http://schemas.microsoft.com/office/drawing/2014/main" id="{80BA0035-B13B-1E44-842B-B4E786D49DB8}"/>
                    </a:ext>
                  </a:extLst>
                </p:cNvPr>
                <p:cNvSpPr txBox="1"/>
                <p:nvPr/>
              </p:nvSpPr>
              <p:spPr>
                <a:xfrm>
                  <a:off x="16999257" y="24560964"/>
                  <a:ext cx="2436145"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51" name="テキスト ボックス 50">
                  <a:extLst>
                    <a:ext uri="{FF2B5EF4-FFF2-40B4-BE49-F238E27FC236}">
                      <a16:creationId xmlns:a16="http://schemas.microsoft.com/office/drawing/2014/main" id="{95F7886B-B245-5B4E-97AC-029079F82DB7}"/>
                    </a:ext>
                  </a:extLst>
                </p:cNvPr>
                <p:cNvSpPr txBox="1"/>
                <p:nvPr/>
              </p:nvSpPr>
              <p:spPr>
                <a:xfrm>
                  <a:off x="20585722" y="24556709"/>
                  <a:ext cx="1136479" cy="524045"/>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18" name="グループ化 17">
                <a:extLst>
                  <a:ext uri="{FF2B5EF4-FFF2-40B4-BE49-F238E27FC236}">
                    <a16:creationId xmlns:a16="http://schemas.microsoft.com/office/drawing/2014/main" id="{F96B6F0E-D291-CA4F-A0C7-8D0B0982CC5F}"/>
                  </a:ext>
                </a:extLst>
              </p:cNvPr>
              <p:cNvGrpSpPr/>
              <p:nvPr/>
            </p:nvGrpSpPr>
            <p:grpSpPr>
              <a:xfrm>
                <a:off x="1645453" y="4013525"/>
                <a:ext cx="2582421" cy="2469663"/>
                <a:chOff x="16778417" y="24751133"/>
                <a:chExt cx="5535649" cy="5293938"/>
              </a:xfrm>
            </p:grpSpPr>
            <p:grpSp>
              <p:nvGrpSpPr>
                <p:cNvPr id="30" name="グループ化 29">
                  <a:extLst>
                    <a:ext uri="{FF2B5EF4-FFF2-40B4-BE49-F238E27FC236}">
                      <a16:creationId xmlns:a16="http://schemas.microsoft.com/office/drawing/2014/main" id="{A209DB85-5C39-EB42-8D8C-25B08924636E}"/>
                    </a:ext>
                  </a:extLst>
                </p:cNvPr>
                <p:cNvGrpSpPr/>
                <p:nvPr/>
              </p:nvGrpSpPr>
              <p:grpSpPr>
                <a:xfrm>
                  <a:off x="16778417" y="24751133"/>
                  <a:ext cx="5415941" cy="5293938"/>
                  <a:chOff x="7873938" y="19015474"/>
                  <a:chExt cx="5415940" cy="5293939"/>
                </a:xfrm>
              </p:grpSpPr>
              <p:pic>
                <p:nvPicPr>
                  <p:cNvPr id="33" name="図 32">
                    <a:extLst>
                      <a:ext uri="{FF2B5EF4-FFF2-40B4-BE49-F238E27FC236}">
                        <a16:creationId xmlns:a16="http://schemas.microsoft.com/office/drawing/2014/main" id="{F04A27CE-F26D-C944-BBFE-55822DCDC06B}"/>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34" name="直線矢印コネクタ 33">
                    <a:extLst>
                      <a:ext uri="{FF2B5EF4-FFF2-40B4-BE49-F238E27FC236}">
                        <a16:creationId xmlns:a16="http://schemas.microsoft.com/office/drawing/2014/main" id="{D2A808A9-D0C6-4A4E-BF91-A2E3772A1086}"/>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5" name="直線矢印コネクタ 34">
                    <a:extLst>
                      <a:ext uri="{FF2B5EF4-FFF2-40B4-BE49-F238E27FC236}">
                        <a16:creationId xmlns:a16="http://schemas.microsoft.com/office/drawing/2014/main" id="{8BED0B37-A6DD-BA4D-940B-016A612B40FC}"/>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36" name="テキスト ボックス 35">
                    <a:extLst>
                      <a:ext uri="{FF2B5EF4-FFF2-40B4-BE49-F238E27FC236}">
                        <a16:creationId xmlns:a16="http://schemas.microsoft.com/office/drawing/2014/main" id="{B2C9E413-7FAB-7148-8FBA-9EB3CB5DC808}"/>
                      </a:ext>
                    </a:extLst>
                  </p:cNvPr>
                  <p:cNvSpPr txBox="1"/>
                  <p:nvPr/>
                </p:nvSpPr>
                <p:spPr>
                  <a:xfrm>
                    <a:off x="9420397" y="23769489"/>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37" name="テキスト ボックス 36">
                    <a:extLst>
                      <a:ext uri="{FF2B5EF4-FFF2-40B4-BE49-F238E27FC236}">
                        <a16:creationId xmlns:a16="http://schemas.microsoft.com/office/drawing/2014/main" id="{9770035D-8474-3C44-AA27-C3EDCAEE4E87}"/>
                      </a:ext>
                    </a:extLst>
                  </p:cNvPr>
                  <p:cNvSpPr txBox="1"/>
                  <p:nvPr/>
                </p:nvSpPr>
                <p:spPr>
                  <a:xfrm rot="16200000">
                    <a:off x="6898875" y="21287147"/>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31" name="図 30">
                  <a:extLst>
                    <a:ext uri="{FF2B5EF4-FFF2-40B4-BE49-F238E27FC236}">
                      <a16:creationId xmlns:a16="http://schemas.microsoft.com/office/drawing/2014/main" id="{745206E1-DD41-4F48-9237-BE37B794AB7B}"/>
                    </a:ext>
                  </a:extLst>
                </p:cNvPr>
                <p:cNvPicPr>
                  <a:picLocks noChangeAspect="1"/>
                </p:cNvPicPr>
                <p:nvPr/>
              </p:nvPicPr>
              <p:blipFill>
                <a:blip r:embed="rId5">
                  <a:duotone>
                    <a:prstClr val="black"/>
                    <a:schemeClr val="accent1">
                      <a:tint val="45000"/>
                      <a:satMod val="400000"/>
                    </a:schemeClr>
                  </a:duotone>
                </a:blip>
                <a:stretch>
                  <a:fillRect/>
                </a:stretch>
              </p:blipFill>
              <p:spPr>
                <a:xfrm>
                  <a:off x="19324672" y="26733403"/>
                  <a:ext cx="473971" cy="807904"/>
                </a:xfrm>
                <a:prstGeom prst="rect">
                  <a:avLst/>
                </a:prstGeom>
              </p:spPr>
            </p:pic>
            <p:sp>
              <p:nvSpPr>
                <p:cNvPr id="32" name="角丸四角形吹き出し 31">
                  <a:extLst>
                    <a:ext uri="{FF2B5EF4-FFF2-40B4-BE49-F238E27FC236}">
                      <a16:creationId xmlns:a16="http://schemas.microsoft.com/office/drawing/2014/main" id="{0CEB9DE5-6220-C94A-8928-1BD6EBBAE53E}"/>
                    </a:ext>
                  </a:extLst>
                </p:cNvPr>
                <p:cNvSpPr/>
                <p:nvPr/>
              </p:nvSpPr>
              <p:spPr>
                <a:xfrm>
                  <a:off x="18834709" y="27807434"/>
                  <a:ext cx="3479357" cy="587372"/>
                </a:xfrm>
                <a:prstGeom prst="wedgeRoundRectCallout">
                  <a:avLst>
                    <a:gd name="adj1" fmla="val -32032"/>
                    <a:gd name="adj2" fmla="val -73269"/>
                    <a:gd name="adj3" fmla="val 1666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エージェントの予想</a:t>
                  </a:r>
                </a:p>
              </p:txBody>
            </p:sp>
          </p:grpSp>
        </p:grpSp>
        <p:grpSp>
          <p:nvGrpSpPr>
            <p:cNvPr id="57" name="グループ化 56">
              <a:extLst>
                <a:ext uri="{FF2B5EF4-FFF2-40B4-BE49-F238E27FC236}">
                  <a16:creationId xmlns:a16="http://schemas.microsoft.com/office/drawing/2014/main" id="{617A3631-A9B4-0E4F-9E16-AF92CC1E4695}"/>
                </a:ext>
              </a:extLst>
            </p:cNvPr>
            <p:cNvGrpSpPr/>
            <p:nvPr/>
          </p:nvGrpSpPr>
          <p:grpSpPr>
            <a:xfrm>
              <a:off x="4936666" y="2663259"/>
              <a:ext cx="2526577" cy="3813403"/>
              <a:chOff x="4936666" y="2663259"/>
              <a:chExt cx="2526577" cy="3813403"/>
            </a:xfrm>
          </p:grpSpPr>
          <p:grpSp>
            <p:nvGrpSpPr>
              <p:cNvPr id="17" name="グループ化 16">
                <a:extLst>
                  <a:ext uri="{FF2B5EF4-FFF2-40B4-BE49-F238E27FC236}">
                    <a16:creationId xmlns:a16="http://schemas.microsoft.com/office/drawing/2014/main" id="{04D69B55-4D29-C140-9946-32A5311B9987}"/>
                  </a:ext>
                </a:extLst>
              </p:cNvPr>
              <p:cNvGrpSpPr/>
              <p:nvPr/>
            </p:nvGrpSpPr>
            <p:grpSpPr>
              <a:xfrm>
                <a:off x="4976999" y="2663259"/>
                <a:ext cx="2203286" cy="1542851"/>
                <a:chOff x="16999261" y="21777783"/>
                <a:chExt cx="4722940" cy="3307241"/>
              </a:xfrm>
            </p:grpSpPr>
            <p:pic>
              <p:nvPicPr>
                <p:cNvPr id="38" name="図 37">
                  <a:extLst>
                    <a:ext uri="{FF2B5EF4-FFF2-40B4-BE49-F238E27FC236}">
                      <a16:creationId xmlns:a16="http://schemas.microsoft.com/office/drawing/2014/main" id="{56CDCD58-415A-424A-8FE7-A6C942E5859C}"/>
                    </a:ext>
                  </a:extLst>
                </p:cNvPr>
                <p:cNvPicPr>
                  <a:picLocks noChangeAspect="1"/>
                </p:cNvPicPr>
                <p:nvPr/>
              </p:nvPicPr>
              <p:blipFill>
                <a:blip r:embed="rId4"/>
                <a:stretch>
                  <a:fillRect/>
                </a:stretch>
              </p:blipFill>
              <p:spPr>
                <a:xfrm>
                  <a:off x="17564364" y="22957194"/>
                  <a:ext cx="1362076" cy="1612985"/>
                </a:xfrm>
                <a:prstGeom prst="rect">
                  <a:avLst/>
                </a:prstGeom>
              </p:spPr>
            </p:pic>
            <p:sp>
              <p:nvSpPr>
                <p:cNvPr id="39" name="雲形吹き出し 38">
                  <a:extLst>
                    <a:ext uri="{FF2B5EF4-FFF2-40B4-BE49-F238E27FC236}">
                      <a16:creationId xmlns:a16="http://schemas.microsoft.com/office/drawing/2014/main" id="{B38305C4-E93C-984A-9B80-8AAFE6D15818}"/>
                    </a:ext>
                  </a:extLst>
                </p:cNvPr>
                <p:cNvSpPr/>
                <p:nvPr/>
              </p:nvSpPr>
              <p:spPr>
                <a:xfrm rot="316483">
                  <a:off x="17835810" y="21777783"/>
                  <a:ext cx="3189024" cy="1142309"/>
                </a:xfrm>
                <a:prstGeom prst="cloudCallout">
                  <a:avLst>
                    <a:gd name="adj1" fmla="val -17108"/>
                    <a:gd name="adj2" fmla="val 79463"/>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pic>
              <p:nvPicPr>
                <p:cNvPr id="40" name="図 39">
                  <a:extLst>
                    <a:ext uri="{FF2B5EF4-FFF2-40B4-BE49-F238E27FC236}">
                      <a16:creationId xmlns:a16="http://schemas.microsoft.com/office/drawing/2014/main" id="{DEEE85B1-A0AB-0A43-AC79-3A3C06574953}"/>
                    </a:ext>
                  </a:extLst>
                </p:cNvPr>
                <p:cNvPicPr>
                  <a:picLocks noChangeAspect="1"/>
                </p:cNvPicPr>
                <p:nvPr/>
              </p:nvPicPr>
              <p:blipFill>
                <a:blip r:embed="rId5"/>
                <a:stretch>
                  <a:fillRect/>
                </a:stretch>
              </p:blipFill>
              <p:spPr>
                <a:xfrm>
                  <a:off x="20676518" y="22999699"/>
                  <a:ext cx="923636" cy="1574380"/>
                </a:xfrm>
                <a:prstGeom prst="rect">
                  <a:avLst/>
                </a:prstGeom>
              </p:spPr>
            </p:pic>
            <p:sp>
              <p:nvSpPr>
                <p:cNvPr id="41" name="正方形/長方形 40">
                  <a:extLst>
                    <a:ext uri="{FF2B5EF4-FFF2-40B4-BE49-F238E27FC236}">
                      <a16:creationId xmlns:a16="http://schemas.microsoft.com/office/drawing/2014/main" id="{248F4A03-8BC8-CE42-8E67-572DE4063A34}"/>
                    </a:ext>
                  </a:extLst>
                </p:cNvPr>
                <p:cNvSpPr/>
                <p:nvPr/>
              </p:nvSpPr>
              <p:spPr>
                <a:xfrm>
                  <a:off x="18158863" y="21954423"/>
                  <a:ext cx="2517656" cy="77452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多分この辺り</a:t>
                  </a:r>
                  <a:br>
                    <a:rPr kumimoji="1" lang="en-US" altLang="ja-JP" sz="1050" dirty="0">
                      <a:solidFill>
                        <a:schemeClr val="bg1"/>
                      </a:solidFill>
                      <a:latin typeface="Meiryo" panose="020B0604030504040204" pitchFamily="34" charset="-128"/>
                      <a:ea typeface="Meiryo" panose="020B0604030504040204" pitchFamily="34" charset="-128"/>
                    </a:rPr>
                  </a:br>
                  <a:r>
                    <a:rPr kumimoji="1" lang="ja-JP" altLang="en-US" sz="1050">
                      <a:solidFill>
                        <a:schemeClr val="bg1"/>
                      </a:solidFill>
                      <a:latin typeface="Meiryo" panose="020B0604030504040204" pitchFamily="34" charset="-128"/>
                      <a:ea typeface="Meiryo" panose="020B0604030504040204" pitchFamily="34" charset="-128"/>
                    </a:rPr>
                    <a:t>だろう</a:t>
                  </a:r>
                </a:p>
              </p:txBody>
            </p:sp>
            <p:sp>
              <p:nvSpPr>
                <p:cNvPr id="42" name="テキスト ボックス 41">
                  <a:extLst>
                    <a:ext uri="{FF2B5EF4-FFF2-40B4-BE49-F238E27FC236}">
                      <a16:creationId xmlns:a16="http://schemas.microsoft.com/office/drawing/2014/main" id="{4864350F-5C3C-F742-A4C6-BBF5002388ED}"/>
                    </a:ext>
                  </a:extLst>
                </p:cNvPr>
                <p:cNvSpPr txBox="1"/>
                <p:nvPr/>
              </p:nvSpPr>
              <p:spPr>
                <a:xfrm>
                  <a:off x="16999261" y="24560978"/>
                  <a:ext cx="2436145"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エージェント</a:t>
                  </a:r>
                </a:p>
              </p:txBody>
            </p:sp>
            <p:sp>
              <p:nvSpPr>
                <p:cNvPr id="43" name="テキスト ボックス 42">
                  <a:extLst>
                    <a:ext uri="{FF2B5EF4-FFF2-40B4-BE49-F238E27FC236}">
                      <a16:creationId xmlns:a16="http://schemas.microsoft.com/office/drawing/2014/main" id="{D2087C14-6DEC-5B44-B82A-731B2520F9CE}"/>
                    </a:ext>
                  </a:extLst>
                </p:cNvPr>
                <p:cNvSpPr txBox="1"/>
                <p:nvPr/>
              </p:nvSpPr>
              <p:spPr>
                <a:xfrm>
                  <a:off x="20585722" y="24556708"/>
                  <a:ext cx="1136479" cy="524046"/>
                </a:xfrm>
                <a:prstGeom prst="rect">
                  <a:avLst/>
                </a:prstGeom>
                <a:noFill/>
              </p:spPr>
              <p:txBody>
                <a:bodyPr wrap="square" rtlCol="0">
                  <a:spAutoFit/>
                </a:bodyPr>
                <a:lstStyle/>
                <a:p>
                  <a:pPr algn="ctr"/>
                  <a:r>
                    <a:rPr kumimoji="1" lang="ja-JP" altLang="en-US" sz="1050">
                      <a:latin typeface="Meiryo" panose="020B0604030504040204" pitchFamily="34" charset="-128"/>
                      <a:ea typeface="Meiryo" panose="020B0604030504040204" pitchFamily="34" charset="-128"/>
                    </a:rPr>
                    <a:t>人間</a:t>
                  </a:r>
                </a:p>
              </p:txBody>
            </p:sp>
          </p:grpSp>
          <p:grpSp>
            <p:nvGrpSpPr>
              <p:cNvPr id="19" name="グループ化 18">
                <a:extLst>
                  <a:ext uri="{FF2B5EF4-FFF2-40B4-BE49-F238E27FC236}">
                    <a16:creationId xmlns:a16="http://schemas.microsoft.com/office/drawing/2014/main" id="{CC7230FE-10C9-B440-8E14-88F9B2DA2F36}"/>
                  </a:ext>
                </a:extLst>
              </p:cNvPr>
              <p:cNvGrpSpPr/>
              <p:nvPr/>
            </p:nvGrpSpPr>
            <p:grpSpPr>
              <a:xfrm>
                <a:off x="4936666" y="4006999"/>
                <a:ext cx="2526577" cy="2469663"/>
                <a:chOff x="23334278" y="24707724"/>
                <a:chExt cx="5415940" cy="5293939"/>
              </a:xfrm>
            </p:grpSpPr>
            <p:grpSp>
              <p:nvGrpSpPr>
                <p:cNvPr id="22" name="グループ化 21">
                  <a:extLst>
                    <a:ext uri="{FF2B5EF4-FFF2-40B4-BE49-F238E27FC236}">
                      <a16:creationId xmlns:a16="http://schemas.microsoft.com/office/drawing/2014/main" id="{A3EB3B29-0685-C044-A4FD-86C526F463AC}"/>
                    </a:ext>
                  </a:extLst>
                </p:cNvPr>
                <p:cNvGrpSpPr/>
                <p:nvPr/>
              </p:nvGrpSpPr>
              <p:grpSpPr>
                <a:xfrm>
                  <a:off x="23334278" y="24707724"/>
                  <a:ext cx="5415940" cy="5293939"/>
                  <a:chOff x="7873938" y="19015474"/>
                  <a:chExt cx="5415940" cy="5293939"/>
                </a:xfrm>
              </p:grpSpPr>
              <p:pic>
                <p:nvPicPr>
                  <p:cNvPr id="25" name="図 24">
                    <a:extLst>
                      <a:ext uri="{FF2B5EF4-FFF2-40B4-BE49-F238E27FC236}">
                        <a16:creationId xmlns:a16="http://schemas.microsoft.com/office/drawing/2014/main" id="{8DE426AD-AE2F-3E42-A4D2-E04D19FC0C77}"/>
                      </a:ext>
                    </a:extLst>
                  </p:cNvPr>
                  <p:cNvPicPr>
                    <a:picLocks noChangeAspect="1"/>
                  </p:cNvPicPr>
                  <p:nvPr/>
                </p:nvPicPr>
                <p:blipFill rotWithShape="1">
                  <a:blip r:embed="rId6"/>
                  <a:srcRect l="10972" t="1550" r="-1061" b="21005"/>
                  <a:stretch/>
                </p:blipFill>
                <p:spPr>
                  <a:xfrm>
                    <a:off x="8648581" y="19015474"/>
                    <a:ext cx="4641297" cy="4492610"/>
                  </a:xfrm>
                  <a:prstGeom prst="rect">
                    <a:avLst/>
                  </a:prstGeom>
                </p:spPr>
              </p:pic>
              <p:cxnSp>
                <p:nvCxnSpPr>
                  <p:cNvPr id="26" name="直線矢印コネクタ 25">
                    <a:extLst>
                      <a:ext uri="{FF2B5EF4-FFF2-40B4-BE49-F238E27FC236}">
                        <a16:creationId xmlns:a16="http://schemas.microsoft.com/office/drawing/2014/main" id="{00D15694-BFAA-6B4E-8DAC-26D7DA660458}"/>
                      </a:ext>
                    </a:extLst>
                  </p:cNvPr>
                  <p:cNvCxnSpPr/>
                  <p:nvPr/>
                </p:nvCxnSpPr>
                <p:spPr>
                  <a:xfrm>
                    <a:off x="8676909" y="23717322"/>
                    <a:ext cx="3977028"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7" name="直線矢印コネクタ 26">
                    <a:extLst>
                      <a:ext uri="{FF2B5EF4-FFF2-40B4-BE49-F238E27FC236}">
                        <a16:creationId xmlns:a16="http://schemas.microsoft.com/office/drawing/2014/main" id="{F5AFD016-8B34-0F40-8F6D-AC147ADE97D9}"/>
                      </a:ext>
                    </a:extLst>
                  </p:cNvPr>
                  <p:cNvCxnSpPr>
                    <a:cxnSpLocks/>
                  </p:cNvCxnSpPr>
                  <p:nvPr/>
                </p:nvCxnSpPr>
                <p:spPr>
                  <a:xfrm rot="16200000">
                    <a:off x="6370090" y="21484286"/>
                    <a:ext cx="4120776" cy="0"/>
                  </a:xfrm>
                  <a:prstGeom prst="straightConnector1">
                    <a:avLst/>
                  </a:prstGeom>
                  <a:ln w="38100">
                    <a:solidFill>
                      <a:schemeClr val="accent3">
                        <a:lumMod val="60000"/>
                        <a:lumOff val="4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8" name="テキスト ボックス 27">
                    <a:extLst>
                      <a:ext uri="{FF2B5EF4-FFF2-40B4-BE49-F238E27FC236}">
                        <a16:creationId xmlns:a16="http://schemas.microsoft.com/office/drawing/2014/main" id="{53A24B8E-D153-9644-8116-7BAAA5282BEE}"/>
                      </a:ext>
                    </a:extLst>
                  </p:cNvPr>
                  <p:cNvSpPr txBox="1"/>
                  <p:nvPr/>
                </p:nvSpPr>
                <p:spPr>
                  <a:xfrm>
                    <a:off x="9420403" y="23769489"/>
                    <a:ext cx="2490052"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協調性</a:t>
                    </a:r>
                  </a:p>
                </p:txBody>
              </p:sp>
              <p:sp>
                <p:nvSpPr>
                  <p:cNvPr id="29" name="テキスト ボックス 28">
                    <a:extLst>
                      <a:ext uri="{FF2B5EF4-FFF2-40B4-BE49-F238E27FC236}">
                        <a16:creationId xmlns:a16="http://schemas.microsoft.com/office/drawing/2014/main" id="{A275D16A-CF35-C54E-8709-90C62B985F4F}"/>
                      </a:ext>
                    </a:extLst>
                  </p:cNvPr>
                  <p:cNvSpPr txBox="1"/>
                  <p:nvPr/>
                </p:nvSpPr>
                <p:spPr>
                  <a:xfrm rot="16200000">
                    <a:off x="6898875" y="21287145"/>
                    <a:ext cx="2490050" cy="539924"/>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積極性</a:t>
                    </a:r>
                  </a:p>
                </p:txBody>
              </p:sp>
            </p:grpSp>
            <p:pic>
              <p:nvPicPr>
                <p:cNvPr id="23" name="図 22">
                  <a:extLst>
                    <a:ext uri="{FF2B5EF4-FFF2-40B4-BE49-F238E27FC236}">
                      <a16:creationId xmlns:a16="http://schemas.microsoft.com/office/drawing/2014/main" id="{F673A903-953F-3040-B015-BE9E0A47A9EA}"/>
                    </a:ext>
                  </a:extLst>
                </p:cNvPr>
                <p:cNvPicPr>
                  <a:picLocks noChangeAspect="1"/>
                </p:cNvPicPr>
                <p:nvPr/>
              </p:nvPicPr>
              <p:blipFill>
                <a:blip r:embed="rId5">
                  <a:duotone>
                    <a:prstClr val="black"/>
                    <a:schemeClr val="accent2">
                      <a:tint val="45000"/>
                      <a:satMod val="400000"/>
                    </a:schemeClr>
                  </a:duotone>
                </a:blip>
                <a:stretch>
                  <a:fillRect/>
                </a:stretch>
              </p:blipFill>
              <p:spPr>
                <a:xfrm>
                  <a:off x="25869169" y="25446244"/>
                  <a:ext cx="473971" cy="807905"/>
                </a:xfrm>
                <a:prstGeom prst="rect">
                  <a:avLst/>
                </a:prstGeom>
              </p:spPr>
            </p:pic>
            <p:sp>
              <p:nvSpPr>
                <p:cNvPr id="24" name="角丸四角形吹き出し 23">
                  <a:extLst>
                    <a:ext uri="{FF2B5EF4-FFF2-40B4-BE49-F238E27FC236}">
                      <a16:creationId xmlns:a16="http://schemas.microsoft.com/office/drawing/2014/main" id="{450D7322-F144-4646-B3FB-51BB48FB7AFF}"/>
                    </a:ext>
                  </a:extLst>
                </p:cNvPr>
                <p:cNvSpPr/>
                <p:nvPr/>
              </p:nvSpPr>
              <p:spPr>
                <a:xfrm>
                  <a:off x="25685946" y="26488665"/>
                  <a:ext cx="2875500" cy="587372"/>
                </a:xfrm>
                <a:prstGeom prst="wedgeRoundRectCallout">
                  <a:avLst>
                    <a:gd name="adj1" fmla="val -32032"/>
                    <a:gd name="adj2" fmla="val -73269"/>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050">
                      <a:solidFill>
                        <a:schemeClr val="bg1"/>
                      </a:solidFill>
                      <a:latin typeface="Meiryo" panose="020B0604030504040204" pitchFamily="34" charset="-128"/>
                      <a:ea typeface="Meiryo" panose="020B0604030504040204" pitchFamily="34" charset="-128"/>
                    </a:rPr>
                    <a:t>予想を修正</a:t>
                  </a:r>
                  <a:endParaRPr kumimoji="1" lang="en-US" altLang="ja-JP" sz="1050" dirty="0">
                    <a:solidFill>
                      <a:schemeClr val="bg1"/>
                    </a:solidFill>
                    <a:latin typeface="Meiryo" panose="020B0604030504040204" pitchFamily="34" charset="-128"/>
                    <a:ea typeface="Meiryo" panose="020B0604030504040204" pitchFamily="34" charset="-128"/>
                  </a:endParaRPr>
                </a:p>
              </p:txBody>
            </p:sp>
          </p:grpSp>
        </p:grpSp>
        <p:sp>
          <p:nvSpPr>
            <p:cNvPr id="20" name="右矢印 19">
              <a:extLst>
                <a:ext uri="{FF2B5EF4-FFF2-40B4-BE49-F238E27FC236}">
                  <a16:creationId xmlns:a16="http://schemas.microsoft.com/office/drawing/2014/main" id="{882395A2-8D03-C24B-8248-C592D16A1AD8}"/>
                </a:ext>
              </a:extLst>
            </p:cNvPr>
            <p:cNvSpPr/>
            <p:nvPr/>
          </p:nvSpPr>
          <p:spPr>
            <a:xfrm>
              <a:off x="4239768" y="5015640"/>
              <a:ext cx="507214" cy="188655"/>
            </a:xfrm>
            <a:prstGeom prst="rightArrow">
              <a:avLst>
                <a:gd name="adj1" fmla="val 68693"/>
                <a:gd name="adj2" fmla="val 98252"/>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sp>
          <p:nvSpPr>
            <p:cNvPr id="21" name="テキスト ボックス 20">
              <a:extLst>
                <a:ext uri="{FF2B5EF4-FFF2-40B4-BE49-F238E27FC236}">
                  <a16:creationId xmlns:a16="http://schemas.microsoft.com/office/drawing/2014/main" id="{4F6E6A1D-7753-704F-88E9-E7E026FA5D5E}"/>
                </a:ext>
              </a:extLst>
            </p:cNvPr>
            <p:cNvSpPr txBox="1"/>
            <p:nvPr/>
          </p:nvSpPr>
          <p:spPr>
            <a:xfrm>
              <a:off x="3707178" y="4675284"/>
              <a:ext cx="1475586" cy="415498"/>
            </a:xfrm>
            <a:prstGeom prst="rect">
              <a:avLst/>
            </a:prstGeom>
            <a:noFill/>
          </p:spPr>
          <p:txBody>
            <a:bodyPr wrap="square" rtlCol="0">
              <a:spAutoFit/>
            </a:bodyPr>
            <a:lstStyle/>
            <a:p>
              <a:pPr algn="ctr"/>
              <a:r>
                <a:rPr kumimoji="1" lang="ja-JP" altLang="en-US" sz="1100">
                  <a:latin typeface="Meiryo" panose="020B0604030504040204" pitchFamily="34" charset="-128"/>
                  <a:ea typeface="Meiryo" panose="020B0604030504040204" pitchFamily="34" charset="-128"/>
                </a:rPr>
                <a:t>人間の行動に応じて予想を修正</a:t>
              </a:r>
            </a:p>
          </p:txBody>
        </p:sp>
      </p:grpSp>
    </p:spTree>
    <p:extLst>
      <p:ext uri="{BB962C8B-B14F-4D97-AF65-F5344CB8AC3E}">
        <p14:creationId xmlns:p14="http://schemas.microsoft.com/office/powerpoint/2010/main" val="4606964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760674" cy="680876"/>
            <a:chOff x="163626" y="1160115"/>
            <a:chExt cx="3760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760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grpSp>
        <p:nvGrpSpPr>
          <p:cNvPr id="29" name="グループ化 28">
            <a:extLst>
              <a:ext uri="{FF2B5EF4-FFF2-40B4-BE49-F238E27FC236}">
                <a16:creationId xmlns:a16="http://schemas.microsoft.com/office/drawing/2014/main" id="{03827915-52D1-104C-AB2D-2850D37BF14C}"/>
              </a:ext>
            </a:extLst>
          </p:cNvPr>
          <p:cNvGrpSpPr/>
          <p:nvPr/>
        </p:nvGrpSpPr>
        <p:grpSpPr>
          <a:xfrm>
            <a:off x="550036" y="3879486"/>
            <a:ext cx="8320259" cy="2757355"/>
            <a:chOff x="550036" y="3879486"/>
            <a:chExt cx="8320259" cy="2757355"/>
          </a:xfrm>
        </p:grpSpPr>
        <p:sp>
          <p:nvSpPr>
            <p:cNvPr id="45" name="右矢印 44">
              <a:extLst>
                <a:ext uri="{FF2B5EF4-FFF2-40B4-BE49-F238E27FC236}">
                  <a16:creationId xmlns:a16="http://schemas.microsoft.com/office/drawing/2014/main" id="{9FF18A30-A3C7-1E47-B8A4-C9BBA76EB2BB}"/>
                </a:ext>
              </a:extLst>
            </p:cNvPr>
            <p:cNvSpPr/>
            <p:nvPr/>
          </p:nvSpPr>
          <p:spPr>
            <a:xfrm>
              <a:off x="6440380" y="46977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28" name="グループ化 27">
              <a:extLst>
                <a:ext uri="{FF2B5EF4-FFF2-40B4-BE49-F238E27FC236}">
                  <a16:creationId xmlns:a16="http://schemas.microsoft.com/office/drawing/2014/main" id="{3D4D4DE1-F224-C244-942C-6D2F2C7B58D6}"/>
                </a:ext>
              </a:extLst>
            </p:cNvPr>
            <p:cNvGrpSpPr/>
            <p:nvPr/>
          </p:nvGrpSpPr>
          <p:grpSpPr>
            <a:xfrm>
              <a:off x="6518486" y="4056304"/>
              <a:ext cx="2351809" cy="2580537"/>
              <a:chOff x="6518486" y="4094404"/>
              <a:chExt cx="2351809" cy="2580537"/>
            </a:xfrm>
          </p:grpSpPr>
          <p:grpSp>
            <p:nvGrpSpPr>
              <p:cNvPr id="27" name="グループ化 26">
                <a:extLst>
                  <a:ext uri="{FF2B5EF4-FFF2-40B4-BE49-F238E27FC236}">
                    <a16:creationId xmlns:a16="http://schemas.microsoft.com/office/drawing/2014/main" id="{6F4B1F03-9B66-DA47-AA65-286882ACFDAE}"/>
                  </a:ext>
                </a:extLst>
              </p:cNvPr>
              <p:cNvGrpSpPr/>
              <p:nvPr/>
            </p:nvGrpSpPr>
            <p:grpSpPr>
              <a:xfrm>
                <a:off x="6848937" y="4094404"/>
                <a:ext cx="1690907" cy="1690907"/>
                <a:chOff x="6848937" y="4094404"/>
                <a:chExt cx="1690907" cy="1690907"/>
              </a:xfrm>
            </p:grpSpPr>
            <p:grpSp>
              <p:nvGrpSpPr>
                <p:cNvPr id="47" name="グループ化 46">
                  <a:extLst>
                    <a:ext uri="{FF2B5EF4-FFF2-40B4-BE49-F238E27FC236}">
                      <a16:creationId xmlns:a16="http://schemas.microsoft.com/office/drawing/2014/main" id="{E11C1039-7584-2B4C-9170-7D257ECA1741}"/>
                    </a:ext>
                  </a:extLst>
                </p:cNvPr>
                <p:cNvGrpSpPr/>
                <p:nvPr/>
              </p:nvGrpSpPr>
              <p:grpSpPr>
                <a:xfrm>
                  <a:off x="6848937" y="4094404"/>
                  <a:ext cx="1690907" cy="1690907"/>
                  <a:chOff x="6676684" y="4465921"/>
                  <a:chExt cx="1690907" cy="1690907"/>
                </a:xfrm>
              </p:grpSpPr>
              <p:cxnSp>
                <p:nvCxnSpPr>
                  <p:cNvPr id="19" name="直線コネクタ 18">
                    <a:extLst>
                      <a:ext uri="{FF2B5EF4-FFF2-40B4-BE49-F238E27FC236}">
                        <a16:creationId xmlns:a16="http://schemas.microsoft.com/office/drawing/2014/main" id="{D49C790C-D481-A24A-9980-4FEB10221937}"/>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線コネクタ 45">
                    <a:extLst>
                      <a:ext uri="{FF2B5EF4-FFF2-40B4-BE49-F238E27FC236}">
                        <a16:creationId xmlns:a16="http://schemas.microsoft.com/office/drawing/2014/main" id="{8C968865-7C68-CB40-8073-AB077F3C966A}"/>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9" name="フリーフォーム 48">
                  <a:extLst>
                    <a:ext uri="{FF2B5EF4-FFF2-40B4-BE49-F238E27FC236}">
                      <a16:creationId xmlns:a16="http://schemas.microsoft.com/office/drawing/2014/main" id="{9797452E-93E4-384C-A78F-0C76A4DB72E2}"/>
                    </a:ext>
                  </a:extLst>
                </p:cNvPr>
                <p:cNvSpPr/>
                <p:nvPr/>
              </p:nvSpPr>
              <p:spPr>
                <a:xfrm>
                  <a:off x="7083159" y="46745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1" name="フリーフォーム 50">
                  <a:extLst>
                    <a:ext uri="{FF2B5EF4-FFF2-40B4-BE49-F238E27FC236}">
                      <a16:creationId xmlns:a16="http://schemas.microsoft.com/office/drawing/2014/main" id="{C576183D-2D5C-7A4C-9BC3-1A9E844828EA}"/>
                    </a:ext>
                  </a:extLst>
                </p:cNvPr>
                <p:cNvSpPr/>
                <p:nvPr/>
              </p:nvSpPr>
              <p:spPr>
                <a:xfrm>
                  <a:off x="7083159" y="47100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ボックス 51">
                <a:extLst>
                  <a:ext uri="{FF2B5EF4-FFF2-40B4-BE49-F238E27FC236}">
                    <a16:creationId xmlns:a16="http://schemas.microsoft.com/office/drawing/2014/main" id="{1A01385F-3EAD-0E4A-8145-56BB2A51EBE7}"/>
                  </a:ext>
                </a:extLst>
              </p:cNvPr>
              <p:cNvSpPr txBox="1"/>
              <p:nvPr/>
            </p:nvSpPr>
            <p:spPr>
              <a:xfrm>
                <a:off x="6518486" y="6028610"/>
                <a:ext cx="2351809" cy="646331"/>
              </a:xfrm>
              <a:prstGeom prst="rect">
                <a:avLst/>
              </a:prstGeom>
              <a:noFill/>
            </p:spPr>
            <p:txBody>
              <a:bodyPr wrap="square" rtlCol="0">
                <a:spAutoFit/>
              </a:bodyPr>
              <a:lstStyle/>
              <a:p>
                <a:pPr algn="ctr"/>
                <a:r>
                  <a:rPr kumimoji="1" lang="ja-JP" altLang="en-US"/>
                  <a:t>譲歩速度などの変更</a:t>
                </a:r>
              </a:p>
            </p:txBody>
          </p:sp>
        </p:grpSp>
        <p:grpSp>
          <p:nvGrpSpPr>
            <p:cNvPr id="26" name="グループ化 25">
              <a:extLst>
                <a:ext uri="{FF2B5EF4-FFF2-40B4-BE49-F238E27FC236}">
                  <a16:creationId xmlns:a16="http://schemas.microsoft.com/office/drawing/2014/main" id="{4CD08466-1983-384D-813B-2CC0DFEC58B4}"/>
                </a:ext>
              </a:extLst>
            </p:cNvPr>
            <p:cNvGrpSpPr/>
            <p:nvPr/>
          </p:nvGrpSpPr>
          <p:grpSpPr>
            <a:xfrm>
              <a:off x="550036" y="3879486"/>
              <a:ext cx="5677184" cy="2495100"/>
              <a:chOff x="1007236" y="3930286"/>
              <a:chExt cx="5677184" cy="2495100"/>
            </a:xfrm>
          </p:grpSpPr>
          <p:sp>
            <p:nvSpPr>
              <p:cNvPr id="42" name="テキスト ボックス 41">
                <a:extLst>
                  <a:ext uri="{FF2B5EF4-FFF2-40B4-BE49-F238E27FC236}">
                    <a16:creationId xmlns:a16="http://schemas.microsoft.com/office/drawing/2014/main" id="{2234BD33-AC73-2047-8967-E43F42409BAC}"/>
                  </a:ext>
                </a:extLst>
              </p:cNvPr>
              <p:cNvSpPr txBox="1"/>
              <p:nvPr/>
            </p:nvSpPr>
            <p:spPr>
              <a:xfrm>
                <a:off x="2638232" y="6056054"/>
                <a:ext cx="2458762" cy="369332"/>
              </a:xfrm>
              <a:prstGeom prst="rect">
                <a:avLst/>
              </a:prstGeom>
              <a:noFill/>
            </p:spPr>
            <p:txBody>
              <a:bodyPr wrap="square" rtlCol="0">
                <a:spAutoFit/>
              </a:bodyPr>
              <a:lstStyle/>
              <a:p>
                <a:pPr algn="ctr"/>
                <a:r>
                  <a:rPr kumimoji="1" lang="ja-JP" altLang="en-US"/>
                  <a:t>特性</a:t>
                </a:r>
                <a:r>
                  <a:rPr kumimoji="1" lang="en-US" altLang="ja-JP" dirty="0"/>
                  <a:t>5</a:t>
                </a:r>
                <a:r>
                  <a:rPr kumimoji="1" lang="ja-JP" altLang="en-US"/>
                  <a:t>因子の値を推定</a:t>
                </a:r>
              </a:p>
            </p:txBody>
          </p:sp>
          <p:grpSp>
            <p:nvGrpSpPr>
              <p:cNvPr id="25" name="グループ化 24">
                <a:extLst>
                  <a:ext uri="{FF2B5EF4-FFF2-40B4-BE49-F238E27FC236}">
                    <a16:creationId xmlns:a16="http://schemas.microsoft.com/office/drawing/2014/main" id="{1F8E3C26-CC2E-1845-B4E5-B963C93A4C6F}"/>
                  </a:ext>
                </a:extLst>
              </p:cNvPr>
              <p:cNvGrpSpPr/>
              <p:nvPr/>
            </p:nvGrpSpPr>
            <p:grpSpPr>
              <a:xfrm>
                <a:off x="1007236" y="3930286"/>
                <a:ext cx="5677184" cy="2281087"/>
                <a:chOff x="626236" y="3930286"/>
                <a:chExt cx="5677184" cy="2281087"/>
              </a:xfrm>
            </p:grpSpPr>
            <p:sp>
              <p:nvSpPr>
                <p:cNvPr id="10" name="三角形 9">
                  <a:extLst>
                    <a:ext uri="{FF2B5EF4-FFF2-40B4-BE49-F238E27FC236}">
                      <a16:creationId xmlns:a16="http://schemas.microsoft.com/office/drawing/2014/main" id="{18949641-2187-F240-8DAD-8825D7C150CC}"/>
                    </a:ext>
                  </a:extLst>
                </p:cNvPr>
                <p:cNvSpPr/>
                <p:nvPr/>
              </p:nvSpPr>
              <p:spPr>
                <a:xfrm rot="5400000">
                  <a:off x="4203696" y="482946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7" name="グループ化 36">
                  <a:extLst>
                    <a:ext uri="{FF2B5EF4-FFF2-40B4-BE49-F238E27FC236}">
                      <a16:creationId xmlns:a16="http://schemas.microsoft.com/office/drawing/2014/main" id="{7E39D720-3E19-214D-A468-578CD54D4B06}"/>
                    </a:ext>
                  </a:extLst>
                </p:cNvPr>
                <p:cNvGrpSpPr/>
                <p:nvPr/>
              </p:nvGrpSpPr>
              <p:grpSpPr>
                <a:xfrm>
                  <a:off x="4473104" y="4008840"/>
                  <a:ext cx="1830316" cy="1742414"/>
                  <a:chOff x="4518679" y="3383774"/>
                  <a:chExt cx="2679765" cy="2551071"/>
                </a:xfrm>
              </p:grpSpPr>
              <p:sp>
                <p:nvSpPr>
                  <p:cNvPr id="38" name="テキスト ボックス 37">
                    <a:extLst>
                      <a:ext uri="{FF2B5EF4-FFF2-40B4-BE49-F238E27FC236}">
                        <a16:creationId xmlns:a16="http://schemas.microsoft.com/office/drawing/2014/main" id="{52202CE7-6A06-B74F-A349-0AFA7BF8BAA7}"/>
                      </a:ext>
                    </a:extLst>
                  </p:cNvPr>
                  <p:cNvSpPr txBox="1"/>
                  <p:nvPr/>
                </p:nvSpPr>
                <p:spPr>
                  <a:xfrm>
                    <a:off x="5715226" y="3383774"/>
                    <a:ext cx="324127" cy="307777"/>
                  </a:xfrm>
                  <a:prstGeom prst="rect">
                    <a:avLst/>
                  </a:prstGeom>
                  <a:noFill/>
                </p:spPr>
                <p:txBody>
                  <a:bodyPr wrap="none" rtlCol="0">
                    <a:spAutoFit/>
                  </a:bodyPr>
                  <a:lstStyle/>
                  <a:p>
                    <a:pPr algn="ctr"/>
                    <a:r>
                      <a:rPr kumimoji="1" lang="en-US" altLang="ja-JP" sz="1400" dirty="0"/>
                      <a:t>N</a:t>
                    </a:r>
                    <a:endParaRPr kumimoji="1" lang="ja-JP" altLang="en-US" sz="1400"/>
                  </a:p>
                </p:txBody>
              </p:sp>
              <p:sp>
                <p:nvSpPr>
                  <p:cNvPr id="39" name="テキスト ボックス 38">
                    <a:extLst>
                      <a:ext uri="{FF2B5EF4-FFF2-40B4-BE49-F238E27FC236}">
                        <a16:creationId xmlns:a16="http://schemas.microsoft.com/office/drawing/2014/main" id="{6859441A-2A4D-774C-BC3E-4C55882B769A}"/>
                      </a:ext>
                    </a:extLst>
                  </p:cNvPr>
                  <p:cNvSpPr txBox="1"/>
                  <p:nvPr/>
                </p:nvSpPr>
                <p:spPr>
                  <a:xfrm>
                    <a:off x="6378878" y="5627067"/>
                    <a:ext cx="327333" cy="307778"/>
                  </a:xfrm>
                  <a:prstGeom prst="rect">
                    <a:avLst/>
                  </a:prstGeom>
                  <a:noFill/>
                </p:spPr>
                <p:txBody>
                  <a:bodyPr wrap="none" rtlCol="0">
                    <a:spAutoFit/>
                  </a:bodyPr>
                  <a:lstStyle/>
                  <a:p>
                    <a:pPr algn="ctr"/>
                    <a:r>
                      <a:rPr kumimoji="1" lang="en-US" altLang="ja-JP" sz="1400" dirty="0"/>
                      <a:t>O</a:t>
                    </a:r>
                    <a:endParaRPr kumimoji="1" lang="ja-JP" altLang="en-US" sz="1400"/>
                  </a:p>
                </p:txBody>
              </p:sp>
              <p:sp>
                <p:nvSpPr>
                  <p:cNvPr id="40" name="テキスト ボックス 39">
                    <a:extLst>
                      <a:ext uri="{FF2B5EF4-FFF2-40B4-BE49-F238E27FC236}">
                        <a16:creationId xmlns:a16="http://schemas.microsoft.com/office/drawing/2014/main" id="{A9A47C78-DF75-7345-8026-7E1C538D00F2}"/>
                      </a:ext>
                    </a:extLst>
                  </p:cNvPr>
                  <p:cNvSpPr txBox="1"/>
                  <p:nvPr/>
                </p:nvSpPr>
                <p:spPr>
                  <a:xfrm>
                    <a:off x="6898362" y="4300664"/>
                    <a:ext cx="300082" cy="307777"/>
                  </a:xfrm>
                  <a:prstGeom prst="rect">
                    <a:avLst/>
                  </a:prstGeom>
                  <a:noFill/>
                </p:spPr>
                <p:txBody>
                  <a:bodyPr wrap="none" rtlCol="0">
                    <a:spAutoFit/>
                  </a:bodyPr>
                  <a:lstStyle/>
                  <a:p>
                    <a:pPr algn="ctr"/>
                    <a:r>
                      <a:rPr kumimoji="1" lang="en-US" altLang="ja-JP" sz="1400" dirty="0"/>
                      <a:t>E</a:t>
                    </a:r>
                    <a:endParaRPr kumimoji="1" lang="ja-JP" altLang="en-US" sz="1400"/>
                  </a:p>
                </p:txBody>
              </p:sp>
              <p:sp>
                <p:nvSpPr>
                  <p:cNvPr id="41" name="テキスト ボックス 40">
                    <a:extLst>
                      <a:ext uri="{FF2B5EF4-FFF2-40B4-BE49-F238E27FC236}">
                        <a16:creationId xmlns:a16="http://schemas.microsoft.com/office/drawing/2014/main" id="{F13AE40A-93C5-E841-BD8A-C398789DEDA2}"/>
                      </a:ext>
                    </a:extLst>
                  </p:cNvPr>
                  <p:cNvSpPr txBox="1"/>
                  <p:nvPr/>
                </p:nvSpPr>
                <p:spPr>
                  <a:xfrm>
                    <a:off x="5001333" y="5610805"/>
                    <a:ext cx="319319" cy="307777"/>
                  </a:xfrm>
                  <a:prstGeom prst="rect">
                    <a:avLst/>
                  </a:prstGeom>
                  <a:noFill/>
                </p:spPr>
                <p:txBody>
                  <a:bodyPr wrap="none" rtlCol="0">
                    <a:spAutoFit/>
                  </a:bodyPr>
                  <a:lstStyle/>
                  <a:p>
                    <a:pPr algn="ctr"/>
                    <a:r>
                      <a:rPr kumimoji="1" lang="en-US" altLang="ja-JP" sz="1400" dirty="0"/>
                      <a:t>A</a:t>
                    </a:r>
                    <a:endParaRPr kumimoji="1" lang="ja-JP" altLang="en-US" sz="1400"/>
                  </a:p>
                </p:txBody>
              </p:sp>
              <p:sp>
                <p:nvSpPr>
                  <p:cNvPr id="44" name="テキスト ボックス 43">
                    <a:extLst>
                      <a:ext uri="{FF2B5EF4-FFF2-40B4-BE49-F238E27FC236}">
                        <a16:creationId xmlns:a16="http://schemas.microsoft.com/office/drawing/2014/main" id="{80C2BABC-97F8-9F48-BE50-1E1EA2492D8A}"/>
                      </a:ext>
                    </a:extLst>
                  </p:cNvPr>
                  <p:cNvSpPr txBox="1"/>
                  <p:nvPr/>
                </p:nvSpPr>
                <p:spPr>
                  <a:xfrm>
                    <a:off x="4518679" y="4287964"/>
                    <a:ext cx="320922" cy="307777"/>
                  </a:xfrm>
                  <a:prstGeom prst="rect">
                    <a:avLst/>
                  </a:prstGeom>
                  <a:noFill/>
                </p:spPr>
                <p:txBody>
                  <a:bodyPr wrap="none" rtlCol="0">
                    <a:spAutoFit/>
                  </a:bodyPr>
                  <a:lstStyle/>
                  <a:p>
                    <a:r>
                      <a:rPr kumimoji="1" lang="en-US" altLang="ja-JP" sz="1400" dirty="0"/>
                      <a:t>C</a:t>
                    </a:r>
                    <a:endParaRPr kumimoji="1" lang="ja-JP" altLang="en-US" sz="1400"/>
                  </a:p>
                </p:txBody>
              </p:sp>
              <p:grpSp>
                <p:nvGrpSpPr>
                  <p:cNvPr id="50" name="グループ化 49">
                    <a:extLst>
                      <a:ext uri="{FF2B5EF4-FFF2-40B4-BE49-F238E27FC236}">
                        <a16:creationId xmlns:a16="http://schemas.microsoft.com/office/drawing/2014/main" id="{1425048F-D148-B44B-9E08-5FC8534F7D79}"/>
                      </a:ext>
                    </a:extLst>
                  </p:cNvPr>
                  <p:cNvGrpSpPr/>
                  <p:nvPr/>
                </p:nvGrpSpPr>
                <p:grpSpPr>
                  <a:xfrm>
                    <a:off x="4938565" y="3795935"/>
                    <a:ext cx="1865455" cy="1865455"/>
                    <a:chOff x="4938565" y="3795935"/>
                    <a:chExt cx="1865455" cy="1865455"/>
                  </a:xfrm>
                </p:grpSpPr>
                <p:sp>
                  <p:nvSpPr>
                    <p:cNvPr id="55" name="五角形 54">
                      <a:extLst>
                        <a:ext uri="{FF2B5EF4-FFF2-40B4-BE49-F238E27FC236}">
                          <a16:creationId xmlns:a16="http://schemas.microsoft.com/office/drawing/2014/main" id="{AB2FD24B-2684-654B-9845-FF6958B38266}"/>
                        </a:ext>
                      </a:extLst>
                    </p:cNvPr>
                    <p:cNvSpPr>
                      <a:spLocks noChangeAspect="1"/>
                    </p:cNvSpPr>
                    <p:nvPr/>
                  </p:nvSpPr>
                  <p:spPr>
                    <a:xfrm>
                      <a:off x="4938565" y="3795935"/>
                      <a:ext cx="1865455" cy="1865455"/>
                    </a:xfrm>
                    <a:prstGeom prst="pentagon">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56" name="直線コネクタ 55">
                      <a:extLst>
                        <a:ext uri="{FF2B5EF4-FFF2-40B4-BE49-F238E27FC236}">
                          <a16:creationId xmlns:a16="http://schemas.microsoft.com/office/drawing/2014/main" id="{299A57D9-01FA-D24B-BEA3-BC3944C15829}"/>
                        </a:ext>
                      </a:extLst>
                    </p:cNvPr>
                    <p:cNvCxnSpPr>
                      <a:cxnSpLocks/>
                      <a:stCxn id="55" idx="0"/>
                      <a:endCxn id="61" idx="0"/>
                    </p:cNvCxnSpPr>
                    <p:nvPr/>
                  </p:nvCxnSpPr>
                  <p:spPr>
                    <a:xfrm>
                      <a:off x="5871293" y="3795935"/>
                      <a:ext cx="4732" cy="960873"/>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7" name="直線コネクタ 56">
                      <a:extLst>
                        <a:ext uri="{FF2B5EF4-FFF2-40B4-BE49-F238E27FC236}">
                          <a16:creationId xmlns:a16="http://schemas.microsoft.com/office/drawing/2014/main" id="{D2877A7C-1BE1-E448-A4F3-21B5184D6091}"/>
                        </a:ext>
                      </a:extLst>
                    </p:cNvPr>
                    <p:cNvCxnSpPr>
                      <a:cxnSpLocks/>
                      <a:stCxn id="61" idx="3"/>
                      <a:endCxn id="55" idx="2"/>
                    </p:cNvCxnSpPr>
                    <p:nvPr/>
                  </p:nvCxnSpPr>
                  <p:spPr>
                    <a:xfrm flipH="1">
                      <a:off x="5294836" y="4794967"/>
                      <a:ext cx="565383"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8" name="直線コネクタ 57">
                      <a:extLst>
                        <a:ext uri="{FF2B5EF4-FFF2-40B4-BE49-F238E27FC236}">
                          <a16:creationId xmlns:a16="http://schemas.microsoft.com/office/drawing/2014/main" id="{39896AEF-A7B6-0A48-BDCC-A592C3470018}"/>
                        </a:ext>
                      </a:extLst>
                    </p:cNvPr>
                    <p:cNvCxnSpPr>
                      <a:cxnSpLocks/>
                      <a:stCxn id="61" idx="5"/>
                      <a:endCxn id="55" idx="4"/>
                    </p:cNvCxnSpPr>
                    <p:nvPr/>
                  </p:nvCxnSpPr>
                  <p:spPr>
                    <a:xfrm>
                      <a:off x="5891831" y="4794967"/>
                      <a:ext cx="555918" cy="866418"/>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59" name="直線コネクタ 58">
                      <a:extLst>
                        <a:ext uri="{FF2B5EF4-FFF2-40B4-BE49-F238E27FC236}">
                          <a16:creationId xmlns:a16="http://schemas.microsoft.com/office/drawing/2014/main" id="{ADA184A1-3B10-4A42-96E0-FAE69953A917}"/>
                        </a:ext>
                      </a:extLst>
                    </p:cNvPr>
                    <p:cNvCxnSpPr>
                      <a:cxnSpLocks/>
                      <a:stCxn id="61" idx="6"/>
                      <a:endCxn id="55" idx="5"/>
                    </p:cNvCxnSpPr>
                    <p:nvPr/>
                  </p:nvCxnSpPr>
                  <p:spPr>
                    <a:xfrm flipV="1">
                      <a:off x="5898378" y="4508474"/>
                      <a:ext cx="905640"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60" name="直線コネクタ 59">
                      <a:extLst>
                        <a:ext uri="{FF2B5EF4-FFF2-40B4-BE49-F238E27FC236}">
                          <a16:creationId xmlns:a16="http://schemas.microsoft.com/office/drawing/2014/main" id="{55792A8D-8292-654D-A476-9A569952C5BB}"/>
                        </a:ext>
                      </a:extLst>
                    </p:cNvPr>
                    <p:cNvCxnSpPr>
                      <a:cxnSpLocks/>
                      <a:stCxn id="55" idx="1"/>
                      <a:endCxn id="61" idx="2"/>
                    </p:cNvCxnSpPr>
                    <p:nvPr/>
                  </p:nvCxnSpPr>
                  <p:spPr>
                    <a:xfrm>
                      <a:off x="4938567" y="4508474"/>
                      <a:ext cx="915105" cy="270687"/>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61" name="円/楕円 60">
                      <a:extLst>
                        <a:ext uri="{FF2B5EF4-FFF2-40B4-BE49-F238E27FC236}">
                          <a16:creationId xmlns:a16="http://schemas.microsoft.com/office/drawing/2014/main" id="{0169F05F-E815-1E44-AD33-DFA67F1A13A7}"/>
                        </a:ext>
                      </a:extLst>
                    </p:cNvPr>
                    <p:cNvSpPr/>
                    <p:nvPr/>
                  </p:nvSpPr>
                  <p:spPr>
                    <a:xfrm>
                      <a:off x="5853672" y="4756808"/>
                      <a:ext cx="44706" cy="44706"/>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五角形 278">
                      <a:extLst>
                        <a:ext uri="{FF2B5EF4-FFF2-40B4-BE49-F238E27FC236}">
                          <a16:creationId xmlns:a16="http://schemas.microsoft.com/office/drawing/2014/main" id="{36EFCC2D-C273-8C4A-9807-CED5AFA89D73}"/>
                        </a:ext>
                      </a:extLst>
                    </p:cNvPr>
                    <p:cNvSpPr>
                      <a:spLocks noChangeAspect="1"/>
                    </p:cNvSpPr>
                    <p:nvPr/>
                  </p:nvSpPr>
                  <p:spPr>
                    <a:xfrm>
                      <a:off x="5344968" y="4121079"/>
                      <a:ext cx="1072971" cy="1357450"/>
                    </a:xfrm>
                    <a:custGeom>
                      <a:avLst/>
                      <a:gdLst>
                        <a:gd name="connsiteX0" fmla="*/ 2 w 1865455"/>
                        <a:gd name="connsiteY0" fmla="*/ 712539 h 1865455"/>
                        <a:gd name="connsiteX1" fmla="*/ 932728 w 1865455"/>
                        <a:gd name="connsiteY1" fmla="*/ 0 h 1865455"/>
                        <a:gd name="connsiteX2" fmla="*/ 1865453 w 1865455"/>
                        <a:gd name="connsiteY2" fmla="*/ 712539 h 1865455"/>
                        <a:gd name="connsiteX3" fmla="*/ 1509184 w 1865455"/>
                        <a:gd name="connsiteY3" fmla="*/ 1865450 h 1865455"/>
                        <a:gd name="connsiteX4" fmla="*/ 356271 w 1865455"/>
                        <a:gd name="connsiteY4" fmla="*/ 1865450 h 1865455"/>
                        <a:gd name="connsiteX5" fmla="*/ 2 w 1865455"/>
                        <a:gd name="connsiteY5" fmla="*/ 712539 h 1865455"/>
                        <a:gd name="connsiteX0" fmla="*/ 0 w 1865451"/>
                        <a:gd name="connsiteY0" fmla="*/ 174059 h 1326970"/>
                        <a:gd name="connsiteX1" fmla="*/ 912406 w 1865451"/>
                        <a:gd name="connsiteY1" fmla="*/ 0 h 1326970"/>
                        <a:gd name="connsiteX2" fmla="*/ 1865451 w 1865451"/>
                        <a:gd name="connsiteY2" fmla="*/ 174059 h 1326970"/>
                        <a:gd name="connsiteX3" fmla="*/ 1509182 w 1865451"/>
                        <a:gd name="connsiteY3" fmla="*/ 1326970 h 1326970"/>
                        <a:gd name="connsiteX4" fmla="*/ 356269 w 1865451"/>
                        <a:gd name="connsiteY4" fmla="*/ 1326970 h 1326970"/>
                        <a:gd name="connsiteX5" fmla="*/ 0 w 1865451"/>
                        <a:gd name="connsiteY5" fmla="*/ 174059 h 1326970"/>
                        <a:gd name="connsiteX0" fmla="*/ 0 w 1865451"/>
                        <a:gd name="connsiteY0" fmla="*/ 407739 h 1560650"/>
                        <a:gd name="connsiteX1" fmla="*/ 912406 w 1865451"/>
                        <a:gd name="connsiteY1" fmla="*/ 0 h 1560650"/>
                        <a:gd name="connsiteX2" fmla="*/ 1865451 w 1865451"/>
                        <a:gd name="connsiteY2" fmla="*/ 407739 h 1560650"/>
                        <a:gd name="connsiteX3" fmla="*/ 1509182 w 1865451"/>
                        <a:gd name="connsiteY3" fmla="*/ 1560650 h 1560650"/>
                        <a:gd name="connsiteX4" fmla="*/ 356269 w 1865451"/>
                        <a:gd name="connsiteY4" fmla="*/ 1560650 h 1560650"/>
                        <a:gd name="connsiteX5" fmla="*/ 0 w 1865451"/>
                        <a:gd name="connsiteY5" fmla="*/ 407739 h 1560650"/>
                        <a:gd name="connsiteX0" fmla="*/ 0 w 1509182"/>
                        <a:gd name="connsiteY0" fmla="*/ 407739 h 1560650"/>
                        <a:gd name="connsiteX1" fmla="*/ 912406 w 1509182"/>
                        <a:gd name="connsiteY1" fmla="*/ 0 h 1560650"/>
                        <a:gd name="connsiteX2" fmla="*/ 1154251 w 1509182"/>
                        <a:gd name="connsiteY2" fmla="*/ 610939 h 1560650"/>
                        <a:gd name="connsiteX3" fmla="*/ 1509182 w 1509182"/>
                        <a:gd name="connsiteY3" fmla="*/ 1560650 h 1560650"/>
                        <a:gd name="connsiteX4" fmla="*/ 356269 w 1509182"/>
                        <a:gd name="connsiteY4" fmla="*/ 1560650 h 1560650"/>
                        <a:gd name="connsiteX5" fmla="*/ 0 w 1509182"/>
                        <a:gd name="connsiteY5" fmla="*/ 407739 h 1560650"/>
                        <a:gd name="connsiteX0" fmla="*/ 0 w 1346622"/>
                        <a:gd name="connsiteY0" fmla="*/ 407739 h 1560650"/>
                        <a:gd name="connsiteX1" fmla="*/ 912406 w 1346622"/>
                        <a:gd name="connsiteY1" fmla="*/ 0 h 1560650"/>
                        <a:gd name="connsiteX2" fmla="*/ 1154251 w 1346622"/>
                        <a:gd name="connsiteY2" fmla="*/ 610939 h 1560650"/>
                        <a:gd name="connsiteX3" fmla="*/ 1346622 w 1346622"/>
                        <a:gd name="connsiteY3" fmla="*/ 1316810 h 1560650"/>
                        <a:gd name="connsiteX4" fmla="*/ 356269 w 1346622"/>
                        <a:gd name="connsiteY4" fmla="*/ 1560650 h 1560650"/>
                        <a:gd name="connsiteX5" fmla="*/ 0 w 1346622"/>
                        <a:gd name="connsiteY5" fmla="*/ 407739 h 1560650"/>
                        <a:gd name="connsiteX0" fmla="*/ 0 w 1469211"/>
                        <a:gd name="connsiteY0" fmla="*/ 407739 h 1560650"/>
                        <a:gd name="connsiteX1" fmla="*/ 912406 w 1469211"/>
                        <a:gd name="connsiteY1" fmla="*/ 0 h 1560650"/>
                        <a:gd name="connsiteX2" fmla="*/ 1469211 w 1469211"/>
                        <a:gd name="connsiteY2" fmla="*/ 499179 h 1560650"/>
                        <a:gd name="connsiteX3" fmla="*/ 1346622 w 1469211"/>
                        <a:gd name="connsiteY3" fmla="*/ 1316810 h 1560650"/>
                        <a:gd name="connsiteX4" fmla="*/ 356269 w 1469211"/>
                        <a:gd name="connsiteY4" fmla="*/ 1560650 h 1560650"/>
                        <a:gd name="connsiteX5" fmla="*/ 0 w 1469211"/>
                        <a:gd name="connsiteY5" fmla="*/ 407739 h 1560650"/>
                        <a:gd name="connsiteX0" fmla="*/ 39971 w 1112942"/>
                        <a:gd name="connsiteY0" fmla="*/ 489019 h 1560650"/>
                        <a:gd name="connsiteX1" fmla="*/ 556137 w 1112942"/>
                        <a:gd name="connsiteY1" fmla="*/ 0 h 1560650"/>
                        <a:gd name="connsiteX2" fmla="*/ 1112942 w 1112942"/>
                        <a:gd name="connsiteY2" fmla="*/ 499179 h 1560650"/>
                        <a:gd name="connsiteX3" fmla="*/ 990353 w 1112942"/>
                        <a:gd name="connsiteY3" fmla="*/ 1316810 h 1560650"/>
                        <a:gd name="connsiteX4" fmla="*/ 0 w 1112942"/>
                        <a:gd name="connsiteY4" fmla="*/ 1560650 h 1560650"/>
                        <a:gd name="connsiteX5" fmla="*/ 39971 w 1112942"/>
                        <a:gd name="connsiteY5" fmla="*/ 489019 h 1560650"/>
                        <a:gd name="connsiteX0" fmla="*/ 0 w 1072971"/>
                        <a:gd name="connsiteY0" fmla="*/ 489019 h 1357450"/>
                        <a:gd name="connsiteX1" fmla="*/ 516166 w 1072971"/>
                        <a:gd name="connsiteY1" fmla="*/ 0 h 1357450"/>
                        <a:gd name="connsiteX2" fmla="*/ 1072971 w 1072971"/>
                        <a:gd name="connsiteY2" fmla="*/ 499179 h 1357450"/>
                        <a:gd name="connsiteX3" fmla="*/ 950382 w 1072971"/>
                        <a:gd name="connsiteY3" fmla="*/ 1316810 h 1357450"/>
                        <a:gd name="connsiteX4" fmla="*/ 71789 w 1072971"/>
                        <a:gd name="connsiteY4" fmla="*/ 1357450 h 1357450"/>
                        <a:gd name="connsiteX5" fmla="*/ 0 w 1072971"/>
                        <a:gd name="connsiteY5" fmla="*/ 489019 h 1357450"/>
                        <a:gd name="connsiteX0" fmla="*/ 0 w 1072971"/>
                        <a:gd name="connsiteY0" fmla="*/ 489019 h 1357450"/>
                        <a:gd name="connsiteX1" fmla="*/ 516166 w 1072971"/>
                        <a:gd name="connsiteY1" fmla="*/ 0 h 1357450"/>
                        <a:gd name="connsiteX2" fmla="*/ 1072971 w 1072971"/>
                        <a:gd name="connsiteY2" fmla="*/ 499179 h 1357450"/>
                        <a:gd name="connsiteX3" fmla="*/ 757342 w 1072971"/>
                        <a:gd name="connsiteY3" fmla="*/ 1012010 h 1357450"/>
                        <a:gd name="connsiteX4" fmla="*/ 71789 w 1072971"/>
                        <a:gd name="connsiteY4" fmla="*/ 1357450 h 1357450"/>
                        <a:gd name="connsiteX5" fmla="*/ 0 w 1072971"/>
                        <a:gd name="connsiteY5" fmla="*/ 489019 h 1357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72971" h="1357450">
                          <a:moveTo>
                            <a:pt x="0" y="489019"/>
                          </a:moveTo>
                          <a:lnTo>
                            <a:pt x="516166" y="0"/>
                          </a:lnTo>
                          <a:lnTo>
                            <a:pt x="1072971" y="499179"/>
                          </a:lnTo>
                          <a:lnTo>
                            <a:pt x="757342" y="1012010"/>
                          </a:lnTo>
                          <a:lnTo>
                            <a:pt x="71789" y="1357450"/>
                          </a:lnTo>
                          <a:lnTo>
                            <a:pt x="0" y="489019"/>
                          </a:lnTo>
                          <a:close/>
                        </a:path>
                      </a:pathLst>
                    </a:custGeom>
                    <a:solidFill>
                      <a:srgbClr val="42A544">
                        <a:alpha val="45098"/>
                      </a:srgbClr>
                    </a:soli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grpSp>
            <p:grpSp>
              <p:nvGrpSpPr>
                <p:cNvPr id="22" name="グループ化 21">
                  <a:extLst>
                    <a:ext uri="{FF2B5EF4-FFF2-40B4-BE49-F238E27FC236}">
                      <a16:creationId xmlns:a16="http://schemas.microsoft.com/office/drawing/2014/main" id="{224DDF61-E7B8-BA46-A1A5-0C08BC6DB252}"/>
                    </a:ext>
                  </a:extLst>
                </p:cNvPr>
                <p:cNvGrpSpPr/>
                <p:nvPr/>
              </p:nvGrpSpPr>
              <p:grpSpPr>
                <a:xfrm>
                  <a:off x="626236" y="3930286"/>
                  <a:ext cx="3627006" cy="2281087"/>
                  <a:chOff x="626236" y="3930286"/>
                  <a:chExt cx="3627006" cy="2281087"/>
                </a:xfrm>
              </p:grpSpPr>
              <p:sp>
                <p:nvSpPr>
                  <p:cNvPr id="76" name="右矢印 75">
                    <a:extLst>
                      <a:ext uri="{FF2B5EF4-FFF2-40B4-BE49-F238E27FC236}">
                        <a16:creationId xmlns:a16="http://schemas.microsoft.com/office/drawing/2014/main" id="{12C9D486-CD81-294A-9F09-7C26E3632E26}"/>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15" name="グループ化 14">
                    <a:extLst>
                      <a:ext uri="{FF2B5EF4-FFF2-40B4-BE49-F238E27FC236}">
                        <a16:creationId xmlns:a16="http://schemas.microsoft.com/office/drawing/2014/main" id="{9E63192B-E0B8-CC41-8960-CB2D243F5B00}"/>
                      </a:ext>
                    </a:extLst>
                  </p:cNvPr>
                  <p:cNvGrpSpPr/>
                  <p:nvPr/>
                </p:nvGrpSpPr>
                <p:grpSpPr>
                  <a:xfrm>
                    <a:off x="2279956" y="4474964"/>
                    <a:ext cx="861781" cy="783058"/>
                    <a:chOff x="1647102" y="4614762"/>
                    <a:chExt cx="861781" cy="783058"/>
                  </a:xfrm>
                </p:grpSpPr>
                <p:sp>
                  <p:nvSpPr>
                    <p:cNvPr id="14" name="メモ 13">
                      <a:extLst>
                        <a:ext uri="{FF2B5EF4-FFF2-40B4-BE49-F238E27FC236}">
                          <a16:creationId xmlns:a16="http://schemas.microsoft.com/office/drawing/2014/main" id="{503DC9A0-EF36-AF4F-AF5B-D83DF52730DC}"/>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3" name="テキスト ボックス 42">
                      <a:extLst>
                        <a:ext uri="{FF2B5EF4-FFF2-40B4-BE49-F238E27FC236}">
                          <a16:creationId xmlns:a16="http://schemas.microsoft.com/office/drawing/2014/main" id="{71842217-B5CD-E14A-BAAE-83F80AC392CB}"/>
                        </a:ext>
                      </a:extLst>
                    </p:cNvPr>
                    <p:cNvSpPr txBox="1"/>
                    <p:nvPr/>
                  </p:nvSpPr>
                  <p:spPr>
                    <a:xfrm>
                      <a:off x="1647102" y="4884235"/>
                      <a:ext cx="861781" cy="305233"/>
                    </a:xfrm>
                    <a:prstGeom prst="rect">
                      <a:avLst/>
                    </a:prstGeom>
                    <a:noFill/>
                  </p:spPr>
                  <p:txBody>
                    <a:bodyPr wrap="square" rtlCol="0">
                      <a:spAutoFit/>
                    </a:bodyPr>
                    <a:lstStyle/>
                    <a:p>
                      <a:pPr algn="ctr"/>
                      <a:r>
                        <a:rPr kumimoji="1" lang="en-US" altLang="ja-JP" dirty="0"/>
                        <a:t>Offer</a:t>
                      </a:r>
                      <a:endParaRPr kumimoji="1" lang="ja-JP" altLang="en-US"/>
                    </a:p>
                  </p:txBody>
                </p:sp>
              </p:grpSp>
              <p:pic>
                <p:nvPicPr>
                  <p:cNvPr id="71" name="図 70">
                    <a:extLst>
                      <a:ext uri="{FF2B5EF4-FFF2-40B4-BE49-F238E27FC236}">
                        <a16:creationId xmlns:a16="http://schemas.microsoft.com/office/drawing/2014/main" id="{91EF2347-C2B7-E440-8EFE-B7AC73AB315E}"/>
                      </a:ext>
                    </a:extLst>
                  </p:cNvPr>
                  <p:cNvPicPr>
                    <a:picLocks noChangeAspect="1"/>
                  </p:cNvPicPr>
                  <p:nvPr/>
                </p:nvPicPr>
                <p:blipFill>
                  <a:blip r:embed="rId4"/>
                  <a:stretch>
                    <a:fillRect/>
                  </a:stretch>
                </p:blipFill>
                <p:spPr>
                  <a:xfrm>
                    <a:off x="710926" y="4073984"/>
                    <a:ext cx="1286093" cy="1523000"/>
                  </a:xfrm>
                  <a:prstGeom prst="rect">
                    <a:avLst/>
                  </a:prstGeom>
                </p:spPr>
              </p:pic>
              <p:pic>
                <p:nvPicPr>
                  <p:cNvPr id="72" name="図 71">
                    <a:extLst>
                      <a:ext uri="{FF2B5EF4-FFF2-40B4-BE49-F238E27FC236}">
                        <a16:creationId xmlns:a16="http://schemas.microsoft.com/office/drawing/2014/main" id="{47FBB8AF-8BB0-C14E-9415-5AC92988E7F8}"/>
                      </a:ext>
                    </a:extLst>
                  </p:cNvPr>
                  <p:cNvPicPr>
                    <a:picLocks noChangeAspect="1"/>
                  </p:cNvPicPr>
                  <p:nvPr/>
                </p:nvPicPr>
                <p:blipFill>
                  <a:blip r:embed="rId5"/>
                  <a:stretch>
                    <a:fillRect/>
                  </a:stretch>
                </p:blipFill>
                <p:spPr>
                  <a:xfrm>
                    <a:off x="3381133" y="4115316"/>
                    <a:ext cx="872109" cy="1486553"/>
                  </a:xfrm>
                  <a:prstGeom prst="rect">
                    <a:avLst/>
                  </a:prstGeom>
                </p:spPr>
              </p:pic>
              <p:sp>
                <p:nvSpPr>
                  <p:cNvPr id="73" name="テキスト ボックス 72">
                    <a:extLst>
                      <a:ext uri="{FF2B5EF4-FFF2-40B4-BE49-F238E27FC236}">
                        <a16:creationId xmlns:a16="http://schemas.microsoft.com/office/drawing/2014/main" id="{98121910-A73E-C342-B32C-6ED41CE19E30}"/>
                      </a:ext>
                    </a:extLst>
                  </p:cNvPr>
                  <p:cNvSpPr txBox="1"/>
                  <p:nvPr/>
                </p:nvSpPr>
                <p:spPr>
                  <a:xfrm>
                    <a:off x="626236" y="5602798"/>
                    <a:ext cx="1428269"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エージェント</a:t>
                    </a:r>
                  </a:p>
                </p:txBody>
              </p:sp>
              <p:sp>
                <p:nvSpPr>
                  <p:cNvPr id="74" name="テキスト ボックス 73">
                    <a:extLst>
                      <a:ext uri="{FF2B5EF4-FFF2-40B4-BE49-F238E27FC236}">
                        <a16:creationId xmlns:a16="http://schemas.microsoft.com/office/drawing/2014/main" id="{C72A960D-F103-0A42-BC15-346615DBEC34}"/>
                      </a:ext>
                    </a:extLst>
                  </p:cNvPr>
                  <p:cNvSpPr txBox="1"/>
                  <p:nvPr/>
                </p:nvSpPr>
                <p:spPr>
                  <a:xfrm>
                    <a:off x="3441925" y="5626598"/>
                    <a:ext cx="666298"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人間</a:t>
                    </a:r>
                  </a:p>
                </p:txBody>
              </p:sp>
              <p:sp>
                <p:nvSpPr>
                  <p:cNvPr id="17" name="角丸四角形吹き出し 16">
                    <a:extLst>
                      <a:ext uri="{FF2B5EF4-FFF2-40B4-BE49-F238E27FC236}">
                        <a16:creationId xmlns:a16="http://schemas.microsoft.com/office/drawing/2014/main" id="{AD825608-207F-4946-98FA-75CFB4F88C44}"/>
                      </a:ext>
                    </a:extLst>
                  </p:cNvPr>
                  <p:cNvSpPr/>
                  <p:nvPr/>
                </p:nvSpPr>
                <p:spPr>
                  <a:xfrm>
                    <a:off x="2190377" y="3930286"/>
                    <a:ext cx="1072368" cy="466765"/>
                  </a:xfrm>
                  <a:prstGeom prst="wedgeRoundRectCallout">
                    <a:avLst>
                      <a:gd name="adj1" fmla="val 65620"/>
                      <a:gd name="adj2" fmla="val 40733"/>
                      <a:gd name="adj3" fmla="val 1666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en-US" altLang="ja-JP" dirty="0"/>
                      <a:t>Hello</a:t>
                    </a:r>
                    <a:endParaRPr kumimoji="1" lang="ja-JP" altLang="en-US"/>
                  </a:p>
                </p:txBody>
              </p:sp>
              <p:sp>
                <p:nvSpPr>
                  <p:cNvPr id="18" name="円形吹き出し 17">
                    <a:extLst>
                      <a:ext uri="{FF2B5EF4-FFF2-40B4-BE49-F238E27FC236}">
                        <a16:creationId xmlns:a16="http://schemas.microsoft.com/office/drawing/2014/main" id="{ED8A3B6D-B746-3A43-8EA4-69C107613FBE}"/>
                      </a:ext>
                    </a:extLst>
                  </p:cNvPr>
                  <p:cNvSpPr/>
                  <p:nvPr/>
                </p:nvSpPr>
                <p:spPr>
                  <a:xfrm>
                    <a:off x="2157495" y="5338387"/>
                    <a:ext cx="1042362" cy="578966"/>
                  </a:xfrm>
                  <a:prstGeom prst="wedgeEllipseCallout">
                    <a:avLst>
                      <a:gd name="adj1" fmla="val 66669"/>
                      <a:gd name="adj2" fmla="val -3539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3" name="グラフィックス 12" descr="悲しそうな顔 (塗りつぶし)">
                    <a:extLst>
                      <a:ext uri="{FF2B5EF4-FFF2-40B4-BE49-F238E27FC236}">
                        <a16:creationId xmlns:a16="http://schemas.microsoft.com/office/drawing/2014/main" id="{932C348B-E3E1-2549-974B-9BB14A14E30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2442035" y="5393594"/>
                    <a:ext cx="469232" cy="469232"/>
                  </a:xfrm>
                  <a:prstGeom prst="rect">
                    <a:avLst/>
                  </a:prstGeom>
                </p:spPr>
              </p:pic>
            </p:grpSp>
          </p:grpSp>
        </p:grpSp>
      </p:grpSp>
    </p:spTree>
    <p:extLst>
      <p:ext uri="{BB962C8B-B14F-4D97-AF65-F5344CB8AC3E}">
        <p14:creationId xmlns:p14="http://schemas.microsoft.com/office/powerpoint/2010/main" val="3177065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提案手法</a:t>
            </a:r>
            <a:endParaRPr kumimoji="1" lang="ja-JP" altLang="en-US"/>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7</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760674" cy="680876"/>
            <a:chOff x="163626" y="1160115"/>
            <a:chExt cx="3760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760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BIG5</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特性</a:t>
            </a:r>
            <a:r>
              <a:rPr lang="en-US" altLang="ja-JP" dirty="0">
                <a:solidFill>
                  <a:schemeClr val="accent1"/>
                </a:solidFill>
              </a:rPr>
              <a:t>5</a:t>
            </a:r>
            <a:r>
              <a:rPr lang="ja-JP" altLang="en-US">
                <a:solidFill>
                  <a:schemeClr val="accent1"/>
                </a:solidFill>
              </a:rPr>
              <a:t>因子の値を求める</a:t>
            </a:r>
            <a:endParaRPr lang="en-US" altLang="ja-JP" dirty="0"/>
          </a:p>
          <a:p>
            <a:r>
              <a:rPr lang="ja-JP" altLang="en-US"/>
              <a:t>特性</a:t>
            </a:r>
            <a:r>
              <a:rPr lang="en-US" altLang="ja-JP" dirty="0"/>
              <a:t>5</a:t>
            </a:r>
            <a:r>
              <a:rPr lang="ja-JP" altLang="en-US"/>
              <a:t>因子の値に応じて戦略を決定し</a:t>
            </a:r>
            <a:r>
              <a:rPr lang="ja-JP" altLang="en-US">
                <a:solidFill>
                  <a:schemeClr val="accent2"/>
                </a:solidFill>
              </a:rPr>
              <a:t>譲歩速度などを変更</a:t>
            </a:r>
            <a:endParaRPr lang="en-US" altLang="ja-JP" dirty="0">
              <a:solidFill>
                <a:schemeClr val="accent2"/>
              </a:solidFill>
            </a:endParaRPr>
          </a:p>
        </p:txBody>
      </p:sp>
      <p:graphicFrame>
        <p:nvGraphicFramePr>
          <p:cNvPr id="53" name="表 52">
            <a:extLst>
              <a:ext uri="{FF2B5EF4-FFF2-40B4-BE49-F238E27FC236}">
                <a16:creationId xmlns:a16="http://schemas.microsoft.com/office/drawing/2014/main" id="{AAE25FE5-48B1-2B41-B6EA-D2ECDCA30E37}"/>
              </a:ext>
            </a:extLst>
          </p:cNvPr>
          <p:cNvGraphicFramePr>
            <a:graphicFrameLocks noGrp="1"/>
          </p:cNvGraphicFramePr>
          <p:nvPr>
            <p:extLst>
              <p:ext uri="{D42A27DB-BD31-4B8C-83A1-F6EECF244321}">
                <p14:modId xmlns:p14="http://schemas.microsoft.com/office/powerpoint/2010/main" val="1130233415"/>
              </p:ext>
            </p:extLst>
          </p:nvPr>
        </p:nvGraphicFramePr>
        <p:xfrm>
          <a:off x="933820" y="5029406"/>
          <a:ext cx="3584990" cy="1112520"/>
        </p:xfrm>
        <a:graphic>
          <a:graphicData uri="http://schemas.openxmlformats.org/drawingml/2006/table">
            <a:tbl>
              <a:tblPr firstRow="1" bandRow="1">
                <a:tableStyleId>{5C22544A-7EE6-4342-B048-85BDC9FD1C3A}</a:tableStyleId>
              </a:tblPr>
              <a:tblGrid>
                <a:gridCol w="1792495">
                  <a:extLst>
                    <a:ext uri="{9D8B030D-6E8A-4147-A177-3AD203B41FA5}">
                      <a16:colId xmlns:a16="http://schemas.microsoft.com/office/drawing/2014/main" val="2450102447"/>
                    </a:ext>
                  </a:extLst>
                </a:gridCol>
                <a:gridCol w="1792495">
                  <a:extLst>
                    <a:ext uri="{9D8B030D-6E8A-4147-A177-3AD203B41FA5}">
                      <a16:colId xmlns:a16="http://schemas.microsoft.com/office/drawing/2014/main" val="3506212313"/>
                    </a:ext>
                  </a:extLst>
                </a:gridCol>
              </a:tblGrid>
              <a:tr h="370840">
                <a:tc gridSpan="2">
                  <a:txBody>
                    <a:bodyPr/>
                    <a:lstStyle/>
                    <a:p>
                      <a:pPr algn="ctr"/>
                      <a:r>
                        <a:rPr kumimoji="1" lang="ja-JP" altLang="en-US" sz="1600"/>
                        <a:t>神経症傾向</a:t>
                      </a:r>
                    </a:p>
                  </a:txBody>
                  <a:tcPr marL="83127" marR="83127"/>
                </a:tc>
                <a:tc hMerge="1">
                  <a:txBody>
                    <a:bodyPr/>
                    <a:lstStyle/>
                    <a:p>
                      <a:endParaRPr kumimoji="1" lang="ja-JP" altLang="en-US"/>
                    </a:p>
                  </a:txBody>
                  <a:tcPr/>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1"/>
                          </a:solidFill>
                        </a:rPr>
                        <a:t>高い</a:t>
                      </a:r>
                      <a:r>
                        <a:rPr kumimoji="1" lang="en-US" altLang="ja-JP" sz="1600" dirty="0">
                          <a:solidFill>
                            <a:schemeClr val="accent1"/>
                          </a:solidFill>
                        </a:rPr>
                        <a:t>(1.0)</a:t>
                      </a:r>
                      <a:endParaRPr kumimoji="1" lang="ja-JP" altLang="en-US" sz="1600">
                        <a:solidFill>
                          <a:schemeClr val="accent1"/>
                        </a:solidFill>
                      </a:endParaRPr>
                    </a:p>
                  </a:txBody>
                  <a:tcPr marL="68700" marR="68700"/>
                </a:tc>
                <a:tc>
                  <a:txBody>
                    <a:bodyPr/>
                    <a:lstStyle/>
                    <a:p>
                      <a:pPr algn="ctr"/>
                      <a:r>
                        <a:rPr kumimoji="1" lang="ja-JP" altLang="en-US" sz="1600">
                          <a:solidFill>
                            <a:schemeClr val="accent2"/>
                          </a:solidFill>
                        </a:rPr>
                        <a:t>低い</a:t>
                      </a:r>
                      <a:r>
                        <a:rPr kumimoji="1" lang="en-US" altLang="ja-JP" sz="1600" dirty="0">
                          <a:solidFill>
                            <a:schemeClr val="accent2"/>
                          </a:solidFill>
                        </a:rPr>
                        <a:t>(-1.0)</a:t>
                      </a:r>
                      <a:endParaRPr kumimoji="1" lang="ja-JP" altLang="en-US" sz="1600">
                        <a:solidFill>
                          <a:schemeClr val="accent2"/>
                        </a:solidFill>
                      </a:endParaRPr>
                    </a:p>
                  </a:txBody>
                  <a:tcPr marL="68700" marR="68700"/>
                </a:tc>
                <a:extLst>
                  <a:ext uri="{0D108BD9-81ED-4DB2-BD59-A6C34878D82A}">
                    <a16:rowId xmlns:a16="http://schemas.microsoft.com/office/drawing/2014/main" val="1780244524"/>
                  </a:ext>
                </a:extLst>
              </a:tr>
              <a:tr h="370840">
                <a:tc>
                  <a:txBody>
                    <a:bodyPr/>
                    <a:lstStyle/>
                    <a:p>
                      <a:pPr algn="ctr"/>
                      <a:r>
                        <a:rPr kumimoji="1" lang="ja-JP" altLang="en-US" sz="1600">
                          <a:solidFill>
                            <a:schemeClr val="accent1"/>
                          </a:solidFill>
                        </a:rPr>
                        <a:t>譲歩速度遅い</a:t>
                      </a:r>
                    </a:p>
                  </a:txBody>
                  <a:tcPr marL="68700" marR="68700"/>
                </a:tc>
                <a:tc>
                  <a:txBody>
                    <a:bodyPr/>
                    <a:lstStyle/>
                    <a:p>
                      <a:pPr algn="ctr"/>
                      <a:r>
                        <a:rPr kumimoji="1" lang="ja-JP" altLang="en-US" sz="1600">
                          <a:solidFill>
                            <a:schemeClr val="accent2"/>
                          </a:solidFill>
                        </a:rPr>
                        <a:t>譲歩速度早い</a:t>
                      </a:r>
                    </a:p>
                  </a:txBody>
                  <a:tcPr marL="68700" marR="68700"/>
                </a:tc>
                <a:extLst>
                  <a:ext uri="{0D108BD9-81ED-4DB2-BD59-A6C34878D82A}">
                    <a16:rowId xmlns:a16="http://schemas.microsoft.com/office/drawing/2014/main" val="2956610254"/>
                  </a:ext>
                </a:extLst>
              </a:tr>
            </a:tbl>
          </a:graphicData>
        </a:graphic>
      </p:graphicFrame>
      <p:grpSp>
        <p:nvGrpSpPr>
          <p:cNvPr id="54" name="グループ化 53">
            <a:extLst>
              <a:ext uri="{FF2B5EF4-FFF2-40B4-BE49-F238E27FC236}">
                <a16:creationId xmlns:a16="http://schemas.microsoft.com/office/drawing/2014/main" id="{7E81AD11-8E95-CD41-B27A-F531255634EE}"/>
              </a:ext>
            </a:extLst>
          </p:cNvPr>
          <p:cNvGrpSpPr/>
          <p:nvPr/>
        </p:nvGrpSpPr>
        <p:grpSpPr>
          <a:xfrm>
            <a:off x="1192329" y="3525906"/>
            <a:ext cx="2897962" cy="1296851"/>
            <a:chOff x="6168486" y="4671682"/>
            <a:chExt cx="2634511" cy="1071777"/>
          </a:xfrm>
        </p:grpSpPr>
        <p:grpSp>
          <p:nvGrpSpPr>
            <p:cNvPr id="63" name="グループ化 62">
              <a:extLst>
                <a:ext uri="{FF2B5EF4-FFF2-40B4-BE49-F238E27FC236}">
                  <a16:creationId xmlns:a16="http://schemas.microsoft.com/office/drawing/2014/main" id="{39BD6B05-FCFB-E54F-B1F0-8770414A6073}"/>
                </a:ext>
              </a:extLst>
            </p:cNvPr>
            <p:cNvGrpSpPr/>
            <p:nvPr/>
          </p:nvGrpSpPr>
          <p:grpSpPr>
            <a:xfrm>
              <a:off x="6168486" y="4671682"/>
              <a:ext cx="2634511" cy="725056"/>
              <a:chOff x="6355605" y="4669288"/>
              <a:chExt cx="2634511" cy="725056"/>
            </a:xfrm>
          </p:grpSpPr>
          <p:grpSp>
            <p:nvGrpSpPr>
              <p:cNvPr id="65" name="グループ化 64">
                <a:extLst>
                  <a:ext uri="{FF2B5EF4-FFF2-40B4-BE49-F238E27FC236}">
                    <a16:creationId xmlns:a16="http://schemas.microsoft.com/office/drawing/2014/main" id="{0A525616-ECE3-784F-A7BC-3B7921C73CDA}"/>
                  </a:ext>
                </a:extLst>
              </p:cNvPr>
              <p:cNvGrpSpPr/>
              <p:nvPr/>
            </p:nvGrpSpPr>
            <p:grpSpPr>
              <a:xfrm>
                <a:off x="6355605" y="4669288"/>
                <a:ext cx="2634511" cy="725056"/>
                <a:chOff x="2747713" y="3353410"/>
                <a:chExt cx="2634511" cy="725056"/>
              </a:xfrm>
            </p:grpSpPr>
            <p:cxnSp>
              <p:nvCxnSpPr>
                <p:cNvPr id="67" name="直線矢印コネクタ 66">
                  <a:extLst>
                    <a:ext uri="{FF2B5EF4-FFF2-40B4-BE49-F238E27FC236}">
                      <a16:creationId xmlns:a16="http://schemas.microsoft.com/office/drawing/2014/main" id="{62D60359-C60E-2F47-80B7-B8A71FE237BA}"/>
                    </a:ext>
                  </a:extLst>
                </p:cNvPr>
                <p:cNvCxnSpPr/>
                <p:nvPr/>
              </p:nvCxnSpPr>
              <p:spPr>
                <a:xfrm>
                  <a:off x="3086825" y="3750198"/>
                  <a:ext cx="1994463" cy="0"/>
                </a:xfrm>
                <a:prstGeom prst="straightConnector1">
                  <a:avLst/>
                </a:prstGeom>
                <a:ln w="57150">
                  <a:solidFill>
                    <a:schemeClr val="tx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テキスト ボックス 67">
                  <a:extLst>
                    <a:ext uri="{FF2B5EF4-FFF2-40B4-BE49-F238E27FC236}">
                      <a16:creationId xmlns:a16="http://schemas.microsoft.com/office/drawing/2014/main" id="{E190EBD6-0D22-3C45-B717-2E5EC2800257}"/>
                    </a:ext>
                  </a:extLst>
                </p:cNvPr>
                <p:cNvSpPr txBox="1"/>
                <p:nvPr/>
              </p:nvSpPr>
              <p:spPr>
                <a:xfrm>
                  <a:off x="2747713" y="3798669"/>
                  <a:ext cx="2634511" cy="279797"/>
                </a:xfrm>
                <a:prstGeom prst="rect">
                  <a:avLst/>
                </a:prstGeom>
                <a:noFill/>
              </p:spPr>
              <p:txBody>
                <a:bodyPr wrap="square" rtlCol="0">
                  <a:spAutoFit/>
                </a:bodyPr>
                <a:lstStyle/>
                <a:p>
                  <a:pPr algn="ctr"/>
                  <a:r>
                    <a:rPr kumimoji="1" lang="en-US" altLang="ja-JP" sz="1600" dirty="0"/>
                    <a:t>1.0                          -1.0</a:t>
                  </a:r>
                  <a:endParaRPr kumimoji="1" lang="ja-JP" altLang="en-US" sz="1600"/>
                </a:p>
              </p:txBody>
            </p:sp>
            <p:sp>
              <p:nvSpPr>
                <p:cNvPr id="69" name="テキスト ボックス 68">
                  <a:extLst>
                    <a:ext uri="{FF2B5EF4-FFF2-40B4-BE49-F238E27FC236}">
                      <a16:creationId xmlns:a16="http://schemas.microsoft.com/office/drawing/2014/main" id="{5834BC9D-4CB3-DA4D-A6B7-77C10C7DBF20}"/>
                    </a:ext>
                  </a:extLst>
                </p:cNvPr>
                <p:cNvSpPr txBox="1"/>
                <p:nvPr/>
              </p:nvSpPr>
              <p:spPr>
                <a:xfrm>
                  <a:off x="4099525" y="3353410"/>
                  <a:ext cx="789973" cy="338554"/>
                </a:xfrm>
                <a:prstGeom prst="rect">
                  <a:avLst/>
                </a:prstGeom>
                <a:noFill/>
              </p:spPr>
              <p:txBody>
                <a:bodyPr wrap="square" rtlCol="0">
                  <a:spAutoFit/>
                </a:bodyPr>
                <a:lstStyle/>
                <a:p>
                  <a:pPr algn="ctr"/>
                  <a:r>
                    <a:rPr kumimoji="1" lang="en-US" altLang="ja-JP" sz="1600" dirty="0"/>
                    <a:t>-0.5</a:t>
                  </a:r>
                  <a:endParaRPr kumimoji="1" lang="ja-JP" altLang="en-US" sz="1600"/>
                </a:p>
              </p:txBody>
            </p:sp>
          </p:grpSp>
          <p:cxnSp>
            <p:nvCxnSpPr>
              <p:cNvPr id="66" name="直線矢印コネクタ 65">
                <a:extLst>
                  <a:ext uri="{FF2B5EF4-FFF2-40B4-BE49-F238E27FC236}">
                    <a16:creationId xmlns:a16="http://schemas.microsoft.com/office/drawing/2014/main" id="{40FCA554-8EEA-8447-8C0B-8D61B1EFAB4C}"/>
                  </a:ext>
                </a:extLst>
              </p:cNvPr>
              <p:cNvCxnSpPr>
                <a:cxnSpLocks/>
              </p:cNvCxnSpPr>
              <p:nvPr/>
            </p:nvCxnSpPr>
            <p:spPr>
              <a:xfrm>
                <a:off x="8125496" y="4944538"/>
                <a:ext cx="0" cy="244723"/>
              </a:xfrm>
              <a:prstGeom prst="straightConnector1">
                <a:avLst/>
              </a:prstGeom>
              <a:ln w="38100">
                <a:solidFill>
                  <a:srgbClr val="FF734B"/>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4" name="テキスト ボックス 63">
              <a:extLst>
                <a:ext uri="{FF2B5EF4-FFF2-40B4-BE49-F238E27FC236}">
                  <a16:creationId xmlns:a16="http://schemas.microsoft.com/office/drawing/2014/main" id="{F316BEF9-4EB3-9E41-9635-1F3261AB445C}"/>
                </a:ext>
              </a:extLst>
            </p:cNvPr>
            <p:cNvSpPr txBox="1"/>
            <p:nvPr/>
          </p:nvSpPr>
          <p:spPr>
            <a:xfrm>
              <a:off x="6479579" y="5438226"/>
              <a:ext cx="2050500" cy="305233"/>
            </a:xfrm>
            <a:prstGeom prst="rect">
              <a:avLst/>
            </a:prstGeom>
            <a:noFill/>
          </p:spPr>
          <p:txBody>
            <a:bodyPr wrap="square" rtlCol="0">
              <a:spAutoFit/>
            </a:bodyPr>
            <a:lstStyle/>
            <a:p>
              <a:pPr algn="ctr"/>
              <a:r>
                <a:rPr kumimoji="1" lang="ja-JP" altLang="en-US"/>
                <a:t>相手の神経症傾向</a:t>
              </a:r>
            </a:p>
          </p:txBody>
        </p:sp>
      </p:grpSp>
      <p:sp>
        <p:nvSpPr>
          <p:cNvPr id="70" name="左矢印 69">
            <a:extLst>
              <a:ext uri="{FF2B5EF4-FFF2-40B4-BE49-F238E27FC236}">
                <a16:creationId xmlns:a16="http://schemas.microsoft.com/office/drawing/2014/main" id="{9465C0F9-7CEB-DB4D-BC4B-BA57E162E70E}"/>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7" name="テキスト ボックス 76">
            <a:extLst>
              <a:ext uri="{FF2B5EF4-FFF2-40B4-BE49-F238E27FC236}">
                <a16:creationId xmlns:a16="http://schemas.microsoft.com/office/drawing/2014/main" id="{130C713D-6762-7E40-9609-E2E728E46A57}"/>
              </a:ext>
            </a:extLst>
          </p:cNvPr>
          <p:cNvSpPr txBox="1"/>
          <p:nvPr/>
        </p:nvSpPr>
        <p:spPr>
          <a:xfrm>
            <a:off x="1466946" y="6184426"/>
            <a:ext cx="2481105" cy="369332"/>
          </a:xfrm>
          <a:prstGeom prst="rect">
            <a:avLst/>
          </a:prstGeom>
          <a:noFill/>
        </p:spPr>
        <p:txBody>
          <a:bodyPr wrap="square" rtlCol="0">
            <a:spAutoFit/>
          </a:bodyPr>
          <a:lstStyle/>
          <a:p>
            <a:pPr algn="ctr"/>
            <a:r>
              <a:rPr kumimoji="1" lang="ja-JP" altLang="en-US"/>
              <a:t>エージェントの戦略</a:t>
            </a:r>
          </a:p>
        </p:txBody>
      </p:sp>
      <p:grpSp>
        <p:nvGrpSpPr>
          <p:cNvPr id="33" name="グループ化 32">
            <a:extLst>
              <a:ext uri="{FF2B5EF4-FFF2-40B4-BE49-F238E27FC236}">
                <a16:creationId xmlns:a16="http://schemas.microsoft.com/office/drawing/2014/main" id="{B1D5C2A7-0506-6B46-8689-69E4507F2C37}"/>
              </a:ext>
            </a:extLst>
          </p:cNvPr>
          <p:cNvGrpSpPr/>
          <p:nvPr/>
        </p:nvGrpSpPr>
        <p:grpSpPr>
          <a:xfrm>
            <a:off x="5430251" y="3882263"/>
            <a:ext cx="2067461" cy="2448664"/>
            <a:chOff x="4947651" y="3882263"/>
            <a:chExt cx="2067461" cy="2448664"/>
          </a:xfrm>
        </p:grpSpPr>
        <p:sp>
          <p:nvSpPr>
            <p:cNvPr id="75" name="テキスト ボックス 74">
              <a:extLst>
                <a:ext uri="{FF2B5EF4-FFF2-40B4-BE49-F238E27FC236}">
                  <a16:creationId xmlns:a16="http://schemas.microsoft.com/office/drawing/2014/main" id="{FC39D4F9-0F71-6B40-9EA0-55A5D68A2FD3}"/>
                </a:ext>
              </a:extLst>
            </p:cNvPr>
            <p:cNvSpPr txBox="1"/>
            <p:nvPr/>
          </p:nvSpPr>
          <p:spPr>
            <a:xfrm>
              <a:off x="4947651" y="56845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3"/>
                  </a:solidFill>
                </a:rPr>
                <a:t>やや早め</a:t>
              </a:r>
              <a:endParaRPr kumimoji="1" lang="en-US" altLang="ja-JP" dirty="0">
                <a:solidFill>
                  <a:schemeClr val="accent3"/>
                </a:solidFill>
              </a:endParaRPr>
            </a:p>
            <a:p>
              <a:pPr algn="ctr"/>
              <a:r>
                <a:rPr kumimoji="1" lang="en-US" altLang="ja-JP" dirty="0"/>
                <a:t>(</a:t>
              </a:r>
              <a:r>
                <a:rPr kumimoji="1" lang="ja-JP" altLang="en-US"/>
                <a:t>混合比</a:t>
              </a:r>
              <a:r>
                <a:rPr kumimoji="1" lang="en-US" altLang="ja-JP" dirty="0"/>
                <a:t>1:3)</a:t>
              </a:r>
              <a:endParaRPr kumimoji="1" lang="ja-JP" altLang="en-US"/>
            </a:p>
          </p:txBody>
        </p:sp>
        <p:grpSp>
          <p:nvGrpSpPr>
            <p:cNvPr id="32" name="グループ化 31">
              <a:extLst>
                <a:ext uri="{FF2B5EF4-FFF2-40B4-BE49-F238E27FC236}">
                  <a16:creationId xmlns:a16="http://schemas.microsoft.com/office/drawing/2014/main" id="{4F67E7B6-1F7A-BB4E-9FF2-1E1B69153F97}"/>
                </a:ext>
              </a:extLst>
            </p:cNvPr>
            <p:cNvGrpSpPr/>
            <p:nvPr/>
          </p:nvGrpSpPr>
          <p:grpSpPr>
            <a:xfrm>
              <a:off x="5048817" y="3882263"/>
              <a:ext cx="1690907" cy="1690907"/>
              <a:chOff x="5048817" y="3742563"/>
              <a:chExt cx="1690907" cy="1690907"/>
            </a:xfrm>
          </p:grpSpPr>
          <p:sp>
            <p:nvSpPr>
              <p:cNvPr id="12" name="フリーフォーム 11">
                <a:extLst>
                  <a:ext uri="{FF2B5EF4-FFF2-40B4-BE49-F238E27FC236}">
                    <a16:creationId xmlns:a16="http://schemas.microsoft.com/office/drawing/2014/main" id="{255EBEE5-0FCF-3944-BABC-28D97302D816}"/>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6" name="フリーフォーム 15">
                <a:extLst>
                  <a:ext uri="{FF2B5EF4-FFF2-40B4-BE49-F238E27FC236}">
                    <a16:creationId xmlns:a16="http://schemas.microsoft.com/office/drawing/2014/main" id="{2A476589-3D49-904A-89A7-DB12DC364FFD}"/>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0" name="フリーフォーム 29">
                <a:extLst>
                  <a:ext uri="{FF2B5EF4-FFF2-40B4-BE49-F238E27FC236}">
                    <a16:creationId xmlns:a16="http://schemas.microsoft.com/office/drawing/2014/main" id="{915E6077-41FB-4645-8ECF-A82F1B24A2FF}"/>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88" name="グループ化 87">
                <a:extLst>
                  <a:ext uri="{FF2B5EF4-FFF2-40B4-BE49-F238E27FC236}">
                    <a16:creationId xmlns:a16="http://schemas.microsoft.com/office/drawing/2014/main" id="{27E52103-D35B-F64C-BA37-373A055FC2E0}"/>
                  </a:ext>
                </a:extLst>
              </p:cNvPr>
              <p:cNvGrpSpPr/>
              <p:nvPr/>
            </p:nvGrpSpPr>
            <p:grpSpPr>
              <a:xfrm>
                <a:off x="5048817" y="3742563"/>
                <a:ext cx="1690907" cy="1690907"/>
                <a:chOff x="6676684" y="4465921"/>
                <a:chExt cx="1690907" cy="1690907"/>
              </a:xfrm>
            </p:grpSpPr>
            <p:cxnSp>
              <p:nvCxnSpPr>
                <p:cNvPr id="92" name="直線コネクタ 91">
                  <a:extLst>
                    <a:ext uri="{FF2B5EF4-FFF2-40B4-BE49-F238E27FC236}">
                      <a16:creationId xmlns:a16="http://schemas.microsoft.com/office/drawing/2014/main" id="{1AB141FB-2EEA-B943-9B96-BE302C0D0490}"/>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1" name="直線コネクタ 90">
                  <a:extLst>
                    <a:ext uri="{FF2B5EF4-FFF2-40B4-BE49-F238E27FC236}">
                      <a16:creationId xmlns:a16="http://schemas.microsoft.com/office/drawing/2014/main" id="{F0ED9622-D24D-5D4F-93C2-5D1049BFE3EC}"/>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260494768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8</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379674" cy="680876"/>
            <a:chOff x="163626" y="1160115"/>
            <a:chExt cx="3379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379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積極性・</a:t>
            </a:r>
            <a:br>
              <a:rPr lang="en-US" altLang="ja-JP" dirty="0">
                <a:solidFill>
                  <a:schemeClr val="accent1"/>
                </a:solidFill>
              </a:rPr>
            </a:br>
            <a:r>
              <a:rPr lang="ja-JP" altLang="en-US">
                <a:solidFill>
                  <a:schemeClr val="accent1"/>
                </a:solidFill>
              </a:rPr>
              <a:t>協調性の値を求める</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譲歩速度などを変化</a:t>
            </a:r>
            <a:endParaRPr lang="en-US" altLang="ja-JP" dirty="0">
              <a:solidFill>
                <a:schemeClr val="accent2"/>
              </a:solidFill>
            </a:endParaRPr>
          </a:p>
          <a:p>
            <a:endParaRPr lang="ja-JP" altLang="en-US"/>
          </a:p>
        </p:txBody>
      </p:sp>
      <p:grpSp>
        <p:nvGrpSpPr>
          <p:cNvPr id="12" name="グループ化 11">
            <a:extLst>
              <a:ext uri="{FF2B5EF4-FFF2-40B4-BE49-F238E27FC236}">
                <a16:creationId xmlns:a16="http://schemas.microsoft.com/office/drawing/2014/main" id="{E5F8E6FD-11B3-5F40-8242-3AD10E3A4B86}"/>
              </a:ext>
            </a:extLst>
          </p:cNvPr>
          <p:cNvGrpSpPr/>
          <p:nvPr/>
        </p:nvGrpSpPr>
        <p:grpSpPr>
          <a:xfrm>
            <a:off x="550036" y="3981236"/>
            <a:ext cx="8320259" cy="2655605"/>
            <a:chOff x="550036" y="3981236"/>
            <a:chExt cx="8320259" cy="2655605"/>
          </a:xfrm>
        </p:grpSpPr>
        <p:grpSp>
          <p:nvGrpSpPr>
            <p:cNvPr id="35" name="グループ化 34">
              <a:extLst>
                <a:ext uri="{FF2B5EF4-FFF2-40B4-BE49-F238E27FC236}">
                  <a16:creationId xmlns:a16="http://schemas.microsoft.com/office/drawing/2014/main" id="{12B271C1-CD72-F646-8178-A41B4B5B33F7}"/>
                </a:ext>
              </a:extLst>
            </p:cNvPr>
            <p:cNvGrpSpPr/>
            <p:nvPr/>
          </p:nvGrpSpPr>
          <p:grpSpPr>
            <a:xfrm>
              <a:off x="550036" y="4023184"/>
              <a:ext cx="8320259" cy="2613657"/>
              <a:chOff x="550036" y="4023184"/>
              <a:chExt cx="8320259" cy="2613657"/>
            </a:xfrm>
          </p:grpSpPr>
          <p:sp>
            <p:nvSpPr>
              <p:cNvPr id="37" name="右矢印 36">
                <a:extLst>
                  <a:ext uri="{FF2B5EF4-FFF2-40B4-BE49-F238E27FC236}">
                    <a16:creationId xmlns:a16="http://schemas.microsoft.com/office/drawing/2014/main" id="{357BE91E-5D26-C944-96C9-52B07F10E57D}"/>
                  </a:ext>
                </a:extLst>
              </p:cNvPr>
              <p:cNvSpPr/>
              <p:nvPr/>
            </p:nvSpPr>
            <p:spPr>
              <a:xfrm>
                <a:off x="6440380" y="4697768"/>
                <a:ext cx="194979" cy="290709"/>
              </a:xfrm>
              <a:prstGeom prst="rightArrow">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39" name="グループ化 38">
                <a:extLst>
                  <a:ext uri="{FF2B5EF4-FFF2-40B4-BE49-F238E27FC236}">
                    <a16:creationId xmlns:a16="http://schemas.microsoft.com/office/drawing/2014/main" id="{EB853A8A-EC57-1F40-B1E2-51753581CE8E}"/>
                  </a:ext>
                </a:extLst>
              </p:cNvPr>
              <p:cNvGrpSpPr/>
              <p:nvPr/>
            </p:nvGrpSpPr>
            <p:grpSpPr>
              <a:xfrm>
                <a:off x="6518486" y="4056304"/>
                <a:ext cx="2351809" cy="2580537"/>
                <a:chOff x="6518486" y="4094404"/>
                <a:chExt cx="2351809" cy="2580537"/>
              </a:xfrm>
            </p:grpSpPr>
            <p:grpSp>
              <p:nvGrpSpPr>
                <p:cNvPr id="83" name="グループ化 82">
                  <a:extLst>
                    <a:ext uri="{FF2B5EF4-FFF2-40B4-BE49-F238E27FC236}">
                      <a16:creationId xmlns:a16="http://schemas.microsoft.com/office/drawing/2014/main" id="{79016540-A3F0-0649-A386-0A016CE5D7B1}"/>
                    </a:ext>
                  </a:extLst>
                </p:cNvPr>
                <p:cNvGrpSpPr/>
                <p:nvPr/>
              </p:nvGrpSpPr>
              <p:grpSpPr>
                <a:xfrm>
                  <a:off x="6848937" y="4094404"/>
                  <a:ext cx="1690907" cy="1690907"/>
                  <a:chOff x="6848937" y="4094404"/>
                  <a:chExt cx="1690907" cy="1690907"/>
                </a:xfrm>
              </p:grpSpPr>
              <p:grpSp>
                <p:nvGrpSpPr>
                  <p:cNvPr id="85" name="グループ化 84">
                    <a:extLst>
                      <a:ext uri="{FF2B5EF4-FFF2-40B4-BE49-F238E27FC236}">
                        <a16:creationId xmlns:a16="http://schemas.microsoft.com/office/drawing/2014/main" id="{366E5330-8661-D441-B440-5E512EE90049}"/>
                      </a:ext>
                    </a:extLst>
                  </p:cNvPr>
                  <p:cNvGrpSpPr/>
                  <p:nvPr/>
                </p:nvGrpSpPr>
                <p:grpSpPr>
                  <a:xfrm>
                    <a:off x="6848937" y="4094404"/>
                    <a:ext cx="1690907" cy="1690907"/>
                    <a:chOff x="6676684" y="4465921"/>
                    <a:chExt cx="1690907" cy="1690907"/>
                  </a:xfrm>
                </p:grpSpPr>
                <p:cxnSp>
                  <p:nvCxnSpPr>
                    <p:cNvPr id="88" name="直線コネクタ 87">
                      <a:extLst>
                        <a:ext uri="{FF2B5EF4-FFF2-40B4-BE49-F238E27FC236}">
                          <a16:creationId xmlns:a16="http://schemas.microsoft.com/office/drawing/2014/main" id="{DA939543-F3CC-4248-A293-D89EE0BF756B}"/>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直線コネクタ 88">
                      <a:extLst>
                        <a:ext uri="{FF2B5EF4-FFF2-40B4-BE49-F238E27FC236}">
                          <a16:creationId xmlns:a16="http://schemas.microsoft.com/office/drawing/2014/main" id="{12C8FFD5-5279-634D-BC6F-FCFB30402DE9}"/>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86" name="フリーフォーム 85">
                    <a:extLst>
                      <a:ext uri="{FF2B5EF4-FFF2-40B4-BE49-F238E27FC236}">
                        <a16:creationId xmlns:a16="http://schemas.microsoft.com/office/drawing/2014/main" id="{2034418B-26BA-4B44-9DE9-28358A05F196}"/>
                      </a:ext>
                    </a:extLst>
                  </p:cNvPr>
                  <p:cNvSpPr/>
                  <p:nvPr/>
                </p:nvSpPr>
                <p:spPr>
                  <a:xfrm>
                    <a:off x="7083159" y="4674504"/>
                    <a:ext cx="1180617" cy="313381"/>
                  </a:xfrm>
                  <a:custGeom>
                    <a:avLst/>
                    <a:gdLst>
                      <a:gd name="connsiteX0" fmla="*/ 0 w 1180617"/>
                      <a:gd name="connsiteY0" fmla="*/ 12439 h 313381"/>
                      <a:gd name="connsiteX1" fmla="*/ 636607 w 1180617"/>
                      <a:gd name="connsiteY1" fmla="*/ 35588 h 313381"/>
                      <a:gd name="connsiteX2" fmla="*/ 1180617 w 1180617"/>
                      <a:gd name="connsiteY2" fmla="*/ 313381 h 313381"/>
                    </a:gdLst>
                    <a:ahLst/>
                    <a:cxnLst>
                      <a:cxn ang="0">
                        <a:pos x="connsiteX0" y="connsiteY0"/>
                      </a:cxn>
                      <a:cxn ang="0">
                        <a:pos x="connsiteX1" y="connsiteY1"/>
                      </a:cxn>
                      <a:cxn ang="0">
                        <a:pos x="connsiteX2" y="connsiteY2"/>
                      </a:cxn>
                    </a:cxnLst>
                    <a:rect l="l" t="t" r="r" b="b"/>
                    <a:pathLst>
                      <a:path w="1180617" h="313381">
                        <a:moveTo>
                          <a:pt x="0" y="12439"/>
                        </a:moveTo>
                        <a:cubicBezTo>
                          <a:pt x="219919" y="-1065"/>
                          <a:pt x="439838" y="-14569"/>
                          <a:pt x="636607" y="35588"/>
                        </a:cubicBezTo>
                        <a:cubicBezTo>
                          <a:pt x="833376" y="85745"/>
                          <a:pt x="1006996" y="199563"/>
                          <a:pt x="1180617" y="313381"/>
                        </a:cubicBezTo>
                      </a:path>
                    </a:pathLst>
                  </a:custGeom>
                  <a:noFill/>
                  <a:ln w="19050">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フリーフォーム 86">
                    <a:extLst>
                      <a:ext uri="{FF2B5EF4-FFF2-40B4-BE49-F238E27FC236}">
                        <a16:creationId xmlns:a16="http://schemas.microsoft.com/office/drawing/2014/main" id="{F3A635D7-BEF6-5040-978D-671DB4C996D4}"/>
                      </a:ext>
                    </a:extLst>
                  </p:cNvPr>
                  <p:cNvSpPr/>
                  <p:nvPr/>
                </p:nvSpPr>
                <p:spPr>
                  <a:xfrm>
                    <a:off x="7083159" y="4710092"/>
                    <a:ext cx="1192192" cy="405114"/>
                  </a:xfrm>
                  <a:custGeom>
                    <a:avLst/>
                    <a:gdLst>
                      <a:gd name="connsiteX0" fmla="*/ 0 w 1192192"/>
                      <a:gd name="connsiteY0" fmla="*/ 0 h 405114"/>
                      <a:gd name="connsiteX1" fmla="*/ 775503 w 1192192"/>
                      <a:gd name="connsiteY1" fmla="*/ 150471 h 405114"/>
                      <a:gd name="connsiteX2" fmla="*/ 1192192 w 1192192"/>
                      <a:gd name="connsiteY2" fmla="*/ 405114 h 405114"/>
                    </a:gdLst>
                    <a:ahLst/>
                    <a:cxnLst>
                      <a:cxn ang="0">
                        <a:pos x="connsiteX0" y="connsiteY0"/>
                      </a:cxn>
                      <a:cxn ang="0">
                        <a:pos x="connsiteX1" y="connsiteY1"/>
                      </a:cxn>
                      <a:cxn ang="0">
                        <a:pos x="connsiteX2" y="connsiteY2"/>
                      </a:cxn>
                    </a:cxnLst>
                    <a:rect l="l" t="t" r="r" b="b"/>
                    <a:pathLst>
                      <a:path w="1192192" h="405114">
                        <a:moveTo>
                          <a:pt x="0" y="0"/>
                        </a:moveTo>
                        <a:cubicBezTo>
                          <a:pt x="288402" y="41476"/>
                          <a:pt x="576804" y="82952"/>
                          <a:pt x="775503" y="150471"/>
                        </a:cubicBezTo>
                        <a:cubicBezTo>
                          <a:pt x="974202" y="217990"/>
                          <a:pt x="1083197" y="311552"/>
                          <a:pt x="1192192" y="405114"/>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84" name="テキスト ボックス 83">
                  <a:extLst>
                    <a:ext uri="{FF2B5EF4-FFF2-40B4-BE49-F238E27FC236}">
                      <a16:creationId xmlns:a16="http://schemas.microsoft.com/office/drawing/2014/main" id="{037C06E8-D191-134D-A86A-003E9C698B6C}"/>
                    </a:ext>
                  </a:extLst>
                </p:cNvPr>
                <p:cNvSpPr txBox="1"/>
                <p:nvPr/>
              </p:nvSpPr>
              <p:spPr>
                <a:xfrm>
                  <a:off x="6518486" y="6028610"/>
                  <a:ext cx="2351809" cy="646331"/>
                </a:xfrm>
                <a:prstGeom prst="rect">
                  <a:avLst/>
                </a:prstGeom>
                <a:noFill/>
              </p:spPr>
              <p:txBody>
                <a:bodyPr wrap="square" rtlCol="0">
                  <a:spAutoFit/>
                </a:bodyPr>
                <a:lstStyle/>
                <a:p>
                  <a:pPr algn="ctr"/>
                  <a:r>
                    <a:rPr kumimoji="1" lang="ja-JP" altLang="en-US"/>
                    <a:t>譲歩速度などの変更</a:t>
                  </a:r>
                </a:p>
              </p:txBody>
            </p:sp>
          </p:grpSp>
          <p:grpSp>
            <p:nvGrpSpPr>
              <p:cNvPr id="44" name="グループ化 43">
                <a:extLst>
                  <a:ext uri="{FF2B5EF4-FFF2-40B4-BE49-F238E27FC236}">
                    <a16:creationId xmlns:a16="http://schemas.microsoft.com/office/drawing/2014/main" id="{DCA4B30B-FC31-6F44-90FA-E9A2D5A21BBC}"/>
                  </a:ext>
                </a:extLst>
              </p:cNvPr>
              <p:cNvGrpSpPr/>
              <p:nvPr/>
            </p:nvGrpSpPr>
            <p:grpSpPr>
              <a:xfrm>
                <a:off x="550036" y="4023184"/>
                <a:ext cx="4347928" cy="2351402"/>
                <a:chOff x="1007236" y="4073984"/>
                <a:chExt cx="4347928" cy="2351402"/>
              </a:xfrm>
            </p:grpSpPr>
            <p:sp>
              <p:nvSpPr>
                <p:cNvPr id="48" name="テキスト ボックス 47">
                  <a:extLst>
                    <a:ext uri="{FF2B5EF4-FFF2-40B4-BE49-F238E27FC236}">
                      <a16:creationId xmlns:a16="http://schemas.microsoft.com/office/drawing/2014/main" id="{E924B5C6-D792-5F48-BF74-E924765F3442}"/>
                    </a:ext>
                  </a:extLst>
                </p:cNvPr>
                <p:cNvSpPr txBox="1"/>
                <p:nvPr/>
              </p:nvSpPr>
              <p:spPr>
                <a:xfrm>
                  <a:off x="2380062" y="6056054"/>
                  <a:ext cx="2975102" cy="369332"/>
                </a:xfrm>
                <a:prstGeom prst="rect">
                  <a:avLst/>
                </a:prstGeom>
                <a:noFill/>
              </p:spPr>
              <p:txBody>
                <a:bodyPr wrap="square" rtlCol="0">
                  <a:spAutoFit/>
                </a:bodyPr>
                <a:lstStyle/>
                <a:p>
                  <a:pPr algn="ctr"/>
                  <a:r>
                    <a:rPr kumimoji="1" lang="ja-JP" altLang="en-US"/>
                    <a:t>積極性・協調性の値を推定</a:t>
                  </a:r>
                </a:p>
              </p:txBody>
            </p:sp>
            <p:grpSp>
              <p:nvGrpSpPr>
                <p:cNvPr id="50" name="グループ化 49">
                  <a:extLst>
                    <a:ext uri="{FF2B5EF4-FFF2-40B4-BE49-F238E27FC236}">
                      <a16:creationId xmlns:a16="http://schemas.microsoft.com/office/drawing/2014/main" id="{43B31D97-E463-EF4C-BAFB-F7B5386514D9}"/>
                    </a:ext>
                  </a:extLst>
                </p:cNvPr>
                <p:cNvGrpSpPr/>
                <p:nvPr/>
              </p:nvGrpSpPr>
              <p:grpSpPr>
                <a:xfrm>
                  <a:off x="1007236" y="4073984"/>
                  <a:ext cx="3789313" cy="2137389"/>
                  <a:chOff x="626236" y="4073984"/>
                  <a:chExt cx="3789313" cy="2137389"/>
                </a:xfrm>
              </p:grpSpPr>
              <p:sp>
                <p:nvSpPr>
                  <p:cNvPr id="55" name="三角形 54">
                    <a:extLst>
                      <a:ext uri="{FF2B5EF4-FFF2-40B4-BE49-F238E27FC236}">
                        <a16:creationId xmlns:a16="http://schemas.microsoft.com/office/drawing/2014/main" id="{BA1670F4-C04C-3D49-8E3A-A9C92C59D0E2}"/>
                      </a:ext>
                    </a:extLst>
                  </p:cNvPr>
                  <p:cNvSpPr/>
                  <p:nvPr/>
                </p:nvSpPr>
                <p:spPr>
                  <a:xfrm rot="5400000">
                    <a:off x="4203696" y="4829464"/>
                    <a:ext cx="296135" cy="127570"/>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57" name="グループ化 56">
                    <a:extLst>
                      <a:ext uri="{FF2B5EF4-FFF2-40B4-BE49-F238E27FC236}">
                        <a16:creationId xmlns:a16="http://schemas.microsoft.com/office/drawing/2014/main" id="{26BAE3F1-66A2-F242-894E-B340A243C01A}"/>
                      </a:ext>
                    </a:extLst>
                  </p:cNvPr>
                  <p:cNvGrpSpPr/>
                  <p:nvPr/>
                </p:nvGrpSpPr>
                <p:grpSpPr>
                  <a:xfrm>
                    <a:off x="626236" y="4073984"/>
                    <a:ext cx="3627006" cy="2137389"/>
                    <a:chOff x="626236" y="4073984"/>
                    <a:chExt cx="3627006" cy="2137389"/>
                  </a:xfrm>
                </p:grpSpPr>
                <p:sp>
                  <p:nvSpPr>
                    <p:cNvPr id="58" name="右矢印 57">
                      <a:extLst>
                        <a:ext uri="{FF2B5EF4-FFF2-40B4-BE49-F238E27FC236}">
                          <a16:creationId xmlns:a16="http://schemas.microsoft.com/office/drawing/2014/main" id="{D0DF791D-42A0-FA40-97CE-82E6908DFD1C}"/>
                        </a:ext>
                      </a:extLst>
                    </p:cNvPr>
                    <p:cNvSpPr/>
                    <p:nvPr/>
                  </p:nvSpPr>
                  <p:spPr>
                    <a:xfrm rot="10800000">
                      <a:off x="1907824" y="4652867"/>
                      <a:ext cx="1503049" cy="462024"/>
                    </a:xfrm>
                    <a:prstGeom prst="rightArrow">
                      <a:avLst>
                        <a:gd name="adj1" fmla="val 48737"/>
                        <a:gd name="adj2" fmla="val 71644"/>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sz="900"/>
                    </a:p>
                  </p:txBody>
                </p:sp>
                <p:grpSp>
                  <p:nvGrpSpPr>
                    <p:cNvPr id="59" name="グループ化 58">
                      <a:extLst>
                        <a:ext uri="{FF2B5EF4-FFF2-40B4-BE49-F238E27FC236}">
                          <a16:creationId xmlns:a16="http://schemas.microsoft.com/office/drawing/2014/main" id="{00D707CA-5D66-784A-87DC-02E2133B4C62}"/>
                        </a:ext>
                      </a:extLst>
                    </p:cNvPr>
                    <p:cNvGrpSpPr/>
                    <p:nvPr/>
                  </p:nvGrpSpPr>
                  <p:grpSpPr>
                    <a:xfrm>
                      <a:off x="2279956" y="4474964"/>
                      <a:ext cx="861781" cy="783058"/>
                      <a:chOff x="1647102" y="4614762"/>
                      <a:chExt cx="861781" cy="783058"/>
                    </a:xfrm>
                  </p:grpSpPr>
                  <p:sp>
                    <p:nvSpPr>
                      <p:cNvPr id="67" name="メモ 66">
                        <a:extLst>
                          <a:ext uri="{FF2B5EF4-FFF2-40B4-BE49-F238E27FC236}">
                            <a16:creationId xmlns:a16="http://schemas.microsoft.com/office/drawing/2014/main" id="{3266AD63-0499-6847-80CD-83C0608D4643}"/>
                          </a:ext>
                        </a:extLst>
                      </p:cNvPr>
                      <p:cNvSpPr/>
                      <p:nvPr/>
                    </p:nvSpPr>
                    <p:spPr>
                      <a:xfrm rot="10800000">
                        <a:off x="1736538" y="4614762"/>
                        <a:ext cx="682908" cy="783058"/>
                      </a:xfrm>
                      <a:prstGeom prst="foldedCorner">
                        <a:avLst>
                          <a:gd name="adj" fmla="val 32597"/>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8" name="テキスト ボックス 67">
                        <a:extLst>
                          <a:ext uri="{FF2B5EF4-FFF2-40B4-BE49-F238E27FC236}">
                            <a16:creationId xmlns:a16="http://schemas.microsoft.com/office/drawing/2014/main" id="{225239EE-5271-D145-8CF1-7741530C644F}"/>
                          </a:ext>
                        </a:extLst>
                      </p:cNvPr>
                      <p:cNvSpPr txBox="1"/>
                      <p:nvPr/>
                    </p:nvSpPr>
                    <p:spPr>
                      <a:xfrm>
                        <a:off x="1647102" y="4884235"/>
                        <a:ext cx="861781" cy="305233"/>
                      </a:xfrm>
                      <a:prstGeom prst="rect">
                        <a:avLst/>
                      </a:prstGeom>
                      <a:noFill/>
                    </p:spPr>
                    <p:txBody>
                      <a:bodyPr wrap="square" rtlCol="0">
                        <a:spAutoFit/>
                      </a:bodyPr>
                      <a:lstStyle/>
                      <a:p>
                        <a:pPr algn="ctr"/>
                        <a:r>
                          <a:rPr kumimoji="1" lang="en-US" altLang="ja-JP" dirty="0"/>
                          <a:t>Offer</a:t>
                        </a:r>
                        <a:endParaRPr kumimoji="1" lang="ja-JP" altLang="en-US"/>
                      </a:p>
                    </p:txBody>
                  </p:sp>
                </p:grpSp>
                <p:pic>
                  <p:nvPicPr>
                    <p:cNvPr id="60" name="図 59">
                      <a:extLst>
                        <a:ext uri="{FF2B5EF4-FFF2-40B4-BE49-F238E27FC236}">
                          <a16:creationId xmlns:a16="http://schemas.microsoft.com/office/drawing/2014/main" id="{5DDE6251-C2F9-0B49-BAC6-2E2216EEAA03}"/>
                        </a:ext>
                      </a:extLst>
                    </p:cNvPr>
                    <p:cNvPicPr>
                      <a:picLocks noChangeAspect="1"/>
                    </p:cNvPicPr>
                    <p:nvPr/>
                  </p:nvPicPr>
                  <p:blipFill>
                    <a:blip r:embed="rId4"/>
                    <a:stretch>
                      <a:fillRect/>
                    </a:stretch>
                  </p:blipFill>
                  <p:spPr>
                    <a:xfrm>
                      <a:off x="710926" y="4073984"/>
                      <a:ext cx="1286093" cy="1523000"/>
                    </a:xfrm>
                    <a:prstGeom prst="rect">
                      <a:avLst/>
                    </a:prstGeom>
                  </p:spPr>
                </p:pic>
                <p:pic>
                  <p:nvPicPr>
                    <p:cNvPr id="61" name="図 60">
                      <a:extLst>
                        <a:ext uri="{FF2B5EF4-FFF2-40B4-BE49-F238E27FC236}">
                          <a16:creationId xmlns:a16="http://schemas.microsoft.com/office/drawing/2014/main" id="{85524FF5-FD0A-1F49-A7C5-391B9E87A760}"/>
                        </a:ext>
                      </a:extLst>
                    </p:cNvPr>
                    <p:cNvPicPr>
                      <a:picLocks noChangeAspect="1"/>
                    </p:cNvPicPr>
                    <p:nvPr/>
                  </p:nvPicPr>
                  <p:blipFill>
                    <a:blip r:embed="rId5"/>
                    <a:stretch>
                      <a:fillRect/>
                    </a:stretch>
                  </p:blipFill>
                  <p:spPr>
                    <a:xfrm>
                      <a:off x="3381133" y="4115316"/>
                      <a:ext cx="872109" cy="1486553"/>
                    </a:xfrm>
                    <a:prstGeom prst="rect">
                      <a:avLst/>
                    </a:prstGeom>
                  </p:spPr>
                </p:pic>
                <p:sp>
                  <p:nvSpPr>
                    <p:cNvPr id="62" name="テキスト ボックス 61">
                      <a:extLst>
                        <a:ext uri="{FF2B5EF4-FFF2-40B4-BE49-F238E27FC236}">
                          <a16:creationId xmlns:a16="http://schemas.microsoft.com/office/drawing/2014/main" id="{19168787-F19A-444D-86AA-C3C6D4B6D8E8}"/>
                        </a:ext>
                      </a:extLst>
                    </p:cNvPr>
                    <p:cNvSpPr txBox="1"/>
                    <p:nvPr/>
                  </p:nvSpPr>
                  <p:spPr>
                    <a:xfrm>
                      <a:off x="626236" y="5602798"/>
                      <a:ext cx="1428269"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エージェント</a:t>
                      </a:r>
                    </a:p>
                  </p:txBody>
                </p:sp>
                <p:sp>
                  <p:nvSpPr>
                    <p:cNvPr id="63" name="テキスト ボックス 62">
                      <a:extLst>
                        <a:ext uri="{FF2B5EF4-FFF2-40B4-BE49-F238E27FC236}">
                          <a16:creationId xmlns:a16="http://schemas.microsoft.com/office/drawing/2014/main" id="{A4145F42-0BBF-AC40-A9AD-A4AF2AE65046}"/>
                        </a:ext>
                      </a:extLst>
                    </p:cNvPr>
                    <p:cNvSpPr txBox="1"/>
                    <p:nvPr/>
                  </p:nvSpPr>
                  <p:spPr>
                    <a:xfrm>
                      <a:off x="3441925" y="5626598"/>
                      <a:ext cx="666298" cy="584775"/>
                    </a:xfrm>
                    <a:prstGeom prst="rect">
                      <a:avLst/>
                    </a:prstGeom>
                    <a:noFill/>
                  </p:spPr>
                  <p:txBody>
                    <a:bodyPr wrap="square" rtlCol="0">
                      <a:spAutoFit/>
                    </a:bodyPr>
                    <a:lstStyle/>
                    <a:p>
                      <a:pPr algn="ctr"/>
                      <a:r>
                        <a:rPr kumimoji="1" lang="ja-JP" altLang="en-US" sz="1600">
                          <a:latin typeface="Meiryo" panose="020B0604030504040204" pitchFamily="34" charset="-128"/>
                          <a:ea typeface="Meiryo" panose="020B0604030504040204" pitchFamily="34" charset="-128"/>
                        </a:rPr>
                        <a:t>人間</a:t>
                      </a:r>
                    </a:p>
                  </p:txBody>
                </p:sp>
              </p:grpSp>
            </p:grpSp>
          </p:grpSp>
        </p:grpSp>
        <p:pic>
          <p:nvPicPr>
            <p:cNvPr id="11" name="図 10">
              <a:extLst>
                <a:ext uri="{FF2B5EF4-FFF2-40B4-BE49-F238E27FC236}">
                  <a16:creationId xmlns:a16="http://schemas.microsoft.com/office/drawing/2014/main" id="{3F71E2DC-B23F-0348-8128-89C2E34D6DA7}"/>
                </a:ext>
              </a:extLst>
            </p:cNvPr>
            <p:cNvPicPr>
              <a:picLocks noChangeAspect="1"/>
            </p:cNvPicPr>
            <p:nvPr/>
          </p:nvPicPr>
          <p:blipFill>
            <a:blip r:embed="rId6"/>
            <a:stretch>
              <a:fillRect/>
            </a:stretch>
          </p:blipFill>
          <p:spPr>
            <a:xfrm>
              <a:off x="4473422" y="3981236"/>
              <a:ext cx="1994215" cy="2013298"/>
            </a:xfrm>
            <a:prstGeom prst="rect">
              <a:avLst/>
            </a:prstGeom>
          </p:spPr>
        </p:pic>
      </p:grpSp>
    </p:spTree>
    <p:extLst>
      <p:ext uri="{BB962C8B-B14F-4D97-AF65-F5344CB8AC3E}">
        <p14:creationId xmlns:p14="http://schemas.microsoft.com/office/powerpoint/2010/main" val="4131013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提案手法</a:t>
            </a: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9</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2</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3379674" cy="680876"/>
            <a:chOff x="163626" y="1160115"/>
            <a:chExt cx="33796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33796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en-US" altLang="ja-JP" dirty="0"/>
              <a:t>TKI</a:t>
            </a:r>
            <a:r>
              <a:rPr lang="ja-JP" altLang="en-US"/>
              <a:t>を用いた戦略</a:t>
            </a:r>
          </a:p>
        </p:txBody>
      </p:sp>
      <p:sp>
        <p:nvSpPr>
          <p:cNvPr id="9" name="コンテンツ プレースホルダー 8">
            <a:extLst>
              <a:ext uri="{FF2B5EF4-FFF2-40B4-BE49-F238E27FC236}">
                <a16:creationId xmlns:a16="http://schemas.microsoft.com/office/drawing/2014/main" id="{E2030744-C386-0249-92DD-23CBE73DCCF0}"/>
              </a:ext>
            </a:extLst>
          </p:cNvPr>
          <p:cNvSpPr>
            <a:spLocks noGrp="1"/>
          </p:cNvSpPr>
          <p:nvPr>
            <p:ph idx="1"/>
          </p:nvPr>
        </p:nvSpPr>
        <p:spPr/>
        <p:txBody>
          <a:bodyPr/>
          <a:lstStyle/>
          <a:p>
            <a:r>
              <a:rPr lang="ja-JP" altLang="en-US"/>
              <a:t>相手の</a:t>
            </a:r>
            <a:r>
              <a:rPr lang="en-US" altLang="ja-JP" dirty="0"/>
              <a:t>offer</a:t>
            </a:r>
            <a:r>
              <a:rPr lang="ja-JP" altLang="en-US"/>
              <a:t>内容・行動などから相手の</a:t>
            </a:r>
            <a:r>
              <a:rPr lang="ja-JP" altLang="en-US">
                <a:solidFill>
                  <a:schemeClr val="accent1"/>
                </a:solidFill>
              </a:rPr>
              <a:t>積極性・</a:t>
            </a:r>
            <a:br>
              <a:rPr lang="en-US" altLang="ja-JP" dirty="0">
                <a:solidFill>
                  <a:schemeClr val="accent1"/>
                </a:solidFill>
              </a:rPr>
            </a:br>
            <a:r>
              <a:rPr lang="ja-JP" altLang="en-US">
                <a:solidFill>
                  <a:schemeClr val="accent1"/>
                </a:solidFill>
              </a:rPr>
              <a:t>協調性の値を求める</a:t>
            </a:r>
            <a:endParaRPr lang="en-US" altLang="ja-JP" dirty="0"/>
          </a:p>
          <a:p>
            <a:r>
              <a:rPr lang="ja-JP" altLang="en-US"/>
              <a:t>積極性・協調性の値から各カテゴリに分類される</a:t>
            </a:r>
            <a:br>
              <a:rPr lang="en-US" altLang="ja-JP" dirty="0"/>
            </a:br>
            <a:r>
              <a:rPr lang="ja-JP" altLang="en-US"/>
              <a:t>確率を求めてこれをもとに</a:t>
            </a:r>
            <a:r>
              <a:rPr lang="ja-JP" altLang="en-US">
                <a:solidFill>
                  <a:schemeClr val="accent2"/>
                </a:solidFill>
              </a:rPr>
              <a:t>譲歩速度などを変更</a:t>
            </a:r>
            <a:endParaRPr lang="en-US" altLang="ja-JP" dirty="0">
              <a:solidFill>
                <a:schemeClr val="accent2"/>
              </a:solidFill>
            </a:endParaRPr>
          </a:p>
        </p:txBody>
      </p:sp>
      <p:sp>
        <p:nvSpPr>
          <p:cNvPr id="38" name="左矢印 37">
            <a:extLst>
              <a:ext uri="{FF2B5EF4-FFF2-40B4-BE49-F238E27FC236}">
                <a16:creationId xmlns:a16="http://schemas.microsoft.com/office/drawing/2014/main" id="{D19B10C1-FF99-644C-9DE5-72D7541AD8CB}"/>
              </a:ext>
            </a:extLst>
          </p:cNvPr>
          <p:cNvSpPr/>
          <p:nvPr/>
        </p:nvSpPr>
        <p:spPr>
          <a:xfrm flipH="1">
            <a:off x="4894227" y="4672224"/>
            <a:ext cx="287069" cy="269190"/>
          </a:xfrm>
          <a:prstGeom prst="leftArrow">
            <a:avLst/>
          </a:prstGeom>
          <a:solidFill>
            <a:srgbClr val="5B9BD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0" name="グループ化 39">
            <a:extLst>
              <a:ext uri="{FF2B5EF4-FFF2-40B4-BE49-F238E27FC236}">
                <a16:creationId xmlns:a16="http://schemas.microsoft.com/office/drawing/2014/main" id="{B8B88F42-299A-5A4C-94D5-5C0FAC23C027}"/>
              </a:ext>
            </a:extLst>
          </p:cNvPr>
          <p:cNvGrpSpPr/>
          <p:nvPr/>
        </p:nvGrpSpPr>
        <p:grpSpPr>
          <a:xfrm>
            <a:off x="5430251" y="3882263"/>
            <a:ext cx="2067461" cy="2448664"/>
            <a:chOff x="4947651" y="3882263"/>
            <a:chExt cx="2067461" cy="2448664"/>
          </a:xfrm>
        </p:grpSpPr>
        <p:sp>
          <p:nvSpPr>
            <p:cNvPr id="41" name="テキスト ボックス 40">
              <a:extLst>
                <a:ext uri="{FF2B5EF4-FFF2-40B4-BE49-F238E27FC236}">
                  <a16:creationId xmlns:a16="http://schemas.microsoft.com/office/drawing/2014/main" id="{47CEB527-E5FD-984F-A083-A7F24DECDDE4}"/>
                </a:ext>
              </a:extLst>
            </p:cNvPr>
            <p:cNvSpPr txBox="1"/>
            <p:nvPr/>
          </p:nvSpPr>
          <p:spPr>
            <a:xfrm>
              <a:off x="4947651" y="5684596"/>
              <a:ext cx="2067461" cy="646331"/>
            </a:xfrm>
            <a:prstGeom prst="rect">
              <a:avLst/>
            </a:prstGeom>
            <a:noFill/>
          </p:spPr>
          <p:txBody>
            <a:bodyPr wrap="square" rtlCol="0">
              <a:spAutoFit/>
            </a:bodyPr>
            <a:lstStyle/>
            <a:p>
              <a:pPr algn="ctr"/>
              <a:r>
                <a:rPr kumimoji="1" lang="ja-JP" altLang="en-US"/>
                <a:t>譲歩速度</a:t>
              </a:r>
              <a:r>
                <a:rPr kumimoji="1" lang="ja-JP" altLang="en-US">
                  <a:solidFill>
                    <a:schemeClr val="accent3"/>
                  </a:solidFill>
                </a:rPr>
                <a:t>やや早め</a:t>
              </a:r>
              <a:endParaRPr kumimoji="1" lang="en-US" altLang="ja-JP" dirty="0">
                <a:solidFill>
                  <a:schemeClr val="accent3"/>
                </a:solidFill>
              </a:endParaRPr>
            </a:p>
            <a:p>
              <a:pPr algn="ctr"/>
              <a:r>
                <a:rPr kumimoji="1" lang="en-US" altLang="ja-JP" dirty="0"/>
                <a:t>(</a:t>
              </a:r>
              <a:r>
                <a:rPr kumimoji="1" lang="ja-JP" altLang="en-US"/>
                <a:t>混合比</a:t>
              </a:r>
              <a:r>
                <a:rPr kumimoji="1" lang="en-US" altLang="ja-JP" dirty="0"/>
                <a:t>1:3)</a:t>
              </a:r>
              <a:endParaRPr kumimoji="1" lang="ja-JP" altLang="en-US"/>
            </a:p>
          </p:txBody>
        </p:sp>
        <p:grpSp>
          <p:nvGrpSpPr>
            <p:cNvPr id="42" name="グループ化 41">
              <a:extLst>
                <a:ext uri="{FF2B5EF4-FFF2-40B4-BE49-F238E27FC236}">
                  <a16:creationId xmlns:a16="http://schemas.microsoft.com/office/drawing/2014/main" id="{80E98052-843B-D648-AE86-0DB95D9555A5}"/>
                </a:ext>
              </a:extLst>
            </p:cNvPr>
            <p:cNvGrpSpPr/>
            <p:nvPr/>
          </p:nvGrpSpPr>
          <p:grpSpPr>
            <a:xfrm>
              <a:off x="5048817" y="3882263"/>
              <a:ext cx="1690907" cy="1690907"/>
              <a:chOff x="5048817" y="3742563"/>
              <a:chExt cx="1690907" cy="1690907"/>
            </a:xfrm>
          </p:grpSpPr>
          <p:sp>
            <p:nvSpPr>
              <p:cNvPr id="43" name="フリーフォーム 42">
                <a:extLst>
                  <a:ext uri="{FF2B5EF4-FFF2-40B4-BE49-F238E27FC236}">
                    <a16:creationId xmlns:a16="http://schemas.microsoft.com/office/drawing/2014/main" id="{982BF9EB-9245-C946-9304-B8A7E3FACE57}"/>
                  </a:ext>
                </a:extLst>
              </p:cNvPr>
              <p:cNvSpPr/>
              <p:nvPr/>
            </p:nvSpPr>
            <p:spPr>
              <a:xfrm rot="382539">
                <a:off x="5245190" y="4101304"/>
                <a:ext cx="1224000" cy="260728"/>
              </a:xfrm>
              <a:custGeom>
                <a:avLst/>
                <a:gdLst>
                  <a:gd name="connsiteX0" fmla="*/ 0 w 1206500"/>
                  <a:gd name="connsiteY0" fmla="*/ 32128 h 260728"/>
                  <a:gd name="connsiteX1" fmla="*/ 838200 w 1206500"/>
                  <a:gd name="connsiteY1" fmla="*/ 19428 h 260728"/>
                  <a:gd name="connsiteX2" fmla="*/ 1206500 w 1206500"/>
                  <a:gd name="connsiteY2" fmla="*/ 260728 h 260728"/>
                </a:gdLst>
                <a:ahLst/>
                <a:cxnLst>
                  <a:cxn ang="0">
                    <a:pos x="connsiteX0" y="connsiteY0"/>
                  </a:cxn>
                  <a:cxn ang="0">
                    <a:pos x="connsiteX1" y="connsiteY1"/>
                  </a:cxn>
                  <a:cxn ang="0">
                    <a:pos x="connsiteX2" y="connsiteY2"/>
                  </a:cxn>
                </a:cxnLst>
                <a:rect l="l" t="t" r="r" b="b"/>
                <a:pathLst>
                  <a:path w="1206500" h="260728">
                    <a:moveTo>
                      <a:pt x="0" y="32128"/>
                    </a:moveTo>
                    <a:cubicBezTo>
                      <a:pt x="318558" y="6728"/>
                      <a:pt x="637117" y="-18672"/>
                      <a:pt x="838200" y="19428"/>
                    </a:cubicBezTo>
                    <a:cubicBezTo>
                      <a:pt x="1039283" y="57528"/>
                      <a:pt x="1122891" y="159128"/>
                      <a:pt x="1206500" y="260728"/>
                    </a:cubicBezTo>
                  </a:path>
                </a:pathLst>
              </a:custGeom>
              <a:noFill/>
              <a:ln w="190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5" name="フリーフォーム 44">
                <a:extLst>
                  <a:ext uri="{FF2B5EF4-FFF2-40B4-BE49-F238E27FC236}">
                    <a16:creationId xmlns:a16="http://schemas.microsoft.com/office/drawing/2014/main" id="{C8B9CB42-F3F8-DE4D-8757-E2819F1ED0C4}"/>
                  </a:ext>
                </a:extLst>
              </p:cNvPr>
              <p:cNvSpPr/>
              <p:nvPr/>
            </p:nvSpPr>
            <p:spPr>
              <a:xfrm>
                <a:off x="5270500" y="4089400"/>
                <a:ext cx="1193800" cy="800100"/>
              </a:xfrm>
              <a:custGeom>
                <a:avLst/>
                <a:gdLst>
                  <a:gd name="connsiteX0" fmla="*/ 0 w 1193800"/>
                  <a:gd name="connsiteY0" fmla="*/ 0 h 800100"/>
                  <a:gd name="connsiteX1" fmla="*/ 749300 w 1193800"/>
                  <a:gd name="connsiteY1" fmla="*/ 292100 h 800100"/>
                  <a:gd name="connsiteX2" fmla="*/ 1193800 w 1193800"/>
                  <a:gd name="connsiteY2" fmla="*/ 800100 h 800100"/>
                </a:gdLst>
                <a:ahLst/>
                <a:cxnLst>
                  <a:cxn ang="0">
                    <a:pos x="connsiteX0" y="connsiteY0"/>
                  </a:cxn>
                  <a:cxn ang="0">
                    <a:pos x="connsiteX1" y="connsiteY1"/>
                  </a:cxn>
                  <a:cxn ang="0">
                    <a:pos x="connsiteX2" y="connsiteY2"/>
                  </a:cxn>
                </a:cxnLst>
                <a:rect l="l" t="t" r="r" b="b"/>
                <a:pathLst>
                  <a:path w="1193800" h="800100">
                    <a:moveTo>
                      <a:pt x="0" y="0"/>
                    </a:moveTo>
                    <a:cubicBezTo>
                      <a:pt x="275166" y="79375"/>
                      <a:pt x="550333" y="158750"/>
                      <a:pt x="749300" y="292100"/>
                    </a:cubicBezTo>
                    <a:cubicBezTo>
                      <a:pt x="948267" y="425450"/>
                      <a:pt x="1071033" y="612775"/>
                      <a:pt x="1193800" y="800100"/>
                    </a:cubicBezTo>
                  </a:path>
                </a:pathLst>
              </a:custGeom>
              <a:noFill/>
              <a:ln w="190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6" name="フリーフォーム 45">
                <a:extLst>
                  <a:ext uri="{FF2B5EF4-FFF2-40B4-BE49-F238E27FC236}">
                    <a16:creationId xmlns:a16="http://schemas.microsoft.com/office/drawing/2014/main" id="{CAFCF179-8B05-274D-8BA8-304B969EA342}"/>
                  </a:ext>
                </a:extLst>
              </p:cNvPr>
              <p:cNvSpPr/>
              <p:nvPr/>
            </p:nvSpPr>
            <p:spPr>
              <a:xfrm>
                <a:off x="5283200" y="4089400"/>
                <a:ext cx="1193800" cy="723900"/>
              </a:xfrm>
              <a:custGeom>
                <a:avLst/>
                <a:gdLst>
                  <a:gd name="connsiteX0" fmla="*/ 0 w 1193800"/>
                  <a:gd name="connsiteY0" fmla="*/ 0 h 723900"/>
                  <a:gd name="connsiteX1" fmla="*/ 800100 w 1193800"/>
                  <a:gd name="connsiteY1" fmla="*/ 203200 h 723900"/>
                  <a:gd name="connsiteX2" fmla="*/ 1193800 w 1193800"/>
                  <a:gd name="connsiteY2" fmla="*/ 723900 h 723900"/>
                  <a:gd name="connsiteX3" fmla="*/ 1193800 w 1193800"/>
                  <a:gd name="connsiteY3" fmla="*/ 723900 h 723900"/>
                </a:gdLst>
                <a:ahLst/>
                <a:cxnLst>
                  <a:cxn ang="0">
                    <a:pos x="connsiteX0" y="connsiteY0"/>
                  </a:cxn>
                  <a:cxn ang="0">
                    <a:pos x="connsiteX1" y="connsiteY1"/>
                  </a:cxn>
                  <a:cxn ang="0">
                    <a:pos x="connsiteX2" y="connsiteY2"/>
                  </a:cxn>
                  <a:cxn ang="0">
                    <a:pos x="connsiteX3" y="connsiteY3"/>
                  </a:cxn>
                </a:cxnLst>
                <a:rect l="l" t="t" r="r" b="b"/>
                <a:pathLst>
                  <a:path w="1193800" h="723900">
                    <a:moveTo>
                      <a:pt x="0" y="0"/>
                    </a:moveTo>
                    <a:cubicBezTo>
                      <a:pt x="300566" y="41275"/>
                      <a:pt x="601133" y="82550"/>
                      <a:pt x="800100" y="203200"/>
                    </a:cubicBezTo>
                    <a:cubicBezTo>
                      <a:pt x="999067" y="323850"/>
                      <a:pt x="1193800" y="723900"/>
                      <a:pt x="1193800" y="723900"/>
                    </a:cubicBezTo>
                    <a:lnTo>
                      <a:pt x="1193800" y="723900"/>
                    </a:lnTo>
                  </a:path>
                </a:pathLst>
              </a:custGeom>
              <a:noFill/>
              <a:ln w="3810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nvGrpSpPr>
              <p:cNvPr id="47" name="グループ化 46">
                <a:extLst>
                  <a:ext uri="{FF2B5EF4-FFF2-40B4-BE49-F238E27FC236}">
                    <a16:creationId xmlns:a16="http://schemas.microsoft.com/office/drawing/2014/main" id="{62DA6253-A5D8-654F-B08A-E846A1184576}"/>
                  </a:ext>
                </a:extLst>
              </p:cNvPr>
              <p:cNvGrpSpPr/>
              <p:nvPr/>
            </p:nvGrpSpPr>
            <p:grpSpPr>
              <a:xfrm>
                <a:off x="5048817" y="3742563"/>
                <a:ext cx="1690907" cy="1690907"/>
                <a:chOff x="6676684" y="4465921"/>
                <a:chExt cx="1690907" cy="1690907"/>
              </a:xfrm>
            </p:grpSpPr>
            <p:cxnSp>
              <p:nvCxnSpPr>
                <p:cNvPr id="49" name="直線コネクタ 48">
                  <a:extLst>
                    <a:ext uri="{FF2B5EF4-FFF2-40B4-BE49-F238E27FC236}">
                      <a16:creationId xmlns:a16="http://schemas.microsoft.com/office/drawing/2014/main" id="{A5AC67F8-1906-1E43-890C-4738B8A492C3}"/>
                    </a:ext>
                  </a:extLst>
                </p:cNvPr>
                <p:cNvCxnSpPr>
                  <a:cxnSpLocks/>
                </p:cNvCxnSpPr>
                <p:nvPr/>
              </p:nvCxnSpPr>
              <p:spPr>
                <a:xfrm rot="16200000">
                  <a:off x="7522138" y="5089548"/>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線コネクタ 50">
                  <a:extLst>
                    <a:ext uri="{FF2B5EF4-FFF2-40B4-BE49-F238E27FC236}">
                      <a16:creationId xmlns:a16="http://schemas.microsoft.com/office/drawing/2014/main" id="{ADDCEF5A-C1A1-7F49-9070-1FB4DF5C875F}"/>
                    </a:ext>
                  </a:extLst>
                </p:cNvPr>
                <p:cNvCxnSpPr/>
                <p:nvPr/>
              </p:nvCxnSpPr>
              <p:spPr>
                <a:xfrm>
                  <a:off x="6898511" y="4465921"/>
                  <a:ext cx="0" cy="169090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grpSp>
      </p:grpSp>
      <p:graphicFrame>
        <p:nvGraphicFramePr>
          <p:cNvPr id="52" name="表 51">
            <a:extLst>
              <a:ext uri="{FF2B5EF4-FFF2-40B4-BE49-F238E27FC236}">
                <a16:creationId xmlns:a16="http://schemas.microsoft.com/office/drawing/2014/main" id="{B022FF3A-B2E8-9148-8841-35A29E9DD605}"/>
              </a:ext>
            </a:extLst>
          </p:cNvPr>
          <p:cNvGraphicFramePr>
            <a:graphicFrameLocks noGrp="1"/>
          </p:cNvGraphicFramePr>
          <p:nvPr>
            <p:extLst>
              <p:ext uri="{D42A27DB-BD31-4B8C-83A1-F6EECF244321}">
                <p14:modId xmlns:p14="http://schemas.microsoft.com/office/powerpoint/2010/main" val="3495911251"/>
              </p:ext>
            </p:extLst>
          </p:nvPr>
        </p:nvGraphicFramePr>
        <p:xfrm>
          <a:off x="933820" y="5537406"/>
          <a:ext cx="3584990" cy="741680"/>
        </p:xfrm>
        <a:graphic>
          <a:graphicData uri="http://schemas.openxmlformats.org/drawingml/2006/table">
            <a:tbl>
              <a:tblPr firstRow="1" bandRow="1">
                <a:tableStyleId>{5C22544A-7EE6-4342-B048-85BDC9FD1C3A}</a:tableStyleId>
              </a:tblPr>
              <a:tblGrid>
                <a:gridCol w="1792495">
                  <a:extLst>
                    <a:ext uri="{9D8B030D-6E8A-4147-A177-3AD203B41FA5}">
                      <a16:colId xmlns:a16="http://schemas.microsoft.com/office/drawing/2014/main" val="2450102447"/>
                    </a:ext>
                  </a:extLst>
                </a:gridCol>
                <a:gridCol w="1792495">
                  <a:extLst>
                    <a:ext uri="{9D8B030D-6E8A-4147-A177-3AD203B41FA5}">
                      <a16:colId xmlns:a16="http://schemas.microsoft.com/office/drawing/2014/main" val="3506212313"/>
                    </a:ext>
                  </a:extLst>
                </a:gridCol>
              </a:tblGrid>
              <a:tr h="370840">
                <a:tc>
                  <a:txBody>
                    <a:bodyPr/>
                    <a:lstStyle/>
                    <a:p>
                      <a:pPr algn="ctr"/>
                      <a:r>
                        <a:rPr kumimoji="1" lang="ja-JP" altLang="en-US" sz="1600"/>
                        <a:t>競争</a:t>
                      </a:r>
                    </a:p>
                  </a:txBody>
                  <a:tcPr marL="83127" marR="83127"/>
                </a:tc>
                <a:tc>
                  <a:txBody>
                    <a:bodyPr/>
                    <a:lstStyle/>
                    <a:p>
                      <a:pPr algn="ctr"/>
                      <a:r>
                        <a:rPr kumimoji="1" lang="ja-JP" altLang="en-US" sz="1600"/>
                        <a:t>共存</a:t>
                      </a:r>
                    </a:p>
                  </a:txBody>
                  <a:tcPr marL="83127" marR="83127"/>
                </a:tc>
                <a:extLst>
                  <a:ext uri="{0D108BD9-81ED-4DB2-BD59-A6C34878D82A}">
                    <a16:rowId xmlns:a16="http://schemas.microsoft.com/office/drawing/2014/main" val="1927177420"/>
                  </a:ext>
                </a:extLst>
              </a:tr>
              <a:tr h="370840">
                <a:tc>
                  <a:txBody>
                    <a:bodyPr/>
                    <a:lstStyle/>
                    <a:p>
                      <a:pPr algn="ctr"/>
                      <a:r>
                        <a:rPr kumimoji="1" lang="ja-JP" altLang="en-US" sz="1600">
                          <a:solidFill>
                            <a:schemeClr val="accent1"/>
                          </a:solidFill>
                        </a:rPr>
                        <a:t>譲歩速度遅い</a:t>
                      </a:r>
                    </a:p>
                  </a:txBody>
                  <a:tcPr marL="68700" marR="68700"/>
                </a:tc>
                <a:tc>
                  <a:txBody>
                    <a:bodyPr/>
                    <a:lstStyle/>
                    <a:p>
                      <a:pPr algn="ctr"/>
                      <a:r>
                        <a:rPr kumimoji="1" lang="ja-JP" altLang="en-US" sz="1600">
                          <a:solidFill>
                            <a:schemeClr val="accent2"/>
                          </a:solidFill>
                        </a:rPr>
                        <a:t>譲歩速度早い</a:t>
                      </a:r>
                    </a:p>
                  </a:txBody>
                  <a:tcPr marL="68700" marR="68700"/>
                </a:tc>
                <a:extLst>
                  <a:ext uri="{0D108BD9-81ED-4DB2-BD59-A6C34878D82A}">
                    <a16:rowId xmlns:a16="http://schemas.microsoft.com/office/drawing/2014/main" val="2956610254"/>
                  </a:ext>
                </a:extLst>
              </a:tr>
            </a:tbl>
          </a:graphicData>
        </a:graphic>
      </p:graphicFrame>
      <p:sp>
        <p:nvSpPr>
          <p:cNvPr id="53" name="テキスト ボックス 52">
            <a:extLst>
              <a:ext uri="{FF2B5EF4-FFF2-40B4-BE49-F238E27FC236}">
                <a16:creationId xmlns:a16="http://schemas.microsoft.com/office/drawing/2014/main" id="{B904A36F-B716-DC45-A1E8-77E506066B10}"/>
              </a:ext>
            </a:extLst>
          </p:cNvPr>
          <p:cNvSpPr txBox="1"/>
          <p:nvPr/>
        </p:nvSpPr>
        <p:spPr>
          <a:xfrm>
            <a:off x="1466946" y="6286026"/>
            <a:ext cx="2481105" cy="369332"/>
          </a:xfrm>
          <a:prstGeom prst="rect">
            <a:avLst/>
          </a:prstGeom>
          <a:noFill/>
        </p:spPr>
        <p:txBody>
          <a:bodyPr wrap="square" rtlCol="0">
            <a:spAutoFit/>
          </a:bodyPr>
          <a:lstStyle/>
          <a:p>
            <a:pPr algn="ctr"/>
            <a:r>
              <a:rPr kumimoji="1" lang="ja-JP" altLang="en-US"/>
              <a:t>エージェントの戦略</a:t>
            </a:r>
          </a:p>
        </p:txBody>
      </p:sp>
      <p:grpSp>
        <p:nvGrpSpPr>
          <p:cNvPr id="3" name="グループ化 2">
            <a:extLst>
              <a:ext uri="{FF2B5EF4-FFF2-40B4-BE49-F238E27FC236}">
                <a16:creationId xmlns:a16="http://schemas.microsoft.com/office/drawing/2014/main" id="{75C7FF2C-B29A-A24F-9B7A-1292F665662A}"/>
              </a:ext>
            </a:extLst>
          </p:cNvPr>
          <p:cNvGrpSpPr/>
          <p:nvPr/>
        </p:nvGrpSpPr>
        <p:grpSpPr>
          <a:xfrm>
            <a:off x="1715054" y="3526247"/>
            <a:ext cx="3000513" cy="2013298"/>
            <a:chOff x="1727754" y="3526247"/>
            <a:chExt cx="3000513" cy="2013298"/>
          </a:xfrm>
        </p:grpSpPr>
        <p:pic>
          <p:nvPicPr>
            <p:cNvPr id="11" name="図 10">
              <a:extLst>
                <a:ext uri="{FF2B5EF4-FFF2-40B4-BE49-F238E27FC236}">
                  <a16:creationId xmlns:a16="http://schemas.microsoft.com/office/drawing/2014/main" id="{3F71E2DC-B23F-0348-8128-89C2E34D6DA7}"/>
                </a:ext>
              </a:extLst>
            </p:cNvPr>
            <p:cNvPicPr>
              <a:picLocks noChangeAspect="1"/>
            </p:cNvPicPr>
            <p:nvPr/>
          </p:nvPicPr>
          <p:blipFill>
            <a:blip r:embed="rId4"/>
            <a:stretch>
              <a:fillRect/>
            </a:stretch>
          </p:blipFill>
          <p:spPr>
            <a:xfrm>
              <a:off x="1727754" y="3526247"/>
              <a:ext cx="1994215" cy="2013298"/>
            </a:xfrm>
            <a:prstGeom prst="rect">
              <a:avLst/>
            </a:prstGeom>
          </p:spPr>
        </p:pic>
        <p:pic>
          <p:nvPicPr>
            <p:cNvPr id="54" name="図 53">
              <a:extLst>
                <a:ext uri="{FF2B5EF4-FFF2-40B4-BE49-F238E27FC236}">
                  <a16:creationId xmlns:a16="http://schemas.microsoft.com/office/drawing/2014/main" id="{A92C7FB8-7042-3141-818F-5D7BBAA414E1}"/>
                </a:ext>
              </a:extLst>
            </p:cNvPr>
            <p:cNvPicPr>
              <a:picLocks noChangeAspect="1"/>
            </p:cNvPicPr>
            <p:nvPr/>
          </p:nvPicPr>
          <p:blipFill>
            <a:blip r:embed="rId5"/>
            <a:stretch>
              <a:fillRect/>
            </a:stretch>
          </p:blipFill>
          <p:spPr>
            <a:xfrm>
              <a:off x="2990781" y="3667820"/>
              <a:ext cx="252618" cy="430601"/>
            </a:xfrm>
            <a:prstGeom prst="rect">
              <a:avLst/>
            </a:prstGeom>
          </p:spPr>
        </p:pic>
        <p:sp>
          <p:nvSpPr>
            <p:cNvPr id="56" name="角丸四角形吹き出し 55">
              <a:extLst>
                <a:ext uri="{FF2B5EF4-FFF2-40B4-BE49-F238E27FC236}">
                  <a16:creationId xmlns:a16="http://schemas.microsoft.com/office/drawing/2014/main" id="{6B06C324-C5D6-B040-BE73-46FF223841F6}"/>
                </a:ext>
              </a:extLst>
            </p:cNvPr>
            <p:cNvSpPr/>
            <p:nvPr/>
          </p:nvSpPr>
          <p:spPr>
            <a:xfrm>
              <a:off x="3430701" y="4178183"/>
              <a:ext cx="1297566" cy="513442"/>
            </a:xfrm>
            <a:prstGeom prst="wedgeRoundRectCallout">
              <a:avLst>
                <a:gd name="adj1" fmla="val -67324"/>
                <a:gd name="adj2" fmla="val -50786"/>
                <a:gd name="adj3" fmla="val 16667"/>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kumimoji="1" lang="ja-JP" altLang="en-US" sz="1600"/>
                <a:t>相手の</a:t>
              </a:r>
              <a:br>
                <a:rPr kumimoji="1" lang="en-US" altLang="ja-JP" sz="1600" dirty="0"/>
              </a:br>
              <a:r>
                <a:rPr kumimoji="1" lang="ja-JP" altLang="en-US" sz="1600"/>
                <a:t>カテゴリ</a:t>
              </a:r>
            </a:p>
          </p:txBody>
        </p:sp>
      </p:grpSp>
    </p:spTree>
    <p:extLst>
      <p:ext uri="{BB962C8B-B14F-4D97-AF65-F5344CB8AC3E}">
        <p14:creationId xmlns:p14="http://schemas.microsoft.com/office/powerpoint/2010/main" val="15809273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3949791"/>
              </a:xfrm>
            </p:spPr>
            <p:txBody>
              <a:bodyPr/>
              <a:lstStyle/>
              <a:p>
                <a:r>
                  <a:rPr lang="en-US" altLang="ja-JP" dirty="0"/>
                  <a:t>BIG5</a:t>
                </a:r>
                <a:r>
                  <a:rPr lang="ja-JP" altLang="en-US"/>
                  <a:t>は</a:t>
                </a:r>
                <a:r>
                  <a:rPr lang="en-US" altLang="ja-JP" dirty="0"/>
                  <a:t>offer</a:t>
                </a:r>
                <a:r>
                  <a:rPr lang="ja-JP" altLang="en-US"/>
                  <a:t>とそれ以外の行動</a:t>
                </a:r>
                <a:br>
                  <a:rPr lang="en-US" altLang="ja-JP" dirty="0"/>
                </a:br>
                <a:r>
                  <a:rPr lang="ja-JP" altLang="en-US"/>
                  <a:t>どちらも考慮する</a:t>
                </a:r>
                <a:endParaRPr lang="en-US" altLang="ja-JP" dirty="0"/>
              </a:p>
              <a:p>
                <a:r>
                  <a:rPr lang="en-US" altLang="ja-JP" dirty="0"/>
                  <a:t>BIG5</a:t>
                </a:r>
                <a:r>
                  <a:rPr lang="ja-JP" altLang="en-US"/>
                  <a:t>の協調性は行動に対する</a:t>
                </a:r>
                <a:br>
                  <a:rPr lang="en-US" altLang="ja-JP" dirty="0"/>
                </a:br>
                <a:r>
                  <a:rPr lang="ja-JP" altLang="en-US"/>
                  <a:t>感受性を用いる</a:t>
                </a:r>
                <a:endParaRPr lang="en-US" altLang="ja-JP" dirty="0"/>
              </a:p>
              <a:p>
                <a:pPr marL="0" indent="0">
                  <a:buNone/>
                </a:pPr>
                <a14:m>
                  <m:oMathPara xmlns:m="http://schemas.openxmlformats.org/officeDocument/2006/math">
                    <m:oMathParaPr>
                      <m:jc m:val="centerGroup"/>
                    </m:oMathParaPr>
                    <m:oMath xmlns:m="http://schemas.openxmlformats.org/officeDocument/2006/math">
                      <m:r>
                        <a:rPr lang="en-US" altLang="ja-JP" i="1">
                          <a:latin typeface="Cambria Math" panose="02040503050406030204" pitchFamily="18" charset="0"/>
                        </a:rPr>
                        <m:t>𝐵𝑒h𝑎𝑣𝑠𝑒𝑛𝑠</m:t>
                      </m:r>
                      <m:r>
                        <a:rPr lang="en-US" altLang="ja-JP" i="1">
                          <a:latin typeface="Cambria Math" panose="02040503050406030204" pitchFamily="18" charset="0"/>
                        </a:rPr>
                        <m:t>= </m:t>
                      </m:r>
                      <m:f>
                        <m:fPr>
                          <m:ctrlPr>
                            <a:rPr lang="en-US" altLang="ja-JP" i="1">
                              <a:latin typeface="Cambria Math" panose="02040503050406030204" pitchFamily="18" charset="0"/>
                            </a:rPr>
                          </m:ctrlPr>
                        </m:fPr>
                        <m:num>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𝐹𝑜𝑟𝑡𝑢𝑛𝑎𝑡𝑒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𝑁𝑖𝑐𝑒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𝐶𝑜𝑛𝑐𝑒𝑠𝑠𝑖𝑜𝑛</m:t>
                              </m:r>
                            </m:sub>
                          </m:sSub>
                        </m:num>
                        <m:den>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𝑆𝑒𝑙𝑓𝑖𝑠h</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𝑈𝑛𝑓𝑜𝑟𝑡𝑢𝑛𝑎𝑡𝑒</m:t>
                              </m:r>
                            </m:sub>
                          </m:sSub>
                          <m:r>
                            <a:rPr lang="en-US" altLang="ja-JP" i="1">
                              <a:latin typeface="Cambria Math" panose="02040503050406030204" pitchFamily="18" charset="0"/>
                            </a:rPr>
                            <m:t>+</m:t>
                          </m:r>
                          <m:sSub>
                            <m:sSubPr>
                              <m:ctrlPr>
                                <a:rPr lang="en-US" altLang="ja-JP" i="1">
                                  <a:latin typeface="Cambria Math" panose="02040503050406030204" pitchFamily="18" charset="0"/>
                                </a:rPr>
                              </m:ctrlPr>
                            </m:sSubPr>
                            <m:e>
                              <m:r>
                                <a:rPr lang="en-US" altLang="ja-JP" i="1">
                                  <a:latin typeface="Cambria Math" panose="02040503050406030204" pitchFamily="18" charset="0"/>
                                </a:rPr>
                                <m:t>%</m:t>
                              </m:r>
                            </m:e>
                            <m:sub>
                              <m:r>
                                <a:rPr lang="en-US" altLang="ja-JP" i="1">
                                  <a:latin typeface="Cambria Math" panose="02040503050406030204" pitchFamily="18" charset="0"/>
                                </a:rPr>
                                <m:t>𝑆𝑖𝑙𝑒𝑛𝑡</m:t>
                              </m:r>
                            </m:sub>
                          </m:sSub>
                        </m:den>
                      </m:f>
                    </m:oMath>
                  </m:oMathPara>
                </a14:m>
                <a:endParaRPr lang="en-US" altLang="ja-JP" dirty="0"/>
              </a:p>
              <a:p>
                <a:endParaRPr lang="en-US" altLang="ja-JP" dirty="0"/>
              </a:p>
              <a:p>
                <a:endParaRPr lang="en-US" altLang="ja-JP" dirty="0"/>
              </a:p>
            </p:txBody>
          </p:sp>
        </mc:Choice>
        <mc:Fallback xmlns="">
          <p:sp>
            <p:nvSpPr>
              <p:cNvPr id="3" name="コンテンツ プレースホルダー 2">
                <a:extLst>
                  <a:ext uri="{FF2B5EF4-FFF2-40B4-BE49-F238E27FC236}">
                    <a16:creationId xmlns:a16="http://schemas.microsoft.com/office/drawing/2014/main" id="{7CD37B2B-E32E-2D43-8143-0B7A29E79BB5}"/>
                  </a:ext>
                </a:extLst>
              </p:cNvPr>
              <p:cNvSpPr>
                <a:spLocks noGrp="1" noRot="1" noChangeAspect="1" noMove="1" noResize="1" noEditPoints="1" noAdjustHandles="1" noChangeArrowheads="1" noChangeShapeType="1" noTextEdit="1"/>
              </p:cNvSpPr>
              <p:nvPr>
                <p:ph idx="1"/>
              </p:nvPr>
            </p:nvSpPr>
            <p:spPr>
              <a:xfrm>
                <a:off x="194898" y="1884383"/>
                <a:ext cx="8859709" cy="3949791"/>
              </a:xfrm>
              <a:blipFill>
                <a:blip r:embed="rId2"/>
                <a:stretch>
                  <a:fillRect t="-2244"/>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10</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grpSp>
        <p:nvGrpSpPr>
          <p:cNvPr id="20" name="グループ化 19">
            <a:extLst>
              <a:ext uri="{FF2B5EF4-FFF2-40B4-BE49-F238E27FC236}">
                <a16:creationId xmlns:a16="http://schemas.microsoft.com/office/drawing/2014/main" id="{9D0AA023-77FD-8E45-A2FE-9E13FDF597F6}"/>
              </a:ext>
            </a:extLst>
          </p:cNvPr>
          <p:cNvGrpSpPr/>
          <p:nvPr/>
        </p:nvGrpSpPr>
        <p:grpSpPr>
          <a:xfrm>
            <a:off x="163626" y="1160115"/>
            <a:ext cx="4052774" cy="680876"/>
            <a:chOff x="163626" y="1160115"/>
            <a:chExt cx="4052774" cy="680876"/>
          </a:xfrm>
        </p:grpSpPr>
        <p:cxnSp>
          <p:nvCxnSpPr>
            <p:cNvPr id="21" name="直線コネクタ 20">
              <a:extLst>
                <a:ext uri="{FF2B5EF4-FFF2-40B4-BE49-F238E27FC236}">
                  <a16:creationId xmlns:a16="http://schemas.microsoft.com/office/drawing/2014/main" id="{53032A18-BA45-7B4C-A12B-71F28C34CB52}"/>
                </a:ext>
              </a:extLst>
            </p:cNvPr>
            <p:cNvCxnSpPr>
              <a:cxnSpLocks/>
            </p:cNvCxnSpPr>
            <p:nvPr userDrawn="1"/>
          </p:nvCxnSpPr>
          <p:spPr>
            <a:xfrm>
              <a:off x="163626" y="1699846"/>
              <a:ext cx="40527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3" name="正方形/長方形 22">
              <a:extLst>
                <a:ext uri="{FF2B5EF4-FFF2-40B4-BE49-F238E27FC236}">
                  <a16:creationId xmlns:a16="http://schemas.microsoft.com/office/drawing/2014/main" id="{6EA7F5F3-06B2-DF42-86C2-191A3B5C05B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プレースホルダー 12">
            <a:extLst>
              <a:ext uri="{FF2B5EF4-FFF2-40B4-BE49-F238E27FC236}">
                <a16:creationId xmlns:a16="http://schemas.microsoft.com/office/drawing/2014/main" id="{7B0D261D-000C-D849-BECE-7D4525F2E1A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(BIG5)</a:t>
            </a:r>
            <a:endParaRPr lang="ja-JP" altLang="en-US"/>
          </a:p>
        </p:txBody>
      </p:sp>
      <mc:AlternateContent xmlns:mc="http://schemas.openxmlformats.org/markup-compatibility/2006" xmlns:a14="http://schemas.microsoft.com/office/drawing/2010/main">
        <mc:Choice Requires="a14">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&gt;0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𝑆</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1" lang="en-US" altLang="ja-JP" sz="1200" b="0" i="0" smtClean="0">
                                    <a:solidFill>
                                      <a:schemeClr val="tx1"/>
                                    </a:solidFill>
                                    <a:latin typeface="Cambria Math" panose="02040503050406030204" pitchFamily="18" charset="0"/>
                                  </a:rPr>
                                  <m:t>Δ</m:t>
                                </m:r>
                                <m:sSub>
                                  <m:sSubPr>
                                    <m:ctrlPr>
                                      <a:rPr kumimoji="1" lang="en-US" altLang="ja-JP" sz="1200" b="0" i="1" smtClean="0">
                                        <a:solidFill>
                                          <a:schemeClr val="tx1"/>
                                        </a:solidFill>
                                        <a:latin typeface="Cambria Math" panose="02040503050406030204" pitchFamily="18" charset="0"/>
                                      </a:rPr>
                                    </m:ctrlPr>
                                  </m:sSubPr>
                                  <m:e>
                                    <m:r>
                                      <a:rPr kumimoji="1" lang="en-US" altLang="ja-JP" sz="1200" b="0" i="1" smtClean="0">
                                        <a:solidFill>
                                          <a:schemeClr val="tx1"/>
                                        </a:solidFill>
                                        <a:latin typeface="Cambria Math" panose="02040503050406030204" pitchFamily="18" charset="0"/>
                                      </a:rPr>
                                      <m:t>𝑈</m:t>
                                    </m:r>
                                  </m:e>
                                  <m:sub>
                                    <m:r>
                                      <a:rPr kumimoji="1" lang="en-US" altLang="ja-JP" sz="1200" b="0" i="1" smtClean="0">
                                        <a:solidFill>
                                          <a:schemeClr val="tx1"/>
                                        </a:solidFill>
                                        <a:latin typeface="Cambria Math" panose="02040503050406030204" pitchFamily="18" charset="0"/>
                                      </a:rPr>
                                      <m:t>𝑂</m:t>
                                    </m:r>
                                  </m:sub>
                                </m:sSub>
                                <m:r>
                                  <a:rPr kumimoji="1" lang="en-US" altLang="ja-JP" sz="1200" b="0" i="1" smtClean="0">
                                    <a:solidFill>
                                      <a:schemeClr val="tx1"/>
                                    </a:solidFill>
                                    <a:latin typeface="Cambria Math" panose="02040503050406030204" pitchFamily="18" charset="0"/>
                                  </a:rPr>
                                  <m:t>&lt;0</m:t>
                                </m:r>
                              </m:oMath>
                            </m:oMathPara>
                          </a14:m>
                          <a:endParaRPr kumimoji="1" lang="ja-JP" altLang="en-US" sz="1200">
                            <a:solidFill>
                              <a:schemeClr val="tx1"/>
                            </a:solidFill>
                          </a:endParaRPr>
                        </a:p>
                      </a:txBody>
                      <a:tcPr marL="75570" marR="75570"/>
                    </a:tc>
                    <a:extLst>
                      <a:ext uri="{0D108BD9-81ED-4DB2-BD59-A6C34878D82A}">
                        <a16:rowId xmlns:a16="http://schemas.microsoft.com/office/drawing/2014/main" val="2685632522"/>
                      </a:ext>
                    </a:extLst>
                  </a:tr>
                </a:tbl>
              </a:graphicData>
            </a:graphic>
          </p:graphicFrame>
        </mc:Choice>
        <mc:Fallback xmlns="">
          <p:graphicFrame>
            <p:nvGraphicFramePr>
              <p:cNvPr id="25" name="表 24">
                <a:extLst>
                  <a:ext uri="{FF2B5EF4-FFF2-40B4-BE49-F238E27FC236}">
                    <a16:creationId xmlns:a16="http://schemas.microsoft.com/office/drawing/2014/main" id="{1AD62150-4DF1-334A-A918-2D74DD1323EA}"/>
                  </a:ext>
                </a:extLst>
              </p:cNvPr>
              <p:cNvGraphicFramePr>
                <a:graphicFrameLocks noGrp="1"/>
              </p:cNvGraphicFramePr>
              <p:nvPr/>
            </p:nvGraphicFramePr>
            <p:xfrm>
              <a:off x="2103298" y="4472465"/>
              <a:ext cx="4932000" cy="2088002"/>
            </p:xfrm>
            <a:graphic>
              <a:graphicData uri="http://schemas.openxmlformats.org/drawingml/2006/table">
                <a:tbl>
                  <a:tblPr firstRow="1" bandRow="1">
                    <a:tableStyleId>{5C22544A-7EE6-4342-B048-85BDC9FD1C3A}</a:tableStyleId>
                  </a:tblPr>
                  <a:tblGrid>
                    <a:gridCol w="1188000">
                      <a:extLst>
                        <a:ext uri="{9D8B030D-6E8A-4147-A177-3AD203B41FA5}">
                          <a16:colId xmlns:a16="http://schemas.microsoft.com/office/drawing/2014/main" val="3127193385"/>
                        </a:ext>
                      </a:extLst>
                    </a:gridCol>
                    <a:gridCol w="1872000">
                      <a:extLst>
                        <a:ext uri="{9D8B030D-6E8A-4147-A177-3AD203B41FA5}">
                          <a16:colId xmlns:a16="http://schemas.microsoft.com/office/drawing/2014/main" val="3037334881"/>
                        </a:ext>
                      </a:extLst>
                    </a:gridCol>
                    <a:gridCol w="1872000">
                      <a:extLst>
                        <a:ext uri="{9D8B030D-6E8A-4147-A177-3AD203B41FA5}">
                          <a16:colId xmlns:a16="http://schemas.microsoft.com/office/drawing/2014/main" val="1646647457"/>
                        </a:ext>
                      </a:extLst>
                    </a:gridCol>
                  </a:tblGrid>
                  <a:tr h="298286">
                    <a:tc>
                      <a:txBody>
                        <a:bodyPr/>
                        <a:lstStyle/>
                        <a:p>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Self Difference</a:t>
                          </a:r>
                          <a:endParaRPr kumimoji="1" lang="ja-JP" altLang="en-US" sz="1200">
                            <a:solidFill>
                              <a:schemeClr val="bg1"/>
                            </a:solidFill>
                          </a:endParaRPr>
                        </a:p>
                      </a:txBody>
                      <a:tcPr marL="75570" marR="75570"/>
                    </a:tc>
                    <a:tc>
                      <a:txBody>
                        <a:bodyPr/>
                        <a:lstStyle/>
                        <a:p>
                          <a:pPr algn="ctr"/>
                          <a:r>
                            <a:rPr kumimoji="1" lang="en-US" altLang="ja-JP" sz="1200" dirty="0">
                              <a:solidFill>
                                <a:schemeClr val="bg1"/>
                              </a:solidFill>
                            </a:rPr>
                            <a:t>Opponent Difference</a:t>
                          </a:r>
                          <a:endParaRPr kumimoji="1" lang="ja-JP" altLang="en-US" sz="1200">
                            <a:solidFill>
                              <a:schemeClr val="bg1"/>
                            </a:solidFill>
                          </a:endParaRPr>
                        </a:p>
                      </a:txBody>
                      <a:tcPr marL="75570" marR="75570"/>
                    </a:tc>
                    <a:extLst>
                      <a:ext uri="{0D108BD9-81ED-4DB2-BD59-A6C34878D82A}">
                        <a16:rowId xmlns:a16="http://schemas.microsoft.com/office/drawing/2014/main" val="1106798283"/>
                      </a:ext>
                    </a:extLst>
                  </a:tr>
                  <a:tr h="298286">
                    <a:tc>
                      <a:txBody>
                        <a:bodyPr/>
                        <a:lstStyle/>
                        <a:p>
                          <a:r>
                            <a:rPr kumimoji="1" lang="en-US" altLang="ja-JP" sz="1200" dirty="0">
                              <a:solidFill>
                                <a:schemeClr val="tx1"/>
                              </a:solidFill>
                            </a:rPr>
                            <a:t>Silent</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108696" r="-102041" b="-517391"/>
                          </a:stretch>
                        </a:blipFill>
                      </a:tcPr>
                    </a:tc>
                    <a:tc>
                      <a:txBody>
                        <a:bodyPr/>
                        <a:lstStyle/>
                        <a:p>
                          <a:endParaRPr lang="ja-JP"/>
                        </a:p>
                      </a:txBody>
                      <a:tcPr marL="75570" marR="75570">
                        <a:blipFill>
                          <a:blip r:embed="rId6"/>
                          <a:stretch>
                            <a:fillRect l="-163514" t="-108696" r="-1351" b="-517391"/>
                          </a:stretch>
                        </a:blipFill>
                      </a:tcPr>
                    </a:tc>
                    <a:extLst>
                      <a:ext uri="{0D108BD9-81ED-4DB2-BD59-A6C34878D82A}">
                        <a16:rowId xmlns:a16="http://schemas.microsoft.com/office/drawing/2014/main" val="575256707"/>
                      </a:ext>
                    </a:extLst>
                  </a:tr>
                  <a:tr h="298286">
                    <a:tc>
                      <a:txBody>
                        <a:bodyPr/>
                        <a:lstStyle/>
                        <a:p>
                          <a:r>
                            <a:rPr kumimoji="1" lang="en-US" altLang="ja-JP" sz="1200" dirty="0">
                              <a:solidFill>
                                <a:schemeClr val="tx1"/>
                              </a:solidFill>
                            </a:rPr>
                            <a:t>Nice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200000" r="-102041" b="-395833"/>
                          </a:stretch>
                        </a:blipFill>
                      </a:tcPr>
                    </a:tc>
                    <a:tc>
                      <a:txBody>
                        <a:bodyPr/>
                        <a:lstStyle/>
                        <a:p>
                          <a:endParaRPr lang="ja-JP"/>
                        </a:p>
                      </a:txBody>
                      <a:tcPr marL="75570" marR="75570">
                        <a:blipFill>
                          <a:blip r:embed="rId6"/>
                          <a:stretch>
                            <a:fillRect l="-163514" t="-200000" r="-1351" b="-395833"/>
                          </a:stretch>
                        </a:blipFill>
                      </a:tcPr>
                    </a:tc>
                    <a:extLst>
                      <a:ext uri="{0D108BD9-81ED-4DB2-BD59-A6C34878D82A}">
                        <a16:rowId xmlns:a16="http://schemas.microsoft.com/office/drawing/2014/main" val="1183317016"/>
                      </a:ext>
                    </a:extLst>
                  </a:tr>
                  <a:tr h="298286">
                    <a:tc>
                      <a:txBody>
                        <a:bodyPr/>
                        <a:lstStyle/>
                        <a:p>
                          <a:r>
                            <a:rPr kumimoji="1" lang="en-US" altLang="ja-JP" sz="1200" dirty="0">
                              <a:solidFill>
                                <a:schemeClr val="tx1"/>
                              </a:solidFill>
                            </a:rPr>
                            <a:t>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13043" r="-102041" b="-313043"/>
                          </a:stretch>
                        </a:blipFill>
                      </a:tcPr>
                    </a:tc>
                    <a:tc>
                      <a:txBody>
                        <a:bodyPr/>
                        <a:lstStyle/>
                        <a:p>
                          <a:endParaRPr lang="ja-JP"/>
                        </a:p>
                      </a:txBody>
                      <a:tcPr marL="75570" marR="75570">
                        <a:blipFill>
                          <a:blip r:embed="rId6"/>
                          <a:stretch>
                            <a:fillRect l="-163514" t="-313043" r="-1351" b="-313043"/>
                          </a:stretch>
                        </a:blipFill>
                      </a:tcPr>
                    </a:tc>
                    <a:extLst>
                      <a:ext uri="{0D108BD9-81ED-4DB2-BD59-A6C34878D82A}">
                        <a16:rowId xmlns:a16="http://schemas.microsoft.com/office/drawing/2014/main" val="895325157"/>
                      </a:ext>
                    </a:extLst>
                  </a:tr>
                  <a:tr h="298286">
                    <a:tc>
                      <a:txBody>
                        <a:bodyPr/>
                        <a:lstStyle/>
                        <a:p>
                          <a:r>
                            <a:rPr kumimoji="1" lang="en-US" altLang="ja-JP" sz="1200" dirty="0">
                              <a:solidFill>
                                <a:schemeClr val="tx1"/>
                              </a:solidFill>
                            </a:rPr>
                            <a:t>Selfish</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395833" r="-102041" b="-200000"/>
                          </a:stretch>
                        </a:blipFill>
                      </a:tcPr>
                    </a:tc>
                    <a:tc>
                      <a:txBody>
                        <a:bodyPr/>
                        <a:lstStyle/>
                        <a:p>
                          <a:endParaRPr lang="ja-JP"/>
                        </a:p>
                      </a:txBody>
                      <a:tcPr marL="75570" marR="75570">
                        <a:blipFill>
                          <a:blip r:embed="rId6"/>
                          <a:stretch>
                            <a:fillRect l="-163514" t="-395833" r="-1351" b="-200000"/>
                          </a:stretch>
                        </a:blipFill>
                      </a:tcPr>
                    </a:tc>
                    <a:extLst>
                      <a:ext uri="{0D108BD9-81ED-4DB2-BD59-A6C34878D82A}">
                        <a16:rowId xmlns:a16="http://schemas.microsoft.com/office/drawing/2014/main" val="2591775076"/>
                      </a:ext>
                    </a:extLst>
                  </a:tr>
                  <a:tr h="298286">
                    <a:tc>
                      <a:txBody>
                        <a:bodyPr/>
                        <a:lstStyle/>
                        <a:p>
                          <a:r>
                            <a:rPr kumimoji="1" lang="en-US" altLang="ja-JP" sz="1200" dirty="0">
                              <a:solidFill>
                                <a:schemeClr val="tx1"/>
                              </a:solidFill>
                            </a:rPr>
                            <a:t>Concession</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17391" r="-102041" b="-108696"/>
                          </a:stretch>
                        </a:blipFill>
                      </a:tcPr>
                    </a:tc>
                    <a:tc>
                      <a:txBody>
                        <a:bodyPr/>
                        <a:lstStyle/>
                        <a:p>
                          <a:endParaRPr lang="ja-JP"/>
                        </a:p>
                      </a:txBody>
                      <a:tcPr marL="75570" marR="75570">
                        <a:blipFill>
                          <a:blip r:embed="rId6"/>
                          <a:stretch>
                            <a:fillRect l="-163514" t="-517391" r="-1351" b="-108696"/>
                          </a:stretch>
                        </a:blipFill>
                      </a:tcPr>
                    </a:tc>
                    <a:extLst>
                      <a:ext uri="{0D108BD9-81ED-4DB2-BD59-A6C34878D82A}">
                        <a16:rowId xmlns:a16="http://schemas.microsoft.com/office/drawing/2014/main" val="2841830330"/>
                      </a:ext>
                    </a:extLst>
                  </a:tr>
                  <a:tr h="298286">
                    <a:tc>
                      <a:txBody>
                        <a:bodyPr/>
                        <a:lstStyle/>
                        <a:p>
                          <a:r>
                            <a:rPr kumimoji="1" lang="en-US" altLang="ja-JP" sz="1200" dirty="0">
                              <a:solidFill>
                                <a:schemeClr val="tx1"/>
                              </a:solidFill>
                            </a:rPr>
                            <a:t>Unfortunate</a:t>
                          </a:r>
                          <a:endParaRPr kumimoji="1" lang="ja-JP" altLang="en-US" sz="1200">
                            <a:solidFill>
                              <a:schemeClr val="tx1"/>
                            </a:solidFill>
                          </a:endParaRPr>
                        </a:p>
                      </a:txBody>
                      <a:tcPr marL="75570" marR="75570"/>
                    </a:tc>
                    <a:tc>
                      <a:txBody>
                        <a:bodyPr/>
                        <a:lstStyle/>
                        <a:p>
                          <a:endParaRPr lang="ja-JP"/>
                        </a:p>
                      </a:txBody>
                      <a:tcPr marL="75570" marR="75570">
                        <a:blipFill>
                          <a:blip r:embed="rId6"/>
                          <a:stretch>
                            <a:fillRect l="-64626" t="-591667" r="-102041" b="-4167"/>
                          </a:stretch>
                        </a:blipFill>
                      </a:tcPr>
                    </a:tc>
                    <a:tc>
                      <a:txBody>
                        <a:bodyPr/>
                        <a:lstStyle/>
                        <a:p>
                          <a:endParaRPr lang="ja-JP"/>
                        </a:p>
                      </a:txBody>
                      <a:tcPr marL="75570" marR="75570">
                        <a:blipFill>
                          <a:blip r:embed="rId6"/>
                          <a:stretch>
                            <a:fillRect l="-163514" t="-591667" r="-1351" b="-4167"/>
                          </a:stretch>
                        </a:blipFill>
                      </a:tcPr>
                    </a:tc>
                    <a:extLst>
                      <a:ext uri="{0D108BD9-81ED-4DB2-BD59-A6C34878D82A}">
                        <a16:rowId xmlns:a16="http://schemas.microsoft.com/office/drawing/2014/main" val="2685632522"/>
                      </a:ext>
                    </a:extLst>
                  </a:tr>
                </a:tbl>
              </a:graphicData>
            </a:graphic>
          </p:graphicFrame>
        </mc:Fallback>
      </mc:AlternateContent>
      <p:pic>
        <p:nvPicPr>
          <p:cNvPr id="9" name="図 8">
            <a:extLst>
              <a:ext uri="{FF2B5EF4-FFF2-40B4-BE49-F238E27FC236}">
                <a16:creationId xmlns:a16="http://schemas.microsoft.com/office/drawing/2014/main" id="{09481702-EE2A-7642-A893-638561CEF6B6}"/>
              </a:ext>
            </a:extLst>
          </p:cNvPr>
          <p:cNvPicPr>
            <a:picLocks noChangeAspect="1"/>
          </p:cNvPicPr>
          <p:nvPr/>
        </p:nvPicPr>
        <p:blipFill>
          <a:blip r:embed="rId7"/>
          <a:stretch>
            <a:fillRect/>
          </a:stretch>
        </p:blipFill>
        <p:spPr>
          <a:xfrm>
            <a:off x="6233440" y="739364"/>
            <a:ext cx="2944091" cy="2701636"/>
          </a:xfrm>
          <a:prstGeom prst="rect">
            <a:avLst/>
          </a:prstGeom>
        </p:spPr>
      </p:pic>
    </p:spTree>
    <p:extLst>
      <p:ext uri="{BB962C8B-B14F-4D97-AF65-F5344CB8AC3E}">
        <p14:creationId xmlns:p14="http://schemas.microsoft.com/office/powerpoint/2010/main" val="2601621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5257196"/>
          </a:xfrm>
        </p:spPr>
        <p:txBody>
          <a:bodyPr/>
          <a:lstStyle/>
          <a:p>
            <a:r>
              <a:rPr lang="ja-JP" altLang="en-US"/>
              <a:t>神経症的傾向</a:t>
            </a:r>
            <a:endParaRPr lang="en-US" altLang="ja-JP" dirty="0"/>
          </a:p>
          <a:p>
            <a:pPr lvl="1"/>
            <a:r>
              <a:rPr lang="en" altLang="ja-JP" dirty="0">
                <a:solidFill>
                  <a:schemeClr val="accent2"/>
                </a:solidFill>
              </a:rPr>
              <a:t>Nice</a:t>
            </a:r>
            <a:r>
              <a:rPr lang="ja-JP" altLang="en-US">
                <a:solidFill>
                  <a:schemeClr val="accent2"/>
                </a:solidFill>
              </a:rPr>
              <a:t>と</a:t>
            </a:r>
            <a:r>
              <a:rPr lang="en-US" altLang="ja-JP" dirty="0">
                <a:solidFill>
                  <a:schemeClr val="accent2"/>
                </a:solidFill>
              </a:rPr>
              <a:t>C</a:t>
            </a:r>
            <a:r>
              <a:rPr lang="en" altLang="ja-JP" dirty="0" err="1">
                <a:solidFill>
                  <a:schemeClr val="accent2"/>
                </a:solidFill>
              </a:rPr>
              <a:t>oncession</a:t>
            </a:r>
            <a:r>
              <a:rPr lang="ja-JP" altLang="en-US">
                <a:solidFill>
                  <a:schemeClr val="accent2"/>
                </a:solidFill>
              </a:rPr>
              <a:t>の値</a:t>
            </a:r>
            <a:r>
              <a:rPr lang="en-US" altLang="ja-JP" dirty="0"/>
              <a:t>+</a:t>
            </a:r>
            <a:r>
              <a:rPr lang="ja-JP" altLang="en-US">
                <a:solidFill>
                  <a:schemeClr val="accent3"/>
                </a:solidFill>
              </a:rPr>
              <a:t>否定的な感情の割合</a:t>
            </a:r>
          </a:p>
          <a:p>
            <a:r>
              <a:rPr lang="ja-JP" altLang="en-US"/>
              <a:t>外向性</a:t>
            </a:r>
            <a:endParaRPr lang="en-US" altLang="ja-JP" dirty="0"/>
          </a:p>
          <a:p>
            <a:pPr lvl="1"/>
            <a:r>
              <a:rPr lang="en-US" altLang="ja-JP" dirty="0">
                <a:solidFill>
                  <a:schemeClr val="accent2"/>
                </a:solidFill>
              </a:rPr>
              <a:t>Selfish</a:t>
            </a:r>
            <a:r>
              <a:rPr lang="ja-JP" altLang="en-US">
                <a:solidFill>
                  <a:schemeClr val="accent2"/>
                </a:solidFill>
              </a:rPr>
              <a:t>と</a:t>
            </a:r>
            <a:r>
              <a:rPr lang="en-US" altLang="ja-JP" dirty="0">
                <a:solidFill>
                  <a:schemeClr val="accent2"/>
                </a:solidFill>
              </a:rPr>
              <a:t>Fortunate</a:t>
            </a:r>
            <a:r>
              <a:rPr lang="ja-JP" altLang="en-US">
                <a:solidFill>
                  <a:schemeClr val="accent2"/>
                </a:solidFill>
              </a:rPr>
              <a:t>の値</a:t>
            </a:r>
            <a:r>
              <a:rPr lang="en-US" altLang="ja-JP" dirty="0"/>
              <a:t>+</a:t>
            </a:r>
            <a:r>
              <a:rPr lang="ja-JP" altLang="en-US">
                <a:solidFill>
                  <a:schemeClr val="accent3"/>
                </a:solidFill>
              </a:rPr>
              <a:t>行動の頻度</a:t>
            </a:r>
          </a:p>
          <a:p>
            <a:r>
              <a:rPr lang="ja-JP" altLang="en-US"/>
              <a:t>経験への開放性</a:t>
            </a:r>
            <a:endParaRPr lang="en-US" altLang="ja-JP" dirty="0"/>
          </a:p>
          <a:p>
            <a:pPr lvl="1"/>
            <a:r>
              <a:rPr lang="en" altLang="ja-JP" dirty="0">
                <a:solidFill>
                  <a:schemeClr val="accent2"/>
                </a:solidFill>
              </a:rPr>
              <a:t>offer</a:t>
            </a:r>
            <a:r>
              <a:rPr lang="ja-JP" altLang="en-US">
                <a:solidFill>
                  <a:schemeClr val="accent2"/>
                </a:solidFill>
              </a:rPr>
              <a:t>の各選択肢の分散</a:t>
            </a:r>
            <a:r>
              <a:rPr lang="en-US" altLang="ja-JP" dirty="0"/>
              <a:t>+</a:t>
            </a:r>
            <a:r>
              <a:rPr lang="ja-JP" altLang="en-US">
                <a:solidFill>
                  <a:schemeClr val="accent3"/>
                </a:solidFill>
              </a:rPr>
              <a:t>選好に関する質問の回数</a:t>
            </a:r>
          </a:p>
          <a:p>
            <a:r>
              <a:rPr lang="ja-JP" altLang="en-US"/>
              <a:t>誠実性</a:t>
            </a:r>
            <a:endParaRPr lang="en-US" altLang="ja-JP" dirty="0"/>
          </a:p>
          <a:p>
            <a:pPr lvl="1"/>
            <a:r>
              <a:rPr lang="ja-JP" altLang="en-US">
                <a:solidFill>
                  <a:schemeClr val="accent2"/>
                </a:solidFill>
              </a:rPr>
              <a:t>相手の</a:t>
            </a:r>
            <a:r>
              <a:rPr lang="en" altLang="ja-JP" dirty="0">
                <a:solidFill>
                  <a:schemeClr val="accent2"/>
                </a:solidFill>
              </a:rPr>
              <a:t>bid</a:t>
            </a:r>
            <a:r>
              <a:rPr lang="ja-JP" altLang="en-US">
                <a:solidFill>
                  <a:schemeClr val="accent2"/>
                </a:solidFill>
              </a:rPr>
              <a:t>の効用値の分散の逆数</a:t>
            </a:r>
            <a:r>
              <a:rPr lang="en-US" altLang="ja-JP" dirty="0"/>
              <a:t>+</a:t>
            </a:r>
            <a:r>
              <a:rPr lang="ja-JP" altLang="en-US">
                <a:solidFill>
                  <a:schemeClr val="accent3"/>
                </a:solidFill>
              </a:rPr>
              <a:t>自分の選好を公開した回数</a:t>
            </a:r>
            <a:r>
              <a:rPr lang="en-US" altLang="ja-JP" dirty="0"/>
              <a:t>+</a:t>
            </a:r>
            <a:r>
              <a:rPr lang="ja-JP" altLang="en-US">
                <a:solidFill>
                  <a:schemeClr val="accent3"/>
                </a:solidFill>
              </a:rPr>
              <a:t>選好に関して矛盾があった回数</a:t>
            </a:r>
            <a:endParaRPr lang="en-US" altLang="ja-JP" dirty="0">
              <a:solidFill>
                <a:schemeClr val="accent3"/>
              </a:solidFill>
            </a:endParaRPr>
          </a:p>
          <a:p>
            <a:r>
              <a:rPr lang="ja-JP" altLang="en-US"/>
              <a:t>協調性</a:t>
            </a:r>
            <a:endParaRPr lang="en-US" altLang="ja-JP" dirty="0"/>
          </a:p>
          <a:p>
            <a:pPr lvl="1"/>
            <a:r>
              <a:rPr lang="ja-JP" altLang="en-US">
                <a:solidFill>
                  <a:schemeClr val="accent2"/>
                </a:solidFill>
              </a:rPr>
              <a:t>行動に対する感受性</a:t>
            </a:r>
            <a:r>
              <a:rPr lang="en-US" altLang="ja-JP" dirty="0"/>
              <a:t>+</a:t>
            </a:r>
            <a:r>
              <a:rPr lang="ja-JP" altLang="en-US">
                <a:solidFill>
                  <a:schemeClr val="accent3"/>
                </a:solidFill>
              </a:rPr>
              <a:t>肯定的なメッセージの送信回数</a:t>
            </a:r>
          </a:p>
          <a:p>
            <a:endParaRPr lang="ja-JP" altLang="en-US"/>
          </a:p>
          <a:p>
            <a:endParaRPr lang="ja-JP" altLang="en-US"/>
          </a:p>
          <a:p>
            <a:endParaRPr lang="en-US" altLang="ja-JP" dirty="0"/>
          </a:p>
          <a:p>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AE11971C-747C-6D4C-9C5C-692C46840815}"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11</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sp>
        <p:nvSpPr>
          <p:cNvPr id="18" name="テキスト プレースホルダー 12">
            <a:extLst>
              <a:ext uri="{FF2B5EF4-FFF2-40B4-BE49-F238E27FC236}">
                <a16:creationId xmlns:a16="http://schemas.microsoft.com/office/drawing/2014/main" id="{B1673F2D-B405-CB4D-8F59-80842B8ACB15}"/>
              </a:ext>
            </a:extLst>
          </p:cNvPr>
          <p:cNvSpPr txBox="1">
            <a:spLocks/>
          </p:cNvSpPr>
          <p:nvPr/>
        </p:nvSpPr>
        <p:spPr>
          <a:xfrm>
            <a:off x="404691" y="2876210"/>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endParaRPr lang="ja-JP" altLang="en-US"/>
          </a:p>
        </p:txBody>
      </p:sp>
      <p:grpSp>
        <p:nvGrpSpPr>
          <p:cNvPr id="15" name="グループ化 14">
            <a:extLst>
              <a:ext uri="{FF2B5EF4-FFF2-40B4-BE49-F238E27FC236}">
                <a16:creationId xmlns:a16="http://schemas.microsoft.com/office/drawing/2014/main" id="{734569C4-C8A6-0846-8BD4-564AE889627D}"/>
              </a:ext>
            </a:extLst>
          </p:cNvPr>
          <p:cNvGrpSpPr/>
          <p:nvPr/>
        </p:nvGrpSpPr>
        <p:grpSpPr>
          <a:xfrm>
            <a:off x="163626" y="1160115"/>
            <a:ext cx="4052774" cy="680876"/>
            <a:chOff x="163626" y="1160115"/>
            <a:chExt cx="4052774" cy="680876"/>
          </a:xfrm>
        </p:grpSpPr>
        <p:cxnSp>
          <p:nvCxnSpPr>
            <p:cNvPr id="16" name="直線コネクタ 15">
              <a:extLst>
                <a:ext uri="{FF2B5EF4-FFF2-40B4-BE49-F238E27FC236}">
                  <a16:creationId xmlns:a16="http://schemas.microsoft.com/office/drawing/2014/main" id="{DFA3E42B-EBA3-684C-AF47-C0FA21342F61}"/>
                </a:ext>
              </a:extLst>
            </p:cNvPr>
            <p:cNvCxnSpPr>
              <a:cxnSpLocks/>
            </p:cNvCxnSpPr>
            <p:nvPr userDrawn="1"/>
          </p:nvCxnSpPr>
          <p:spPr>
            <a:xfrm>
              <a:off x="163626" y="1699846"/>
              <a:ext cx="40527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4D626E92-F996-1045-BA90-18B5049BC6A6}"/>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9" name="テキスト プレースホルダー 12">
            <a:extLst>
              <a:ext uri="{FF2B5EF4-FFF2-40B4-BE49-F238E27FC236}">
                <a16:creationId xmlns:a16="http://schemas.microsoft.com/office/drawing/2014/main" id="{ECE62EDB-1E5E-BE41-A3A8-7B052495CA2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(BIG5)</a:t>
            </a:r>
            <a:endParaRPr lang="ja-JP" altLang="en-US"/>
          </a:p>
        </p:txBody>
      </p:sp>
    </p:spTree>
    <p:extLst>
      <p:ext uri="{BB962C8B-B14F-4D97-AF65-F5344CB8AC3E}">
        <p14:creationId xmlns:p14="http://schemas.microsoft.com/office/powerpoint/2010/main" val="35977828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a:xfrm>
            <a:off x="194898" y="1884383"/>
            <a:ext cx="8859709" cy="4966039"/>
          </a:xfrm>
        </p:spPr>
        <p:txBody>
          <a:bodyPr/>
          <a:lstStyle/>
          <a:p>
            <a:r>
              <a:rPr lang="ja-JP" altLang="en-US"/>
              <a:t>神経症的傾向</a:t>
            </a:r>
            <a:endParaRPr lang="en-US" altLang="ja-JP" dirty="0"/>
          </a:p>
          <a:p>
            <a:pPr lvl="1"/>
            <a:r>
              <a:rPr lang="ja-JP" altLang="en-US">
                <a:solidFill>
                  <a:schemeClr val="accent2"/>
                </a:solidFill>
              </a:rPr>
              <a:t>譲歩速度早め</a:t>
            </a:r>
            <a:r>
              <a:rPr lang="ja-JP" altLang="en-US"/>
              <a:t>・</a:t>
            </a:r>
            <a:r>
              <a:rPr lang="ja-JP" altLang="en-US">
                <a:solidFill>
                  <a:schemeClr val="accent2"/>
                </a:solidFill>
              </a:rPr>
              <a:t>行動頻度高め</a:t>
            </a:r>
            <a:endParaRPr lang="en-US" altLang="ja-JP" dirty="0">
              <a:solidFill>
                <a:schemeClr val="accent2"/>
              </a:solidFill>
            </a:endParaRPr>
          </a:p>
          <a:p>
            <a:pPr lvl="2"/>
            <a:r>
              <a:rPr lang="ja-JP" altLang="en-US"/>
              <a:t>脅威に対して過敏に反応→協調的になるはず</a:t>
            </a:r>
          </a:p>
          <a:p>
            <a:r>
              <a:rPr lang="ja-JP" altLang="en-US"/>
              <a:t>外向性</a:t>
            </a:r>
            <a:endParaRPr lang="en-US" altLang="ja-JP" dirty="0"/>
          </a:p>
          <a:p>
            <a:pPr lvl="1"/>
            <a:r>
              <a:rPr lang="ja-JP" altLang="en-US">
                <a:solidFill>
                  <a:schemeClr val="accent1"/>
                </a:solidFill>
              </a:rPr>
              <a:t>譲歩速度かなり遅め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報酬に対してかなり積極的→あまり譲歩しないはず</a:t>
            </a:r>
          </a:p>
          <a:p>
            <a:r>
              <a:rPr lang="ja-JP" altLang="en-US"/>
              <a:t>経験への開放性</a:t>
            </a:r>
            <a:endParaRPr lang="en-US" altLang="ja-JP" dirty="0"/>
          </a:p>
          <a:p>
            <a:pPr lvl="1"/>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精神的に不安定→強硬な戦略をとると関係が悪化する</a:t>
            </a:r>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12</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p:pic>
        <p:nvPicPr>
          <p:cNvPr id="13" name="図 12">
            <a:extLst>
              <a:ext uri="{FF2B5EF4-FFF2-40B4-BE49-F238E27FC236}">
                <a16:creationId xmlns:a16="http://schemas.microsoft.com/office/drawing/2014/main" id="{68BE7C85-1DE8-484A-8FBB-0CAB0CF7BCE3}"/>
              </a:ext>
            </a:extLst>
          </p:cNvPr>
          <p:cNvPicPr>
            <a:picLocks noChangeAspect="1"/>
          </p:cNvPicPr>
          <p:nvPr/>
        </p:nvPicPr>
        <p:blipFill>
          <a:blip r:embed="rId4"/>
          <a:stretch>
            <a:fillRect/>
          </a:stretch>
        </p:blipFill>
        <p:spPr>
          <a:xfrm>
            <a:off x="6233440" y="739364"/>
            <a:ext cx="2944091" cy="2701636"/>
          </a:xfrm>
          <a:prstGeom prst="rect">
            <a:avLst/>
          </a:prstGeom>
        </p:spPr>
      </p:pic>
    </p:spTree>
    <p:extLst>
      <p:ext uri="{BB962C8B-B14F-4D97-AF65-F5344CB8AC3E}">
        <p14:creationId xmlns:p14="http://schemas.microsoft.com/office/powerpoint/2010/main" val="381480285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FC917A-B83F-9A4D-9501-710DA6F17D1F}"/>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2291EE29-3B2E-0149-9AB1-D4AE0526F8DC}"/>
              </a:ext>
            </a:extLst>
          </p:cNvPr>
          <p:cNvSpPr>
            <a:spLocks noGrp="1"/>
          </p:cNvSpPr>
          <p:nvPr>
            <p:ph idx="1"/>
          </p:nvPr>
        </p:nvSpPr>
        <p:spPr>
          <a:xfrm>
            <a:off x="194898" y="1884383"/>
            <a:ext cx="8859709" cy="4966039"/>
          </a:xfrm>
        </p:spPr>
        <p:txBody>
          <a:bodyPr/>
          <a:lstStyle/>
          <a:p>
            <a:r>
              <a:rPr lang="ja-JP" altLang="en-US"/>
              <a:t>誠実性</a:t>
            </a:r>
            <a:endParaRPr lang="en-US" altLang="ja-JP" dirty="0"/>
          </a:p>
          <a:p>
            <a:pPr lvl="1"/>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自分を律する能力が高い→協調的になるはず</a:t>
            </a:r>
            <a:endParaRPr lang="en-US" altLang="ja-JP" dirty="0"/>
          </a:p>
          <a:p>
            <a:r>
              <a:rPr lang="ja-JP" altLang="en-US"/>
              <a:t>協調性</a:t>
            </a:r>
            <a:endParaRPr lang="en-US" altLang="ja-JP" dirty="0"/>
          </a:p>
          <a:p>
            <a:pPr lvl="1"/>
            <a:r>
              <a:rPr lang="ja-JP" altLang="en-US">
                <a:solidFill>
                  <a:schemeClr val="accent2"/>
                </a:solidFill>
              </a:rPr>
              <a:t>譲歩速度かなり早め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協調的なのでこちらも協調的にいく</a:t>
            </a:r>
          </a:p>
        </p:txBody>
      </p:sp>
      <p:sp>
        <p:nvSpPr>
          <p:cNvPr id="4" name="日付プレースホルダー 3">
            <a:extLst>
              <a:ext uri="{FF2B5EF4-FFF2-40B4-BE49-F238E27FC236}">
                <a16:creationId xmlns:a16="http://schemas.microsoft.com/office/drawing/2014/main" id="{F9FA3910-EBDA-1F41-B81B-28BEE2E93969}"/>
              </a:ext>
            </a:extLst>
          </p:cNvPr>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420F8E83-7BA4-7043-BE95-A40B16E66B08}"/>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6EAA16D6-C5D5-A045-B31A-A708E0334FB8}"/>
              </a:ext>
            </a:extLst>
          </p:cNvPr>
          <p:cNvSpPr>
            <a:spLocks noGrp="1"/>
          </p:cNvSpPr>
          <p:nvPr>
            <p:ph type="sldNum" sz="quarter" idx="12"/>
          </p:nvPr>
        </p:nvSpPr>
        <p:spPr/>
        <p:txBody>
          <a:bodyPr/>
          <a:lstStyle/>
          <a:p>
            <a:fld id="{2981C279-7323-A845-8A27-BB5908B2F04D}" type="slidenum">
              <a:rPr kumimoji="1" lang="ja-JP" altLang="en-US" smtClean="0"/>
              <a:t>13</a:t>
            </a:fld>
            <a:endParaRPr kumimoji="1" lang="ja-JP" altLang="en-US"/>
          </a:p>
        </p:txBody>
      </p:sp>
      <p:sp>
        <p:nvSpPr>
          <p:cNvPr id="7" name="テキスト プレースホルダー 6">
            <a:extLst>
              <a:ext uri="{FF2B5EF4-FFF2-40B4-BE49-F238E27FC236}">
                <a16:creationId xmlns:a16="http://schemas.microsoft.com/office/drawing/2014/main" id="{5713A6CD-9943-1240-9668-51FF38872FC1}"/>
              </a:ext>
            </a:extLst>
          </p:cNvPr>
          <p:cNvSpPr>
            <a:spLocks noGrp="1"/>
          </p:cNvSpPr>
          <p:nvPr>
            <p:ph type="body" sz="quarter" idx="13"/>
          </p:nvPr>
        </p:nvSpPr>
        <p:spPr/>
        <p:txBody>
          <a:bodyPr/>
          <a:lstStyle/>
          <a:p>
            <a:r>
              <a:rPr lang="en-US" altLang="ja-JP" dirty="0"/>
              <a:t>3</a:t>
            </a:r>
            <a:endParaRPr kumimoji="1" lang="ja-JP" altLang="en-US"/>
          </a:p>
        </p:txBody>
      </p:sp>
      <p:grpSp>
        <p:nvGrpSpPr>
          <p:cNvPr id="8" name="グループ化 7">
            <a:extLst>
              <a:ext uri="{FF2B5EF4-FFF2-40B4-BE49-F238E27FC236}">
                <a16:creationId xmlns:a16="http://schemas.microsoft.com/office/drawing/2014/main" id="{8158F481-D8B0-824A-9D88-C783DF4BE99F}"/>
              </a:ext>
            </a:extLst>
          </p:cNvPr>
          <p:cNvGrpSpPr/>
          <p:nvPr/>
        </p:nvGrpSpPr>
        <p:grpSpPr>
          <a:xfrm>
            <a:off x="163626" y="1160115"/>
            <a:ext cx="4119007" cy="680876"/>
            <a:chOff x="163626" y="1160115"/>
            <a:chExt cx="4119007" cy="680876"/>
          </a:xfrm>
        </p:grpSpPr>
        <p:cxnSp>
          <p:nvCxnSpPr>
            <p:cNvPr id="9" name="直線コネクタ 8">
              <a:extLst>
                <a:ext uri="{FF2B5EF4-FFF2-40B4-BE49-F238E27FC236}">
                  <a16:creationId xmlns:a16="http://schemas.microsoft.com/office/drawing/2014/main" id="{105F614E-8C50-6647-A66A-3865DD7CF086}"/>
                </a:ext>
              </a:extLst>
            </p:cNvPr>
            <p:cNvCxnSpPr>
              <a:cxnSpLocks/>
            </p:cNvCxnSpPr>
            <p:nvPr userDrawn="1"/>
          </p:nvCxnSpPr>
          <p:spPr>
            <a:xfrm>
              <a:off x="163626" y="1699846"/>
              <a:ext cx="4119007"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0A9D68CC-ACEF-2544-BBA3-E630E2AF2B03}"/>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6C4C6E99-A8A8-6542-AE34-DECC83D34A2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各因子に対する戦略</a:t>
            </a:r>
          </a:p>
        </p:txBody>
      </p:sp>
      <p:pic>
        <p:nvPicPr>
          <p:cNvPr id="13" name="図 12">
            <a:extLst>
              <a:ext uri="{FF2B5EF4-FFF2-40B4-BE49-F238E27FC236}">
                <a16:creationId xmlns:a16="http://schemas.microsoft.com/office/drawing/2014/main" id="{D35C34DB-6BAF-4942-9EE7-0D5AF63F5F6B}"/>
              </a:ext>
            </a:extLst>
          </p:cNvPr>
          <p:cNvPicPr>
            <a:picLocks noChangeAspect="1"/>
          </p:cNvPicPr>
          <p:nvPr/>
        </p:nvPicPr>
        <p:blipFill>
          <a:blip r:embed="rId4"/>
          <a:stretch>
            <a:fillRect/>
          </a:stretch>
        </p:blipFill>
        <p:spPr>
          <a:xfrm>
            <a:off x="6233440" y="739364"/>
            <a:ext cx="2944091" cy="2701636"/>
          </a:xfrm>
          <a:prstGeom prst="rect">
            <a:avLst/>
          </a:prstGeom>
        </p:spPr>
      </p:pic>
    </p:spTree>
    <p:extLst>
      <p:ext uri="{BB962C8B-B14F-4D97-AF65-F5344CB8AC3E}">
        <p14:creationId xmlns:p14="http://schemas.microsoft.com/office/powerpoint/2010/main" val="3483905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en-US" altLang="ja-JP" dirty="0"/>
              <a:t>TKI</a:t>
            </a:r>
            <a:r>
              <a:rPr lang="ja-JP" altLang="en-US"/>
              <a:t>は既存研究に倣って</a:t>
            </a:r>
            <a:r>
              <a:rPr lang="en-US" altLang="ja-JP" dirty="0"/>
              <a:t>offer</a:t>
            </a:r>
            <a:r>
              <a:rPr lang="ja-JP" altLang="en-US"/>
              <a:t>のみを</a:t>
            </a:r>
            <a:br>
              <a:rPr lang="en-US" altLang="ja-JP" dirty="0"/>
            </a:br>
            <a:r>
              <a:rPr lang="ja-JP" altLang="en-US"/>
              <a:t>見て計算する</a:t>
            </a:r>
            <a:endParaRPr lang="en-US" altLang="ja-JP" dirty="0"/>
          </a:p>
          <a:p>
            <a:r>
              <a:rPr lang="ja-JP" altLang="en-US"/>
              <a:t>積極性</a:t>
            </a:r>
            <a:endParaRPr lang="en-US" altLang="ja-JP" dirty="0"/>
          </a:p>
          <a:p>
            <a:pPr lvl="1"/>
            <a:r>
              <a:rPr lang="en-US" altLang="ja-JP" dirty="0">
                <a:solidFill>
                  <a:schemeClr val="accent2"/>
                </a:solidFill>
              </a:rPr>
              <a:t>offer</a:t>
            </a:r>
            <a:r>
              <a:rPr lang="ja-JP" altLang="en-US">
                <a:solidFill>
                  <a:schemeClr val="accent2"/>
                </a:solidFill>
              </a:rPr>
              <a:t>の効用の分散</a:t>
            </a:r>
            <a:endParaRPr lang="en-US" altLang="ja-JP" dirty="0">
              <a:solidFill>
                <a:schemeClr val="accent2"/>
              </a:solidFill>
            </a:endParaRPr>
          </a:p>
          <a:p>
            <a:r>
              <a:rPr lang="ja-JP" altLang="en-US"/>
              <a:t>協調性</a:t>
            </a:r>
            <a:endParaRPr lang="en-US" altLang="ja-JP" dirty="0"/>
          </a:p>
          <a:p>
            <a:pPr lvl="1"/>
            <a:r>
              <a:rPr lang="en-US" altLang="ja-JP" dirty="0">
                <a:solidFill>
                  <a:schemeClr val="accent2"/>
                </a:solidFill>
              </a:rPr>
              <a:t>offer</a:t>
            </a:r>
            <a:r>
              <a:rPr lang="ja-JP" altLang="en-US">
                <a:solidFill>
                  <a:schemeClr val="accent2"/>
                </a:solidFill>
              </a:rPr>
              <a:t>の効用の平均</a:t>
            </a:r>
            <a:endParaRPr lang="en-US" altLang="ja-JP" dirty="0">
              <a:solidFill>
                <a:schemeClr val="accent2"/>
              </a:solidFill>
            </a:endParaRPr>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14</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pic>
        <p:nvPicPr>
          <p:cNvPr id="8" name="図 7">
            <a:extLst>
              <a:ext uri="{FF2B5EF4-FFF2-40B4-BE49-F238E27FC236}">
                <a16:creationId xmlns:a16="http://schemas.microsoft.com/office/drawing/2014/main" id="{0346007D-8C6E-9D43-A93D-32A8EAF616FB}"/>
              </a:ext>
            </a:extLst>
          </p:cNvPr>
          <p:cNvPicPr>
            <a:picLocks noChangeAspect="1"/>
          </p:cNvPicPr>
          <p:nvPr/>
        </p:nvPicPr>
        <p:blipFill>
          <a:blip r:embed="rId2"/>
          <a:stretch>
            <a:fillRect/>
          </a:stretch>
        </p:blipFill>
        <p:spPr>
          <a:xfrm>
            <a:off x="6852228" y="775855"/>
            <a:ext cx="2424545" cy="2436091"/>
          </a:xfrm>
          <a:prstGeom prst="rect">
            <a:avLst/>
          </a:prstGeom>
        </p:spPr>
      </p:pic>
      <p:grpSp>
        <p:nvGrpSpPr>
          <p:cNvPr id="49" name="グループ化 48">
            <a:extLst>
              <a:ext uri="{FF2B5EF4-FFF2-40B4-BE49-F238E27FC236}">
                <a16:creationId xmlns:a16="http://schemas.microsoft.com/office/drawing/2014/main" id="{4A1DCD86-EC7C-D94F-9543-2542E07FCF9E}"/>
              </a:ext>
            </a:extLst>
          </p:cNvPr>
          <p:cNvGrpSpPr/>
          <p:nvPr/>
        </p:nvGrpSpPr>
        <p:grpSpPr>
          <a:xfrm>
            <a:off x="163626" y="1160115"/>
            <a:ext cx="3684474" cy="680876"/>
            <a:chOff x="163626" y="1160115"/>
            <a:chExt cx="3684474" cy="680876"/>
          </a:xfrm>
        </p:grpSpPr>
        <p:cxnSp>
          <p:nvCxnSpPr>
            <p:cNvPr id="50" name="直線コネクタ 49">
              <a:extLst>
                <a:ext uri="{FF2B5EF4-FFF2-40B4-BE49-F238E27FC236}">
                  <a16:creationId xmlns:a16="http://schemas.microsoft.com/office/drawing/2014/main" id="{7B8438C3-255D-2342-B7A7-47F3D09E4268}"/>
                </a:ext>
              </a:extLst>
            </p:cNvPr>
            <p:cNvCxnSpPr>
              <a:cxnSpLocks/>
            </p:cNvCxnSpPr>
            <p:nvPr userDrawn="1"/>
          </p:nvCxnSpPr>
          <p:spPr>
            <a:xfrm>
              <a:off x="163626" y="1699846"/>
              <a:ext cx="36844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51" name="正方形/長方形 50">
              <a:extLst>
                <a:ext uri="{FF2B5EF4-FFF2-40B4-BE49-F238E27FC236}">
                  <a16:creationId xmlns:a16="http://schemas.microsoft.com/office/drawing/2014/main" id="{2AE0D65B-7565-FB40-9C37-D7CF86EEB71F}"/>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2" name="テキスト プレースホルダー 12">
            <a:extLst>
              <a:ext uri="{FF2B5EF4-FFF2-40B4-BE49-F238E27FC236}">
                <a16:creationId xmlns:a16="http://schemas.microsoft.com/office/drawing/2014/main" id="{5DC7C6B9-911C-704B-84BA-7314DB36767A}"/>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各尺度の計算</a:t>
            </a:r>
            <a:r>
              <a:rPr lang="en-US" altLang="ja-JP" dirty="0"/>
              <a:t>(TKI)</a:t>
            </a:r>
            <a:endParaRPr lang="ja-JP" altLang="en-US"/>
          </a:p>
        </p:txBody>
      </p:sp>
    </p:spTree>
    <p:extLst>
      <p:ext uri="{BB962C8B-B14F-4D97-AF65-F5344CB8AC3E}">
        <p14:creationId xmlns:p14="http://schemas.microsoft.com/office/powerpoint/2010/main" val="32513027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ja-JP" altLang="en-US"/>
              <a:t>競争</a:t>
            </a:r>
            <a:endParaRPr lang="en-US" altLang="ja-JP" dirty="0"/>
          </a:p>
          <a:p>
            <a:pPr lvl="1"/>
            <a:r>
              <a:rPr lang="ja-JP" altLang="en-US">
                <a:solidFill>
                  <a:schemeClr val="accent1"/>
                </a:solidFill>
              </a:rPr>
              <a:t>譲歩速度かなり遅め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積極性が高く協調性が低い→かなり強硬になる</a:t>
            </a:r>
            <a:br>
              <a:rPr lang="en-US" altLang="ja-JP" dirty="0"/>
            </a:br>
            <a:r>
              <a:rPr lang="ja-JP" altLang="en-US"/>
              <a:t>必要がある</a:t>
            </a:r>
            <a:endParaRPr lang="en-US" altLang="ja-JP" dirty="0"/>
          </a:p>
          <a:p>
            <a:r>
              <a:rPr lang="ja-JP" altLang="en-US"/>
              <a:t>順応</a:t>
            </a:r>
            <a:endParaRPr lang="en-US" altLang="ja-JP" dirty="0"/>
          </a:p>
          <a:p>
            <a:pPr lvl="1"/>
            <a:r>
              <a:rPr lang="ja-JP" altLang="en-US">
                <a:solidFill>
                  <a:schemeClr val="accent2"/>
                </a:solidFill>
              </a:rPr>
              <a:t>譲歩速度かなり早め</a:t>
            </a:r>
            <a:r>
              <a:rPr lang="ja-JP" altLang="en-US"/>
              <a:t>・</a:t>
            </a:r>
            <a:r>
              <a:rPr lang="ja-JP" altLang="en-US">
                <a:solidFill>
                  <a:schemeClr val="accent2"/>
                </a:solidFill>
              </a:rPr>
              <a:t>行動頻度高め</a:t>
            </a:r>
            <a:endParaRPr lang="en-US" altLang="ja-JP" dirty="0">
              <a:solidFill>
                <a:schemeClr val="accent2"/>
              </a:solidFill>
            </a:endParaRPr>
          </a:p>
          <a:p>
            <a:pPr lvl="2"/>
            <a:r>
              <a:rPr lang="ja-JP" altLang="en-US"/>
              <a:t>積極性が低く協調性が高い→かなり譲歩しても良い</a:t>
            </a:r>
            <a:endParaRPr lang="en-US" altLang="ja-JP" dirty="0"/>
          </a:p>
          <a:p>
            <a:r>
              <a:rPr lang="ja-JP" altLang="en-US"/>
              <a:t>共存</a:t>
            </a:r>
            <a:endParaRPr lang="en-US" altLang="ja-JP" dirty="0"/>
          </a:p>
          <a:p>
            <a:pPr lvl="1"/>
            <a:r>
              <a:rPr lang="ja-JP" altLang="en-US">
                <a:solidFill>
                  <a:schemeClr val="accent2"/>
                </a:solidFill>
              </a:rPr>
              <a:t>譲歩速度早め</a:t>
            </a:r>
            <a:r>
              <a:rPr lang="ja-JP" altLang="en-US"/>
              <a:t>・</a:t>
            </a:r>
            <a:r>
              <a:rPr lang="ja-JP" altLang="en-US">
                <a:solidFill>
                  <a:schemeClr val="accent1"/>
                </a:solidFill>
              </a:rPr>
              <a:t>行動頻度低め</a:t>
            </a:r>
            <a:endParaRPr lang="en-US" altLang="ja-JP" dirty="0">
              <a:solidFill>
                <a:schemeClr val="accent1"/>
              </a:solidFill>
            </a:endParaRPr>
          </a:p>
          <a:p>
            <a:pPr lvl="2"/>
            <a:r>
              <a:rPr lang="ja-JP" altLang="en-US"/>
              <a:t>積極性が高く協調性が高い→結構譲歩しても良い</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15</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kumimoji="1" lang="en-US" altLang="ja-JP" dirty="0"/>
              <a:t>3</a:t>
            </a:r>
            <a:endParaRPr kumimoji="1" lang="ja-JP" altLang="en-US"/>
          </a:p>
        </p:txBody>
      </p:sp>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4825063" cy="680876"/>
            <a:chOff x="163626" y="1160115"/>
            <a:chExt cx="4825063"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48250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pic>
        <p:nvPicPr>
          <p:cNvPr id="24" name="図 23">
            <a:extLst>
              <a:ext uri="{FF2B5EF4-FFF2-40B4-BE49-F238E27FC236}">
                <a16:creationId xmlns:a16="http://schemas.microsoft.com/office/drawing/2014/main" id="{39778870-0A91-924F-B16B-3C5399177616}"/>
              </a:ext>
            </a:extLst>
          </p:cNvPr>
          <p:cNvPicPr>
            <a:picLocks noChangeAspect="1"/>
          </p:cNvPicPr>
          <p:nvPr/>
        </p:nvPicPr>
        <p:blipFill>
          <a:blip r:embed="rId4"/>
          <a:stretch>
            <a:fillRect/>
          </a:stretch>
        </p:blipFill>
        <p:spPr>
          <a:xfrm>
            <a:off x="6852228" y="775855"/>
            <a:ext cx="2424545" cy="2436091"/>
          </a:xfrm>
          <a:prstGeom prst="rect">
            <a:avLst/>
          </a:prstGeom>
        </p:spPr>
      </p:pic>
    </p:spTree>
    <p:extLst>
      <p:ext uri="{BB962C8B-B14F-4D97-AF65-F5344CB8AC3E}">
        <p14:creationId xmlns:p14="http://schemas.microsoft.com/office/powerpoint/2010/main" val="21814385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E22F177-332F-5F41-A229-B64AAEC4D973}"/>
              </a:ext>
            </a:extLst>
          </p:cNvPr>
          <p:cNvSpPr>
            <a:spLocks noGrp="1"/>
          </p:cNvSpPr>
          <p:nvPr>
            <p:ph type="title"/>
          </p:nvPr>
        </p:nvSpPr>
        <p:spPr/>
        <p:txBody>
          <a:bodyPr/>
          <a:lstStyle/>
          <a:p>
            <a:r>
              <a:rPr lang="ja-JP" altLang="en-US"/>
              <a:t>進捗</a:t>
            </a:r>
            <a:endParaRPr kumimoji="1" lang="ja-JP" altLang="en-US"/>
          </a:p>
        </p:txBody>
      </p:sp>
      <p:sp>
        <p:nvSpPr>
          <p:cNvPr id="3" name="コンテンツ プレースホルダー 2">
            <a:extLst>
              <a:ext uri="{FF2B5EF4-FFF2-40B4-BE49-F238E27FC236}">
                <a16:creationId xmlns:a16="http://schemas.microsoft.com/office/drawing/2014/main" id="{7CD37B2B-E32E-2D43-8143-0B7A29E79BB5}"/>
              </a:ext>
            </a:extLst>
          </p:cNvPr>
          <p:cNvSpPr>
            <a:spLocks noGrp="1"/>
          </p:cNvSpPr>
          <p:nvPr>
            <p:ph idx="1"/>
          </p:nvPr>
        </p:nvSpPr>
        <p:spPr>
          <a:xfrm>
            <a:off x="194898" y="1884383"/>
            <a:ext cx="8859709" cy="4648461"/>
          </a:xfrm>
        </p:spPr>
        <p:txBody>
          <a:bodyPr/>
          <a:lstStyle/>
          <a:p>
            <a:r>
              <a:rPr lang="ja-JP" altLang="en-US"/>
              <a:t>回避</a:t>
            </a:r>
            <a:endParaRPr lang="en-US" altLang="ja-JP" dirty="0"/>
          </a:p>
          <a:p>
            <a:pPr lvl="1"/>
            <a:r>
              <a:rPr lang="ja-JP" altLang="en-US">
                <a:solidFill>
                  <a:schemeClr val="accent1"/>
                </a:solidFill>
              </a:rPr>
              <a:t>譲歩速度遅め</a:t>
            </a:r>
            <a:r>
              <a:rPr lang="ja-JP" altLang="en-US"/>
              <a:t>・</a:t>
            </a:r>
            <a:r>
              <a:rPr lang="ja-JP" altLang="en-US">
                <a:solidFill>
                  <a:schemeClr val="accent2"/>
                </a:solidFill>
              </a:rPr>
              <a:t>行動頻度高め</a:t>
            </a:r>
            <a:endParaRPr lang="en-US" altLang="ja-JP" dirty="0">
              <a:solidFill>
                <a:schemeClr val="accent2"/>
              </a:solidFill>
            </a:endParaRPr>
          </a:p>
          <a:p>
            <a:pPr lvl="2"/>
            <a:r>
              <a:rPr lang="ja-JP" altLang="en-US"/>
              <a:t>積極性が低く協調性が低い→結構強硬になる</a:t>
            </a:r>
            <a:br>
              <a:rPr lang="en-US" altLang="ja-JP" dirty="0"/>
            </a:br>
            <a:r>
              <a:rPr lang="ja-JP" altLang="en-US"/>
              <a:t>必要がある</a:t>
            </a:r>
            <a:endParaRPr lang="en-US" altLang="ja-JP" dirty="0"/>
          </a:p>
          <a:p>
            <a:r>
              <a:rPr lang="ja-JP" altLang="en-US"/>
              <a:t>妥協</a:t>
            </a:r>
            <a:endParaRPr lang="en-US" altLang="ja-JP" dirty="0"/>
          </a:p>
          <a:p>
            <a:pPr lvl="1"/>
            <a:r>
              <a:rPr lang="ja-JP" altLang="en-US">
                <a:solidFill>
                  <a:schemeClr val="accent2"/>
                </a:solidFill>
              </a:rPr>
              <a:t>譲歩速度やや早め</a:t>
            </a:r>
            <a:r>
              <a:rPr lang="ja-JP" altLang="en-US"/>
              <a:t>・</a:t>
            </a:r>
            <a:r>
              <a:rPr lang="ja-JP" altLang="en-US">
                <a:solidFill>
                  <a:schemeClr val="accent2"/>
                </a:solidFill>
              </a:rPr>
              <a:t>行動頻度やや高め</a:t>
            </a:r>
            <a:endParaRPr lang="en-US" altLang="ja-JP" dirty="0">
              <a:solidFill>
                <a:schemeClr val="accent2"/>
              </a:solidFill>
            </a:endParaRPr>
          </a:p>
          <a:p>
            <a:pPr lvl="2"/>
            <a:r>
              <a:rPr lang="ja-JP" altLang="en-US"/>
              <a:t>積極性も協調性も中程度→譲歩速度なども中程度</a:t>
            </a:r>
            <a:endParaRPr lang="en-US" altLang="ja-JP" dirty="0"/>
          </a:p>
        </p:txBody>
      </p:sp>
      <p:sp>
        <p:nvSpPr>
          <p:cNvPr id="4" name="日付プレースホルダー 3">
            <a:extLst>
              <a:ext uri="{FF2B5EF4-FFF2-40B4-BE49-F238E27FC236}">
                <a16:creationId xmlns:a16="http://schemas.microsoft.com/office/drawing/2014/main" id="{E4EF7AA8-53FB-7E4A-A9B0-6DF5A6524C9B}"/>
              </a:ext>
            </a:extLst>
          </p:cNvPr>
          <p:cNvSpPr>
            <a:spLocks noGrp="1"/>
          </p:cNvSpPr>
          <p:nvPr>
            <p:ph type="dt" sz="half" idx="10"/>
          </p:nvPr>
        </p:nvSpPr>
        <p:spPr/>
        <p:txBody>
          <a:bodyPr/>
          <a:lstStyle/>
          <a:p>
            <a:fld id="{3F260AC5-1500-5F46-BA22-957002E89723}"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CDDCEAA7-DB51-9D4A-A5D9-EA182BCDE7D0}"/>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CFF0470-4ED4-8840-B291-82487CD4C67A}"/>
              </a:ext>
            </a:extLst>
          </p:cNvPr>
          <p:cNvSpPr>
            <a:spLocks noGrp="1"/>
          </p:cNvSpPr>
          <p:nvPr>
            <p:ph type="sldNum" sz="quarter" idx="12"/>
          </p:nvPr>
        </p:nvSpPr>
        <p:spPr/>
        <p:txBody>
          <a:bodyPr/>
          <a:lstStyle/>
          <a:p>
            <a:fld id="{2981C279-7323-A845-8A27-BB5908B2F04D}" type="slidenum">
              <a:rPr kumimoji="1" lang="ja-JP" altLang="en-US" smtClean="0"/>
              <a:t>16</a:t>
            </a:fld>
            <a:endParaRPr kumimoji="1" lang="ja-JP" altLang="en-US"/>
          </a:p>
        </p:txBody>
      </p:sp>
      <p:sp>
        <p:nvSpPr>
          <p:cNvPr id="7" name="テキスト プレースホルダー 6">
            <a:extLst>
              <a:ext uri="{FF2B5EF4-FFF2-40B4-BE49-F238E27FC236}">
                <a16:creationId xmlns:a16="http://schemas.microsoft.com/office/drawing/2014/main" id="{E658A242-3CAD-F343-813E-CAC67C250459}"/>
              </a:ext>
            </a:extLst>
          </p:cNvPr>
          <p:cNvSpPr>
            <a:spLocks noGrp="1"/>
          </p:cNvSpPr>
          <p:nvPr>
            <p:ph type="body" sz="quarter" idx="13"/>
          </p:nvPr>
        </p:nvSpPr>
        <p:spPr/>
        <p:txBody>
          <a:bodyPr/>
          <a:lstStyle/>
          <a:p>
            <a:r>
              <a:rPr lang="en-US" altLang="ja-JP" dirty="0"/>
              <a:t>3</a:t>
            </a:r>
            <a:endParaRPr kumimoji="1" lang="ja-JP" altLang="en-US"/>
          </a:p>
        </p:txBody>
      </p:sp>
      <p:grpSp>
        <p:nvGrpSpPr>
          <p:cNvPr id="13" name="グループ化 12">
            <a:extLst>
              <a:ext uri="{FF2B5EF4-FFF2-40B4-BE49-F238E27FC236}">
                <a16:creationId xmlns:a16="http://schemas.microsoft.com/office/drawing/2014/main" id="{DB06526F-F23C-BA41-9B0E-AB988845095F}"/>
              </a:ext>
            </a:extLst>
          </p:cNvPr>
          <p:cNvGrpSpPr/>
          <p:nvPr/>
        </p:nvGrpSpPr>
        <p:grpSpPr>
          <a:xfrm>
            <a:off x="163626" y="1160115"/>
            <a:ext cx="4825063" cy="680876"/>
            <a:chOff x="163626" y="1160115"/>
            <a:chExt cx="4825063" cy="680876"/>
          </a:xfrm>
        </p:grpSpPr>
        <p:cxnSp>
          <p:nvCxnSpPr>
            <p:cNvPr id="14" name="直線コネクタ 13">
              <a:extLst>
                <a:ext uri="{FF2B5EF4-FFF2-40B4-BE49-F238E27FC236}">
                  <a16:creationId xmlns:a16="http://schemas.microsoft.com/office/drawing/2014/main" id="{ECBE760E-BBDC-014B-966D-F74E11AEE302}"/>
                </a:ext>
              </a:extLst>
            </p:cNvPr>
            <p:cNvCxnSpPr>
              <a:cxnSpLocks/>
            </p:cNvCxnSpPr>
            <p:nvPr userDrawn="1"/>
          </p:nvCxnSpPr>
          <p:spPr>
            <a:xfrm>
              <a:off x="163626" y="1699846"/>
              <a:ext cx="48250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7" name="正方形/長方形 16">
              <a:extLst>
                <a:ext uri="{FF2B5EF4-FFF2-40B4-BE49-F238E27FC236}">
                  <a16:creationId xmlns:a16="http://schemas.microsoft.com/office/drawing/2014/main" id="{572BC2EB-1306-9541-AC4B-42FBACEFB9A1}"/>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1" name="テキスト プレースホルダー 12">
            <a:extLst>
              <a:ext uri="{FF2B5EF4-FFF2-40B4-BE49-F238E27FC236}">
                <a16:creationId xmlns:a16="http://schemas.microsoft.com/office/drawing/2014/main" id="{67C6B88C-5AB3-2842-86B2-570E76EF5956}"/>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各カテゴリに対する戦略</a:t>
            </a:r>
          </a:p>
        </p:txBody>
      </p:sp>
      <p:pic>
        <p:nvPicPr>
          <p:cNvPr id="15" name="図 14">
            <a:extLst>
              <a:ext uri="{FF2B5EF4-FFF2-40B4-BE49-F238E27FC236}">
                <a16:creationId xmlns:a16="http://schemas.microsoft.com/office/drawing/2014/main" id="{9DBE6782-206A-FE4A-B88F-EDDB3099B537}"/>
              </a:ext>
            </a:extLst>
          </p:cNvPr>
          <p:cNvPicPr>
            <a:picLocks noChangeAspect="1"/>
          </p:cNvPicPr>
          <p:nvPr/>
        </p:nvPicPr>
        <p:blipFill>
          <a:blip r:embed="rId4"/>
          <a:stretch>
            <a:fillRect/>
          </a:stretch>
        </p:blipFill>
        <p:spPr>
          <a:xfrm>
            <a:off x="6852228" y="775855"/>
            <a:ext cx="2424545" cy="2436091"/>
          </a:xfrm>
          <a:prstGeom prst="rect">
            <a:avLst/>
          </a:prstGeom>
        </p:spPr>
      </p:pic>
    </p:spTree>
    <p:extLst>
      <p:ext uri="{BB962C8B-B14F-4D97-AF65-F5344CB8AC3E}">
        <p14:creationId xmlns:p14="http://schemas.microsoft.com/office/powerpoint/2010/main" val="39896855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9FE9D37-1556-A54D-8C18-E2238ED6CB6A}"/>
              </a:ext>
            </a:extLst>
          </p:cNvPr>
          <p:cNvSpPr>
            <a:spLocks noGrp="1"/>
          </p:cNvSpPr>
          <p:nvPr>
            <p:ph type="title"/>
          </p:nvPr>
        </p:nvSpPr>
        <p:spPr/>
        <p:txBody>
          <a:bodyPr/>
          <a:lstStyle/>
          <a:p>
            <a:r>
              <a:rPr kumimoji="1" lang="ja-JP" altLang="en-US"/>
              <a:t>進捗</a:t>
            </a:r>
          </a:p>
        </p:txBody>
      </p:sp>
      <p:sp>
        <p:nvSpPr>
          <p:cNvPr id="3" name="コンテンツ プレースホルダー 2">
            <a:extLst>
              <a:ext uri="{FF2B5EF4-FFF2-40B4-BE49-F238E27FC236}">
                <a16:creationId xmlns:a16="http://schemas.microsoft.com/office/drawing/2014/main" id="{63F09D27-4FAE-9742-9E6E-22CEE05C2E27}"/>
              </a:ext>
            </a:extLst>
          </p:cNvPr>
          <p:cNvSpPr>
            <a:spLocks noGrp="1"/>
          </p:cNvSpPr>
          <p:nvPr>
            <p:ph idx="1"/>
          </p:nvPr>
        </p:nvSpPr>
        <p:spPr>
          <a:xfrm>
            <a:off x="194898" y="1884384"/>
            <a:ext cx="8859709" cy="2408208"/>
          </a:xfrm>
        </p:spPr>
        <p:txBody>
          <a:bodyPr/>
          <a:lstStyle/>
          <a:p>
            <a:r>
              <a:rPr kumimoji="1" lang="en-US" altLang="ja-JP" dirty="0"/>
              <a:t>BIG5</a:t>
            </a:r>
            <a:r>
              <a:rPr kumimoji="1" lang="ja-JP" altLang="en-US"/>
              <a:t>・</a:t>
            </a:r>
            <a:r>
              <a:rPr kumimoji="1" lang="en-US" altLang="ja-JP" dirty="0"/>
              <a:t>TKI</a:t>
            </a:r>
            <a:r>
              <a:rPr kumimoji="1" lang="ja-JP" altLang="en-US"/>
              <a:t>の各尺度の計算部分</a:t>
            </a:r>
            <a:endParaRPr kumimoji="1" lang="en-US" altLang="ja-JP" dirty="0"/>
          </a:p>
        </p:txBody>
      </p:sp>
      <p:sp>
        <p:nvSpPr>
          <p:cNvPr id="4" name="日付プレースホルダー 3">
            <a:extLst>
              <a:ext uri="{FF2B5EF4-FFF2-40B4-BE49-F238E27FC236}">
                <a16:creationId xmlns:a16="http://schemas.microsoft.com/office/drawing/2014/main" id="{F60631D8-99ED-BE47-95E7-F856DB0FE75E}"/>
              </a:ext>
            </a:extLst>
          </p:cNvPr>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8F19B10F-1A60-234A-8227-57F8B7D50B94}"/>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20CC2C62-6ECC-3640-94F3-D7C828004A67}"/>
              </a:ext>
            </a:extLst>
          </p:cNvPr>
          <p:cNvSpPr>
            <a:spLocks noGrp="1"/>
          </p:cNvSpPr>
          <p:nvPr>
            <p:ph type="sldNum" sz="quarter" idx="12"/>
          </p:nvPr>
        </p:nvSpPr>
        <p:spPr/>
        <p:txBody>
          <a:bodyPr/>
          <a:lstStyle/>
          <a:p>
            <a:fld id="{2981C279-7323-A845-8A27-BB5908B2F04D}" type="slidenum">
              <a:rPr kumimoji="1" lang="ja-JP" altLang="en-US" smtClean="0"/>
              <a:t>17</a:t>
            </a:fld>
            <a:endParaRPr kumimoji="1" lang="ja-JP" altLang="en-US"/>
          </a:p>
        </p:txBody>
      </p:sp>
      <p:sp>
        <p:nvSpPr>
          <p:cNvPr id="7" name="テキスト プレースホルダー 6">
            <a:extLst>
              <a:ext uri="{FF2B5EF4-FFF2-40B4-BE49-F238E27FC236}">
                <a16:creationId xmlns:a16="http://schemas.microsoft.com/office/drawing/2014/main" id="{A5A901D5-8309-8048-95AE-B27C916CE032}"/>
              </a:ext>
            </a:extLst>
          </p:cNvPr>
          <p:cNvSpPr>
            <a:spLocks noGrp="1"/>
          </p:cNvSpPr>
          <p:nvPr>
            <p:ph type="body" sz="quarter" idx="13"/>
          </p:nvPr>
        </p:nvSpPr>
        <p:spPr/>
        <p:txBody>
          <a:bodyPr/>
          <a:lstStyle/>
          <a:p>
            <a:r>
              <a:rPr kumimoji="1" lang="en-US" altLang="ja-JP" dirty="0"/>
              <a:t>3</a:t>
            </a:r>
            <a:endParaRPr kumimoji="1" lang="ja-JP" altLang="en-US"/>
          </a:p>
        </p:txBody>
      </p:sp>
      <p:grpSp>
        <p:nvGrpSpPr>
          <p:cNvPr id="8" name="グループ化 7">
            <a:extLst>
              <a:ext uri="{FF2B5EF4-FFF2-40B4-BE49-F238E27FC236}">
                <a16:creationId xmlns:a16="http://schemas.microsoft.com/office/drawing/2014/main" id="{FF96378B-B37A-B94F-A6D5-C3D7ABE3BE3C}"/>
              </a:ext>
            </a:extLst>
          </p:cNvPr>
          <p:cNvGrpSpPr/>
          <p:nvPr/>
        </p:nvGrpSpPr>
        <p:grpSpPr>
          <a:xfrm>
            <a:off x="163626" y="1160115"/>
            <a:ext cx="1614374" cy="680876"/>
            <a:chOff x="163626" y="1160115"/>
            <a:chExt cx="1614374" cy="680876"/>
          </a:xfrm>
        </p:grpSpPr>
        <p:cxnSp>
          <p:nvCxnSpPr>
            <p:cNvPr id="9" name="直線コネクタ 8">
              <a:extLst>
                <a:ext uri="{FF2B5EF4-FFF2-40B4-BE49-F238E27FC236}">
                  <a16:creationId xmlns:a16="http://schemas.microsoft.com/office/drawing/2014/main" id="{E5ED9766-1A83-C44B-9600-C34FCA2D94CB}"/>
                </a:ext>
              </a:extLst>
            </p:cNvPr>
            <p:cNvCxnSpPr>
              <a:cxnSpLocks/>
            </p:cNvCxnSpPr>
            <p:nvPr userDrawn="1"/>
          </p:nvCxnSpPr>
          <p:spPr>
            <a:xfrm>
              <a:off x="163626" y="1699846"/>
              <a:ext cx="16143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2A51F74A-49D8-EE4D-9634-9E5B1A9CEDB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18E2AD78-D212-7C49-B5EB-5C1F860A1A20}"/>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実装済</a:t>
            </a:r>
          </a:p>
        </p:txBody>
      </p:sp>
      <p:sp>
        <p:nvSpPr>
          <p:cNvPr id="19" name="コンテンツ プレースホルダー 2">
            <a:extLst>
              <a:ext uri="{FF2B5EF4-FFF2-40B4-BE49-F238E27FC236}">
                <a16:creationId xmlns:a16="http://schemas.microsoft.com/office/drawing/2014/main" id="{8E62CAFB-C679-A04C-94F4-19645941F033}"/>
              </a:ext>
            </a:extLst>
          </p:cNvPr>
          <p:cNvSpPr txBox="1">
            <a:spLocks/>
          </p:cNvSpPr>
          <p:nvPr/>
        </p:nvSpPr>
        <p:spPr>
          <a:xfrm>
            <a:off x="194898" y="3320406"/>
            <a:ext cx="8859709" cy="2408208"/>
          </a:xfrm>
          <a:prstGeom prst="rect">
            <a:avLst/>
          </a:prstGeom>
        </p:spPr>
        <p:txBody>
          <a:bodyPr vert="horz" lIns="91440" tIns="45720" rIns="91440" bIns="45720" rtlCol="0">
            <a:noAutofit/>
          </a:bodyPr>
          <a:lstStyle>
            <a:lvl1pPr marL="231775" indent="-231775" algn="l" defTabSz="914400" rtl="0" eaLnBrk="1" latinLnBrk="0" hangingPunct="1">
              <a:lnSpc>
                <a:spcPct val="90000"/>
              </a:lnSpc>
              <a:spcBef>
                <a:spcPts val="1000"/>
              </a:spcBef>
              <a:buSzPct val="100000"/>
              <a:buFontTx/>
              <a:buBlip>
                <a:blip r:embed="rId4"/>
              </a:buBlip>
              <a:tabLst/>
              <a:defRPr kumimoji="1" sz="28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10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pPr marL="0" indent="0">
              <a:buNone/>
            </a:pPr>
            <a:endParaRPr lang="en-US" altLang="ja-JP" dirty="0"/>
          </a:p>
          <a:p>
            <a:r>
              <a:rPr lang="ja-JP" altLang="en-US"/>
              <a:t>各因子・各カテゴリごとの戦略</a:t>
            </a:r>
            <a:endParaRPr lang="en-US" altLang="ja-JP" dirty="0"/>
          </a:p>
          <a:p>
            <a:pPr lvl="1"/>
            <a:r>
              <a:rPr lang="ja-JP" altLang="en-US"/>
              <a:t>この部分はシミュレーションを行う必要があるかも？</a:t>
            </a:r>
            <a:endParaRPr lang="en-US" altLang="ja-JP" dirty="0"/>
          </a:p>
          <a:p>
            <a:r>
              <a:rPr lang="ja-JP" altLang="en-US"/>
              <a:t>その他実験を行うための部分</a:t>
            </a:r>
            <a:r>
              <a:rPr lang="en-US" altLang="ja-JP" dirty="0"/>
              <a:t>(</a:t>
            </a:r>
            <a:r>
              <a:rPr lang="ja-JP" altLang="en-US"/>
              <a:t>データの保存など</a:t>
            </a:r>
            <a:r>
              <a:rPr lang="en-US" altLang="ja-JP" dirty="0"/>
              <a:t>)</a:t>
            </a:r>
          </a:p>
        </p:txBody>
      </p:sp>
      <p:grpSp>
        <p:nvGrpSpPr>
          <p:cNvPr id="20" name="グループ化 19">
            <a:extLst>
              <a:ext uri="{FF2B5EF4-FFF2-40B4-BE49-F238E27FC236}">
                <a16:creationId xmlns:a16="http://schemas.microsoft.com/office/drawing/2014/main" id="{570205A5-AEE5-144A-A73C-B55BB3288385}"/>
              </a:ext>
            </a:extLst>
          </p:cNvPr>
          <p:cNvGrpSpPr/>
          <p:nvPr/>
        </p:nvGrpSpPr>
        <p:grpSpPr>
          <a:xfrm>
            <a:off x="163626" y="2596137"/>
            <a:ext cx="1614374" cy="680876"/>
            <a:chOff x="163626" y="1160115"/>
            <a:chExt cx="1614374" cy="680876"/>
          </a:xfrm>
        </p:grpSpPr>
        <p:cxnSp>
          <p:nvCxnSpPr>
            <p:cNvPr id="21" name="直線コネクタ 20">
              <a:extLst>
                <a:ext uri="{FF2B5EF4-FFF2-40B4-BE49-F238E27FC236}">
                  <a16:creationId xmlns:a16="http://schemas.microsoft.com/office/drawing/2014/main" id="{C2E7BB4D-781F-454F-A767-5BE5C2B05AC7}"/>
                </a:ext>
              </a:extLst>
            </p:cNvPr>
            <p:cNvCxnSpPr>
              <a:cxnSpLocks/>
            </p:cNvCxnSpPr>
            <p:nvPr userDrawn="1"/>
          </p:nvCxnSpPr>
          <p:spPr>
            <a:xfrm>
              <a:off x="163626" y="1699846"/>
              <a:ext cx="16143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2" name="正方形/長方形 21">
              <a:extLst>
                <a:ext uri="{FF2B5EF4-FFF2-40B4-BE49-F238E27FC236}">
                  <a16:creationId xmlns:a16="http://schemas.microsoft.com/office/drawing/2014/main" id="{9CB042B8-6D7E-B44F-A99A-2048E24A362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3" name="テキスト プレースホルダー 12">
            <a:extLst>
              <a:ext uri="{FF2B5EF4-FFF2-40B4-BE49-F238E27FC236}">
                <a16:creationId xmlns:a16="http://schemas.microsoft.com/office/drawing/2014/main" id="{099FF659-9941-2942-A7E9-6B3AAE16C1DF}"/>
              </a:ext>
            </a:extLst>
          </p:cNvPr>
          <p:cNvSpPr txBox="1">
            <a:spLocks/>
          </p:cNvSpPr>
          <p:nvPr/>
        </p:nvSpPr>
        <p:spPr>
          <a:xfrm>
            <a:off x="404691" y="2628748"/>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実装中</a:t>
            </a:r>
          </a:p>
        </p:txBody>
      </p:sp>
    </p:spTree>
    <p:extLst>
      <p:ext uri="{BB962C8B-B14F-4D97-AF65-F5344CB8AC3E}">
        <p14:creationId xmlns:p14="http://schemas.microsoft.com/office/powerpoint/2010/main" val="1709218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90DB537-1938-254E-9646-E1F659D7D94F}"/>
              </a:ext>
            </a:extLst>
          </p:cNvPr>
          <p:cNvSpPr>
            <a:spLocks noGrp="1"/>
          </p:cNvSpPr>
          <p:nvPr>
            <p:ph type="title"/>
          </p:nvPr>
        </p:nvSpPr>
        <p:spPr/>
        <p:txBody>
          <a:bodyPr/>
          <a:lstStyle/>
          <a:p>
            <a:r>
              <a:rPr lang="ja-JP" altLang="en-US"/>
              <a:t>補足資料</a:t>
            </a:r>
            <a:endParaRPr kumimoji="1" lang="ja-JP" altLang="en-US"/>
          </a:p>
        </p:txBody>
      </p:sp>
      <mc:AlternateContent xmlns:mc="http://schemas.openxmlformats.org/markup-compatibility/2006" xmlns:a14="http://schemas.microsoft.com/office/drawing/2010/main">
        <mc:Choice Requires="a14">
          <p:sp>
            <p:nvSpPr>
              <p:cNvPr id="3" name="コンテンツ プレースホルダー 2">
                <a:extLst>
                  <a:ext uri="{FF2B5EF4-FFF2-40B4-BE49-F238E27FC236}">
                    <a16:creationId xmlns:a16="http://schemas.microsoft.com/office/drawing/2014/main" id="{6229DDA1-6C79-D941-87FB-D426CD549B15}"/>
                  </a:ext>
                </a:extLst>
              </p:cNvPr>
              <p:cNvSpPr>
                <a:spLocks noGrp="1"/>
              </p:cNvSpPr>
              <p:nvPr>
                <p:ph idx="1"/>
              </p:nvPr>
            </p:nvSpPr>
            <p:spPr>
              <a:xfrm>
                <a:off x="194898" y="1884384"/>
                <a:ext cx="8859709" cy="3463117"/>
              </a:xfrm>
            </p:spPr>
            <p:txBody>
              <a:bodyPr/>
              <a:lstStyle/>
              <a:p>
                <a:r>
                  <a:rPr kumimoji="1" lang="ja-JP" altLang="en-US"/>
                  <a:t>既存研究を元に決めていこうと思っている</a:t>
                </a:r>
                <a:endParaRPr kumimoji="1" lang="en-US" altLang="ja-JP" dirty="0"/>
              </a:p>
              <a:p>
                <a:pPr lvl="1"/>
                <a:r>
                  <a:rPr kumimoji="1" lang="ja-JP" altLang="en-US"/>
                  <a:t>その論文で用いている譲歩関数</a:t>
                </a:r>
                <a:br>
                  <a:rPr kumimoji="1" lang="en-US" altLang="ja-JP" dirty="0"/>
                </a:br>
                <a:r>
                  <a:rPr kumimoji="1" lang="ja-JP" altLang="en-US"/>
                  <a:t>は以下の通り</a:t>
                </a:r>
                <a:endParaRPr kumimoji="1" lang="en-US" altLang="ja-JP" dirty="0"/>
              </a:p>
              <a:p>
                <a:pPr lvl="2"/>
                <a14:m>
                  <m:oMath xmlns:m="http://schemas.openxmlformats.org/officeDocument/2006/math">
                    <m:r>
                      <a:rPr lang="en-US" altLang="ja-JP" b="0" i="1" smtClean="0">
                        <a:latin typeface="Cambria Math" panose="02040503050406030204" pitchFamily="18" charset="0"/>
                      </a:rPr>
                      <m:t>𝑡𝑎𝑟𝑔𝑒𝑡</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Δ</m:t>
                    </m:r>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max</m:t>
                        </m:r>
                      </m:sub>
                    </m:sSub>
                    <m:r>
                      <a:rPr lang="en-US" altLang="ja-JP" b="0" i="1" smtClean="0">
                        <a:latin typeface="Cambria Math" panose="02040503050406030204" pitchFamily="18" charset="0"/>
                      </a:rPr>
                      <m:t>−</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𝛾</m:t>
                        </m:r>
                      </m:e>
                      <m:sub>
                        <m:r>
                          <m:rPr>
                            <m:sty m:val="p"/>
                          </m:rPr>
                          <a:rPr lang="en-US" altLang="ja-JP" b="0" i="0" smtClean="0">
                            <a:latin typeface="Cambria Math" panose="02040503050406030204" pitchFamily="18" charset="0"/>
                          </a:rPr>
                          <m:t>min</m:t>
                        </m:r>
                      </m:sub>
                    </m:sSub>
                  </m:oMath>
                </a14:m>
                <a:endParaRPr lang="en-US" altLang="ja-JP" b="0" i="1" dirty="0">
                  <a:latin typeface="Cambria Math" panose="02040503050406030204" pitchFamily="18" charset="0"/>
                </a:endParaRPr>
              </a:p>
              <a:p>
                <a:pPr lvl="2"/>
                <a14:m>
                  <m:oMath xmlns:m="http://schemas.openxmlformats.org/officeDocument/2006/math">
                    <m:r>
                      <m:rPr>
                        <m:sty m:val="p"/>
                      </m:rPr>
                      <a:rPr lang="en-US" altLang="ja-JP" b="0" i="0" smtClean="0">
                        <a:latin typeface="Cambria Math" panose="02040503050406030204" pitchFamily="18" charset="0"/>
                      </a:rPr>
                      <m:t>Γ</m:t>
                    </m:r>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𝑡</m:t>
                        </m:r>
                        <m:r>
                          <a:rPr lang="en-US" altLang="ja-JP" b="0" i="1" smtClean="0">
                            <a:latin typeface="Cambria Math" panose="02040503050406030204" pitchFamily="18" charset="0"/>
                          </a:rPr>
                          <m:t>,</m:t>
                        </m:r>
                        <m:r>
                          <a:rPr lang="en-US" altLang="ja-JP" b="0" i="1" smtClean="0">
                            <a:latin typeface="Cambria Math" panose="02040503050406030204" pitchFamily="18" charset="0"/>
                          </a:rPr>
                          <m:t>𝛼</m:t>
                        </m:r>
                      </m:e>
                    </m:d>
                    <m:r>
                      <a:rPr lang="en-US" altLang="ja-JP" b="0" i="1" smtClean="0">
                        <a:latin typeface="Cambria Math" panose="02040503050406030204" pitchFamily="18" charset="0"/>
                      </a:rPr>
                      <m:t>=1−</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𝑈</m:t>
                        </m:r>
                      </m:e>
                      <m:sub>
                        <m:r>
                          <a:rPr lang="en-US" altLang="ja-JP" b="0" i="1" smtClean="0">
                            <a:latin typeface="Cambria Math" panose="02040503050406030204" pitchFamily="18" charset="0"/>
                          </a:rPr>
                          <m:t>𝐴</m:t>
                        </m:r>
                      </m:sub>
                    </m:sSub>
                    <m:d>
                      <m:dPr>
                        <m:ctrlPr>
                          <a:rPr lang="en-US" altLang="ja-JP" b="0" i="1" smtClean="0">
                            <a:latin typeface="Cambria Math" panose="02040503050406030204" pitchFamily="18" charset="0"/>
                          </a:rPr>
                        </m:ctrlPr>
                      </m:dPr>
                      <m:e>
                        <m:r>
                          <a:rPr lang="en-US" altLang="ja-JP" b="0" i="1" smtClean="0">
                            <a:latin typeface="Cambria Math" panose="02040503050406030204" pitchFamily="18" charset="0"/>
                          </a:rPr>
                          <m:t>𝑏𝑖</m:t>
                        </m:r>
                        <m:sSub>
                          <m:sSubPr>
                            <m:ctrlPr>
                              <a:rPr lang="en-US" altLang="ja-JP" b="0" i="1" smtClean="0">
                                <a:latin typeface="Cambria Math" panose="02040503050406030204" pitchFamily="18" charset="0"/>
                              </a:rPr>
                            </m:ctrlPr>
                          </m:sSubPr>
                          <m:e>
                            <m:r>
                              <a:rPr lang="en-US" altLang="ja-JP" b="0" i="1" smtClean="0">
                                <a:latin typeface="Cambria Math" panose="02040503050406030204" pitchFamily="18" charset="0"/>
                              </a:rPr>
                              <m:t>𝑑</m:t>
                            </m:r>
                          </m:e>
                          <m:sub>
                            <m:r>
                              <a:rPr lang="en-US" altLang="ja-JP" b="0" i="1" smtClean="0">
                                <a:latin typeface="Cambria Math" panose="02040503050406030204" pitchFamily="18" charset="0"/>
                              </a:rPr>
                              <m:t>𝑡</m:t>
                            </m:r>
                            <m:r>
                              <a:rPr lang="en-US" altLang="ja-JP" b="0" i="1" smtClean="0">
                                <a:latin typeface="Cambria Math" panose="02040503050406030204" pitchFamily="18" charset="0"/>
                              </a:rPr>
                              <m:t>−1</m:t>
                            </m:r>
                          </m:sub>
                        </m:sSub>
                      </m:e>
                    </m:d>
                    <m:r>
                      <a:rPr lang="en-US" altLang="ja-JP" b="0" i="1" smtClean="0">
                        <a:latin typeface="Cambria Math" panose="02040503050406030204" pitchFamily="18" charset="0"/>
                      </a:rPr>
                      <m:t>⋅</m:t>
                    </m:r>
                    <m:sSup>
                      <m:sSupPr>
                        <m:ctrlPr>
                          <a:rPr lang="en-US" altLang="ja-JP" b="0" i="1" smtClean="0">
                            <a:latin typeface="Cambria Math" panose="02040503050406030204" pitchFamily="18" charset="0"/>
                          </a:rPr>
                        </m:ctrlPr>
                      </m:sSupPr>
                      <m:e>
                        <m:d>
                          <m:dPr>
                            <m:ctrlPr>
                              <a:rPr lang="en-US" altLang="ja-JP" b="0" i="1" smtClean="0">
                                <a:latin typeface="Cambria Math" panose="02040503050406030204" pitchFamily="18" charset="0"/>
                              </a:rPr>
                            </m:ctrlPr>
                          </m:dPr>
                          <m:e>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𝑡</m:t>
                                </m:r>
                              </m:num>
                              <m:den>
                                <m:r>
                                  <a:rPr lang="en-US" altLang="ja-JP" b="0" i="1" smtClean="0">
                                    <a:latin typeface="Cambria Math" panose="02040503050406030204" pitchFamily="18" charset="0"/>
                                  </a:rPr>
                                  <m:t>𝑛</m:t>
                                </m:r>
                              </m:den>
                            </m:f>
                          </m:e>
                        </m:d>
                      </m:e>
                      <m:sup>
                        <m:f>
                          <m:fPr>
                            <m:ctrlPr>
                              <a:rPr lang="en-US" altLang="ja-JP" b="0" i="1" smtClean="0">
                                <a:latin typeface="Cambria Math" panose="02040503050406030204" pitchFamily="18" charset="0"/>
                              </a:rPr>
                            </m:ctrlPr>
                          </m:fPr>
                          <m:num>
                            <m:r>
                              <a:rPr lang="en-US" altLang="ja-JP" b="0" i="1" smtClean="0">
                                <a:latin typeface="Cambria Math" panose="02040503050406030204" pitchFamily="18" charset="0"/>
                              </a:rPr>
                              <m:t>1</m:t>
                            </m:r>
                          </m:num>
                          <m:den>
                            <m:r>
                              <a:rPr lang="en-US" altLang="ja-JP" b="0" i="1" smtClean="0">
                                <a:latin typeface="Cambria Math" panose="02040503050406030204" pitchFamily="18" charset="0"/>
                              </a:rPr>
                              <m:t>𝛼</m:t>
                            </m:r>
                          </m:den>
                        </m:f>
                      </m:sup>
                    </m:sSup>
                  </m:oMath>
                </a14:m>
                <a:endParaRPr lang="en-US" altLang="ja-JP" b="0" dirty="0"/>
              </a:p>
            </p:txBody>
          </p:sp>
        </mc:Choice>
        <mc:Fallback xmlns="">
          <p:sp>
            <p:nvSpPr>
              <p:cNvPr id="3" name="コンテンツ プレースホルダー 2">
                <a:extLst>
                  <a:ext uri="{FF2B5EF4-FFF2-40B4-BE49-F238E27FC236}">
                    <a16:creationId xmlns:a16="http://schemas.microsoft.com/office/drawing/2014/main" id="{6229DDA1-6C79-D941-87FB-D426CD549B15}"/>
                  </a:ext>
                </a:extLst>
              </p:cNvPr>
              <p:cNvSpPr>
                <a:spLocks noGrp="1" noRot="1" noChangeAspect="1" noMove="1" noResize="1" noEditPoints="1" noAdjustHandles="1" noChangeArrowheads="1" noChangeShapeType="1" noTextEdit="1"/>
              </p:cNvSpPr>
              <p:nvPr>
                <p:ph idx="1"/>
              </p:nvPr>
            </p:nvSpPr>
            <p:spPr>
              <a:xfrm>
                <a:off x="194898" y="1884384"/>
                <a:ext cx="8859709" cy="3463117"/>
              </a:xfrm>
              <a:blipFill>
                <a:blip r:embed="rId2"/>
                <a:stretch>
                  <a:fillRect t="-2555"/>
                </a:stretch>
              </a:blipFill>
            </p:spPr>
            <p:txBody>
              <a:bodyPr/>
              <a:lstStyle/>
              <a:p>
                <a:r>
                  <a:rPr lang="ja-JP" altLang="en-US">
                    <a:noFill/>
                  </a:rPr>
                  <a:t> </a:t>
                </a:r>
              </a:p>
            </p:txBody>
          </p:sp>
        </mc:Fallback>
      </mc:AlternateContent>
      <p:sp>
        <p:nvSpPr>
          <p:cNvPr id="4" name="日付プレースホルダー 3">
            <a:extLst>
              <a:ext uri="{FF2B5EF4-FFF2-40B4-BE49-F238E27FC236}">
                <a16:creationId xmlns:a16="http://schemas.microsoft.com/office/drawing/2014/main" id="{07E71DB6-372F-AC4F-B4AB-05B690094CFC}"/>
              </a:ext>
            </a:extLst>
          </p:cNvPr>
          <p:cNvSpPr>
            <a:spLocks noGrp="1"/>
          </p:cNvSpPr>
          <p:nvPr>
            <p:ph type="dt" sz="half" idx="10"/>
          </p:nvPr>
        </p:nvSpPr>
        <p:spPr/>
        <p:txBody>
          <a:bodyPr/>
          <a:lstStyle/>
          <a:p>
            <a:fld id="{24B158CC-F5BE-2345-99BA-C49B60654C2B}" type="datetime1">
              <a:rPr kumimoji="1" lang="ja-JP" altLang="en-US" smtClean="0"/>
              <a:t>2020/8/28</a:t>
            </a:fld>
            <a:endParaRPr kumimoji="1" lang="ja-JP" altLang="en-US"/>
          </a:p>
        </p:txBody>
      </p:sp>
      <p:sp>
        <p:nvSpPr>
          <p:cNvPr id="5" name="フッター プレースホルダー 4">
            <a:extLst>
              <a:ext uri="{FF2B5EF4-FFF2-40B4-BE49-F238E27FC236}">
                <a16:creationId xmlns:a16="http://schemas.microsoft.com/office/drawing/2014/main" id="{0FDF195F-1A3C-9943-A429-1185F334479A}"/>
              </a:ext>
            </a:extLst>
          </p:cNvPr>
          <p:cNvSpPr>
            <a:spLocks noGrp="1"/>
          </p:cNvSpPr>
          <p:nvPr>
            <p:ph type="ftr" sz="quarter" idx="11"/>
          </p:nvPr>
        </p:nvSpPr>
        <p:spPr/>
        <p:txBody>
          <a:bodyPr/>
          <a:lstStyle/>
          <a:p>
            <a:r>
              <a:rPr kumimoji="1" lang="ja-JP" altLang="en-US"/>
              <a:t>進捗報告</a:t>
            </a:r>
          </a:p>
        </p:txBody>
      </p:sp>
      <p:sp>
        <p:nvSpPr>
          <p:cNvPr id="6" name="スライド番号プレースホルダー 5">
            <a:extLst>
              <a:ext uri="{FF2B5EF4-FFF2-40B4-BE49-F238E27FC236}">
                <a16:creationId xmlns:a16="http://schemas.microsoft.com/office/drawing/2014/main" id="{C18667CF-ABBD-C945-B743-3E1587C59B41}"/>
              </a:ext>
            </a:extLst>
          </p:cNvPr>
          <p:cNvSpPr>
            <a:spLocks noGrp="1"/>
          </p:cNvSpPr>
          <p:nvPr>
            <p:ph type="sldNum" sz="quarter" idx="12"/>
          </p:nvPr>
        </p:nvSpPr>
        <p:spPr/>
        <p:txBody>
          <a:bodyPr/>
          <a:lstStyle/>
          <a:p>
            <a:fld id="{2981C279-7323-A845-8A27-BB5908B2F04D}" type="slidenum">
              <a:rPr kumimoji="1" lang="ja-JP" altLang="en-US" smtClean="0"/>
              <a:t>18</a:t>
            </a:fld>
            <a:endParaRPr kumimoji="1" lang="ja-JP" altLang="en-US"/>
          </a:p>
        </p:txBody>
      </p:sp>
      <p:sp>
        <p:nvSpPr>
          <p:cNvPr id="7" name="テキスト プレースホルダー 6">
            <a:extLst>
              <a:ext uri="{FF2B5EF4-FFF2-40B4-BE49-F238E27FC236}">
                <a16:creationId xmlns:a16="http://schemas.microsoft.com/office/drawing/2014/main" id="{90007484-89B5-4348-ABAF-743AD89B12A1}"/>
              </a:ext>
            </a:extLst>
          </p:cNvPr>
          <p:cNvSpPr>
            <a:spLocks noGrp="1"/>
          </p:cNvSpPr>
          <p:nvPr>
            <p:ph type="body" sz="quarter" idx="13"/>
          </p:nvPr>
        </p:nvSpPr>
        <p:spPr/>
        <p:txBody>
          <a:bodyPr/>
          <a:lstStyle/>
          <a:p>
            <a:r>
              <a:rPr lang="en-US" altLang="ja-JP" dirty="0"/>
              <a:t>0</a:t>
            </a:r>
            <a:endParaRPr kumimoji="1" lang="ja-JP" altLang="en-US"/>
          </a:p>
        </p:txBody>
      </p:sp>
      <p:grpSp>
        <p:nvGrpSpPr>
          <p:cNvPr id="8" name="グループ化 7">
            <a:extLst>
              <a:ext uri="{FF2B5EF4-FFF2-40B4-BE49-F238E27FC236}">
                <a16:creationId xmlns:a16="http://schemas.microsoft.com/office/drawing/2014/main" id="{1802F486-8564-F042-BB12-D0807C00DBC0}"/>
              </a:ext>
            </a:extLst>
          </p:cNvPr>
          <p:cNvGrpSpPr/>
          <p:nvPr/>
        </p:nvGrpSpPr>
        <p:grpSpPr>
          <a:xfrm>
            <a:off x="163626" y="1160115"/>
            <a:ext cx="3622763" cy="680876"/>
            <a:chOff x="163626" y="1160115"/>
            <a:chExt cx="3622763" cy="680876"/>
          </a:xfrm>
        </p:grpSpPr>
        <p:cxnSp>
          <p:nvCxnSpPr>
            <p:cNvPr id="9" name="直線コネクタ 8">
              <a:extLst>
                <a:ext uri="{FF2B5EF4-FFF2-40B4-BE49-F238E27FC236}">
                  <a16:creationId xmlns:a16="http://schemas.microsoft.com/office/drawing/2014/main" id="{11E4DA3D-E02B-7F42-8F6D-496C4C8C4882}"/>
                </a:ext>
              </a:extLst>
            </p:cNvPr>
            <p:cNvCxnSpPr>
              <a:cxnSpLocks/>
            </p:cNvCxnSpPr>
            <p:nvPr userDrawn="1"/>
          </p:nvCxnSpPr>
          <p:spPr>
            <a:xfrm>
              <a:off x="163626" y="1699846"/>
              <a:ext cx="3622763"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10" name="正方形/長方形 9">
              <a:extLst>
                <a:ext uri="{FF2B5EF4-FFF2-40B4-BE49-F238E27FC236}">
                  <a16:creationId xmlns:a16="http://schemas.microsoft.com/office/drawing/2014/main" id="{D7B6B005-2406-534F-879E-E016C333D647}"/>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 name="テキスト プレースホルダー 12">
            <a:extLst>
              <a:ext uri="{FF2B5EF4-FFF2-40B4-BE49-F238E27FC236}">
                <a16:creationId xmlns:a16="http://schemas.microsoft.com/office/drawing/2014/main" id="{F7281F50-E19B-4141-A852-D9CF6AEBD055}"/>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3"/>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4"/>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譲歩速度について</a:t>
            </a:r>
          </a:p>
        </p:txBody>
      </p:sp>
      <p:pic>
        <p:nvPicPr>
          <p:cNvPr id="14" name="図 13" descr="テキスト, 地図 が含まれている画像&#10;&#10;自動的に生成された説明">
            <a:extLst>
              <a:ext uri="{FF2B5EF4-FFF2-40B4-BE49-F238E27FC236}">
                <a16:creationId xmlns:a16="http://schemas.microsoft.com/office/drawing/2014/main" id="{7BBBCA6A-D968-9246-8E2E-D89E5B6033A6}"/>
              </a:ext>
            </a:extLst>
          </p:cNvPr>
          <p:cNvPicPr>
            <a:picLocks noChangeAspect="1"/>
          </p:cNvPicPr>
          <p:nvPr/>
        </p:nvPicPr>
        <p:blipFill>
          <a:blip r:embed="rId5"/>
          <a:stretch>
            <a:fillRect/>
          </a:stretch>
        </p:blipFill>
        <p:spPr>
          <a:xfrm>
            <a:off x="5369963" y="2408064"/>
            <a:ext cx="3700660" cy="3463117"/>
          </a:xfrm>
          <a:prstGeom prst="rect">
            <a:avLst/>
          </a:prstGeom>
        </p:spPr>
      </p:pic>
      <p:grpSp>
        <p:nvGrpSpPr>
          <p:cNvPr id="18" name="グループ化 17">
            <a:extLst>
              <a:ext uri="{FF2B5EF4-FFF2-40B4-BE49-F238E27FC236}">
                <a16:creationId xmlns:a16="http://schemas.microsoft.com/office/drawing/2014/main" id="{34ADD1CD-BAD9-824B-953D-3EA3E7286022}"/>
              </a:ext>
            </a:extLst>
          </p:cNvPr>
          <p:cNvGrpSpPr/>
          <p:nvPr/>
        </p:nvGrpSpPr>
        <p:grpSpPr>
          <a:xfrm>
            <a:off x="542923" y="4629150"/>
            <a:ext cx="4585875" cy="1830524"/>
            <a:chOff x="542923" y="4514848"/>
            <a:chExt cx="4585875" cy="1830524"/>
          </a:xfrm>
        </p:grpSpPr>
        <p:sp>
          <p:nvSpPr>
            <p:cNvPr id="15" name="角丸四角形 14">
              <a:extLst>
                <a:ext uri="{FF2B5EF4-FFF2-40B4-BE49-F238E27FC236}">
                  <a16:creationId xmlns:a16="http://schemas.microsoft.com/office/drawing/2014/main" id="{E267E99A-BE26-E94E-AD62-F2132A1EC497}"/>
                </a:ext>
              </a:extLst>
            </p:cNvPr>
            <p:cNvSpPr/>
            <p:nvPr/>
          </p:nvSpPr>
          <p:spPr>
            <a:xfrm>
              <a:off x="542923" y="4514848"/>
              <a:ext cx="4585875" cy="1830524"/>
            </a:xfrm>
            <a:prstGeom prst="roundRect">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mc:AlternateContent xmlns:mc="http://schemas.openxmlformats.org/markup-compatibility/2006">
          <mc:Choice xmlns:a14="http://schemas.microsoft.com/office/drawing/2010/main" Requires="a14">
            <p:sp>
              <p:nvSpPr>
                <p:cNvPr id="16" name="テキスト ボックス 15">
                  <a:extLst>
                    <a:ext uri="{FF2B5EF4-FFF2-40B4-BE49-F238E27FC236}">
                      <a16:creationId xmlns:a16="http://schemas.microsoft.com/office/drawing/2014/main" id="{C0128703-E186-C442-8F79-E1B1F3A9B551}"/>
                    </a:ext>
                  </a:extLst>
                </p:cNvPr>
                <p:cNvSpPr txBox="1"/>
                <p:nvPr/>
              </p:nvSpPr>
              <p:spPr>
                <a:xfrm>
                  <a:off x="644490" y="4572001"/>
                  <a:ext cx="4455732" cy="1773371"/>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𝑡</m:t>
                        </m:r>
                        <m:r>
                          <a:rPr kumimoji="1" lang="en-US" altLang="ja-JP" b="0" i="1" smtClean="0">
                            <a:latin typeface="Cambria Math" panose="02040503050406030204" pitchFamily="18" charset="0"/>
                          </a:rPr>
                          <m:t>:</m:t>
                        </m:r>
                        <m:r>
                          <a:rPr kumimoji="1" lang="ja-JP" altLang="en-US" i="1">
                            <a:latin typeface="Cambria Math" panose="02040503050406030204" pitchFamily="18" charset="0"/>
                          </a:rPr>
                          <m:t>現在の</m:t>
                        </m:r>
                        <m:r>
                          <a:rPr kumimoji="1" lang="ja-JP" altLang="en-US" i="1" smtClean="0">
                            <a:latin typeface="Cambria Math" panose="02040503050406030204" pitchFamily="18" charset="0"/>
                          </a:rPr>
                          <m:t>ラウンド</m:t>
                        </m:r>
                      </m:oMath>
                    </m:oMathPara>
                  </a14:m>
                  <a:endParaRPr kumimoji="1" lang="en-US" altLang="ja-JP" b="0" i="1" dirty="0">
                    <a:latin typeface="Cambria Math" panose="02040503050406030204" pitchFamily="18" charset="0"/>
                  </a:endParaRPr>
                </a:p>
                <a:p>
                  <a:pPr/>
                  <a14:m>
                    <m:oMathPara xmlns:m="http://schemas.openxmlformats.org/officeDocument/2006/math">
                      <m:oMathParaPr>
                        <m:jc m:val="left"/>
                      </m:oMathParaPr>
                      <m:oMath xmlns:m="http://schemas.openxmlformats.org/officeDocument/2006/math">
                        <m:r>
                          <a:rPr kumimoji="1" lang="en-US" altLang="ja-JP" b="0" i="1" smtClean="0">
                            <a:latin typeface="Cambria Math" panose="02040503050406030204" pitchFamily="18" charset="0"/>
                          </a:rPr>
                          <m:t>𝑛</m:t>
                        </m:r>
                        <m:r>
                          <a:rPr kumimoji="1" lang="en-US" altLang="ja-JP" b="0" i="1" smtClean="0">
                            <a:latin typeface="Cambria Math" panose="02040503050406030204" pitchFamily="18" charset="0"/>
                          </a:rPr>
                          <m:t>:</m:t>
                        </m:r>
                        <m:r>
                          <a:rPr kumimoji="1" lang="ja-JP" altLang="en-US" i="1">
                            <a:latin typeface="Cambria Math" panose="02040503050406030204" pitchFamily="18" charset="0"/>
                          </a:rPr>
                          <m:t>ラウンドの</m:t>
                        </m:r>
                        <m:r>
                          <a:rPr kumimoji="1" lang="ja-JP" altLang="en-US" i="1" smtClean="0">
                            <a:latin typeface="Cambria Math" panose="02040503050406030204" pitchFamily="18" charset="0"/>
                          </a:rPr>
                          <m:t>総数</m:t>
                        </m:r>
                      </m:oMath>
                    </m:oMathPara>
                  </a14:m>
                  <a:endParaRPr kumimoji="1" lang="en-US" altLang="ja-JP" dirty="0"/>
                </a:p>
                <a:p>
                  <a14:m>
                    <m:oMath xmlns:m="http://schemas.openxmlformats.org/officeDocument/2006/math">
                      <m:sSub>
                        <m:sSubPr>
                          <m:ctrlPr>
                            <a:rPr kumimoji="1" lang="en-US" altLang="ja-JP" b="0" i="1" smtClean="0">
                              <a:latin typeface="Cambria Math" panose="02040503050406030204" pitchFamily="18" charset="0"/>
                            </a:rPr>
                          </m:ctrlPr>
                        </m:sSubPr>
                        <m:e>
                          <m:r>
                            <a:rPr kumimoji="1" lang="en-US" altLang="ja-JP" b="0" i="1" smtClean="0">
                              <a:latin typeface="Cambria Math" panose="02040503050406030204" pitchFamily="18" charset="0"/>
                            </a:rPr>
                            <m:t>𝛾</m:t>
                          </m:r>
                        </m:e>
                        <m:sub>
                          <m:r>
                            <m:rPr>
                              <m:sty m:val="p"/>
                            </m:rPr>
                            <a:rPr kumimoji="1" lang="en-US" altLang="ja-JP" b="0" i="0" smtClean="0">
                              <a:latin typeface="Cambria Math" panose="02040503050406030204" pitchFamily="18" charset="0"/>
                            </a:rPr>
                            <m:t>min</m:t>
                          </m:r>
                        </m:sub>
                      </m:sSub>
                      <m:r>
                        <a:rPr kumimoji="1" lang="en-US" altLang="ja-JP" b="0" i="1" smtClean="0">
                          <a:latin typeface="Cambria Math" panose="02040503050406030204" pitchFamily="18" charset="0"/>
                        </a:rPr>
                        <m:t>:</m:t>
                      </m:r>
                      <m:r>
                        <a:rPr kumimoji="1" lang="ja-JP" altLang="en-US" i="1">
                          <a:latin typeface="Cambria Math" panose="02040503050406030204" pitchFamily="18" charset="0"/>
                        </a:rPr>
                        <m:t>エージェントの</m:t>
                      </m:r>
                    </m:oMath>
                  </a14:m>
                  <a:r>
                    <a:rPr kumimoji="1" lang="ja-JP" altLang="en-US" dirty="0"/>
                    <a:t>最小</a:t>
                  </a:r>
                  <a:r>
                    <a:rPr kumimoji="1" lang="ja-JP" altLang="en-US"/>
                    <a:t>目標効用</a:t>
                  </a:r>
                  <a:endParaRPr kumimoji="1" lang="en-US" altLang="ja-JP" dirty="0"/>
                </a:p>
                <a:p>
                  <a14:m>
                    <m:oMath xmlns:m="http://schemas.openxmlformats.org/officeDocument/2006/math">
                      <m:sSub>
                        <m:sSubPr>
                          <m:ctrlPr>
                            <a:rPr kumimoji="1" lang="en-US" altLang="ja-JP" i="1" smtClean="0">
                              <a:latin typeface="Cambria Math" panose="02040503050406030204" pitchFamily="18" charset="0"/>
                            </a:rPr>
                          </m:ctrlPr>
                        </m:sSubPr>
                        <m:e>
                          <m:r>
                            <a:rPr kumimoji="1" lang="en-US" altLang="ja-JP" i="1">
                              <a:latin typeface="Cambria Math" panose="02040503050406030204" pitchFamily="18" charset="0"/>
                            </a:rPr>
                            <m:t>𝛾</m:t>
                          </m:r>
                        </m:e>
                        <m:sub>
                          <m:r>
                            <m:rPr>
                              <m:sty m:val="p"/>
                            </m:rPr>
                            <a:rPr kumimoji="1" lang="en-US" altLang="ja-JP">
                              <a:latin typeface="Cambria Math" panose="02040503050406030204" pitchFamily="18" charset="0"/>
                            </a:rPr>
                            <m:t>m</m:t>
                          </m:r>
                          <m:r>
                            <m:rPr>
                              <m:sty m:val="p"/>
                            </m:rPr>
                            <a:rPr kumimoji="1" lang="en-US" altLang="ja-JP" b="0" i="0" smtClean="0">
                              <a:latin typeface="Cambria Math" panose="02040503050406030204" pitchFamily="18" charset="0"/>
                            </a:rPr>
                            <m:t>ax</m:t>
                          </m:r>
                        </m:sub>
                      </m:sSub>
                      <m:r>
                        <a:rPr kumimoji="1" lang="en-US" altLang="ja-JP" i="1">
                          <a:latin typeface="Cambria Math" panose="02040503050406030204" pitchFamily="18" charset="0"/>
                        </a:rPr>
                        <m:t>:</m:t>
                      </m:r>
                      <m:r>
                        <a:rPr kumimoji="1" lang="ja-JP" altLang="en-US" i="1">
                          <a:latin typeface="Cambria Math" panose="02040503050406030204" pitchFamily="18" charset="0"/>
                        </a:rPr>
                        <m:t>エージェントの最大</m:t>
                      </m:r>
                    </m:oMath>
                  </a14:m>
                  <a:r>
                    <a:rPr kumimoji="1" lang="ja-JP" altLang="en-US"/>
                    <a:t>目標効用</a:t>
                  </a:r>
                  <a:endParaRPr kumimoji="1" lang="en-US" altLang="ja-JP" dirty="0"/>
                </a:p>
                <a:p>
                  <a14:m>
                    <m:oMath xmlns:m="http://schemas.openxmlformats.org/officeDocument/2006/math">
                      <m:sSub>
                        <m:sSubPr>
                          <m:ctrlPr>
                            <a:rPr lang="en-US" altLang="ja-JP" i="1">
                              <a:latin typeface="Cambria Math" panose="02040503050406030204" pitchFamily="18" charset="0"/>
                            </a:rPr>
                          </m:ctrlPr>
                        </m:sSubPr>
                        <m:e>
                          <m:r>
                            <a:rPr lang="en-US" altLang="ja-JP" i="1">
                              <a:latin typeface="Cambria Math" panose="02040503050406030204" pitchFamily="18" charset="0"/>
                            </a:rPr>
                            <m:t>𝑈</m:t>
                          </m:r>
                        </m:e>
                        <m:sub>
                          <m:r>
                            <a:rPr lang="en-US" altLang="ja-JP" i="1">
                              <a:latin typeface="Cambria Math" panose="02040503050406030204" pitchFamily="18" charset="0"/>
                            </a:rPr>
                            <m:t>𝐴</m:t>
                          </m:r>
                        </m:sub>
                      </m:sSub>
                      <m:d>
                        <m:dPr>
                          <m:ctrlPr>
                            <a:rPr lang="en-US" altLang="ja-JP" i="1">
                              <a:latin typeface="Cambria Math" panose="02040503050406030204" pitchFamily="18" charset="0"/>
                            </a:rPr>
                          </m:ctrlPr>
                        </m:dPr>
                        <m:e>
                          <m:r>
                            <a:rPr lang="en-US" altLang="ja-JP" i="1">
                              <a:latin typeface="Cambria Math" panose="02040503050406030204" pitchFamily="18" charset="0"/>
                            </a:rPr>
                            <m:t>𝑏𝑖</m:t>
                          </m:r>
                          <m:sSub>
                            <m:sSubPr>
                              <m:ctrlPr>
                                <a:rPr lang="en-US" altLang="ja-JP" i="1">
                                  <a:latin typeface="Cambria Math" panose="02040503050406030204" pitchFamily="18" charset="0"/>
                                </a:rPr>
                              </m:ctrlPr>
                            </m:sSubPr>
                            <m:e>
                              <m:r>
                                <a:rPr lang="en-US" altLang="ja-JP" i="1">
                                  <a:latin typeface="Cambria Math" panose="02040503050406030204" pitchFamily="18" charset="0"/>
                                </a:rPr>
                                <m:t>𝑑</m:t>
                              </m:r>
                            </m:e>
                            <m:sub>
                              <m:r>
                                <a:rPr lang="en-US" altLang="ja-JP" i="1">
                                  <a:latin typeface="Cambria Math" panose="02040503050406030204" pitchFamily="18" charset="0"/>
                                </a:rPr>
                                <m:t>𝑡</m:t>
                              </m:r>
                              <m:r>
                                <a:rPr lang="en-US" altLang="ja-JP" i="1">
                                  <a:latin typeface="Cambria Math" panose="02040503050406030204" pitchFamily="18" charset="0"/>
                                </a:rPr>
                                <m:t>−1</m:t>
                              </m:r>
                            </m:sub>
                          </m:sSub>
                        </m:e>
                      </m:d>
                    </m:oMath>
                  </a14:m>
                  <a:r>
                    <a:rPr kumimoji="1" lang="en-US" altLang="ja-JP" dirty="0"/>
                    <a:t>:</a:t>
                  </a:r>
                  <a:r>
                    <a:rPr kumimoji="1" lang="ja-JP" altLang="en-US"/>
                    <a:t>直前の</a:t>
                  </a:r>
                  <a:r>
                    <a:rPr kumimoji="1" lang="en-US" altLang="ja-JP" dirty="0"/>
                    <a:t>offer</a:t>
                  </a:r>
                  <a:r>
                    <a:rPr kumimoji="1" lang="ja-JP" altLang="en-US"/>
                    <a:t>でエージェントが</a:t>
                  </a:r>
                  <a:br>
                    <a:rPr kumimoji="1" lang="en-US" altLang="ja-JP" dirty="0"/>
                  </a:br>
                  <a:r>
                    <a:rPr kumimoji="1" lang="ja-JP" altLang="en-US"/>
                    <a:t>　　　　　得られる効用</a:t>
                  </a:r>
                  <a:endParaRPr kumimoji="1" lang="en-US" altLang="ja-JP" dirty="0"/>
                </a:p>
              </p:txBody>
            </p:sp>
          </mc:Choice>
          <mc:Fallback>
            <p:sp>
              <p:nvSpPr>
                <p:cNvPr id="16" name="テキスト ボックス 15">
                  <a:extLst>
                    <a:ext uri="{FF2B5EF4-FFF2-40B4-BE49-F238E27FC236}">
                      <a16:creationId xmlns:a16="http://schemas.microsoft.com/office/drawing/2014/main" id="{C0128703-E186-C442-8F79-E1B1F3A9B551}"/>
                    </a:ext>
                  </a:extLst>
                </p:cNvPr>
                <p:cNvSpPr txBox="1">
                  <a:spLocks noRot="1" noChangeAspect="1" noMove="1" noResize="1" noEditPoints="1" noAdjustHandles="1" noChangeArrowheads="1" noChangeShapeType="1" noTextEdit="1"/>
                </p:cNvSpPr>
                <p:nvPr/>
              </p:nvSpPr>
              <p:spPr>
                <a:xfrm>
                  <a:off x="644490" y="4572001"/>
                  <a:ext cx="4455732" cy="1773371"/>
                </a:xfrm>
                <a:prstGeom prst="rect">
                  <a:avLst/>
                </a:prstGeom>
                <a:blipFill>
                  <a:blip r:embed="rId6"/>
                  <a:stretch>
                    <a:fillRect b="-4255"/>
                  </a:stretch>
                </a:blipFill>
              </p:spPr>
              <p:txBody>
                <a:bodyPr/>
                <a:lstStyle/>
                <a:p>
                  <a:r>
                    <a:rPr lang="ja-JP" altLang="en-US">
                      <a:noFill/>
                    </a:rPr>
                    <a:t> </a:t>
                  </a:r>
                </a:p>
              </p:txBody>
            </p:sp>
          </mc:Fallback>
        </mc:AlternateContent>
      </p:grpSp>
    </p:spTree>
    <p:extLst>
      <p:ext uri="{BB962C8B-B14F-4D97-AF65-F5344CB8AC3E}">
        <p14:creationId xmlns:p14="http://schemas.microsoft.com/office/powerpoint/2010/main" val="21042084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8DAB0C2-B03B-A347-8AAC-50359B10B912}"/>
              </a:ext>
            </a:extLst>
          </p:cNvPr>
          <p:cNvSpPr>
            <a:spLocks noGrp="1"/>
          </p:cNvSpPr>
          <p:nvPr>
            <p:ph type="title"/>
          </p:nvPr>
        </p:nvSpPr>
        <p:spPr/>
        <p:txBody>
          <a:bodyPr/>
          <a:lstStyle/>
          <a:p>
            <a:r>
              <a:rPr lang="ja-JP" altLang="en-US"/>
              <a:t>補足資料</a:t>
            </a:r>
            <a:endParaRPr kumimoji="1" lang="ja-JP" altLang="en-US"/>
          </a:p>
        </p:txBody>
      </p:sp>
      <p:sp>
        <p:nvSpPr>
          <p:cNvPr id="3" name="日付プレースホルダー 2">
            <a:extLst>
              <a:ext uri="{FF2B5EF4-FFF2-40B4-BE49-F238E27FC236}">
                <a16:creationId xmlns:a16="http://schemas.microsoft.com/office/drawing/2014/main" id="{07540EC4-B414-4F43-85ED-86CFEE271236}"/>
              </a:ext>
            </a:extLst>
          </p:cNvPr>
          <p:cNvSpPr>
            <a:spLocks noGrp="1"/>
          </p:cNvSpPr>
          <p:nvPr>
            <p:ph type="dt" sz="half" idx="10"/>
          </p:nvPr>
        </p:nvSpPr>
        <p:spPr/>
        <p:txBody>
          <a:bodyPr/>
          <a:lstStyle/>
          <a:p>
            <a:fld id="{484468A3-0919-F54E-B59A-E9ED9FABFE93}" type="datetime1">
              <a:rPr kumimoji="1" lang="ja-JP" altLang="en-US" smtClean="0"/>
              <a:t>2020/8/28</a:t>
            </a:fld>
            <a:endParaRPr kumimoji="1" lang="ja-JP" altLang="en-US"/>
          </a:p>
        </p:txBody>
      </p:sp>
      <p:sp>
        <p:nvSpPr>
          <p:cNvPr id="4" name="フッター プレースホルダー 3">
            <a:extLst>
              <a:ext uri="{FF2B5EF4-FFF2-40B4-BE49-F238E27FC236}">
                <a16:creationId xmlns:a16="http://schemas.microsoft.com/office/drawing/2014/main" id="{0497CFB2-DE01-F048-A930-7CBEC994D3C5}"/>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42F8D98A-6426-1E42-8CA4-9E0FA5798294}"/>
              </a:ext>
            </a:extLst>
          </p:cNvPr>
          <p:cNvSpPr>
            <a:spLocks noGrp="1"/>
          </p:cNvSpPr>
          <p:nvPr>
            <p:ph type="sldNum" sz="quarter" idx="12"/>
          </p:nvPr>
        </p:nvSpPr>
        <p:spPr/>
        <p:txBody>
          <a:bodyPr/>
          <a:lstStyle/>
          <a:p>
            <a:fld id="{2981C279-7323-A845-8A27-BB5908B2F04D}" type="slidenum">
              <a:rPr kumimoji="1" lang="ja-JP" altLang="en-US" smtClean="0"/>
              <a:t>19</a:t>
            </a:fld>
            <a:endParaRPr kumimoji="1" lang="ja-JP" altLang="en-US"/>
          </a:p>
        </p:txBody>
      </p:sp>
      <p:sp>
        <p:nvSpPr>
          <p:cNvPr id="6" name="テキスト プレースホルダー 5">
            <a:extLst>
              <a:ext uri="{FF2B5EF4-FFF2-40B4-BE49-F238E27FC236}">
                <a16:creationId xmlns:a16="http://schemas.microsoft.com/office/drawing/2014/main" id="{95CC0F37-0954-FB40-8201-1F0983C75AA4}"/>
              </a:ext>
            </a:extLst>
          </p:cNvPr>
          <p:cNvSpPr>
            <a:spLocks noGrp="1"/>
          </p:cNvSpPr>
          <p:nvPr>
            <p:ph type="body" sz="quarter" idx="13"/>
          </p:nvPr>
        </p:nvSpPr>
        <p:spPr/>
        <p:txBody>
          <a:bodyPr/>
          <a:lstStyle/>
          <a:p>
            <a:r>
              <a:rPr lang="en-US" altLang="ja-JP" dirty="0"/>
              <a:t>0</a:t>
            </a:r>
            <a:endParaRPr kumimoji="1" lang="ja-JP" altLang="en-US"/>
          </a:p>
        </p:txBody>
      </p:sp>
      <p:sp>
        <p:nvSpPr>
          <p:cNvPr id="7" name="コンテンツ プレースホルダー 6">
            <a:extLst>
              <a:ext uri="{FF2B5EF4-FFF2-40B4-BE49-F238E27FC236}">
                <a16:creationId xmlns:a16="http://schemas.microsoft.com/office/drawing/2014/main" id="{92788590-85DD-1140-B280-3A355A64FAEB}"/>
              </a:ext>
            </a:extLst>
          </p:cNvPr>
          <p:cNvSpPr>
            <a:spLocks noGrp="1"/>
          </p:cNvSpPr>
          <p:nvPr>
            <p:ph idx="1"/>
          </p:nvPr>
        </p:nvSpPr>
        <p:spPr/>
        <p:txBody>
          <a:bodyPr/>
          <a:lstStyle/>
          <a:p>
            <a:r>
              <a:rPr lang="ja-JP" altLang="en-US"/>
              <a:t>研究内容としてはカテゴリ分類がメイン</a:t>
            </a:r>
            <a:endParaRPr lang="en-US" altLang="ja-JP" dirty="0"/>
          </a:p>
          <a:p>
            <a:pPr lvl="1"/>
            <a:r>
              <a:rPr lang="ja-JP" altLang="en-US"/>
              <a:t>少なくともエージェントが人間の選好を知ることができるような問題でないといけない</a:t>
            </a:r>
            <a:endParaRPr lang="en-US" altLang="ja-JP" dirty="0"/>
          </a:p>
          <a:p>
            <a:r>
              <a:rPr lang="ja-JP" altLang="en-US"/>
              <a:t>保険の契約みたいな状況で行こうと思う</a:t>
            </a:r>
            <a:endParaRPr lang="en-US" altLang="ja-JP" dirty="0"/>
          </a:p>
          <a:p>
            <a:pPr lvl="1"/>
            <a:r>
              <a:rPr lang="ja-JP" altLang="en-US"/>
              <a:t>買い手がエージェント</a:t>
            </a:r>
            <a:endParaRPr lang="en-US" altLang="ja-JP" dirty="0"/>
          </a:p>
          <a:p>
            <a:pPr lvl="1"/>
            <a:r>
              <a:rPr lang="ja-JP" altLang="en-US"/>
              <a:t>売り手が人間</a:t>
            </a:r>
            <a:endParaRPr lang="en-US" altLang="ja-JP" dirty="0"/>
          </a:p>
        </p:txBody>
      </p:sp>
      <p:graphicFrame>
        <p:nvGraphicFramePr>
          <p:cNvPr id="8" name="表 7">
            <a:extLst>
              <a:ext uri="{FF2B5EF4-FFF2-40B4-BE49-F238E27FC236}">
                <a16:creationId xmlns:a16="http://schemas.microsoft.com/office/drawing/2014/main" id="{F6D1DC47-6678-C947-9CF8-67968BD956D8}"/>
              </a:ext>
            </a:extLst>
          </p:cNvPr>
          <p:cNvGraphicFramePr>
            <a:graphicFrameLocks noGrp="1"/>
          </p:cNvGraphicFramePr>
          <p:nvPr/>
        </p:nvGraphicFramePr>
        <p:xfrm>
          <a:off x="898595" y="4161536"/>
          <a:ext cx="7376229" cy="2295238"/>
        </p:xfrm>
        <a:graphic>
          <a:graphicData uri="http://schemas.openxmlformats.org/drawingml/2006/table">
            <a:tbl>
              <a:tblPr firstRow="1" firstCol="1" bandRow="1">
                <a:tableStyleId>{5C22544A-7EE6-4342-B048-85BDC9FD1C3A}</a:tableStyleId>
              </a:tblPr>
              <a:tblGrid>
                <a:gridCol w="1053747">
                  <a:extLst>
                    <a:ext uri="{9D8B030D-6E8A-4147-A177-3AD203B41FA5}">
                      <a16:colId xmlns:a16="http://schemas.microsoft.com/office/drawing/2014/main" val="839403089"/>
                    </a:ext>
                  </a:extLst>
                </a:gridCol>
                <a:gridCol w="1053747">
                  <a:extLst>
                    <a:ext uri="{9D8B030D-6E8A-4147-A177-3AD203B41FA5}">
                      <a16:colId xmlns:a16="http://schemas.microsoft.com/office/drawing/2014/main" val="316063321"/>
                    </a:ext>
                  </a:extLst>
                </a:gridCol>
                <a:gridCol w="1053747">
                  <a:extLst>
                    <a:ext uri="{9D8B030D-6E8A-4147-A177-3AD203B41FA5}">
                      <a16:colId xmlns:a16="http://schemas.microsoft.com/office/drawing/2014/main" val="828750057"/>
                    </a:ext>
                  </a:extLst>
                </a:gridCol>
                <a:gridCol w="1053747">
                  <a:extLst>
                    <a:ext uri="{9D8B030D-6E8A-4147-A177-3AD203B41FA5}">
                      <a16:colId xmlns:a16="http://schemas.microsoft.com/office/drawing/2014/main" val="3790308961"/>
                    </a:ext>
                  </a:extLst>
                </a:gridCol>
                <a:gridCol w="1053747">
                  <a:extLst>
                    <a:ext uri="{9D8B030D-6E8A-4147-A177-3AD203B41FA5}">
                      <a16:colId xmlns:a16="http://schemas.microsoft.com/office/drawing/2014/main" val="288253547"/>
                    </a:ext>
                  </a:extLst>
                </a:gridCol>
                <a:gridCol w="1053747">
                  <a:extLst>
                    <a:ext uri="{9D8B030D-6E8A-4147-A177-3AD203B41FA5}">
                      <a16:colId xmlns:a16="http://schemas.microsoft.com/office/drawing/2014/main" val="3396473503"/>
                    </a:ext>
                  </a:extLst>
                </a:gridCol>
                <a:gridCol w="1053747">
                  <a:extLst>
                    <a:ext uri="{9D8B030D-6E8A-4147-A177-3AD203B41FA5}">
                      <a16:colId xmlns:a16="http://schemas.microsoft.com/office/drawing/2014/main" val="3564305167"/>
                    </a:ext>
                  </a:extLst>
                </a:gridCol>
              </a:tblGrid>
              <a:tr h="337127">
                <a:tc rowSpan="2">
                  <a:txBody>
                    <a:bodyPr/>
                    <a:lstStyle/>
                    <a:p>
                      <a:endParaRPr kumimoji="1" lang="ja-JP" altLang="en-US" sz="1500"/>
                    </a:p>
                  </a:txBody>
                  <a:tcPr marL="83127" marR="83127" marT="41564" marB="41564"/>
                </a:tc>
                <a:tc gridSpan="2">
                  <a:txBody>
                    <a:bodyPr/>
                    <a:lstStyle/>
                    <a:p>
                      <a:pPr algn="ctr"/>
                      <a:r>
                        <a:rPr kumimoji="1" lang="ja-JP" altLang="en-US" sz="1500"/>
                        <a:t>生命保険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損害保険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tc gridSpan="2">
                  <a:txBody>
                    <a:bodyPr/>
                    <a:lstStyle/>
                    <a:p>
                      <a:pPr algn="ctr"/>
                      <a:r>
                        <a:rPr kumimoji="1" lang="ja-JP" altLang="en-US" sz="1500"/>
                        <a:t>医療保険</a:t>
                      </a:r>
                    </a:p>
                  </a:txBody>
                  <a:tcPr marL="83127" marR="83127" marT="41564" marB="41564">
                    <a:lnB w="12700" cap="flat" cmpd="sng" algn="ctr">
                      <a:solidFill>
                        <a:schemeClr val="bg1"/>
                      </a:solidFill>
                      <a:prstDash val="solid"/>
                      <a:round/>
                      <a:headEnd type="none" w="med" len="med"/>
                      <a:tailEnd type="none" w="med" len="med"/>
                    </a:lnB>
                  </a:tcPr>
                </a:tc>
                <a:tc hMerge="1">
                  <a:txBody>
                    <a:bodyPr/>
                    <a:lstStyle/>
                    <a:p>
                      <a:endParaRPr kumimoji="1" lang="ja-JP" altLang="en-US"/>
                    </a:p>
                  </a:txBody>
                  <a:tcPr/>
                </a:tc>
                <a:extLst>
                  <a:ext uri="{0D108BD9-81ED-4DB2-BD59-A6C34878D82A}">
                    <a16:rowId xmlns:a16="http://schemas.microsoft.com/office/drawing/2014/main" val="1360431693"/>
                  </a:ext>
                </a:extLst>
              </a:tr>
              <a:tr h="337127">
                <a:tc vMerge="1">
                  <a:txBody>
                    <a:bodyPr/>
                    <a:lstStyle/>
                    <a:p>
                      <a:endParaRPr kumimoji="1" lang="ja-JP" altLang="en-US"/>
                    </a:p>
                  </a:txBody>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保証内容</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tc>
                  <a:txBody>
                    <a:bodyPr/>
                    <a:lstStyle/>
                    <a:p>
                      <a:pPr algn="ctr"/>
                      <a:r>
                        <a:rPr kumimoji="1" lang="ja-JP" altLang="en-US" sz="1500">
                          <a:solidFill>
                            <a:schemeClr val="bg1"/>
                          </a:solidFill>
                        </a:rPr>
                        <a:t>保険料</a:t>
                      </a:r>
                    </a:p>
                  </a:txBody>
                  <a:tcPr marL="83127" marR="83127" marT="41564" marB="41564">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solidFill>
                      <a:schemeClr val="accent1"/>
                    </a:solidFill>
                  </a:tcPr>
                </a:tc>
                <a:extLst>
                  <a:ext uri="{0D108BD9-81ED-4DB2-BD59-A6C34878D82A}">
                    <a16:rowId xmlns:a16="http://schemas.microsoft.com/office/drawing/2014/main" val="239599213"/>
                  </a:ext>
                </a:extLst>
              </a:tr>
              <a:tr h="337127">
                <a:tc>
                  <a:txBody>
                    <a:bodyPr/>
                    <a:lstStyle/>
                    <a:p>
                      <a:r>
                        <a:rPr kumimoji="1" lang="ja-JP" altLang="en-US" sz="1500"/>
                        <a:t>レベル</a:t>
                      </a:r>
                      <a:r>
                        <a:rPr kumimoji="1" lang="en-US" altLang="ja-JP" sz="1500" dirty="0"/>
                        <a:t>1</a:t>
                      </a:r>
                      <a:endParaRPr kumimoji="1" lang="ja-JP" altLang="en-US" sz="1500"/>
                    </a:p>
                  </a:txBody>
                  <a:tcPr marL="83127" marR="83127" marT="41564" marB="41564"/>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50000/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10000/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ja-JP" altLang="en-US" sz="1500"/>
                        <a:t>良</a:t>
                      </a:r>
                      <a:endParaRPr kumimoji="1" lang="en-US" altLang="ja-JP" sz="1500" dirty="0"/>
                    </a:p>
                  </a:txBody>
                  <a:tcPr marL="83127" marR="83127" marT="41564" marB="41564">
                    <a:lnT w="38100" cap="flat" cmpd="sng" algn="ctr">
                      <a:solidFill>
                        <a:schemeClr val="bg1"/>
                      </a:solidFill>
                      <a:prstDash val="solid"/>
                      <a:round/>
                      <a:headEnd type="none" w="med" len="med"/>
                      <a:tailEnd type="none" w="med" len="med"/>
                    </a:lnT>
                  </a:tcPr>
                </a:tc>
                <a:tc>
                  <a:txBody>
                    <a:bodyPr/>
                    <a:lstStyle/>
                    <a:p>
                      <a:pPr algn="ctr"/>
                      <a:r>
                        <a:rPr kumimoji="1" lang="en-US" altLang="ja-JP" sz="1500" dirty="0"/>
                        <a:t>3000/</a:t>
                      </a:r>
                      <a:r>
                        <a:rPr kumimoji="1" lang="ja-JP" altLang="en-US" sz="1500"/>
                        <a:t>月</a:t>
                      </a:r>
                    </a:p>
                  </a:txBody>
                  <a:tcPr marL="83127" marR="83127" marT="41564" marB="41564">
                    <a:lnT w="38100" cap="flat" cmpd="sng" algn="ctr">
                      <a:solidFill>
                        <a:schemeClr val="bg1"/>
                      </a:solidFill>
                      <a:prstDash val="solid"/>
                      <a:round/>
                      <a:headEnd type="none" w="med" len="med"/>
                      <a:tailEnd type="none" w="med" len="med"/>
                    </a:lnT>
                  </a:tcPr>
                </a:tc>
                <a:extLst>
                  <a:ext uri="{0D108BD9-81ED-4DB2-BD59-A6C34878D82A}">
                    <a16:rowId xmlns:a16="http://schemas.microsoft.com/office/drawing/2014/main" val="757409057"/>
                  </a:ext>
                </a:extLst>
              </a:tr>
              <a:tr h="337127">
                <a:tc>
                  <a:txBody>
                    <a:bodyPr/>
                    <a:lstStyle/>
                    <a:p>
                      <a:r>
                        <a:rPr kumimoji="1" lang="ja-JP" altLang="en-US" sz="1500"/>
                        <a:t>レベル</a:t>
                      </a:r>
                      <a:r>
                        <a:rPr kumimoji="1" lang="en-US" altLang="ja-JP" sz="1500" dirty="0"/>
                        <a:t>2</a:t>
                      </a:r>
                      <a:endParaRPr kumimoji="1" lang="ja-JP" altLang="en-US" sz="1500"/>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60000/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20000/</a:t>
                      </a:r>
                      <a:r>
                        <a:rPr kumimoji="1" lang="ja-JP" altLang="en-US" sz="1500"/>
                        <a:t>月</a:t>
                      </a:r>
                    </a:p>
                  </a:txBody>
                  <a:tcPr marL="83127" marR="83127" marT="41564" marB="41564"/>
                </a:tc>
                <a:tc>
                  <a:txBody>
                    <a:bodyPr/>
                    <a:lstStyle/>
                    <a:p>
                      <a:pPr algn="ctr"/>
                      <a:r>
                        <a:rPr kumimoji="1" lang="ja-JP" altLang="en-US" sz="1500"/>
                        <a:t>優</a:t>
                      </a:r>
                    </a:p>
                  </a:txBody>
                  <a:tcPr marL="83127" marR="83127" marT="41564" marB="41564"/>
                </a:tc>
                <a:tc>
                  <a:txBody>
                    <a:bodyPr/>
                    <a:lstStyle/>
                    <a:p>
                      <a:pPr algn="ctr"/>
                      <a:r>
                        <a:rPr kumimoji="1" lang="en-US" altLang="ja-JP" sz="1500" dirty="0"/>
                        <a:t>5000/</a:t>
                      </a:r>
                      <a:r>
                        <a:rPr kumimoji="1" lang="ja-JP" altLang="en-US" sz="1500"/>
                        <a:t>月</a:t>
                      </a:r>
                    </a:p>
                  </a:txBody>
                  <a:tcPr marL="83127" marR="83127" marT="41564" marB="41564"/>
                </a:tc>
                <a:extLst>
                  <a:ext uri="{0D108BD9-81ED-4DB2-BD59-A6C34878D82A}">
                    <a16:rowId xmlns:a16="http://schemas.microsoft.com/office/drawing/2014/main" val="142469566"/>
                  </a:ext>
                </a:extLst>
              </a:tr>
              <a:tr h="337127">
                <a:tc>
                  <a:txBody>
                    <a:bodyPr/>
                    <a:lstStyle/>
                    <a:p>
                      <a:r>
                        <a:rPr kumimoji="1" lang="ja-JP" altLang="en-US" sz="1500"/>
                        <a:t>レベル</a:t>
                      </a:r>
                      <a:r>
                        <a:rPr kumimoji="1" lang="en-US" altLang="ja-JP" sz="1500" dirty="0"/>
                        <a:t>3</a:t>
                      </a:r>
                      <a:endParaRPr kumimoji="1" lang="ja-JP" altLang="en-US" sz="1500"/>
                    </a:p>
                  </a:txBody>
                  <a:tcPr marL="83127" marR="83127" marT="41564" marB="41564"/>
                </a:tc>
                <a:tc>
                  <a:txBody>
                    <a:bodyPr/>
                    <a:lstStyle/>
                    <a:p>
                      <a:pPr algn="ctr"/>
                      <a:r>
                        <a:rPr kumimoji="1" lang="ja-JP" altLang="en-US" sz="1500"/>
                        <a:t>秀</a:t>
                      </a:r>
                      <a:endParaRPr kumimoji="1" lang="en-US" altLang="ja-JP" sz="1500" dirty="0"/>
                    </a:p>
                  </a:txBody>
                  <a:tcPr marL="83127" marR="83127" marT="41564" marB="41564"/>
                </a:tc>
                <a:tc>
                  <a:txBody>
                    <a:bodyPr/>
                    <a:lstStyle/>
                    <a:p>
                      <a:pPr algn="ctr"/>
                      <a:r>
                        <a:rPr kumimoji="1" lang="en-US" altLang="ja-JP" sz="1500" dirty="0"/>
                        <a:t>70000/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30000/</a:t>
                      </a:r>
                      <a:r>
                        <a:rPr kumimoji="1" lang="ja-JP" altLang="en-US" sz="1500"/>
                        <a:t>月</a:t>
                      </a:r>
                    </a:p>
                  </a:txBody>
                  <a:tcPr marL="83127" marR="83127" marT="41564" marB="41564"/>
                </a:tc>
                <a:tc>
                  <a:txBody>
                    <a:bodyPr/>
                    <a:lstStyle/>
                    <a:p>
                      <a:pPr algn="ctr"/>
                      <a:r>
                        <a:rPr kumimoji="1" lang="ja-JP" altLang="en-US" sz="1500"/>
                        <a:t>秀</a:t>
                      </a:r>
                    </a:p>
                  </a:txBody>
                  <a:tcPr marL="83127" marR="83127" marT="41564" marB="41564"/>
                </a:tc>
                <a:tc>
                  <a:txBody>
                    <a:bodyPr/>
                    <a:lstStyle/>
                    <a:p>
                      <a:pPr algn="ctr"/>
                      <a:r>
                        <a:rPr kumimoji="1" lang="en-US" altLang="ja-JP" sz="1500" dirty="0"/>
                        <a:t>7000/</a:t>
                      </a:r>
                      <a:r>
                        <a:rPr kumimoji="1" lang="ja-JP" altLang="en-US" sz="1500"/>
                        <a:t>月</a:t>
                      </a:r>
                    </a:p>
                  </a:txBody>
                  <a:tcPr marL="83127" marR="83127" marT="41564" marB="41564"/>
                </a:tc>
                <a:extLst>
                  <a:ext uri="{0D108BD9-81ED-4DB2-BD59-A6C34878D82A}">
                    <a16:rowId xmlns:a16="http://schemas.microsoft.com/office/drawing/2014/main" val="2493777769"/>
                  </a:ext>
                </a:extLst>
              </a:tr>
            </a:tbl>
          </a:graphicData>
        </a:graphic>
      </p:graphicFrame>
      <p:grpSp>
        <p:nvGrpSpPr>
          <p:cNvPr id="9" name="グループ化 8">
            <a:extLst>
              <a:ext uri="{FF2B5EF4-FFF2-40B4-BE49-F238E27FC236}">
                <a16:creationId xmlns:a16="http://schemas.microsoft.com/office/drawing/2014/main" id="{3BB1C534-0B55-2542-898A-7CB9F8E97334}"/>
              </a:ext>
            </a:extLst>
          </p:cNvPr>
          <p:cNvGrpSpPr/>
          <p:nvPr/>
        </p:nvGrpSpPr>
        <p:grpSpPr>
          <a:xfrm>
            <a:off x="7176559" y="2787326"/>
            <a:ext cx="1077768" cy="1302802"/>
            <a:chOff x="1777460" y="7716381"/>
            <a:chExt cx="4952308" cy="5986341"/>
          </a:xfrm>
        </p:grpSpPr>
        <p:pic>
          <p:nvPicPr>
            <p:cNvPr id="10" name="図 9">
              <a:extLst>
                <a:ext uri="{FF2B5EF4-FFF2-40B4-BE49-F238E27FC236}">
                  <a16:creationId xmlns:a16="http://schemas.microsoft.com/office/drawing/2014/main" id="{CF677F00-DC3A-D443-AED8-221AA2BEE731}"/>
                </a:ext>
              </a:extLst>
            </p:cNvPr>
            <p:cNvPicPr>
              <a:picLocks noChangeAspect="1"/>
            </p:cNvPicPr>
            <p:nvPr/>
          </p:nvPicPr>
          <p:blipFill>
            <a:blip r:embed="rId2"/>
            <a:stretch>
              <a:fillRect/>
            </a:stretch>
          </p:blipFill>
          <p:spPr>
            <a:xfrm>
              <a:off x="2449331" y="7716381"/>
              <a:ext cx="3608570" cy="3922357"/>
            </a:xfrm>
            <a:prstGeom prst="rect">
              <a:avLst/>
            </a:prstGeom>
          </p:spPr>
        </p:pic>
        <p:sp>
          <p:nvSpPr>
            <p:cNvPr id="11" name="テキスト ボックス 10">
              <a:extLst>
                <a:ext uri="{FF2B5EF4-FFF2-40B4-BE49-F238E27FC236}">
                  <a16:creationId xmlns:a16="http://schemas.microsoft.com/office/drawing/2014/main" id="{5E595386-692F-4145-9054-12FBB17421B0}"/>
                </a:ext>
              </a:extLst>
            </p:cNvPr>
            <p:cNvSpPr txBox="1"/>
            <p:nvPr/>
          </p:nvSpPr>
          <p:spPr>
            <a:xfrm>
              <a:off x="1777460" y="11715796"/>
              <a:ext cx="4952308" cy="1986926"/>
            </a:xfrm>
            <a:prstGeom prst="rect">
              <a:avLst/>
            </a:prstGeom>
            <a:noFill/>
          </p:spPr>
          <p:txBody>
            <a:bodyPr wrap="square" rtlCol="0">
              <a:spAutoFit/>
            </a:bodyPr>
            <a:lstStyle/>
            <a:p>
              <a:pPr algn="ctr"/>
              <a:r>
                <a:rPr lang="ja-JP" altLang="en-US" sz="1400"/>
                <a:t>売り</a:t>
              </a:r>
              <a:r>
                <a:rPr kumimoji="1" lang="ja-JP" altLang="en-US" sz="1400"/>
                <a:t>手</a:t>
              </a:r>
              <a:endParaRPr kumimoji="1" lang="en-US" altLang="ja-JP" sz="1400" dirty="0"/>
            </a:p>
            <a:p>
              <a:pPr algn="ctr"/>
              <a:r>
                <a:rPr kumimoji="1" lang="en-US" altLang="ja-JP" sz="1400" dirty="0"/>
                <a:t>(</a:t>
              </a:r>
              <a:r>
                <a:rPr kumimoji="1" lang="ja-JP" altLang="en-US" sz="1400"/>
                <a:t>人間</a:t>
              </a:r>
              <a:r>
                <a:rPr kumimoji="1" lang="en-US" altLang="ja-JP" sz="1400" dirty="0"/>
                <a:t>)</a:t>
              </a:r>
              <a:endParaRPr kumimoji="1" lang="ja-JP" altLang="en-US" sz="1400"/>
            </a:p>
          </p:txBody>
        </p:sp>
      </p:grpSp>
      <p:grpSp>
        <p:nvGrpSpPr>
          <p:cNvPr id="12" name="グループ化 11">
            <a:extLst>
              <a:ext uri="{FF2B5EF4-FFF2-40B4-BE49-F238E27FC236}">
                <a16:creationId xmlns:a16="http://schemas.microsoft.com/office/drawing/2014/main" id="{26C83495-812C-3C41-A835-24383DFFD5F0}"/>
              </a:ext>
            </a:extLst>
          </p:cNvPr>
          <p:cNvGrpSpPr/>
          <p:nvPr/>
        </p:nvGrpSpPr>
        <p:grpSpPr>
          <a:xfrm>
            <a:off x="5233247" y="2977176"/>
            <a:ext cx="1577961" cy="1293188"/>
            <a:chOff x="589000" y="2554772"/>
            <a:chExt cx="2795459" cy="2290961"/>
          </a:xfrm>
        </p:grpSpPr>
        <p:sp>
          <p:nvSpPr>
            <p:cNvPr id="13" name="テキスト ボックス 12">
              <a:extLst>
                <a:ext uri="{FF2B5EF4-FFF2-40B4-BE49-F238E27FC236}">
                  <a16:creationId xmlns:a16="http://schemas.microsoft.com/office/drawing/2014/main" id="{AE7CA118-075E-5740-B267-785826CB661B}"/>
                </a:ext>
              </a:extLst>
            </p:cNvPr>
            <p:cNvSpPr txBox="1"/>
            <p:nvPr/>
          </p:nvSpPr>
          <p:spPr>
            <a:xfrm>
              <a:off x="589000" y="3764255"/>
              <a:ext cx="2795459" cy="1081478"/>
            </a:xfrm>
            <a:prstGeom prst="rect">
              <a:avLst/>
            </a:prstGeom>
            <a:noFill/>
          </p:spPr>
          <p:txBody>
            <a:bodyPr wrap="square" rtlCol="0">
              <a:spAutoFit/>
            </a:bodyPr>
            <a:lstStyle/>
            <a:p>
              <a:pPr algn="ctr"/>
              <a:r>
                <a:rPr lang="ja-JP" altLang="en-US" sz="1400"/>
                <a:t>買い</a:t>
              </a:r>
              <a:r>
                <a:rPr kumimoji="1" lang="ja-JP" altLang="en-US" sz="1400"/>
                <a:t>手</a:t>
              </a:r>
              <a:endParaRPr kumimoji="1" lang="en-US" altLang="ja-JP" sz="1400" dirty="0"/>
            </a:p>
            <a:p>
              <a:pPr algn="ctr"/>
              <a:r>
                <a:rPr kumimoji="1" lang="en-US" altLang="ja-JP" sz="1400" dirty="0"/>
                <a:t>(</a:t>
              </a:r>
              <a:r>
                <a:rPr kumimoji="1" lang="ja-JP" altLang="en-US" sz="1400"/>
                <a:t>エージェント</a:t>
              </a:r>
              <a:r>
                <a:rPr kumimoji="1" lang="en-US" altLang="ja-JP" sz="1400" dirty="0"/>
                <a:t>)</a:t>
              </a:r>
              <a:endParaRPr kumimoji="1" lang="ja-JP" altLang="en-US" sz="1400"/>
            </a:p>
          </p:txBody>
        </p:sp>
        <p:pic>
          <p:nvPicPr>
            <p:cNvPr id="14" name="図 13">
              <a:extLst>
                <a:ext uri="{FF2B5EF4-FFF2-40B4-BE49-F238E27FC236}">
                  <a16:creationId xmlns:a16="http://schemas.microsoft.com/office/drawing/2014/main" id="{55A11DEF-EC3A-4646-8324-033A9C77619B}"/>
                </a:ext>
              </a:extLst>
            </p:cNvPr>
            <p:cNvPicPr>
              <a:picLocks noChangeAspect="1"/>
            </p:cNvPicPr>
            <p:nvPr/>
          </p:nvPicPr>
          <p:blipFill>
            <a:blip r:embed="rId3"/>
            <a:stretch>
              <a:fillRect/>
            </a:stretch>
          </p:blipFill>
          <p:spPr>
            <a:xfrm>
              <a:off x="1276892" y="2554772"/>
              <a:ext cx="1419672" cy="1235115"/>
            </a:xfrm>
            <a:prstGeom prst="rect">
              <a:avLst/>
            </a:prstGeom>
          </p:spPr>
        </p:pic>
      </p:grpSp>
    </p:spTree>
    <p:extLst>
      <p:ext uri="{BB962C8B-B14F-4D97-AF65-F5344CB8AC3E}">
        <p14:creationId xmlns:p14="http://schemas.microsoft.com/office/powerpoint/2010/main" val="11986826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53BB963-1B76-4E44-9F6F-44B6F068ACC2}"/>
              </a:ext>
            </a:extLst>
          </p:cNvPr>
          <p:cNvSpPr>
            <a:spLocks noGrp="1"/>
          </p:cNvSpPr>
          <p:nvPr>
            <p:ph type="title"/>
          </p:nvPr>
        </p:nvSpPr>
        <p:spPr/>
        <p:txBody>
          <a:bodyPr/>
          <a:lstStyle/>
          <a:p>
            <a:endParaRPr kumimoji="1" lang="ja-JP" altLang="en-US"/>
          </a:p>
        </p:txBody>
      </p:sp>
      <p:sp>
        <p:nvSpPr>
          <p:cNvPr id="3" name="日付プレースホルダー 2">
            <a:extLst>
              <a:ext uri="{FF2B5EF4-FFF2-40B4-BE49-F238E27FC236}">
                <a16:creationId xmlns:a16="http://schemas.microsoft.com/office/drawing/2014/main" id="{B7F9CA9F-EF66-F648-A38A-F9C42ADC3D4C}"/>
              </a:ext>
            </a:extLst>
          </p:cNvPr>
          <p:cNvSpPr>
            <a:spLocks noGrp="1"/>
          </p:cNvSpPr>
          <p:nvPr>
            <p:ph type="dt" sz="half" idx="10"/>
          </p:nvPr>
        </p:nvSpPr>
        <p:spPr/>
        <p:txBody>
          <a:bodyPr/>
          <a:lstStyle/>
          <a:p>
            <a:fld id="{4341EA7C-D461-6041-8E0E-F656A44343A5}" type="datetime1">
              <a:rPr kumimoji="1" lang="ja-JP" altLang="en-US" smtClean="0"/>
              <a:t>2020/8/28</a:t>
            </a:fld>
            <a:endParaRPr kumimoji="1" lang="ja-JP" altLang="en-US"/>
          </a:p>
        </p:txBody>
      </p:sp>
      <p:sp>
        <p:nvSpPr>
          <p:cNvPr id="4" name="フッター プレースホルダー 3">
            <a:extLst>
              <a:ext uri="{FF2B5EF4-FFF2-40B4-BE49-F238E27FC236}">
                <a16:creationId xmlns:a16="http://schemas.microsoft.com/office/drawing/2014/main" id="{D50E35C6-CDAF-164F-A217-3A80030B0AC0}"/>
              </a:ext>
            </a:extLst>
          </p:cNvPr>
          <p:cNvSpPr>
            <a:spLocks noGrp="1"/>
          </p:cNvSpPr>
          <p:nvPr>
            <p:ph type="ftr" sz="quarter" idx="11"/>
          </p:nvPr>
        </p:nvSpPr>
        <p:spPr/>
        <p:txBody>
          <a:bodyPr/>
          <a:lstStyle/>
          <a:p>
            <a:r>
              <a:rPr kumimoji="1" lang="ja-JP" altLang="en-US"/>
              <a:t>進捗報告</a:t>
            </a:r>
          </a:p>
        </p:txBody>
      </p:sp>
      <p:sp>
        <p:nvSpPr>
          <p:cNvPr id="5" name="スライド番号プレースホルダー 4">
            <a:extLst>
              <a:ext uri="{FF2B5EF4-FFF2-40B4-BE49-F238E27FC236}">
                <a16:creationId xmlns:a16="http://schemas.microsoft.com/office/drawing/2014/main" id="{EDC7A173-3A23-3240-A54F-0FBA70C820A4}"/>
              </a:ext>
            </a:extLst>
          </p:cNvPr>
          <p:cNvSpPr>
            <a:spLocks noGrp="1"/>
          </p:cNvSpPr>
          <p:nvPr>
            <p:ph type="sldNum" sz="quarter" idx="12"/>
          </p:nvPr>
        </p:nvSpPr>
        <p:spPr/>
        <p:txBody>
          <a:bodyPr/>
          <a:lstStyle/>
          <a:p>
            <a:fld id="{2981C279-7323-A845-8A27-BB5908B2F04D}" type="slidenum">
              <a:rPr kumimoji="1" lang="ja-JP" altLang="en-US" smtClean="0"/>
              <a:t>20</a:t>
            </a:fld>
            <a:endParaRPr kumimoji="1" lang="ja-JP" altLang="en-US"/>
          </a:p>
        </p:txBody>
      </p:sp>
      <p:grpSp>
        <p:nvGrpSpPr>
          <p:cNvPr id="6" name="グループ化 5">
            <a:extLst>
              <a:ext uri="{FF2B5EF4-FFF2-40B4-BE49-F238E27FC236}">
                <a16:creationId xmlns:a16="http://schemas.microsoft.com/office/drawing/2014/main" id="{90D18F01-2BBF-C84B-8485-C7E7243E88D8}"/>
              </a:ext>
            </a:extLst>
          </p:cNvPr>
          <p:cNvGrpSpPr/>
          <p:nvPr/>
        </p:nvGrpSpPr>
        <p:grpSpPr>
          <a:xfrm>
            <a:off x="163626" y="1160115"/>
            <a:ext cx="4103574" cy="680876"/>
            <a:chOff x="163626" y="1160115"/>
            <a:chExt cx="4103574" cy="680876"/>
          </a:xfrm>
        </p:grpSpPr>
        <p:cxnSp>
          <p:nvCxnSpPr>
            <p:cNvPr id="7" name="直線コネクタ 6">
              <a:extLst>
                <a:ext uri="{FF2B5EF4-FFF2-40B4-BE49-F238E27FC236}">
                  <a16:creationId xmlns:a16="http://schemas.microsoft.com/office/drawing/2014/main" id="{E7C6A173-0964-134D-947E-15DC34060103}"/>
                </a:ext>
              </a:extLst>
            </p:cNvPr>
            <p:cNvCxnSpPr/>
            <p:nvPr userDrawn="1"/>
          </p:nvCxnSpPr>
          <p:spPr>
            <a:xfrm>
              <a:off x="163626" y="1699846"/>
              <a:ext cx="4103574" cy="0"/>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8" name="正方形/長方形 7">
              <a:extLst>
                <a:ext uri="{FF2B5EF4-FFF2-40B4-BE49-F238E27FC236}">
                  <a16:creationId xmlns:a16="http://schemas.microsoft.com/office/drawing/2014/main" id="{FB915536-105B-5D47-8AEA-1D668ACAEC65}"/>
                </a:ext>
              </a:extLst>
            </p:cNvPr>
            <p:cNvSpPr/>
            <p:nvPr userDrawn="1"/>
          </p:nvSpPr>
          <p:spPr>
            <a:xfrm>
              <a:off x="281354" y="1160115"/>
              <a:ext cx="117231" cy="680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 name="テキスト プレースホルダー 12">
            <a:extLst>
              <a:ext uri="{FF2B5EF4-FFF2-40B4-BE49-F238E27FC236}">
                <a16:creationId xmlns:a16="http://schemas.microsoft.com/office/drawing/2014/main" id="{B9E78AD1-3EAD-ED4C-A870-F775161359ED}"/>
              </a:ext>
            </a:extLst>
          </p:cNvPr>
          <p:cNvSpPr txBox="1">
            <a:spLocks/>
          </p:cNvSpPr>
          <p:nvPr/>
        </p:nvSpPr>
        <p:spPr>
          <a:xfrm>
            <a:off x="404691" y="1192726"/>
            <a:ext cx="8147050" cy="680876"/>
          </a:xfrm>
          <a:prstGeom prst="rect">
            <a:avLst/>
          </a:prstGeom>
        </p:spPr>
        <p:txBody>
          <a:bodyPr/>
          <a:lstStyle>
            <a:lvl1pPr marL="0" indent="0" algn="l" defTabSz="914400" rtl="0" eaLnBrk="1" latinLnBrk="0" hangingPunct="1">
              <a:lnSpc>
                <a:spcPct val="90000"/>
              </a:lnSpc>
              <a:spcBef>
                <a:spcPts val="1000"/>
              </a:spcBef>
              <a:buSzPct val="100000"/>
              <a:buFontTx/>
              <a:buNone/>
              <a:tabLst/>
              <a:defRPr kumimoji="1" sz="3200" b="0" i="0" kern="1200">
                <a:solidFill>
                  <a:schemeClr val="tx1"/>
                </a:solidFill>
                <a:latin typeface="Hiragino Kaku Gothic Pro W3" panose="020B0300000000000000" pitchFamily="34" charset="-128"/>
                <a:ea typeface="Hiragino Kaku Gothic Pro W3" panose="020B0300000000000000" pitchFamily="34" charset="-128"/>
                <a:cs typeface="+mn-cs"/>
              </a:defRPr>
            </a:lvl1pPr>
            <a:lvl2pPr marL="722313" indent="-265113" algn="l" defTabSz="914400" rtl="0" eaLnBrk="1" latinLnBrk="0" hangingPunct="1">
              <a:lnSpc>
                <a:spcPct val="90000"/>
              </a:lnSpc>
              <a:spcBef>
                <a:spcPts val="500"/>
              </a:spcBef>
              <a:buSzPct val="100000"/>
              <a:buFontTx/>
              <a:buBlip>
                <a:blip r:embed="rId2"/>
              </a:buBlip>
              <a:tabLst/>
              <a:defRPr kumimoji="1" sz="2400" b="0" i="0" kern="1200">
                <a:solidFill>
                  <a:schemeClr val="tx1"/>
                </a:solidFill>
                <a:latin typeface="Hiragino Kaku Gothic Pro W3" panose="020B0300000000000000" pitchFamily="34" charset="-128"/>
                <a:ea typeface="Hiragino Kaku Gothic Pro W3" panose="020B0300000000000000" pitchFamily="34" charset="-128"/>
                <a:cs typeface="+mn-cs"/>
              </a:defRPr>
            </a:lvl2pPr>
            <a:lvl3pPr marL="1246188" indent="-331788" algn="l" defTabSz="914400" rtl="0" eaLnBrk="1" latinLnBrk="0" hangingPunct="1">
              <a:lnSpc>
                <a:spcPct val="90000"/>
              </a:lnSpc>
              <a:spcBef>
                <a:spcPts val="500"/>
              </a:spcBef>
              <a:buSzPct val="100000"/>
              <a:buFontTx/>
              <a:buBlip>
                <a:blip r:embed="rId3"/>
              </a:buBlip>
              <a:tabLst/>
              <a:defRPr kumimoji="1" sz="2000" b="0" i="0" kern="1200">
                <a:solidFill>
                  <a:schemeClr val="tx1"/>
                </a:solidFill>
                <a:latin typeface="Hiragino Kaku Gothic Pro W3" panose="020B0300000000000000" pitchFamily="34" charset="-128"/>
                <a:ea typeface="Hiragino Kaku Gothic Pro W3" panose="020B0300000000000000" pitchFamily="34" charset="-128"/>
                <a:cs typeface="+mn-cs"/>
              </a:defRPr>
            </a:lvl3pPr>
            <a:lvl4pPr marL="16002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4pPr>
            <a:lvl5pPr marL="2057400" indent="-228600" algn="l" defTabSz="914400" rtl="0" eaLnBrk="1" latinLnBrk="0" hangingPunct="1">
              <a:lnSpc>
                <a:spcPct val="90000"/>
              </a:lnSpc>
              <a:spcBef>
                <a:spcPts val="500"/>
              </a:spcBef>
              <a:buSzPct val="100000"/>
              <a:buFont typeface="Arial" panose="020B0604020202020204" pitchFamily="34" charset="0"/>
              <a:buChar char="•"/>
              <a:defRPr kumimoji="1" sz="1800" b="0" i="0" kern="1200">
                <a:solidFill>
                  <a:schemeClr val="tx1"/>
                </a:solidFill>
                <a:latin typeface="Hiragino Sans W4" panose="020B0400000000000000" pitchFamily="34" charset="-128"/>
                <a:ea typeface="Hiragino Sans W4" panose="020B0400000000000000" pitchFamily="34" charset="-128"/>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a:lstStyle>
          <a:p>
            <a:r>
              <a:rPr lang="ja-JP" altLang="en-US"/>
              <a:t>テキスト</a:t>
            </a:r>
          </a:p>
        </p:txBody>
      </p:sp>
    </p:spTree>
    <p:extLst>
      <p:ext uri="{BB962C8B-B14F-4D97-AF65-F5344CB8AC3E}">
        <p14:creationId xmlns:p14="http://schemas.microsoft.com/office/powerpoint/2010/main" val="2314095881"/>
      </p:ext>
    </p:extLst>
  </p:cSld>
  <p:clrMapOvr>
    <a:masterClrMapping/>
  </p:clrMapOvr>
</p:sld>
</file>

<file path=ppt/theme/theme1.xml><?xml version="1.0" encoding="utf-8"?>
<a:theme xmlns:a="http://schemas.openxmlformats.org/drawingml/2006/main" name="Office テーマ">
  <a:themeElements>
    <a:clrScheme name="ユーザー定義 1">
      <a:dk1>
        <a:srgbClr val="1D1D1D"/>
      </a:dk1>
      <a:lt1>
        <a:srgbClr val="E4E4E4"/>
      </a:lt1>
      <a:dk2>
        <a:srgbClr val="44546A"/>
      </a:dk2>
      <a:lt2>
        <a:srgbClr val="E7E6E6"/>
      </a:lt2>
      <a:accent1>
        <a:srgbClr val="3090C4"/>
      </a:accent1>
      <a:accent2>
        <a:srgbClr val="D68126"/>
      </a:accent2>
      <a:accent3>
        <a:srgbClr val="42A544"/>
      </a:accent3>
      <a:accent4>
        <a:srgbClr val="FFC000"/>
      </a:accent4>
      <a:accent5>
        <a:srgbClr val="5B9BD5"/>
      </a:accent5>
      <a:accent6>
        <a:srgbClr val="70AD47"/>
      </a:accent6>
      <a:hlink>
        <a:srgbClr val="0563C1"/>
      </a:hlink>
      <a:folHlink>
        <a:srgbClr val="954F72"/>
      </a:folHlink>
    </a:clrScheme>
    <a:fontScheme name="ヒラギノ角ゴシック Pro W3">
      <a:majorFont>
        <a:latin typeface="Hiragino Kaku Gothic ProN W3"/>
        <a:ea typeface="Hiragino Kaku Gothic ProN W3"/>
        <a:cs typeface=""/>
      </a:majorFont>
      <a:minorFont>
        <a:latin typeface="Hiragino Kaku Gothic ProN W3"/>
        <a:ea typeface="Hiragino Kaku Gothic ProN W3"/>
        <a:cs typeface=""/>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プレゼンテーション2" id="{9EB16A4D-D7F9-2340-A8EA-104836EA809B}" vid="{4F111AF7-2BB2-9640-B3FE-4B3A89EAF971}"/>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テーマ</Template>
  <TotalTime>2036</TotalTime>
  <Words>1406</Words>
  <Application>Microsoft Macintosh PowerPoint</Application>
  <PresentationFormat>画面に合わせる (4:3)</PresentationFormat>
  <Paragraphs>330</Paragraphs>
  <Slides>20</Slides>
  <Notes>0</Notes>
  <HiddenSlides>1</HiddenSlides>
  <MMClips>0</MMClips>
  <ScaleCrop>false</ScaleCrop>
  <HeadingPairs>
    <vt:vector size="6" baseType="variant">
      <vt:variant>
        <vt:lpstr>使用されているフォント</vt:lpstr>
      </vt:variant>
      <vt:variant>
        <vt:i4>7</vt:i4>
      </vt:variant>
      <vt:variant>
        <vt:lpstr>テーマ</vt:lpstr>
      </vt:variant>
      <vt:variant>
        <vt:i4>1</vt:i4>
      </vt:variant>
      <vt:variant>
        <vt:lpstr>スライド タイトル</vt:lpstr>
      </vt:variant>
      <vt:variant>
        <vt:i4>20</vt:i4>
      </vt:variant>
    </vt:vector>
  </HeadingPairs>
  <TitlesOfParts>
    <vt:vector size="28" baseType="lpstr">
      <vt:lpstr>Hiragino Kaku Gothic Pro W3</vt:lpstr>
      <vt:lpstr>Hiragino Kaku Gothic ProN W3</vt:lpstr>
      <vt:lpstr>Hiragino Sans W4</vt:lpstr>
      <vt:lpstr>Meiryo</vt:lpstr>
      <vt:lpstr>游ゴシック</vt:lpstr>
      <vt:lpstr>Arial</vt:lpstr>
      <vt:lpstr>Cambria Math</vt:lpstr>
      <vt:lpstr>Office テーマ</vt:lpstr>
      <vt:lpstr>進捗報告</vt:lpstr>
      <vt:lpstr>研究内容</vt:lpstr>
      <vt:lpstr>研究内容</vt:lpstr>
      <vt:lpstr>研究内容</vt:lpstr>
      <vt:lpstr>研究内容</vt:lpstr>
      <vt:lpstr>提案手法</vt:lpstr>
      <vt:lpstr>提案手法</vt:lpstr>
      <vt:lpstr>提案手法</vt:lpstr>
      <vt:lpstr>提案手法</vt:lpstr>
      <vt:lpstr>進捗</vt:lpstr>
      <vt:lpstr>進捗</vt:lpstr>
      <vt:lpstr>進捗</vt:lpstr>
      <vt:lpstr>進捗</vt:lpstr>
      <vt:lpstr>進捗</vt:lpstr>
      <vt:lpstr>進捗</vt:lpstr>
      <vt:lpstr>進捗</vt:lpstr>
      <vt:lpstr>進捗</vt:lpstr>
      <vt:lpstr>補足資料</vt:lpstr>
      <vt:lpstr>補足資料</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進捗報告</dc:title>
  <dc:creator>昌悟 松下</dc:creator>
  <cp:lastModifiedBy>昌悟 松下</cp:lastModifiedBy>
  <cp:revision>116</cp:revision>
  <dcterms:created xsi:type="dcterms:W3CDTF">2020-04-19T09:33:40Z</dcterms:created>
  <dcterms:modified xsi:type="dcterms:W3CDTF">2020-08-28T09:32:59Z</dcterms:modified>
</cp:coreProperties>
</file>