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1"/>
  </p:notesMasterIdLst>
  <p:sldIdLst>
    <p:sldId id="256" r:id="rId2"/>
    <p:sldId id="462" r:id="rId3"/>
    <p:sldId id="463" r:id="rId4"/>
    <p:sldId id="469" r:id="rId5"/>
    <p:sldId id="470" r:id="rId6"/>
    <p:sldId id="455" r:id="rId7"/>
    <p:sldId id="464" r:id="rId8"/>
    <p:sldId id="465" r:id="rId9"/>
    <p:sldId id="452" r:id="rId10"/>
    <p:sldId id="456" r:id="rId11"/>
    <p:sldId id="466" r:id="rId12"/>
    <p:sldId id="468" r:id="rId13"/>
    <p:sldId id="460" r:id="rId14"/>
    <p:sldId id="471" r:id="rId15"/>
    <p:sldId id="454" r:id="rId16"/>
    <p:sldId id="451" r:id="rId17"/>
    <p:sldId id="453" r:id="rId18"/>
    <p:sldId id="457" r:id="rId19"/>
    <p:sldId id="257"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B9BD6"/>
    <a:srgbClr val="EAB37F"/>
    <a:srgbClr val="ABCFDB"/>
    <a:srgbClr val="B2D6E4"/>
    <a:srgbClr val="ECCA5E"/>
    <a:srgbClr val="E4C35B"/>
    <a:srgbClr val="ABD7D1"/>
    <a:srgbClr val="E0AC7B"/>
    <a:srgbClr val="B8E6E0"/>
    <a:srgbClr val="FFDA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714"/>
    <p:restoredTop sz="94624"/>
  </p:normalViewPr>
  <p:slideViewPr>
    <p:cSldViewPr snapToGrid="0" snapToObjects="1" showGuides="1">
      <p:cViewPr varScale="1">
        <p:scale>
          <a:sx n="110" d="100"/>
          <a:sy n="110" d="100"/>
        </p:scale>
        <p:origin x="1576" y="176"/>
      </p:cViewPr>
      <p:guideLst>
        <p:guide orient="horz" pos="2137"/>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0CCDC2-C448-5942-B3C6-FAFA0B7166CF}" type="datetimeFigureOut">
              <a:rPr kumimoji="1" lang="ja-JP" altLang="en-US" smtClean="0"/>
              <a:t>2020/7/10</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D68E3D-F587-EC48-9825-EB28F1280931}" type="slidenum">
              <a:rPr kumimoji="1" lang="ja-JP" altLang="en-US" smtClean="0"/>
              <a:t>‹#›</a:t>
            </a:fld>
            <a:endParaRPr kumimoji="1" lang="ja-JP" altLang="en-US"/>
          </a:p>
        </p:txBody>
      </p:sp>
    </p:spTree>
    <p:extLst>
      <p:ext uri="{BB962C8B-B14F-4D97-AF65-F5344CB8AC3E}">
        <p14:creationId xmlns:p14="http://schemas.microsoft.com/office/powerpoint/2010/main" val="279737346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8D7740A0-10A2-AC4B-9E37-89A047D63AA9}"/>
              </a:ext>
            </a:extLst>
          </p:cNvPr>
          <p:cNvSpPr/>
          <p:nvPr userDrawn="1"/>
        </p:nvSpPr>
        <p:spPr>
          <a:xfrm>
            <a:off x="-18000" y="1735015"/>
            <a:ext cx="9180000" cy="3411416"/>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Title 1"/>
          <p:cNvSpPr>
            <a:spLocks noGrp="1"/>
          </p:cNvSpPr>
          <p:nvPr>
            <p:ph type="ctrTitle"/>
          </p:nvPr>
        </p:nvSpPr>
        <p:spPr>
          <a:xfrm>
            <a:off x="-130302" y="1368546"/>
            <a:ext cx="9404604" cy="2387600"/>
          </a:xfrm>
        </p:spPr>
        <p:txBody>
          <a:bodyPr anchor="b"/>
          <a:lstStyle>
            <a:lvl1pPr algn="ctr">
              <a:defRPr sz="6000">
                <a:solidFill>
                  <a:schemeClr val="bg1"/>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143000" y="4188188"/>
            <a:ext cx="6858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FDC2C275-3977-4849-BBDE-F9BC93110E65}" type="datetime1">
              <a:rPr kumimoji="1" lang="ja-JP" altLang="en-US" smtClean="0"/>
              <a:t>2020/7/10</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
        <p:nvSpPr>
          <p:cNvPr id="10" name="角丸四角形 9">
            <a:extLst>
              <a:ext uri="{FF2B5EF4-FFF2-40B4-BE49-F238E27FC236}">
                <a16:creationId xmlns:a16="http://schemas.microsoft.com/office/drawing/2014/main" id="{EE0A9B93-3B75-BD4C-97FF-D428AE5ADB8E}"/>
              </a:ext>
            </a:extLst>
          </p:cNvPr>
          <p:cNvSpPr/>
          <p:nvPr userDrawn="1"/>
        </p:nvSpPr>
        <p:spPr>
          <a:xfrm>
            <a:off x="562708" y="3934582"/>
            <a:ext cx="8006861" cy="72000"/>
          </a:xfrm>
          <a:prstGeom prst="roundRect">
            <a:avLst>
              <a:gd name="adj" fmla="val 5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312891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番号なし_箇条書き貼り付け用">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5238" y="-128952"/>
            <a:ext cx="8198828" cy="1095506"/>
          </a:xfrm>
        </p:spPr>
        <p:txBody>
          <a:bodyPr>
            <a:noAutofit/>
          </a:bodyPr>
          <a:lstStyle>
            <a:lvl1pPr>
              <a:defRPr sz="4800"/>
            </a:lvl1pPr>
          </a:lstStyle>
          <a:p>
            <a:r>
              <a:rPr lang="ja-JP" altLang="en-US"/>
              <a:t>スライドのタイトル</a:t>
            </a:r>
            <a:endParaRPr lang="en-US" dirty="0"/>
          </a:p>
        </p:txBody>
      </p:sp>
      <p:sp>
        <p:nvSpPr>
          <p:cNvPr id="4" name="Date Placeholder 3"/>
          <p:cNvSpPr>
            <a:spLocks noGrp="1"/>
          </p:cNvSpPr>
          <p:nvPr>
            <p:ph type="dt" sz="half" idx="10"/>
          </p:nvPr>
        </p:nvSpPr>
        <p:spPr/>
        <p:txBody>
          <a:bodyPr/>
          <a:lstStyle/>
          <a:p>
            <a:fld id="{953EA1E6-C3B8-DE4D-A346-09EF080BA12A}" type="datetime1">
              <a:rPr kumimoji="1" lang="ja-JP" altLang="en-US" smtClean="0"/>
              <a:t>2020/7/10</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a:xfrm>
            <a:off x="8228059" y="6443601"/>
            <a:ext cx="721106" cy="401638"/>
          </a:xfrm>
        </p:spPr>
        <p:txBody>
          <a:bodyPr/>
          <a:lstStyle>
            <a:lvl1pPr>
              <a:defRPr sz="2800"/>
            </a:lvl1pPr>
          </a:lstStyle>
          <a:p>
            <a:fld id="{2981C279-7323-A845-8A27-BB5908B2F04D}" type="slidenum">
              <a:rPr kumimoji="1" lang="ja-JP" altLang="en-US" smtClean="0"/>
              <a:pPr/>
              <a:t>‹#›</a:t>
            </a:fld>
            <a:endParaRPr kumimoji="1" lang="ja-JP" altLang="en-US"/>
          </a:p>
        </p:txBody>
      </p:sp>
      <p:sp>
        <p:nvSpPr>
          <p:cNvPr id="13" name="Content Placeholder 2">
            <a:extLst>
              <a:ext uri="{FF2B5EF4-FFF2-40B4-BE49-F238E27FC236}">
                <a16:creationId xmlns:a16="http://schemas.microsoft.com/office/drawing/2014/main" id="{6CB6FB83-902B-494A-98B3-A5B53F5B8137}"/>
              </a:ext>
            </a:extLst>
          </p:cNvPr>
          <p:cNvSpPr>
            <a:spLocks noGrp="1"/>
          </p:cNvSpPr>
          <p:nvPr>
            <p:ph idx="1"/>
          </p:nvPr>
        </p:nvSpPr>
        <p:spPr>
          <a:xfrm>
            <a:off x="194898" y="1884384"/>
            <a:ext cx="8859709" cy="4692114"/>
          </a:xfrm>
        </p:spPr>
        <p:txBody>
          <a:bodyPr/>
          <a:lstStyle>
            <a:lvl3pPr>
              <a:lnSpc>
                <a:spcPct val="100000"/>
              </a:lnSpc>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Tree>
    <p:extLst>
      <p:ext uri="{BB962C8B-B14F-4D97-AF65-F5344CB8AC3E}">
        <p14:creationId xmlns:p14="http://schemas.microsoft.com/office/powerpoint/2010/main" val="1388139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番号あり_箇条書き貼り付け用">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79634" y="-128952"/>
            <a:ext cx="8198828" cy="1095506"/>
          </a:xfrm>
        </p:spPr>
        <p:txBody>
          <a:bodyPr>
            <a:noAutofit/>
          </a:bodyPr>
          <a:lstStyle>
            <a:lvl1pPr>
              <a:defRPr sz="4800"/>
            </a:lvl1pPr>
          </a:lstStyle>
          <a:p>
            <a:r>
              <a:rPr lang="ja-JP" altLang="en-US"/>
              <a:t>スライドのタイトル</a:t>
            </a:r>
            <a:endParaRPr lang="en-US" dirty="0"/>
          </a:p>
        </p:txBody>
      </p:sp>
      <p:sp>
        <p:nvSpPr>
          <p:cNvPr id="3" name="Content Placeholder 2"/>
          <p:cNvSpPr>
            <a:spLocks noGrp="1"/>
          </p:cNvSpPr>
          <p:nvPr>
            <p:ph idx="1"/>
          </p:nvPr>
        </p:nvSpPr>
        <p:spPr>
          <a:xfrm>
            <a:off x="194898" y="1884384"/>
            <a:ext cx="8859709" cy="4692114"/>
          </a:xfrm>
        </p:spPr>
        <p:txBody>
          <a:bodyPr/>
          <a:lstStyle>
            <a:lvl3pPr>
              <a:lnSpc>
                <a:spcPct val="100000"/>
              </a:lnSpc>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
        <p:nvSpPr>
          <p:cNvPr id="4" name="Date Placeholder 3"/>
          <p:cNvSpPr>
            <a:spLocks noGrp="1"/>
          </p:cNvSpPr>
          <p:nvPr>
            <p:ph type="dt" sz="half" idx="10"/>
          </p:nvPr>
        </p:nvSpPr>
        <p:spPr/>
        <p:txBody>
          <a:bodyPr/>
          <a:lstStyle/>
          <a:p>
            <a:fld id="{24B158CC-F5BE-2345-99BA-C49B60654C2B}" type="datetime1">
              <a:rPr kumimoji="1" lang="ja-JP" altLang="en-US" smtClean="0"/>
              <a:t>2020/7/10</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
        <p:nvSpPr>
          <p:cNvPr id="9" name="フリーフォーム 8">
            <a:extLst>
              <a:ext uri="{FF2B5EF4-FFF2-40B4-BE49-F238E27FC236}">
                <a16:creationId xmlns:a16="http://schemas.microsoft.com/office/drawing/2014/main" id="{2088A402-64A7-4F4B-9DF6-0F821459DD04}"/>
              </a:ext>
            </a:extLst>
          </p:cNvPr>
          <p:cNvSpPr/>
          <p:nvPr userDrawn="1"/>
        </p:nvSpPr>
        <p:spPr>
          <a:xfrm>
            <a:off x="-63877" y="-128952"/>
            <a:ext cx="1172309" cy="1160586"/>
          </a:xfrm>
          <a:custGeom>
            <a:avLst/>
            <a:gdLst>
              <a:gd name="connsiteX0" fmla="*/ 0 w 1289540"/>
              <a:gd name="connsiteY0" fmla="*/ 0 h 1160586"/>
              <a:gd name="connsiteX1" fmla="*/ 1286782 w 1289540"/>
              <a:gd name="connsiteY1" fmla="*/ 0 h 1160586"/>
              <a:gd name="connsiteX2" fmla="*/ 1289540 w 1289540"/>
              <a:gd name="connsiteY2" fmla="*/ 27360 h 1160586"/>
              <a:gd name="connsiteX3" fmla="*/ 1289540 w 1289540"/>
              <a:gd name="connsiteY3" fmla="*/ 933935 h 1160586"/>
              <a:gd name="connsiteX4" fmla="*/ 1062889 w 1289540"/>
              <a:gd name="connsiteY4" fmla="*/ 1160586 h 1160586"/>
              <a:gd name="connsiteX5" fmla="*/ 49937 w 1289540"/>
              <a:gd name="connsiteY5" fmla="*/ 1160586 h 1160586"/>
              <a:gd name="connsiteX6" fmla="*/ 4259 w 1289540"/>
              <a:gd name="connsiteY6" fmla="*/ 1155981 h 1160586"/>
              <a:gd name="connsiteX7" fmla="*/ 0 w 1289540"/>
              <a:gd name="connsiteY7" fmla="*/ 1154659 h 116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9540" h="1160586">
                <a:moveTo>
                  <a:pt x="0" y="0"/>
                </a:moveTo>
                <a:lnTo>
                  <a:pt x="1286782" y="0"/>
                </a:lnTo>
                <a:lnTo>
                  <a:pt x="1289540" y="27360"/>
                </a:lnTo>
                <a:lnTo>
                  <a:pt x="1289540" y="933935"/>
                </a:lnTo>
                <a:cubicBezTo>
                  <a:pt x="1289540" y="1059111"/>
                  <a:pt x="1188065" y="1160586"/>
                  <a:pt x="1062889" y="1160586"/>
                </a:cubicBezTo>
                <a:lnTo>
                  <a:pt x="49937" y="1160586"/>
                </a:lnTo>
                <a:cubicBezTo>
                  <a:pt x="34290" y="1160586"/>
                  <a:pt x="19013" y="1159001"/>
                  <a:pt x="4259" y="1155981"/>
                </a:cubicBezTo>
                <a:lnTo>
                  <a:pt x="0" y="1154659"/>
                </a:lnTo>
                <a:close/>
              </a:path>
            </a:pathLst>
          </a:custGeom>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プレースホルダー 10">
            <a:extLst>
              <a:ext uri="{FF2B5EF4-FFF2-40B4-BE49-F238E27FC236}">
                <a16:creationId xmlns:a16="http://schemas.microsoft.com/office/drawing/2014/main" id="{9B857D65-C0D5-C14C-9A10-143D21D4BE97}"/>
              </a:ext>
            </a:extLst>
          </p:cNvPr>
          <p:cNvSpPr>
            <a:spLocks noGrp="1"/>
          </p:cNvSpPr>
          <p:nvPr>
            <p:ph type="body" sz="quarter" idx="13" hasCustomPrompt="1"/>
          </p:nvPr>
        </p:nvSpPr>
        <p:spPr>
          <a:xfrm>
            <a:off x="-425464" y="-27300"/>
            <a:ext cx="1879127" cy="972000"/>
          </a:xfrm>
        </p:spPr>
        <p:txBody>
          <a:bodyPr>
            <a:noAutofit/>
          </a:bodyPr>
          <a:lstStyle>
            <a:lvl1pPr marL="0" indent="0" algn="ctr">
              <a:buNone/>
              <a:defRPr sz="80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kumimoji="1" lang="en-US" altLang="ja-JP" dirty="0"/>
              <a:t>No</a:t>
            </a:r>
            <a:endParaRPr kumimoji="1" lang="ja-JP" altLang="en-US"/>
          </a:p>
        </p:txBody>
      </p:sp>
    </p:spTree>
    <p:extLst>
      <p:ext uri="{BB962C8B-B14F-4D97-AF65-F5344CB8AC3E}">
        <p14:creationId xmlns:p14="http://schemas.microsoft.com/office/powerpoint/2010/main" val="2057242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番号なし＿箇条書きのみ">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5238" y="-128952"/>
            <a:ext cx="8198828" cy="1095506"/>
          </a:xfrm>
        </p:spPr>
        <p:txBody>
          <a:bodyPr>
            <a:noAutofit/>
          </a:bodyPr>
          <a:lstStyle>
            <a:lvl1pPr>
              <a:defRPr sz="4800"/>
            </a:lvl1pPr>
          </a:lstStyle>
          <a:p>
            <a:r>
              <a:rPr lang="ja-JP" altLang="en-US"/>
              <a:t>スライドのタイトル</a:t>
            </a:r>
            <a:endParaRPr lang="en-US" dirty="0"/>
          </a:p>
        </p:txBody>
      </p:sp>
      <p:sp>
        <p:nvSpPr>
          <p:cNvPr id="4" name="Date Placeholder 3"/>
          <p:cNvSpPr>
            <a:spLocks noGrp="1"/>
          </p:cNvSpPr>
          <p:nvPr>
            <p:ph type="dt" sz="half" idx="10"/>
          </p:nvPr>
        </p:nvSpPr>
        <p:spPr/>
        <p:txBody>
          <a:bodyPr/>
          <a:lstStyle/>
          <a:p>
            <a:fld id="{FD99470E-4BC5-1945-9506-A510EA67C3DE}" type="datetime1">
              <a:rPr kumimoji="1" lang="ja-JP" altLang="en-US" smtClean="0"/>
              <a:t>2020/7/10</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a:xfrm>
            <a:off x="8228059" y="6443601"/>
            <a:ext cx="721106" cy="401638"/>
          </a:xfrm>
        </p:spPr>
        <p:txBody>
          <a:bodyPr/>
          <a:lstStyle>
            <a:lvl1pPr>
              <a:defRPr sz="2800"/>
            </a:lvl1pPr>
          </a:lstStyle>
          <a:p>
            <a:fld id="{2981C279-7323-A845-8A27-BB5908B2F04D}" type="slidenum">
              <a:rPr kumimoji="1" lang="ja-JP" altLang="en-US" smtClean="0"/>
              <a:pPr/>
              <a:t>‹#›</a:t>
            </a:fld>
            <a:endParaRPr kumimoji="1" lang="ja-JP" altLang="en-US"/>
          </a:p>
        </p:txBody>
      </p:sp>
      <p:sp>
        <p:nvSpPr>
          <p:cNvPr id="13" name="Content Placeholder 2">
            <a:extLst>
              <a:ext uri="{FF2B5EF4-FFF2-40B4-BE49-F238E27FC236}">
                <a16:creationId xmlns:a16="http://schemas.microsoft.com/office/drawing/2014/main" id="{6CB6FB83-902B-494A-98B3-A5B53F5B8137}"/>
              </a:ext>
            </a:extLst>
          </p:cNvPr>
          <p:cNvSpPr>
            <a:spLocks noGrp="1"/>
          </p:cNvSpPr>
          <p:nvPr>
            <p:ph idx="1"/>
          </p:nvPr>
        </p:nvSpPr>
        <p:spPr>
          <a:xfrm>
            <a:off x="194898" y="1169281"/>
            <a:ext cx="8859709" cy="4692114"/>
          </a:xfrm>
        </p:spPr>
        <p:txBody>
          <a:bodyPr/>
          <a:lstStyle>
            <a:lvl3pPr>
              <a:lnSpc>
                <a:spcPct val="100000"/>
              </a:lnSpc>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Tree>
    <p:extLst>
      <p:ext uri="{BB962C8B-B14F-4D97-AF65-F5344CB8AC3E}">
        <p14:creationId xmlns:p14="http://schemas.microsoft.com/office/powerpoint/2010/main" val="1602699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番号あり_箇条書きのみ">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79634" y="-128952"/>
            <a:ext cx="8198828" cy="1095506"/>
          </a:xfrm>
        </p:spPr>
        <p:txBody>
          <a:bodyPr>
            <a:noAutofit/>
          </a:bodyPr>
          <a:lstStyle>
            <a:lvl1pPr>
              <a:defRPr sz="4800"/>
            </a:lvl1pPr>
          </a:lstStyle>
          <a:p>
            <a:r>
              <a:rPr lang="ja-JP" altLang="en-US"/>
              <a:t>スライドのタイトル</a:t>
            </a:r>
            <a:endParaRPr lang="en-US" dirty="0"/>
          </a:p>
        </p:txBody>
      </p:sp>
      <p:sp>
        <p:nvSpPr>
          <p:cNvPr id="4" name="Date Placeholder 3"/>
          <p:cNvSpPr>
            <a:spLocks noGrp="1"/>
          </p:cNvSpPr>
          <p:nvPr>
            <p:ph type="dt" sz="half" idx="10"/>
          </p:nvPr>
        </p:nvSpPr>
        <p:spPr/>
        <p:txBody>
          <a:bodyPr/>
          <a:lstStyle/>
          <a:p>
            <a:fld id="{484468A3-0919-F54E-B59A-E9ED9FABFE93}" type="datetime1">
              <a:rPr kumimoji="1" lang="ja-JP" altLang="en-US" smtClean="0"/>
              <a:t>2020/7/10</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
        <p:nvSpPr>
          <p:cNvPr id="9" name="フリーフォーム 8">
            <a:extLst>
              <a:ext uri="{FF2B5EF4-FFF2-40B4-BE49-F238E27FC236}">
                <a16:creationId xmlns:a16="http://schemas.microsoft.com/office/drawing/2014/main" id="{2088A402-64A7-4F4B-9DF6-0F821459DD04}"/>
              </a:ext>
            </a:extLst>
          </p:cNvPr>
          <p:cNvSpPr/>
          <p:nvPr userDrawn="1"/>
        </p:nvSpPr>
        <p:spPr>
          <a:xfrm>
            <a:off x="-63877" y="-128952"/>
            <a:ext cx="1172309" cy="1160586"/>
          </a:xfrm>
          <a:custGeom>
            <a:avLst/>
            <a:gdLst>
              <a:gd name="connsiteX0" fmla="*/ 0 w 1289540"/>
              <a:gd name="connsiteY0" fmla="*/ 0 h 1160586"/>
              <a:gd name="connsiteX1" fmla="*/ 1286782 w 1289540"/>
              <a:gd name="connsiteY1" fmla="*/ 0 h 1160586"/>
              <a:gd name="connsiteX2" fmla="*/ 1289540 w 1289540"/>
              <a:gd name="connsiteY2" fmla="*/ 27360 h 1160586"/>
              <a:gd name="connsiteX3" fmla="*/ 1289540 w 1289540"/>
              <a:gd name="connsiteY3" fmla="*/ 933935 h 1160586"/>
              <a:gd name="connsiteX4" fmla="*/ 1062889 w 1289540"/>
              <a:gd name="connsiteY4" fmla="*/ 1160586 h 1160586"/>
              <a:gd name="connsiteX5" fmla="*/ 49937 w 1289540"/>
              <a:gd name="connsiteY5" fmla="*/ 1160586 h 1160586"/>
              <a:gd name="connsiteX6" fmla="*/ 4259 w 1289540"/>
              <a:gd name="connsiteY6" fmla="*/ 1155981 h 1160586"/>
              <a:gd name="connsiteX7" fmla="*/ 0 w 1289540"/>
              <a:gd name="connsiteY7" fmla="*/ 1154659 h 116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9540" h="1160586">
                <a:moveTo>
                  <a:pt x="0" y="0"/>
                </a:moveTo>
                <a:lnTo>
                  <a:pt x="1286782" y="0"/>
                </a:lnTo>
                <a:lnTo>
                  <a:pt x="1289540" y="27360"/>
                </a:lnTo>
                <a:lnTo>
                  <a:pt x="1289540" y="933935"/>
                </a:lnTo>
                <a:cubicBezTo>
                  <a:pt x="1289540" y="1059111"/>
                  <a:pt x="1188065" y="1160586"/>
                  <a:pt x="1062889" y="1160586"/>
                </a:cubicBezTo>
                <a:lnTo>
                  <a:pt x="49937" y="1160586"/>
                </a:lnTo>
                <a:cubicBezTo>
                  <a:pt x="34290" y="1160586"/>
                  <a:pt x="19013" y="1159001"/>
                  <a:pt x="4259" y="1155981"/>
                </a:cubicBezTo>
                <a:lnTo>
                  <a:pt x="0" y="1154659"/>
                </a:lnTo>
                <a:close/>
              </a:path>
            </a:pathLst>
          </a:custGeom>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プレースホルダー 10">
            <a:extLst>
              <a:ext uri="{FF2B5EF4-FFF2-40B4-BE49-F238E27FC236}">
                <a16:creationId xmlns:a16="http://schemas.microsoft.com/office/drawing/2014/main" id="{9B857D65-C0D5-C14C-9A10-143D21D4BE97}"/>
              </a:ext>
            </a:extLst>
          </p:cNvPr>
          <p:cNvSpPr>
            <a:spLocks noGrp="1"/>
          </p:cNvSpPr>
          <p:nvPr>
            <p:ph type="body" sz="quarter" idx="13" hasCustomPrompt="1"/>
          </p:nvPr>
        </p:nvSpPr>
        <p:spPr>
          <a:xfrm>
            <a:off x="-425464" y="-27300"/>
            <a:ext cx="1879127" cy="972000"/>
          </a:xfrm>
        </p:spPr>
        <p:txBody>
          <a:bodyPr>
            <a:noAutofit/>
          </a:bodyPr>
          <a:lstStyle>
            <a:lvl1pPr marL="0" indent="0" algn="ctr">
              <a:buNone/>
              <a:defRPr sz="80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kumimoji="1" lang="en-US" altLang="ja-JP" dirty="0"/>
              <a:t>No</a:t>
            </a:r>
            <a:endParaRPr kumimoji="1" lang="ja-JP" altLang="en-US"/>
          </a:p>
        </p:txBody>
      </p:sp>
      <p:sp>
        <p:nvSpPr>
          <p:cNvPr id="10" name="Content Placeholder 2">
            <a:extLst>
              <a:ext uri="{FF2B5EF4-FFF2-40B4-BE49-F238E27FC236}">
                <a16:creationId xmlns:a16="http://schemas.microsoft.com/office/drawing/2014/main" id="{008DC9C3-5553-BD40-9933-0A4D05E8ED7A}"/>
              </a:ext>
            </a:extLst>
          </p:cNvPr>
          <p:cNvSpPr>
            <a:spLocks noGrp="1"/>
          </p:cNvSpPr>
          <p:nvPr>
            <p:ph idx="1"/>
          </p:nvPr>
        </p:nvSpPr>
        <p:spPr>
          <a:xfrm>
            <a:off x="194898" y="1169281"/>
            <a:ext cx="8859709" cy="4692114"/>
          </a:xfrm>
        </p:spPr>
        <p:txBody>
          <a:bodyPr/>
          <a:lstStyle>
            <a:lvl3pPr>
              <a:lnSpc>
                <a:spcPct val="100000"/>
              </a:lnSpc>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Tree>
    <p:extLst>
      <p:ext uri="{BB962C8B-B14F-4D97-AF65-F5344CB8AC3E}">
        <p14:creationId xmlns:p14="http://schemas.microsoft.com/office/powerpoint/2010/main" val="3562719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409F3555-E93B-3A4D-AF4E-8776BA7B7879}" type="datetime1">
              <a:rPr kumimoji="1" lang="ja-JP" altLang="en-US" smtClean="0"/>
              <a:t>2020/7/10</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1745596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E41D34DB-DCA4-3E46-8E9A-438514557B03}" type="datetime1">
              <a:rPr kumimoji="1" lang="ja-JP" altLang="en-US" smtClean="0"/>
              <a:t>2020/7/10</a:t>
            </a:fld>
            <a:endParaRPr kumimoji="1" lang="ja-JP" altLang="en-US"/>
          </a:p>
        </p:txBody>
      </p:sp>
      <p:sp>
        <p:nvSpPr>
          <p:cNvPr id="6" name="Footer Placeholder 5"/>
          <p:cNvSpPr>
            <a:spLocks noGrp="1"/>
          </p:cNvSpPr>
          <p:nvPr>
            <p:ph type="ftr" sz="quarter" idx="11"/>
          </p:nvPr>
        </p:nvSpPr>
        <p:spPr/>
        <p:txBody>
          <a:bodyPr/>
          <a:lstStyle/>
          <a:p>
            <a:r>
              <a:rPr kumimoji="1" lang="ja-JP" altLang="en-US"/>
              <a:t>進捗報告</a:t>
            </a:r>
          </a:p>
        </p:txBody>
      </p:sp>
      <p:sp>
        <p:nvSpPr>
          <p:cNvPr id="7" name="Slide Number Placeholder 6"/>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1376941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29842" y="2505075"/>
            <a:ext cx="3868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4629150" y="2505075"/>
            <a:ext cx="3887391"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B29C2B0B-3EB1-7D48-BCB2-B34EB8C22E6E}" type="datetime1">
              <a:rPr kumimoji="1" lang="ja-JP" altLang="en-US" smtClean="0"/>
              <a:t>2020/7/10</a:t>
            </a:fld>
            <a:endParaRPr kumimoji="1" lang="ja-JP" altLang="en-US"/>
          </a:p>
        </p:txBody>
      </p:sp>
      <p:sp>
        <p:nvSpPr>
          <p:cNvPr id="8" name="Footer Placeholder 7"/>
          <p:cNvSpPr>
            <a:spLocks noGrp="1"/>
          </p:cNvSpPr>
          <p:nvPr>
            <p:ph type="ftr" sz="quarter" idx="11"/>
          </p:nvPr>
        </p:nvSpPr>
        <p:spPr/>
        <p:txBody>
          <a:bodyPr/>
          <a:lstStyle/>
          <a:p>
            <a:r>
              <a:rPr kumimoji="1" lang="ja-JP" altLang="en-US"/>
              <a:t>進捗報告</a:t>
            </a:r>
          </a:p>
        </p:txBody>
      </p:sp>
      <p:sp>
        <p:nvSpPr>
          <p:cNvPr id="9" name="Slide Number Placeholder 8"/>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1241846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50CE9526-C6B6-3C4B-B48C-57A5608CC1DE}" type="datetime1">
              <a:rPr kumimoji="1" lang="ja-JP" altLang="en-US" smtClean="0"/>
              <a:t>2020/7/10</a:t>
            </a:fld>
            <a:endParaRPr kumimoji="1" lang="ja-JP" altLang="en-US"/>
          </a:p>
        </p:txBody>
      </p:sp>
      <p:sp>
        <p:nvSpPr>
          <p:cNvPr id="4" name="Footer Placeholder 3"/>
          <p:cNvSpPr>
            <a:spLocks noGrp="1"/>
          </p:cNvSpPr>
          <p:nvPr>
            <p:ph type="ftr" sz="quarter" idx="11"/>
          </p:nvPr>
        </p:nvSpPr>
        <p:spPr/>
        <p:txBody>
          <a:bodyPr/>
          <a:lstStyle/>
          <a:p>
            <a:r>
              <a:rPr kumimoji="1" lang="ja-JP" altLang="en-US"/>
              <a:t>進捗報告</a:t>
            </a:r>
          </a:p>
        </p:txBody>
      </p:sp>
      <p:sp>
        <p:nvSpPr>
          <p:cNvPr id="5" name="Slide Number Placeholder 4"/>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1014043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コピー用">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EDE972-7F9F-8545-A12B-9CBEE476963D}" type="datetime1">
              <a:rPr kumimoji="1" lang="ja-JP" altLang="en-US" smtClean="0"/>
              <a:t>2020/7/10</a:t>
            </a:fld>
            <a:endParaRPr kumimoji="1" lang="ja-JP" altLang="en-US"/>
          </a:p>
        </p:txBody>
      </p:sp>
      <p:sp>
        <p:nvSpPr>
          <p:cNvPr id="3" name="Footer Placeholder 2"/>
          <p:cNvSpPr>
            <a:spLocks noGrp="1"/>
          </p:cNvSpPr>
          <p:nvPr>
            <p:ph type="ftr" sz="quarter" idx="11"/>
          </p:nvPr>
        </p:nvSpPr>
        <p:spPr/>
        <p:txBody>
          <a:bodyPr/>
          <a:lstStyle/>
          <a:p>
            <a:r>
              <a:rPr kumimoji="1" lang="ja-JP" altLang="en-US"/>
              <a:t>進捗報告</a:t>
            </a:r>
          </a:p>
        </p:txBody>
      </p:sp>
      <p:sp>
        <p:nvSpPr>
          <p:cNvPr id="4" name="Slide Number Placeholder 3"/>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grpSp>
        <p:nvGrpSpPr>
          <p:cNvPr id="5" name="グループ化 4">
            <a:extLst>
              <a:ext uri="{FF2B5EF4-FFF2-40B4-BE49-F238E27FC236}">
                <a16:creationId xmlns:a16="http://schemas.microsoft.com/office/drawing/2014/main" id="{BF48DF8D-E5BC-9044-9980-A872104EC9D1}"/>
              </a:ext>
            </a:extLst>
          </p:cNvPr>
          <p:cNvGrpSpPr/>
          <p:nvPr userDrawn="1"/>
        </p:nvGrpSpPr>
        <p:grpSpPr>
          <a:xfrm>
            <a:off x="2438030" y="3497736"/>
            <a:ext cx="513617" cy="487974"/>
            <a:chOff x="5777279" y="1326905"/>
            <a:chExt cx="513617" cy="487974"/>
          </a:xfrm>
          <a:solidFill>
            <a:schemeClr val="accent1"/>
          </a:solidFill>
        </p:grpSpPr>
        <p:sp>
          <p:nvSpPr>
            <p:cNvPr id="6" name="三角形 5">
              <a:extLst>
                <a:ext uri="{FF2B5EF4-FFF2-40B4-BE49-F238E27FC236}">
                  <a16:creationId xmlns:a16="http://schemas.microsoft.com/office/drawing/2014/main" id="{3DC6B543-7F25-FF44-97B2-229A862B52F5}"/>
                </a:ext>
              </a:extLst>
            </p:cNvPr>
            <p:cNvSpPr/>
            <p:nvPr userDrawn="1"/>
          </p:nvSpPr>
          <p:spPr>
            <a:xfrm rot="5400000">
              <a:off x="5882786" y="1406770"/>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三角形 6">
              <a:extLst>
                <a:ext uri="{FF2B5EF4-FFF2-40B4-BE49-F238E27FC236}">
                  <a16:creationId xmlns:a16="http://schemas.microsoft.com/office/drawing/2014/main" id="{39018809-A256-1446-9BCB-F9BC0B2CEFC5}"/>
                </a:ext>
              </a:extLst>
            </p:cNvPr>
            <p:cNvSpPr/>
            <p:nvPr userDrawn="1"/>
          </p:nvSpPr>
          <p:spPr>
            <a:xfrm rot="5400000">
              <a:off x="5697415" y="1406769"/>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 name="グループ化 7">
            <a:extLst>
              <a:ext uri="{FF2B5EF4-FFF2-40B4-BE49-F238E27FC236}">
                <a16:creationId xmlns:a16="http://schemas.microsoft.com/office/drawing/2014/main" id="{EEA83C1B-5795-FE4D-8A70-6E249896CB42}"/>
              </a:ext>
            </a:extLst>
          </p:cNvPr>
          <p:cNvGrpSpPr/>
          <p:nvPr userDrawn="1"/>
        </p:nvGrpSpPr>
        <p:grpSpPr>
          <a:xfrm>
            <a:off x="697504" y="3453857"/>
            <a:ext cx="686164" cy="488219"/>
            <a:chOff x="5159252" y="1181176"/>
            <a:chExt cx="686164" cy="488219"/>
          </a:xfrm>
          <a:solidFill>
            <a:schemeClr val="accent1"/>
          </a:solidFill>
        </p:grpSpPr>
        <p:sp>
          <p:nvSpPr>
            <p:cNvPr id="9" name="三角形 8">
              <a:extLst>
                <a:ext uri="{FF2B5EF4-FFF2-40B4-BE49-F238E27FC236}">
                  <a16:creationId xmlns:a16="http://schemas.microsoft.com/office/drawing/2014/main" id="{C16B67FE-3CD0-2140-8383-24074EDF5FCE}"/>
                </a:ext>
              </a:extLst>
            </p:cNvPr>
            <p:cNvSpPr/>
            <p:nvPr userDrawn="1"/>
          </p:nvSpPr>
          <p:spPr>
            <a:xfrm rot="5400000">
              <a:off x="5437306" y="1261040"/>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Tx/>
                <a:buBlip>
                  <a:blip r:embed="rId2"/>
                </a:buBlip>
              </a:pPr>
              <a:endParaRPr kumimoji="1" lang="ja-JP" altLang="en-US"/>
            </a:p>
          </p:txBody>
        </p:sp>
        <p:sp>
          <p:nvSpPr>
            <p:cNvPr id="10" name="三角形 9">
              <a:extLst>
                <a:ext uri="{FF2B5EF4-FFF2-40B4-BE49-F238E27FC236}">
                  <a16:creationId xmlns:a16="http://schemas.microsoft.com/office/drawing/2014/main" id="{460DA42C-3A8C-854B-87D3-67D552964AF8}"/>
                </a:ext>
              </a:extLst>
            </p:cNvPr>
            <p:cNvSpPr/>
            <p:nvPr userDrawn="1"/>
          </p:nvSpPr>
          <p:spPr>
            <a:xfrm rot="5400000">
              <a:off x="5264759" y="1261286"/>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Tx/>
                <a:buBlip>
                  <a:blip r:embed="rId2"/>
                </a:buBlip>
              </a:pPr>
              <a:endParaRPr kumimoji="1" lang="ja-JP" altLang="en-US"/>
            </a:p>
          </p:txBody>
        </p:sp>
        <p:sp>
          <p:nvSpPr>
            <p:cNvPr id="11" name="三角形 10">
              <a:extLst>
                <a:ext uri="{FF2B5EF4-FFF2-40B4-BE49-F238E27FC236}">
                  <a16:creationId xmlns:a16="http://schemas.microsoft.com/office/drawing/2014/main" id="{9E4FAB19-4805-5048-B3D0-482B1B63211B}"/>
                </a:ext>
              </a:extLst>
            </p:cNvPr>
            <p:cNvSpPr/>
            <p:nvPr userDrawn="1"/>
          </p:nvSpPr>
          <p:spPr>
            <a:xfrm rot="5400000">
              <a:off x="5079388" y="1261285"/>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Tx/>
                <a:buBlip>
                  <a:blip r:embed="rId2"/>
                </a:buBlip>
              </a:pPr>
              <a:endParaRPr kumimoji="1" lang="ja-JP" altLang="en-US"/>
            </a:p>
          </p:txBody>
        </p:sp>
      </p:grpSp>
      <p:sp>
        <p:nvSpPr>
          <p:cNvPr id="12" name="三角形 11">
            <a:extLst>
              <a:ext uri="{FF2B5EF4-FFF2-40B4-BE49-F238E27FC236}">
                <a16:creationId xmlns:a16="http://schemas.microsoft.com/office/drawing/2014/main" id="{2C762878-2D1B-CD44-AFDF-6B039A7E14AE}"/>
              </a:ext>
            </a:extLst>
          </p:cNvPr>
          <p:cNvSpPr/>
          <p:nvPr userDrawn="1"/>
        </p:nvSpPr>
        <p:spPr>
          <a:xfrm rot="5400000">
            <a:off x="3707109" y="3508864"/>
            <a:ext cx="487973" cy="328246"/>
          </a:xfrm>
          <a:prstGeom prst="triangl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3" name="グループ化 12">
            <a:extLst>
              <a:ext uri="{FF2B5EF4-FFF2-40B4-BE49-F238E27FC236}">
                <a16:creationId xmlns:a16="http://schemas.microsoft.com/office/drawing/2014/main" id="{D0F0539D-82B8-914D-9DE6-05B3A42AEE90}"/>
              </a:ext>
            </a:extLst>
          </p:cNvPr>
          <p:cNvGrpSpPr/>
          <p:nvPr userDrawn="1"/>
        </p:nvGrpSpPr>
        <p:grpSpPr>
          <a:xfrm>
            <a:off x="163626" y="1160115"/>
            <a:ext cx="4103574" cy="680876"/>
            <a:chOff x="163626" y="1160115"/>
            <a:chExt cx="4103574" cy="680876"/>
          </a:xfrm>
        </p:grpSpPr>
        <p:cxnSp>
          <p:nvCxnSpPr>
            <p:cNvPr id="14" name="直線コネクタ 13">
              <a:extLst>
                <a:ext uri="{FF2B5EF4-FFF2-40B4-BE49-F238E27FC236}">
                  <a16:creationId xmlns:a16="http://schemas.microsoft.com/office/drawing/2014/main" id="{CCB3DF71-233C-784B-A40E-F763DAF7410E}"/>
                </a:ext>
              </a:extLst>
            </p:cNvPr>
            <p:cNvCxnSpPr/>
            <p:nvPr userDrawn="1"/>
          </p:nvCxnSpPr>
          <p:spPr>
            <a:xfrm>
              <a:off x="163626" y="1699846"/>
              <a:ext cx="41035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CA15AE55-A3D1-3048-9E8F-3A81DFB0C414}"/>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6" name="テキスト プレースホルダー 12">
            <a:extLst>
              <a:ext uri="{FF2B5EF4-FFF2-40B4-BE49-F238E27FC236}">
                <a16:creationId xmlns:a16="http://schemas.microsoft.com/office/drawing/2014/main" id="{3013F31D-8B87-584D-8A56-225A22C7C61E}"/>
              </a:ext>
            </a:extLst>
          </p:cNvPr>
          <p:cNvSpPr>
            <a:spLocks noGrp="1"/>
          </p:cNvSpPr>
          <p:nvPr>
            <p:ph type="body" sz="quarter" idx="14" hasCustomPrompt="1"/>
          </p:nvPr>
        </p:nvSpPr>
        <p:spPr>
          <a:xfrm>
            <a:off x="404691" y="1192726"/>
            <a:ext cx="8147050" cy="680876"/>
          </a:xfrm>
        </p:spPr>
        <p:txBody>
          <a:bodyPr/>
          <a:lstStyle>
            <a:lvl1pPr marL="0" indent="0">
              <a:buNone/>
              <a:defRPr sz="3200"/>
            </a:lvl1pPr>
          </a:lstStyle>
          <a:p>
            <a:pPr lvl="0"/>
            <a:r>
              <a:rPr kumimoji="1" lang="ja-JP" altLang="en-US"/>
              <a:t>テキスト</a:t>
            </a:r>
          </a:p>
        </p:txBody>
      </p:sp>
    </p:spTree>
    <p:extLst>
      <p:ext uri="{BB962C8B-B14F-4D97-AF65-F5344CB8AC3E}">
        <p14:creationId xmlns:p14="http://schemas.microsoft.com/office/powerpoint/2010/main" val="524085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B215014-30FE-CC43-81CB-CE71B2D66247}" type="datetime1">
              <a:rPr kumimoji="1" lang="ja-JP" altLang="en-US" smtClean="0"/>
              <a:t>2020/7/10</a:t>
            </a:fld>
            <a:endParaRPr kumimoji="1" lang="ja-JP" altLang="en-US"/>
          </a:p>
        </p:txBody>
      </p:sp>
      <p:sp>
        <p:nvSpPr>
          <p:cNvPr id="6" name="Footer Placeholder 5"/>
          <p:cNvSpPr>
            <a:spLocks noGrp="1"/>
          </p:cNvSpPr>
          <p:nvPr>
            <p:ph type="ftr" sz="quarter" idx="11"/>
          </p:nvPr>
        </p:nvSpPr>
        <p:spPr/>
        <p:txBody>
          <a:bodyPr/>
          <a:lstStyle/>
          <a:p>
            <a:r>
              <a:rPr kumimoji="1" lang="ja-JP" altLang="en-US"/>
              <a:t>進捗報告</a:t>
            </a:r>
          </a:p>
        </p:txBody>
      </p:sp>
      <p:sp>
        <p:nvSpPr>
          <p:cNvPr id="7" name="Slide Number Placeholder 6"/>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8345468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70862DB-EF94-E646-B694-C43CC85D160D}" type="datetime1">
              <a:rPr kumimoji="1" lang="ja-JP" altLang="en-US" smtClean="0"/>
              <a:t>2020/7/10</a:t>
            </a:fld>
            <a:endParaRPr kumimoji="1" lang="ja-JP" altLang="en-US"/>
          </a:p>
        </p:txBody>
      </p:sp>
      <p:sp>
        <p:nvSpPr>
          <p:cNvPr id="6" name="Footer Placeholder 5"/>
          <p:cNvSpPr>
            <a:spLocks noGrp="1"/>
          </p:cNvSpPr>
          <p:nvPr>
            <p:ph type="ftr" sz="quarter" idx="11"/>
          </p:nvPr>
        </p:nvSpPr>
        <p:spPr/>
        <p:txBody>
          <a:bodyPr/>
          <a:lstStyle/>
          <a:p>
            <a:r>
              <a:rPr kumimoji="1" lang="ja-JP" altLang="en-US"/>
              <a:t>進捗報告</a:t>
            </a:r>
          </a:p>
        </p:txBody>
      </p:sp>
      <p:sp>
        <p:nvSpPr>
          <p:cNvPr id="7" name="Slide Number Placeholder 6"/>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22171502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BDB0722B-D148-BE44-BF67-6510CE43B9F9}" type="datetime1">
              <a:rPr kumimoji="1" lang="ja-JP" altLang="en-US" smtClean="0"/>
              <a:t>2020/7/10</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25281140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03608DE0-8C54-1A48-96D9-0CB1F61C3B86}" type="datetime1">
              <a:rPr kumimoji="1" lang="ja-JP" altLang="en-US" smtClean="0"/>
              <a:t>2020/7/10</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6990149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464C4851-9044-7944-A997-D3E4769EC61B}"/>
              </a:ext>
            </a:extLst>
          </p:cNvPr>
          <p:cNvSpPr/>
          <p:nvPr userDrawn="1"/>
        </p:nvSpPr>
        <p:spPr>
          <a:xfrm>
            <a:off x="-11723" y="-8304"/>
            <a:ext cx="9180000" cy="769288"/>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b="0" i="0">
              <a:solidFill>
                <a:schemeClr val="bg1"/>
              </a:solidFill>
              <a:latin typeface="Hiragino Kaku Gothic Pro W3" panose="020B0300000000000000" pitchFamily="34" charset="-128"/>
              <a:ea typeface="Hiragino Kaku Gothic Pro W3" panose="020B0300000000000000" pitchFamily="34" charset="-128"/>
            </a:endParaRPr>
          </a:p>
        </p:txBody>
      </p:sp>
      <p:sp>
        <p:nvSpPr>
          <p:cNvPr id="7" name="正方形/長方形 6">
            <a:extLst>
              <a:ext uri="{FF2B5EF4-FFF2-40B4-BE49-F238E27FC236}">
                <a16:creationId xmlns:a16="http://schemas.microsoft.com/office/drawing/2014/main" id="{B65581C3-683F-974B-B777-1906334DD7D8}"/>
              </a:ext>
            </a:extLst>
          </p:cNvPr>
          <p:cNvSpPr/>
          <p:nvPr userDrawn="1"/>
        </p:nvSpPr>
        <p:spPr>
          <a:xfrm>
            <a:off x="-11723" y="6624072"/>
            <a:ext cx="9180000" cy="2451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b="0" i="0">
              <a:solidFill>
                <a:schemeClr val="bg1"/>
              </a:solidFill>
              <a:latin typeface="Hiragino Kaku Gothic Pro W3" panose="020B0300000000000000" pitchFamily="34" charset="-128"/>
              <a:ea typeface="Hiragino Kaku Gothic Pro W3" panose="020B0300000000000000" pitchFamily="34" charset="-128"/>
            </a:endParaRPr>
          </a:p>
        </p:txBody>
      </p:sp>
      <p:sp>
        <p:nvSpPr>
          <p:cNvPr id="34" name="フリーフォーム 33">
            <a:extLst>
              <a:ext uri="{FF2B5EF4-FFF2-40B4-BE49-F238E27FC236}">
                <a16:creationId xmlns:a16="http://schemas.microsoft.com/office/drawing/2014/main" id="{2D285060-24CD-0E41-A3F1-0099B6A8A897}"/>
              </a:ext>
            </a:extLst>
          </p:cNvPr>
          <p:cNvSpPr/>
          <p:nvPr userDrawn="1"/>
        </p:nvSpPr>
        <p:spPr>
          <a:xfrm flipH="1">
            <a:off x="8258747" y="6381627"/>
            <a:ext cx="973705" cy="546179"/>
          </a:xfrm>
          <a:custGeom>
            <a:avLst/>
            <a:gdLst>
              <a:gd name="connsiteX0" fmla="*/ 0 w 1209192"/>
              <a:gd name="connsiteY0" fmla="*/ 0 h 245119"/>
              <a:gd name="connsiteX1" fmla="*/ 1077529 w 1209192"/>
              <a:gd name="connsiteY1" fmla="*/ 0 h 245119"/>
              <a:gd name="connsiteX2" fmla="*/ 1209192 w 1209192"/>
              <a:gd name="connsiteY2" fmla="*/ 245119 h 245119"/>
              <a:gd name="connsiteX3" fmla="*/ 0 w 1209192"/>
              <a:gd name="connsiteY3" fmla="*/ 245119 h 245119"/>
            </a:gdLst>
            <a:ahLst/>
            <a:cxnLst>
              <a:cxn ang="0">
                <a:pos x="connsiteX0" y="connsiteY0"/>
              </a:cxn>
              <a:cxn ang="0">
                <a:pos x="connsiteX1" y="connsiteY1"/>
              </a:cxn>
              <a:cxn ang="0">
                <a:pos x="connsiteX2" y="connsiteY2"/>
              </a:cxn>
              <a:cxn ang="0">
                <a:pos x="connsiteX3" y="connsiteY3"/>
              </a:cxn>
            </a:cxnLst>
            <a:rect l="l" t="t" r="r" b="b"/>
            <a:pathLst>
              <a:path w="1209192" h="245119">
                <a:moveTo>
                  <a:pt x="0" y="0"/>
                </a:moveTo>
                <a:lnTo>
                  <a:pt x="1077529" y="0"/>
                </a:lnTo>
                <a:lnTo>
                  <a:pt x="1209192" y="245119"/>
                </a:lnTo>
                <a:lnTo>
                  <a:pt x="0" y="245119"/>
                </a:lnTo>
                <a:close/>
              </a:path>
            </a:pathLst>
          </a:custGeom>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0" i="0">
              <a:latin typeface="Hiragino Kaku Gothic Pro W3" panose="020B0300000000000000" pitchFamily="34" charset="-128"/>
              <a:ea typeface="Hiragino Kaku Gothic Pro W3" panose="020B0300000000000000" pitchFamily="34" charset="-128"/>
            </a:endParaRPr>
          </a:p>
        </p:txBody>
      </p:sp>
      <p:sp>
        <p:nvSpPr>
          <p:cNvPr id="2" name="Title Placeholder 1"/>
          <p:cNvSpPr>
            <a:spLocks noGrp="1"/>
          </p:cNvSpPr>
          <p:nvPr>
            <p:ph type="title"/>
          </p:nvPr>
        </p:nvSpPr>
        <p:spPr>
          <a:xfrm>
            <a:off x="734160" y="-154601"/>
            <a:ext cx="7886700" cy="1095506"/>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276960" y="1825625"/>
            <a:ext cx="7886700" cy="4351338"/>
          </a:xfrm>
          <a:prstGeom prst="rect">
            <a:avLst/>
          </a:prstGeom>
        </p:spPr>
        <p:txBody>
          <a:bodyPr vert="horz" lIns="91440" tIns="45720" rIns="91440" bIns="45720" rtlCol="0">
            <a:noAutofit/>
          </a:body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endParaRPr lang="en-US" dirty="0"/>
          </a:p>
        </p:txBody>
      </p:sp>
      <p:sp>
        <p:nvSpPr>
          <p:cNvPr id="4" name="Date Placeholder 3"/>
          <p:cNvSpPr>
            <a:spLocks noGrp="1"/>
          </p:cNvSpPr>
          <p:nvPr>
            <p:ph type="dt" sz="half" idx="2"/>
          </p:nvPr>
        </p:nvSpPr>
        <p:spPr>
          <a:xfrm>
            <a:off x="22577" y="6565457"/>
            <a:ext cx="2057400" cy="365125"/>
          </a:xfrm>
          <a:prstGeom prst="rect">
            <a:avLst/>
          </a:prstGeom>
        </p:spPr>
        <p:txBody>
          <a:bodyPr vert="horz" lIns="91440" tIns="45720" rIns="91440" bIns="45720" rtlCol="0" anchor="ctr"/>
          <a:lstStyle>
            <a:lvl1pPr algn="l">
              <a:defRPr sz="1200" b="0" i="0">
                <a:solidFill>
                  <a:schemeClr val="bg1"/>
                </a:solidFill>
                <a:latin typeface="Hiragino Kaku Gothic Pro W3" panose="020B0300000000000000" pitchFamily="34" charset="-128"/>
                <a:ea typeface="Hiragino Kaku Gothic Pro W3" panose="020B0300000000000000" pitchFamily="34" charset="-128"/>
              </a:defRPr>
            </a:lvl1pPr>
          </a:lstStyle>
          <a:p>
            <a:fld id="{848FC433-A65A-5E4B-A542-B4358B331384}" type="datetime1">
              <a:rPr lang="ja-JP" altLang="en-US" smtClean="0"/>
              <a:t>2020/7/10</a:t>
            </a:fld>
            <a:endParaRPr lang="ja-JP" altLang="en-US"/>
          </a:p>
        </p:txBody>
      </p:sp>
      <p:sp>
        <p:nvSpPr>
          <p:cNvPr id="5" name="Footer Placeholder 4"/>
          <p:cNvSpPr>
            <a:spLocks noGrp="1"/>
          </p:cNvSpPr>
          <p:nvPr>
            <p:ph type="ftr" sz="quarter" idx="3"/>
          </p:nvPr>
        </p:nvSpPr>
        <p:spPr>
          <a:xfrm>
            <a:off x="3028950" y="6567365"/>
            <a:ext cx="3086100" cy="365125"/>
          </a:xfrm>
          <a:prstGeom prst="rect">
            <a:avLst/>
          </a:prstGeom>
        </p:spPr>
        <p:txBody>
          <a:bodyPr vert="horz" lIns="91440" tIns="45720" rIns="91440" bIns="45720" rtlCol="0" anchor="ctr"/>
          <a:lstStyle>
            <a:lvl1pPr algn="ctr">
              <a:defRPr sz="1200" b="0" i="0">
                <a:solidFill>
                  <a:schemeClr val="bg1"/>
                </a:solidFill>
                <a:latin typeface="Hiragino Kaku Gothic Pro W3" panose="020B0300000000000000" pitchFamily="34" charset="-128"/>
                <a:ea typeface="Hiragino Kaku Gothic Pro W3" panose="020B0300000000000000" pitchFamily="34" charset="-128"/>
              </a:defRPr>
            </a:lvl1pPr>
          </a:lstStyle>
          <a:p>
            <a:r>
              <a:rPr lang="ja-JP" altLang="en-US"/>
              <a:t>進捗報告</a:t>
            </a:r>
            <a:endParaRPr lang="en-US" altLang="ja-JP" dirty="0"/>
          </a:p>
        </p:txBody>
      </p:sp>
      <p:sp>
        <p:nvSpPr>
          <p:cNvPr id="6" name="Slide Number Placeholder 5"/>
          <p:cNvSpPr>
            <a:spLocks noGrp="1"/>
          </p:cNvSpPr>
          <p:nvPr>
            <p:ph type="sldNum" sz="quarter" idx="4"/>
          </p:nvPr>
        </p:nvSpPr>
        <p:spPr>
          <a:xfrm>
            <a:off x="8419588" y="6485304"/>
            <a:ext cx="595955" cy="365125"/>
          </a:xfrm>
          <a:prstGeom prst="rect">
            <a:avLst/>
          </a:prstGeom>
        </p:spPr>
        <p:txBody>
          <a:bodyPr vert="horz" lIns="91440" tIns="45720" rIns="91440" bIns="45720" rtlCol="0" anchor="ctr"/>
          <a:lstStyle>
            <a:lvl1pPr algn="r">
              <a:defRPr sz="2400" b="0" i="0">
                <a:solidFill>
                  <a:schemeClr val="bg1"/>
                </a:solidFill>
                <a:latin typeface="Hiragino Kaku Gothic Pro W3" panose="020B0300000000000000" pitchFamily="34" charset="-128"/>
                <a:ea typeface="Hiragino Kaku Gothic Pro W3" panose="020B0300000000000000" pitchFamily="34" charset="-128"/>
              </a:defRPr>
            </a:lvl1pPr>
          </a:lstStyle>
          <a:p>
            <a:fld id="{2981C279-7323-A845-8A27-BB5908B2F04D}" type="slidenum">
              <a:rPr lang="ja-JP" altLang="en-US" smtClean="0"/>
              <a:pPr/>
              <a:t>‹#›</a:t>
            </a:fld>
            <a:endParaRPr lang="ja-JP" altLang="en-US"/>
          </a:p>
        </p:txBody>
      </p:sp>
    </p:spTree>
    <p:extLst>
      <p:ext uri="{BB962C8B-B14F-4D97-AF65-F5344CB8AC3E}">
        <p14:creationId xmlns:p14="http://schemas.microsoft.com/office/powerpoint/2010/main" val="631777835"/>
      </p:ext>
    </p:extLst>
  </p:cSld>
  <p:clrMap bg1="lt1" tx1="dk1" bg2="lt2" tx2="dk2" accent1="accent1" accent2="accent2" accent3="accent3" accent4="accent4" accent5="accent5" accent6="accent6" hlink="hlink" folHlink="folHlink"/>
  <p:sldLayoutIdLst>
    <p:sldLayoutId id="2147483661" r:id="rId1"/>
    <p:sldLayoutId id="2147483675" r:id="rId2"/>
    <p:sldLayoutId id="2147483676" r:id="rId3"/>
    <p:sldLayoutId id="2147483673" r:id="rId4"/>
    <p:sldLayoutId id="2147483674"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Lst>
  <p:hf hdr="0"/>
  <p:txStyles>
    <p:titleStyle>
      <a:lvl1pPr algn="l" defTabSz="914400" rtl="0" eaLnBrk="1" latinLnBrk="0" hangingPunct="1">
        <a:lnSpc>
          <a:spcPct val="90000"/>
        </a:lnSpc>
        <a:spcBef>
          <a:spcPct val="0"/>
        </a:spcBef>
        <a:buNone/>
        <a:defRPr kumimoji="1" sz="4400" b="0" i="0" kern="1200">
          <a:solidFill>
            <a:schemeClr val="tx1"/>
          </a:solidFill>
          <a:latin typeface="Hiragino Kaku Gothic Pro W3" panose="020B0300000000000000" pitchFamily="34" charset="-128"/>
          <a:ea typeface="Hiragino Kaku Gothic Pro W3" panose="020B0300000000000000" pitchFamily="34" charset="-128"/>
          <a:cs typeface="+mj-cs"/>
        </a:defRPr>
      </a:lvl1pPr>
    </p:titleStyle>
    <p:bodyStyle>
      <a:lvl1pPr marL="231775" indent="-231775" algn="l" defTabSz="914400" rtl="0" eaLnBrk="1" latinLnBrk="0" hangingPunct="1">
        <a:lnSpc>
          <a:spcPct val="90000"/>
        </a:lnSpc>
        <a:spcBef>
          <a:spcPts val="1000"/>
        </a:spcBef>
        <a:buSzPct val="100000"/>
        <a:buFontTx/>
        <a:buBlip>
          <a:blip r:embed="rId16"/>
        </a:buBlip>
        <a:tabLst/>
        <a:defRPr kumimoji="1" sz="28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17"/>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18"/>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5.png"/><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emf"/><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emf"/></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5.emf"/></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emf"/><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60.png"/><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emf"/><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6.emf"/><Relationship Id="rId1" Type="http://schemas.openxmlformats.org/officeDocument/2006/relationships/slideLayout" Target="../slideLayouts/slideLayout3.xml"/><Relationship Id="rId6" Type="http://schemas.openxmlformats.org/officeDocument/2006/relationships/image" Target="../media/image110.png"/><Relationship Id="rId5" Type="http://schemas.openxmlformats.org/officeDocument/2006/relationships/image" Target="../media/image10.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6.emf"/></Relationships>
</file>

<file path=ppt/slides/_rels/slide1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1.png"/><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png"/><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50.png"/><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0.png"/><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48396D-C709-8246-8286-094B8839C3C3}"/>
              </a:ext>
            </a:extLst>
          </p:cNvPr>
          <p:cNvSpPr>
            <a:spLocks noGrp="1"/>
          </p:cNvSpPr>
          <p:nvPr>
            <p:ph type="ctrTitle"/>
          </p:nvPr>
        </p:nvSpPr>
        <p:spPr/>
        <p:txBody>
          <a:bodyPr/>
          <a:lstStyle/>
          <a:p>
            <a:r>
              <a:rPr kumimoji="1" lang="ja-JP" altLang="en-US"/>
              <a:t>進捗報告</a:t>
            </a:r>
          </a:p>
        </p:txBody>
      </p:sp>
      <p:sp>
        <p:nvSpPr>
          <p:cNvPr id="3" name="字幕 2">
            <a:extLst>
              <a:ext uri="{FF2B5EF4-FFF2-40B4-BE49-F238E27FC236}">
                <a16:creationId xmlns:a16="http://schemas.microsoft.com/office/drawing/2014/main" id="{64C8C94E-7F42-E549-B498-1831334F572C}"/>
              </a:ext>
            </a:extLst>
          </p:cNvPr>
          <p:cNvSpPr>
            <a:spLocks noGrp="1"/>
          </p:cNvSpPr>
          <p:nvPr>
            <p:ph type="subTitle" idx="1"/>
          </p:nvPr>
        </p:nvSpPr>
        <p:spPr/>
        <p:txBody>
          <a:bodyPr/>
          <a:lstStyle/>
          <a:p>
            <a:r>
              <a:rPr kumimoji="1" lang="ja-JP" altLang="en-US"/>
              <a:t>松下昌悟</a:t>
            </a:r>
          </a:p>
        </p:txBody>
      </p:sp>
      <p:sp>
        <p:nvSpPr>
          <p:cNvPr id="4" name="日付プレースホルダー 3">
            <a:extLst>
              <a:ext uri="{FF2B5EF4-FFF2-40B4-BE49-F238E27FC236}">
                <a16:creationId xmlns:a16="http://schemas.microsoft.com/office/drawing/2014/main" id="{D039C715-D20B-D647-B48B-59A4FF41D99B}"/>
              </a:ext>
            </a:extLst>
          </p:cNvPr>
          <p:cNvSpPr>
            <a:spLocks noGrp="1"/>
          </p:cNvSpPr>
          <p:nvPr>
            <p:ph type="dt" sz="half" idx="10"/>
          </p:nvPr>
        </p:nvSpPr>
        <p:spPr/>
        <p:txBody>
          <a:bodyPr/>
          <a:lstStyle/>
          <a:p>
            <a:fld id="{81355CFD-0C13-B64F-8475-2B9C4937D230}" type="datetime1">
              <a:rPr kumimoji="1" lang="ja-JP" altLang="en-US" smtClean="0"/>
              <a:t>2020/7/10</a:t>
            </a:fld>
            <a:endParaRPr kumimoji="1" lang="ja-JP" altLang="en-US"/>
          </a:p>
        </p:txBody>
      </p:sp>
      <p:sp>
        <p:nvSpPr>
          <p:cNvPr id="5" name="フッター プレースホルダー 4">
            <a:extLst>
              <a:ext uri="{FF2B5EF4-FFF2-40B4-BE49-F238E27FC236}">
                <a16:creationId xmlns:a16="http://schemas.microsoft.com/office/drawing/2014/main" id="{2C3DFF42-E302-8446-A693-A684C0738F3F}"/>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0B3A790D-E0F0-AA4D-9672-14F1BBCAA13C}"/>
              </a:ext>
            </a:extLst>
          </p:cNvPr>
          <p:cNvSpPr>
            <a:spLocks noGrp="1"/>
          </p:cNvSpPr>
          <p:nvPr>
            <p:ph type="sldNum" sz="quarter" idx="12"/>
          </p:nvPr>
        </p:nvSpPr>
        <p:spPr/>
        <p:txBody>
          <a:bodyPr/>
          <a:lstStyle/>
          <a:p>
            <a:fld id="{2981C279-7323-A845-8A27-BB5908B2F04D}" type="slidenum">
              <a:rPr kumimoji="1" lang="ja-JP" altLang="en-US" smtClean="0"/>
              <a:t>1</a:t>
            </a:fld>
            <a:endParaRPr kumimoji="1" lang="ja-JP" altLang="en-US"/>
          </a:p>
        </p:txBody>
      </p:sp>
    </p:spTree>
    <p:extLst>
      <p:ext uri="{BB962C8B-B14F-4D97-AF65-F5344CB8AC3E}">
        <p14:creationId xmlns:p14="http://schemas.microsoft.com/office/powerpoint/2010/main" val="4187363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kumimoji="1" lang="en-US" altLang="ja-JP" dirty="0"/>
              <a:t>BIG5</a:t>
            </a: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3"/>
                <a:ext cx="8859709" cy="3949791"/>
              </a:xfrm>
            </p:spPr>
            <p:txBody>
              <a:bodyPr/>
              <a:lstStyle/>
              <a:p>
                <a:r>
                  <a:rPr lang="en-US" altLang="ja-JP" dirty="0"/>
                  <a:t>BIG5</a:t>
                </a:r>
                <a:r>
                  <a:rPr lang="ja-JP" altLang="en-US"/>
                  <a:t>は</a:t>
                </a:r>
                <a:r>
                  <a:rPr lang="en-US" altLang="ja-JP" dirty="0"/>
                  <a:t>Offer</a:t>
                </a:r>
                <a:r>
                  <a:rPr lang="ja-JP" altLang="en-US"/>
                  <a:t>とそれ以外の行動</a:t>
                </a:r>
                <a:br>
                  <a:rPr lang="en-US" altLang="ja-JP" dirty="0"/>
                </a:br>
                <a:r>
                  <a:rPr lang="ja-JP" altLang="en-US"/>
                  <a:t>どちらも考慮する</a:t>
                </a:r>
                <a:endParaRPr lang="en-US" altLang="ja-JP" dirty="0"/>
              </a:p>
              <a:p>
                <a:r>
                  <a:rPr lang="ja-JP" altLang="en-US"/>
                  <a:t>こっちの協調性は行動に対する</a:t>
                </a:r>
                <a:br>
                  <a:rPr lang="en-US" altLang="ja-JP" dirty="0"/>
                </a:br>
                <a:r>
                  <a:rPr lang="ja-JP" altLang="en-US"/>
                  <a:t>感受性を用いる</a:t>
                </a:r>
                <a:endParaRPr lang="en-US" altLang="ja-JP" dirty="0"/>
              </a:p>
              <a:p>
                <a:pPr marL="0" indent="0">
                  <a:buNone/>
                </a:pPr>
                <a14:m>
                  <m:oMathPara xmlns:m="http://schemas.openxmlformats.org/officeDocument/2006/math">
                    <m:oMathParaPr>
                      <m:jc m:val="centerGroup"/>
                    </m:oMathParaPr>
                    <m:oMath xmlns:m="http://schemas.openxmlformats.org/officeDocument/2006/math">
                      <m:r>
                        <a:rPr lang="en-US" altLang="ja-JP" i="1">
                          <a:latin typeface="Cambria Math" panose="02040503050406030204" pitchFamily="18" charset="0"/>
                        </a:rPr>
                        <m:t>𝐵𝑒h𝑎𝑣𝑠𝑒𝑛𝑠</m:t>
                      </m:r>
                      <m:r>
                        <a:rPr lang="en-US" altLang="ja-JP" i="1">
                          <a:latin typeface="Cambria Math" panose="02040503050406030204" pitchFamily="18" charset="0"/>
                        </a:rPr>
                        <m:t>= </m:t>
                      </m:r>
                      <m:f>
                        <m:fPr>
                          <m:ctrlPr>
                            <a:rPr lang="en-US" altLang="ja-JP" i="1">
                              <a:latin typeface="Cambria Math" panose="02040503050406030204" pitchFamily="18" charset="0"/>
                            </a:rPr>
                          </m:ctrlPr>
                        </m:fPr>
                        <m:num>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𝐹𝑜𝑟𝑡𝑢𝑛𝑎𝑡𝑒</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𝑁𝑖𝑐𝑒</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𝐶𝑜𝑛𝑐𝑒𝑠𝑠𝑖𝑜𝑛</m:t>
                              </m:r>
                            </m:sub>
                          </m:sSub>
                        </m:num>
                        <m:den>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𝑆𝑒𝑙𝑓𝑖𝑠h</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𝑈𝑛𝑓𝑜𝑟𝑡𝑢𝑛𝑎𝑡𝑒</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𝑆𝑖𝑙𝑒𝑛𝑡</m:t>
                              </m:r>
                            </m:sub>
                          </m:sSub>
                        </m:den>
                      </m:f>
                    </m:oMath>
                  </m:oMathPara>
                </a14:m>
                <a:endParaRPr lang="en-US" altLang="ja-JP" dirty="0"/>
              </a:p>
              <a:p>
                <a:endParaRPr lang="en-US" altLang="ja-JP" dirty="0"/>
              </a:p>
              <a:p>
                <a:endParaRPr lang="en-US" altLang="ja-JP" dirty="0"/>
              </a:p>
            </p:txBody>
          </p:sp>
        </mc:Choice>
        <mc:Fallback xmlns="">
          <p:sp>
            <p:nvSpPr>
              <p:cNvPr id="3" name="コンテンツ プレースホルダー 2">
                <a:extLst>
                  <a:ext uri="{FF2B5EF4-FFF2-40B4-BE49-F238E27FC236}">
                    <a16:creationId xmlns:a16="http://schemas.microsoft.com/office/drawing/2014/main" id="{7CD37B2B-E32E-2D43-8143-0B7A29E79BB5}"/>
                  </a:ext>
                </a:extLst>
              </p:cNvPr>
              <p:cNvSpPr>
                <a:spLocks noGrp="1" noRot="1" noChangeAspect="1" noMove="1" noResize="1" noEditPoints="1" noAdjustHandles="1" noChangeArrowheads="1" noChangeShapeType="1" noTextEdit="1"/>
              </p:cNvSpPr>
              <p:nvPr>
                <p:ph idx="1"/>
              </p:nvPr>
            </p:nvSpPr>
            <p:spPr>
              <a:xfrm>
                <a:off x="194898" y="1884383"/>
                <a:ext cx="8859709" cy="3949791"/>
              </a:xfrm>
              <a:blipFill>
                <a:blip r:embed="rId2"/>
                <a:stretch>
                  <a:fillRect t="-2244"/>
                </a:stretch>
              </a:blipFill>
            </p:spPr>
            <p:txBody>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2020/7/10</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2</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lang="en-US" altLang="ja-JP" dirty="0"/>
              <a:t>1</a:t>
            </a:r>
            <a:endParaRPr kumimoji="1" lang="ja-JP" altLang="en-US"/>
          </a:p>
        </p:txBody>
      </p:sp>
      <p:pic>
        <p:nvPicPr>
          <p:cNvPr id="35" name="図 34">
            <a:extLst>
              <a:ext uri="{FF2B5EF4-FFF2-40B4-BE49-F238E27FC236}">
                <a16:creationId xmlns:a16="http://schemas.microsoft.com/office/drawing/2014/main" id="{813CA7AA-D605-594B-ADF0-6CF8BCF67529}"/>
              </a:ext>
            </a:extLst>
          </p:cNvPr>
          <p:cNvPicPr>
            <a:picLocks noChangeAspect="1"/>
          </p:cNvPicPr>
          <p:nvPr/>
        </p:nvPicPr>
        <p:blipFill>
          <a:blip r:embed="rId3"/>
          <a:stretch>
            <a:fillRect/>
          </a:stretch>
        </p:blipFill>
        <p:spPr>
          <a:xfrm>
            <a:off x="5499056" y="1052532"/>
            <a:ext cx="3673279" cy="2316536"/>
          </a:xfrm>
          <a:prstGeom prst="rect">
            <a:avLst/>
          </a:prstGeom>
        </p:spPr>
      </p:pic>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2753194" cy="680876"/>
            <a:chOff x="163626" y="1160115"/>
            <a:chExt cx="2753194"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275319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4"/>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5"/>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各尺度の計算</a:t>
            </a:r>
          </a:p>
        </p:txBody>
      </p:sp>
      <mc:AlternateContent xmlns:mc="http://schemas.openxmlformats.org/markup-compatibility/2006" xmlns:a14="http://schemas.microsoft.com/office/drawing/2010/main">
        <mc:Choice Requires="a14">
          <p:graphicFrame>
            <p:nvGraphicFramePr>
              <p:cNvPr id="25" name="表 24">
                <a:extLst>
                  <a:ext uri="{FF2B5EF4-FFF2-40B4-BE49-F238E27FC236}">
                    <a16:creationId xmlns:a16="http://schemas.microsoft.com/office/drawing/2014/main" id="{1AD62150-4DF1-334A-A918-2D74DD1323EA}"/>
                  </a:ext>
                </a:extLst>
              </p:cNvPr>
              <p:cNvGraphicFramePr>
                <a:graphicFrameLocks noGrp="1"/>
              </p:cNvGraphicFramePr>
              <p:nvPr/>
            </p:nvGraphicFramePr>
            <p:xfrm>
              <a:off x="2103298" y="4472465"/>
              <a:ext cx="4932000" cy="2088002"/>
            </p:xfrm>
            <a:graphic>
              <a:graphicData uri="http://schemas.openxmlformats.org/drawingml/2006/table">
                <a:tbl>
                  <a:tblPr firstRow="1" bandRow="1">
                    <a:tableStyleId>{5C22544A-7EE6-4342-B048-85BDC9FD1C3A}</a:tableStyleId>
                  </a:tblPr>
                  <a:tblGrid>
                    <a:gridCol w="1188000">
                      <a:extLst>
                        <a:ext uri="{9D8B030D-6E8A-4147-A177-3AD203B41FA5}">
                          <a16:colId xmlns:a16="http://schemas.microsoft.com/office/drawing/2014/main" val="3127193385"/>
                        </a:ext>
                      </a:extLst>
                    </a:gridCol>
                    <a:gridCol w="1872000">
                      <a:extLst>
                        <a:ext uri="{9D8B030D-6E8A-4147-A177-3AD203B41FA5}">
                          <a16:colId xmlns:a16="http://schemas.microsoft.com/office/drawing/2014/main" val="3037334881"/>
                        </a:ext>
                      </a:extLst>
                    </a:gridCol>
                    <a:gridCol w="1872000">
                      <a:extLst>
                        <a:ext uri="{9D8B030D-6E8A-4147-A177-3AD203B41FA5}">
                          <a16:colId xmlns:a16="http://schemas.microsoft.com/office/drawing/2014/main" val="1646647457"/>
                        </a:ext>
                      </a:extLst>
                    </a:gridCol>
                  </a:tblGrid>
                  <a:tr h="298286">
                    <a:tc>
                      <a:txBody>
                        <a:bodyPr/>
                        <a:lstStyle/>
                        <a:p>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Self Difference</a:t>
                          </a:r>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Opponent Difference</a:t>
                          </a:r>
                          <a:endParaRPr kumimoji="1" lang="ja-JP" altLang="en-US" sz="1200">
                            <a:solidFill>
                              <a:schemeClr val="bg1"/>
                            </a:solidFill>
                          </a:endParaRPr>
                        </a:p>
                      </a:txBody>
                      <a:tcPr marL="75570" marR="75570"/>
                    </a:tc>
                    <a:extLst>
                      <a:ext uri="{0D108BD9-81ED-4DB2-BD59-A6C34878D82A}">
                        <a16:rowId xmlns:a16="http://schemas.microsoft.com/office/drawing/2014/main" val="1106798283"/>
                      </a:ext>
                    </a:extLst>
                  </a:tr>
                  <a:tr h="298286">
                    <a:tc>
                      <a:txBody>
                        <a:bodyPr/>
                        <a:lstStyle/>
                        <a:p>
                          <a:r>
                            <a:rPr kumimoji="1" lang="en-US" altLang="ja-JP" sz="1200" dirty="0">
                              <a:solidFill>
                                <a:schemeClr val="tx1"/>
                              </a:solidFill>
                            </a:rPr>
                            <a:t>Silent</a:t>
                          </a:r>
                          <a:endParaRPr kumimoji="1" lang="ja-JP" altLang="en-US" sz="1200">
                            <a:solidFill>
                              <a:schemeClr val="tx1"/>
                            </a:solidFill>
                          </a:endParaRPr>
                        </a:p>
                      </a:txBody>
                      <a:tcPr marL="75570" marR="75570"/>
                    </a:tc>
                    <a:tc>
                      <a:txBody>
                        <a:bodyPr/>
                        <a:lstStyle/>
                        <a:p>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575256707"/>
                      </a:ext>
                    </a:extLst>
                  </a:tr>
                  <a:tr h="298286">
                    <a:tc>
                      <a:txBody>
                        <a:bodyPr/>
                        <a:lstStyle/>
                        <a:p>
                          <a:r>
                            <a:rPr kumimoji="1" lang="en-US" altLang="ja-JP" sz="1200" dirty="0">
                              <a:solidFill>
                                <a:schemeClr val="tx1"/>
                              </a:solidFill>
                            </a:rPr>
                            <a:t>Nice</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1183317016"/>
                      </a:ext>
                    </a:extLst>
                  </a:tr>
                  <a:tr h="298286">
                    <a:tc>
                      <a:txBody>
                        <a:bodyPr/>
                        <a:lstStyle/>
                        <a:p>
                          <a:r>
                            <a:rPr kumimoji="1" lang="en-US" altLang="ja-JP" sz="1200" dirty="0">
                              <a:solidFill>
                                <a:schemeClr val="tx1"/>
                              </a:solidFill>
                            </a:rPr>
                            <a:t>Fortunate</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895325157"/>
                      </a:ext>
                    </a:extLst>
                  </a:tr>
                  <a:tr h="298286">
                    <a:tc>
                      <a:txBody>
                        <a:bodyPr/>
                        <a:lstStyle/>
                        <a:p>
                          <a:r>
                            <a:rPr kumimoji="1" lang="en-US" altLang="ja-JP" sz="1200" dirty="0">
                              <a:solidFill>
                                <a:schemeClr val="tx1"/>
                              </a:solidFill>
                            </a:rPr>
                            <a:t>Selfish</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2591775076"/>
                      </a:ext>
                    </a:extLst>
                  </a:tr>
                  <a:tr h="298286">
                    <a:tc>
                      <a:txBody>
                        <a:bodyPr/>
                        <a:lstStyle/>
                        <a:p>
                          <a:r>
                            <a:rPr kumimoji="1" lang="en-US" altLang="ja-JP" sz="1200" dirty="0">
                              <a:solidFill>
                                <a:schemeClr val="tx1"/>
                              </a:solidFill>
                            </a:rPr>
                            <a:t>Concession</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2841830330"/>
                      </a:ext>
                    </a:extLst>
                  </a:tr>
                  <a:tr h="298286">
                    <a:tc>
                      <a:txBody>
                        <a:bodyPr/>
                        <a:lstStyle/>
                        <a:p>
                          <a:r>
                            <a:rPr kumimoji="1" lang="en-US" altLang="ja-JP" sz="1200" dirty="0">
                              <a:solidFill>
                                <a:schemeClr val="tx1"/>
                              </a:solidFill>
                            </a:rPr>
                            <a:t>Unfortunate</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2685632522"/>
                      </a:ext>
                    </a:extLst>
                  </a:tr>
                </a:tbl>
              </a:graphicData>
            </a:graphic>
          </p:graphicFrame>
        </mc:Choice>
        <mc:Fallback xmlns="">
          <p:graphicFrame>
            <p:nvGraphicFramePr>
              <p:cNvPr id="25" name="表 24">
                <a:extLst>
                  <a:ext uri="{FF2B5EF4-FFF2-40B4-BE49-F238E27FC236}">
                    <a16:creationId xmlns:a16="http://schemas.microsoft.com/office/drawing/2014/main" id="{1AD62150-4DF1-334A-A918-2D74DD1323EA}"/>
                  </a:ext>
                </a:extLst>
              </p:cNvPr>
              <p:cNvGraphicFramePr>
                <a:graphicFrameLocks noGrp="1"/>
              </p:cNvGraphicFramePr>
              <p:nvPr/>
            </p:nvGraphicFramePr>
            <p:xfrm>
              <a:off x="2103298" y="4472465"/>
              <a:ext cx="4932000" cy="2088002"/>
            </p:xfrm>
            <a:graphic>
              <a:graphicData uri="http://schemas.openxmlformats.org/drawingml/2006/table">
                <a:tbl>
                  <a:tblPr firstRow="1" bandRow="1">
                    <a:tableStyleId>{5C22544A-7EE6-4342-B048-85BDC9FD1C3A}</a:tableStyleId>
                  </a:tblPr>
                  <a:tblGrid>
                    <a:gridCol w="1188000">
                      <a:extLst>
                        <a:ext uri="{9D8B030D-6E8A-4147-A177-3AD203B41FA5}">
                          <a16:colId xmlns:a16="http://schemas.microsoft.com/office/drawing/2014/main" val="3127193385"/>
                        </a:ext>
                      </a:extLst>
                    </a:gridCol>
                    <a:gridCol w="1872000">
                      <a:extLst>
                        <a:ext uri="{9D8B030D-6E8A-4147-A177-3AD203B41FA5}">
                          <a16:colId xmlns:a16="http://schemas.microsoft.com/office/drawing/2014/main" val="3037334881"/>
                        </a:ext>
                      </a:extLst>
                    </a:gridCol>
                    <a:gridCol w="1872000">
                      <a:extLst>
                        <a:ext uri="{9D8B030D-6E8A-4147-A177-3AD203B41FA5}">
                          <a16:colId xmlns:a16="http://schemas.microsoft.com/office/drawing/2014/main" val="1646647457"/>
                        </a:ext>
                      </a:extLst>
                    </a:gridCol>
                  </a:tblGrid>
                  <a:tr h="298286">
                    <a:tc>
                      <a:txBody>
                        <a:bodyPr/>
                        <a:lstStyle/>
                        <a:p>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Self Difference</a:t>
                          </a:r>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Opponent Difference</a:t>
                          </a:r>
                          <a:endParaRPr kumimoji="1" lang="ja-JP" altLang="en-US" sz="1200">
                            <a:solidFill>
                              <a:schemeClr val="bg1"/>
                            </a:solidFill>
                          </a:endParaRPr>
                        </a:p>
                      </a:txBody>
                      <a:tcPr marL="75570" marR="75570"/>
                    </a:tc>
                    <a:extLst>
                      <a:ext uri="{0D108BD9-81ED-4DB2-BD59-A6C34878D82A}">
                        <a16:rowId xmlns:a16="http://schemas.microsoft.com/office/drawing/2014/main" val="1106798283"/>
                      </a:ext>
                    </a:extLst>
                  </a:tr>
                  <a:tr h="298286">
                    <a:tc>
                      <a:txBody>
                        <a:bodyPr/>
                        <a:lstStyle/>
                        <a:p>
                          <a:r>
                            <a:rPr kumimoji="1" lang="en-US" altLang="ja-JP" sz="1200" dirty="0">
                              <a:solidFill>
                                <a:schemeClr val="tx1"/>
                              </a:solidFill>
                            </a:rPr>
                            <a:t>Silent</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108696" r="-102041" b="-517391"/>
                          </a:stretch>
                        </a:blipFill>
                      </a:tcPr>
                    </a:tc>
                    <a:tc>
                      <a:txBody>
                        <a:bodyPr/>
                        <a:lstStyle/>
                        <a:p>
                          <a:endParaRPr lang="ja-JP"/>
                        </a:p>
                      </a:txBody>
                      <a:tcPr marL="75570" marR="75570">
                        <a:blipFill>
                          <a:blip r:embed="rId6"/>
                          <a:stretch>
                            <a:fillRect l="-163514" t="-108696" r="-1351" b="-517391"/>
                          </a:stretch>
                        </a:blipFill>
                      </a:tcPr>
                    </a:tc>
                    <a:extLst>
                      <a:ext uri="{0D108BD9-81ED-4DB2-BD59-A6C34878D82A}">
                        <a16:rowId xmlns:a16="http://schemas.microsoft.com/office/drawing/2014/main" val="575256707"/>
                      </a:ext>
                    </a:extLst>
                  </a:tr>
                  <a:tr h="298286">
                    <a:tc>
                      <a:txBody>
                        <a:bodyPr/>
                        <a:lstStyle/>
                        <a:p>
                          <a:r>
                            <a:rPr kumimoji="1" lang="en-US" altLang="ja-JP" sz="1200" dirty="0">
                              <a:solidFill>
                                <a:schemeClr val="tx1"/>
                              </a:solidFill>
                            </a:rPr>
                            <a:t>Nice</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200000" r="-102041" b="-395833"/>
                          </a:stretch>
                        </a:blipFill>
                      </a:tcPr>
                    </a:tc>
                    <a:tc>
                      <a:txBody>
                        <a:bodyPr/>
                        <a:lstStyle/>
                        <a:p>
                          <a:endParaRPr lang="ja-JP"/>
                        </a:p>
                      </a:txBody>
                      <a:tcPr marL="75570" marR="75570">
                        <a:blipFill>
                          <a:blip r:embed="rId6"/>
                          <a:stretch>
                            <a:fillRect l="-163514" t="-200000" r="-1351" b="-395833"/>
                          </a:stretch>
                        </a:blipFill>
                      </a:tcPr>
                    </a:tc>
                    <a:extLst>
                      <a:ext uri="{0D108BD9-81ED-4DB2-BD59-A6C34878D82A}">
                        <a16:rowId xmlns:a16="http://schemas.microsoft.com/office/drawing/2014/main" val="1183317016"/>
                      </a:ext>
                    </a:extLst>
                  </a:tr>
                  <a:tr h="298286">
                    <a:tc>
                      <a:txBody>
                        <a:bodyPr/>
                        <a:lstStyle/>
                        <a:p>
                          <a:r>
                            <a:rPr kumimoji="1" lang="en-US" altLang="ja-JP" sz="1200" dirty="0">
                              <a:solidFill>
                                <a:schemeClr val="tx1"/>
                              </a:solidFill>
                            </a:rPr>
                            <a:t>Fortunate</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313043" r="-102041" b="-313043"/>
                          </a:stretch>
                        </a:blipFill>
                      </a:tcPr>
                    </a:tc>
                    <a:tc>
                      <a:txBody>
                        <a:bodyPr/>
                        <a:lstStyle/>
                        <a:p>
                          <a:endParaRPr lang="ja-JP"/>
                        </a:p>
                      </a:txBody>
                      <a:tcPr marL="75570" marR="75570">
                        <a:blipFill>
                          <a:blip r:embed="rId6"/>
                          <a:stretch>
                            <a:fillRect l="-163514" t="-313043" r="-1351" b="-313043"/>
                          </a:stretch>
                        </a:blipFill>
                      </a:tcPr>
                    </a:tc>
                    <a:extLst>
                      <a:ext uri="{0D108BD9-81ED-4DB2-BD59-A6C34878D82A}">
                        <a16:rowId xmlns:a16="http://schemas.microsoft.com/office/drawing/2014/main" val="895325157"/>
                      </a:ext>
                    </a:extLst>
                  </a:tr>
                  <a:tr h="298286">
                    <a:tc>
                      <a:txBody>
                        <a:bodyPr/>
                        <a:lstStyle/>
                        <a:p>
                          <a:r>
                            <a:rPr kumimoji="1" lang="en-US" altLang="ja-JP" sz="1200" dirty="0">
                              <a:solidFill>
                                <a:schemeClr val="tx1"/>
                              </a:solidFill>
                            </a:rPr>
                            <a:t>Selfish</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395833" r="-102041" b="-200000"/>
                          </a:stretch>
                        </a:blipFill>
                      </a:tcPr>
                    </a:tc>
                    <a:tc>
                      <a:txBody>
                        <a:bodyPr/>
                        <a:lstStyle/>
                        <a:p>
                          <a:endParaRPr lang="ja-JP"/>
                        </a:p>
                      </a:txBody>
                      <a:tcPr marL="75570" marR="75570">
                        <a:blipFill>
                          <a:blip r:embed="rId6"/>
                          <a:stretch>
                            <a:fillRect l="-163514" t="-395833" r="-1351" b="-200000"/>
                          </a:stretch>
                        </a:blipFill>
                      </a:tcPr>
                    </a:tc>
                    <a:extLst>
                      <a:ext uri="{0D108BD9-81ED-4DB2-BD59-A6C34878D82A}">
                        <a16:rowId xmlns:a16="http://schemas.microsoft.com/office/drawing/2014/main" val="2591775076"/>
                      </a:ext>
                    </a:extLst>
                  </a:tr>
                  <a:tr h="298286">
                    <a:tc>
                      <a:txBody>
                        <a:bodyPr/>
                        <a:lstStyle/>
                        <a:p>
                          <a:r>
                            <a:rPr kumimoji="1" lang="en-US" altLang="ja-JP" sz="1200" dirty="0">
                              <a:solidFill>
                                <a:schemeClr val="tx1"/>
                              </a:solidFill>
                            </a:rPr>
                            <a:t>Concession</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517391" r="-102041" b="-108696"/>
                          </a:stretch>
                        </a:blipFill>
                      </a:tcPr>
                    </a:tc>
                    <a:tc>
                      <a:txBody>
                        <a:bodyPr/>
                        <a:lstStyle/>
                        <a:p>
                          <a:endParaRPr lang="ja-JP"/>
                        </a:p>
                      </a:txBody>
                      <a:tcPr marL="75570" marR="75570">
                        <a:blipFill>
                          <a:blip r:embed="rId6"/>
                          <a:stretch>
                            <a:fillRect l="-163514" t="-517391" r="-1351" b="-108696"/>
                          </a:stretch>
                        </a:blipFill>
                      </a:tcPr>
                    </a:tc>
                    <a:extLst>
                      <a:ext uri="{0D108BD9-81ED-4DB2-BD59-A6C34878D82A}">
                        <a16:rowId xmlns:a16="http://schemas.microsoft.com/office/drawing/2014/main" val="2841830330"/>
                      </a:ext>
                    </a:extLst>
                  </a:tr>
                  <a:tr h="298286">
                    <a:tc>
                      <a:txBody>
                        <a:bodyPr/>
                        <a:lstStyle/>
                        <a:p>
                          <a:r>
                            <a:rPr kumimoji="1" lang="en-US" altLang="ja-JP" sz="1200" dirty="0">
                              <a:solidFill>
                                <a:schemeClr val="tx1"/>
                              </a:solidFill>
                            </a:rPr>
                            <a:t>Unfortunate</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591667" r="-102041" b="-4167"/>
                          </a:stretch>
                        </a:blipFill>
                      </a:tcPr>
                    </a:tc>
                    <a:tc>
                      <a:txBody>
                        <a:bodyPr/>
                        <a:lstStyle/>
                        <a:p>
                          <a:endParaRPr lang="ja-JP"/>
                        </a:p>
                      </a:txBody>
                      <a:tcPr marL="75570" marR="75570">
                        <a:blipFill>
                          <a:blip r:embed="rId6"/>
                          <a:stretch>
                            <a:fillRect l="-163514" t="-591667" r="-1351" b="-4167"/>
                          </a:stretch>
                        </a:blipFill>
                      </a:tcPr>
                    </a:tc>
                    <a:extLst>
                      <a:ext uri="{0D108BD9-81ED-4DB2-BD59-A6C34878D82A}">
                        <a16:rowId xmlns:a16="http://schemas.microsoft.com/office/drawing/2014/main" val="2685632522"/>
                      </a:ext>
                    </a:extLst>
                  </a:tr>
                </a:tbl>
              </a:graphicData>
            </a:graphic>
          </p:graphicFrame>
        </mc:Fallback>
      </mc:AlternateContent>
    </p:spTree>
    <p:extLst>
      <p:ext uri="{BB962C8B-B14F-4D97-AF65-F5344CB8AC3E}">
        <p14:creationId xmlns:p14="http://schemas.microsoft.com/office/powerpoint/2010/main" val="26016211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en-US" altLang="ja-JP" dirty="0"/>
              <a:t>BIG5</a:t>
            </a:r>
            <a:endParaRPr kumimoji="1" lang="ja-JP" altLang="en-US"/>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3"/>
            <a:ext cx="8859709" cy="3947779"/>
          </a:xfrm>
        </p:spPr>
        <p:txBody>
          <a:bodyPr/>
          <a:lstStyle/>
          <a:p>
            <a:r>
              <a:rPr lang="ja-JP" altLang="en-US"/>
              <a:t>神経症的傾向</a:t>
            </a:r>
            <a:endParaRPr lang="en-US" altLang="ja-JP" dirty="0"/>
          </a:p>
          <a:p>
            <a:pPr lvl="1"/>
            <a:r>
              <a:rPr lang="ja-JP" altLang="en-US"/>
              <a:t>ストレス耐性の高さ</a:t>
            </a:r>
          </a:p>
          <a:p>
            <a:r>
              <a:rPr lang="ja-JP" altLang="en-US"/>
              <a:t>外向性</a:t>
            </a:r>
            <a:endParaRPr lang="en-US" altLang="ja-JP" dirty="0"/>
          </a:p>
          <a:p>
            <a:pPr lvl="1"/>
            <a:r>
              <a:rPr lang="ja-JP" altLang="en-US"/>
              <a:t>社交性，積極性の高さ</a:t>
            </a:r>
          </a:p>
          <a:p>
            <a:r>
              <a:rPr lang="ja-JP" altLang="en-US"/>
              <a:t>経験への開放性</a:t>
            </a:r>
            <a:endParaRPr lang="en-US" altLang="ja-JP" dirty="0"/>
          </a:p>
          <a:p>
            <a:pPr lvl="1"/>
            <a:r>
              <a:rPr lang="ja-JP" altLang="en-US"/>
              <a:t>知的好奇心の強さ</a:t>
            </a:r>
          </a:p>
          <a:p>
            <a:r>
              <a:rPr lang="ja-JP" altLang="en-US"/>
              <a:t>誠実性</a:t>
            </a:r>
            <a:endParaRPr lang="en-US" altLang="ja-JP" dirty="0"/>
          </a:p>
          <a:p>
            <a:pPr lvl="1"/>
            <a:r>
              <a:rPr lang="ja-JP" altLang="en-US"/>
              <a:t>計画性の高さ・真面目さ</a:t>
            </a:r>
          </a:p>
          <a:p>
            <a:endParaRPr lang="ja-JP" altLang="en-US"/>
          </a:p>
          <a:p>
            <a:endParaRPr lang="ja-JP" altLang="en-US"/>
          </a:p>
          <a:p>
            <a:endParaRPr lang="en-US" altLang="ja-JP" dirty="0"/>
          </a:p>
          <a:p>
            <a:endParaRPr lang="en-US" altLang="ja-JP" dirty="0"/>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2020/7/10</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3</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lang="en-US" altLang="ja-JP" dirty="0"/>
              <a:t>1</a:t>
            </a:r>
            <a:endParaRPr kumimoji="1" lang="ja-JP" altLang="en-US"/>
          </a:p>
        </p:txBody>
      </p:sp>
      <p:pic>
        <p:nvPicPr>
          <p:cNvPr id="35" name="図 34">
            <a:extLst>
              <a:ext uri="{FF2B5EF4-FFF2-40B4-BE49-F238E27FC236}">
                <a16:creationId xmlns:a16="http://schemas.microsoft.com/office/drawing/2014/main" id="{813CA7AA-D605-594B-ADF0-6CF8BCF67529}"/>
              </a:ext>
            </a:extLst>
          </p:cNvPr>
          <p:cNvPicPr>
            <a:picLocks noChangeAspect="1"/>
          </p:cNvPicPr>
          <p:nvPr/>
        </p:nvPicPr>
        <p:blipFill>
          <a:blip r:embed="rId2"/>
          <a:stretch>
            <a:fillRect/>
          </a:stretch>
        </p:blipFill>
        <p:spPr>
          <a:xfrm>
            <a:off x="5499056" y="1052532"/>
            <a:ext cx="3673279" cy="2316536"/>
          </a:xfrm>
          <a:prstGeom prst="rect">
            <a:avLst/>
          </a:prstGeom>
        </p:spPr>
      </p:pic>
      <p:sp>
        <p:nvSpPr>
          <p:cNvPr id="18" name="テキスト プレースホルダー 12">
            <a:extLst>
              <a:ext uri="{FF2B5EF4-FFF2-40B4-BE49-F238E27FC236}">
                <a16:creationId xmlns:a16="http://schemas.microsoft.com/office/drawing/2014/main" id="{B1673F2D-B405-CB4D-8F59-80842B8ACB15}"/>
              </a:ext>
            </a:extLst>
          </p:cNvPr>
          <p:cNvSpPr txBox="1">
            <a:spLocks/>
          </p:cNvSpPr>
          <p:nvPr/>
        </p:nvSpPr>
        <p:spPr>
          <a:xfrm>
            <a:off x="404691" y="2876210"/>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endParaRPr lang="ja-JP" altLang="en-US"/>
          </a:p>
        </p:txBody>
      </p:sp>
      <p:sp>
        <p:nvSpPr>
          <p:cNvPr id="32" name="角丸四角形吹き出し 31">
            <a:extLst>
              <a:ext uri="{FF2B5EF4-FFF2-40B4-BE49-F238E27FC236}">
                <a16:creationId xmlns:a16="http://schemas.microsoft.com/office/drawing/2014/main" id="{F27DA7FE-B30A-5944-8380-F455330215A8}"/>
              </a:ext>
            </a:extLst>
          </p:cNvPr>
          <p:cNvSpPr/>
          <p:nvPr/>
        </p:nvSpPr>
        <p:spPr>
          <a:xfrm>
            <a:off x="1542599" y="5394770"/>
            <a:ext cx="4572451" cy="896345"/>
          </a:xfrm>
          <a:prstGeom prst="wedgeRoundRectCallout">
            <a:avLst>
              <a:gd name="adj1" fmla="val -55108"/>
              <a:gd name="adj2" fmla="val -39015"/>
              <a:gd name="adj3"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dirty="0">
                <a:solidFill>
                  <a:schemeClr val="bg2"/>
                </a:solidFill>
              </a:rPr>
              <a:t>bid</a:t>
            </a:r>
            <a:r>
              <a:rPr kumimoji="1" lang="ja-JP" altLang="en-US">
                <a:solidFill>
                  <a:schemeClr val="bg2"/>
                </a:solidFill>
              </a:rPr>
              <a:t>の分散</a:t>
            </a:r>
            <a:r>
              <a:rPr kumimoji="1" lang="en-US" altLang="ja-JP" dirty="0">
                <a:solidFill>
                  <a:schemeClr val="bg2"/>
                </a:solidFill>
              </a:rPr>
              <a:t>(</a:t>
            </a:r>
            <a:r>
              <a:rPr kumimoji="1" lang="ja-JP" altLang="en-US">
                <a:solidFill>
                  <a:schemeClr val="bg2"/>
                </a:solidFill>
              </a:rPr>
              <a:t>計画性の高さ</a:t>
            </a:r>
            <a:r>
              <a:rPr kumimoji="1" lang="en-US" altLang="ja-JP" dirty="0">
                <a:solidFill>
                  <a:schemeClr val="bg2"/>
                </a:solidFill>
              </a:rPr>
              <a:t>)</a:t>
            </a:r>
          </a:p>
          <a:p>
            <a:r>
              <a:rPr kumimoji="1" lang="en-US" altLang="ja-JP" dirty="0">
                <a:solidFill>
                  <a:schemeClr val="bg2"/>
                </a:solidFill>
              </a:rPr>
              <a:t>- </a:t>
            </a:r>
            <a:r>
              <a:rPr kumimoji="1" lang="ja-JP" altLang="en-US">
                <a:solidFill>
                  <a:schemeClr val="bg2"/>
                </a:solidFill>
              </a:rPr>
              <a:t>選好に関して嘘をついた回数</a:t>
            </a:r>
            <a:r>
              <a:rPr kumimoji="1" lang="en-US" altLang="ja-JP" dirty="0">
                <a:solidFill>
                  <a:schemeClr val="bg2"/>
                </a:solidFill>
              </a:rPr>
              <a:t>(</a:t>
            </a:r>
            <a:r>
              <a:rPr kumimoji="1" lang="ja-JP" altLang="en-US">
                <a:solidFill>
                  <a:schemeClr val="bg2"/>
                </a:solidFill>
              </a:rPr>
              <a:t>真面目さ</a:t>
            </a:r>
            <a:r>
              <a:rPr kumimoji="1" lang="en-US" altLang="ja-JP" dirty="0">
                <a:solidFill>
                  <a:schemeClr val="bg2"/>
                </a:solidFill>
              </a:rPr>
              <a:t>)</a:t>
            </a:r>
            <a:endParaRPr kumimoji="1" lang="ja-JP" altLang="en-US">
              <a:solidFill>
                <a:schemeClr val="bg2"/>
              </a:solidFill>
            </a:endParaRPr>
          </a:p>
        </p:txBody>
      </p:sp>
      <p:sp>
        <p:nvSpPr>
          <p:cNvPr id="33" name="角丸四角形吹き出し 32">
            <a:extLst>
              <a:ext uri="{FF2B5EF4-FFF2-40B4-BE49-F238E27FC236}">
                <a16:creationId xmlns:a16="http://schemas.microsoft.com/office/drawing/2014/main" id="{ED39F5FF-EC58-6E4E-84CB-97EC3A835CDA}"/>
              </a:ext>
            </a:extLst>
          </p:cNvPr>
          <p:cNvSpPr/>
          <p:nvPr/>
        </p:nvSpPr>
        <p:spPr>
          <a:xfrm>
            <a:off x="4202611" y="3000841"/>
            <a:ext cx="2592890" cy="740781"/>
          </a:xfrm>
          <a:prstGeom prst="wedgeRoundRectCallout">
            <a:avLst>
              <a:gd name="adj1" fmla="val -56681"/>
              <a:gd name="adj2" fmla="val 12445"/>
              <a:gd name="adj3"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a:solidFill>
                  <a:schemeClr val="bg2"/>
                </a:solidFill>
              </a:rPr>
              <a:t>行動の頻度</a:t>
            </a:r>
            <a:r>
              <a:rPr kumimoji="1" lang="en-US" altLang="ja-JP" dirty="0">
                <a:solidFill>
                  <a:schemeClr val="bg2"/>
                </a:solidFill>
              </a:rPr>
              <a:t>(</a:t>
            </a:r>
            <a:r>
              <a:rPr kumimoji="1" lang="ja-JP" altLang="en-US">
                <a:solidFill>
                  <a:schemeClr val="bg2"/>
                </a:solidFill>
              </a:rPr>
              <a:t>社交性</a:t>
            </a:r>
            <a:r>
              <a:rPr kumimoji="1" lang="en-US" altLang="ja-JP" dirty="0">
                <a:solidFill>
                  <a:schemeClr val="bg2"/>
                </a:solidFill>
              </a:rPr>
              <a:t>)</a:t>
            </a:r>
            <a:br>
              <a:rPr kumimoji="1" lang="en-US" altLang="ja-JP" dirty="0">
                <a:solidFill>
                  <a:schemeClr val="bg2"/>
                </a:solidFill>
              </a:rPr>
            </a:br>
            <a:r>
              <a:rPr kumimoji="1" lang="en-US" altLang="ja-JP" dirty="0">
                <a:solidFill>
                  <a:schemeClr val="bg2"/>
                </a:solidFill>
              </a:rPr>
              <a:t>+Selfish</a:t>
            </a:r>
            <a:r>
              <a:rPr kumimoji="1" lang="ja-JP" altLang="en-US">
                <a:solidFill>
                  <a:schemeClr val="bg2"/>
                </a:solidFill>
              </a:rPr>
              <a:t>の値</a:t>
            </a:r>
            <a:r>
              <a:rPr kumimoji="1" lang="en-US" altLang="ja-JP" dirty="0">
                <a:solidFill>
                  <a:schemeClr val="bg2"/>
                </a:solidFill>
              </a:rPr>
              <a:t>(</a:t>
            </a:r>
            <a:r>
              <a:rPr kumimoji="1" lang="ja-JP" altLang="en-US">
                <a:solidFill>
                  <a:schemeClr val="bg2"/>
                </a:solidFill>
              </a:rPr>
              <a:t>積極性</a:t>
            </a:r>
            <a:r>
              <a:rPr kumimoji="1" lang="en-US" altLang="ja-JP" dirty="0">
                <a:solidFill>
                  <a:schemeClr val="bg2"/>
                </a:solidFill>
              </a:rPr>
              <a:t>)</a:t>
            </a:r>
            <a:endParaRPr kumimoji="1" lang="ja-JP" altLang="en-US">
              <a:solidFill>
                <a:schemeClr val="bg2"/>
              </a:solidFill>
            </a:endParaRPr>
          </a:p>
        </p:txBody>
      </p:sp>
      <p:sp>
        <p:nvSpPr>
          <p:cNvPr id="34" name="角丸四角形吹き出し 33">
            <a:extLst>
              <a:ext uri="{FF2B5EF4-FFF2-40B4-BE49-F238E27FC236}">
                <a16:creationId xmlns:a16="http://schemas.microsoft.com/office/drawing/2014/main" id="{8DE2AEC0-38A1-2148-9CF5-A38F7A433182}"/>
              </a:ext>
            </a:extLst>
          </p:cNvPr>
          <p:cNvSpPr/>
          <p:nvPr/>
        </p:nvSpPr>
        <p:spPr>
          <a:xfrm>
            <a:off x="3980454" y="1997304"/>
            <a:ext cx="3508365" cy="740781"/>
          </a:xfrm>
          <a:prstGeom prst="wedgeRoundRectCallout">
            <a:avLst>
              <a:gd name="adj1" fmla="val -56111"/>
              <a:gd name="adj2" fmla="val 20257"/>
              <a:gd name="adj3"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a:solidFill>
                  <a:schemeClr val="bg2"/>
                </a:solidFill>
              </a:rPr>
              <a:t>行動</a:t>
            </a:r>
            <a:r>
              <a:rPr kumimoji="1" lang="en-US" altLang="ja-JP" dirty="0">
                <a:solidFill>
                  <a:schemeClr val="bg2"/>
                </a:solidFill>
              </a:rPr>
              <a:t>(</a:t>
            </a:r>
            <a:r>
              <a:rPr kumimoji="1" lang="ja-JP" altLang="en-US">
                <a:solidFill>
                  <a:schemeClr val="bg2"/>
                </a:solidFill>
              </a:rPr>
              <a:t>主に感情</a:t>
            </a:r>
            <a:r>
              <a:rPr kumimoji="1" lang="en-US" altLang="ja-JP" dirty="0">
                <a:solidFill>
                  <a:schemeClr val="bg2"/>
                </a:solidFill>
              </a:rPr>
              <a:t>)</a:t>
            </a:r>
            <a:r>
              <a:rPr kumimoji="1" lang="ja-JP" altLang="en-US">
                <a:solidFill>
                  <a:schemeClr val="bg2"/>
                </a:solidFill>
              </a:rPr>
              <a:t>の分散の逆数</a:t>
            </a:r>
            <a:br>
              <a:rPr kumimoji="1" lang="en-US" altLang="ja-JP" dirty="0">
                <a:solidFill>
                  <a:schemeClr val="bg2"/>
                </a:solidFill>
              </a:rPr>
            </a:br>
            <a:r>
              <a:rPr kumimoji="1" lang="en-US" altLang="ja-JP" dirty="0">
                <a:solidFill>
                  <a:schemeClr val="bg2"/>
                </a:solidFill>
              </a:rPr>
              <a:t>+Selfish</a:t>
            </a:r>
            <a:r>
              <a:rPr kumimoji="1" lang="ja-JP" altLang="en-US">
                <a:solidFill>
                  <a:schemeClr val="bg2"/>
                </a:solidFill>
              </a:rPr>
              <a:t>な</a:t>
            </a:r>
            <a:r>
              <a:rPr kumimoji="1" lang="en-US" altLang="ja-JP" dirty="0">
                <a:solidFill>
                  <a:schemeClr val="bg2"/>
                </a:solidFill>
              </a:rPr>
              <a:t>Offer</a:t>
            </a:r>
            <a:r>
              <a:rPr kumimoji="1" lang="ja-JP" altLang="en-US">
                <a:solidFill>
                  <a:schemeClr val="bg2"/>
                </a:solidFill>
              </a:rPr>
              <a:t>に対する反応</a:t>
            </a:r>
          </a:p>
        </p:txBody>
      </p:sp>
      <p:sp>
        <p:nvSpPr>
          <p:cNvPr id="36" name="角丸四角形吹き出し 35">
            <a:extLst>
              <a:ext uri="{FF2B5EF4-FFF2-40B4-BE49-F238E27FC236}">
                <a16:creationId xmlns:a16="http://schemas.microsoft.com/office/drawing/2014/main" id="{FB75BBCD-2363-EF47-8BA3-B4253D5A03CC}"/>
              </a:ext>
            </a:extLst>
          </p:cNvPr>
          <p:cNvSpPr/>
          <p:nvPr/>
        </p:nvSpPr>
        <p:spPr>
          <a:xfrm>
            <a:off x="3622929" y="3952450"/>
            <a:ext cx="3553376" cy="896345"/>
          </a:xfrm>
          <a:prstGeom prst="wedgeRoundRectCallout">
            <a:avLst>
              <a:gd name="adj1" fmla="val -54851"/>
              <a:gd name="adj2" fmla="val -18354"/>
              <a:gd name="adj3"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a:solidFill>
                  <a:schemeClr val="bg2"/>
                </a:solidFill>
              </a:rPr>
              <a:t>選好に関して質問してきた回数</a:t>
            </a:r>
            <a:endParaRPr kumimoji="1" lang="en-US" altLang="ja-JP" dirty="0">
              <a:solidFill>
                <a:schemeClr val="bg2"/>
              </a:solidFill>
            </a:endParaRPr>
          </a:p>
          <a:p>
            <a:r>
              <a:rPr kumimoji="1" lang="en-US" altLang="ja-JP" dirty="0">
                <a:solidFill>
                  <a:schemeClr val="bg2"/>
                </a:solidFill>
              </a:rPr>
              <a:t>+ bid</a:t>
            </a:r>
            <a:r>
              <a:rPr kumimoji="1" lang="ja-JP" altLang="en-US">
                <a:solidFill>
                  <a:schemeClr val="bg2"/>
                </a:solidFill>
              </a:rPr>
              <a:t>の動き</a:t>
            </a:r>
          </a:p>
        </p:txBody>
      </p:sp>
      <p:sp>
        <p:nvSpPr>
          <p:cNvPr id="26" name="テキスト プレースホルダー 12">
            <a:extLst>
              <a:ext uri="{FF2B5EF4-FFF2-40B4-BE49-F238E27FC236}">
                <a16:creationId xmlns:a16="http://schemas.microsoft.com/office/drawing/2014/main" id="{7B7F527F-C47B-3643-889D-282D604F7CCD}"/>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各尺度の計算</a:t>
            </a:r>
          </a:p>
        </p:txBody>
      </p:sp>
      <p:grpSp>
        <p:nvGrpSpPr>
          <p:cNvPr id="20" name="グループ化 19">
            <a:extLst>
              <a:ext uri="{FF2B5EF4-FFF2-40B4-BE49-F238E27FC236}">
                <a16:creationId xmlns:a16="http://schemas.microsoft.com/office/drawing/2014/main" id="{26AA23F5-BBEE-F544-B142-BE2DCF18C8A3}"/>
              </a:ext>
            </a:extLst>
          </p:cNvPr>
          <p:cNvGrpSpPr/>
          <p:nvPr/>
        </p:nvGrpSpPr>
        <p:grpSpPr>
          <a:xfrm>
            <a:off x="163626" y="1160115"/>
            <a:ext cx="2753194" cy="680876"/>
            <a:chOff x="163626" y="1160115"/>
            <a:chExt cx="2753194" cy="680876"/>
          </a:xfrm>
        </p:grpSpPr>
        <p:cxnSp>
          <p:nvCxnSpPr>
            <p:cNvPr id="21" name="直線コネクタ 20">
              <a:extLst>
                <a:ext uri="{FF2B5EF4-FFF2-40B4-BE49-F238E27FC236}">
                  <a16:creationId xmlns:a16="http://schemas.microsoft.com/office/drawing/2014/main" id="{ED26CD64-B133-CA4D-BAE1-C5DA49DC7F85}"/>
                </a:ext>
              </a:extLst>
            </p:cNvPr>
            <p:cNvCxnSpPr>
              <a:cxnSpLocks/>
            </p:cNvCxnSpPr>
            <p:nvPr userDrawn="1"/>
          </p:nvCxnSpPr>
          <p:spPr>
            <a:xfrm>
              <a:off x="163626" y="1699846"/>
              <a:ext cx="275319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E55432E9-1EBD-694B-AF0E-4BB224854BBE}"/>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3597782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FC917A-B83F-9A4D-9501-710DA6F17D1F}"/>
              </a:ext>
            </a:extLst>
          </p:cNvPr>
          <p:cNvSpPr>
            <a:spLocks noGrp="1"/>
          </p:cNvSpPr>
          <p:nvPr>
            <p:ph type="title"/>
          </p:nvPr>
        </p:nvSpPr>
        <p:spPr/>
        <p:txBody>
          <a:bodyPr/>
          <a:lstStyle/>
          <a:p>
            <a:r>
              <a:rPr lang="en-US" altLang="ja-JP" dirty="0"/>
              <a:t>BIG5</a:t>
            </a:r>
            <a:endParaRPr kumimoji="1" lang="ja-JP" altLang="en-US"/>
          </a:p>
        </p:txBody>
      </p:sp>
      <p:sp>
        <p:nvSpPr>
          <p:cNvPr id="3" name="コンテンツ プレースホルダー 2">
            <a:extLst>
              <a:ext uri="{FF2B5EF4-FFF2-40B4-BE49-F238E27FC236}">
                <a16:creationId xmlns:a16="http://schemas.microsoft.com/office/drawing/2014/main" id="{2291EE29-3B2E-0149-9AB1-D4AE0526F8DC}"/>
              </a:ext>
            </a:extLst>
          </p:cNvPr>
          <p:cNvSpPr>
            <a:spLocks noGrp="1"/>
          </p:cNvSpPr>
          <p:nvPr>
            <p:ph idx="1"/>
          </p:nvPr>
        </p:nvSpPr>
        <p:spPr/>
        <p:txBody>
          <a:bodyPr/>
          <a:lstStyle/>
          <a:p>
            <a:r>
              <a:rPr kumimoji="1" lang="ja-JP" altLang="en-US"/>
              <a:t>やっぱりカテゴリ分けでは</a:t>
            </a:r>
            <a:br>
              <a:rPr kumimoji="1" lang="en-US" altLang="ja-JP" dirty="0"/>
            </a:br>
            <a:r>
              <a:rPr kumimoji="1" lang="ja-JP" altLang="en-US"/>
              <a:t>なく各因子</a:t>
            </a:r>
            <a:r>
              <a:rPr lang="ja-JP" altLang="en-US"/>
              <a:t>ごとに戦略を決めた</a:t>
            </a:r>
            <a:br>
              <a:rPr lang="en-US" altLang="ja-JP" dirty="0"/>
            </a:br>
            <a:r>
              <a:rPr lang="ja-JP" altLang="en-US"/>
              <a:t>ほうがいいのでは？</a:t>
            </a:r>
            <a:endParaRPr kumimoji="1" lang="ja-JP" altLang="en-US"/>
          </a:p>
        </p:txBody>
      </p:sp>
      <p:sp>
        <p:nvSpPr>
          <p:cNvPr id="4" name="日付プレースホルダー 3">
            <a:extLst>
              <a:ext uri="{FF2B5EF4-FFF2-40B4-BE49-F238E27FC236}">
                <a16:creationId xmlns:a16="http://schemas.microsoft.com/office/drawing/2014/main" id="{F9FA3910-EBDA-1F41-B81B-28BEE2E93969}"/>
              </a:ext>
            </a:extLst>
          </p:cNvPr>
          <p:cNvSpPr>
            <a:spLocks noGrp="1"/>
          </p:cNvSpPr>
          <p:nvPr>
            <p:ph type="dt" sz="half" idx="10"/>
          </p:nvPr>
        </p:nvSpPr>
        <p:spPr/>
        <p:txBody>
          <a:bodyPr/>
          <a:lstStyle/>
          <a:p>
            <a:fld id="{24B158CC-F5BE-2345-99BA-C49B60654C2B}" type="datetime1">
              <a:rPr kumimoji="1" lang="ja-JP" altLang="en-US" smtClean="0"/>
              <a:t>2020/7/10</a:t>
            </a:fld>
            <a:endParaRPr kumimoji="1" lang="ja-JP" altLang="en-US"/>
          </a:p>
        </p:txBody>
      </p:sp>
      <p:sp>
        <p:nvSpPr>
          <p:cNvPr id="5" name="フッター プレースホルダー 4">
            <a:extLst>
              <a:ext uri="{FF2B5EF4-FFF2-40B4-BE49-F238E27FC236}">
                <a16:creationId xmlns:a16="http://schemas.microsoft.com/office/drawing/2014/main" id="{420F8E83-7BA4-7043-BE95-A40B16E66B08}"/>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6EAA16D6-C5D5-A045-B31A-A708E0334FB8}"/>
              </a:ext>
            </a:extLst>
          </p:cNvPr>
          <p:cNvSpPr>
            <a:spLocks noGrp="1"/>
          </p:cNvSpPr>
          <p:nvPr>
            <p:ph type="sldNum" sz="quarter" idx="12"/>
          </p:nvPr>
        </p:nvSpPr>
        <p:spPr/>
        <p:txBody>
          <a:bodyPr/>
          <a:lstStyle/>
          <a:p>
            <a:fld id="{2981C279-7323-A845-8A27-BB5908B2F04D}" type="slidenum">
              <a:rPr kumimoji="1" lang="ja-JP" altLang="en-US" smtClean="0"/>
              <a:t>4</a:t>
            </a:fld>
            <a:endParaRPr kumimoji="1" lang="ja-JP" altLang="en-US"/>
          </a:p>
        </p:txBody>
      </p:sp>
      <p:sp>
        <p:nvSpPr>
          <p:cNvPr id="7" name="テキスト プレースホルダー 6">
            <a:extLst>
              <a:ext uri="{FF2B5EF4-FFF2-40B4-BE49-F238E27FC236}">
                <a16:creationId xmlns:a16="http://schemas.microsoft.com/office/drawing/2014/main" id="{5713A6CD-9943-1240-9668-51FF38872FC1}"/>
              </a:ext>
            </a:extLst>
          </p:cNvPr>
          <p:cNvSpPr>
            <a:spLocks noGrp="1"/>
          </p:cNvSpPr>
          <p:nvPr>
            <p:ph type="body" sz="quarter" idx="13"/>
          </p:nvPr>
        </p:nvSpPr>
        <p:spPr/>
        <p:txBody>
          <a:bodyPr/>
          <a:lstStyle/>
          <a:p>
            <a:r>
              <a:rPr kumimoji="1" lang="en-US" altLang="ja-JP" dirty="0"/>
              <a:t>1</a:t>
            </a:r>
            <a:endParaRPr kumimoji="1" lang="ja-JP" altLang="en-US"/>
          </a:p>
        </p:txBody>
      </p:sp>
      <p:grpSp>
        <p:nvGrpSpPr>
          <p:cNvPr id="8" name="グループ化 7">
            <a:extLst>
              <a:ext uri="{FF2B5EF4-FFF2-40B4-BE49-F238E27FC236}">
                <a16:creationId xmlns:a16="http://schemas.microsoft.com/office/drawing/2014/main" id="{8158F481-D8B0-824A-9D88-C783DF4BE99F}"/>
              </a:ext>
            </a:extLst>
          </p:cNvPr>
          <p:cNvGrpSpPr/>
          <p:nvPr/>
        </p:nvGrpSpPr>
        <p:grpSpPr>
          <a:xfrm>
            <a:off x="163626" y="1160115"/>
            <a:ext cx="4119007" cy="680876"/>
            <a:chOff x="163626" y="1160115"/>
            <a:chExt cx="4119007" cy="680876"/>
          </a:xfrm>
        </p:grpSpPr>
        <p:cxnSp>
          <p:nvCxnSpPr>
            <p:cNvPr id="9" name="直線コネクタ 8">
              <a:extLst>
                <a:ext uri="{FF2B5EF4-FFF2-40B4-BE49-F238E27FC236}">
                  <a16:creationId xmlns:a16="http://schemas.microsoft.com/office/drawing/2014/main" id="{105F614E-8C50-6647-A66A-3865DD7CF086}"/>
                </a:ext>
              </a:extLst>
            </p:cNvPr>
            <p:cNvCxnSpPr>
              <a:cxnSpLocks/>
            </p:cNvCxnSpPr>
            <p:nvPr userDrawn="1"/>
          </p:nvCxnSpPr>
          <p:spPr>
            <a:xfrm>
              <a:off x="163626" y="1699846"/>
              <a:ext cx="411900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0A9D68CC-ACEF-2544-BBA3-E630E2AF2B03}"/>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6C4C6E99-A8A8-6542-AE34-DECC83D34A2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BIG5</a:t>
            </a:r>
            <a:r>
              <a:rPr lang="ja-JP" altLang="en-US"/>
              <a:t>のカテゴリ分け</a:t>
            </a:r>
          </a:p>
        </p:txBody>
      </p:sp>
      <p:pic>
        <p:nvPicPr>
          <p:cNvPr id="13" name="図 12">
            <a:extLst>
              <a:ext uri="{FF2B5EF4-FFF2-40B4-BE49-F238E27FC236}">
                <a16:creationId xmlns:a16="http://schemas.microsoft.com/office/drawing/2014/main" id="{DC07B6CB-673B-F849-AA4B-91E09EC4CE32}"/>
              </a:ext>
            </a:extLst>
          </p:cNvPr>
          <p:cNvPicPr>
            <a:picLocks noChangeAspect="1"/>
          </p:cNvPicPr>
          <p:nvPr/>
        </p:nvPicPr>
        <p:blipFill>
          <a:blip r:embed="rId4"/>
          <a:stretch>
            <a:fillRect/>
          </a:stretch>
        </p:blipFill>
        <p:spPr>
          <a:xfrm>
            <a:off x="5499056" y="1052532"/>
            <a:ext cx="3673279" cy="2316536"/>
          </a:xfrm>
          <a:prstGeom prst="rect">
            <a:avLst/>
          </a:prstGeom>
        </p:spPr>
      </p:pic>
      <p:grpSp>
        <p:nvGrpSpPr>
          <p:cNvPr id="15" name="グループ化 14">
            <a:extLst>
              <a:ext uri="{FF2B5EF4-FFF2-40B4-BE49-F238E27FC236}">
                <a16:creationId xmlns:a16="http://schemas.microsoft.com/office/drawing/2014/main" id="{06927B05-0716-A442-AED8-C01F8B5C19C2}"/>
              </a:ext>
            </a:extLst>
          </p:cNvPr>
          <p:cNvGrpSpPr/>
          <p:nvPr/>
        </p:nvGrpSpPr>
        <p:grpSpPr>
          <a:xfrm>
            <a:off x="6221903" y="3554373"/>
            <a:ext cx="2727199" cy="708075"/>
            <a:chOff x="2662580" y="3750198"/>
            <a:chExt cx="2727199" cy="708075"/>
          </a:xfrm>
        </p:grpSpPr>
        <p:cxnSp>
          <p:nvCxnSpPr>
            <p:cNvPr id="16" name="直線矢印コネクタ 15">
              <a:extLst>
                <a:ext uri="{FF2B5EF4-FFF2-40B4-BE49-F238E27FC236}">
                  <a16:creationId xmlns:a16="http://schemas.microsoft.com/office/drawing/2014/main" id="{9265BDCA-B7A4-BE45-B9B2-AC70BB83E450}"/>
                </a:ext>
              </a:extLst>
            </p:cNvPr>
            <p:cNvCxnSpPr/>
            <p:nvPr/>
          </p:nvCxnSpPr>
          <p:spPr>
            <a:xfrm>
              <a:off x="3028950" y="3750198"/>
              <a:ext cx="1994463" cy="0"/>
            </a:xfrm>
            <a:prstGeom prst="straightConnector1">
              <a:avLst/>
            </a:prstGeom>
            <a:ln w="57150">
              <a:solidFill>
                <a:srgbClr val="D7991B"/>
              </a:solidFill>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91B125B0-AEE7-7A4C-A675-D9CB11EF6CFC}"/>
                </a:ext>
              </a:extLst>
            </p:cNvPr>
            <p:cNvSpPr txBox="1"/>
            <p:nvPr/>
          </p:nvSpPr>
          <p:spPr>
            <a:xfrm>
              <a:off x="3256464" y="3798669"/>
              <a:ext cx="1539433" cy="369332"/>
            </a:xfrm>
            <a:prstGeom prst="rect">
              <a:avLst/>
            </a:prstGeom>
            <a:noFill/>
          </p:spPr>
          <p:txBody>
            <a:bodyPr wrap="square" rtlCol="0">
              <a:spAutoFit/>
            </a:bodyPr>
            <a:lstStyle/>
            <a:p>
              <a:pPr algn="ctr"/>
              <a:r>
                <a:rPr kumimoji="1" lang="ja-JP" altLang="en-US"/>
                <a:t>わがまま</a:t>
              </a:r>
            </a:p>
          </p:txBody>
        </p:sp>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5BD10A00-8453-DB49-A09C-9514494F63A4}"/>
                    </a:ext>
                  </a:extLst>
                </p:cNvPr>
                <p:cNvSpPr txBox="1"/>
                <p:nvPr/>
              </p:nvSpPr>
              <p:spPr>
                <a:xfrm>
                  <a:off x="2662580" y="4087659"/>
                  <a:ext cx="2727199" cy="37061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[−0.2,0.6,−0.6,−0.5,−0.4]</m:t>
                        </m:r>
                      </m:oMath>
                    </m:oMathPara>
                  </a14:m>
                  <a:endParaRPr kumimoji="1" lang="ja-JP" altLang="en-US"/>
                </a:p>
              </p:txBody>
            </p:sp>
          </mc:Choice>
          <mc:Fallback xmlns="">
            <p:sp>
              <p:nvSpPr>
                <p:cNvPr id="22" name="テキスト ボックス 21">
                  <a:extLst>
                    <a:ext uri="{FF2B5EF4-FFF2-40B4-BE49-F238E27FC236}">
                      <a16:creationId xmlns:a16="http://schemas.microsoft.com/office/drawing/2014/main" id="{B4CB7D27-CD72-4248-9428-C83B4E0F2D07}"/>
                    </a:ext>
                  </a:extLst>
                </p:cNvPr>
                <p:cNvSpPr txBox="1">
                  <a:spLocks noRot="1" noChangeAspect="1" noMove="1" noResize="1" noEditPoints="1" noAdjustHandles="1" noChangeArrowheads="1" noChangeShapeType="1" noTextEdit="1"/>
                </p:cNvSpPr>
                <p:nvPr/>
              </p:nvSpPr>
              <p:spPr>
                <a:xfrm>
                  <a:off x="2662580" y="4087659"/>
                  <a:ext cx="2727199" cy="370614"/>
                </a:xfrm>
                <a:prstGeom prst="rect">
                  <a:avLst/>
                </a:prstGeom>
                <a:blipFill>
                  <a:blip r:embed="rId5"/>
                  <a:stretch>
                    <a:fillRect l="-4167" r="-926" b="-16667"/>
                  </a:stretch>
                </a:blipFill>
              </p:spPr>
              <p:txBody>
                <a:bodyPr/>
                <a:lstStyle/>
                <a:p>
                  <a:r>
                    <a:rPr lang="ja-JP" altLang="en-US">
                      <a:noFill/>
                    </a:rPr>
                    <a:t> </a:t>
                  </a:r>
                </a:p>
              </p:txBody>
            </p:sp>
          </mc:Fallback>
        </mc:AlternateContent>
      </p:grpSp>
      <p:grpSp>
        <p:nvGrpSpPr>
          <p:cNvPr id="19" name="グループ化 18">
            <a:extLst>
              <a:ext uri="{FF2B5EF4-FFF2-40B4-BE49-F238E27FC236}">
                <a16:creationId xmlns:a16="http://schemas.microsoft.com/office/drawing/2014/main" id="{BF4A14EC-107B-5B41-A54B-9691F778488A}"/>
              </a:ext>
            </a:extLst>
          </p:cNvPr>
          <p:cNvGrpSpPr/>
          <p:nvPr/>
        </p:nvGrpSpPr>
        <p:grpSpPr>
          <a:xfrm>
            <a:off x="3209317" y="3554373"/>
            <a:ext cx="2727199" cy="706793"/>
            <a:chOff x="2662580" y="3750198"/>
            <a:chExt cx="2727199" cy="706793"/>
          </a:xfrm>
        </p:grpSpPr>
        <p:cxnSp>
          <p:nvCxnSpPr>
            <p:cNvPr id="20" name="直線矢印コネクタ 19">
              <a:extLst>
                <a:ext uri="{FF2B5EF4-FFF2-40B4-BE49-F238E27FC236}">
                  <a16:creationId xmlns:a16="http://schemas.microsoft.com/office/drawing/2014/main" id="{6F785C29-01E8-9544-83B3-0DA3CA413792}"/>
                </a:ext>
              </a:extLst>
            </p:cNvPr>
            <p:cNvCxnSpPr/>
            <p:nvPr/>
          </p:nvCxnSpPr>
          <p:spPr>
            <a:xfrm>
              <a:off x="3028950" y="3750198"/>
              <a:ext cx="1994463" cy="0"/>
            </a:xfrm>
            <a:prstGeom prst="straightConnector1">
              <a:avLst/>
            </a:prstGeom>
            <a:ln w="57150">
              <a:solidFill>
                <a:srgbClr val="4BC44D"/>
              </a:solidFill>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9031889B-4F9F-4F4C-A385-21E2F9616872}"/>
                </a:ext>
              </a:extLst>
            </p:cNvPr>
            <p:cNvSpPr txBox="1"/>
            <p:nvPr/>
          </p:nvSpPr>
          <p:spPr>
            <a:xfrm>
              <a:off x="3256464" y="3798669"/>
              <a:ext cx="1539433" cy="369332"/>
            </a:xfrm>
            <a:prstGeom prst="rect">
              <a:avLst/>
            </a:prstGeom>
            <a:noFill/>
          </p:spPr>
          <p:txBody>
            <a:bodyPr wrap="square" rtlCol="0">
              <a:spAutoFit/>
            </a:bodyPr>
            <a:lstStyle/>
            <a:p>
              <a:pPr algn="ctr"/>
              <a:r>
                <a:rPr kumimoji="1" lang="ja-JP" altLang="en-US"/>
                <a:t>つつましい</a:t>
              </a:r>
            </a:p>
          </p:txBody>
        </p:sp>
        <mc:AlternateContent xmlns:mc="http://schemas.openxmlformats.org/markup-compatibility/2006" xmlns:a14="http://schemas.microsoft.com/office/drawing/2010/main">
          <mc:Choice Requires="a14">
            <p:sp>
              <p:nvSpPr>
                <p:cNvPr id="22" name="テキスト ボックス 21">
                  <a:extLst>
                    <a:ext uri="{FF2B5EF4-FFF2-40B4-BE49-F238E27FC236}">
                      <a16:creationId xmlns:a16="http://schemas.microsoft.com/office/drawing/2014/main" id="{38BFE59E-9092-564E-B2D0-FBEB55DF12A5}"/>
                    </a:ext>
                  </a:extLst>
                </p:cNvPr>
                <p:cNvSpPr txBox="1"/>
                <p:nvPr/>
              </p:nvSpPr>
              <p:spPr>
                <a:xfrm>
                  <a:off x="2662580" y="4087659"/>
                  <a:ext cx="2727199"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[−0.5,−0.1,−0.6,0.1,0.2]</m:t>
                        </m:r>
                      </m:oMath>
                    </m:oMathPara>
                  </a14:m>
                  <a:endParaRPr kumimoji="1" lang="ja-JP" altLang="en-US"/>
                </a:p>
              </p:txBody>
            </p:sp>
          </mc:Choice>
          <mc:Fallback xmlns="">
            <p:sp>
              <p:nvSpPr>
                <p:cNvPr id="29" name="テキスト ボックス 28">
                  <a:extLst>
                    <a:ext uri="{FF2B5EF4-FFF2-40B4-BE49-F238E27FC236}">
                      <a16:creationId xmlns:a16="http://schemas.microsoft.com/office/drawing/2014/main" id="{54B1649E-17F5-CC40-946A-5A2AF629AFCE}"/>
                    </a:ext>
                  </a:extLst>
                </p:cNvPr>
                <p:cNvSpPr txBox="1">
                  <a:spLocks noRot="1" noChangeAspect="1" noMove="1" noResize="1" noEditPoints="1" noAdjustHandles="1" noChangeArrowheads="1" noChangeShapeType="1" noTextEdit="1"/>
                </p:cNvSpPr>
                <p:nvPr/>
              </p:nvSpPr>
              <p:spPr>
                <a:xfrm>
                  <a:off x="2662580" y="4087659"/>
                  <a:ext cx="2727199" cy="369332"/>
                </a:xfrm>
                <a:prstGeom prst="rect">
                  <a:avLst/>
                </a:prstGeom>
                <a:blipFill>
                  <a:blip r:embed="rId6"/>
                  <a:stretch>
                    <a:fillRect b="-16667"/>
                  </a:stretch>
                </a:blipFill>
              </p:spPr>
              <p:txBody>
                <a:bodyPr/>
                <a:lstStyle/>
                <a:p>
                  <a:r>
                    <a:rPr lang="ja-JP" altLang="en-US">
                      <a:noFill/>
                    </a:rPr>
                    <a:t> </a:t>
                  </a:r>
                </a:p>
              </p:txBody>
            </p:sp>
          </mc:Fallback>
        </mc:AlternateContent>
      </p:grpSp>
      <p:grpSp>
        <p:nvGrpSpPr>
          <p:cNvPr id="23" name="グループ化 22">
            <a:extLst>
              <a:ext uri="{FF2B5EF4-FFF2-40B4-BE49-F238E27FC236}">
                <a16:creationId xmlns:a16="http://schemas.microsoft.com/office/drawing/2014/main" id="{CC1C9333-6597-4E4C-806A-D84766C10E9F}"/>
              </a:ext>
            </a:extLst>
          </p:cNvPr>
          <p:cNvGrpSpPr/>
          <p:nvPr/>
        </p:nvGrpSpPr>
        <p:grpSpPr>
          <a:xfrm>
            <a:off x="254606" y="3544107"/>
            <a:ext cx="2727199" cy="706793"/>
            <a:chOff x="2662580" y="3750198"/>
            <a:chExt cx="2727199" cy="706793"/>
          </a:xfrm>
        </p:grpSpPr>
        <p:cxnSp>
          <p:nvCxnSpPr>
            <p:cNvPr id="24" name="直線矢印コネクタ 23">
              <a:extLst>
                <a:ext uri="{FF2B5EF4-FFF2-40B4-BE49-F238E27FC236}">
                  <a16:creationId xmlns:a16="http://schemas.microsoft.com/office/drawing/2014/main" id="{1D2D43ED-A80F-E348-A417-1BDD69CE651F}"/>
                </a:ext>
              </a:extLst>
            </p:cNvPr>
            <p:cNvCxnSpPr/>
            <p:nvPr/>
          </p:nvCxnSpPr>
          <p:spPr>
            <a:xfrm>
              <a:off x="3028950" y="3750198"/>
              <a:ext cx="1994463" cy="0"/>
            </a:xfrm>
            <a:prstGeom prst="straightConnector1">
              <a:avLst/>
            </a:prstGeom>
            <a:ln w="57150">
              <a:solidFill>
                <a:srgbClr val="FF734B"/>
              </a:solidFill>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E3BEFC0F-5D33-9843-8119-9A5347298D15}"/>
                </a:ext>
              </a:extLst>
            </p:cNvPr>
            <p:cNvSpPr txBox="1"/>
            <p:nvPr/>
          </p:nvSpPr>
          <p:spPr>
            <a:xfrm>
              <a:off x="3256464" y="3798669"/>
              <a:ext cx="1539433" cy="369332"/>
            </a:xfrm>
            <a:prstGeom prst="rect">
              <a:avLst/>
            </a:prstGeom>
            <a:noFill/>
          </p:spPr>
          <p:txBody>
            <a:bodyPr wrap="square" rtlCol="0">
              <a:spAutoFit/>
            </a:bodyPr>
            <a:lstStyle/>
            <a:p>
              <a:pPr algn="ctr"/>
              <a:r>
                <a:rPr kumimoji="1" lang="ja-JP" altLang="en-US"/>
                <a:t>模範的</a:t>
              </a:r>
            </a:p>
          </p:txBody>
        </p:sp>
        <mc:AlternateContent xmlns:mc="http://schemas.openxmlformats.org/markup-compatibility/2006" xmlns:a14="http://schemas.microsoft.com/office/drawing/2010/main">
          <mc:Choice Requires="a14">
            <p:sp>
              <p:nvSpPr>
                <p:cNvPr id="26" name="テキスト ボックス 25">
                  <a:extLst>
                    <a:ext uri="{FF2B5EF4-FFF2-40B4-BE49-F238E27FC236}">
                      <a16:creationId xmlns:a16="http://schemas.microsoft.com/office/drawing/2014/main" id="{8934E490-8D61-4245-B2F6-14B87A1C4AE7}"/>
                    </a:ext>
                  </a:extLst>
                </p:cNvPr>
                <p:cNvSpPr txBox="1"/>
                <p:nvPr/>
              </p:nvSpPr>
              <p:spPr>
                <a:xfrm>
                  <a:off x="2662580" y="4087659"/>
                  <a:ext cx="2727199"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[−0.6,0.5,0.2,0.6,0.7]</m:t>
                        </m:r>
                      </m:oMath>
                    </m:oMathPara>
                  </a14:m>
                  <a:endParaRPr kumimoji="1" lang="ja-JP" altLang="en-US"/>
                </a:p>
              </p:txBody>
            </p:sp>
          </mc:Choice>
          <mc:Fallback xmlns="">
            <p:sp>
              <p:nvSpPr>
                <p:cNvPr id="33" name="テキスト ボックス 32">
                  <a:extLst>
                    <a:ext uri="{FF2B5EF4-FFF2-40B4-BE49-F238E27FC236}">
                      <a16:creationId xmlns:a16="http://schemas.microsoft.com/office/drawing/2014/main" id="{C8E8D5C4-2AAA-E74D-AADD-AE34A6E426D4}"/>
                    </a:ext>
                  </a:extLst>
                </p:cNvPr>
                <p:cNvSpPr txBox="1">
                  <a:spLocks noRot="1" noChangeAspect="1" noMove="1" noResize="1" noEditPoints="1" noAdjustHandles="1" noChangeArrowheads="1" noChangeShapeType="1" noTextEdit="1"/>
                </p:cNvSpPr>
                <p:nvPr/>
              </p:nvSpPr>
              <p:spPr>
                <a:xfrm>
                  <a:off x="2662580" y="4087659"/>
                  <a:ext cx="2727199" cy="369332"/>
                </a:xfrm>
                <a:prstGeom prst="rect">
                  <a:avLst/>
                </a:prstGeom>
                <a:blipFill>
                  <a:blip r:embed="rId7"/>
                  <a:stretch>
                    <a:fillRect b="-16667"/>
                  </a:stretch>
                </a:blipFill>
              </p:spPr>
              <p:txBody>
                <a:bodyPr/>
                <a:lstStyle/>
                <a:p>
                  <a:r>
                    <a:rPr lang="ja-JP" altLang="en-US">
                      <a:noFill/>
                    </a:rPr>
                    <a:t> </a:t>
                  </a:r>
                </a:p>
              </p:txBody>
            </p:sp>
          </mc:Fallback>
        </mc:AlternateContent>
      </p:grpSp>
      <p:sp>
        <p:nvSpPr>
          <p:cNvPr id="28" name="テキスト ボックス 27">
            <a:extLst>
              <a:ext uri="{FF2B5EF4-FFF2-40B4-BE49-F238E27FC236}">
                <a16:creationId xmlns:a16="http://schemas.microsoft.com/office/drawing/2014/main" id="{C51D5553-57CB-3B47-8CA9-304F517AB55D}"/>
              </a:ext>
            </a:extLst>
          </p:cNvPr>
          <p:cNvSpPr txBox="1"/>
          <p:nvPr/>
        </p:nvSpPr>
        <p:spPr>
          <a:xfrm>
            <a:off x="2121978" y="5390165"/>
            <a:ext cx="5005548" cy="400110"/>
          </a:xfrm>
          <a:prstGeom prst="rect">
            <a:avLst/>
          </a:prstGeom>
          <a:noFill/>
        </p:spPr>
        <p:txBody>
          <a:bodyPr wrap="square" rtlCol="0">
            <a:spAutoFit/>
          </a:bodyPr>
          <a:lstStyle/>
          <a:p>
            <a:pPr algn="ctr"/>
            <a:r>
              <a:rPr kumimoji="1" lang="ja-JP" altLang="en-US" sz="2000"/>
              <a:t>の高低で戦略を変更した方がいい？</a:t>
            </a:r>
          </a:p>
        </p:txBody>
      </p:sp>
      <mc:AlternateContent xmlns:mc="http://schemas.openxmlformats.org/markup-compatibility/2006" xmlns:a14="http://schemas.microsoft.com/office/drawing/2010/main">
        <mc:Choice Requires="a14">
          <p:sp>
            <p:nvSpPr>
              <p:cNvPr id="29" name="テキスト ボックス 28">
                <a:extLst>
                  <a:ext uri="{FF2B5EF4-FFF2-40B4-BE49-F238E27FC236}">
                    <a16:creationId xmlns:a16="http://schemas.microsoft.com/office/drawing/2014/main" id="{1E1DA343-0A7A-B944-83A1-CA57ED2DE662}"/>
                  </a:ext>
                </a:extLst>
              </p:cNvPr>
              <p:cNvSpPr txBox="1"/>
              <p:nvPr/>
            </p:nvSpPr>
            <p:spPr>
              <a:xfrm>
                <a:off x="-722915" y="4789716"/>
                <a:ext cx="5005548" cy="163237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begChr m:val=""/>
                          <m:endChr m:val="}"/>
                          <m:ctrlPr>
                            <a:rPr kumimoji="1" lang="ja-JP" altLang="en-US" sz="2000" i="1" smtClean="0">
                              <a:latin typeface="Cambria Math" panose="02040503050406030204" pitchFamily="18" charset="0"/>
                            </a:rPr>
                          </m:ctrlPr>
                        </m:dPr>
                        <m:e>
                          <m:eqArr>
                            <m:eqArrPr>
                              <m:ctrlPr>
                                <a:rPr kumimoji="1" lang="ja-JP" altLang="en-US" sz="2000" i="1">
                                  <a:latin typeface="Cambria Math" panose="02040503050406030204" pitchFamily="18" charset="0"/>
                                </a:rPr>
                              </m:ctrlPr>
                            </m:eqArrPr>
                            <m:e>
                              <m:r>
                                <m:rPr>
                                  <m:nor/>
                                </m:rPr>
                                <a:rPr kumimoji="1" lang="ja-JP" altLang="en-US" sz="2000"/>
                                <m:t>神経症傾向</m:t>
                              </m:r>
                              <m:r>
                                <m:rPr>
                                  <m:nor/>
                                </m:rPr>
                                <a:rPr kumimoji="1" lang="en-US" altLang="ja-JP" sz="2000" dirty="0"/>
                                <m:t> </m:t>
                              </m:r>
                            </m:e>
                            <m:e>
                              <m:r>
                                <m:rPr>
                                  <m:nor/>
                                </m:rPr>
                                <a:rPr kumimoji="1" lang="ja-JP" altLang="en-US" sz="2000"/>
                                <m:t>外向性</m:t>
                              </m:r>
                            </m:e>
                            <m:e>
                              <m:r>
                                <m:rPr>
                                  <m:nor/>
                                </m:rPr>
                                <a:rPr kumimoji="1" lang="en-US" altLang="ja-JP" sz="2000" dirty="0"/>
                                <m:t> </m:t>
                              </m:r>
                              <m:r>
                                <m:rPr>
                                  <m:nor/>
                                </m:rPr>
                                <a:rPr kumimoji="1" lang="ja-JP" altLang="en-US" sz="2000"/>
                                <m:t>開放性</m:t>
                              </m:r>
                            </m:e>
                            <m:e>
                              <m:r>
                                <m:rPr>
                                  <m:nor/>
                                </m:rPr>
                                <a:rPr kumimoji="1" lang="en-US" altLang="ja-JP" sz="2000" dirty="0"/>
                                <m:t> </m:t>
                              </m:r>
                              <m:r>
                                <m:rPr>
                                  <m:nor/>
                                </m:rPr>
                                <a:rPr kumimoji="1" lang="ja-JP" altLang="en-US" sz="2000"/>
                                <m:t>協調性</m:t>
                              </m:r>
                            </m:e>
                            <m:e>
                              <m:r>
                                <m:rPr>
                                  <m:nor/>
                                </m:rPr>
                                <a:rPr kumimoji="1" lang="en-US" altLang="ja-JP" sz="2000" dirty="0"/>
                                <m:t> </m:t>
                              </m:r>
                              <m:r>
                                <m:rPr>
                                  <m:nor/>
                                </m:rPr>
                                <a:rPr kumimoji="1" lang="ja-JP" altLang="en-US" sz="2000"/>
                                <m:t>誠実性 </m:t>
                              </m:r>
                            </m:e>
                          </m:eqArr>
                        </m:e>
                      </m:d>
                    </m:oMath>
                  </m:oMathPara>
                </a14:m>
                <a:endParaRPr kumimoji="1" lang="ja-JP" altLang="en-US" sz="2000"/>
              </a:p>
            </p:txBody>
          </p:sp>
        </mc:Choice>
        <mc:Fallback xmlns="">
          <p:sp>
            <p:nvSpPr>
              <p:cNvPr id="29" name="テキスト ボックス 28">
                <a:extLst>
                  <a:ext uri="{FF2B5EF4-FFF2-40B4-BE49-F238E27FC236}">
                    <a16:creationId xmlns:a16="http://schemas.microsoft.com/office/drawing/2014/main" id="{1E1DA343-0A7A-B944-83A1-CA57ED2DE662}"/>
                  </a:ext>
                </a:extLst>
              </p:cNvPr>
              <p:cNvSpPr txBox="1">
                <a:spLocks noRot="1" noChangeAspect="1" noMove="1" noResize="1" noEditPoints="1" noAdjustHandles="1" noChangeArrowheads="1" noChangeShapeType="1" noTextEdit="1"/>
              </p:cNvSpPr>
              <p:nvPr/>
            </p:nvSpPr>
            <p:spPr>
              <a:xfrm>
                <a:off x="-722915" y="4789716"/>
                <a:ext cx="5005548" cy="1632370"/>
              </a:xfrm>
              <a:prstGeom prst="rect">
                <a:avLst/>
              </a:prstGeom>
              <a:blipFill>
                <a:blip r:embed="rId8"/>
                <a:stretch>
                  <a:fillRect t="-1538" b="-6154"/>
                </a:stretch>
              </a:blipFill>
            </p:spPr>
            <p:txBody>
              <a:bodyPr/>
              <a:lstStyle/>
              <a:p>
                <a:r>
                  <a:rPr lang="ja-JP" altLang="en-US">
                    <a:noFill/>
                  </a:rPr>
                  <a:t> </a:t>
                </a:r>
              </a:p>
            </p:txBody>
          </p:sp>
        </mc:Fallback>
      </mc:AlternateContent>
      <p:sp>
        <p:nvSpPr>
          <p:cNvPr id="30" name="左矢印 29">
            <a:extLst>
              <a:ext uri="{FF2B5EF4-FFF2-40B4-BE49-F238E27FC236}">
                <a16:creationId xmlns:a16="http://schemas.microsoft.com/office/drawing/2014/main" id="{29A389CA-FEDE-CF4B-B15E-3A6F8D44CCE3}"/>
              </a:ext>
            </a:extLst>
          </p:cNvPr>
          <p:cNvSpPr/>
          <p:nvPr/>
        </p:nvSpPr>
        <p:spPr>
          <a:xfrm rot="16200000">
            <a:off x="4361851" y="4317944"/>
            <a:ext cx="420298" cy="476886"/>
          </a:xfrm>
          <a:prstGeom prst="lef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814802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FC917A-B83F-9A4D-9501-710DA6F17D1F}"/>
              </a:ext>
            </a:extLst>
          </p:cNvPr>
          <p:cNvSpPr>
            <a:spLocks noGrp="1"/>
          </p:cNvSpPr>
          <p:nvPr>
            <p:ph type="title"/>
          </p:nvPr>
        </p:nvSpPr>
        <p:spPr/>
        <p:txBody>
          <a:bodyPr/>
          <a:lstStyle/>
          <a:p>
            <a:r>
              <a:rPr lang="en-US" altLang="ja-JP" dirty="0"/>
              <a:t>BIG5</a:t>
            </a:r>
            <a:endParaRPr kumimoji="1" lang="ja-JP" altLang="en-US"/>
          </a:p>
        </p:txBody>
      </p:sp>
      <p:sp>
        <p:nvSpPr>
          <p:cNvPr id="3" name="コンテンツ プレースホルダー 2">
            <a:extLst>
              <a:ext uri="{FF2B5EF4-FFF2-40B4-BE49-F238E27FC236}">
                <a16:creationId xmlns:a16="http://schemas.microsoft.com/office/drawing/2014/main" id="{2291EE29-3B2E-0149-9AB1-D4AE0526F8DC}"/>
              </a:ext>
            </a:extLst>
          </p:cNvPr>
          <p:cNvSpPr>
            <a:spLocks noGrp="1"/>
          </p:cNvSpPr>
          <p:nvPr>
            <p:ph idx="1"/>
          </p:nvPr>
        </p:nvSpPr>
        <p:spPr/>
        <p:txBody>
          <a:bodyPr/>
          <a:lstStyle/>
          <a:p>
            <a:r>
              <a:rPr kumimoji="1" lang="ja-JP" altLang="en-US"/>
              <a:t>やっぱりカテゴリ分けでは</a:t>
            </a:r>
            <a:br>
              <a:rPr kumimoji="1" lang="en-US" altLang="ja-JP" dirty="0"/>
            </a:br>
            <a:r>
              <a:rPr kumimoji="1" lang="ja-JP" altLang="en-US"/>
              <a:t>なく各因子</a:t>
            </a:r>
            <a:r>
              <a:rPr lang="ja-JP" altLang="en-US"/>
              <a:t>ごとに戦略を決めた</a:t>
            </a:r>
            <a:br>
              <a:rPr lang="en-US" altLang="ja-JP" dirty="0"/>
            </a:br>
            <a:r>
              <a:rPr lang="ja-JP" altLang="en-US"/>
              <a:t>ほうがいいのでは？</a:t>
            </a:r>
            <a:endParaRPr kumimoji="1" lang="ja-JP" altLang="en-US"/>
          </a:p>
        </p:txBody>
      </p:sp>
      <p:sp>
        <p:nvSpPr>
          <p:cNvPr id="4" name="日付プレースホルダー 3">
            <a:extLst>
              <a:ext uri="{FF2B5EF4-FFF2-40B4-BE49-F238E27FC236}">
                <a16:creationId xmlns:a16="http://schemas.microsoft.com/office/drawing/2014/main" id="{F9FA3910-EBDA-1F41-B81B-28BEE2E93969}"/>
              </a:ext>
            </a:extLst>
          </p:cNvPr>
          <p:cNvSpPr>
            <a:spLocks noGrp="1"/>
          </p:cNvSpPr>
          <p:nvPr>
            <p:ph type="dt" sz="half" idx="10"/>
          </p:nvPr>
        </p:nvSpPr>
        <p:spPr/>
        <p:txBody>
          <a:bodyPr/>
          <a:lstStyle/>
          <a:p>
            <a:fld id="{24B158CC-F5BE-2345-99BA-C49B60654C2B}" type="datetime1">
              <a:rPr kumimoji="1" lang="ja-JP" altLang="en-US" smtClean="0"/>
              <a:t>2020/7/10</a:t>
            </a:fld>
            <a:endParaRPr kumimoji="1" lang="ja-JP" altLang="en-US"/>
          </a:p>
        </p:txBody>
      </p:sp>
      <p:sp>
        <p:nvSpPr>
          <p:cNvPr id="5" name="フッター プレースホルダー 4">
            <a:extLst>
              <a:ext uri="{FF2B5EF4-FFF2-40B4-BE49-F238E27FC236}">
                <a16:creationId xmlns:a16="http://schemas.microsoft.com/office/drawing/2014/main" id="{420F8E83-7BA4-7043-BE95-A40B16E66B08}"/>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6EAA16D6-C5D5-A045-B31A-A708E0334FB8}"/>
              </a:ext>
            </a:extLst>
          </p:cNvPr>
          <p:cNvSpPr>
            <a:spLocks noGrp="1"/>
          </p:cNvSpPr>
          <p:nvPr>
            <p:ph type="sldNum" sz="quarter" idx="12"/>
          </p:nvPr>
        </p:nvSpPr>
        <p:spPr/>
        <p:txBody>
          <a:bodyPr/>
          <a:lstStyle/>
          <a:p>
            <a:fld id="{2981C279-7323-A845-8A27-BB5908B2F04D}" type="slidenum">
              <a:rPr kumimoji="1" lang="ja-JP" altLang="en-US" smtClean="0"/>
              <a:t>5</a:t>
            </a:fld>
            <a:endParaRPr kumimoji="1" lang="ja-JP" altLang="en-US"/>
          </a:p>
        </p:txBody>
      </p:sp>
      <p:sp>
        <p:nvSpPr>
          <p:cNvPr id="7" name="テキスト プレースホルダー 6">
            <a:extLst>
              <a:ext uri="{FF2B5EF4-FFF2-40B4-BE49-F238E27FC236}">
                <a16:creationId xmlns:a16="http://schemas.microsoft.com/office/drawing/2014/main" id="{5713A6CD-9943-1240-9668-51FF38872FC1}"/>
              </a:ext>
            </a:extLst>
          </p:cNvPr>
          <p:cNvSpPr>
            <a:spLocks noGrp="1"/>
          </p:cNvSpPr>
          <p:nvPr>
            <p:ph type="body" sz="quarter" idx="13"/>
          </p:nvPr>
        </p:nvSpPr>
        <p:spPr/>
        <p:txBody>
          <a:bodyPr/>
          <a:lstStyle/>
          <a:p>
            <a:r>
              <a:rPr kumimoji="1" lang="en-US" altLang="ja-JP" dirty="0"/>
              <a:t>1</a:t>
            </a:r>
            <a:endParaRPr kumimoji="1" lang="ja-JP" altLang="en-US"/>
          </a:p>
        </p:txBody>
      </p:sp>
      <p:grpSp>
        <p:nvGrpSpPr>
          <p:cNvPr id="8" name="グループ化 7">
            <a:extLst>
              <a:ext uri="{FF2B5EF4-FFF2-40B4-BE49-F238E27FC236}">
                <a16:creationId xmlns:a16="http://schemas.microsoft.com/office/drawing/2014/main" id="{8158F481-D8B0-824A-9D88-C783DF4BE99F}"/>
              </a:ext>
            </a:extLst>
          </p:cNvPr>
          <p:cNvGrpSpPr/>
          <p:nvPr/>
        </p:nvGrpSpPr>
        <p:grpSpPr>
          <a:xfrm>
            <a:off x="163626" y="1160115"/>
            <a:ext cx="4119007" cy="680876"/>
            <a:chOff x="163626" y="1160115"/>
            <a:chExt cx="4119007" cy="680876"/>
          </a:xfrm>
        </p:grpSpPr>
        <p:cxnSp>
          <p:nvCxnSpPr>
            <p:cNvPr id="9" name="直線コネクタ 8">
              <a:extLst>
                <a:ext uri="{FF2B5EF4-FFF2-40B4-BE49-F238E27FC236}">
                  <a16:creationId xmlns:a16="http://schemas.microsoft.com/office/drawing/2014/main" id="{105F614E-8C50-6647-A66A-3865DD7CF086}"/>
                </a:ext>
              </a:extLst>
            </p:cNvPr>
            <p:cNvCxnSpPr>
              <a:cxnSpLocks/>
            </p:cNvCxnSpPr>
            <p:nvPr userDrawn="1"/>
          </p:nvCxnSpPr>
          <p:spPr>
            <a:xfrm>
              <a:off x="163626" y="1699846"/>
              <a:ext cx="411900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0A9D68CC-ACEF-2544-BBA3-E630E2AF2B03}"/>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6C4C6E99-A8A8-6542-AE34-DECC83D34A2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BIG5</a:t>
            </a:r>
            <a:r>
              <a:rPr lang="ja-JP" altLang="en-US"/>
              <a:t>のカテゴリ分け</a:t>
            </a:r>
          </a:p>
        </p:txBody>
      </p:sp>
      <p:pic>
        <p:nvPicPr>
          <p:cNvPr id="13" name="図 12">
            <a:extLst>
              <a:ext uri="{FF2B5EF4-FFF2-40B4-BE49-F238E27FC236}">
                <a16:creationId xmlns:a16="http://schemas.microsoft.com/office/drawing/2014/main" id="{DC07B6CB-673B-F849-AA4B-91E09EC4CE32}"/>
              </a:ext>
            </a:extLst>
          </p:cNvPr>
          <p:cNvPicPr>
            <a:picLocks noChangeAspect="1"/>
          </p:cNvPicPr>
          <p:nvPr/>
        </p:nvPicPr>
        <p:blipFill>
          <a:blip r:embed="rId4"/>
          <a:stretch>
            <a:fillRect/>
          </a:stretch>
        </p:blipFill>
        <p:spPr>
          <a:xfrm>
            <a:off x="5499056" y="1052532"/>
            <a:ext cx="3673279" cy="2316536"/>
          </a:xfrm>
          <a:prstGeom prst="rect">
            <a:avLst/>
          </a:prstGeom>
        </p:spPr>
      </p:pic>
      <p:grpSp>
        <p:nvGrpSpPr>
          <p:cNvPr id="15" name="グループ化 14">
            <a:extLst>
              <a:ext uri="{FF2B5EF4-FFF2-40B4-BE49-F238E27FC236}">
                <a16:creationId xmlns:a16="http://schemas.microsoft.com/office/drawing/2014/main" id="{06927B05-0716-A442-AED8-C01F8B5C19C2}"/>
              </a:ext>
            </a:extLst>
          </p:cNvPr>
          <p:cNvGrpSpPr/>
          <p:nvPr/>
        </p:nvGrpSpPr>
        <p:grpSpPr>
          <a:xfrm>
            <a:off x="6588273" y="3554373"/>
            <a:ext cx="1994463" cy="417803"/>
            <a:chOff x="3028950" y="3750198"/>
            <a:chExt cx="1994463" cy="417803"/>
          </a:xfrm>
        </p:grpSpPr>
        <p:cxnSp>
          <p:nvCxnSpPr>
            <p:cNvPr id="16" name="直線矢印コネクタ 15">
              <a:extLst>
                <a:ext uri="{FF2B5EF4-FFF2-40B4-BE49-F238E27FC236}">
                  <a16:creationId xmlns:a16="http://schemas.microsoft.com/office/drawing/2014/main" id="{9265BDCA-B7A4-BE45-B9B2-AC70BB83E450}"/>
                </a:ext>
              </a:extLst>
            </p:cNvPr>
            <p:cNvCxnSpPr/>
            <p:nvPr/>
          </p:nvCxnSpPr>
          <p:spPr>
            <a:xfrm>
              <a:off x="3028950" y="3750198"/>
              <a:ext cx="1994463" cy="0"/>
            </a:xfrm>
            <a:prstGeom prst="straightConnector1">
              <a:avLst/>
            </a:prstGeom>
            <a:ln w="57150">
              <a:solidFill>
                <a:srgbClr val="D7991B"/>
              </a:solidFill>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91B125B0-AEE7-7A4C-A675-D9CB11EF6CFC}"/>
                </a:ext>
              </a:extLst>
            </p:cNvPr>
            <p:cNvSpPr txBox="1"/>
            <p:nvPr/>
          </p:nvSpPr>
          <p:spPr>
            <a:xfrm>
              <a:off x="3256464" y="3798669"/>
              <a:ext cx="1539433" cy="369332"/>
            </a:xfrm>
            <a:prstGeom prst="rect">
              <a:avLst/>
            </a:prstGeom>
            <a:noFill/>
          </p:spPr>
          <p:txBody>
            <a:bodyPr wrap="square" rtlCol="0">
              <a:spAutoFit/>
            </a:bodyPr>
            <a:lstStyle/>
            <a:p>
              <a:pPr algn="ctr"/>
              <a:r>
                <a:rPr kumimoji="1" lang="ja-JP" altLang="en-US"/>
                <a:t>わがまま</a:t>
              </a:r>
            </a:p>
          </p:txBody>
        </p:sp>
      </p:grpSp>
      <p:grpSp>
        <p:nvGrpSpPr>
          <p:cNvPr id="19" name="グループ化 18">
            <a:extLst>
              <a:ext uri="{FF2B5EF4-FFF2-40B4-BE49-F238E27FC236}">
                <a16:creationId xmlns:a16="http://schemas.microsoft.com/office/drawing/2014/main" id="{BF4A14EC-107B-5B41-A54B-9691F778488A}"/>
              </a:ext>
            </a:extLst>
          </p:cNvPr>
          <p:cNvGrpSpPr/>
          <p:nvPr/>
        </p:nvGrpSpPr>
        <p:grpSpPr>
          <a:xfrm>
            <a:off x="3575687" y="3554373"/>
            <a:ext cx="1994463" cy="417803"/>
            <a:chOff x="3028950" y="3750198"/>
            <a:chExt cx="1994463" cy="417803"/>
          </a:xfrm>
        </p:grpSpPr>
        <p:cxnSp>
          <p:nvCxnSpPr>
            <p:cNvPr id="20" name="直線矢印コネクタ 19">
              <a:extLst>
                <a:ext uri="{FF2B5EF4-FFF2-40B4-BE49-F238E27FC236}">
                  <a16:creationId xmlns:a16="http://schemas.microsoft.com/office/drawing/2014/main" id="{6F785C29-01E8-9544-83B3-0DA3CA413792}"/>
                </a:ext>
              </a:extLst>
            </p:cNvPr>
            <p:cNvCxnSpPr/>
            <p:nvPr/>
          </p:nvCxnSpPr>
          <p:spPr>
            <a:xfrm>
              <a:off x="3028950" y="3750198"/>
              <a:ext cx="1994463" cy="0"/>
            </a:xfrm>
            <a:prstGeom prst="straightConnector1">
              <a:avLst/>
            </a:prstGeom>
            <a:ln w="57150">
              <a:solidFill>
                <a:srgbClr val="4BC44D"/>
              </a:solidFill>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9031889B-4F9F-4F4C-A385-21E2F9616872}"/>
                </a:ext>
              </a:extLst>
            </p:cNvPr>
            <p:cNvSpPr txBox="1"/>
            <p:nvPr/>
          </p:nvSpPr>
          <p:spPr>
            <a:xfrm>
              <a:off x="3256464" y="3798669"/>
              <a:ext cx="1539433" cy="369332"/>
            </a:xfrm>
            <a:prstGeom prst="rect">
              <a:avLst/>
            </a:prstGeom>
            <a:noFill/>
          </p:spPr>
          <p:txBody>
            <a:bodyPr wrap="square" rtlCol="0">
              <a:spAutoFit/>
            </a:bodyPr>
            <a:lstStyle/>
            <a:p>
              <a:pPr algn="ctr"/>
              <a:r>
                <a:rPr kumimoji="1" lang="ja-JP" altLang="en-US"/>
                <a:t>つつましい</a:t>
              </a:r>
            </a:p>
          </p:txBody>
        </p:sp>
      </p:grpSp>
      <p:grpSp>
        <p:nvGrpSpPr>
          <p:cNvPr id="23" name="グループ化 22">
            <a:extLst>
              <a:ext uri="{FF2B5EF4-FFF2-40B4-BE49-F238E27FC236}">
                <a16:creationId xmlns:a16="http://schemas.microsoft.com/office/drawing/2014/main" id="{CC1C9333-6597-4E4C-806A-D84766C10E9F}"/>
              </a:ext>
            </a:extLst>
          </p:cNvPr>
          <p:cNvGrpSpPr/>
          <p:nvPr/>
        </p:nvGrpSpPr>
        <p:grpSpPr>
          <a:xfrm>
            <a:off x="620976" y="3544107"/>
            <a:ext cx="1994463" cy="417803"/>
            <a:chOff x="3028950" y="3750198"/>
            <a:chExt cx="1994463" cy="417803"/>
          </a:xfrm>
        </p:grpSpPr>
        <p:cxnSp>
          <p:nvCxnSpPr>
            <p:cNvPr id="24" name="直線矢印コネクタ 23">
              <a:extLst>
                <a:ext uri="{FF2B5EF4-FFF2-40B4-BE49-F238E27FC236}">
                  <a16:creationId xmlns:a16="http://schemas.microsoft.com/office/drawing/2014/main" id="{1D2D43ED-A80F-E348-A417-1BDD69CE651F}"/>
                </a:ext>
              </a:extLst>
            </p:cNvPr>
            <p:cNvCxnSpPr/>
            <p:nvPr/>
          </p:nvCxnSpPr>
          <p:spPr>
            <a:xfrm>
              <a:off x="3028950" y="3750198"/>
              <a:ext cx="1994463" cy="0"/>
            </a:xfrm>
            <a:prstGeom prst="straightConnector1">
              <a:avLst/>
            </a:prstGeom>
            <a:ln w="57150">
              <a:solidFill>
                <a:srgbClr val="FF734B"/>
              </a:solidFill>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E3BEFC0F-5D33-9843-8119-9A5347298D15}"/>
                </a:ext>
              </a:extLst>
            </p:cNvPr>
            <p:cNvSpPr txBox="1"/>
            <p:nvPr/>
          </p:nvSpPr>
          <p:spPr>
            <a:xfrm>
              <a:off x="3256464" y="3798669"/>
              <a:ext cx="1539433" cy="369332"/>
            </a:xfrm>
            <a:prstGeom prst="rect">
              <a:avLst/>
            </a:prstGeom>
            <a:noFill/>
          </p:spPr>
          <p:txBody>
            <a:bodyPr wrap="square" rtlCol="0">
              <a:spAutoFit/>
            </a:bodyPr>
            <a:lstStyle/>
            <a:p>
              <a:pPr algn="ctr"/>
              <a:r>
                <a:rPr kumimoji="1" lang="ja-JP" altLang="en-US"/>
                <a:t>模範的</a:t>
              </a:r>
            </a:p>
          </p:txBody>
        </p:sp>
      </p:grpSp>
      <p:sp>
        <p:nvSpPr>
          <p:cNvPr id="30" name="左矢印 29">
            <a:extLst>
              <a:ext uri="{FF2B5EF4-FFF2-40B4-BE49-F238E27FC236}">
                <a16:creationId xmlns:a16="http://schemas.microsoft.com/office/drawing/2014/main" id="{29A389CA-FEDE-CF4B-B15E-3A6F8D44CCE3}"/>
              </a:ext>
            </a:extLst>
          </p:cNvPr>
          <p:cNvSpPr/>
          <p:nvPr/>
        </p:nvSpPr>
        <p:spPr>
          <a:xfrm rot="16200000">
            <a:off x="4361851" y="4317944"/>
            <a:ext cx="420298" cy="476886"/>
          </a:xfrm>
          <a:prstGeom prst="lef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12" name="表 11">
            <a:extLst>
              <a:ext uri="{FF2B5EF4-FFF2-40B4-BE49-F238E27FC236}">
                <a16:creationId xmlns:a16="http://schemas.microsoft.com/office/drawing/2014/main" id="{8577C4F9-FD27-0A42-9D4E-89E964376A90}"/>
              </a:ext>
            </a:extLst>
          </p:cNvPr>
          <p:cNvGraphicFramePr>
            <a:graphicFrameLocks noGrp="1"/>
          </p:cNvGraphicFramePr>
          <p:nvPr>
            <p:extLst>
              <p:ext uri="{D42A27DB-BD31-4B8C-83A1-F6EECF244321}">
                <p14:modId xmlns:p14="http://schemas.microsoft.com/office/powerpoint/2010/main" val="206864034"/>
              </p:ext>
            </p:extLst>
          </p:nvPr>
        </p:nvGraphicFramePr>
        <p:xfrm>
          <a:off x="91034" y="5026777"/>
          <a:ext cx="3943490" cy="1112520"/>
        </p:xfrm>
        <a:graphic>
          <a:graphicData uri="http://schemas.openxmlformats.org/drawingml/2006/table">
            <a:tbl>
              <a:tblPr firstRow="1" bandRow="1">
                <a:tableStyleId>{5C22544A-7EE6-4342-B048-85BDC9FD1C3A}</a:tableStyleId>
              </a:tblPr>
              <a:tblGrid>
                <a:gridCol w="1971745">
                  <a:extLst>
                    <a:ext uri="{9D8B030D-6E8A-4147-A177-3AD203B41FA5}">
                      <a16:colId xmlns:a16="http://schemas.microsoft.com/office/drawing/2014/main" val="2450102447"/>
                    </a:ext>
                  </a:extLst>
                </a:gridCol>
                <a:gridCol w="1971745">
                  <a:extLst>
                    <a:ext uri="{9D8B030D-6E8A-4147-A177-3AD203B41FA5}">
                      <a16:colId xmlns:a16="http://schemas.microsoft.com/office/drawing/2014/main" val="3506212313"/>
                    </a:ext>
                  </a:extLst>
                </a:gridCol>
              </a:tblGrid>
              <a:tr h="370840">
                <a:tc gridSpan="2">
                  <a:txBody>
                    <a:bodyPr/>
                    <a:lstStyle/>
                    <a:p>
                      <a:pPr algn="ctr"/>
                      <a:r>
                        <a:rPr kumimoji="1" lang="ja-JP" altLang="en-US" sz="1600"/>
                        <a:t>神経症傾向</a:t>
                      </a:r>
                    </a:p>
                  </a:txBody>
                  <a:tcPr marL="100584" marR="100584"/>
                </a:tc>
                <a:tc hMerge="1">
                  <a:txBody>
                    <a:bodyPr/>
                    <a:lstStyle/>
                    <a:p>
                      <a:endParaRPr kumimoji="1" lang="ja-JP" altLang="en-US"/>
                    </a:p>
                  </a:txBody>
                  <a:tcPr/>
                </a:tc>
                <a:extLst>
                  <a:ext uri="{0D108BD9-81ED-4DB2-BD59-A6C34878D82A}">
                    <a16:rowId xmlns:a16="http://schemas.microsoft.com/office/drawing/2014/main" val="1927177420"/>
                  </a:ext>
                </a:extLst>
              </a:tr>
              <a:tr h="370840">
                <a:tc>
                  <a:txBody>
                    <a:bodyPr/>
                    <a:lstStyle/>
                    <a:p>
                      <a:pPr algn="ctr"/>
                      <a:r>
                        <a:rPr kumimoji="1" lang="ja-JP" altLang="en-US" sz="1600"/>
                        <a:t>高い</a:t>
                      </a:r>
                      <a:r>
                        <a:rPr kumimoji="1" lang="en-US" altLang="ja-JP" sz="1600" dirty="0"/>
                        <a:t>(1.0)</a:t>
                      </a:r>
                      <a:endParaRPr kumimoji="1" lang="ja-JP" altLang="en-US" sz="1600"/>
                    </a:p>
                  </a:txBody>
                  <a:tcPr marL="75570" marR="75570"/>
                </a:tc>
                <a:tc>
                  <a:txBody>
                    <a:bodyPr/>
                    <a:lstStyle/>
                    <a:p>
                      <a:pPr algn="ctr"/>
                      <a:r>
                        <a:rPr kumimoji="1" lang="ja-JP" altLang="en-US" sz="1600"/>
                        <a:t>低い</a:t>
                      </a:r>
                      <a:r>
                        <a:rPr kumimoji="1" lang="en-US" altLang="ja-JP" sz="1600" dirty="0"/>
                        <a:t>(-1.0)</a:t>
                      </a:r>
                      <a:endParaRPr kumimoji="1" lang="ja-JP" altLang="en-US" sz="1600"/>
                    </a:p>
                  </a:txBody>
                  <a:tcPr marL="75570" marR="75570"/>
                </a:tc>
                <a:extLst>
                  <a:ext uri="{0D108BD9-81ED-4DB2-BD59-A6C34878D82A}">
                    <a16:rowId xmlns:a16="http://schemas.microsoft.com/office/drawing/2014/main" val="1780244524"/>
                  </a:ext>
                </a:extLst>
              </a:tr>
              <a:tr h="370840">
                <a:tc>
                  <a:txBody>
                    <a:bodyPr/>
                    <a:lstStyle/>
                    <a:p>
                      <a:pPr algn="ctr"/>
                      <a:r>
                        <a:rPr kumimoji="1" lang="ja-JP" altLang="en-US" sz="1600"/>
                        <a:t>譲歩速度遅くする</a:t>
                      </a:r>
                    </a:p>
                  </a:txBody>
                  <a:tcPr marL="75570" marR="75570"/>
                </a:tc>
                <a:tc>
                  <a:txBody>
                    <a:bodyPr/>
                    <a:lstStyle/>
                    <a:p>
                      <a:pPr algn="ctr"/>
                      <a:r>
                        <a:rPr kumimoji="1" lang="ja-JP" altLang="en-US" sz="1600"/>
                        <a:t>譲歩速度早くする</a:t>
                      </a:r>
                    </a:p>
                  </a:txBody>
                  <a:tcPr marL="75570" marR="75570"/>
                </a:tc>
                <a:extLst>
                  <a:ext uri="{0D108BD9-81ED-4DB2-BD59-A6C34878D82A}">
                    <a16:rowId xmlns:a16="http://schemas.microsoft.com/office/drawing/2014/main" val="2956610254"/>
                  </a:ext>
                </a:extLst>
              </a:tr>
            </a:tbl>
          </a:graphicData>
        </a:graphic>
      </p:graphicFrame>
      <p:grpSp>
        <p:nvGrpSpPr>
          <p:cNvPr id="38" name="グループ化 37">
            <a:extLst>
              <a:ext uri="{FF2B5EF4-FFF2-40B4-BE49-F238E27FC236}">
                <a16:creationId xmlns:a16="http://schemas.microsoft.com/office/drawing/2014/main" id="{C95154FE-81A0-434C-B5A1-1378ED3109DC}"/>
              </a:ext>
            </a:extLst>
          </p:cNvPr>
          <p:cNvGrpSpPr/>
          <p:nvPr/>
        </p:nvGrpSpPr>
        <p:grpSpPr>
          <a:xfrm>
            <a:off x="6783905" y="4965649"/>
            <a:ext cx="2395010" cy="1163663"/>
            <a:chOff x="6156941" y="4629698"/>
            <a:chExt cx="2634511" cy="1163663"/>
          </a:xfrm>
        </p:grpSpPr>
        <p:grpSp>
          <p:nvGrpSpPr>
            <p:cNvPr id="36" name="グループ化 35">
              <a:extLst>
                <a:ext uri="{FF2B5EF4-FFF2-40B4-BE49-F238E27FC236}">
                  <a16:creationId xmlns:a16="http://schemas.microsoft.com/office/drawing/2014/main" id="{60E9A778-C689-6548-A9E9-2848EEC7C1F9}"/>
                </a:ext>
              </a:extLst>
            </p:cNvPr>
            <p:cNvGrpSpPr/>
            <p:nvPr/>
          </p:nvGrpSpPr>
          <p:grpSpPr>
            <a:xfrm>
              <a:off x="6156941" y="4629698"/>
              <a:ext cx="2634511" cy="856575"/>
              <a:chOff x="6344060" y="4627304"/>
              <a:chExt cx="2634511" cy="856575"/>
            </a:xfrm>
          </p:grpSpPr>
          <p:grpSp>
            <p:nvGrpSpPr>
              <p:cNvPr id="31" name="グループ化 30">
                <a:extLst>
                  <a:ext uri="{FF2B5EF4-FFF2-40B4-BE49-F238E27FC236}">
                    <a16:creationId xmlns:a16="http://schemas.microsoft.com/office/drawing/2014/main" id="{4C216F1A-2E07-674F-992C-DF6EB91C113C}"/>
                  </a:ext>
                </a:extLst>
              </p:cNvPr>
              <p:cNvGrpSpPr/>
              <p:nvPr/>
            </p:nvGrpSpPr>
            <p:grpSpPr>
              <a:xfrm>
                <a:off x="6344060" y="4627304"/>
                <a:ext cx="2634511" cy="856575"/>
                <a:chOff x="2736168" y="3311426"/>
                <a:chExt cx="2634511" cy="856575"/>
              </a:xfrm>
            </p:grpSpPr>
            <p:cxnSp>
              <p:nvCxnSpPr>
                <p:cNvPr id="32" name="直線矢印コネクタ 31">
                  <a:extLst>
                    <a:ext uri="{FF2B5EF4-FFF2-40B4-BE49-F238E27FC236}">
                      <a16:creationId xmlns:a16="http://schemas.microsoft.com/office/drawing/2014/main" id="{2F051758-E948-0B4D-A7A7-DBC2CD2D2097}"/>
                    </a:ext>
                  </a:extLst>
                </p:cNvPr>
                <p:cNvCxnSpPr/>
                <p:nvPr/>
              </p:nvCxnSpPr>
              <p:spPr>
                <a:xfrm>
                  <a:off x="3086825" y="3750198"/>
                  <a:ext cx="1994463" cy="0"/>
                </a:xfrm>
                <a:prstGeom prst="straightConnector1">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3C0CD74E-BC1F-4845-AE2F-AC296C5C691E}"/>
                    </a:ext>
                  </a:extLst>
                </p:cNvPr>
                <p:cNvSpPr txBox="1"/>
                <p:nvPr/>
              </p:nvSpPr>
              <p:spPr>
                <a:xfrm>
                  <a:off x="2736168" y="3798669"/>
                  <a:ext cx="2634511" cy="369332"/>
                </a:xfrm>
                <a:prstGeom prst="rect">
                  <a:avLst/>
                </a:prstGeom>
                <a:noFill/>
              </p:spPr>
              <p:txBody>
                <a:bodyPr wrap="square" rtlCol="0">
                  <a:spAutoFit/>
                </a:bodyPr>
                <a:lstStyle/>
                <a:p>
                  <a:pPr algn="ctr"/>
                  <a:r>
                    <a:rPr kumimoji="1" lang="en-US" altLang="ja-JP" dirty="0"/>
                    <a:t>1.0                 -1.0</a:t>
                  </a:r>
                  <a:endParaRPr kumimoji="1" lang="ja-JP" altLang="en-US"/>
                </a:p>
              </p:txBody>
            </p:sp>
            <p:sp>
              <p:nvSpPr>
                <p:cNvPr id="34" name="テキスト ボックス 33">
                  <a:extLst>
                    <a:ext uri="{FF2B5EF4-FFF2-40B4-BE49-F238E27FC236}">
                      <a16:creationId xmlns:a16="http://schemas.microsoft.com/office/drawing/2014/main" id="{4EDABD43-F1D6-9A42-A790-CC3D1CA40E83}"/>
                    </a:ext>
                  </a:extLst>
                </p:cNvPr>
                <p:cNvSpPr txBox="1"/>
                <p:nvPr/>
              </p:nvSpPr>
              <p:spPr>
                <a:xfrm>
                  <a:off x="4122616" y="3311426"/>
                  <a:ext cx="789973" cy="338554"/>
                </a:xfrm>
                <a:prstGeom prst="rect">
                  <a:avLst/>
                </a:prstGeom>
                <a:noFill/>
              </p:spPr>
              <p:txBody>
                <a:bodyPr wrap="square" rtlCol="0">
                  <a:spAutoFit/>
                </a:bodyPr>
                <a:lstStyle/>
                <a:p>
                  <a:pPr algn="ctr"/>
                  <a:r>
                    <a:rPr kumimoji="1" lang="en-US" altLang="ja-JP" sz="1600" dirty="0"/>
                    <a:t>-0.5</a:t>
                  </a:r>
                  <a:endParaRPr kumimoji="1" lang="ja-JP" altLang="en-US" sz="1600"/>
                </a:p>
              </p:txBody>
            </p:sp>
          </p:grpSp>
          <p:cxnSp>
            <p:nvCxnSpPr>
              <p:cNvPr id="35" name="直線矢印コネクタ 34">
                <a:extLst>
                  <a:ext uri="{FF2B5EF4-FFF2-40B4-BE49-F238E27FC236}">
                    <a16:creationId xmlns:a16="http://schemas.microsoft.com/office/drawing/2014/main" id="{EAB27B10-E249-D84A-9481-34F36608FF65}"/>
                  </a:ext>
                </a:extLst>
              </p:cNvPr>
              <p:cNvCxnSpPr>
                <a:cxnSpLocks/>
              </p:cNvCxnSpPr>
              <p:nvPr/>
            </p:nvCxnSpPr>
            <p:spPr>
              <a:xfrm>
                <a:off x="8125496" y="4944538"/>
                <a:ext cx="0" cy="244723"/>
              </a:xfrm>
              <a:prstGeom prst="straightConnector1">
                <a:avLst/>
              </a:prstGeom>
              <a:ln w="38100">
                <a:solidFill>
                  <a:srgbClr val="FF734B"/>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7" name="テキスト ボックス 36">
              <a:extLst>
                <a:ext uri="{FF2B5EF4-FFF2-40B4-BE49-F238E27FC236}">
                  <a16:creationId xmlns:a16="http://schemas.microsoft.com/office/drawing/2014/main" id="{1B219B61-6855-A54C-81AA-3E61D0557D6F}"/>
                </a:ext>
              </a:extLst>
            </p:cNvPr>
            <p:cNvSpPr txBox="1"/>
            <p:nvPr/>
          </p:nvSpPr>
          <p:spPr>
            <a:xfrm>
              <a:off x="6479579" y="5454807"/>
              <a:ext cx="2050500" cy="338554"/>
            </a:xfrm>
            <a:prstGeom prst="rect">
              <a:avLst/>
            </a:prstGeom>
            <a:noFill/>
          </p:spPr>
          <p:txBody>
            <a:bodyPr wrap="square" rtlCol="0">
              <a:spAutoFit/>
            </a:bodyPr>
            <a:lstStyle/>
            <a:p>
              <a:pPr algn="ctr"/>
              <a:r>
                <a:rPr kumimoji="1" lang="ja-JP" altLang="en-US" sz="1600"/>
                <a:t>相手の神経症傾向</a:t>
              </a:r>
            </a:p>
          </p:txBody>
        </p:sp>
      </p:grpSp>
      <p:sp>
        <p:nvSpPr>
          <p:cNvPr id="39" name="左矢印 38">
            <a:extLst>
              <a:ext uri="{FF2B5EF4-FFF2-40B4-BE49-F238E27FC236}">
                <a16:creationId xmlns:a16="http://schemas.microsoft.com/office/drawing/2014/main" id="{479E2D58-FB41-BD4F-921E-3B93A63373D6}"/>
              </a:ext>
            </a:extLst>
          </p:cNvPr>
          <p:cNvSpPr/>
          <p:nvPr/>
        </p:nvSpPr>
        <p:spPr>
          <a:xfrm>
            <a:off x="6511018" y="5434224"/>
            <a:ext cx="287069" cy="269190"/>
          </a:xfrm>
          <a:prstGeom prst="leftArrow">
            <a:avLst/>
          </a:prstGeom>
          <a:solidFill>
            <a:srgbClr val="5B9B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左矢印 39">
            <a:extLst>
              <a:ext uri="{FF2B5EF4-FFF2-40B4-BE49-F238E27FC236}">
                <a16:creationId xmlns:a16="http://schemas.microsoft.com/office/drawing/2014/main" id="{4AC26889-1483-3545-8844-983CFFB3F2AE}"/>
              </a:ext>
            </a:extLst>
          </p:cNvPr>
          <p:cNvSpPr/>
          <p:nvPr/>
        </p:nvSpPr>
        <p:spPr>
          <a:xfrm flipH="1">
            <a:off x="4183027" y="5434224"/>
            <a:ext cx="287069" cy="269190"/>
          </a:xfrm>
          <a:prstGeom prst="leftArrow">
            <a:avLst/>
          </a:prstGeom>
          <a:solidFill>
            <a:srgbClr val="5B9B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テキスト ボックス 40">
            <a:extLst>
              <a:ext uri="{FF2B5EF4-FFF2-40B4-BE49-F238E27FC236}">
                <a16:creationId xmlns:a16="http://schemas.microsoft.com/office/drawing/2014/main" id="{60804684-E258-054D-AE5D-649ECF0D5201}"/>
              </a:ext>
            </a:extLst>
          </p:cNvPr>
          <p:cNvSpPr txBox="1"/>
          <p:nvPr/>
        </p:nvSpPr>
        <p:spPr>
          <a:xfrm>
            <a:off x="4465051" y="5201996"/>
            <a:ext cx="2067461" cy="646331"/>
          </a:xfrm>
          <a:prstGeom prst="rect">
            <a:avLst/>
          </a:prstGeom>
          <a:noFill/>
        </p:spPr>
        <p:txBody>
          <a:bodyPr wrap="square" rtlCol="0">
            <a:spAutoFit/>
          </a:bodyPr>
          <a:lstStyle/>
          <a:p>
            <a:pPr algn="ctr"/>
            <a:r>
              <a:rPr kumimoji="1" lang="ja-JP" altLang="en-US"/>
              <a:t>譲歩速度</a:t>
            </a:r>
            <a:r>
              <a:rPr kumimoji="1" lang="ja-JP" altLang="en-US">
                <a:solidFill>
                  <a:schemeClr val="accent2"/>
                </a:solidFill>
              </a:rPr>
              <a:t>やや早め</a:t>
            </a:r>
            <a:endParaRPr kumimoji="1" lang="en-US" altLang="ja-JP" dirty="0">
              <a:solidFill>
                <a:schemeClr val="accent2"/>
              </a:solidFill>
            </a:endParaRPr>
          </a:p>
          <a:p>
            <a:pPr algn="ctr"/>
            <a:r>
              <a:rPr kumimoji="1" lang="en-US" altLang="ja-JP" dirty="0"/>
              <a:t>(</a:t>
            </a:r>
            <a:r>
              <a:rPr kumimoji="1" lang="ja-JP" altLang="en-US"/>
              <a:t>混合比</a:t>
            </a:r>
            <a:r>
              <a:rPr kumimoji="1" lang="en-US" altLang="ja-JP" dirty="0"/>
              <a:t>1:3)</a:t>
            </a:r>
            <a:endParaRPr kumimoji="1" lang="ja-JP" altLang="en-US"/>
          </a:p>
        </p:txBody>
      </p:sp>
    </p:spTree>
    <p:extLst>
      <p:ext uri="{BB962C8B-B14F-4D97-AF65-F5344CB8AC3E}">
        <p14:creationId xmlns:p14="http://schemas.microsoft.com/office/powerpoint/2010/main" val="3997711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kumimoji="1" lang="en-US" altLang="ja-JP" dirty="0"/>
              <a:t>BIG5</a:t>
            </a:r>
            <a:endParaRPr kumimoji="1" lang="ja-JP" altLang="en-US"/>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2020/7/10</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6</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lang="en-US" altLang="ja-JP" dirty="0"/>
              <a:t>1</a:t>
            </a:r>
            <a:endParaRPr kumimoji="1" lang="ja-JP" altLang="en-US"/>
          </a:p>
        </p:txBody>
      </p:sp>
      <p:pic>
        <p:nvPicPr>
          <p:cNvPr id="35" name="図 34">
            <a:extLst>
              <a:ext uri="{FF2B5EF4-FFF2-40B4-BE49-F238E27FC236}">
                <a16:creationId xmlns:a16="http://schemas.microsoft.com/office/drawing/2014/main" id="{813CA7AA-D605-594B-ADF0-6CF8BCF67529}"/>
              </a:ext>
            </a:extLst>
          </p:cNvPr>
          <p:cNvPicPr>
            <a:picLocks noChangeAspect="1"/>
          </p:cNvPicPr>
          <p:nvPr/>
        </p:nvPicPr>
        <p:blipFill>
          <a:blip r:embed="rId2"/>
          <a:stretch>
            <a:fillRect/>
          </a:stretch>
        </p:blipFill>
        <p:spPr>
          <a:xfrm>
            <a:off x="5499056" y="1052532"/>
            <a:ext cx="3673279" cy="2316536"/>
          </a:xfrm>
          <a:prstGeom prst="rect">
            <a:avLst/>
          </a:prstGeom>
        </p:spPr>
      </p:pic>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5218602" cy="680876"/>
            <a:chOff x="163626" y="1160115"/>
            <a:chExt cx="5218602"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5218602"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エージェントの戦略まとめ</a:t>
            </a:r>
          </a:p>
        </p:txBody>
      </p:sp>
      <p:sp>
        <p:nvSpPr>
          <p:cNvPr id="9" name="コンテンツ プレースホルダー 8">
            <a:extLst>
              <a:ext uri="{FF2B5EF4-FFF2-40B4-BE49-F238E27FC236}">
                <a16:creationId xmlns:a16="http://schemas.microsoft.com/office/drawing/2014/main" id="{E2030744-C386-0249-92DD-23CBE73DCCF0}"/>
              </a:ext>
            </a:extLst>
          </p:cNvPr>
          <p:cNvSpPr>
            <a:spLocks noGrp="1"/>
          </p:cNvSpPr>
          <p:nvPr>
            <p:ph idx="1"/>
          </p:nvPr>
        </p:nvSpPr>
        <p:spPr/>
        <p:txBody>
          <a:bodyPr/>
          <a:lstStyle/>
          <a:p>
            <a:r>
              <a:rPr lang="ja-JP" altLang="en-US"/>
              <a:t>相手の</a:t>
            </a:r>
            <a:r>
              <a:rPr lang="en-US" altLang="ja-JP" dirty="0"/>
              <a:t>Offer</a:t>
            </a:r>
            <a:r>
              <a:rPr lang="ja-JP" altLang="en-US"/>
              <a:t>内容・行動などから</a:t>
            </a:r>
            <a:br>
              <a:rPr lang="en-US" altLang="ja-JP" dirty="0"/>
            </a:br>
            <a:r>
              <a:rPr lang="ja-JP" altLang="en-US"/>
              <a:t>相手の</a:t>
            </a:r>
            <a:r>
              <a:rPr lang="ja-JP" altLang="en-US">
                <a:solidFill>
                  <a:schemeClr val="accent1"/>
                </a:solidFill>
              </a:rPr>
              <a:t>特性</a:t>
            </a:r>
            <a:r>
              <a:rPr lang="en-US" altLang="ja-JP" dirty="0">
                <a:solidFill>
                  <a:schemeClr val="accent1"/>
                </a:solidFill>
              </a:rPr>
              <a:t>5</a:t>
            </a:r>
            <a:r>
              <a:rPr lang="ja-JP" altLang="en-US">
                <a:solidFill>
                  <a:schemeClr val="accent1"/>
                </a:solidFill>
              </a:rPr>
              <a:t>因子の値を求める</a:t>
            </a:r>
            <a:endParaRPr lang="en-US" altLang="ja-JP" dirty="0">
              <a:solidFill>
                <a:schemeClr val="accent1"/>
              </a:solidFill>
            </a:endParaRPr>
          </a:p>
          <a:p>
            <a:pPr lvl="1"/>
            <a:r>
              <a:rPr lang="ja-JP" altLang="en-US"/>
              <a:t>移動平均を用いる</a:t>
            </a:r>
            <a:endParaRPr lang="en-US" altLang="ja-JP" dirty="0"/>
          </a:p>
          <a:p>
            <a:r>
              <a:rPr lang="ja-JP" altLang="en-US"/>
              <a:t>特性</a:t>
            </a:r>
            <a:r>
              <a:rPr lang="en-US" altLang="ja-JP" dirty="0"/>
              <a:t>5</a:t>
            </a:r>
            <a:r>
              <a:rPr lang="ja-JP" altLang="en-US"/>
              <a:t>因子の値に応じて戦略を</a:t>
            </a:r>
            <a:br>
              <a:rPr lang="en-US" altLang="ja-JP" dirty="0"/>
            </a:br>
            <a:r>
              <a:rPr lang="ja-JP" altLang="en-US"/>
              <a:t>決定し</a:t>
            </a:r>
            <a:r>
              <a:rPr lang="ja-JP" altLang="en-US">
                <a:solidFill>
                  <a:schemeClr val="accent2"/>
                </a:solidFill>
              </a:rPr>
              <a:t>譲歩速度などを変化</a:t>
            </a:r>
            <a:endParaRPr lang="en-US" altLang="ja-JP" dirty="0">
              <a:solidFill>
                <a:schemeClr val="accent2"/>
              </a:solidFill>
            </a:endParaRPr>
          </a:p>
          <a:p>
            <a:endParaRPr lang="ja-JP" altLang="en-US"/>
          </a:p>
        </p:txBody>
      </p:sp>
      <p:grpSp>
        <p:nvGrpSpPr>
          <p:cNvPr id="3" name="グループ化 2">
            <a:extLst>
              <a:ext uri="{FF2B5EF4-FFF2-40B4-BE49-F238E27FC236}">
                <a16:creationId xmlns:a16="http://schemas.microsoft.com/office/drawing/2014/main" id="{A964EE23-6FF9-6F44-9D4C-72EB7A0E3143}"/>
              </a:ext>
            </a:extLst>
          </p:cNvPr>
          <p:cNvGrpSpPr/>
          <p:nvPr/>
        </p:nvGrpSpPr>
        <p:grpSpPr>
          <a:xfrm>
            <a:off x="1938289" y="4444355"/>
            <a:ext cx="5267423" cy="1963886"/>
            <a:chOff x="2890053" y="4444355"/>
            <a:chExt cx="5267423" cy="1963886"/>
          </a:xfrm>
        </p:grpSpPr>
        <p:grpSp>
          <p:nvGrpSpPr>
            <p:cNvPr id="54" name="グループ化 53">
              <a:extLst>
                <a:ext uri="{FF2B5EF4-FFF2-40B4-BE49-F238E27FC236}">
                  <a16:creationId xmlns:a16="http://schemas.microsoft.com/office/drawing/2014/main" id="{2165357C-4927-174B-A170-E6830385DABB}"/>
                </a:ext>
              </a:extLst>
            </p:cNvPr>
            <p:cNvGrpSpPr/>
            <p:nvPr/>
          </p:nvGrpSpPr>
          <p:grpSpPr>
            <a:xfrm>
              <a:off x="2890053" y="4444355"/>
              <a:ext cx="5267423" cy="1963886"/>
              <a:chOff x="2728005" y="4444355"/>
              <a:chExt cx="5267423" cy="1963886"/>
            </a:xfrm>
          </p:grpSpPr>
          <p:grpSp>
            <p:nvGrpSpPr>
              <p:cNvPr id="16" name="グループ化 15">
                <a:extLst>
                  <a:ext uri="{FF2B5EF4-FFF2-40B4-BE49-F238E27FC236}">
                    <a16:creationId xmlns:a16="http://schemas.microsoft.com/office/drawing/2014/main" id="{FB165451-849D-2B49-B364-C5F08F4247C9}"/>
                  </a:ext>
                </a:extLst>
              </p:cNvPr>
              <p:cNvGrpSpPr/>
              <p:nvPr/>
            </p:nvGrpSpPr>
            <p:grpSpPr>
              <a:xfrm>
                <a:off x="2728005" y="4720800"/>
                <a:ext cx="2511005" cy="1387086"/>
                <a:chOff x="2708473" y="4720800"/>
                <a:chExt cx="2511005" cy="1387086"/>
              </a:xfrm>
            </p:grpSpPr>
            <p:sp>
              <p:nvSpPr>
                <p:cNvPr id="42" name="テキスト ボックス 41">
                  <a:extLst>
                    <a:ext uri="{FF2B5EF4-FFF2-40B4-BE49-F238E27FC236}">
                      <a16:creationId xmlns:a16="http://schemas.microsoft.com/office/drawing/2014/main" id="{2234BD33-AC73-2047-8967-E43F42409BAC}"/>
                    </a:ext>
                  </a:extLst>
                </p:cNvPr>
                <p:cNvSpPr txBox="1"/>
                <p:nvPr/>
              </p:nvSpPr>
              <p:spPr>
                <a:xfrm>
                  <a:off x="2760716" y="5738554"/>
                  <a:ext cx="2458762" cy="369332"/>
                </a:xfrm>
                <a:prstGeom prst="rect">
                  <a:avLst/>
                </a:prstGeom>
                <a:noFill/>
              </p:spPr>
              <p:txBody>
                <a:bodyPr wrap="square" rtlCol="0">
                  <a:spAutoFit/>
                </a:bodyPr>
                <a:lstStyle/>
                <a:p>
                  <a:pPr algn="ctr"/>
                  <a:r>
                    <a:rPr kumimoji="1" lang="ja-JP" altLang="en-US"/>
                    <a:t>特性</a:t>
                  </a:r>
                  <a:r>
                    <a:rPr kumimoji="1" lang="en-US" altLang="ja-JP" dirty="0"/>
                    <a:t>5</a:t>
                  </a:r>
                  <a:r>
                    <a:rPr kumimoji="1" lang="ja-JP" altLang="en-US"/>
                    <a:t>因子の値を推定</a:t>
                  </a:r>
                </a:p>
              </p:txBody>
            </p:sp>
            <p:sp>
              <p:nvSpPr>
                <p:cNvPr id="10" name="三角形 9">
                  <a:extLst>
                    <a:ext uri="{FF2B5EF4-FFF2-40B4-BE49-F238E27FC236}">
                      <a16:creationId xmlns:a16="http://schemas.microsoft.com/office/drawing/2014/main" id="{18949641-2187-F240-8DAD-8825D7C150CC}"/>
                    </a:ext>
                  </a:extLst>
                </p:cNvPr>
                <p:cNvSpPr/>
                <p:nvPr/>
              </p:nvSpPr>
              <p:spPr>
                <a:xfrm rot="5400000">
                  <a:off x="3602280" y="5134264"/>
                  <a:ext cx="296135" cy="12757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5" name="グループ化 14">
                  <a:extLst>
                    <a:ext uri="{FF2B5EF4-FFF2-40B4-BE49-F238E27FC236}">
                      <a16:creationId xmlns:a16="http://schemas.microsoft.com/office/drawing/2014/main" id="{9E63192B-E0B8-CC41-8960-CB2D243F5B00}"/>
                    </a:ext>
                  </a:extLst>
                </p:cNvPr>
                <p:cNvGrpSpPr/>
                <p:nvPr/>
              </p:nvGrpSpPr>
              <p:grpSpPr>
                <a:xfrm>
                  <a:off x="2708473" y="4720800"/>
                  <a:ext cx="861781" cy="947500"/>
                  <a:chOff x="2765935" y="4720898"/>
                  <a:chExt cx="861781" cy="947500"/>
                </a:xfrm>
              </p:grpSpPr>
              <p:sp>
                <p:nvSpPr>
                  <p:cNvPr id="14" name="メモ 13">
                    <a:extLst>
                      <a:ext uri="{FF2B5EF4-FFF2-40B4-BE49-F238E27FC236}">
                        <a16:creationId xmlns:a16="http://schemas.microsoft.com/office/drawing/2014/main" id="{503DC9A0-EF36-AF4F-AF5B-D83DF52730DC}"/>
                      </a:ext>
                    </a:extLst>
                  </p:cNvPr>
                  <p:cNvSpPr/>
                  <p:nvPr/>
                </p:nvSpPr>
                <p:spPr>
                  <a:xfrm rot="10800000">
                    <a:off x="2855372" y="4720898"/>
                    <a:ext cx="682907" cy="947500"/>
                  </a:xfrm>
                  <a:prstGeom prst="foldedCorner">
                    <a:avLst>
                      <a:gd name="adj" fmla="val 32597"/>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テキスト ボックス 42">
                    <a:extLst>
                      <a:ext uri="{FF2B5EF4-FFF2-40B4-BE49-F238E27FC236}">
                        <a16:creationId xmlns:a16="http://schemas.microsoft.com/office/drawing/2014/main" id="{71842217-B5CD-E14A-BAAE-83F80AC392CB}"/>
                      </a:ext>
                    </a:extLst>
                  </p:cNvPr>
                  <p:cNvSpPr txBox="1"/>
                  <p:nvPr/>
                </p:nvSpPr>
                <p:spPr>
                  <a:xfrm>
                    <a:off x="2765935" y="5078642"/>
                    <a:ext cx="861781" cy="369332"/>
                  </a:xfrm>
                  <a:prstGeom prst="rect">
                    <a:avLst/>
                  </a:prstGeom>
                  <a:noFill/>
                </p:spPr>
                <p:txBody>
                  <a:bodyPr wrap="square" rtlCol="0">
                    <a:spAutoFit/>
                  </a:bodyPr>
                  <a:lstStyle/>
                  <a:p>
                    <a:pPr algn="ctr"/>
                    <a:r>
                      <a:rPr kumimoji="1" lang="en-US" altLang="ja-JP" dirty="0"/>
                      <a:t>Offer</a:t>
                    </a:r>
                    <a:endParaRPr kumimoji="1" lang="ja-JP" altLang="en-US"/>
                  </a:p>
                </p:txBody>
              </p:sp>
            </p:grpSp>
          </p:grpSp>
          <p:sp>
            <p:nvSpPr>
              <p:cNvPr id="45" name="右矢印 44">
                <a:extLst>
                  <a:ext uri="{FF2B5EF4-FFF2-40B4-BE49-F238E27FC236}">
                    <a16:creationId xmlns:a16="http://schemas.microsoft.com/office/drawing/2014/main" id="{9FF18A30-A3C7-1E47-B8A4-C9BBA76EB2BB}"/>
                  </a:ext>
                </a:extLst>
              </p:cNvPr>
              <p:cNvSpPr/>
              <p:nvPr/>
            </p:nvSpPr>
            <p:spPr>
              <a:xfrm>
                <a:off x="5769596" y="5218468"/>
                <a:ext cx="194979" cy="29070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53" name="グループ化 52">
                <a:extLst>
                  <a:ext uri="{FF2B5EF4-FFF2-40B4-BE49-F238E27FC236}">
                    <a16:creationId xmlns:a16="http://schemas.microsoft.com/office/drawing/2014/main" id="{8BB40CDB-767C-F846-81FC-D50EEBDEDF91}"/>
                  </a:ext>
                </a:extLst>
              </p:cNvPr>
              <p:cNvGrpSpPr/>
              <p:nvPr/>
            </p:nvGrpSpPr>
            <p:grpSpPr>
              <a:xfrm>
                <a:off x="6051784" y="4444355"/>
                <a:ext cx="1943644" cy="1963886"/>
                <a:chOff x="6051784" y="4444355"/>
                <a:chExt cx="1943644" cy="1963886"/>
              </a:xfrm>
            </p:grpSpPr>
            <p:grpSp>
              <p:nvGrpSpPr>
                <p:cNvPr id="47" name="グループ化 46">
                  <a:extLst>
                    <a:ext uri="{FF2B5EF4-FFF2-40B4-BE49-F238E27FC236}">
                      <a16:creationId xmlns:a16="http://schemas.microsoft.com/office/drawing/2014/main" id="{E11C1039-7584-2B4C-9170-7D257ECA1741}"/>
                    </a:ext>
                  </a:extLst>
                </p:cNvPr>
                <p:cNvGrpSpPr/>
                <p:nvPr/>
              </p:nvGrpSpPr>
              <p:grpSpPr>
                <a:xfrm>
                  <a:off x="6388405" y="4444355"/>
                  <a:ext cx="1270404" cy="1270404"/>
                  <a:chOff x="6886936" y="4676172"/>
                  <a:chExt cx="1270404" cy="1270404"/>
                </a:xfrm>
              </p:grpSpPr>
              <p:cxnSp>
                <p:nvCxnSpPr>
                  <p:cNvPr id="19" name="直線コネクタ 18">
                    <a:extLst>
                      <a:ext uri="{FF2B5EF4-FFF2-40B4-BE49-F238E27FC236}">
                        <a16:creationId xmlns:a16="http://schemas.microsoft.com/office/drawing/2014/main" id="{D49C790C-D481-A24A-9980-4FEB10221937}"/>
                      </a:ext>
                    </a:extLst>
                  </p:cNvPr>
                  <p:cNvCxnSpPr/>
                  <p:nvPr/>
                </p:nvCxnSpPr>
                <p:spPr>
                  <a:xfrm>
                    <a:off x="6898511" y="4676172"/>
                    <a:ext cx="0" cy="127040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8C968865-7C68-CB40-8073-AB077F3C966A}"/>
                      </a:ext>
                    </a:extLst>
                  </p:cNvPr>
                  <p:cNvCxnSpPr>
                    <a:cxnSpLocks/>
                  </p:cNvCxnSpPr>
                  <p:nvPr/>
                </p:nvCxnSpPr>
                <p:spPr>
                  <a:xfrm rot="16200000">
                    <a:off x="7522138" y="5299799"/>
                    <a:ext cx="0" cy="127040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9" name="フリーフォーム 48">
                  <a:extLst>
                    <a:ext uri="{FF2B5EF4-FFF2-40B4-BE49-F238E27FC236}">
                      <a16:creationId xmlns:a16="http://schemas.microsoft.com/office/drawing/2014/main" id="{9797452E-93E4-384C-A78F-0C76A4DB72E2}"/>
                    </a:ext>
                  </a:extLst>
                </p:cNvPr>
                <p:cNvSpPr/>
                <p:nvPr/>
              </p:nvSpPr>
              <p:spPr>
                <a:xfrm>
                  <a:off x="6412375" y="4814204"/>
                  <a:ext cx="1180617" cy="313381"/>
                </a:xfrm>
                <a:custGeom>
                  <a:avLst/>
                  <a:gdLst>
                    <a:gd name="connsiteX0" fmla="*/ 0 w 1180617"/>
                    <a:gd name="connsiteY0" fmla="*/ 12439 h 313381"/>
                    <a:gd name="connsiteX1" fmla="*/ 636607 w 1180617"/>
                    <a:gd name="connsiteY1" fmla="*/ 35588 h 313381"/>
                    <a:gd name="connsiteX2" fmla="*/ 1180617 w 1180617"/>
                    <a:gd name="connsiteY2" fmla="*/ 313381 h 313381"/>
                  </a:gdLst>
                  <a:ahLst/>
                  <a:cxnLst>
                    <a:cxn ang="0">
                      <a:pos x="connsiteX0" y="connsiteY0"/>
                    </a:cxn>
                    <a:cxn ang="0">
                      <a:pos x="connsiteX1" y="connsiteY1"/>
                    </a:cxn>
                    <a:cxn ang="0">
                      <a:pos x="connsiteX2" y="connsiteY2"/>
                    </a:cxn>
                  </a:cxnLst>
                  <a:rect l="l" t="t" r="r" b="b"/>
                  <a:pathLst>
                    <a:path w="1180617" h="313381">
                      <a:moveTo>
                        <a:pt x="0" y="12439"/>
                      </a:moveTo>
                      <a:cubicBezTo>
                        <a:pt x="219919" y="-1065"/>
                        <a:pt x="439838" y="-14569"/>
                        <a:pt x="636607" y="35588"/>
                      </a:cubicBezTo>
                      <a:cubicBezTo>
                        <a:pt x="833376" y="85745"/>
                        <a:pt x="1006996" y="199563"/>
                        <a:pt x="1180617" y="313381"/>
                      </a:cubicBezTo>
                    </a:path>
                  </a:pathLst>
                </a:cu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フリーフォーム 50">
                  <a:extLst>
                    <a:ext uri="{FF2B5EF4-FFF2-40B4-BE49-F238E27FC236}">
                      <a16:creationId xmlns:a16="http://schemas.microsoft.com/office/drawing/2014/main" id="{C576183D-2D5C-7A4C-9BC3-1A9E844828EA}"/>
                    </a:ext>
                  </a:extLst>
                </p:cNvPr>
                <p:cNvSpPr/>
                <p:nvPr/>
              </p:nvSpPr>
              <p:spPr>
                <a:xfrm>
                  <a:off x="6412375" y="4849792"/>
                  <a:ext cx="1192192" cy="405114"/>
                </a:xfrm>
                <a:custGeom>
                  <a:avLst/>
                  <a:gdLst>
                    <a:gd name="connsiteX0" fmla="*/ 0 w 1192192"/>
                    <a:gd name="connsiteY0" fmla="*/ 0 h 405114"/>
                    <a:gd name="connsiteX1" fmla="*/ 775503 w 1192192"/>
                    <a:gd name="connsiteY1" fmla="*/ 150471 h 405114"/>
                    <a:gd name="connsiteX2" fmla="*/ 1192192 w 1192192"/>
                    <a:gd name="connsiteY2" fmla="*/ 405114 h 405114"/>
                  </a:gdLst>
                  <a:ahLst/>
                  <a:cxnLst>
                    <a:cxn ang="0">
                      <a:pos x="connsiteX0" y="connsiteY0"/>
                    </a:cxn>
                    <a:cxn ang="0">
                      <a:pos x="connsiteX1" y="connsiteY1"/>
                    </a:cxn>
                    <a:cxn ang="0">
                      <a:pos x="connsiteX2" y="connsiteY2"/>
                    </a:cxn>
                  </a:cxnLst>
                  <a:rect l="l" t="t" r="r" b="b"/>
                  <a:pathLst>
                    <a:path w="1192192" h="405114">
                      <a:moveTo>
                        <a:pt x="0" y="0"/>
                      </a:moveTo>
                      <a:cubicBezTo>
                        <a:pt x="288402" y="41476"/>
                        <a:pt x="576804" y="82952"/>
                        <a:pt x="775503" y="150471"/>
                      </a:cubicBezTo>
                      <a:cubicBezTo>
                        <a:pt x="974202" y="217990"/>
                        <a:pt x="1083197" y="311552"/>
                        <a:pt x="1192192" y="405114"/>
                      </a:cubicBezTo>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テキスト ボックス 51">
                  <a:extLst>
                    <a:ext uri="{FF2B5EF4-FFF2-40B4-BE49-F238E27FC236}">
                      <a16:creationId xmlns:a16="http://schemas.microsoft.com/office/drawing/2014/main" id="{1A01385F-3EAD-0E4A-8145-56BB2A51EBE7}"/>
                    </a:ext>
                  </a:extLst>
                </p:cNvPr>
                <p:cNvSpPr txBox="1"/>
                <p:nvPr/>
              </p:nvSpPr>
              <p:spPr>
                <a:xfrm>
                  <a:off x="6051784" y="5761910"/>
                  <a:ext cx="1943644" cy="646331"/>
                </a:xfrm>
                <a:prstGeom prst="rect">
                  <a:avLst/>
                </a:prstGeom>
                <a:noFill/>
              </p:spPr>
              <p:txBody>
                <a:bodyPr wrap="square" rtlCol="0">
                  <a:spAutoFit/>
                </a:bodyPr>
                <a:lstStyle/>
                <a:p>
                  <a:pPr algn="ctr"/>
                  <a:r>
                    <a:rPr kumimoji="1" lang="ja-JP" altLang="en-US"/>
                    <a:t>譲歩速度の変更</a:t>
                  </a:r>
                </a:p>
              </p:txBody>
            </p:sp>
          </p:grpSp>
        </p:grpSp>
        <p:pic>
          <p:nvPicPr>
            <p:cNvPr id="36" name="図 35">
              <a:extLst>
                <a:ext uri="{FF2B5EF4-FFF2-40B4-BE49-F238E27FC236}">
                  <a16:creationId xmlns:a16="http://schemas.microsoft.com/office/drawing/2014/main" id="{08A266D8-7088-5E44-9661-BDA79AB25C48}"/>
                </a:ext>
              </a:extLst>
            </p:cNvPr>
            <p:cNvPicPr>
              <a:picLocks noChangeAspect="1"/>
            </p:cNvPicPr>
            <p:nvPr/>
          </p:nvPicPr>
          <p:blipFill rotWithShape="1">
            <a:blip r:embed="rId2"/>
            <a:srcRect l="10012" r="62528" b="66100"/>
            <a:stretch/>
          </p:blipFill>
          <p:spPr>
            <a:xfrm>
              <a:off x="4241172" y="4586870"/>
              <a:ext cx="1389032" cy="1081430"/>
            </a:xfrm>
            <a:prstGeom prst="rect">
              <a:avLst/>
            </a:prstGeom>
          </p:spPr>
        </p:pic>
      </p:grpSp>
    </p:spTree>
    <p:extLst>
      <p:ext uri="{BB962C8B-B14F-4D97-AF65-F5344CB8AC3E}">
        <p14:creationId xmlns:p14="http://schemas.microsoft.com/office/powerpoint/2010/main" val="16554837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kumimoji="1" lang="en-US" altLang="ja-JP" dirty="0"/>
              <a:t>BIG5</a:t>
            </a: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3"/>
                <a:ext cx="8859709" cy="4507316"/>
              </a:xfrm>
            </p:spPr>
            <p:txBody>
              <a:bodyPr/>
              <a:lstStyle/>
              <a:p>
                <a:r>
                  <a:rPr lang="ja-JP" altLang="en-US"/>
                  <a:t>譲歩速度</a:t>
                </a:r>
                <a:endParaRPr lang="en-US" altLang="ja-JP" dirty="0"/>
              </a:p>
              <a:p>
                <a:pPr lvl="1"/>
                <a:r>
                  <a:rPr lang="ja-JP" altLang="en-US"/>
                  <a:t>わがまま</a:t>
                </a:r>
                <a14:m>
                  <m:oMath xmlns:m="http://schemas.openxmlformats.org/officeDocument/2006/math">
                    <m:r>
                      <a:rPr lang="en-US" altLang="ja-JP" b="0" i="1" smtClean="0">
                        <a:latin typeface="Cambria Math" panose="02040503050406030204" pitchFamily="18" charset="0"/>
                      </a:rPr>
                      <m:t>&gt;</m:t>
                    </m:r>
                  </m:oMath>
                </a14:m>
                <a:r>
                  <a:rPr lang="ja-JP" altLang="en-US"/>
                  <a:t>普通</a:t>
                </a:r>
                <a14:m>
                  <m:oMath xmlns:m="http://schemas.openxmlformats.org/officeDocument/2006/math">
                    <m:r>
                      <a:rPr lang="en-US" altLang="ja-JP" i="1">
                        <a:latin typeface="Cambria Math" panose="02040503050406030204" pitchFamily="18" charset="0"/>
                      </a:rPr>
                      <m:t>&gt;</m:t>
                    </m:r>
                  </m:oMath>
                </a14:m>
                <a:r>
                  <a:rPr lang="ja-JP" altLang="en-US"/>
                  <a:t>つつましい</a:t>
                </a:r>
                <a14:m>
                  <m:oMath xmlns:m="http://schemas.openxmlformats.org/officeDocument/2006/math">
                    <m:r>
                      <a:rPr lang="en-US" altLang="ja-JP" i="1">
                        <a:latin typeface="Cambria Math" panose="02040503050406030204" pitchFamily="18" charset="0"/>
                      </a:rPr>
                      <m:t>&gt;</m:t>
                    </m:r>
                  </m:oMath>
                </a14:m>
                <a:r>
                  <a:rPr lang="ja-JP" altLang="en-US"/>
                  <a:t>模範</a:t>
                </a:r>
                <a:endParaRPr lang="en-US" altLang="ja-JP" dirty="0"/>
              </a:p>
              <a:p>
                <a:r>
                  <a:rPr lang="en-US" altLang="ja-JP" dirty="0"/>
                  <a:t>Offer</a:t>
                </a:r>
                <a:r>
                  <a:rPr lang="ja-JP" altLang="en-US"/>
                  <a:t>のパターン</a:t>
                </a:r>
                <a:endParaRPr lang="en-US" altLang="ja-JP" dirty="0"/>
              </a:p>
              <a:p>
                <a:pPr lvl="1"/>
                <a:r>
                  <a:rPr lang="ja-JP" altLang="en-US"/>
                  <a:t>つつましい</a:t>
                </a:r>
                <a14:m>
                  <m:oMath xmlns:m="http://schemas.openxmlformats.org/officeDocument/2006/math">
                    <m:r>
                      <a:rPr lang="en-US" altLang="ja-JP" i="1">
                        <a:latin typeface="Cambria Math" panose="02040503050406030204" pitchFamily="18" charset="0"/>
                      </a:rPr>
                      <m:t>≥</m:t>
                    </m:r>
                  </m:oMath>
                </a14:m>
                <a:r>
                  <a:rPr lang="ja-JP" altLang="en-US"/>
                  <a:t>わがまま</a:t>
                </a:r>
                <a14:m>
                  <m:oMath xmlns:m="http://schemas.openxmlformats.org/officeDocument/2006/math">
                    <m:r>
                      <a:rPr lang="en-US" altLang="ja-JP" i="1">
                        <a:latin typeface="Cambria Math" panose="02040503050406030204" pitchFamily="18" charset="0"/>
                      </a:rPr>
                      <m:t>≥</m:t>
                    </m:r>
                  </m:oMath>
                </a14:m>
                <a:r>
                  <a:rPr lang="ja-JP" altLang="en-US"/>
                  <a:t>普通</a:t>
                </a:r>
                <a14:m>
                  <m:oMath xmlns:m="http://schemas.openxmlformats.org/officeDocument/2006/math">
                    <m:r>
                      <a:rPr lang="en-US" altLang="ja-JP" i="1">
                        <a:latin typeface="Cambria Math" panose="02040503050406030204" pitchFamily="18" charset="0"/>
                      </a:rPr>
                      <m:t>&gt;</m:t>
                    </m:r>
                  </m:oMath>
                </a14:m>
                <a:r>
                  <a:rPr lang="ja-JP" altLang="en-US"/>
                  <a:t>模範</a:t>
                </a:r>
                <a:endParaRPr lang="en-US" altLang="ja-JP" dirty="0"/>
              </a:p>
              <a:p>
                <a:r>
                  <a:rPr lang="en-US" altLang="ja-JP" dirty="0"/>
                  <a:t>Offer</a:t>
                </a:r>
                <a:r>
                  <a:rPr lang="ja-JP" altLang="en-US"/>
                  <a:t>・行動頻度</a:t>
                </a:r>
                <a:endParaRPr lang="en-US" altLang="ja-JP" dirty="0"/>
              </a:p>
              <a:p>
                <a:pPr lvl="1"/>
                <a:r>
                  <a:rPr lang="ja-JP" altLang="en-US"/>
                  <a:t>つつましい</a:t>
                </a:r>
                <a14:m>
                  <m:oMath xmlns:m="http://schemas.openxmlformats.org/officeDocument/2006/math">
                    <m:r>
                      <a:rPr lang="en-US" altLang="ja-JP" i="1">
                        <a:latin typeface="Cambria Math" panose="02040503050406030204" pitchFamily="18" charset="0"/>
                      </a:rPr>
                      <m:t>&gt;</m:t>
                    </m:r>
                  </m:oMath>
                </a14:m>
                <a:r>
                  <a:rPr lang="ja-JP" altLang="en-US"/>
                  <a:t>普通</a:t>
                </a:r>
                <a14:m>
                  <m:oMath xmlns:m="http://schemas.openxmlformats.org/officeDocument/2006/math">
                    <m:r>
                      <a:rPr lang="en-US" altLang="ja-JP" b="0" i="1" smtClean="0">
                        <a:latin typeface="Cambria Math" panose="02040503050406030204" pitchFamily="18" charset="0"/>
                      </a:rPr>
                      <m:t>≥</m:t>
                    </m:r>
                  </m:oMath>
                </a14:m>
                <a:r>
                  <a:rPr lang="ja-JP" altLang="en-US"/>
                  <a:t>模範</a:t>
                </a:r>
                <a14:m>
                  <m:oMath xmlns:m="http://schemas.openxmlformats.org/officeDocument/2006/math">
                    <m:r>
                      <a:rPr lang="en-US" altLang="ja-JP" i="1" smtClean="0">
                        <a:latin typeface="Cambria Math" panose="02040503050406030204" pitchFamily="18" charset="0"/>
                      </a:rPr>
                      <m:t>&gt;</m:t>
                    </m:r>
                  </m:oMath>
                </a14:m>
                <a:r>
                  <a:rPr lang="ja-JP" altLang="en-US"/>
                  <a:t>わがまま</a:t>
                </a:r>
                <a:endParaRPr lang="en-US" altLang="ja-JP" dirty="0"/>
              </a:p>
              <a:p>
                <a:pPr lvl="1"/>
                <a:endParaRPr lang="en-US" altLang="ja-JP" dirty="0"/>
              </a:p>
            </p:txBody>
          </p:sp>
        </mc:Choice>
        <mc:Fallback xmlns="">
          <p:sp>
            <p:nvSpPr>
              <p:cNvPr id="3" name="コンテンツ プレースホルダー 2">
                <a:extLst>
                  <a:ext uri="{FF2B5EF4-FFF2-40B4-BE49-F238E27FC236}">
                    <a16:creationId xmlns:a16="http://schemas.microsoft.com/office/drawing/2014/main" id="{7CD37B2B-E32E-2D43-8143-0B7A29E79BB5}"/>
                  </a:ext>
                </a:extLst>
              </p:cNvPr>
              <p:cNvSpPr>
                <a:spLocks noGrp="1" noRot="1" noChangeAspect="1" noMove="1" noResize="1" noEditPoints="1" noAdjustHandles="1" noChangeArrowheads="1" noChangeShapeType="1" noTextEdit="1"/>
              </p:cNvSpPr>
              <p:nvPr>
                <p:ph idx="1"/>
              </p:nvPr>
            </p:nvSpPr>
            <p:spPr>
              <a:xfrm>
                <a:off x="194898" y="1884383"/>
                <a:ext cx="8859709" cy="4507316"/>
              </a:xfrm>
              <a:blipFill>
                <a:blip r:embed="rId2"/>
                <a:stretch>
                  <a:fillRect t="-1966"/>
                </a:stretch>
              </a:blipFill>
            </p:spPr>
            <p:txBody>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2020/7/10</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7</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lang="en-US" altLang="ja-JP" dirty="0"/>
              <a:t>1</a:t>
            </a:r>
            <a:endParaRPr kumimoji="1" lang="ja-JP" altLang="en-US"/>
          </a:p>
        </p:txBody>
      </p:sp>
      <p:pic>
        <p:nvPicPr>
          <p:cNvPr id="35" name="図 34">
            <a:extLst>
              <a:ext uri="{FF2B5EF4-FFF2-40B4-BE49-F238E27FC236}">
                <a16:creationId xmlns:a16="http://schemas.microsoft.com/office/drawing/2014/main" id="{813CA7AA-D605-594B-ADF0-6CF8BCF67529}"/>
              </a:ext>
            </a:extLst>
          </p:cNvPr>
          <p:cNvPicPr>
            <a:picLocks noChangeAspect="1"/>
          </p:cNvPicPr>
          <p:nvPr/>
        </p:nvPicPr>
        <p:blipFill>
          <a:blip r:embed="rId3"/>
          <a:stretch>
            <a:fillRect/>
          </a:stretch>
        </p:blipFill>
        <p:spPr>
          <a:xfrm>
            <a:off x="5499056" y="1052532"/>
            <a:ext cx="3673279" cy="2316536"/>
          </a:xfrm>
          <a:prstGeom prst="rect">
            <a:avLst/>
          </a:prstGeom>
        </p:spPr>
      </p:pic>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4836637" cy="680876"/>
            <a:chOff x="163626" y="1160115"/>
            <a:chExt cx="4836637"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483663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4"/>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5"/>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各カテゴリに対する戦略</a:t>
            </a:r>
          </a:p>
        </p:txBody>
      </p:sp>
    </p:spTree>
    <p:extLst>
      <p:ext uri="{BB962C8B-B14F-4D97-AF65-F5344CB8AC3E}">
        <p14:creationId xmlns:p14="http://schemas.microsoft.com/office/powerpoint/2010/main" val="3004226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kumimoji="1" lang="en-US" altLang="ja-JP" dirty="0"/>
              <a:t>TKI</a:t>
            </a:r>
            <a:endParaRPr kumimoji="1" lang="ja-JP" altLang="en-US"/>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p:txBody>
          <a:bodyPr/>
          <a:lstStyle/>
          <a:p>
            <a:r>
              <a:rPr lang="en-US" altLang="ja-JP" dirty="0"/>
              <a:t>TKI</a:t>
            </a:r>
            <a:r>
              <a:rPr lang="ja-JP" altLang="en-US"/>
              <a:t>は</a:t>
            </a:r>
            <a:r>
              <a:rPr lang="en-US" altLang="ja-JP" dirty="0"/>
              <a:t>Offer</a:t>
            </a:r>
            <a:r>
              <a:rPr lang="ja-JP" altLang="en-US"/>
              <a:t>のみを見て計算する</a:t>
            </a:r>
            <a:endParaRPr lang="en-US" altLang="ja-JP" dirty="0"/>
          </a:p>
          <a:p>
            <a:r>
              <a:rPr lang="ja-JP" altLang="en-US"/>
              <a:t>既存研究に倣って積極性は</a:t>
            </a:r>
            <a:r>
              <a:rPr lang="en-US" altLang="ja-JP" dirty="0"/>
              <a:t>bid</a:t>
            </a:r>
            <a:r>
              <a:rPr lang="ja-JP" altLang="en-US"/>
              <a:t>の分散，</a:t>
            </a:r>
            <a:br>
              <a:rPr lang="en-US" altLang="ja-JP" dirty="0"/>
            </a:br>
            <a:r>
              <a:rPr lang="ja-JP" altLang="en-US"/>
              <a:t>協調性は</a:t>
            </a:r>
            <a:r>
              <a:rPr lang="en-US" altLang="ja-JP" dirty="0"/>
              <a:t>bid</a:t>
            </a:r>
            <a:r>
              <a:rPr lang="ja-JP" altLang="en-US"/>
              <a:t>の平均で計算</a:t>
            </a:r>
            <a:endParaRPr lang="en-US" altLang="ja-JP" dirty="0"/>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3F260AC5-1500-5F46-BA22-957002E89723}" type="datetime1">
              <a:rPr kumimoji="1" lang="ja-JP" altLang="en-US" smtClean="0"/>
              <a:t>2020/7/10</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8</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2</a:t>
            </a:r>
            <a:endParaRPr kumimoji="1" lang="ja-JP" altLang="en-US"/>
          </a:p>
        </p:txBody>
      </p:sp>
      <p:pic>
        <p:nvPicPr>
          <p:cNvPr id="20" name="図 19">
            <a:extLst>
              <a:ext uri="{FF2B5EF4-FFF2-40B4-BE49-F238E27FC236}">
                <a16:creationId xmlns:a16="http://schemas.microsoft.com/office/drawing/2014/main" id="{D8D9E392-8CAF-1248-AC4C-BFBFDE69105A}"/>
              </a:ext>
            </a:extLst>
          </p:cNvPr>
          <p:cNvPicPr>
            <a:picLocks noChangeAspect="1"/>
          </p:cNvPicPr>
          <p:nvPr/>
        </p:nvPicPr>
        <p:blipFill>
          <a:blip r:embed="rId2"/>
          <a:stretch>
            <a:fillRect/>
          </a:stretch>
        </p:blipFill>
        <p:spPr>
          <a:xfrm>
            <a:off x="6847144" y="1030556"/>
            <a:ext cx="2222334" cy="2750219"/>
          </a:xfrm>
          <a:prstGeom prst="rect">
            <a:avLst/>
          </a:prstGeom>
        </p:spPr>
      </p:pic>
      <p:grpSp>
        <p:nvGrpSpPr>
          <p:cNvPr id="13" name="グループ化 12">
            <a:extLst>
              <a:ext uri="{FF2B5EF4-FFF2-40B4-BE49-F238E27FC236}">
                <a16:creationId xmlns:a16="http://schemas.microsoft.com/office/drawing/2014/main" id="{DB06526F-F23C-BA41-9B0E-AB988845095F}"/>
              </a:ext>
            </a:extLst>
          </p:cNvPr>
          <p:cNvGrpSpPr/>
          <p:nvPr/>
        </p:nvGrpSpPr>
        <p:grpSpPr>
          <a:xfrm>
            <a:off x="163626" y="1160115"/>
            <a:ext cx="2753194" cy="680876"/>
            <a:chOff x="163626" y="1160115"/>
            <a:chExt cx="2753194" cy="680876"/>
          </a:xfrm>
        </p:grpSpPr>
        <p:cxnSp>
          <p:nvCxnSpPr>
            <p:cNvPr id="14" name="直線コネクタ 13">
              <a:extLst>
                <a:ext uri="{FF2B5EF4-FFF2-40B4-BE49-F238E27FC236}">
                  <a16:creationId xmlns:a16="http://schemas.microsoft.com/office/drawing/2014/main" id="{ECBE760E-BBDC-014B-966D-F74E11AEE302}"/>
                </a:ext>
              </a:extLst>
            </p:cNvPr>
            <p:cNvCxnSpPr>
              <a:cxnSpLocks/>
            </p:cNvCxnSpPr>
            <p:nvPr userDrawn="1"/>
          </p:nvCxnSpPr>
          <p:spPr>
            <a:xfrm>
              <a:off x="163626" y="1699846"/>
              <a:ext cx="275319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7" name="正方形/長方形 16">
              <a:extLst>
                <a:ext uri="{FF2B5EF4-FFF2-40B4-BE49-F238E27FC236}">
                  <a16:creationId xmlns:a16="http://schemas.microsoft.com/office/drawing/2014/main" id="{572BC2EB-1306-9541-AC4B-42FBACEFB9A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1" name="テキスト プレースホルダー 12">
            <a:extLst>
              <a:ext uri="{FF2B5EF4-FFF2-40B4-BE49-F238E27FC236}">
                <a16:creationId xmlns:a16="http://schemas.microsoft.com/office/drawing/2014/main" id="{67C6B88C-5AB3-2842-86B2-570E76EF5956}"/>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各尺度の計算</a:t>
            </a:r>
          </a:p>
        </p:txBody>
      </p:sp>
    </p:spTree>
    <p:extLst>
      <p:ext uri="{BB962C8B-B14F-4D97-AF65-F5344CB8AC3E}">
        <p14:creationId xmlns:p14="http://schemas.microsoft.com/office/powerpoint/2010/main" val="32513027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kumimoji="1" lang="en-US" altLang="ja-JP" dirty="0"/>
              <a:t>TKI</a:t>
            </a:r>
            <a:endParaRPr kumimoji="1" lang="ja-JP" altLang="en-US"/>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p:txBody>
          <a:bodyPr/>
          <a:lstStyle/>
          <a:p>
            <a:r>
              <a:rPr lang="ja-JP" altLang="en-US"/>
              <a:t>妥協カテゴリをベースとして他の</a:t>
            </a:r>
            <a:br>
              <a:rPr lang="en-US" altLang="ja-JP" dirty="0"/>
            </a:br>
            <a:r>
              <a:rPr lang="ja-JP" altLang="en-US"/>
              <a:t>カテゴリの度合いを考慮</a:t>
            </a:r>
            <a:endParaRPr lang="en-US" altLang="ja-JP" dirty="0"/>
          </a:p>
          <a:p>
            <a:pPr lvl="1"/>
            <a:r>
              <a:rPr lang="ja-JP" altLang="en-US"/>
              <a:t>各カテゴリを表す</a:t>
            </a:r>
            <a:r>
              <a:rPr lang="ja-JP" altLang="en-US">
                <a:solidFill>
                  <a:schemeClr val="accent2"/>
                </a:solidFill>
              </a:rPr>
              <a:t>ベクトルとの距離</a:t>
            </a:r>
            <a:r>
              <a:rPr lang="ja-JP" altLang="en-US"/>
              <a:t>で</a:t>
            </a:r>
            <a:br>
              <a:rPr lang="en-US" altLang="ja-JP" dirty="0"/>
            </a:br>
            <a:r>
              <a:rPr lang="ja-JP" altLang="en-US"/>
              <a:t>譲歩速度などを変更</a:t>
            </a:r>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3F260AC5-1500-5F46-BA22-957002E89723}" type="datetime1">
              <a:rPr kumimoji="1" lang="ja-JP" altLang="en-US" smtClean="0"/>
              <a:t>2020/7/10</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9</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2</a:t>
            </a:r>
            <a:endParaRPr kumimoji="1" lang="ja-JP" altLang="en-US"/>
          </a:p>
        </p:txBody>
      </p:sp>
      <p:pic>
        <p:nvPicPr>
          <p:cNvPr id="20" name="図 19">
            <a:extLst>
              <a:ext uri="{FF2B5EF4-FFF2-40B4-BE49-F238E27FC236}">
                <a16:creationId xmlns:a16="http://schemas.microsoft.com/office/drawing/2014/main" id="{D8D9E392-8CAF-1248-AC4C-BFBFDE69105A}"/>
              </a:ext>
            </a:extLst>
          </p:cNvPr>
          <p:cNvPicPr>
            <a:picLocks noChangeAspect="1"/>
          </p:cNvPicPr>
          <p:nvPr/>
        </p:nvPicPr>
        <p:blipFill>
          <a:blip r:embed="rId2"/>
          <a:stretch>
            <a:fillRect/>
          </a:stretch>
        </p:blipFill>
        <p:spPr>
          <a:xfrm>
            <a:off x="6847144" y="1030556"/>
            <a:ext cx="2222334" cy="2750219"/>
          </a:xfrm>
          <a:prstGeom prst="rect">
            <a:avLst/>
          </a:prstGeom>
        </p:spPr>
      </p:pic>
      <p:sp>
        <p:nvSpPr>
          <p:cNvPr id="21" name="テキスト プレースホルダー 12">
            <a:extLst>
              <a:ext uri="{FF2B5EF4-FFF2-40B4-BE49-F238E27FC236}">
                <a16:creationId xmlns:a16="http://schemas.microsoft.com/office/drawing/2014/main" id="{67C6B88C-5AB3-2842-86B2-570E76EF5956}"/>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エージェントの戦略</a:t>
            </a:r>
          </a:p>
        </p:txBody>
      </p:sp>
      <p:grpSp>
        <p:nvGrpSpPr>
          <p:cNvPr id="15" name="グループ化 14">
            <a:extLst>
              <a:ext uri="{FF2B5EF4-FFF2-40B4-BE49-F238E27FC236}">
                <a16:creationId xmlns:a16="http://schemas.microsoft.com/office/drawing/2014/main" id="{E0CC4C29-4A4E-B34B-8F55-3FA6D3A707FB}"/>
              </a:ext>
            </a:extLst>
          </p:cNvPr>
          <p:cNvGrpSpPr/>
          <p:nvPr/>
        </p:nvGrpSpPr>
        <p:grpSpPr>
          <a:xfrm>
            <a:off x="4865779" y="3902926"/>
            <a:ext cx="1813148" cy="708075"/>
            <a:chOff x="3119607" y="3750198"/>
            <a:chExt cx="1813148" cy="708075"/>
          </a:xfrm>
        </p:grpSpPr>
        <p:cxnSp>
          <p:nvCxnSpPr>
            <p:cNvPr id="16" name="直線矢印コネクタ 15">
              <a:extLst>
                <a:ext uri="{FF2B5EF4-FFF2-40B4-BE49-F238E27FC236}">
                  <a16:creationId xmlns:a16="http://schemas.microsoft.com/office/drawing/2014/main" id="{EF378C48-9E55-A44F-8E67-4460D4C2993C}"/>
                </a:ext>
              </a:extLst>
            </p:cNvPr>
            <p:cNvCxnSpPr/>
            <p:nvPr/>
          </p:nvCxnSpPr>
          <p:spPr>
            <a:xfrm>
              <a:off x="3119607" y="3750198"/>
              <a:ext cx="1813148" cy="0"/>
            </a:xfrm>
            <a:prstGeom prst="straightConnector1">
              <a:avLst/>
            </a:prstGeom>
            <a:ln w="57150">
              <a:solidFill>
                <a:srgbClr val="ABD7D1"/>
              </a:solidFill>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4389AF56-1B63-874E-9FB2-D23CD155400B}"/>
                </a:ext>
              </a:extLst>
            </p:cNvPr>
            <p:cNvSpPr txBox="1"/>
            <p:nvPr/>
          </p:nvSpPr>
          <p:spPr>
            <a:xfrm>
              <a:off x="3256464" y="3798669"/>
              <a:ext cx="1539433" cy="369332"/>
            </a:xfrm>
            <a:prstGeom prst="rect">
              <a:avLst/>
            </a:prstGeom>
            <a:noFill/>
          </p:spPr>
          <p:txBody>
            <a:bodyPr wrap="square" rtlCol="0">
              <a:spAutoFit/>
            </a:bodyPr>
            <a:lstStyle/>
            <a:p>
              <a:pPr algn="ctr"/>
              <a:r>
                <a:rPr kumimoji="1" lang="ja-JP" altLang="en-US"/>
                <a:t>回避</a:t>
              </a:r>
            </a:p>
          </p:txBody>
        </p:sp>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91EAAEEF-440A-AA4A-A1EB-3E58B7AF8B2C}"/>
                    </a:ext>
                  </a:extLst>
                </p:cNvPr>
                <p:cNvSpPr txBox="1"/>
                <p:nvPr/>
              </p:nvSpPr>
              <p:spPr>
                <a:xfrm>
                  <a:off x="3326437" y="4087659"/>
                  <a:ext cx="1399485" cy="37061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[0.0,0.0]</m:t>
                        </m:r>
                      </m:oMath>
                    </m:oMathPara>
                  </a14:m>
                  <a:endParaRPr kumimoji="1" lang="ja-JP" altLang="en-US"/>
                </a:p>
              </p:txBody>
            </p:sp>
          </mc:Choice>
          <mc:Fallback xmlns="">
            <p:sp>
              <p:nvSpPr>
                <p:cNvPr id="19" name="テキスト ボックス 18">
                  <a:extLst>
                    <a:ext uri="{FF2B5EF4-FFF2-40B4-BE49-F238E27FC236}">
                      <a16:creationId xmlns:a16="http://schemas.microsoft.com/office/drawing/2014/main" id="{91EAAEEF-440A-AA4A-A1EB-3E58B7AF8B2C}"/>
                    </a:ext>
                  </a:extLst>
                </p:cNvPr>
                <p:cNvSpPr txBox="1">
                  <a:spLocks noRot="1" noChangeAspect="1" noMove="1" noResize="1" noEditPoints="1" noAdjustHandles="1" noChangeArrowheads="1" noChangeShapeType="1" noTextEdit="1"/>
                </p:cNvSpPr>
                <p:nvPr/>
              </p:nvSpPr>
              <p:spPr>
                <a:xfrm>
                  <a:off x="3326437" y="4087659"/>
                  <a:ext cx="1399485" cy="370614"/>
                </a:xfrm>
                <a:prstGeom prst="rect">
                  <a:avLst/>
                </a:prstGeom>
                <a:blipFill>
                  <a:blip r:embed="rId5"/>
                  <a:stretch>
                    <a:fillRect b="-16667"/>
                  </a:stretch>
                </a:blipFill>
              </p:spPr>
              <p:txBody>
                <a:bodyPr/>
                <a:lstStyle/>
                <a:p>
                  <a:r>
                    <a:rPr lang="ja-JP" altLang="en-US">
                      <a:noFill/>
                    </a:rPr>
                    <a:t> </a:t>
                  </a:r>
                </a:p>
              </p:txBody>
            </p:sp>
          </mc:Fallback>
        </mc:AlternateContent>
      </p:grpSp>
      <p:grpSp>
        <p:nvGrpSpPr>
          <p:cNvPr id="22" name="グループ化 21">
            <a:extLst>
              <a:ext uri="{FF2B5EF4-FFF2-40B4-BE49-F238E27FC236}">
                <a16:creationId xmlns:a16="http://schemas.microsoft.com/office/drawing/2014/main" id="{AB43DF24-E4B9-2A47-8326-5259FDBD2808}"/>
              </a:ext>
            </a:extLst>
          </p:cNvPr>
          <p:cNvGrpSpPr/>
          <p:nvPr/>
        </p:nvGrpSpPr>
        <p:grpSpPr>
          <a:xfrm>
            <a:off x="2609298" y="3902926"/>
            <a:ext cx="1813148" cy="706793"/>
            <a:chOff x="3119607" y="3750198"/>
            <a:chExt cx="1813148" cy="706793"/>
          </a:xfrm>
        </p:grpSpPr>
        <p:cxnSp>
          <p:nvCxnSpPr>
            <p:cNvPr id="23" name="直線矢印コネクタ 22">
              <a:extLst>
                <a:ext uri="{FF2B5EF4-FFF2-40B4-BE49-F238E27FC236}">
                  <a16:creationId xmlns:a16="http://schemas.microsoft.com/office/drawing/2014/main" id="{5A14FC19-A473-6A4B-B124-698A3BA4BC41}"/>
                </a:ext>
              </a:extLst>
            </p:cNvPr>
            <p:cNvCxnSpPr/>
            <p:nvPr/>
          </p:nvCxnSpPr>
          <p:spPr>
            <a:xfrm>
              <a:off x="3119607" y="3750198"/>
              <a:ext cx="1813148" cy="0"/>
            </a:xfrm>
            <a:prstGeom prst="straightConnector1">
              <a:avLst/>
            </a:prstGeom>
            <a:ln w="57150">
              <a:solidFill>
                <a:srgbClr val="ECCA5E"/>
              </a:solidFill>
              <a:tailEnd type="triangle"/>
            </a:ln>
          </p:spPr>
          <p:style>
            <a:lnRef idx="1">
              <a:schemeClr val="accent1"/>
            </a:lnRef>
            <a:fillRef idx="0">
              <a:schemeClr val="accent1"/>
            </a:fillRef>
            <a:effectRef idx="0">
              <a:schemeClr val="accent1"/>
            </a:effectRef>
            <a:fontRef idx="minor">
              <a:schemeClr val="tx1"/>
            </a:fontRef>
          </p:style>
        </p:cxnSp>
        <p:sp>
          <p:nvSpPr>
            <p:cNvPr id="24" name="テキスト ボックス 23">
              <a:extLst>
                <a:ext uri="{FF2B5EF4-FFF2-40B4-BE49-F238E27FC236}">
                  <a16:creationId xmlns:a16="http://schemas.microsoft.com/office/drawing/2014/main" id="{BF0CD999-DA6C-B64E-90B9-E4E21AD432AD}"/>
                </a:ext>
              </a:extLst>
            </p:cNvPr>
            <p:cNvSpPr txBox="1"/>
            <p:nvPr/>
          </p:nvSpPr>
          <p:spPr>
            <a:xfrm>
              <a:off x="3256464" y="3798669"/>
              <a:ext cx="1539433" cy="369332"/>
            </a:xfrm>
            <a:prstGeom prst="rect">
              <a:avLst/>
            </a:prstGeom>
            <a:noFill/>
          </p:spPr>
          <p:txBody>
            <a:bodyPr wrap="square" rtlCol="0">
              <a:spAutoFit/>
            </a:bodyPr>
            <a:lstStyle/>
            <a:p>
              <a:pPr algn="ctr"/>
              <a:r>
                <a:rPr kumimoji="1" lang="ja-JP" altLang="en-US"/>
                <a:t>共存</a:t>
              </a:r>
            </a:p>
          </p:txBody>
        </p:sp>
        <mc:AlternateContent xmlns:mc="http://schemas.openxmlformats.org/markup-compatibility/2006" xmlns:a14="http://schemas.microsoft.com/office/drawing/2010/main">
          <mc:Choice Requires="a14">
            <p:sp>
              <p:nvSpPr>
                <p:cNvPr id="25" name="テキスト ボックス 24">
                  <a:extLst>
                    <a:ext uri="{FF2B5EF4-FFF2-40B4-BE49-F238E27FC236}">
                      <a16:creationId xmlns:a16="http://schemas.microsoft.com/office/drawing/2014/main" id="{A3D2BBC0-F2F6-6248-BC09-864CAF4FDC74}"/>
                    </a:ext>
                  </a:extLst>
                </p:cNvPr>
                <p:cNvSpPr txBox="1"/>
                <p:nvPr/>
              </p:nvSpPr>
              <p:spPr>
                <a:xfrm>
                  <a:off x="3326437" y="4087659"/>
                  <a:ext cx="1399485"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[1.0,1.0]</m:t>
                        </m:r>
                      </m:oMath>
                    </m:oMathPara>
                  </a14:m>
                  <a:endParaRPr kumimoji="1" lang="ja-JP" altLang="en-US"/>
                </a:p>
              </p:txBody>
            </p:sp>
          </mc:Choice>
          <mc:Fallback xmlns="">
            <p:sp>
              <p:nvSpPr>
                <p:cNvPr id="25" name="テキスト ボックス 24">
                  <a:extLst>
                    <a:ext uri="{FF2B5EF4-FFF2-40B4-BE49-F238E27FC236}">
                      <a16:creationId xmlns:a16="http://schemas.microsoft.com/office/drawing/2014/main" id="{A3D2BBC0-F2F6-6248-BC09-864CAF4FDC74}"/>
                    </a:ext>
                  </a:extLst>
                </p:cNvPr>
                <p:cNvSpPr txBox="1">
                  <a:spLocks noRot="1" noChangeAspect="1" noMove="1" noResize="1" noEditPoints="1" noAdjustHandles="1" noChangeArrowheads="1" noChangeShapeType="1" noTextEdit="1"/>
                </p:cNvSpPr>
                <p:nvPr/>
              </p:nvSpPr>
              <p:spPr>
                <a:xfrm>
                  <a:off x="3326437" y="4087659"/>
                  <a:ext cx="1399485" cy="369332"/>
                </a:xfrm>
                <a:prstGeom prst="rect">
                  <a:avLst/>
                </a:prstGeom>
                <a:blipFill>
                  <a:blip r:embed="rId6"/>
                  <a:stretch>
                    <a:fillRect b="-16667"/>
                  </a:stretch>
                </a:blipFill>
              </p:spPr>
              <p:txBody>
                <a:bodyPr/>
                <a:lstStyle/>
                <a:p>
                  <a:r>
                    <a:rPr lang="ja-JP" altLang="en-US">
                      <a:noFill/>
                    </a:rPr>
                    <a:t> </a:t>
                  </a:r>
                </a:p>
              </p:txBody>
            </p:sp>
          </mc:Fallback>
        </mc:AlternateContent>
      </p:grpSp>
      <p:grpSp>
        <p:nvGrpSpPr>
          <p:cNvPr id="26" name="グループ化 25">
            <a:extLst>
              <a:ext uri="{FF2B5EF4-FFF2-40B4-BE49-F238E27FC236}">
                <a16:creationId xmlns:a16="http://schemas.microsoft.com/office/drawing/2014/main" id="{07051DCB-E807-2D49-AA0C-D1DC10F3A657}"/>
              </a:ext>
            </a:extLst>
          </p:cNvPr>
          <p:cNvGrpSpPr/>
          <p:nvPr/>
        </p:nvGrpSpPr>
        <p:grpSpPr>
          <a:xfrm>
            <a:off x="352817" y="3902926"/>
            <a:ext cx="1813148" cy="706793"/>
            <a:chOff x="3119607" y="3750198"/>
            <a:chExt cx="1813148" cy="706793"/>
          </a:xfrm>
        </p:grpSpPr>
        <p:cxnSp>
          <p:nvCxnSpPr>
            <p:cNvPr id="27" name="直線矢印コネクタ 26">
              <a:extLst>
                <a:ext uri="{FF2B5EF4-FFF2-40B4-BE49-F238E27FC236}">
                  <a16:creationId xmlns:a16="http://schemas.microsoft.com/office/drawing/2014/main" id="{73679C77-E45E-0A49-9E8B-6B8D038425A2}"/>
                </a:ext>
              </a:extLst>
            </p:cNvPr>
            <p:cNvCxnSpPr/>
            <p:nvPr/>
          </p:nvCxnSpPr>
          <p:spPr>
            <a:xfrm>
              <a:off x="3119607" y="3750198"/>
              <a:ext cx="1813148" cy="0"/>
            </a:xfrm>
            <a:prstGeom prst="straightConnector1">
              <a:avLst/>
            </a:prstGeom>
            <a:ln w="57150">
              <a:solidFill>
                <a:srgbClr val="EAB37F"/>
              </a:solidFill>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A18C06EB-59C1-B54E-ABF3-42F7CE3A7842}"/>
                </a:ext>
              </a:extLst>
            </p:cNvPr>
            <p:cNvSpPr txBox="1"/>
            <p:nvPr/>
          </p:nvSpPr>
          <p:spPr>
            <a:xfrm>
              <a:off x="3256464" y="3798669"/>
              <a:ext cx="1539433" cy="369332"/>
            </a:xfrm>
            <a:prstGeom prst="rect">
              <a:avLst/>
            </a:prstGeom>
            <a:noFill/>
          </p:spPr>
          <p:txBody>
            <a:bodyPr wrap="square" rtlCol="0">
              <a:spAutoFit/>
            </a:bodyPr>
            <a:lstStyle/>
            <a:p>
              <a:pPr algn="ctr"/>
              <a:r>
                <a:rPr kumimoji="1" lang="ja-JP" altLang="en-US"/>
                <a:t>競争</a:t>
              </a:r>
            </a:p>
          </p:txBody>
        </p:sp>
        <mc:AlternateContent xmlns:mc="http://schemas.openxmlformats.org/markup-compatibility/2006" xmlns:a14="http://schemas.microsoft.com/office/drawing/2010/main">
          <mc:Choice Requires="a14">
            <p:sp>
              <p:nvSpPr>
                <p:cNvPr id="29" name="テキスト ボックス 28">
                  <a:extLst>
                    <a:ext uri="{FF2B5EF4-FFF2-40B4-BE49-F238E27FC236}">
                      <a16:creationId xmlns:a16="http://schemas.microsoft.com/office/drawing/2014/main" id="{34D82CFC-6F72-A04F-A566-42462BB3D4C5}"/>
                    </a:ext>
                  </a:extLst>
                </p:cNvPr>
                <p:cNvSpPr txBox="1"/>
                <p:nvPr/>
              </p:nvSpPr>
              <p:spPr>
                <a:xfrm>
                  <a:off x="3256463" y="4087659"/>
                  <a:ext cx="1539433"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[1.0,0.0]</m:t>
                        </m:r>
                      </m:oMath>
                    </m:oMathPara>
                  </a14:m>
                  <a:endParaRPr kumimoji="1" lang="ja-JP" altLang="en-US"/>
                </a:p>
              </p:txBody>
            </p:sp>
          </mc:Choice>
          <mc:Fallback xmlns="">
            <p:sp>
              <p:nvSpPr>
                <p:cNvPr id="29" name="テキスト ボックス 28">
                  <a:extLst>
                    <a:ext uri="{FF2B5EF4-FFF2-40B4-BE49-F238E27FC236}">
                      <a16:creationId xmlns:a16="http://schemas.microsoft.com/office/drawing/2014/main" id="{34D82CFC-6F72-A04F-A566-42462BB3D4C5}"/>
                    </a:ext>
                  </a:extLst>
                </p:cNvPr>
                <p:cNvSpPr txBox="1">
                  <a:spLocks noRot="1" noChangeAspect="1" noMove="1" noResize="1" noEditPoints="1" noAdjustHandles="1" noChangeArrowheads="1" noChangeShapeType="1" noTextEdit="1"/>
                </p:cNvSpPr>
                <p:nvPr/>
              </p:nvSpPr>
              <p:spPr>
                <a:xfrm>
                  <a:off x="3256463" y="4087659"/>
                  <a:ext cx="1539433" cy="369332"/>
                </a:xfrm>
                <a:prstGeom prst="rect">
                  <a:avLst/>
                </a:prstGeom>
                <a:blipFill>
                  <a:blip r:embed="rId7"/>
                  <a:stretch>
                    <a:fillRect b="-16667"/>
                  </a:stretch>
                </a:blipFill>
              </p:spPr>
              <p:txBody>
                <a:bodyPr/>
                <a:lstStyle/>
                <a:p>
                  <a:r>
                    <a:rPr lang="ja-JP" altLang="en-US">
                      <a:noFill/>
                    </a:rPr>
                    <a:t> </a:t>
                  </a:r>
                </a:p>
              </p:txBody>
            </p:sp>
          </mc:Fallback>
        </mc:AlternateContent>
      </p:grpSp>
      <p:grpSp>
        <p:nvGrpSpPr>
          <p:cNvPr id="30" name="グループ化 29">
            <a:extLst>
              <a:ext uri="{FF2B5EF4-FFF2-40B4-BE49-F238E27FC236}">
                <a16:creationId xmlns:a16="http://schemas.microsoft.com/office/drawing/2014/main" id="{80587428-C239-4245-93E6-BDFCF0C6AA59}"/>
              </a:ext>
            </a:extLst>
          </p:cNvPr>
          <p:cNvGrpSpPr/>
          <p:nvPr/>
        </p:nvGrpSpPr>
        <p:grpSpPr>
          <a:xfrm>
            <a:off x="163626" y="1160115"/>
            <a:ext cx="4026409" cy="680876"/>
            <a:chOff x="163626" y="1160115"/>
            <a:chExt cx="4026409" cy="680876"/>
          </a:xfrm>
        </p:grpSpPr>
        <p:cxnSp>
          <p:nvCxnSpPr>
            <p:cNvPr id="31" name="直線コネクタ 30">
              <a:extLst>
                <a:ext uri="{FF2B5EF4-FFF2-40B4-BE49-F238E27FC236}">
                  <a16:creationId xmlns:a16="http://schemas.microsoft.com/office/drawing/2014/main" id="{88099B39-C473-AA4E-9AA9-437159A36075}"/>
                </a:ext>
              </a:extLst>
            </p:cNvPr>
            <p:cNvCxnSpPr>
              <a:cxnSpLocks/>
            </p:cNvCxnSpPr>
            <p:nvPr userDrawn="1"/>
          </p:nvCxnSpPr>
          <p:spPr>
            <a:xfrm>
              <a:off x="163626" y="1699846"/>
              <a:ext cx="4026409"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2" name="正方形/長方形 31">
              <a:extLst>
                <a:ext uri="{FF2B5EF4-FFF2-40B4-BE49-F238E27FC236}">
                  <a16:creationId xmlns:a16="http://schemas.microsoft.com/office/drawing/2014/main" id="{32D90C07-887B-EF41-ADD0-379122F86B84}"/>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3" name="グループ化 32">
            <a:extLst>
              <a:ext uri="{FF2B5EF4-FFF2-40B4-BE49-F238E27FC236}">
                <a16:creationId xmlns:a16="http://schemas.microsoft.com/office/drawing/2014/main" id="{95AB70AD-1A49-EB4C-9063-85DA2EBD6226}"/>
              </a:ext>
            </a:extLst>
          </p:cNvPr>
          <p:cNvGrpSpPr/>
          <p:nvPr/>
        </p:nvGrpSpPr>
        <p:grpSpPr>
          <a:xfrm>
            <a:off x="7122260" y="3903012"/>
            <a:ext cx="1813148" cy="708075"/>
            <a:chOff x="3119607" y="3750198"/>
            <a:chExt cx="1813148" cy="708075"/>
          </a:xfrm>
        </p:grpSpPr>
        <p:cxnSp>
          <p:nvCxnSpPr>
            <p:cNvPr id="34" name="直線矢印コネクタ 33">
              <a:extLst>
                <a:ext uri="{FF2B5EF4-FFF2-40B4-BE49-F238E27FC236}">
                  <a16:creationId xmlns:a16="http://schemas.microsoft.com/office/drawing/2014/main" id="{61DAE481-D94E-7342-AFD1-99152610E7DF}"/>
                </a:ext>
              </a:extLst>
            </p:cNvPr>
            <p:cNvCxnSpPr/>
            <p:nvPr/>
          </p:nvCxnSpPr>
          <p:spPr>
            <a:xfrm>
              <a:off x="3119607" y="3750198"/>
              <a:ext cx="1813148" cy="0"/>
            </a:xfrm>
            <a:prstGeom prst="straightConnector1">
              <a:avLst/>
            </a:prstGeom>
            <a:ln w="57150">
              <a:solidFill>
                <a:srgbClr val="ABCFDB"/>
              </a:solidFill>
              <a:tailEnd type="triangle"/>
            </a:ln>
          </p:spPr>
          <p:style>
            <a:lnRef idx="1">
              <a:schemeClr val="accent1"/>
            </a:lnRef>
            <a:fillRef idx="0">
              <a:schemeClr val="accent1"/>
            </a:fillRef>
            <a:effectRef idx="0">
              <a:schemeClr val="accent1"/>
            </a:effectRef>
            <a:fontRef idx="minor">
              <a:schemeClr val="tx1"/>
            </a:fontRef>
          </p:style>
        </p:cxnSp>
        <p:sp>
          <p:nvSpPr>
            <p:cNvPr id="35" name="テキスト ボックス 34">
              <a:extLst>
                <a:ext uri="{FF2B5EF4-FFF2-40B4-BE49-F238E27FC236}">
                  <a16:creationId xmlns:a16="http://schemas.microsoft.com/office/drawing/2014/main" id="{4C5CF0EA-7CE8-D849-848E-364EACAC12F5}"/>
                </a:ext>
              </a:extLst>
            </p:cNvPr>
            <p:cNvSpPr txBox="1"/>
            <p:nvPr/>
          </p:nvSpPr>
          <p:spPr>
            <a:xfrm>
              <a:off x="3256464" y="3798669"/>
              <a:ext cx="1539433" cy="369332"/>
            </a:xfrm>
            <a:prstGeom prst="rect">
              <a:avLst/>
            </a:prstGeom>
            <a:noFill/>
          </p:spPr>
          <p:txBody>
            <a:bodyPr wrap="square" rtlCol="0">
              <a:spAutoFit/>
            </a:bodyPr>
            <a:lstStyle/>
            <a:p>
              <a:pPr algn="ctr"/>
              <a:r>
                <a:rPr kumimoji="1" lang="ja-JP" altLang="en-US"/>
                <a:t>順応</a:t>
              </a:r>
            </a:p>
          </p:txBody>
        </p:sp>
        <mc:AlternateContent xmlns:mc="http://schemas.openxmlformats.org/markup-compatibility/2006" xmlns:a14="http://schemas.microsoft.com/office/drawing/2010/main">
          <mc:Choice Requires="a14">
            <p:sp>
              <p:nvSpPr>
                <p:cNvPr id="36" name="テキスト ボックス 35">
                  <a:extLst>
                    <a:ext uri="{FF2B5EF4-FFF2-40B4-BE49-F238E27FC236}">
                      <a16:creationId xmlns:a16="http://schemas.microsoft.com/office/drawing/2014/main" id="{24AA0743-1755-3E4C-AD49-A34430B6BC71}"/>
                    </a:ext>
                  </a:extLst>
                </p:cNvPr>
                <p:cNvSpPr txBox="1"/>
                <p:nvPr/>
              </p:nvSpPr>
              <p:spPr>
                <a:xfrm>
                  <a:off x="3326437" y="4087659"/>
                  <a:ext cx="1399485" cy="37061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[0.0,1.0]</m:t>
                        </m:r>
                      </m:oMath>
                    </m:oMathPara>
                  </a14:m>
                  <a:endParaRPr kumimoji="1" lang="ja-JP" altLang="en-US"/>
                </a:p>
              </p:txBody>
            </p:sp>
          </mc:Choice>
          <mc:Fallback xmlns="">
            <p:sp>
              <p:nvSpPr>
                <p:cNvPr id="36" name="テキスト ボックス 35">
                  <a:extLst>
                    <a:ext uri="{FF2B5EF4-FFF2-40B4-BE49-F238E27FC236}">
                      <a16:creationId xmlns:a16="http://schemas.microsoft.com/office/drawing/2014/main" id="{24AA0743-1755-3E4C-AD49-A34430B6BC71}"/>
                    </a:ext>
                  </a:extLst>
                </p:cNvPr>
                <p:cNvSpPr txBox="1">
                  <a:spLocks noRot="1" noChangeAspect="1" noMove="1" noResize="1" noEditPoints="1" noAdjustHandles="1" noChangeArrowheads="1" noChangeShapeType="1" noTextEdit="1"/>
                </p:cNvSpPr>
                <p:nvPr/>
              </p:nvSpPr>
              <p:spPr>
                <a:xfrm>
                  <a:off x="3326437" y="4087659"/>
                  <a:ext cx="1399485" cy="370614"/>
                </a:xfrm>
                <a:prstGeom prst="rect">
                  <a:avLst/>
                </a:prstGeom>
                <a:blipFill>
                  <a:blip r:embed="rId8"/>
                  <a:stretch>
                    <a:fillRect b="-16667"/>
                  </a:stretch>
                </a:blipFill>
              </p:spPr>
              <p:txBody>
                <a:bodyPr/>
                <a:lstStyle/>
                <a:p>
                  <a:r>
                    <a:rPr lang="ja-JP" altLang="en-US">
                      <a:noFill/>
                    </a:rPr>
                    <a:t> </a:t>
                  </a:r>
                </a:p>
              </p:txBody>
            </p:sp>
          </mc:Fallback>
        </mc:AlternateContent>
      </p:grpSp>
    </p:spTree>
    <p:extLst>
      <p:ext uri="{BB962C8B-B14F-4D97-AF65-F5344CB8AC3E}">
        <p14:creationId xmlns:p14="http://schemas.microsoft.com/office/powerpoint/2010/main" val="3271237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en-US" altLang="ja-JP" dirty="0"/>
              <a:t>TKI</a:t>
            </a:r>
            <a:endParaRPr kumimoji="1" lang="ja-JP" altLang="en-US"/>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2020/7/10</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10</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2</a:t>
            </a:r>
            <a:endParaRPr kumimoji="1" lang="ja-JP" altLang="en-US"/>
          </a:p>
        </p:txBody>
      </p:sp>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5218602" cy="680876"/>
            <a:chOff x="163626" y="1160115"/>
            <a:chExt cx="5218602"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5218602"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エージェントの戦略まとめ</a:t>
            </a:r>
          </a:p>
        </p:txBody>
      </p:sp>
      <p:sp>
        <p:nvSpPr>
          <p:cNvPr id="9" name="コンテンツ プレースホルダー 8">
            <a:extLst>
              <a:ext uri="{FF2B5EF4-FFF2-40B4-BE49-F238E27FC236}">
                <a16:creationId xmlns:a16="http://schemas.microsoft.com/office/drawing/2014/main" id="{E2030744-C386-0249-92DD-23CBE73DCCF0}"/>
              </a:ext>
            </a:extLst>
          </p:cNvPr>
          <p:cNvSpPr>
            <a:spLocks noGrp="1"/>
          </p:cNvSpPr>
          <p:nvPr>
            <p:ph idx="1"/>
          </p:nvPr>
        </p:nvSpPr>
        <p:spPr/>
        <p:txBody>
          <a:bodyPr/>
          <a:lstStyle/>
          <a:p>
            <a:r>
              <a:rPr lang="ja-JP" altLang="en-US"/>
              <a:t>相手の</a:t>
            </a:r>
            <a:r>
              <a:rPr lang="en-US" altLang="ja-JP" dirty="0"/>
              <a:t>Offer</a:t>
            </a:r>
            <a:r>
              <a:rPr lang="ja-JP" altLang="en-US"/>
              <a:t>内容・行動などから</a:t>
            </a:r>
            <a:br>
              <a:rPr lang="en-US" altLang="ja-JP" dirty="0"/>
            </a:br>
            <a:r>
              <a:rPr lang="ja-JP" altLang="en-US"/>
              <a:t>相手の</a:t>
            </a:r>
            <a:r>
              <a:rPr lang="ja-JP" altLang="en-US">
                <a:solidFill>
                  <a:schemeClr val="accent1"/>
                </a:solidFill>
              </a:rPr>
              <a:t>積極性・協調性の値を求める</a:t>
            </a:r>
            <a:endParaRPr lang="en-US" altLang="ja-JP" dirty="0">
              <a:solidFill>
                <a:schemeClr val="accent1"/>
              </a:solidFill>
            </a:endParaRPr>
          </a:p>
          <a:p>
            <a:pPr lvl="1"/>
            <a:r>
              <a:rPr lang="ja-JP" altLang="en-US"/>
              <a:t>移動平均を用いる</a:t>
            </a:r>
            <a:endParaRPr lang="en-US" altLang="ja-JP" dirty="0"/>
          </a:p>
          <a:p>
            <a:r>
              <a:rPr lang="ja-JP" altLang="en-US"/>
              <a:t>算出した</a:t>
            </a:r>
            <a:r>
              <a:rPr lang="en-US" altLang="ja-JP" dirty="0"/>
              <a:t>2</a:t>
            </a:r>
            <a:r>
              <a:rPr lang="ja-JP" altLang="en-US"/>
              <a:t>つの尺度の値と</a:t>
            </a:r>
            <a:br>
              <a:rPr lang="en-US" altLang="ja-JP" dirty="0"/>
            </a:br>
            <a:r>
              <a:rPr lang="ja-JP" altLang="en-US"/>
              <a:t>各カテゴリの</a:t>
            </a:r>
            <a:r>
              <a:rPr lang="ja-JP" altLang="en-US">
                <a:solidFill>
                  <a:schemeClr val="accent1"/>
                </a:solidFill>
              </a:rPr>
              <a:t>ベクトルの距離を計算</a:t>
            </a:r>
            <a:endParaRPr lang="en-US" altLang="ja-JP" dirty="0">
              <a:solidFill>
                <a:schemeClr val="accent1"/>
              </a:solidFill>
            </a:endParaRPr>
          </a:p>
          <a:p>
            <a:r>
              <a:rPr lang="ja-JP" altLang="en-US"/>
              <a:t>距離を元に</a:t>
            </a:r>
            <a:r>
              <a:rPr lang="ja-JP" altLang="en-US">
                <a:solidFill>
                  <a:schemeClr val="accent2"/>
                </a:solidFill>
              </a:rPr>
              <a:t>譲歩速度などを変化</a:t>
            </a:r>
            <a:endParaRPr lang="en-US" altLang="ja-JP" dirty="0">
              <a:solidFill>
                <a:schemeClr val="accent2"/>
              </a:solidFill>
            </a:endParaRPr>
          </a:p>
          <a:p>
            <a:endParaRPr lang="ja-JP" altLang="en-US"/>
          </a:p>
        </p:txBody>
      </p:sp>
      <p:grpSp>
        <p:nvGrpSpPr>
          <p:cNvPr id="54" name="グループ化 53">
            <a:extLst>
              <a:ext uri="{FF2B5EF4-FFF2-40B4-BE49-F238E27FC236}">
                <a16:creationId xmlns:a16="http://schemas.microsoft.com/office/drawing/2014/main" id="{2165357C-4927-174B-A170-E6830385DABB}"/>
              </a:ext>
            </a:extLst>
          </p:cNvPr>
          <p:cNvGrpSpPr/>
          <p:nvPr/>
        </p:nvGrpSpPr>
        <p:grpSpPr>
          <a:xfrm>
            <a:off x="398611" y="4444355"/>
            <a:ext cx="7758865" cy="1963886"/>
            <a:chOff x="236563" y="4444355"/>
            <a:chExt cx="7758865" cy="1963886"/>
          </a:xfrm>
        </p:grpSpPr>
        <p:grpSp>
          <p:nvGrpSpPr>
            <p:cNvPr id="8" name="グループ化 7">
              <a:extLst>
                <a:ext uri="{FF2B5EF4-FFF2-40B4-BE49-F238E27FC236}">
                  <a16:creationId xmlns:a16="http://schemas.microsoft.com/office/drawing/2014/main" id="{9065FB69-4CE3-514C-9F03-5515861C1717}"/>
                </a:ext>
              </a:extLst>
            </p:cNvPr>
            <p:cNvGrpSpPr/>
            <p:nvPr/>
          </p:nvGrpSpPr>
          <p:grpSpPr>
            <a:xfrm>
              <a:off x="3504593" y="5114930"/>
              <a:ext cx="1994463" cy="1016312"/>
              <a:chOff x="3369630" y="5195061"/>
              <a:chExt cx="1994463" cy="1016312"/>
            </a:xfrm>
          </p:grpSpPr>
          <p:cxnSp>
            <p:nvCxnSpPr>
              <p:cNvPr id="34" name="直線矢印コネクタ 33">
                <a:extLst>
                  <a:ext uri="{FF2B5EF4-FFF2-40B4-BE49-F238E27FC236}">
                    <a16:creationId xmlns:a16="http://schemas.microsoft.com/office/drawing/2014/main" id="{9E583E9C-DB90-884C-99DF-09A11BC1D48E}"/>
                  </a:ext>
                </a:extLst>
              </p:cNvPr>
              <p:cNvCxnSpPr/>
              <p:nvPr/>
            </p:nvCxnSpPr>
            <p:spPr>
              <a:xfrm>
                <a:off x="3369630" y="5665274"/>
                <a:ext cx="1994463" cy="0"/>
              </a:xfrm>
              <a:prstGeom prst="straightConnector1">
                <a:avLst/>
              </a:prstGeom>
              <a:ln w="57150">
                <a:solidFill>
                  <a:srgbClr val="EAB37F"/>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矢印コネクタ 37">
                <a:extLst>
                  <a:ext uri="{FF2B5EF4-FFF2-40B4-BE49-F238E27FC236}">
                    <a16:creationId xmlns:a16="http://schemas.microsoft.com/office/drawing/2014/main" id="{12B7248F-DDEE-FE4A-B38E-EF63F9BF85B3}"/>
                  </a:ext>
                </a:extLst>
              </p:cNvPr>
              <p:cNvCxnSpPr>
                <a:cxnSpLocks/>
              </p:cNvCxnSpPr>
              <p:nvPr/>
            </p:nvCxnSpPr>
            <p:spPr>
              <a:xfrm flipV="1">
                <a:off x="3381205" y="5195061"/>
                <a:ext cx="878278" cy="483976"/>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627BEEDC-207D-C44D-95A9-8A6F91AE249E}"/>
                  </a:ext>
                </a:extLst>
              </p:cNvPr>
              <p:cNvSpPr txBox="1"/>
              <p:nvPr/>
            </p:nvSpPr>
            <p:spPr>
              <a:xfrm>
                <a:off x="3483386" y="5842041"/>
                <a:ext cx="1766949" cy="369332"/>
              </a:xfrm>
              <a:prstGeom prst="rect">
                <a:avLst/>
              </a:prstGeom>
              <a:noFill/>
            </p:spPr>
            <p:txBody>
              <a:bodyPr wrap="square" rtlCol="0">
                <a:spAutoFit/>
              </a:bodyPr>
              <a:lstStyle/>
              <a:p>
                <a:pPr algn="ctr"/>
                <a:r>
                  <a:rPr kumimoji="1" lang="ja-JP" altLang="en-US"/>
                  <a:t>距離を計算</a:t>
                </a:r>
              </a:p>
            </p:txBody>
          </p:sp>
        </p:grpSp>
        <p:grpSp>
          <p:nvGrpSpPr>
            <p:cNvPr id="16" name="グループ化 15">
              <a:extLst>
                <a:ext uri="{FF2B5EF4-FFF2-40B4-BE49-F238E27FC236}">
                  <a16:creationId xmlns:a16="http://schemas.microsoft.com/office/drawing/2014/main" id="{FB165451-849D-2B49-B364-C5F08F4247C9}"/>
                </a:ext>
              </a:extLst>
            </p:cNvPr>
            <p:cNvGrpSpPr/>
            <p:nvPr/>
          </p:nvGrpSpPr>
          <p:grpSpPr>
            <a:xfrm>
              <a:off x="236563" y="4814410"/>
              <a:ext cx="2704638" cy="1593831"/>
              <a:chOff x="217031" y="4814410"/>
              <a:chExt cx="2704638" cy="1593831"/>
            </a:xfrm>
          </p:grpSpPr>
          <p:cxnSp>
            <p:nvCxnSpPr>
              <p:cNvPr id="41" name="直線矢印コネクタ 40">
                <a:extLst>
                  <a:ext uri="{FF2B5EF4-FFF2-40B4-BE49-F238E27FC236}">
                    <a16:creationId xmlns:a16="http://schemas.microsoft.com/office/drawing/2014/main" id="{23D81F44-AB32-3647-92FF-C03E93EBE9F5}"/>
                  </a:ext>
                </a:extLst>
              </p:cNvPr>
              <p:cNvCxnSpPr>
                <a:cxnSpLocks/>
              </p:cNvCxnSpPr>
              <p:nvPr/>
            </p:nvCxnSpPr>
            <p:spPr>
              <a:xfrm flipV="1">
                <a:off x="1884604" y="5101167"/>
                <a:ext cx="878278" cy="483976"/>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2234BD33-AC73-2047-8967-E43F42409BAC}"/>
                  </a:ext>
                </a:extLst>
              </p:cNvPr>
              <p:cNvSpPr txBox="1"/>
              <p:nvPr/>
            </p:nvSpPr>
            <p:spPr>
              <a:xfrm>
                <a:off x="217031" y="5761910"/>
                <a:ext cx="2704638" cy="646331"/>
              </a:xfrm>
              <a:prstGeom prst="rect">
                <a:avLst/>
              </a:prstGeom>
              <a:noFill/>
            </p:spPr>
            <p:txBody>
              <a:bodyPr wrap="square" rtlCol="0">
                <a:spAutoFit/>
              </a:bodyPr>
              <a:lstStyle/>
              <a:p>
                <a:pPr algn="ctr"/>
                <a:r>
                  <a:rPr kumimoji="1" lang="ja-JP" altLang="en-US"/>
                  <a:t>積極性・協調性を推定</a:t>
                </a:r>
              </a:p>
            </p:txBody>
          </p:sp>
          <p:sp>
            <p:nvSpPr>
              <p:cNvPr id="10" name="三角形 9">
                <a:extLst>
                  <a:ext uri="{FF2B5EF4-FFF2-40B4-BE49-F238E27FC236}">
                    <a16:creationId xmlns:a16="http://schemas.microsoft.com/office/drawing/2014/main" id="{18949641-2187-F240-8DAD-8825D7C150CC}"/>
                  </a:ext>
                </a:extLst>
              </p:cNvPr>
              <p:cNvSpPr/>
              <p:nvPr/>
            </p:nvSpPr>
            <p:spPr>
              <a:xfrm rot="5400000">
                <a:off x="1510580" y="5227874"/>
                <a:ext cx="296135" cy="12757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5" name="グループ化 14">
                <a:extLst>
                  <a:ext uri="{FF2B5EF4-FFF2-40B4-BE49-F238E27FC236}">
                    <a16:creationId xmlns:a16="http://schemas.microsoft.com/office/drawing/2014/main" id="{9E63192B-E0B8-CC41-8960-CB2D243F5B00}"/>
                  </a:ext>
                </a:extLst>
              </p:cNvPr>
              <p:cNvGrpSpPr/>
              <p:nvPr/>
            </p:nvGrpSpPr>
            <p:grpSpPr>
              <a:xfrm>
                <a:off x="616773" y="4814410"/>
                <a:ext cx="861781" cy="947500"/>
                <a:chOff x="674235" y="4814508"/>
                <a:chExt cx="861781" cy="947500"/>
              </a:xfrm>
            </p:grpSpPr>
            <p:sp>
              <p:nvSpPr>
                <p:cNvPr id="14" name="メモ 13">
                  <a:extLst>
                    <a:ext uri="{FF2B5EF4-FFF2-40B4-BE49-F238E27FC236}">
                      <a16:creationId xmlns:a16="http://schemas.microsoft.com/office/drawing/2014/main" id="{503DC9A0-EF36-AF4F-AF5B-D83DF52730DC}"/>
                    </a:ext>
                  </a:extLst>
                </p:cNvPr>
                <p:cNvSpPr/>
                <p:nvPr/>
              </p:nvSpPr>
              <p:spPr>
                <a:xfrm rot="10800000">
                  <a:off x="763672" y="4814508"/>
                  <a:ext cx="682907" cy="947500"/>
                </a:xfrm>
                <a:prstGeom prst="foldedCorner">
                  <a:avLst>
                    <a:gd name="adj" fmla="val 32597"/>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テキスト ボックス 42">
                  <a:extLst>
                    <a:ext uri="{FF2B5EF4-FFF2-40B4-BE49-F238E27FC236}">
                      <a16:creationId xmlns:a16="http://schemas.microsoft.com/office/drawing/2014/main" id="{71842217-B5CD-E14A-BAAE-83F80AC392CB}"/>
                    </a:ext>
                  </a:extLst>
                </p:cNvPr>
                <p:cNvSpPr txBox="1"/>
                <p:nvPr/>
              </p:nvSpPr>
              <p:spPr>
                <a:xfrm>
                  <a:off x="674235" y="5172252"/>
                  <a:ext cx="861781" cy="369332"/>
                </a:xfrm>
                <a:prstGeom prst="rect">
                  <a:avLst/>
                </a:prstGeom>
                <a:noFill/>
              </p:spPr>
              <p:txBody>
                <a:bodyPr wrap="square" rtlCol="0">
                  <a:spAutoFit/>
                </a:bodyPr>
                <a:lstStyle/>
                <a:p>
                  <a:pPr algn="ctr"/>
                  <a:r>
                    <a:rPr kumimoji="1" lang="en-US" altLang="ja-JP" dirty="0"/>
                    <a:t>Offer</a:t>
                  </a:r>
                  <a:endParaRPr kumimoji="1" lang="ja-JP" altLang="en-US"/>
                </a:p>
              </p:txBody>
            </p:sp>
          </p:grpSp>
        </p:grpSp>
        <p:sp>
          <p:nvSpPr>
            <p:cNvPr id="17" name="右矢印 16">
              <a:extLst>
                <a:ext uri="{FF2B5EF4-FFF2-40B4-BE49-F238E27FC236}">
                  <a16:creationId xmlns:a16="http://schemas.microsoft.com/office/drawing/2014/main" id="{B4942326-2527-5F4D-8CFC-5F502952CC8A}"/>
                </a:ext>
              </a:extLst>
            </p:cNvPr>
            <p:cNvSpPr/>
            <p:nvPr/>
          </p:nvSpPr>
          <p:spPr>
            <a:xfrm>
              <a:off x="3082921" y="5218468"/>
              <a:ext cx="194979" cy="29070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右矢印 44">
              <a:extLst>
                <a:ext uri="{FF2B5EF4-FFF2-40B4-BE49-F238E27FC236}">
                  <a16:creationId xmlns:a16="http://schemas.microsoft.com/office/drawing/2014/main" id="{9FF18A30-A3C7-1E47-B8A4-C9BBA76EB2BB}"/>
                </a:ext>
              </a:extLst>
            </p:cNvPr>
            <p:cNvSpPr/>
            <p:nvPr/>
          </p:nvSpPr>
          <p:spPr>
            <a:xfrm>
              <a:off x="5815896" y="5218468"/>
              <a:ext cx="194979" cy="29070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53" name="グループ化 52">
              <a:extLst>
                <a:ext uri="{FF2B5EF4-FFF2-40B4-BE49-F238E27FC236}">
                  <a16:creationId xmlns:a16="http://schemas.microsoft.com/office/drawing/2014/main" id="{8BB40CDB-767C-F846-81FC-D50EEBDEDF91}"/>
                </a:ext>
              </a:extLst>
            </p:cNvPr>
            <p:cNvGrpSpPr/>
            <p:nvPr/>
          </p:nvGrpSpPr>
          <p:grpSpPr>
            <a:xfrm>
              <a:off x="6051784" y="4444355"/>
              <a:ext cx="1943644" cy="1963886"/>
              <a:chOff x="6051784" y="4444355"/>
              <a:chExt cx="1943644" cy="1963886"/>
            </a:xfrm>
          </p:grpSpPr>
          <p:grpSp>
            <p:nvGrpSpPr>
              <p:cNvPr id="47" name="グループ化 46">
                <a:extLst>
                  <a:ext uri="{FF2B5EF4-FFF2-40B4-BE49-F238E27FC236}">
                    <a16:creationId xmlns:a16="http://schemas.microsoft.com/office/drawing/2014/main" id="{E11C1039-7584-2B4C-9170-7D257ECA1741}"/>
                  </a:ext>
                </a:extLst>
              </p:cNvPr>
              <p:cNvGrpSpPr/>
              <p:nvPr/>
            </p:nvGrpSpPr>
            <p:grpSpPr>
              <a:xfrm>
                <a:off x="6388405" y="4444355"/>
                <a:ext cx="1270404" cy="1270404"/>
                <a:chOff x="6886936" y="4676172"/>
                <a:chExt cx="1270404" cy="1270404"/>
              </a:xfrm>
            </p:grpSpPr>
            <p:cxnSp>
              <p:nvCxnSpPr>
                <p:cNvPr id="19" name="直線コネクタ 18">
                  <a:extLst>
                    <a:ext uri="{FF2B5EF4-FFF2-40B4-BE49-F238E27FC236}">
                      <a16:creationId xmlns:a16="http://schemas.microsoft.com/office/drawing/2014/main" id="{D49C790C-D481-A24A-9980-4FEB10221937}"/>
                    </a:ext>
                  </a:extLst>
                </p:cNvPr>
                <p:cNvCxnSpPr/>
                <p:nvPr/>
              </p:nvCxnSpPr>
              <p:spPr>
                <a:xfrm>
                  <a:off x="6898511" y="4676172"/>
                  <a:ext cx="0" cy="127040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8C968865-7C68-CB40-8073-AB077F3C966A}"/>
                    </a:ext>
                  </a:extLst>
                </p:cNvPr>
                <p:cNvCxnSpPr>
                  <a:cxnSpLocks/>
                </p:cNvCxnSpPr>
                <p:nvPr/>
              </p:nvCxnSpPr>
              <p:spPr>
                <a:xfrm rot="16200000">
                  <a:off x="7522138" y="5299799"/>
                  <a:ext cx="0" cy="127040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9" name="フリーフォーム 48">
                <a:extLst>
                  <a:ext uri="{FF2B5EF4-FFF2-40B4-BE49-F238E27FC236}">
                    <a16:creationId xmlns:a16="http://schemas.microsoft.com/office/drawing/2014/main" id="{9797452E-93E4-384C-A78F-0C76A4DB72E2}"/>
                  </a:ext>
                </a:extLst>
              </p:cNvPr>
              <p:cNvSpPr/>
              <p:nvPr/>
            </p:nvSpPr>
            <p:spPr>
              <a:xfrm>
                <a:off x="6412375" y="4814204"/>
                <a:ext cx="1180617" cy="313381"/>
              </a:xfrm>
              <a:custGeom>
                <a:avLst/>
                <a:gdLst>
                  <a:gd name="connsiteX0" fmla="*/ 0 w 1180617"/>
                  <a:gd name="connsiteY0" fmla="*/ 12439 h 313381"/>
                  <a:gd name="connsiteX1" fmla="*/ 636607 w 1180617"/>
                  <a:gd name="connsiteY1" fmla="*/ 35588 h 313381"/>
                  <a:gd name="connsiteX2" fmla="*/ 1180617 w 1180617"/>
                  <a:gd name="connsiteY2" fmla="*/ 313381 h 313381"/>
                </a:gdLst>
                <a:ahLst/>
                <a:cxnLst>
                  <a:cxn ang="0">
                    <a:pos x="connsiteX0" y="connsiteY0"/>
                  </a:cxn>
                  <a:cxn ang="0">
                    <a:pos x="connsiteX1" y="connsiteY1"/>
                  </a:cxn>
                  <a:cxn ang="0">
                    <a:pos x="connsiteX2" y="connsiteY2"/>
                  </a:cxn>
                </a:cxnLst>
                <a:rect l="l" t="t" r="r" b="b"/>
                <a:pathLst>
                  <a:path w="1180617" h="313381">
                    <a:moveTo>
                      <a:pt x="0" y="12439"/>
                    </a:moveTo>
                    <a:cubicBezTo>
                      <a:pt x="219919" y="-1065"/>
                      <a:pt x="439838" y="-14569"/>
                      <a:pt x="636607" y="35588"/>
                    </a:cubicBezTo>
                    <a:cubicBezTo>
                      <a:pt x="833376" y="85745"/>
                      <a:pt x="1006996" y="199563"/>
                      <a:pt x="1180617" y="313381"/>
                    </a:cubicBezTo>
                  </a:path>
                </a:pathLst>
              </a:cu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フリーフォーム 50">
                <a:extLst>
                  <a:ext uri="{FF2B5EF4-FFF2-40B4-BE49-F238E27FC236}">
                    <a16:creationId xmlns:a16="http://schemas.microsoft.com/office/drawing/2014/main" id="{C576183D-2D5C-7A4C-9BC3-1A9E844828EA}"/>
                  </a:ext>
                </a:extLst>
              </p:cNvPr>
              <p:cNvSpPr/>
              <p:nvPr/>
            </p:nvSpPr>
            <p:spPr>
              <a:xfrm>
                <a:off x="6412375" y="4849792"/>
                <a:ext cx="1192192" cy="405114"/>
              </a:xfrm>
              <a:custGeom>
                <a:avLst/>
                <a:gdLst>
                  <a:gd name="connsiteX0" fmla="*/ 0 w 1192192"/>
                  <a:gd name="connsiteY0" fmla="*/ 0 h 405114"/>
                  <a:gd name="connsiteX1" fmla="*/ 775503 w 1192192"/>
                  <a:gd name="connsiteY1" fmla="*/ 150471 h 405114"/>
                  <a:gd name="connsiteX2" fmla="*/ 1192192 w 1192192"/>
                  <a:gd name="connsiteY2" fmla="*/ 405114 h 405114"/>
                </a:gdLst>
                <a:ahLst/>
                <a:cxnLst>
                  <a:cxn ang="0">
                    <a:pos x="connsiteX0" y="connsiteY0"/>
                  </a:cxn>
                  <a:cxn ang="0">
                    <a:pos x="connsiteX1" y="connsiteY1"/>
                  </a:cxn>
                  <a:cxn ang="0">
                    <a:pos x="connsiteX2" y="connsiteY2"/>
                  </a:cxn>
                </a:cxnLst>
                <a:rect l="l" t="t" r="r" b="b"/>
                <a:pathLst>
                  <a:path w="1192192" h="405114">
                    <a:moveTo>
                      <a:pt x="0" y="0"/>
                    </a:moveTo>
                    <a:cubicBezTo>
                      <a:pt x="288402" y="41476"/>
                      <a:pt x="576804" y="82952"/>
                      <a:pt x="775503" y="150471"/>
                    </a:cubicBezTo>
                    <a:cubicBezTo>
                      <a:pt x="974202" y="217990"/>
                      <a:pt x="1083197" y="311552"/>
                      <a:pt x="1192192" y="405114"/>
                    </a:cubicBezTo>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テキスト ボックス 51">
                <a:extLst>
                  <a:ext uri="{FF2B5EF4-FFF2-40B4-BE49-F238E27FC236}">
                    <a16:creationId xmlns:a16="http://schemas.microsoft.com/office/drawing/2014/main" id="{1A01385F-3EAD-0E4A-8145-56BB2A51EBE7}"/>
                  </a:ext>
                </a:extLst>
              </p:cNvPr>
              <p:cNvSpPr txBox="1"/>
              <p:nvPr/>
            </p:nvSpPr>
            <p:spPr>
              <a:xfrm>
                <a:off x="6051784" y="5761910"/>
                <a:ext cx="1943644" cy="646331"/>
              </a:xfrm>
              <a:prstGeom prst="rect">
                <a:avLst/>
              </a:prstGeom>
              <a:noFill/>
            </p:spPr>
            <p:txBody>
              <a:bodyPr wrap="square" rtlCol="0">
                <a:spAutoFit/>
              </a:bodyPr>
              <a:lstStyle/>
              <a:p>
                <a:pPr algn="ctr"/>
                <a:r>
                  <a:rPr kumimoji="1" lang="ja-JP" altLang="en-US"/>
                  <a:t>譲歩速度の変更</a:t>
                </a:r>
              </a:p>
            </p:txBody>
          </p:sp>
        </p:grpSp>
      </p:grpSp>
      <p:pic>
        <p:nvPicPr>
          <p:cNvPr id="36" name="図 35">
            <a:extLst>
              <a:ext uri="{FF2B5EF4-FFF2-40B4-BE49-F238E27FC236}">
                <a16:creationId xmlns:a16="http://schemas.microsoft.com/office/drawing/2014/main" id="{F19E9765-88FB-7C46-84B8-E05BB0CAFEED}"/>
              </a:ext>
            </a:extLst>
          </p:cNvPr>
          <p:cNvPicPr>
            <a:picLocks noChangeAspect="1"/>
          </p:cNvPicPr>
          <p:nvPr/>
        </p:nvPicPr>
        <p:blipFill>
          <a:blip r:embed="rId4"/>
          <a:stretch>
            <a:fillRect/>
          </a:stretch>
        </p:blipFill>
        <p:spPr>
          <a:xfrm>
            <a:off x="6847144" y="1030556"/>
            <a:ext cx="2222334" cy="2750219"/>
          </a:xfrm>
          <a:prstGeom prst="rect">
            <a:avLst/>
          </a:prstGeom>
        </p:spPr>
      </p:pic>
    </p:spTree>
    <p:extLst>
      <p:ext uri="{BB962C8B-B14F-4D97-AF65-F5344CB8AC3E}">
        <p14:creationId xmlns:p14="http://schemas.microsoft.com/office/powerpoint/2010/main" val="37447865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kumimoji="1" lang="en-US" altLang="ja-JP" dirty="0"/>
              <a:t>TKI</a:t>
            </a: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p:txBody>
              <a:bodyPr/>
              <a:lstStyle/>
              <a:p>
                <a:r>
                  <a:rPr lang="ja-JP" altLang="en-US"/>
                  <a:t>譲歩速度</a:t>
                </a:r>
                <a:endParaRPr lang="en-US" altLang="ja-JP" dirty="0"/>
              </a:p>
              <a:p>
                <a:pPr lvl="1"/>
                <a14:m>
                  <m:oMath xmlns:m="http://schemas.openxmlformats.org/officeDocument/2006/math">
                    <m:r>
                      <a:rPr lang="ja-JP" altLang="en-US" b="0" i="1" dirty="0">
                        <a:latin typeface="Cambria Math" panose="02040503050406030204" pitchFamily="18" charset="0"/>
                      </a:rPr>
                      <m:t>競争</m:t>
                    </m:r>
                    <m:r>
                      <a:rPr lang="en-US" altLang="ja-JP" b="0" i="0" smtClean="0">
                        <a:latin typeface="Cambria Math" panose="02040503050406030204" pitchFamily="18" charset="0"/>
                      </a:rPr>
                      <m:t>&gt;</m:t>
                    </m:r>
                    <m:r>
                      <a:rPr lang="ja-JP" altLang="en-US" i="1">
                        <a:latin typeface="Cambria Math" panose="02040503050406030204" pitchFamily="18" charset="0"/>
                      </a:rPr>
                      <m:t>回避</m:t>
                    </m:r>
                    <m:r>
                      <a:rPr lang="en-US" altLang="ja-JP" b="0" i="1" smtClean="0">
                        <a:latin typeface="Cambria Math" panose="02040503050406030204" pitchFamily="18" charset="0"/>
                      </a:rPr>
                      <m:t>≥</m:t>
                    </m:r>
                    <m:r>
                      <a:rPr lang="ja-JP" altLang="en-US" i="1">
                        <a:latin typeface="Cambria Math" panose="02040503050406030204" pitchFamily="18" charset="0"/>
                      </a:rPr>
                      <m:t>共存</m:t>
                    </m:r>
                    <m:r>
                      <a:rPr lang="en-US" altLang="ja-JP" i="1">
                        <a:latin typeface="Cambria Math" panose="02040503050406030204" pitchFamily="18" charset="0"/>
                      </a:rPr>
                      <m:t>&gt;</m:t>
                    </m:r>
                    <m:r>
                      <a:rPr lang="ja-JP" altLang="en-US" i="1">
                        <a:latin typeface="Cambria Math" panose="02040503050406030204" pitchFamily="18" charset="0"/>
                      </a:rPr>
                      <m:t>妥協</m:t>
                    </m:r>
                    <m:r>
                      <a:rPr lang="en-US" altLang="ja-JP" b="0" i="1" smtClean="0">
                        <a:latin typeface="Cambria Math" panose="02040503050406030204" pitchFamily="18" charset="0"/>
                      </a:rPr>
                      <m:t>&gt;</m:t>
                    </m:r>
                    <m:r>
                      <a:rPr lang="ja-JP" altLang="en-US" i="1">
                        <a:latin typeface="Cambria Math" panose="02040503050406030204" pitchFamily="18" charset="0"/>
                      </a:rPr>
                      <m:t>適応</m:t>
                    </m:r>
                  </m:oMath>
                </a14:m>
                <a:endParaRPr lang="en-US" altLang="ja-JP" dirty="0"/>
              </a:p>
              <a:p>
                <a:r>
                  <a:rPr lang="en-US" altLang="ja-JP" dirty="0"/>
                  <a:t>Offer</a:t>
                </a:r>
                <a:r>
                  <a:rPr lang="ja-JP" altLang="en-US"/>
                  <a:t>のパターン</a:t>
                </a:r>
                <a:endParaRPr lang="en-US" altLang="ja-JP" dirty="0"/>
              </a:p>
              <a:p>
                <a:pPr lvl="1"/>
                <a14:m>
                  <m:oMath xmlns:m="http://schemas.openxmlformats.org/officeDocument/2006/math">
                    <m:r>
                      <a:rPr lang="ja-JP" altLang="en-US" i="1" smtClean="0">
                        <a:latin typeface="Cambria Math" panose="02040503050406030204" pitchFamily="18" charset="0"/>
                      </a:rPr>
                      <m:t>回避</m:t>
                    </m:r>
                    <m:r>
                      <a:rPr lang="en-US" altLang="ja-JP" i="1">
                        <a:latin typeface="Cambria Math" panose="02040503050406030204" pitchFamily="18" charset="0"/>
                      </a:rPr>
                      <m:t>≥</m:t>
                    </m:r>
                    <m:r>
                      <a:rPr lang="ja-JP" altLang="en-US" i="1">
                        <a:latin typeface="Cambria Math" panose="02040503050406030204" pitchFamily="18" charset="0"/>
                      </a:rPr>
                      <m:t>適応</m:t>
                    </m:r>
                    <m:r>
                      <a:rPr lang="en-US" altLang="ja-JP" i="1">
                        <a:latin typeface="Cambria Math" panose="02040503050406030204" pitchFamily="18" charset="0"/>
                      </a:rPr>
                      <m:t>&gt;</m:t>
                    </m:r>
                    <m:r>
                      <a:rPr lang="ja-JP" altLang="en-US" i="1">
                        <a:latin typeface="Cambria Math" panose="02040503050406030204" pitchFamily="18" charset="0"/>
                      </a:rPr>
                      <m:t>妥協</m:t>
                    </m:r>
                    <m:r>
                      <a:rPr lang="en-US" altLang="ja-JP" i="1">
                        <a:latin typeface="Cambria Math" panose="02040503050406030204" pitchFamily="18" charset="0"/>
                      </a:rPr>
                      <m:t>&gt;</m:t>
                    </m:r>
                    <m:r>
                      <a:rPr lang="ja-JP" altLang="en-US" i="1">
                        <a:latin typeface="Cambria Math" panose="02040503050406030204" pitchFamily="18" charset="0"/>
                      </a:rPr>
                      <m:t>競争</m:t>
                    </m:r>
                    <m:r>
                      <a:rPr lang="en-US" altLang="ja-JP" i="1">
                        <a:latin typeface="Cambria Math" panose="02040503050406030204" pitchFamily="18" charset="0"/>
                      </a:rPr>
                      <m:t>≥</m:t>
                    </m:r>
                    <m:r>
                      <a:rPr lang="ja-JP" altLang="en-US" i="1">
                        <a:latin typeface="Cambria Math" panose="02040503050406030204" pitchFamily="18" charset="0"/>
                      </a:rPr>
                      <m:t>共存</m:t>
                    </m:r>
                  </m:oMath>
                </a14:m>
                <a:endParaRPr lang="en-US" altLang="ja-JP" dirty="0"/>
              </a:p>
              <a:p>
                <a:r>
                  <a:rPr lang="en-US" altLang="ja-JP" dirty="0"/>
                  <a:t>Offer</a:t>
                </a:r>
                <a:r>
                  <a:rPr lang="ja-JP" altLang="en-US"/>
                  <a:t>・行動頻度</a:t>
                </a:r>
                <a:endParaRPr lang="en-US" altLang="ja-JP" dirty="0"/>
              </a:p>
              <a:p>
                <a:pPr lvl="1"/>
                <a14:m>
                  <m:oMath xmlns:m="http://schemas.openxmlformats.org/officeDocument/2006/math">
                    <m:r>
                      <a:rPr lang="ja-JP" altLang="en-US" b="0" i="1" dirty="0">
                        <a:latin typeface="Cambria Math" panose="02040503050406030204" pitchFamily="18" charset="0"/>
                      </a:rPr>
                      <m:t>回避</m:t>
                    </m:r>
                    <m:r>
                      <a:rPr lang="en-US" altLang="ja-JP" b="0" i="1" smtClean="0">
                        <a:latin typeface="Cambria Math" panose="02040503050406030204" pitchFamily="18" charset="0"/>
                      </a:rPr>
                      <m:t>≥</m:t>
                    </m:r>
                    <m:r>
                      <a:rPr lang="ja-JP" altLang="en-US" i="1">
                        <a:latin typeface="Cambria Math" panose="02040503050406030204" pitchFamily="18" charset="0"/>
                      </a:rPr>
                      <m:t>適応</m:t>
                    </m:r>
                    <m:r>
                      <a:rPr lang="en-US" altLang="ja-JP" b="0" i="1" smtClean="0">
                        <a:latin typeface="Cambria Math" panose="02040503050406030204" pitchFamily="18" charset="0"/>
                      </a:rPr>
                      <m:t>&gt;</m:t>
                    </m:r>
                    <m:r>
                      <a:rPr lang="ja-JP" altLang="en-US" i="1" smtClean="0">
                        <a:latin typeface="Cambria Math" panose="02040503050406030204" pitchFamily="18" charset="0"/>
                      </a:rPr>
                      <m:t>妥協</m:t>
                    </m:r>
                    <m:r>
                      <a:rPr lang="en-US" altLang="ja-JP" i="1">
                        <a:latin typeface="Cambria Math" panose="02040503050406030204" pitchFamily="18" charset="0"/>
                      </a:rPr>
                      <m:t>&gt;</m:t>
                    </m:r>
                    <m:r>
                      <a:rPr lang="ja-JP" altLang="en-US" i="1" smtClean="0">
                        <a:latin typeface="Cambria Math" panose="02040503050406030204" pitchFamily="18" charset="0"/>
                      </a:rPr>
                      <m:t>競争</m:t>
                    </m:r>
                    <m:r>
                      <a:rPr lang="en-US" altLang="ja-JP" b="0" i="1" smtClean="0">
                        <a:latin typeface="Cambria Math" panose="02040503050406030204" pitchFamily="18" charset="0"/>
                      </a:rPr>
                      <m:t>≥</m:t>
                    </m:r>
                    <m:r>
                      <a:rPr lang="ja-JP" altLang="en-US" i="1">
                        <a:latin typeface="Cambria Math" panose="02040503050406030204" pitchFamily="18" charset="0"/>
                      </a:rPr>
                      <m:t>共存</m:t>
                    </m:r>
                  </m:oMath>
                </a14:m>
                <a:endParaRPr lang="en-US" altLang="ja-JP" dirty="0"/>
              </a:p>
              <a:p>
                <a:endParaRPr lang="en-US" altLang="ja-JP" dirty="0"/>
              </a:p>
            </p:txBody>
          </p:sp>
        </mc:Choice>
        <mc:Fallback xmlns="">
          <p:sp>
            <p:nvSpPr>
              <p:cNvPr id="3" name="コンテンツ プレースホルダー 2">
                <a:extLst>
                  <a:ext uri="{FF2B5EF4-FFF2-40B4-BE49-F238E27FC236}">
                    <a16:creationId xmlns:a16="http://schemas.microsoft.com/office/drawing/2014/main" id="{7CD37B2B-E32E-2D43-8143-0B7A29E79BB5}"/>
                  </a:ext>
                </a:extLst>
              </p:cNvPr>
              <p:cNvSpPr>
                <a:spLocks noGrp="1" noRot="1" noChangeAspect="1" noMove="1" noResize="1" noEditPoints="1" noAdjustHandles="1" noChangeArrowheads="1" noChangeShapeType="1" noTextEdit="1"/>
              </p:cNvSpPr>
              <p:nvPr>
                <p:ph idx="1"/>
              </p:nvPr>
            </p:nvSpPr>
            <p:spPr>
              <a:blipFill>
                <a:blip r:embed="rId2"/>
                <a:stretch>
                  <a:fillRect t="-1887"/>
                </a:stretch>
              </a:blipFill>
            </p:spPr>
            <p:txBody>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3F260AC5-1500-5F46-BA22-957002E89723}" type="datetime1">
              <a:rPr kumimoji="1" lang="ja-JP" altLang="en-US" smtClean="0"/>
              <a:t>2020/7/10</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11</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2</a:t>
            </a:r>
            <a:endParaRPr kumimoji="1" lang="ja-JP" altLang="en-US"/>
          </a:p>
        </p:txBody>
      </p:sp>
      <p:pic>
        <p:nvPicPr>
          <p:cNvPr id="20" name="図 19">
            <a:extLst>
              <a:ext uri="{FF2B5EF4-FFF2-40B4-BE49-F238E27FC236}">
                <a16:creationId xmlns:a16="http://schemas.microsoft.com/office/drawing/2014/main" id="{D8D9E392-8CAF-1248-AC4C-BFBFDE69105A}"/>
              </a:ext>
            </a:extLst>
          </p:cNvPr>
          <p:cNvPicPr>
            <a:picLocks noChangeAspect="1"/>
          </p:cNvPicPr>
          <p:nvPr/>
        </p:nvPicPr>
        <p:blipFill>
          <a:blip r:embed="rId3"/>
          <a:stretch>
            <a:fillRect/>
          </a:stretch>
        </p:blipFill>
        <p:spPr>
          <a:xfrm>
            <a:off x="6847144" y="1030556"/>
            <a:ext cx="2222334" cy="2750219"/>
          </a:xfrm>
          <a:prstGeom prst="rect">
            <a:avLst/>
          </a:prstGeom>
        </p:spPr>
      </p:pic>
      <p:grpSp>
        <p:nvGrpSpPr>
          <p:cNvPr id="15" name="グループ化 14">
            <a:extLst>
              <a:ext uri="{FF2B5EF4-FFF2-40B4-BE49-F238E27FC236}">
                <a16:creationId xmlns:a16="http://schemas.microsoft.com/office/drawing/2014/main" id="{C5C466F6-7EB0-2B4C-8B9F-5F351C14C7EF}"/>
              </a:ext>
            </a:extLst>
          </p:cNvPr>
          <p:cNvGrpSpPr/>
          <p:nvPr/>
        </p:nvGrpSpPr>
        <p:grpSpPr>
          <a:xfrm>
            <a:off x="163626" y="1160115"/>
            <a:ext cx="4836637" cy="680876"/>
            <a:chOff x="163626" y="1160115"/>
            <a:chExt cx="4836637" cy="680876"/>
          </a:xfrm>
        </p:grpSpPr>
        <p:cxnSp>
          <p:nvCxnSpPr>
            <p:cNvPr id="16" name="直線コネクタ 15">
              <a:extLst>
                <a:ext uri="{FF2B5EF4-FFF2-40B4-BE49-F238E27FC236}">
                  <a16:creationId xmlns:a16="http://schemas.microsoft.com/office/drawing/2014/main" id="{5C6C6833-EA00-AB40-8A4B-3EC05B9F5CFB}"/>
                </a:ext>
              </a:extLst>
            </p:cNvPr>
            <p:cNvCxnSpPr>
              <a:cxnSpLocks/>
            </p:cNvCxnSpPr>
            <p:nvPr userDrawn="1"/>
          </p:nvCxnSpPr>
          <p:spPr>
            <a:xfrm>
              <a:off x="163626" y="1699846"/>
              <a:ext cx="483663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8" name="正方形/長方形 17">
              <a:extLst>
                <a:ext uri="{FF2B5EF4-FFF2-40B4-BE49-F238E27FC236}">
                  <a16:creationId xmlns:a16="http://schemas.microsoft.com/office/drawing/2014/main" id="{869924E9-9C77-4D4D-BB8F-6AC927DE52B4}"/>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9" name="テキスト プレースホルダー 12">
            <a:extLst>
              <a:ext uri="{FF2B5EF4-FFF2-40B4-BE49-F238E27FC236}">
                <a16:creationId xmlns:a16="http://schemas.microsoft.com/office/drawing/2014/main" id="{EB0876A5-390F-D744-AF2F-7706ACC6B6B7}"/>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4"/>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5"/>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各カテゴリに対する戦略</a:t>
            </a:r>
          </a:p>
        </p:txBody>
      </p:sp>
    </p:spTree>
    <p:extLst>
      <p:ext uri="{BB962C8B-B14F-4D97-AF65-F5344CB8AC3E}">
        <p14:creationId xmlns:p14="http://schemas.microsoft.com/office/powerpoint/2010/main" val="33903100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0DB537-1938-254E-9646-E1F659D7D94F}"/>
              </a:ext>
            </a:extLst>
          </p:cNvPr>
          <p:cNvSpPr>
            <a:spLocks noGrp="1"/>
          </p:cNvSpPr>
          <p:nvPr>
            <p:ph type="title"/>
          </p:nvPr>
        </p:nvSpPr>
        <p:spPr/>
        <p:txBody>
          <a:bodyPr/>
          <a:lstStyle/>
          <a:p>
            <a:r>
              <a:rPr lang="ja-JP" altLang="en-US"/>
              <a:t>その他研究について</a:t>
            </a: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6229DDA1-6C79-D941-87FB-D426CD549B15}"/>
                  </a:ext>
                </a:extLst>
              </p:cNvPr>
              <p:cNvSpPr>
                <a:spLocks noGrp="1"/>
              </p:cNvSpPr>
              <p:nvPr>
                <p:ph idx="1"/>
              </p:nvPr>
            </p:nvSpPr>
            <p:spPr>
              <a:xfrm>
                <a:off x="194898" y="1884384"/>
                <a:ext cx="8859709" cy="3463117"/>
              </a:xfrm>
            </p:spPr>
            <p:txBody>
              <a:bodyPr/>
              <a:lstStyle/>
              <a:p>
                <a:r>
                  <a:rPr kumimoji="1" lang="ja-JP" altLang="en-US"/>
                  <a:t>既存研究を元に決めていこうと思っている</a:t>
                </a:r>
                <a:endParaRPr kumimoji="1" lang="en-US" altLang="ja-JP" dirty="0"/>
              </a:p>
              <a:p>
                <a:pPr lvl="1"/>
                <a:r>
                  <a:rPr kumimoji="1" lang="ja-JP" altLang="en-US"/>
                  <a:t>その論文で用いている譲歩関数</a:t>
                </a:r>
                <a:br>
                  <a:rPr kumimoji="1" lang="en-US" altLang="ja-JP" dirty="0"/>
                </a:br>
                <a:r>
                  <a:rPr kumimoji="1" lang="ja-JP" altLang="en-US"/>
                  <a:t>は以下の通り</a:t>
                </a:r>
                <a:endParaRPr kumimoji="1" lang="en-US" altLang="ja-JP" dirty="0"/>
              </a:p>
              <a:p>
                <a:pPr lvl="2"/>
                <a14:m>
                  <m:oMath xmlns:m="http://schemas.openxmlformats.org/officeDocument/2006/math">
                    <m:r>
                      <a:rPr lang="en-US" altLang="ja-JP" b="0" i="1" smtClean="0">
                        <a:latin typeface="Cambria Math" panose="02040503050406030204" pitchFamily="18" charset="0"/>
                      </a:rPr>
                      <m:t>𝑡𝑎𝑟𝑔𝑒𝑡</m:t>
                    </m:r>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𝑡</m:t>
                        </m:r>
                        <m:r>
                          <a:rPr lang="en-US" altLang="ja-JP" b="0" i="1" smtClean="0">
                            <a:latin typeface="Cambria Math" panose="02040503050406030204" pitchFamily="18" charset="0"/>
                          </a:rPr>
                          <m:t>,</m:t>
                        </m:r>
                        <m:r>
                          <a:rPr lang="en-US" altLang="ja-JP" b="0" i="1" smtClean="0">
                            <a:latin typeface="Cambria Math" panose="02040503050406030204" pitchFamily="18" charset="0"/>
                          </a:rPr>
                          <m:t>𝛼</m:t>
                        </m:r>
                      </m:e>
                    </m:d>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𝛾</m:t>
                        </m:r>
                      </m:e>
                      <m:sub>
                        <m:r>
                          <m:rPr>
                            <m:sty m:val="p"/>
                          </m:rPr>
                          <a:rPr lang="en-US" altLang="ja-JP" b="0" i="0" smtClean="0">
                            <a:latin typeface="Cambria Math" panose="02040503050406030204" pitchFamily="18" charset="0"/>
                          </a:rPr>
                          <m:t>min</m:t>
                        </m:r>
                      </m:sub>
                    </m:sSub>
                    <m:r>
                      <a:rPr lang="en-US" altLang="ja-JP" b="0" i="1" smtClean="0">
                        <a:latin typeface="Cambria Math" panose="02040503050406030204" pitchFamily="18" charset="0"/>
                      </a:rPr>
                      <m:t>+</m:t>
                    </m:r>
                    <m:r>
                      <m:rPr>
                        <m:sty m:val="p"/>
                      </m:rPr>
                      <a:rPr lang="en-US" altLang="ja-JP" b="0" i="0" smtClean="0">
                        <a:latin typeface="Cambria Math" panose="02040503050406030204" pitchFamily="18" charset="0"/>
                      </a:rPr>
                      <m:t>Δ</m:t>
                    </m:r>
                    <m:r>
                      <a:rPr lang="en-US" altLang="ja-JP" b="0" i="1" smtClean="0">
                        <a:latin typeface="Cambria Math" panose="02040503050406030204" pitchFamily="18" charset="0"/>
                      </a:rPr>
                      <m:t>⋅</m:t>
                    </m:r>
                    <m:r>
                      <m:rPr>
                        <m:sty m:val="p"/>
                      </m:rPr>
                      <a:rPr lang="en-US" altLang="ja-JP" b="0" i="0" smtClean="0">
                        <a:latin typeface="Cambria Math" panose="02040503050406030204" pitchFamily="18" charset="0"/>
                      </a:rPr>
                      <m:t>Γ</m:t>
                    </m:r>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𝑡</m:t>
                        </m:r>
                        <m:r>
                          <a:rPr lang="en-US" altLang="ja-JP" b="0" i="1" smtClean="0">
                            <a:latin typeface="Cambria Math" panose="02040503050406030204" pitchFamily="18" charset="0"/>
                          </a:rPr>
                          <m:t>,</m:t>
                        </m:r>
                        <m:r>
                          <a:rPr lang="en-US" altLang="ja-JP" b="0" i="1" smtClean="0">
                            <a:latin typeface="Cambria Math" panose="02040503050406030204" pitchFamily="18" charset="0"/>
                          </a:rPr>
                          <m:t>𝛼</m:t>
                        </m:r>
                      </m:e>
                    </m:d>
                  </m:oMath>
                </a14:m>
                <a:endParaRPr lang="en-US" altLang="ja-JP" b="0" i="1" dirty="0">
                  <a:latin typeface="Cambria Math" panose="02040503050406030204" pitchFamily="18" charset="0"/>
                </a:endParaRPr>
              </a:p>
              <a:p>
                <a:pPr lvl="2"/>
                <a14:m>
                  <m:oMath xmlns:m="http://schemas.openxmlformats.org/officeDocument/2006/math">
                    <m:r>
                      <m:rPr>
                        <m:sty m:val="p"/>
                      </m:rPr>
                      <a:rPr lang="en-US" altLang="ja-JP" b="0" i="0" smtClean="0">
                        <a:latin typeface="Cambria Math" panose="02040503050406030204" pitchFamily="18" charset="0"/>
                      </a:rPr>
                      <m:t>Δ</m:t>
                    </m:r>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𝛾</m:t>
                        </m:r>
                      </m:e>
                      <m:sub>
                        <m:r>
                          <m:rPr>
                            <m:sty m:val="p"/>
                          </m:rPr>
                          <a:rPr lang="en-US" altLang="ja-JP" b="0" i="0" smtClean="0">
                            <a:latin typeface="Cambria Math" panose="02040503050406030204" pitchFamily="18" charset="0"/>
                          </a:rPr>
                          <m:t>max</m:t>
                        </m:r>
                      </m:sub>
                    </m:sSub>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𝛾</m:t>
                        </m:r>
                      </m:e>
                      <m:sub>
                        <m:r>
                          <m:rPr>
                            <m:sty m:val="p"/>
                          </m:rPr>
                          <a:rPr lang="en-US" altLang="ja-JP" b="0" i="0" smtClean="0">
                            <a:latin typeface="Cambria Math" panose="02040503050406030204" pitchFamily="18" charset="0"/>
                          </a:rPr>
                          <m:t>min</m:t>
                        </m:r>
                      </m:sub>
                    </m:sSub>
                  </m:oMath>
                </a14:m>
                <a:endParaRPr lang="en-US" altLang="ja-JP" b="0" i="1" dirty="0">
                  <a:latin typeface="Cambria Math" panose="02040503050406030204" pitchFamily="18" charset="0"/>
                </a:endParaRPr>
              </a:p>
              <a:p>
                <a:pPr lvl="2"/>
                <a14:m>
                  <m:oMath xmlns:m="http://schemas.openxmlformats.org/officeDocument/2006/math">
                    <m:r>
                      <m:rPr>
                        <m:sty m:val="p"/>
                      </m:rPr>
                      <a:rPr lang="en-US" altLang="ja-JP" b="0" i="0" smtClean="0">
                        <a:latin typeface="Cambria Math" panose="02040503050406030204" pitchFamily="18" charset="0"/>
                      </a:rPr>
                      <m:t>Γ</m:t>
                    </m:r>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𝑡</m:t>
                        </m:r>
                        <m:r>
                          <a:rPr lang="en-US" altLang="ja-JP" b="0" i="1" smtClean="0">
                            <a:latin typeface="Cambria Math" panose="02040503050406030204" pitchFamily="18" charset="0"/>
                          </a:rPr>
                          <m:t>,</m:t>
                        </m:r>
                        <m:r>
                          <a:rPr lang="en-US" altLang="ja-JP" b="0" i="1" smtClean="0">
                            <a:latin typeface="Cambria Math" panose="02040503050406030204" pitchFamily="18" charset="0"/>
                          </a:rPr>
                          <m:t>𝛼</m:t>
                        </m:r>
                      </m:e>
                    </m:d>
                    <m:r>
                      <a:rPr lang="en-US" altLang="ja-JP" b="0" i="1" smtClean="0">
                        <a:latin typeface="Cambria Math" panose="02040503050406030204" pitchFamily="18" charset="0"/>
                      </a:rPr>
                      <m:t>=1−</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𝑈</m:t>
                        </m:r>
                      </m:e>
                      <m:sub>
                        <m:r>
                          <a:rPr lang="en-US" altLang="ja-JP" b="0" i="1" smtClean="0">
                            <a:latin typeface="Cambria Math" panose="02040503050406030204" pitchFamily="18" charset="0"/>
                          </a:rPr>
                          <m:t>𝐴</m:t>
                        </m:r>
                      </m:sub>
                    </m:sSub>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𝑏𝑖</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𝑑</m:t>
                            </m:r>
                          </m:e>
                          <m:sub>
                            <m:r>
                              <a:rPr lang="en-US" altLang="ja-JP" b="0" i="1" smtClean="0">
                                <a:latin typeface="Cambria Math" panose="02040503050406030204" pitchFamily="18" charset="0"/>
                              </a:rPr>
                              <m:t>𝑡</m:t>
                            </m:r>
                            <m:r>
                              <a:rPr lang="en-US" altLang="ja-JP" b="0" i="1" smtClean="0">
                                <a:latin typeface="Cambria Math" panose="02040503050406030204" pitchFamily="18" charset="0"/>
                              </a:rPr>
                              <m:t>−1</m:t>
                            </m:r>
                          </m:sub>
                        </m:sSub>
                      </m:e>
                    </m:d>
                    <m:r>
                      <a:rPr lang="en-US" altLang="ja-JP" b="0" i="1" smtClean="0">
                        <a:latin typeface="Cambria Math" panose="02040503050406030204" pitchFamily="18" charset="0"/>
                      </a:rPr>
                      <m:t>⋅</m:t>
                    </m:r>
                    <m:sSup>
                      <m:sSupPr>
                        <m:ctrlPr>
                          <a:rPr lang="en-US" altLang="ja-JP" b="0" i="1" smtClean="0">
                            <a:latin typeface="Cambria Math" panose="02040503050406030204" pitchFamily="18" charset="0"/>
                          </a:rPr>
                        </m:ctrlPr>
                      </m:sSupPr>
                      <m:e>
                        <m:d>
                          <m:dPr>
                            <m:ctrlPr>
                              <a:rPr lang="en-US" altLang="ja-JP" b="0" i="1" smtClean="0">
                                <a:latin typeface="Cambria Math" panose="02040503050406030204" pitchFamily="18" charset="0"/>
                              </a:rPr>
                            </m:ctrlPr>
                          </m:dPr>
                          <m:e>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𝑡</m:t>
                                </m:r>
                              </m:num>
                              <m:den>
                                <m:r>
                                  <a:rPr lang="en-US" altLang="ja-JP" b="0" i="1" smtClean="0">
                                    <a:latin typeface="Cambria Math" panose="02040503050406030204" pitchFamily="18" charset="0"/>
                                  </a:rPr>
                                  <m:t>𝑛</m:t>
                                </m:r>
                              </m:den>
                            </m:f>
                          </m:e>
                        </m:d>
                      </m:e>
                      <m:sup>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1</m:t>
                            </m:r>
                          </m:num>
                          <m:den>
                            <m:r>
                              <a:rPr lang="en-US" altLang="ja-JP" b="0" i="1" smtClean="0">
                                <a:latin typeface="Cambria Math" panose="02040503050406030204" pitchFamily="18" charset="0"/>
                              </a:rPr>
                              <m:t>𝛼</m:t>
                            </m:r>
                          </m:den>
                        </m:f>
                      </m:sup>
                    </m:sSup>
                  </m:oMath>
                </a14:m>
                <a:endParaRPr lang="en-US" altLang="ja-JP" b="0" dirty="0"/>
              </a:p>
            </p:txBody>
          </p:sp>
        </mc:Choice>
        <mc:Fallback xmlns="">
          <p:sp>
            <p:nvSpPr>
              <p:cNvPr id="3" name="コンテンツ プレースホルダー 2">
                <a:extLst>
                  <a:ext uri="{FF2B5EF4-FFF2-40B4-BE49-F238E27FC236}">
                    <a16:creationId xmlns:a16="http://schemas.microsoft.com/office/drawing/2014/main" id="{6229DDA1-6C79-D941-87FB-D426CD549B15}"/>
                  </a:ext>
                </a:extLst>
              </p:cNvPr>
              <p:cNvSpPr>
                <a:spLocks noGrp="1" noRot="1" noChangeAspect="1" noMove="1" noResize="1" noEditPoints="1" noAdjustHandles="1" noChangeArrowheads="1" noChangeShapeType="1" noTextEdit="1"/>
              </p:cNvSpPr>
              <p:nvPr>
                <p:ph idx="1"/>
              </p:nvPr>
            </p:nvSpPr>
            <p:spPr>
              <a:xfrm>
                <a:off x="194898" y="1884384"/>
                <a:ext cx="8859709" cy="3463117"/>
              </a:xfrm>
              <a:blipFill>
                <a:blip r:embed="rId2"/>
                <a:stretch>
                  <a:fillRect t="-2555"/>
                </a:stretch>
              </a:blipFill>
            </p:spPr>
            <p:txBody>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07E71DB6-372F-AC4F-B4AB-05B690094CFC}"/>
              </a:ext>
            </a:extLst>
          </p:cNvPr>
          <p:cNvSpPr>
            <a:spLocks noGrp="1"/>
          </p:cNvSpPr>
          <p:nvPr>
            <p:ph type="dt" sz="half" idx="10"/>
          </p:nvPr>
        </p:nvSpPr>
        <p:spPr/>
        <p:txBody>
          <a:bodyPr/>
          <a:lstStyle/>
          <a:p>
            <a:fld id="{24B158CC-F5BE-2345-99BA-C49B60654C2B}" type="datetime1">
              <a:rPr kumimoji="1" lang="ja-JP" altLang="en-US" smtClean="0"/>
              <a:t>2020/7/10</a:t>
            </a:fld>
            <a:endParaRPr kumimoji="1" lang="ja-JP" altLang="en-US"/>
          </a:p>
        </p:txBody>
      </p:sp>
      <p:sp>
        <p:nvSpPr>
          <p:cNvPr id="5" name="フッター プレースホルダー 4">
            <a:extLst>
              <a:ext uri="{FF2B5EF4-FFF2-40B4-BE49-F238E27FC236}">
                <a16:creationId xmlns:a16="http://schemas.microsoft.com/office/drawing/2014/main" id="{0FDF195F-1A3C-9943-A429-1185F334479A}"/>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C18667CF-ABBD-C945-B743-3E1587C59B41}"/>
              </a:ext>
            </a:extLst>
          </p:cNvPr>
          <p:cNvSpPr>
            <a:spLocks noGrp="1"/>
          </p:cNvSpPr>
          <p:nvPr>
            <p:ph type="sldNum" sz="quarter" idx="12"/>
          </p:nvPr>
        </p:nvSpPr>
        <p:spPr/>
        <p:txBody>
          <a:bodyPr/>
          <a:lstStyle/>
          <a:p>
            <a:fld id="{2981C279-7323-A845-8A27-BB5908B2F04D}" type="slidenum">
              <a:rPr kumimoji="1" lang="ja-JP" altLang="en-US" smtClean="0"/>
              <a:t>12</a:t>
            </a:fld>
            <a:endParaRPr kumimoji="1" lang="ja-JP" altLang="en-US"/>
          </a:p>
        </p:txBody>
      </p:sp>
      <p:sp>
        <p:nvSpPr>
          <p:cNvPr id="7" name="テキスト プレースホルダー 6">
            <a:extLst>
              <a:ext uri="{FF2B5EF4-FFF2-40B4-BE49-F238E27FC236}">
                <a16:creationId xmlns:a16="http://schemas.microsoft.com/office/drawing/2014/main" id="{90007484-89B5-4348-ABAF-743AD89B12A1}"/>
              </a:ext>
            </a:extLst>
          </p:cNvPr>
          <p:cNvSpPr>
            <a:spLocks noGrp="1"/>
          </p:cNvSpPr>
          <p:nvPr>
            <p:ph type="body" sz="quarter" idx="13"/>
          </p:nvPr>
        </p:nvSpPr>
        <p:spPr/>
        <p:txBody>
          <a:bodyPr/>
          <a:lstStyle/>
          <a:p>
            <a:r>
              <a:rPr kumimoji="1" lang="en-US" altLang="ja-JP" dirty="0"/>
              <a:t>3</a:t>
            </a:r>
            <a:endParaRPr kumimoji="1" lang="ja-JP" altLang="en-US"/>
          </a:p>
        </p:txBody>
      </p:sp>
      <p:grpSp>
        <p:nvGrpSpPr>
          <p:cNvPr id="8" name="グループ化 7">
            <a:extLst>
              <a:ext uri="{FF2B5EF4-FFF2-40B4-BE49-F238E27FC236}">
                <a16:creationId xmlns:a16="http://schemas.microsoft.com/office/drawing/2014/main" id="{1802F486-8564-F042-BB12-D0807C00DBC0}"/>
              </a:ext>
            </a:extLst>
          </p:cNvPr>
          <p:cNvGrpSpPr/>
          <p:nvPr/>
        </p:nvGrpSpPr>
        <p:grpSpPr>
          <a:xfrm>
            <a:off x="163626" y="1160115"/>
            <a:ext cx="3622763" cy="680876"/>
            <a:chOff x="163626" y="1160115"/>
            <a:chExt cx="3622763" cy="680876"/>
          </a:xfrm>
        </p:grpSpPr>
        <p:cxnSp>
          <p:nvCxnSpPr>
            <p:cNvPr id="9" name="直線コネクタ 8">
              <a:extLst>
                <a:ext uri="{FF2B5EF4-FFF2-40B4-BE49-F238E27FC236}">
                  <a16:creationId xmlns:a16="http://schemas.microsoft.com/office/drawing/2014/main" id="{11E4DA3D-E02B-7F42-8F6D-496C4C8C4882}"/>
                </a:ext>
              </a:extLst>
            </p:cNvPr>
            <p:cNvCxnSpPr>
              <a:cxnSpLocks/>
            </p:cNvCxnSpPr>
            <p:nvPr userDrawn="1"/>
          </p:nvCxnSpPr>
          <p:spPr>
            <a:xfrm>
              <a:off x="163626" y="1699846"/>
              <a:ext cx="3622763"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D7B6B005-2406-534F-879E-E016C333D647}"/>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F7281F50-E19B-4141-A852-D9CF6AEBD055}"/>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譲歩速度について</a:t>
            </a:r>
          </a:p>
        </p:txBody>
      </p:sp>
      <p:pic>
        <p:nvPicPr>
          <p:cNvPr id="14" name="図 13" descr="テキスト, 地図 が含まれている画像&#10;&#10;自動的に生成された説明">
            <a:extLst>
              <a:ext uri="{FF2B5EF4-FFF2-40B4-BE49-F238E27FC236}">
                <a16:creationId xmlns:a16="http://schemas.microsoft.com/office/drawing/2014/main" id="{7BBBCA6A-D968-9246-8E2E-D89E5B6033A6}"/>
              </a:ext>
            </a:extLst>
          </p:cNvPr>
          <p:cNvPicPr>
            <a:picLocks noChangeAspect="1"/>
          </p:cNvPicPr>
          <p:nvPr/>
        </p:nvPicPr>
        <p:blipFill>
          <a:blip r:embed="rId5"/>
          <a:stretch>
            <a:fillRect/>
          </a:stretch>
        </p:blipFill>
        <p:spPr>
          <a:xfrm>
            <a:off x="5369963" y="2408064"/>
            <a:ext cx="3700660" cy="3463117"/>
          </a:xfrm>
          <a:prstGeom prst="rect">
            <a:avLst/>
          </a:prstGeom>
        </p:spPr>
      </p:pic>
      <p:grpSp>
        <p:nvGrpSpPr>
          <p:cNvPr id="18" name="グループ化 17">
            <a:extLst>
              <a:ext uri="{FF2B5EF4-FFF2-40B4-BE49-F238E27FC236}">
                <a16:creationId xmlns:a16="http://schemas.microsoft.com/office/drawing/2014/main" id="{34ADD1CD-BAD9-824B-953D-3EA3E7286022}"/>
              </a:ext>
            </a:extLst>
          </p:cNvPr>
          <p:cNvGrpSpPr/>
          <p:nvPr/>
        </p:nvGrpSpPr>
        <p:grpSpPr>
          <a:xfrm>
            <a:off x="542923" y="4629150"/>
            <a:ext cx="4585875" cy="1830524"/>
            <a:chOff x="542923" y="4514848"/>
            <a:chExt cx="4585875" cy="1830524"/>
          </a:xfrm>
        </p:grpSpPr>
        <p:sp>
          <p:nvSpPr>
            <p:cNvPr id="15" name="角丸四角形 14">
              <a:extLst>
                <a:ext uri="{FF2B5EF4-FFF2-40B4-BE49-F238E27FC236}">
                  <a16:creationId xmlns:a16="http://schemas.microsoft.com/office/drawing/2014/main" id="{E267E99A-BE26-E94E-AD62-F2132A1EC497}"/>
                </a:ext>
              </a:extLst>
            </p:cNvPr>
            <p:cNvSpPr/>
            <p:nvPr/>
          </p:nvSpPr>
          <p:spPr>
            <a:xfrm>
              <a:off x="542923" y="4514848"/>
              <a:ext cx="4585875" cy="1830524"/>
            </a:xfrm>
            <a:prstGeom prst="round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C0128703-E186-C442-8F79-E1B1F3A9B551}"/>
                    </a:ext>
                  </a:extLst>
                </p:cNvPr>
                <p:cNvSpPr txBox="1"/>
                <p:nvPr/>
              </p:nvSpPr>
              <p:spPr>
                <a:xfrm>
                  <a:off x="644490" y="4572001"/>
                  <a:ext cx="4455732" cy="177337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kumimoji="1" lang="en-US" altLang="ja-JP" b="0" i="1" smtClean="0">
                            <a:latin typeface="Cambria Math" panose="02040503050406030204" pitchFamily="18" charset="0"/>
                          </a:rPr>
                          <m:t>𝑡</m:t>
                        </m:r>
                        <m:r>
                          <a:rPr kumimoji="1" lang="en-US" altLang="ja-JP" b="0" i="1" smtClean="0">
                            <a:latin typeface="Cambria Math" panose="02040503050406030204" pitchFamily="18" charset="0"/>
                          </a:rPr>
                          <m:t>:</m:t>
                        </m:r>
                        <m:r>
                          <a:rPr kumimoji="1" lang="ja-JP" altLang="en-US" i="1">
                            <a:latin typeface="Cambria Math" panose="02040503050406030204" pitchFamily="18" charset="0"/>
                          </a:rPr>
                          <m:t>現在の</m:t>
                        </m:r>
                        <m:r>
                          <a:rPr kumimoji="1" lang="ja-JP" altLang="en-US" i="1" smtClean="0">
                            <a:latin typeface="Cambria Math" panose="02040503050406030204" pitchFamily="18" charset="0"/>
                          </a:rPr>
                          <m:t>ラウンド</m:t>
                        </m:r>
                      </m:oMath>
                    </m:oMathPara>
                  </a14:m>
                  <a:endParaRPr kumimoji="1" lang="en-US" altLang="ja-JP"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kumimoji="1" lang="en-US" altLang="ja-JP" b="0" i="1" smtClean="0">
                            <a:latin typeface="Cambria Math" panose="02040503050406030204" pitchFamily="18" charset="0"/>
                          </a:rPr>
                          <m:t>𝑛</m:t>
                        </m:r>
                        <m:r>
                          <a:rPr kumimoji="1" lang="en-US" altLang="ja-JP" b="0" i="1" smtClean="0">
                            <a:latin typeface="Cambria Math" panose="02040503050406030204" pitchFamily="18" charset="0"/>
                          </a:rPr>
                          <m:t>:</m:t>
                        </m:r>
                        <m:r>
                          <a:rPr kumimoji="1" lang="ja-JP" altLang="en-US" i="1">
                            <a:latin typeface="Cambria Math" panose="02040503050406030204" pitchFamily="18" charset="0"/>
                          </a:rPr>
                          <m:t>ラウンドの</m:t>
                        </m:r>
                        <m:r>
                          <a:rPr kumimoji="1" lang="ja-JP" altLang="en-US" i="1" smtClean="0">
                            <a:latin typeface="Cambria Math" panose="02040503050406030204" pitchFamily="18" charset="0"/>
                          </a:rPr>
                          <m:t>総数</m:t>
                        </m:r>
                      </m:oMath>
                    </m:oMathPara>
                  </a14:m>
                  <a:endParaRPr kumimoji="1" lang="en-US" altLang="ja-JP" dirty="0"/>
                </a:p>
                <a:p>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𝛾</m:t>
                          </m:r>
                        </m:e>
                        <m:sub>
                          <m:r>
                            <m:rPr>
                              <m:sty m:val="p"/>
                            </m:rPr>
                            <a:rPr kumimoji="1" lang="en-US" altLang="ja-JP" b="0" i="0" smtClean="0">
                              <a:latin typeface="Cambria Math" panose="02040503050406030204" pitchFamily="18" charset="0"/>
                            </a:rPr>
                            <m:t>min</m:t>
                          </m:r>
                        </m:sub>
                      </m:sSub>
                      <m:r>
                        <a:rPr kumimoji="1" lang="en-US" altLang="ja-JP" b="0" i="1" smtClean="0">
                          <a:latin typeface="Cambria Math" panose="02040503050406030204" pitchFamily="18" charset="0"/>
                        </a:rPr>
                        <m:t>:</m:t>
                      </m:r>
                      <m:r>
                        <a:rPr kumimoji="1" lang="ja-JP" altLang="en-US" i="1">
                          <a:latin typeface="Cambria Math" panose="02040503050406030204" pitchFamily="18" charset="0"/>
                        </a:rPr>
                        <m:t>エージェントの</m:t>
                      </m:r>
                    </m:oMath>
                  </a14:m>
                  <a:r>
                    <a:rPr kumimoji="1" lang="ja-JP" altLang="en-US" dirty="0"/>
                    <a:t>最小</a:t>
                  </a:r>
                  <a:r>
                    <a:rPr kumimoji="1" lang="ja-JP" altLang="en-US"/>
                    <a:t>目標効用</a:t>
                  </a:r>
                  <a:endParaRPr kumimoji="1" lang="en-US" altLang="ja-JP" dirty="0"/>
                </a:p>
                <a:p>
                  <a14:m>
                    <m:oMath xmlns:m="http://schemas.openxmlformats.org/officeDocument/2006/math">
                      <m:sSub>
                        <m:sSubPr>
                          <m:ctrlPr>
                            <a:rPr kumimoji="1" lang="en-US" altLang="ja-JP" i="1" smtClean="0">
                              <a:latin typeface="Cambria Math" panose="02040503050406030204" pitchFamily="18" charset="0"/>
                            </a:rPr>
                          </m:ctrlPr>
                        </m:sSubPr>
                        <m:e>
                          <m:r>
                            <a:rPr kumimoji="1" lang="en-US" altLang="ja-JP" i="1">
                              <a:latin typeface="Cambria Math" panose="02040503050406030204" pitchFamily="18" charset="0"/>
                            </a:rPr>
                            <m:t>𝛾</m:t>
                          </m:r>
                        </m:e>
                        <m:sub>
                          <m:r>
                            <m:rPr>
                              <m:sty m:val="p"/>
                            </m:rPr>
                            <a:rPr kumimoji="1" lang="en-US" altLang="ja-JP">
                              <a:latin typeface="Cambria Math" panose="02040503050406030204" pitchFamily="18" charset="0"/>
                            </a:rPr>
                            <m:t>m</m:t>
                          </m:r>
                          <m:r>
                            <m:rPr>
                              <m:sty m:val="p"/>
                            </m:rPr>
                            <a:rPr kumimoji="1" lang="en-US" altLang="ja-JP" b="0" i="0" smtClean="0">
                              <a:latin typeface="Cambria Math" panose="02040503050406030204" pitchFamily="18" charset="0"/>
                            </a:rPr>
                            <m:t>ax</m:t>
                          </m:r>
                        </m:sub>
                      </m:sSub>
                      <m:r>
                        <a:rPr kumimoji="1" lang="en-US" altLang="ja-JP" i="1">
                          <a:latin typeface="Cambria Math" panose="02040503050406030204" pitchFamily="18" charset="0"/>
                        </a:rPr>
                        <m:t>:</m:t>
                      </m:r>
                      <m:r>
                        <a:rPr kumimoji="1" lang="ja-JP" altLang="en-US" i="1">
                          <a:latin typeface="Cambria Math" panose="02040503050406030204" pitchFamily="18" charset="0"/>
                        </a:rPr>
                        <m:t>エージェントの最大</m:t>
                      </m:r>
                    </m:oMath>
                  </a14:m>
                  <a:r>
                    <a:rPr kumimoji="1" lang="ja-JP" altLang="en-US"/>
                    <a:t>目標効用</a:t>
                  </a:r>
                  <a:endParaRPr kumimoji="1" lang="en-US" altLang="ja-JP" dirty="0"/>
                </a:p>
                <a:p>
                  <a14:m>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rPr>
                            <m:t>𝑈</m:t>
                          </m:r>
                        </m:e>
                        <m:sub>
                          <m:r>
                            <a:rPr lang="en-US" altLang="ja-JP" i="1">
                              <a:latin typeface="Cambria Math" panose="02040503050406030204" pitchFamily="18" charset="0"/>
                            </a:rPr>
                            <m:t>𝐴</m:t>
                          </m:r>
                        </m:sub>
                      </m:sSub>
                      <m:d>
                        <m:dPr>
                          <m:ctrlPr>
                            <a:rPr lang="en-US" altLang="ja-JP" i="1">
                              <a:latin typeface="Cambria Math" panose="02040503050406030204" pitchFamily="18" charset="0"/>
                            </a:rPr>
                          </m:ctrlPr>
                        </m:dPr>
                        <m:e>
                          <m:r>
                            <a:rPr lang="en-US" altLang="ja-JP" i="1">
                              <a:latin typeface="Cambria Math" panose="02040503050406030204" pitchFamily="18" charset="0"/>
                            </a:rPr>
                            <m:t>𝑏𝑖</m:t>
                          </m:r>
                          <m:sSub>
                            <m:sSubPr>
                              <m:ctrlPr>
                                <a:rPr lang="en-US" altLang="ja-JP" i="1">
                                  <a:latin typeface="Cambria Math" panose="02040503050406030204" pitchFamily="18" charset="0"/>
                                </a:rPr>
                              </m:ctrlPr>
                            </m:sSubPr>
                            <m:e>
                              <m:r>
                                <a:rPr lang="en-US" altLang="ja-JP" i="1">
                                  <a:latin typeface="Cambria Math" panose="02040503050406030204" pitchFamily="18" charset="0"/>
                                </a:rPr>
                                <m:t>𝑑</m:t>
                              </m:r>
                            </m:e>
                            <m:sub>
                              <m:r>
                                <a:rPr lang="en-US" altLang="ja-JP" i="1">
                                  <a:latin typeface="Cambria Math" panose="02040503050406030204" pitchFamily="18" charset="0"/>
                                </a:rPr>
                                <m:t>𝑡</m:t>
                              </m:r>
                              <m:r>
                                <a:rPr lang="en-US" altLang="ja-JP" i="1">
                                  <a:latin typeface="Cambria Math" panose="02040503050406030204" pitchFamily="18" charset="0"/>
                                </a:rPr>
                                <m:t>−1</m:t>
                              </m:r>
                            </m:sub>
                          </m:sSub>
                        </m:e>
                      </m:d>
                    </m:oMath>
                  </a14:m>
                  <a:r>
                    <a:rPr kumimoji="1" lang="en-US" altLang="ja-JP" dirty="0"/>
                    <a:t>:</a:t>
                  </a:r>
                  <a:r>
                    <a:rPr kumimoji="1" lang="ja-JP" altLang="en-US"/>
                    <a:t>直前の</a:t>
                  </a:r>
                  <a:r>
                    <a:rPr kumimoji="1" lang="en-US" altLang="ja-JP" dirty="0"/>
                    <a:t>Offer</a:t>
                  </a:r>
                  <a:r>
                    <a:rPr kumimoji="1" lang="ja-JP" altLang="en-US"/>
                    <a:t>でエージェントが</a:t>
                  </a:r>
                  <a:br>
                    <a:rPr kumimoji="1" lang="en-US" altLang="ja-JP" dirty="0"/>
                  </a:br>
                  <a:r>
                    <a:rPr kumimoji="1" lang="ja-JP" altLang="en-US"/>
                    <a:t>　　　　　得られる効用</a:t>
                  </a:r>
                  <a:endParaRPr kumimoji="1" lang="en-US" altLang="ja-JP" dirty="0"/>
                </a:p>
              </p:txBody>
            </p:sp>
          </mc:Choice>
          <mc:Fallback xmlns="">
            <p:sp>
              <p:nvSpPr>
                <p:cNvPr id="16" name="テキスト ボックス 15">
                  <a:extLst>
                    <a:ext uri="{FF2B5EF4-FFF2-40B4-BE49-F238E27FC236}">
                      <a16:creationId xmlns:a16="http://schemas.microsoft.com/office/drawing/2014/main" id="{C0128703-E186-C442-8F79-E1B1F3A9B551}"/>
                    </a:ext>
                  </a:extLst>
                </p:cNvPr>
                <p:cNvSpPr txBox="1">
                  <a:spLocks noRot="1" noChangeAspect="1" noMove="1" noResize="1" noEditPoints="1" noAdjustHandles="1" noChangeArrowheads="1" noChangeShapeType="1" noTextEdit="1"/>
                </p:cNvSpPr>
                <p:nvPr/>
              </p:nvSpPr>
              <p:spPr>
                <a:xfrm>
                  <a:off x="644490" y="4572001"/>
                  <a:ext cx="4455732" cy="1773371"/>
                </a:xfrm>
                <a:prstGeom prst="rect">
                  <a:avLst/>
                </a:prstGeom>
                <a:blipFill>
                  <a:blip r:embed="rId6"/>
                  <a:stretch>
                    <a:fillRect r="-568" b="-4255"/>
                  </a:stretch>
                </a:blipFill>
              </p:spPr>
              <p:txBody>
                <a:bodyPr/>
                <a:lstStyle/>
                <a:p>
                  <a:r>
                    <a:rPr lang="ja-JP" altLang="en-US">
                      <a:noFill/>
                    </a:rPr>
                    <a:t> </a:t>
                  </a:r>
                </a:p>
              </p:txBody>
            </p:sp>
          </mc:Fallback>
        </mc:AlternateContent>
      </p:grpSp>
    </p:spTree>
    <p:extLst>
      <p:ext uri="{BB962C8B-B14F-4D97-AF65-F5344CB8AC3E}">
        <p14:creationId xmlns:p14="http://schemas.microsoft.com/office/powerpoint/2010/main" val="37120671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0DB537-1938-254E-9646-E1F659D7D94F}"/>
              </a:ext>
            </a:extLst>
          </p:cNvPr>
          <p:cNvSpPr>
            <a:spLocks noGrp="1"/>
          </p:cNvSpPr>
          <p:nvPr>
            <p:ph type="title"/>
          </p:nvPr>
        </p:nvSpPr>
        <p:spPr/>
        <p:txBody>
          <a:bodyPr/>
          <a:lstStyle/>
          <a:p>
            <a:r>
              <a:rPr lang="ja-JP" altLang="en-US"/>
              <a:t>その他研究について</a:t>
            </a:r>
            <a:endParaRPr kumimoji="1" lang="ja-JP" altLang="en-US"/>
          </a:p>
        </p:txBody>
      </p:sp>
      <p:sp>
        <p:nvSpPr>
          <p:cNvPr id="3" name="コンテンツ プレースホルダー 2">
            <a:extLst>
              <a:ext uri="{FF2B5EF4-FFF2-40B4-BE49-F238E27FC236}">
                <a16:creationId xmlns:a16="http://schemas.microsoft.com/office/drawing/2014/main" id="{6229DDA1-6C79-D941-87FB-D426CD549B15}"/>
              </a:ext>
            </a:extLst>
          </p:cNvPr>
          <p:cNvSpPr>
            <a:spLocks noGrp="1"/>
          </p:cNvSpPr>
          <p:nvPr>
            <p:ph idx="1"/>
          </p:nvPr>
        </p:nvSpPr>
        <p:spPr>
          <a:xfrm>
            <a:off x="194898" y="1884384"/>
            <a:ext cx="8859709" cy="4342794"/>
          </a:xfrm>
        </p:spPr>
        <p:txBody>
          <a:bodyPr/>
          <a:lstStyle/>
          <a:p>
            <a:r>
              <a:rPr lang="ja-JP" altLang="en-US"/>
              <a:t>長期的な交渉ではやはり相手との</a:t>
            </a:r>
            <a:r>
              <a:rPr lang="ja-JP" altLang="en-US">
                <a:solidFill>
                  <a:schemeClr val="accent2"/>
                </a:solidFill>
              </a:rPr>
              <a:t>コミットメント</a:t>
            </a:r>
            <a:r>
              <a:rPr lang="ja-JP" altLang="en-US"/>
              <a:t>を築くことが重要</a:t>
            </a:r>
            <a:endParaRPr lang="en-US" altLang="ja-JP" dirty="0"/>
          </a:p>
          <a:p>
            <a:r>
              <a:rPr lang="ja-JP" altLang="en-US"/>
              <a:t>戦略：</a:t>
            </a:r>
            <a:r>
              <a:rPr lang="en-US" altLang="ja-JP" dirty="0"/>
              <a:t>BIG5</a:t>
            </a:r>
            <a:r>
              <a:rPr lang="ja-JP" altLang="en-US"/>
              <a:t>を使った戦略</a:t>
            </a:r>
            <a:endParaRPr lang="en-US" altLang="ja-JP" dirty="0"/>
          </a:p>
          <a:p>
            <a:pPr lvl="1"/>
            <a:r>
              <a:rPr lang="ja-JP" altLang="en-US"/>
              <a:t>特性</a:t>
            </a:r>
            <a:r>
              <a:rPr lang="en-US" altLang="ja-JP" dirty="0"/>
              <a:t>5</a:t>
            </a:r>
            <a:r>
              <a:rPr lang="ja-JP" altLang="en-US"/>
              <a:t>因子の値は測定する期間が空いても変動が少ない</a:t>
            </a:r>
            <a:endParaRPr lang="en-US" altLang="ja-JP" dirty="0"/>
          </a:p>
          <a:p>
            <a:pPr lvl="2"/>
            <a:r>
              <a:rPr lang="ja-JP" altLang="en-US"/>
              <a:t>長期的な交渉に向いているのでは？</a:t>
            </a:r>
            <a:endParaRPr lang="en-US" altLang="ja-JP" dirty="0"/>
          </a:p>
          <a:p>
            <a:pPr lvl="1"/>
            <a:r>
              <a:rPr lang="ja-JP" altLang="en-US"/>
              <a:t>相手の特性</a:t>
            </a:r>
            <a:r>
              <a:rPr lang="en-US" altLang="ja-JP" dirty="0"/>
              <a:t>5</a:t>
            </a:r>
            <a:r>
              <a:rPr lang="ja-JP" altLang="en-US"/>
              <a:t>因子の値によって行動を決める</a:t>
            </a:r>
            <a:endParaRPr lang="en-US" altLang="ja-JP" dirty="0"/>
          </a:p>
          <a:p>
            <a:pPr lvl="2"/>
            <a:r>
              <a:rPr lang="ja-JP" altLang="en-US"/>
              <a:t>例</a:t>
            </a:r>
            <a:r>
              <a:rPr lang="en-US" altLang="ja-JP" dirty="0"/>
              <a:t>1</a:t>
            </a:r>
            <a:r>
              <a:rPr lang="ja-JP" altLang="en-US"/>
              <a:t>：外向性が低い相手には</a:t>
            </a:r>
            <a:r>
              <a:rPr lang="en-US" altLang="ja-JP" dirty="0"/>
              <a:t>Offer</a:t>
            </a:r>
            <a:r>
              <a:rPr lang="ja-JP" altLang="en-US"/>
              <a:t>を多く送ってあげる</a:t>
            </a:r>
            <a:endParaRPr lang="en-US" altLang="ja-JP" dirty="0"/>
          </a:p>
          <a:p>
            <a:pPr lvl="2"/>
            <a:r>
              <a:rPr kumimoji="1" lang="ja-JP" altLang="en-US"/>
              <a:t>例</a:t>
            </a:r>
            <a:r>
              <a:rPr kumimoji="1" lang="en-US" altLang="ja-JP" dirty="0"/>
              <a:t>2</a:t>
            </a:r>
            <a:r>
              <a:rPr kumimoji="1" lang="ja-JP" altLang="en-US"/>
              <a:t>：神経症傾向が高い相手には公平な</a:t>
            </a:r>
            <a:r>
              <a:rPr kumimoji="1" lang="en-US" altLang="ja-JP" dirty="0"/>
              <a:t>Offer</a:t>
            </a:r>
            <a:r>
              <a:rPr kumimoji="1" lang="ja-JP" altLang="en-US"/>
              <a:t>を多く送る</a:t>
            </a:r>
            <a:endParaRPr kumimoji="1" lang="en-US" altLang="ja-JP" dirty="0"/>
          </a:p>
          <a:p>
            <a:r>
              <a:rPr lang="ja-JP" altLang="en-US"/>
              <a:t>エージェントを作るにあたって</a:t>
            </a:r>
            <a:r>
              <a:rPr lang="en-US" altLang="ja-JP" dirty="0"/>
              <a:t>IAGO</a:t>
            </a:r>
            <a:r>
              <a:rPr lang="ja-JP" altLang="en-US"/>
              <a:t>のリハビリ中</a:t>
            </a:r>
            <a:endParaRPr lang="en-US" altLang="ja-JP" dirty="0"/>
          </a:p>
          <a:p>
            <a:pPr lvl="1"/>
            <a:r>
              <a:rPr kumimoji="1" lang="ja-JP" altLang="en-US">
                <a:solidFill>
                  <a:schemeClr val="bg1">
                    <a:lumMod val="75000"/>
                  </a:schemeClr>
                </a:solidFill>
              </a:rPr>
              <a:t>やはり使い勝手はそこまで良くない</a:t>
            </a:r>
            <a:endParaRPr kumimoji="1" lang="en-US" altLang="ja-JP" dirty="0">
              <a:solidFill>
                <a:schemeClr val="bg1">
                  <a:lumMod val="75000"/>
                </a:schemeClr>
              </a:solidFill>
            </a:endParaRPr>
          </a:p>
        </p:txBody>
      </p:sp>
      <p:sp>
        <p:nvSpPr>
          <p:cNvPr id="4" name="日付プレースホルダー 3">
            <a:extLst>
              <a:ext uri="{FF2B5EF4-FFF2-40B4-BE49-F238E27FC236}">
                <a16:creationId xmlns:a16="http://schemas.microsoft.com/office/drawing/2014/main" id="{07E71DB6-372F-AC4F-B4AB-05B690094CFC}"/>
              </a:ext>
            </a:extLst>
          </p:cNvPr>
          <p:cNvSpPr>
            <a:spLocks noGrp="1"/>
          </p:cNvSpPr>
          <p:nvPr>
            <p:ph type="dt" sz="half" idx="10"/>
          </p:nvPr>
        </p:nvSpPr>
        <p:spPr/>
        <p:txBody>
          <a:bodyPr/>
          <a:lstStyle/>
          <a:p>
            <a:fld id="{24B158CC-F5BE-2345-99BA-C49B60654C2B}" type="datetime1">
              <a:rPr kumimoji="1" lang="ja-JP" altLang="en-US" smtClean="0"/>
              <a:t>2020/7/10</a:t>
            </a:fld>
            <a:endParaRPr kumimoji="1" lang="ja-JP" altLang="en-US"/>
          </a:p>
        </p:txBody>
      </p:sp>
      <p:sp>
        <p:nvSpPr>
          <p:cNvPr id="5" name="フッター プレースホルダー 4">
            <a:extLst>
              <a:ext uri="{FF2B5EF4-FFF2-40B4-BE49-F238E27FC236}">
                <a16:creationId xmlns:a16="http://schemas.microsoft.com/office/drawing/2014/main" id="{0FDF195F-1A3C-9943-A429-1185F334479A}"/>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C18667CF-ABBD-C945-B743-3E1587C59B41}"/>
              </a:ext>
            </a:extLst>
          </p:cNvPr>
          <p:cNvSpPr>
            <a:spLocks noGrp="1"/>
          </p:cNvSpPr>
          <p:nvPr>
            <p:ph type="sldNum" sz="quarter" idx="12"/>
          </p:nvPr>
        </p:nvSpPr>
        <p:spPr/>
        <p:txBody>
          <a:bodyPr/>
          <a:lstStyle/>
          <a:p>
            <a:fld id="{2981C279-7323-A845-8A27-BB5908B2F04D}" type="slidenum">
              <a:rPr kumimoji="1" lang="ja-JP" altLang="en-US" smtClean="0"/>
              <a:t>13</a:t>
            </a:fld>
            <a:endParaRPr kumimoji="1" lang="ja-JP" altLang="en-US"/>
          </a:p>
        </p:txBody>
      </p:sp>
      <p:sp>
        <p:nvSpPr>
          <p:cNvPr id="7" name="テキスト プレースホルダー 6">
            <a:extLst>
              <a:ext uri="{FF2B5EF4-FFF2-40B4-BE49-F238E27FC236}">
                <a16:creationId xmlns:a16="http://schemas.microsoft.com/office/drawing/2014/main" id="{90007484-89B5-4348-ABAF-743AD89B12A1}"/>
              </a:ext>
            </a:extLst>
          </p:cNvPr>
          <p:cNvSpPr>
            <a:spLocks noGrp="1"/>
          </p:cNvSpPr>
          <p:nvPr>
            <p:ph type="body" sz="quarter" idx="13"/>
          </p:nvPr>
        </p:nvSpPr>
        <p:spPr/>
        <p:txBody>
          <a:bodyPr/>
          <a:lstStyle/>
          <a:p>
            <a:r>
              <a:rPr kumimoji="1" lang="en-US" altLang="ja-JP" dirty="0"/>
              <a:t>3</a:t>
            </a:r>
            <a:endParaRPr kumimoji="1" lang="ja-JP" altLang="en-US"/>
          </a:p>
        </p:txBody>
      </p:sp>
      <p:grpSp>
        <p:nvGrpSpPr>
          <p:cNvPr id="8" name="グループ化 7">
            <a:extLst>
              <a:ext uri="{FF2B5EF4-FFF2-40B4-BE49-F238E27FC236}">
                <a16:creationId xmlns:a16="http://schemas.microsoft.com/office/drawing/2014/main" id="{1802F486-8564-F042-BB12-D0807C00DBC0}"/>
              </a:ext>
            </a:extLst>
          </p:cNvPr>
          <p:cNvGrpSpPr/>
          <p:nvPr/>
        </p:nvGrpSpPr>
        <p:grpSpPr>
          <a:xfrm>
            <a:off x="163626" y="1160115"/>
            <a:ext cx="1630450" cy="680876"/>
            <a:chOff x="163626" y="1160115"/>
            <a:chExt cx="1630450" cy="680876"/>
          </a:xfrm>
        </p:grpSpPr>
        <p:cxnSp>
          <p:nvCxnSpPr>
            <p:cNvPr id="9" name="直線コネクタ 8">
              <a:extLst>
                <a:ext uri="{FF2B5EF4-FFF2-40B4-BE49-F238E27FC236}">
                  <a16:creationId xmlns:a16="http://schemas.microsoft.com/office/drawing/2014/main" id="{11E4DA3D-E02B-7F42-8F6D-496C4C8C4882}"/>
                </a:ext>
              </a:extLst>
            </p:cNvPr>
            <p:cNvCxnSpPr>
              <a:cxnSpLocks/>
            </p:cNvCxnSpPr>
            <p:nvPr userDrawn="1"/>
          </p:nvCxnSpPr>
          <p:spPr>
            <a:xfrm>
              <a:off x="163626" y="1699846"/>
              <a:ext cx="163045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D7B6B005-2406-534F-879E-E016C333D647}"/>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F7281F50-E19B-4141-A852-D9CF6AEBD055}"/>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ANAC</a:t>
            </a:r>
            <a:endParaRPr lang="ja-JP" altLang="en-US"/>
          </a:p>
        </p:txBody>
      </p:sp>
    </p:spTree>
    <p:extLst>
      <p:ext uri="{BB962C8B-B14F-4D97-AF65-F5344CB8AC3E}">
        <p14:creationId xmlns:p14="http://schemas.microsoft.com/office/powerpoint/2010/main" val="22620940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0DB537-1938-254E-9646-E1F659D7D94F}"/>
              </a:ext>
            </a:extLst>
          </p:cNvPr>
          <p:cNvSpPr>
            <a:spLocks noGrp="1"/>
          </p:cNvSpPr>
          <p:nvPr>
            <p:ph type="title"/>
          </p:nvPr>
        </p:nvSpPr>
        <p:spPr/>
        <p:txBody>
          <a:bodyPr/>
          <a:lstStyle/>
          <a:p>
            <a:r>
              <a:rPr lang="ja-JP" altLang="en-US"/>
              <a:t>その他研究について</a:t>
            </a:r>
            <a:endParaRPr kumimoji="1" lang="ja-JP" altLang="en-US"/>
          </a:p>
        </p:txBody>
      </p:sp>
      <p:sp>
        <p:nvSpPr>
          <p:cNvPr id="3" name="コンテンツ プレースホルダー 2">
            <a:extLst>
              <a:ext uri="{FF2B5EF4-FFF2-40B4-BE49-F238E27FC236}">
                <a16:creationId xmlns:a16="http://schemas.microsoft.com/office/drawing/2014/main" id="{6229DDA1-6C79-D941-87FB-D426CD549B15}"/>
              </a:ext>
            </a:extLst>
          </p:cNvPr>
          <p:cNvSpPr>
            <a:spLocks noGrp="1"/>
          </p:cNvSpPr>
          <p:nvPr>
            <p:ph idx="1"/>
          </p:nvPr>
        </p:nvSpPr>
        <p:spPr>
          <a:xfrm>
            <a:off x="194898" y="1884384"/>
            <a:ext cx="8859709" cy="4342794"/>
          </a:xfrm>
        </p:spPr>
        <p:txBody>
          <a:bodyPr/>
          <a:lstStyle/>
          <a:p>
            <a:r>
              <a:rPr lang="ja-JP" altLang="en-US"/>
              <a:t>交渉から推定した特性</a:t>
            </a:r>
            <a:r>
              <a:rPr lang="en-US" altLang="ja-JP" dirty="0"/>
              <a:t>5</a:t>
            </a:r>
            <a:r>
              <a:rPr lang="ja-JP" altLang="en-US"/>
              <a:t>因子の値の妥当性を測るために質問紙などを用いて別途値を測る必要がある</a:t>
            </a:r>
            <a:endParaRPr lang="en-US" altLang="ja-JP" dirty="0"/>
          </a:p>
          <a:p>
            <a:pPr lvl="1"/>
            <a:r>
              <a:rPr lang="en-US" altLang="ja-JP" dirty="0">
                <a:solidFill>
                  <a:schemeClr val="accent2"/>
                </a:solidFill>
              </a:rPr>
              <a:t>IPIP</a:t>
            </a:r>
            <a:r>
              <a:rPr lang="en-US" altLang="ja-JP" dirty="0"/>
              <a:t>(International Personality Item Pool)</a:t>
            </a:r>
            <a:r>
              <a:rPr lang="ja-JP" altLang="en-US"/>
              <a:t>から作られた質問表を使用する予定</a:t>
            </a:r>
            <a:endParaRPr lang="en-US" altLang="ja-JP" dirty="0"/>
          </a:p>
          <a:p>
            <a:pPr lvl="2"/>
            <a:r>
              <a:rPr lang="ja-JP" altLang="en-US"/>
              <a:t>盛り上げ役である，他人を気づかうことはない等の設問</a:t>
            </a:r>
            <a:endParaRPr lang="en-US" altLang="ja-JP" dirty="0"/>
          </a:p>
          <a:p>
            <a:pPr lvl="1"/>
            <a:r>
              <a:rPr lang="ja-JP" altLang="en-US"/>
              <a:t>設問が</a:t>
            </a:r>
            <a:r>
              <a:rPr lang="en-US" altLang="ja-JP" dirty="0"/>
              <a:t>50</a:t>
            </a:r>
            <a:r>
              <a:rPr lang="ja-JP" altLang="en-US"/>
              <a:t>個あるものが標準だが</a:t>
            </a:r>
            <a:r>
              <a:rPr lang="en-US" altLang="ja-JP" dirty="0"/>
              <a:t>20</a:t>
            </a:r>
            <a:r>
              <a:rPr lang="ja-JP" altLang="en-US"/>
              <a:t>個，</a:t>
            </a:r>
            <a:r>
              <a:rPr lang="en-US" altLang="ja-JP" dirty="0"/>
              <a:t>10</a:t>
            </a:r>
            <a:r>
              <a:rPr lang="ja-JP" altLang="en-US"/>
              <a:t>個のものもあり</a:t>
            </a:r>
            <a:br>
              <a:rPr lang="en-US" altLang="ja-JP" dirty="0"/>
            </a:br>
            <a:r>
              <a:rPr lang="ja-JP" altLang="en-US"/>
              <a:t>どれを使用するかは検討中</a:t>
            </a:r>
            <a:endParaRPr lang="en-US" altLang="ja-JP" dirty="0"/>
          </a:p>
        </p:txBody>
      </p:sp>
      <p:sp>
        <p:nvSpPr>
          <p:cNvPr id="4" name="日付プレースホルダー 3">
            <a:extLst>
              <a:ext uri="{FF2B5EF4-FFF2-40B4-BE49-F238E27FC236}">
                <a16:creationId xmlns:a16="http://schemas.microsoft.com/office/drawing/2014/main" id="{07E71DB6-372F-AC4F-B4AB-05B690094CFC}"/>
              </a:ext>
            </a:extLst>
          </p:cNvPr>
          <p:cNvSpPr>
            <a:spLocks noGrp="1"/>
          </p:cNvSpPr>
          <p:nvPr>
            <p:ph type="dt" sz="half" idx="10"/>
          </p:nvPr>
        </p:nvSpPr>
        <p:spPr/>
        <p:txBody>
          <a:bodyPr/>
          <a:lstStyle/>
          <a:p>
            <a:fld id="{24B158CC-F5BE-2345-99BA-C49B60654C2B}" type="datetime1">
              <a:rPr kumimoji="1" lang="ja-JP" altLang="en-US" smtClean="0"/>
              <a:t>2020/7/10</a:t>
            </a:fld>
            <a:endParaRPr kumimoji="1" lang="ja-JP" altLang="en-US"/>
          </a:p>
        </p:txBody>
      </p:sp>
      <p:sp>
        <p:nvSpPr>
          <p:cNvPr id="5" name="フッター プレースホルダー 4">
            <a:extLst>
              <a:ext uri="{FF2B5EF4-FFF2-40B4-BE49-F238E27FC236}">
                <a16:creationId xmlns:a16="http://schemas.microsoft.com/office/drawing/2014/main" id="{0FDF195F-1A3C-9943-A429-1185F334479A}"/>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C18667CF-ABBD-C945-B743-3E1587C59B41}"/>
              </a:ext>
            </a:extLst>
          </p:cNvPr>
          <p:cNvSpPr>
            <a:spLocks noGrp="1"/>
          </p:cNvSpPr>
          <p:nvPr>
            <p:ph type="sldNum" sz="quarter" idx="12"/>
          </p:nvPr>
        </p:nvSpPr>
        <p:spPr/>
        <p:txBody>
          <a:bodyPr/>
          <a:lstStyle/>
          <a:p>
            <a:fld id="{2981C279-7323-A845-8A27-BB5908B2F04D}" type="slidenum">
              <a:rPr kumimoji="1" lang="ja-JP" altLang="en-US" smtClean="0"/>
              <a:t>14</a:t>
            </a:fld>
            <a:endParaRPr kumimoji="1" lang="ja-JP" altLang="en-US"/>
          </a:p>
        </p:txBody>
      </p:sp>
      <p:sp>
        <p:nvSpPr>
          <p:cNvPr id="7" name="テキスト プレースホルダー 6">
            <a:extLst>
              <a:ext uri="{FF2B5EF4-FFF2-40B4-BE49-F238E27FC236}">
                <a16:creationId xmlns:a16="http://schemas.microsoft.com/office/drawing/2014/main" id="{90007484-89B5-4348-ABAF-743AD89B12A1}"/>
              </a:ext>
            </a:extLst>
          </p:cNvPr>
          <p:cNvSpPr>
            <a:spLocks noGrp="1"/>
          </p:cNvSpPr>
          <p:nvPr>
            <p:ph type="body" sz="quarter" idx="13"/>
          </p:nvPr>
        </p:nvSpPr>
        <p:spPr/>
        <p:txBody>
          <a:bodyPr/>
          <a:lstStyle/>
          <a:p>
            <a:r>
              <a:rPr kumimoji="1" lang="en-US" altLang="ja-JP" dirty="0"/>
              <a:t>3</a:t>
            </a:r>
            <a:endParaRPr kumimoji="1" lang="ja-JP" altLang="en-US"/>
          </a:p>
        </p:txBody>
      </p:sp>
      <p:grpSp>
        <p:nvGrpSpPr>
          <p:cNvPr id="8" name="グループ化 7">
            <a:extLst>
              <a:ext uri="{FF2B5EF4-FFF2-40B4-BE49-F238E27FC236}">
                <a16:creationId xmlns:a16="http://schemas.microsoft.com/office/drawing/2014/main" id="{1802F486-8564-F042-BB12-D0807C00DBC0}"/>
              </a:ext>
            </a:extLst>
          </p:cNvPr>
          <p:cNvGrpSpPr/>
          <p:nvPr/>
        </p:nvGrpSpPr>
        <p:grpSpPr>
          <a:xfrm>
            <a:off x="163626" y="1160115"/>
            <a:ext cx="2865324" cy="680876"/>
            <a:chOff x="163626" y="1160115"/>
            <a:chExt cx="2865324" cy="680876"/>
          </a:xfrm>
        </p:grpSpPr>
        <p:cxnSp>
          <p:nvCxnSpPr>
            <p:cNvPr id="9" name="直線コネクタ 8">
              <a:extLst>
                <a:ext uri="{FF2B5EF4-FFF2-40B4-BE49-F238E27FC236}">
                  <a16:creationId xmlns:a16="http://schemas.microsoft.com/office/drawing/2014/main" id="{11E4DA3D-E02B-7F42-8F6D-496C4C8C4882}"/>
                </a:ext>
              </a:extLst>
            </p:cNvPr>
            <p:cNvCxnSpPr>
              <a:cxnSpLocks/>
            </p:cNvCxnSpPr>
            <p:nvPr userDrawn="1"/>
          </p:nvCxnSpPr>
          <p:spPr>
            <a:xfrm>
              <a:off x="163626" y="1699846"/>
              <a:ext cx="286532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D7B6B005-2406-534F-879E-E016C333D647}"/>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F7281F50-E19B-4141-A852-D9CF6AEBD055}"/>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実験について</a:t>
            </a:r>
          </a:p>
        </p:txBody>
      </p:sp>
    </p:spTree>
    <p:extLst>
      <p:ext uri="{BB962C8B-B14F-4D97-AF65-F5344CB8AC3E}">
        <p14:creationId xmlns:p14="http://schemas.microsoft.com/office/powerpoint/2010/main" val="6737124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E103724-ACA8-DF4D-A385-1BC4F784F6F2}"/>
              </a:ext>
            </a:extLst>
          </p:cNvPr>
          <p:cNvSpPr>
            <a:spLocks noGrp="1"/>
          </p:cNvSpPr>
          <p:nvPr>
            <p:ph type="title"/>
          </p:nvPr>
        </p:nvSpPr>
        <p:spPr/>
        <p:txBody>
          <a:bodyPr/>
          <a:lstStyle/>
          <a:p>
            <a:r>
              <a:rPr kumimoji="1" lang="ja-JP" altLang="en-US"/>
              <a:t>補足</a:t>
            </a:r>
          </a:p>
        </p:txBody>
      </p:sp>
      <p:sp>
        <p:nvSpPr>
          <p:cNvPr id="3" name="日付プレースホルダー 2">
            <a:extLst>
              <a:ext uri="{FF2B5EF4-FFF2-40B4-BE49-F238E27FC236}">
                <a16:creationId xmlns:a16="http://schemas.microsoft.com/office/drawing/2014/main" id="{FEADFD89-D45F-C942-8216-965C37C5123E}"/>
              </a:ext>
            </a:extLst>
          </p:cNvPr>
          <p:cNvSpPr>
            <a:spLocks noGrp="1"/>
          </p:cNvSpPr>
          <p:nvPr>
            <p:ph type="dt" sz="half" idx="10"/>
          </p:nvPr>
        </p:nvSpPr>
        <p:spPr/>
        <p:txBody>
          <a:bodyPr/>
          <a:lstStyle/>
          <a:p>
            <a:fld id="{484468A3-0919-F54E-B59A-E9ED9FABFE93}" type="datetime1">
              <a:rPr kumimoji="1" lang="ja-JP" altLang="en-US" smtClean="0"/>
              <a:t>2020/7/10</a:t>
            </a:fld>
            <a:endParaRPr kumimoji="1" lang="ja-JP" altLang="en-US"/>
          </a:p>
        </p:txBody>
      </p:sp>
      <p:sp>
        <p:nvSpPr>
          <p:cNvPr id="4" name="フッター プレースホルダー 3">
            <a:extLst>
              <a:ext uri="{FF2B5EF4-FFF2-40B4-BE49-F238E27FC236}">
                <a16:creationId xmlns:a16="http://schemas.microsoft.com/office/drawing/2014/main" id="{CCB8B864-6FF2-414F-B809-58F3F2AAB863}"/>
              </a:ext>
            </a:extLst>
          </p:cNvPr>
          <p:cNvSpPr>
            <a:spLocks noGrp="1"/>
          </p:cNvSpPr>
          <p:nvPr>
            <p:ph type="ftr" sz="quarter" idx="11"/>
          </p:nvPr>
        </p:nvSpPr>
        <p:spPr/>
        <p:txBody>
          <a:bodyPr/>
          <a:lstStyle/>
          <a:p>
            <a:r>
              <a:rPr kumimoji="1" lang="ja-JP" altLang="en-US"/>
              <a:t>進捗報告</a:t>
            </a:r>
          </a:p>
        </p:txBody>
      </p:sp>
      <p:sp>
        <p:nvSpPr>
          <p:cNvPr id="5" name="スライド番号プレースホルダー 4">
            <a:extLst>
              <a:ext uri="{FF2B5EF4-FFF2-40B4-BE49-F238E27FC236}">
                <a16:creationId xmlns:a16="http://schemas.microsoft.com/office/drawing/2014/main" id="{8CB50CC8-05A9-654B-AEA0-335555BA58A5}"/>
              </a:ext>
            </a:extLst>
          </p:cNvPr>
          <p:cNvSpPr>
            <a:spLocks noGrp="1"/>
          </p:cNvSpPr>
          <p:nvPr>
            <p:ph type="sldNum" sz="quarter" idx="12"/>
          </p:nvPr>
        </p:nvSpPr>
        <p:spPr/>
        <p:txBody>
          <a:bodyPr/>
          <a:lstStyle/>
          <a:p>
            <a:fld id="{2981C279-7323-A845-8A27-BB5908B2F04D}" type="slidenum">
              <a:rPr kumimoji="1" lang="ja-JP" altLang="en-US" smtClean="0"/>
              <a:t>15</a:t>
            </a:fld>
            <a:endParaRPr kumimoji="1" lang="ja-JP" altLang="en-US"/>
          </a:p>
        </p:txBody>
      </p:sp>
      <p:sp>
        <p:nvSpPr>
          <p:cNvPr id="6" name="テキスト プレースホルダー 5">
            <a:extLst>
              <a:ext uri="{FF2B5EF4-FFF2-40B4-BE49-F238E27FC236}">
                <a16:creationId xmlns:a16="http://schemas.microsoft.com/office/drawing/2014/main" id="{3345BB60-32A5-0A47-89A1-B112566F6997}"/>
              </a:ext>
            </a:extLst>
          </p:cNvPr>
          <p:cNvSpPr>
            <a:spLocks noGrp="1"/>
          </p:cNvSpPr>
          <p:nvPr>
            <p:ph type="body" sz="quarter" idx="13"/>
          </p:nvPr>
        </p:nvSpPr>
        <p:spPr/>
        <p:txBody>
          <a:bodyPr/>
          <a:lstStyle/>
          <a:p>
            <a:r>
              <a:rPr kumimoji="1" lang="en-US" altLang="ja-JP" dirty="0"/>
              <a:t>0</a:t>
            </a:r>
            <a:endParaRPr kumimoji="1" lang="ja-JP" altLang="en-US"/>
          </a:p>
        </p:txBody>
      </p:sp>
      <p:pic>
        <p:nvPicPr>
          <p:cNvPr id="8" name="図 7">
            <a:extLst>
              <a:ext uri="{FF2B5EF4-FFF2-40B4-BE49-F238E27FC236}">
                <a16:creationId xmlns:a16="http://schemas.microsoft.com/office/drawing/2014/main" id="{9E33E308-7F92-9F4D-92B7-F943A6AE3C2A}"/>
              </a:ext>
            </a:extLst>
          </p:cNvPr>
          <p:cNvPicPr>
            <a:picLocks noChangeAspect="1"/>
          </p:cNvPicPr>
          <p:nvPr/>
        </p:nvPicPr>
        <p:blipFill>
          <a:blip r:embed="rId2"/>
          <a:stretch>
            <a:fillRect/>
          </a:stretch>
        </p:blipFill>
        <p:spPr>
          <a:xfrm>
            <a:off x="1155700" y="2027604"/>
            <a:ext cx="6832600" cy="4457700"/>
          </a:xfrm>
          <a:prstGeom prst="rect">
            <a:avLst/>
          </a:prstGeom>
        </p:spPr>
      </p:pic>
      <p:grpSp>
        <p:nvGrpSpPr>
          <p:cNvPr id="11" name="グループ化 10">
            <a:extLst>
              <a:ext uri="{FF2B5EF4-FFF2-40B4-BE49-F238E27FC236}">
                <a16:creationId xmlns:a16="http://schemas.microsoft.com/office/drawing/2014/main" id="{B8CFE30F-3219-9146-9460-D520FAF0DE7B}"/>
              </a:ext>
            </a:extLst>
          </p:cNvPr>
          <p:cNvGrpSpPr/>
          <p:nvPr/>
        </p:nvGrpSpPr>
        <p:grpSpPr>
          <a:xfrm>
            <a:off x="163626" y="1160115"/>
            <a:ext cx="4987108" cy="680876"/>
            <a:chOff x="163626" y="1160115"/>
            <a:chExt cx="4987108" cy="680876"/>
          </a:xfrm>
        </p:grpSpPr>
        <p:cxnSp>
          <p:nvCxnSpPr>
            <p:cNvPr id="12" name="直線コネクタ 11">
              <a:extLst>
                <a:ext uri="{FF2B5EF4-FFF2-40B4-BE49-F238E27FC236}">
                  <a16:creationId xmlns:a16="http://schemas.microsoft.com/office/drawing/2014/main" id="{DEB0C066-9DE6-7648-9334-E4615AF10790}"/>
                </a:ext>
              </a:extLst>
            </p:cNvPr>
            <p:cNvCxnSpPr>
              <a:cxnSpLocks/>
            </p:cNvCxnSpPr>
            <p:nvPr userDrawn="1"/>
          </p:nvCxnSpPr>
          <p:spPr>
            <a:xfrm>
              <a:off x="163626" y="1699846"/>
              <a:ext cx="4987108"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30049B49-0802-B04E-AC36-0E24108CE572}"/>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4" name="テキスト プレースホルダー 12">
            <a:extLst>
              <a:ext uri="{FF2B5EF4-FFF2-40B4-BE49-F238E27FC236}">
                <a16:creationId xmlns:a16="http://schemas.microsoft.com/office/drawing/2014/main" id="{DE351FF0-BB2B-074D-86F2-EF8E3D35EE25}"/>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BIG5</a:t>
            </a:r>
            <a:r>
              <a:rPr lang="ja-JP" altLang="en-US"/>
              <a:t>によるカテゴリ分類</a:t>
            </a:r>
          </a:p>
        </p:txBody>
      </p:sp>
    </p:spTree>
    <p:extLst>
      <p:ext uri="{BB962C8B-B14F-4D97-AF65-F5344CB8AC3E}">
        <p14:creationId xmlns:p14="http://schemas.microsoft.com/office/powerpoint/2010/main" val="27927627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補足</a:t>
            </a: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3"/>
                <a:ext cx="8859709" cy="4507316"/>
              </a:xfrm>
            </p:spPr>
            <p:txBody>
              <a:bodyPr/>
              <a:lstStyle/>
              <a:p>
                <a:r>
                  <a:rPr lang="ja-JP" altLang="en-US"/>
                  <a:t>譲歩速度</a:t>
                </a:r>
                <a:endParaRPr lang="en-US" altLang="ja-JP" dirty="0"/>
              </a:p>
              <a:p>
                <a:pPr lvl="1"/>
                <a:r>
                  <a:rPr lang="ja-JP" altLang="en-US"/>
                  <a:t>わがまま</a:t>
                </a:r>
                <a14:m>
                  <m:oMath xmlns:m="http://schemas.openxmlformats.org/officeDocument/2006/math">
                    <m:r>
                      <a:rPr lang="en-US" altLang="ja-JP" b="0" i="1" smtClean="0">
                        <a:latin typeface="Cambria Math" panose="02040503050406030204" pitchFamily="18" charset="0"/>
                      </a:rPr>
                      <m:t>&gt;</m:t>
                    </m:r>
                  </m:oMath>
                </a14:m>
                <a:r>
                  <a:rPr lang="ja-JP" altLang="en-US"/>
                  <a:t>普通</a:t>
                </a:r>
                <a14:m>
                  <m:oMath xmlns:m="http://schemas.openxmlformats.org/officeDocument/2006/math">
                    <m:r>
                      <a:rPr lang="en-US" altLang="ja-JP" i="1">
                        <a:latin typeface="Cambria Math" panose="02040503050406030204" pitchFamily="18" charset="0"/>
                      </a:rPr>
                      <m:t>&gt;</m:t>
                    </m:r>
                  </m:oMath>
                </a14:m>
                <a:r>
                  <a:rPr lang="ja-JP" altLang="en-US"/>
                  <a:t>つつましい</a:t>
                </a:r>
                <a14:m>
                  <m:oMath xmlns:m="http://schemas.openxmlformats.org/officeDocument/2006/math">
                    <m:r>
                      <a:rPr lang="en-US" altLang="ja-JP" i="1">
                        <a:latin typeface="Cambria Math" panose="02040503050406030204" pitchFamily="18" charset="0"/>
                      </a:rPr>
                      <m:t>&gt;</m:t>
                    </m:r>
                  </m:oMath>
                </a14:m>
                <a:r>
                  <a:rPr lang="ja-JP" altLang="en-US"/>
                  <a:t>模範</a:t>
                </a:r>
                <a:endParaRPr lang="en-US" altLang="ja-JP" dirty="0"/>
              </a:p>
              <a:p>
                <a:r>
                  <a:rPr lang="en-US" altLang="ja-JP" dirty="0"/>
                  <a:t>Offer</a:t>
                </a:r>
                <a:r>
                  <a:rPr lang="ja-JP" altLang="en-US"/>
                  <a:t>のパターン</a:t>
                </a:r>
                <a:endParaRPr lang="en-US" altLang="ja-JP" dirty="0"/>
              </a:p>
              <a:p>
                <a:pPr lvl="1"/>
                <a:r>
                  <a:rPr lang="ja-JP" altLang="en-US"/>
                  <a:t>つつましい</a:t>
                </a:r>
                <a14:m>
                  <m:oMath xmlns:m="http://schemas.openxmlformats.org/officeDocument/2006/math">
                    <m:r>
                      <a:rPr lang="en-US" altLang="ja-JP" i="1">
                        <a:latin typeface="Cambria Math" panose="02040503050406030204" pitchFamily="18" charset="0"/>
                      </a:rPr>
                      <m:t>≥</m:t>
                    </m:r>
                  </m:oMath>
                </a14:m>
                <a:r>
                  <a:rPr lang="ja-JP" altLang="en-US"/>
                  <a:t>わがまま</a:t>
                </a:r>
                <a14:m>
                  <m:oMath xmlns:m="http://schemas.openxmlformats.org/officeDocument/2006/math">
                    <m:r>
                      <a:rPr lang="en-US" altLang="ja-JP" i="1">
                        <a:latin typeface="Cambria Math" panose="02040503050406030204" pitchFamily="18" charset="0"/>
                      </a:rPr>
                      <m:t>≥</m:t>
                    </m:r>
                  </m:oMath>
                </a14:m>
                <a:r>
                  <a:rPr lang="ja-JP" altLang="en-US"/>
                  <a:t>普通</a:t>
                </a:r>
                <a14:m>
                  <m:oMath xmlns:m="http://schemas.openxmlformats.org/officeDocument/2006/math">
                    <m:r>
                      <a:rPr lang="en-US" altLang="ja-JP" i="1">
                        <a:latin typeface="Cambria Math" panose="02040503050406030204" pitchFamily="18" charset="0"/>
                      </a:rPr>
                      <m:t>&gt;</m:t>
                    </m:r>
                  </m:oMath>
                </a14:m>
                <a:r>
                  <a:rPr lang="ja-JP" altLang="en-US"/>
                  <a:t>模範</a:t>
                </a:r>
                <a:endParaRPr lang="en-US" altLang="ja-JP" dirty="0"/>
              </a:p>
              <a:p>
                <a:r>
                  <a:rPr lang="en-US" altLang="ja-JP" dirty="0"/>
                  <a:t>Offer</a:t>
                </a:r>
                <a:r>
                  <a:rPr lang="ja-JP" altLang="en-US"/>
                  <a:t>・行動頻度</a:t>
                </a:r>
                <a:endParaRPr lang="en-US" altLang="ja-JP" dirty="0"/>
              </a:p>
              <a:p>
                <a:pPr lvl="1"/>
                <a:r>
                  <a:rPr lang="ja-JP" altLang="en-US"/>
                  <a:t>つつましい</a:t>
                </a:r>
                <a14:m>
                  <m:oMath xmlns:m="http://schemas.openxmlformats.org/officeDocument/2006/math">
                    <m:r>
                      <a:rPr lang="en-US" altLang="ja-JP" i="1">
                        <a:latin typeface="Cambria Math" panose="02040503050406030204" pitchFamily="18" charset="0"/>
                      </a:rPr>
                      <m:t>&gt;</m:t>
                    </m:r>
                  </m:oMath>
                </a14:m>
                <a:r>
                  <a:rPr lang="ja-JP" altLang="en-US"/>
                  <a:t>普通</a:t>
                </a:r>
                <a14:m>
                  <m:oMath xmlns:m="http://schemas.openxmlformats.org/officeDocument/2006/math">
                    <m:r>
                      <a:rPr lang="en-US" altLang="ja-JP" b="0" i="1" smtClean="0">
                        <a:latin typeface="Cambria Math" panose="02040503050406030204" pitchFamily="18" charset="0"/>
                      </a:rPr>
                      <m:t>≥</m:t>
                    </m:r>
                  </m:oMath>
                </a14:m>
                <a:r>
                  <a:rPr lang="ja-JP" altLang="en-US"/>
                  <a:t>模範</a:t>
                </a:r>
                <a14:m>
                  <m:oMath xmlns:m="http://schemas.openxmlformats.org/officeDocument/2006/math">
                    <m:r>
                      <a:rPr lang="en-US" altLang="ja-JP" i="1" smtClean="0">
                        <a:latin typeface="Cambria Math" panose="02040503050406030204" pitchFamily="18" charset="0"/>
                      </a:rPr>
                      <m:t>&gt;</m:t>
                    </m:r>
                  </m:oMath>
                </a14:m>
                <a:r>
                  <a:rPr lang="ja-JP" altLang="en-US"/>
                  <a:t>わがまま</a:t>
                </a:r>
                <a:endParaRPr lang="en-US" altLang="ja-JP" dirty="0"/>
              </a:p>
              <a:p>
                <a:pPr lvl="1"/>
                <a:endParaRPr lang="en-US" altLang="ja-JP" dirty="0"/>
              </a:p>
            </p:txBody>
          </p:sp>
        </mc:Choice>
        <mc:Fallback xmlns="">
          <p:sp>
            <p:nvSpPr>
              <p:cNvPr id="3" name="コンテンツ プレースホルダー 2">
                <a:extLst>
                  <a:ext uri="{FF2B5EF4-FFF2-40B4-BE49-F238E27FC236}">
                    <a16:creationId xmlns:a16="http://schemas.microsoft.com/office/drawing/2014/main" id="{7CD37B2B-E32E-2D43-8143-0B7A29E79BB5}"/>
                  </a:ext>
                </a:extLst>
              </p:cNvPr>
              <p:cNvSpPr>
                <a:spLocks noGrp="1" noRot="1" noChangeAspect="1" noMove="1" noResize="1" noEditPoints="1" noAdjustHandles="1" noChangeArrowheads="1" noChangeShapeType="1" noTextEdit="1"/>
              </p:cNvSpPr>
              <p:nvPr>
                <p:ph idx="1"/>
              </p:nvPr>
            </p:nvSpPr>
            <p:spPr>
              <a:xfrm>
                <a:off x="194898" y="1884383"/>
                <a:ext cx="8859709" cy="4507316"/>
              </a:xfrm>
              <a:blipFill>
                <a:blip r:embed="rId2"/>
                <a:stretch>
                  <a:fillRect t="-1966"/>
                </a:stretch>
              </a:blipFill>
            </p:spPr>
            <p:txBody>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2020/7/10</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16</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0</a:t>
            </a:r>
            <a:endParaRPr kumimoji="1" lang="ja-JP" altLang="en-US"/>
          </a:p>
        </p:txBody>
      </p:sp>
      <p:pic>
        <p:nvPicPr>
          <p:cNvPr id="35" name="図 34">
            <a:extLst>
              <a:ext uri="{FF2B5EF4-FFF2-40B4-BE49-F238E27FC236}">
                <a16:creationId xmlns:a16="http://schemas.microsoft.com/office/drawing/2014/main" id="{813CA7AA-D605-594B-ADF0-6CF8BCF67529}"/>
              </a:ext>
            </a:extLst>
          </p:cNvPr>
          <p:cNvPicPr>
            <a:picLocks noChangeAspect="1"/>
          </p:cNvPicPr>
          <p:nvPr/>
        </p:nvPicPr>
        <p:blipFill>
          <a:blip r:embed="rId3"/>
          <a:stretch>
            <a:fillRect/>
          </a:stretch>
        </p:blipFill>
        <p:spPr>
          <a:xfrm>
            <a:off x="5499056" y="1052532"/>
            <a:ext cx="3673279" cy="2316536"/>
          </a:xfrm>
          <a:prstGeom prst="rect">
            <a:avLst/>
          </a:prstGeom>
        </p:spPr>
      </p:pic>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4836637" cy="680876"/>
            <a:chOff x="163626" y="1160115"/>
            <a:chExt cx="4836637"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483663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4"/>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5"/>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各カテゴリに対する戦略</a:t>
            </a:r>
          </a:p>
        </p:txBody>
      </p:sp>
    </p:spTree>
    <p:extLst>
      <p:ext uri="{BB962C8B-B14F-4D97-AF65-F5344CB8AC3E}">
        <p14:creationId xmlns:p14="http://schemas.microsoft.com/office/powerpoint/2010/main" val="34941192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補足</a:t>
            </a: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p:txBody>
              <a:bodyPr/>
              <a:lstStyle/>
              <a:p>
                <a:r>
                  <a:rPr lang="ja-JP" altLang="en-US"/>
                  <a:t>譲歩速度</a:t>
                </a:r>
                <a:endParaRPr lang="en-US" altLang="ja-JP" dirty="0"/>
              </a:p>
              <a:p>
                <a:pPr lvl="1"/>
                <a14:m>
                  <m:oMath xmlns:m="http://schemas.openxmlformats.org/officeDocument/2006/math">
                    <m:r>
                      <a:rPr lang="ja-JP" altLang="en-US" b="0" i="1" dirty="0">
                        <a:latin typeface="Cambria Math" panose="02040503050406030204" pitchFamily="18" charset="0"/>
                      </a:rPr>
                      <m:t>競争</m:t>
                    </m:r>
                    <m:r>
                      <a:rPr lang="en-US" altLang="ja-JP" b="0" i="0" smtClean="0">
                        <a:latin typeface="Cambria Math" panose="02040503050406030204" pitchFamily="18" charset="0"/>
                      </a:rPr>
                      <m:t>&gt;</m:t>
                    </m:r>
                    <m:r>
                      <a:rPr lang="ja-JP" altLang="en-US" i="1">
                        <a:latin typeface="Cambria Math" panose="02040503050406030204" pitchFamily="18" charset="0"/>
                      </a:rPr>
                      <m:t>回避</m:t>
                    </m:r>
                    <m:r>
                      <a:rPr lang="en-US" altLang="ja-JP" b="0" i="1" smtClean="0">
                        <a:latin typeface="Cambria Math" panose="02040503050406030204" pitchFamily="18" charset="0"/>
                      </a:rPr>
                      <m:t>≥</m:t>
                    </m:r>
                    <m:r>
                      <a:rPr lang="ja-JP" altLang="en-US" i="1">
                        <a:latin typeface="Cambria Math" panose="02040503050406030204" pitchFamily="18" charset="0"/>
                      </a:rPr>
                      <m:t>共存</m:t>
                    </m:r>
                    <m:r>
                      <a:rPr lang="en-US" altLang="ja-JP" i="1">
                        <a:latin typeface="Cambria Math" panose="02040503050406030204" pitchFamily="18" charset="0"/>
                      </a:rPr>
                      <m:t>&gt;</m:t>
                    </m:r>
                    <m:r>
                      <a:rPr lang="ja-JP" altLang="en-US" i="1">
                        <a:latin typeface="Cambria Math" panose="02040503050406030204" pitchFamily="18" charset="0"/>
                      </a:rPr>
                      <m:t>妥協</m:t>
                    </m:r>
                    <m:r>
                      <a:rPr lang="en-US" altLang="ja-JP" b="0" i="1" smtClean="0">
                        <a:latin typeface="Cambria Math" panose="02040503050406030204" pitchFamily="18" charset="0"/>
                      </a:rPr>
                      <m:t>&gt;</m:t>
                    </m:r>
                    <m:r>
                      <a:rPr lang="ja-JP" altLang="en-US" i="1">
                        <a:latin typeface="Cambria Math" panose="02040503050406030204" pitchFamily="18" charset="0"/>
                      </a:rPr>
                      <m:t>適応</m:t>
                    </m:r>
                  </m:oMath>
                </a14:m>
                <a:endParaRPr lang="en-US" altLang="ja-JP" dirty="0"/>
              </a:p>
              <a:p>
                <a:r>
                  <a:rPr lang="en-US" altLang="ja-JP" dirty="0"/>
                  <a:t>Offer</a:t>
                </a:r>
                <a:r>
                  <a:rPr lang="ja-JP" altLang="en-US"/>
                  <a:t>のパターン</a:t>
                </a:r>
                <a:endParaRPr lang="en-US" altLang="ja-JP" dirty="0"/>
              </a:p>
              <a:p>
                <a:pPr lvl="1"/>
                <a14:m>
                  <m:oMath xmlns:m="http://schemas.openxmlformats.org/officeDocument/2006/math">
                    <m:r>
                      <a:rPr lang="ja-JP" altLang="en-US" i="1" smtClean="0">
                        <a:latin typeface="Cambria Math" panose="02040503050406030204" pitchFamily="18" charset="0"/>
                      </a:rPr>
                      <m:t>回避</m:t>
                    </m:r>
                    <m:r>
                      <a:rPr lang="en-US" altLang="ja-JP" i="1">
                        <a:latin typeface="Cambria Math" panose="02040503050406030204" pitchFamily="18" charset="0"/>
                      </a:rPr>
                      <m:t>≥</m:t>
                    </m:r>
                    <m:r>
                      <a:rPr lang="ja-JP" altLang="en-US" i="1">
                        <a:latin typeface="Cambria Math" panose="02040503050406030204" pitchFamily="18" charset="0"/>
                      </a:rPr>
                      <m:t>適応</m:t>
                    </m:r>
                    <m:r>
                      <a:rPr lang="en-US" altLang="ja-JP" i="1">
                        <a:latin typeface="Cambria Math" panose="02040503050406030204" pitchFamily="18" charset="0"/>
                      </a:rPr>
                      <m:t>&gt;</m:t>
                    </m:r>
                    <m:r>
                      <a:rPr lang="ja-JP" altLang="en-US" i="1">
                        <a:latin typeface="Cambria Math" panose="02040503050406030204" pitchFamily="18" charset="0"/>
                      </a:rPr>
                      <m:t>妥協</m:t>
                    </m:r>
                    <m:r>
                      <a:rPr lang="en-US" altLang="ja-JP" i="1">
                        <a:latin typeface="Cambria Math" panose="02040503050406030204" pitchFamily="18" charset="0"/>
                      </a:rPr>
                      <m:t>&gt;</m:t>
                    </m:r>
                    <m:r>
                      <a:rPr lang="ja-JP" altLang="en-US" i="1">
                        <a:latin typeface="Cambria Math" panose="02040503050406030204" pitchFamily="18" charset="0"/>
                      </a:rPr>
                      <m:t>競争</m:t>
                    </m:r>
                    <m:r>
                      <a:rPr lang="en-US" altLang="ja-JP" i="1">
                        <a:latin typeface="Cambria Math" panose="02040503050406030204" pitchFamily="18" charset="0"/>
                      </a:rPr>
                      <m:t>≥</m:t>
                    </m:r>
                    <m:r>
                      <a:rPr lang="ja-JP" altLang="en-US" i="1">
                        <a:latin typeface="Cambria Math" panose="02040503050406030204" pitchFamily="18" charset="0"/>
                      </a:rPr>
                      <m:t>共存</m:t>
                    </m:r>
                  </m:oMath>
                </a14:m>
                <a:endParaRPr lang="en-US" altLang="ja-JP" dirty="0"/>
              </a:p>
              <a:p>
                <a:r>
                  <a:rPr lang="en-US" altLang="ja-JP" dirty="0"/>
                  <a:t>Offer</a:t>
                </a:r>
                <a:r>
                  <a:rPr lang="ja-JP" altLang="en-US"/>
                  <a:t>・行動頻度</a:t>
                </a:r>
                <a:endParaRPr lang="en-US" altLang="ja-JP" dirty="0"/>
              </a:p>
              <a:p>
                <a:pPr lvl="1"/>
                <a14:m>
                  <m:oMath xmlns:m="http://schemas.openxmlformats.org/officeDocument/2006/math">
                    <m:r>
                      <a:rPr lang="ja-JP" altLang="en-US" b="0" i="1" dirty="0">
                        <a:latin typeface="Cambria Math" panose="02040503050406030204" pitchFamily="18" charset="0"/>
                      </a:rPr>
                      <m:t>回避</m:t>
                    </m:r>
                    <m:r>
                      <a:rPr lang="en-US" altLang="ja-JP" b="0" i="1" smtClean="0">
                        <a:latin typeface="Cambria Math" panose="02040503050406030204" pitchFamily="18" charset="0"/>
                      </a:rPr>
                      <m:t>≥</m:t>
                    </m:r>
                    <m:r>
                      <a:rPr lang="ja-JP" altLang="en-US" i="1">
                        <a:latin typeface="Cambria Math" panose="02040503050406030204" pitchFamily="18" charset="0"/>
                      </a:rPr>
                      <m:t>適応</m:t>
                    </m:r>
                    <m:r>
                      <a:rPr lang="en-US" altLang="ja-JP" b="0" i="1" smtClean="0">
                        <a:latin typeface="Cambria Math" panose="02040503050406030204" pitchFamily="18" charset="0"/>
                      </a:rPr>
                      <m:t>&gt;</m:t>
                    </m:r>
                    <m:r>
                      <a:rPr lang="ja-JP" altLang="en-US" i="1" smtClean="0">
                        <a:latin typeface="Cambria Math" panose="02040503050406030204" pitchFamily="18" charset="0"/>
                      </a:rPr>
                      <m:t>妥協</m:t>
                    </m:r>
                    <m:r>
                      <a:rPr lang="en-US" altLang="ja-JP" i="1">
                        <a:latin typeface="Cambria Math" panose="02040503050406030204" pitchFamily="18" charset="0"/>
                      </a:rPr>
                      <m:t>&gt;</m:t>
                    </m:r>
                    <m:r>
                      <a:rPr lang="ja-JP" altLang="en-US" i="1" smtClean="0">
                        <a:latin typeface="Cambria Math" panose="02040503050406030204" pitchFamily="18" charset="0"/>
                      </a:rPr>
                      <m:t>競争</m:t>
                    </m:r>
                    <m:r>
                      <a:rPr lang="en-US" altLang="ja-JP" b="0" i="1" smtClean="0">
                        <a:latin typeface="Cambria Math" panose="02040503050406030204" pitchFamily="18" charset="0"/>
                      </a:rPr>
                      <m:t>≥</m:t>
                    </m:r>
                    <m:r>
                      <a:rPr lang="ja-JP" altLang="en-US" i="1">
                        <a:latin typeface="Cambria Math" panose="02040503050406030204" pitchFamily="18" charset="0"/>
                      </a:rPr>
                      <m:t>共存</m:t>
                    </m:r>
                  </m:oMath>
                </a14:m>
                <a:endParaRPr lang="en-US" altLang="ja-JP" dirty="0"/>
              </a:p>
              <a:p>
                <a:endParaRPr lang="en-US" altLang="ja-JP" dirty="0"/>
              </a:p>
            </p:txBody>
          </p:sp>
        </mc:Choice>
        <mc:Fallback xmlns="">
          <p:sp>
            <p:nvSpPr>
              <p:cNvPr id="3" name="コンテンツ プレースホルダー 2">
                <a:extLst>
                  <a:ext uri="{FF2B5EF4-FFF2-40B4-BE49-F238E27FC236}">
                    <a16:creationId xmlns:a16="http://schemas.microsoft.com/office/drawing/2014/main" id="{7CD37B2B-E32E-2D43-8143-0B7A29E79BB5}"/>
                  </a:ext>
                </a:extLst>
              </p:cNvPr>
              <p:cNvSpPr>
                <a:spLocks noGrp="1" noRot="1" noChangeAspect="1" noMove="1" noResize="1" noEditPoints="1" noAdjustHandles="1" noChangeArrowheads="1" noChangeShapeType="1" noTextEdit="1"/>
              </p:cNvSpPr>
              <p:nvPr>
                <p:ph idx="1"/>
              </p:nvPr>
            </p:nvSpPr>
            <p:spPr>
              <a:blipFill>
                <a:blip r:embed="rId2"/>
                <a:stretch>
                  <a:fillRect t="-1887"/>
                </a:stretch>
              </a:blipFill>
            </p:spPr>
            <p:txBody>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3F260AC5-1500-5F46-BA22-957002E89723}" type="datetime1">
              <a:rPr kumimoji="1" lang="ja-JP" altLang="en-US" smtClean="0"/>
              <a:t>2020/7/10</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17</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lang="en-US" altLang="ja-JP" dirty="0"/>
              <a:t>0</a:t>
            </a:r>
            <a:endParaRPr kumimoji="1" lang="ja-JP" altLang="en-US"/>
          </a:p>
        </p:txBody>
      </p:sp>
      <p:pic>
        <p:nvPicPr>
          <p:cNvPr id="20" name="図 19">
            <a:extLst>
              <a:ext uri="{FF2B5EF4-FFF2-40B4-BE49-F238E27FC236}">
                <a16:creationId xmlns:a16="http://schemas.microsoft.com/office/drawing/2014/main" id="{D8D9E392-8CAF-1248-AC4C-BFBFDE69105A}"/>
              </a:ext>
            </a:extLst>
          </p:cNvPr>
          <p:cNvPicPr>
            <a:picLocks noChangeAspect="1"/>
          </p:cNvPicPr>
          <p:nvPr/>
        </p:nvPicPr>
        <p:blipFill>
          <a:blip r:embed="rId3"/>
          <a:stretch>
            <a:fillRect/>
          </a:stretch>
        </p:blipFill>
        <p:spPr>
          <a:xfrm>
            <a:off x="6847144" y="1030556"/>
            <a:ext cx="2222334" cy="2750219"/>
          </a:xfrm>
          <a:prstGeom prst="rect">
            <a:avLst/>
          </a:prstGeom>
        </p:spPr>
      </p:pic>
      <p:grpSp>
        <p:nvGrpSpPr>
          <p:cNvPr id="15" name="グループ化 14">
            <a:extLst>
              <a:ext uri="{FF2B5EF4-FFF2-40B4-BE49-F238E27FC236}">
                <a16:creationId xmlns:a16="http://schemas.microsoft.com/office/drawing/2014/main" id="{C5C466F6-7EB0-2B4C-8B9F-5F351C14C7EF}"/>
              </a:ext>
            </a:extLst>
          </p:cNvPr>
          <p:cNvGrpSpPr/>
          <p:nvPr/>
        </p:nvGrpSpPr>
        <p:grpSpPr>
          <a:xfrm>
            <a:off x="163626" y="1160115"/>
            <a:ext cx="4836637" cy="680876"/>
            <a:chOff x="163626" y="1160115"/>
            <a:chExt cx="4836637" cy="680876"/>
          </a:xfrm>
        </p:grpSpPr>
        <p:cxnSp>
          <p:nvCxnSpPr>
            <p:cNvPr id="16" name="直線コネクタ 15">
              <a:extLst>
                <a:ext uri="{FF2B5EF4-FFF2-40B4-BE49-F238E27FC236}">
                  <a16:creationId xmlns:a16="http://schemas.microsoft.com/office/drawing/2014/main" id="{5C6C6833-EA00-AB40-8A4B-3EC05B9F5CFB}"/>
                </a:ext>
              </a:extLst>
            </p:cNvPr>
            <p:cNvCxnSpPr>
              <a:cxnSpLocks/>
            </p:cNvCxnSpPr>
            <p:nvPr userDrawn="1"/>
          </p:nvCxnSpPr>
          <p:spPr>
            <a:xfrm>
              <a:off x="163626" y="1699846"/>
              <a:ext cx="483663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8" name="正方形/長方形 17">
              <a:extLst>
                <a:ext uri="{FF2B5EF4-FFF2-40B4-BE49-F238E27FC236}">
                  <a16:creationId xmlns:a16="http://schemas.microsoft.com/office/drawing/2014/main" id="{869924E9-9C77-4D4D-BB8F-6AC927DE52B4}"/>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9" name="テキスト プレースホルダー 12">
            <a:extLst>
              <a:ext uri="{FF2B5EF4-FFF2-40B4-BE49-F238E27FC236}">
                <a16:creationId xmlns:a16="http://schemas.microsoft.com/office/drawing/2014/main" id="{EB0876A5-390F-D744-AF2F-7706ACC6B6B7}"/>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4"/>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5"/>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各カテゴリに対する戦略</a:t>
            </a:r>
          </a:p>
        </p:txBody>
      </p:sp>
    </p:spTree>
    <p:extLst>
      <p:ext uri="{BB962C8B-B14F-4D97-AF65-F5344CB8AC3E}">
        <p14:creationId xmlns:p14="http://schemas.microsoft.com/office/powerpoint/2010/main" val="1463895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0DB537-1938-254E-9646-E1F659D7D94F}"/>
              </a:ext>
            </a:extLst>
          </p:cNvPr>
          <p:cNvSpPr>
            <a:spLocks noGrp="1"/>
          </p:cNvSpPr>
          <p:nvPr>
            <p:ph type="title"/>
          </p:nvPr>
        </p:nvSpPr>
        <p:spPr/>
        <p:txBody>
          <a:bodyPr/>
          <a:lstStyle/>
          <a:p>
            <a:r>
              <a:rPr lang="ja-JP" altLang="en-US"/>
              <a:t>その他研究について</a:t>
            </a:r>
            <a:endParaRPr kumimoji="1" lang="ja-JP" altLang="en-US"/>
          </a:p>
        </p:txBody>
      </p:sp>
      <p:sp>
        <p:nvSpPr>
          <p:cNvPr id="3" name="コンテンツ プレースホルダー 2">
            <a:extLst>
              <a:ext uri="{FF2B5EF4-FFF2-40B4-BE49-F238E27FC236}">
                <a16:creationId xmlns:a16="http://schemas.microsoft.com/office/drawing/2014/main" id="{6229DDA1-6C79-D941-87FB-D426CD549B15}"/>
              </a:ext>
            </a:extLst>
          </p:cNvPr>
          <p:cNvSpPr>
            <a:spLocks noGrp="1"/>
          </p:cNvSpPr>
          <p:nvPr>
            <p:ph idx="1"/>
          </p:nvPr>
        </p:nvSpPr>
        <p:spPr>
          <a:xfrm>
            <a:off x="194898" y="1884384"/>
            <a:ext cx="8859709" cy="3463117"/>
          </a:xfrm>
        </p:spPr>
        <p:txBody>
          <a:bodyPr/>
          <a:lstStyle/>
          <a:p>
            <a:endParaRPr lang="en-US" altLang="ja-JP" dirty="0"/>
          </a:p>
          <a:p>
            <a:endParaRPr kumimoji="1" lang="ja-JP" altLang="en-US"/>
          </a:p>
        </p:txBody>
      </p:sp>
      <p:sp>
        <p:nvSpPr>
          <p:cNvPr id="4" name="日付プレースホルダー 3">
            <a:extLst>
              <a:ext uri="{FF2B5EF4-FFF2-40B4-BE49-F238E27FC236}">
                <a16:creationId xmlns:a16="http://schemas.microsoft.com/office/drawing/2014/main" id="{07E71DB6-372F-AC4F-B4AB-05B690094CFC}"/>
              </a:ext>
            </a:extLst>
          </p:cNvPr>
          <p:cNvSpPr>
            <a:spLocks noGrp="1"/>
          </p:cNvSpPr>
          <p:nvPr>
            <p:ph type="dt" sz="half" idx="10"/>
          </p:nvPr>
        </p:nvSpPr>
        <p:spPr/>
        <p:txBody>
          <a:bodyPr/>
          <a:lstStyle/>
          <a:p>
            <a:fld id="{24B158CC-F5BE-2345-99BA-C49B60654C2B}" type="datetime1">
              <a:rPr kumimoji="1" lang="ja-JP" altLang="en-US" smtClean="0"/>
              <a:t>2020/7/10</a:t>
            </a:fld>
            <a:endParaRPr kumimoji="1" lang="ja-JP" altLang="en-US"/>
          </a:p>
        </p:txBody>
      </p:sp>
      <p:sp>
        <p:nvSpPr>
          <p:cNvPr id="5" name="フッター プレースホルダー 4">
            <a:extLst>
              <a:ext uri="{FF2B5EF4-FFF2-40B4-BE49-F238E27FC236}">
                <a16:creationId xmlns:a16="http://schemas.microsoft.com/office/drawing/2014/main" id="{0FDF195F-1A3C-9943-A429-1185F334479A}"/>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C18667CF-ABBD-C945-B743-3E1587C59B41}"/>
              </a:ext>
            </a:extLst>
          </p:cNvPr>
          <p:cNvSpPr>
            <a:spLocks noGrp="1"/>
          </p:cNvSpPr>
          <p:nvPr>
            <p:ph type="sldNum" sz="quarter" idx="12"/>
          </p:nvPr>
        </p:nvSpPr>
        <p:spPr/>
        <p:txBody>
          <a:bodyPr/>
          <a:lstStyle/>
          <a:p>
            <a:fld id="{2981C279-7323-A845-8A27-BB5908B2F04D}" type="slidenum">
              <a:rPr kumimoji="1" lang="ja-JP" altLang="en-US" smtClean="0"/>
              <a:t>18</a:t>
            </a:fld>
            <a:endParaRPr kumimoji="1" lang="ja-JP" altLang="en-US"/>
          </a:p>
        </p:txBody>
      </p:sp>
      <p:sp>
        <p:nvSpPr>
          <p:cNvPr id="7" name="テキスト プレースホルダー 6">
            <a:extLst>
              <a:ext uri="{FF2B5EF4-FFF2-40B4-BE49-F238E27FC236}">
                <a16:creationId xmlns:a16="http://schemas.microsoft.com/office/drawing/2014/main" id="{90007484-89B5-4348-ABAF-743AD89B12A1}"/>
              </a:ext>
            </a:extLst>
          </p:cNvPr>
          <p:cNvSpPr>
            <a:spLocks noGrp="1"/>
          </p:cNvSpPr>
          <p:nvPr>
            <p:ph type="body" sz="quarter" idx="13"/>
          </p:nvPr>
        </p:nvSpPr>
        <p:spPr/>
        <p:txBody>
          <a:bodyPr/>
          <a:lstStyle/>
          <a:p>
            <a:r>
              <a:rPr kumimoji="1" lang="en-US" altLang="ja-JP" dirty="0"/>
              <a:t>3</a:t>
            </a:r>
            <a:endParaRPr kumimoji="1" lang="ja-JP" altLang="en-US"/>
          </a:p>
        </p:txBody>
      </p:sp>
      <p:grpSp>
        <p:nvGrpSpPr>
          <p:cNvPr id="8" name="グループ化 7">
            <a:extLst>
              <a:ext uri="{FF2B5EF4-FFF2-40B4-BE49-F238E27FC236}">
                <a16:creationId xmlns:a16="http://schemas.microsoft.com/office/drawing/2014/main" id="{1802F486-8564-F042-BB12-D0807C00DBC0}"/>
              </a:ext>
            </a:extLst>
          </p:cNvPr>
          <p:cNvGrpSpPr/>
          <p:nvPr/>
        </p:nvGrpSpPr>
        <p:grpSpPr>
          <a:xfrm>
            <a:off x="163626" y="1160115"/>
            <a:ext cx="6346902" cy="680876"/>
            <a:chOff x="163626" y="1160115"/>
            <a:chExt cx="6346902" cy="680876"/>
          </a:xfrm>
        </p:grpSpPr>
        <p:cxnSp>
          <p:nvCxnSpPr>
            <p:cNvPr id="9" name="直線コネクタ 8">
              <a:extLst>
                <a:ext uri="{FF2B5EF4-FFF2-40B4-BE49-F238E27FC236}">
                  <a16:creationId xmlns:a16="http://schemas.microsoft.com/office/drawing/2014/main" id="{11E4DA3D-E02B-7F42-8F6D-496C4C8C4882}"/>
                </a:ext>
              </a:extLst>
            </p:cNvPr>
            <p:cNvCxnSpPr>
              <a:cxnSpLocks/>
            </p:cNvCxnSpPr>
            <p:nvPr userDrawn="1"/>
          </p:nvCxnSpPr>
          <p:spPr>
            <a:xfrm>
              <a:off x="163626" y="1699846"/>
              <a:ext cx="6346902"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D7B6B005-2406-534F-879E-E016C333D647}"/>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F7281F50-E19B-4141-A852-D9CF6AEBD055}"/>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ベクトルの類似度</a:t>
            </a:r>
            <a:r>
              <a:rPr lang="en-US" altLang="ja-JP" dirty="0"/>
              <a:t>(</a:t>
            </a:r>
            <a:r>
              <a:rPr lang="ja-JP" altLang="en-US"/>
              <a:t>距離</a:t>
            </a:r>
            <a:r>
              <a:rPr lang="en-US" altLang="ja-JP" dirty="0"/>
              <a:t>)</a:t>
            </a:r>
            <a:r>
              <a:rPr lang="ja-JP" altLang="en-US"/>
              <a:t>について</a:t>
            </a:r>
          </a:p>
        </p:txBody>
      </p:sp>
      <p:grpSp>
        <p:nvGrpSpPr>
          <p:cNvPr id="106" name="グループ化 105">
            <a:extLst>
              <a:ext uri="{FF2B5EF4-FFF2-40B4-BE49-F238E27FC236}">
                <a16:creationId xmlns:a16="http://schemas.microsoft.com/office/drawing/2014/main" id="{59B1AFF8-C98A-F54C-81FE-282B1EA1B318}"/>
              </a:ext>
            </a:extLst>
          </p:cNvPr>
          <p:cNvGrpSpPr/>
          <p:nvPr/>
        </p:nvGrpSpPr>
        <p:grpSpPr>
          <a:xfrm>
            <a:off x="3028950" y="2567280"/>
            <a:ext cx="3744987" cy="3897250"/>
            <a:chOff x="4997905" y="2671946"/>
            <a:chExt cx="3744987" cy="3897250"/>
          </a:xfrm>
        </p:grpSpPr>
        <p:grpSp>
          <p:nvGrpSpPr>
            <p:cNvPr id="107" name="グループ化 106">
              <a:extLst>
                <a:ext uri="{FF2B5EF4-FFF2-40B4-BE49-F238E27FC236}">
                  <a16:creationId xmlns:a16="http://schemas.microsoft.com/office/drawing/2014/main" id="{D730C464-E638-8540-A589-0CAC867368EA}"/>
                </a:ext>
              </a:extLst>
            </p:cNvPr>
            <p:cNvGrpSpPr/>
            <p:nvPr/>
          </p:nvGrpSpPr>
          <p:grpSpPr>
            <a:xfrm>
              <a:off x="6972734" y="4589459"/>
              <a:ext cx="1770158" cy="1979737"/>
              <a:chOff x="3066278" y="3558947"/>
              <a:chExt cx="2141892" cy="2395479"/>
            </a:xfrm>
          </p:grpSpPr>
          <p:grpSp>
            <p:nvGrpSpPr>
              <p:cNvPr id="143" name="グループ化 142">
                <a:extLst>
                  <a:ext uri="{FF2B5EF4-FFF2-40B4-BE49-F238E27FC236}">
                    <a16:creationId xmlns:a16="http://schemas.microsoft.com/office/drawing/2014/main" id="{255412B3-F9C2-CC4F-981C-A4CB0AA0C6BC}"/>
                  </a:ext>
                </a:extLst>
              </p:cNvPr>
              <p:cNvGrpSpPr/>
              <p:nvPr/>
            </p:nvGrpSpPr>
            <p:grpSpPr>
              <a:xfrm>
                <a:off x="3066278" y="3558947"/>
                <a:ext cx="2141892" cy="2092323"/>
                <a:chOff x="2756727" y="4237038"/>
                <a:chExt cx="2141892" cy="2092323"/>
              </a:xfrm>
            </p:grpSpPr>
            <p:sp>
              <p:nvSpPr>
                <p:cNvPr id="145" name="五角形 15">
                  <a:extLst>
                    <a:ext uri="{FF2B5EF4-FFF2-40B4-BE49-F238E27FC236}">
                      <a16:creationId xmlns:a16="http://schemas.microsoft.com/office/drawing/2014/main" id="{0EE74927-3B38-374D-AEB7-642AF3A410F1}"/>
                    </a:ext>
                  </a:extLst>
                </p:cNvPr>
                <p:cNvSpPr/>
                <p:nvPr/>
              </p:nvSpPr>
              <p:spPr>
                <a:xfrm>
                  <a:off x="3096519" y="4591221"/>
                  <a:ext cx="1350939" cy="1325181"/>
                </a:xfrm>
                <a:custGeom>
                  <a:avLst/>
                  <a:gdLst>
                    <a:gd name="connsiteX0" fmla="*/ 2 w 1466853"/>
                    <a:gd name="connsiteY0" fmla="*/ 560287 h 1466853"/>
                    <a:gd name="connsiteX1" fmla="*/ 733427 w 1466853"/>
                    <a:gd name="connsiteY1" fmla="*/ 0 h 1466853"/>
                    <a:gd name="connsiteX2" fmla="*/ 1466851 w 1466853"/>
                    <a:gd name="connsiteY2" fmla="*/ 560287 h 1466853"/>
                    <a:gd name="connsiteX3" fmla="*/ 1186708 w 1466853"/>
                    <a:gd name="connsiteY3" fmla="*/ 1466849 h 1466853"/>
                    <a:gd name="connsiteX4" fmla="*/ 280145 w 1466853"/>
                    <a:gd name="connsiteY4" fmla="*/ 1466849 h 1466853"/>
                    <a:gd name="connsiteX5" fmla="*/ 2 w 1466853"/>
                    <a:gd name="connsiteY5" fmla="*/ 560287 h 1466853"/>
                    <a:gd name="connsiteX0" fmla="*/ 0 w 1466849"/>
                    <a:gd name="connsiteY0" fmla="*/ 560287 h 1466849"/>
                    <a:gd name="connsiteX1" fmla="*/ 733425 w 1466849"/>
                    <a:gd name="connsiteY1" fmla="*/ 0 h 1466849"/>
                    <a:gd name="connsiteX2" fmla="*/ 1466849 w 1466849"/>
                    <a:gd name="connsiteY2" fmla="*/ 560287 h 1466849"/>
                    <a:gd name="connsiteX3" fmla="*/ 1186706 w 1466849"/>
                    <a:gd name="connsiteY3" fmla="*/ 1466849 h 1466849"/>
                    <a:gd name="connsiteX4" fmla="*/ 357416 w 1466849"/>
                    <a:gd name="connsiteY4" fmla="*/ 1222150 h 1466849"/>
                    <a:gd name="connsiteX5" fmla="*/ 0 w 1466849"/>
                    <a:gd name="connsiteY5" fmla="*/ 560287 h 1466849"/>
                    <a:gd name="connsiteX0" fmla="*/ 0 w 1466849"/>
                    <a:gd name="connsiteY0" fmla="*/ 560287 h 1466849"/>
                    <a:gd name="connsiteX1" fmla="*/ 733425 w 1466849"/>
                    <a:gd name="connsiteY1" fmla="*/ 0 h 1466849"/>
                    <a:gd name="connsiteX2" fmla="*/ 1466849 w 1466849"/>
                    <a:gd name="connsiteY2" fmla="*/ 560287 h 1466849"/>
                    <a:gd name="connsiteX3" fmla="*/ 1186706 w 1466849"/>
                    <a:gd name="connsiteY3" fmla="*/ 1466849 h 1466849"/>
                    <a:gd name="connsiteX4" fmla="*/ 280143 w 1466849"/>
                    <a:gd name="connsiteY4" fmla="*/ 1389575 h 1466849"/>
                    <a:gd name="connsiteX5" fmla="*/ 0 w 1466849"/>
                    <a:gd name="connsiteY5" fmla="*/ 560287 h 1466849"/>
                    <a:gd name="connsiteX0" fmla="*/ 0 w 1466849"/>
                    <a:gd name="connsiteY0" fmla="*/ 418619 h 1325181"/>
                    <a:gd name="connsiteX1" fmla="*/ 733425 w 1466849"/>
                    <a:gd name="connsiteY1" fmla="*/ 0 h 1325181"/>
                    <a:gd name="connsiteX2" fmla="*/ 1466849 w 1466849"/>
                    <a:gd name="connsiteY2" fmla="*/ 418619 h 1325181"/>
                    <a:gd name="connsiteX3" fmla="*/ 1186706 w 1466849"/>
                    <a:gd name="connsiteY3" fmla="*/ 1325181 h 1325181"/>
                    <a:gd name="connsiteX4" fmla="*/ 280143 w 1466849"/>
                    <a:gd name="connsiteY4" fmla="*/ 1247907 h 1325181"/>
                    <a:gd name="connsiteX5" fmla="*/ 0 w 1466849"/>
                    <a:gd name="connsiteY5" fmla="*/ 418619 h 1325181"/>
                    <a:gd name="connsiteX0" fmla="*/ 0 w 1466849"/>
                    <a:gd name="connsiteY0" fmla="*/ 341346 h 1247908"/>
                    <a:gd name="connsiteX1" fmla="*/ 733425 w 1466849"/>
                    <a:gd name="connsiteY1" fmla="*/ 0 h 1247908"/>
                    <a:gd name="connsiteX2" fmla="*/ 1466849 w 1466849"/>
                    <a:gd name="connsiteY2" fmla="*/ 341346 h 1247908"/>
                    <a:gd name="connsiteX3" fmla="*/ 1186706 w 1466849"/>
                    <a:gd name="connsiteY3" fmla="*/ 1247908 h 1247908"/>
                    <a:gd name="connsiteX4" fmla="*/ 280143 w 1466849"/>
                    <a:gd name="connsiteY4" fmla="*/ 1170634 h 1247908"/>
                    <a:gd name="connsiteX5" fmla="*/ 0 w 1466849"/>
                    <a:gd name="connsiteY5" fmla="*/ 341346 h 1247908"/>
                    <a:gd name="connsiteX0" fmla="*/ 0 w 1466849"/>
                    <a:gd name="connsiteY0" fmla="*/ 341346 h 1247908"/>
                    <a:gd name="connsiteX1" fmla="*/ 733425 w 1466849"/>
                    <a:gd name="connsiteY1" fmla="*/ 0 h 1247908"/>
                    <a:gd name="connsiteX2" fmla="*/ 1466849 w 1466849"/>
                    <a:gd name="connsiteY2" fmla="*/ 341346 h 1247908"/>
                    <a:gd name="connsiteX3" fmla="*/ 1186706 w 1466849"/>
                    <a:gd name="connsiteY3" fmla="*/ 1247908 h 1247908"/>
                    <a:gd name="connsiteX4" fmla="*/ 318780 w 1466849"/>
                    <a:gd name="connsiteY4" fmla="*/ 1119119 h 1247908"/>
                    <a:gd name="connsiteX5" fmla="*/ 0 w 1466849"/>
                    <a:gd name="connsiteY5" fmla="*/ 341346 h 1247908"/>
                    <a:gd name="connsiteX0" fmla="*/ 0 w 1350939"/>
                    <a:gd name="connsiteY0" fmla="*/ 341346 h 1247908"/>
                    <a:gd name="connsiteX1" fmla="*/ 733425 w 1350939"/>
                    <a:gd name="connsiteY1" fmla="*/ 0 h 1247908"/>
                    <a:gd name="connsiteX2" fmla="*/ 1350939 w 1350939"/>
                    <a:gd name="connsiteY2" fmla="*/ 405741 h 1247908"/>
                    <a:gd name="connsiteX3" fmla="*/ 1186706 w 1350939"/>
                    <a:gd name="connsiteY3" fmla="*/ 1247908 h 1247908"/>
                    <a:gd name="connsiteX4" fmla="*/ 318780 w 1350939"/>
                    <a:gd name="connsiteY4" fmla="*/ 1119119 h 1247908"/>
                    <a:gd name="connsiteX5" fmla="*/ 0 w 1350939"/>
                    <a:gd name="connsiteY5" fmla="*/ 341346 h 1247908"/>
                    <a:gd name="connsiteX0" fmla="*/ 0 w 1350939"/>
                    <a:gd name="connsiteY0" fmla="*/ 444377 h 1350939"/>
                    <a:gd name="connsiteX1" fmla="*/ 759183 w 1350939"/>
                    <a:gd name="connsiteY1" fmla="*/ 0 h 1350939"/>
                    <a:gd name="connsiteX2" fmla="*/ 1350939 w 1350939"/>
                    <a:gd name="connsiteY2" fmla="*/ 508772 h 1350939"/>
                    <a:gd name="connsiteX3" fmla="*/ 1186706 w 1350939"/>
                    <a:gd name="connsiteY3" fmla="*/ 1350939 h 1350939"/>
                    <a:gd name="connsiteX4" fmla="*/ 318780 w 1350939"/>
                    <a:gd name="connsiteY4" fmla="*/ 1222150 h 1350939"/>
                    <a:gd name="connsiteX5" fmla="*/ 0 w 1350939"/>
                    <a:gd name="connsiteY5" fmla="*/ 444377 h 1350939"/>
                    <a:gd name="connsiteX0" fmla="*/ 0 w 1350939"/>
                    <a:gd name="connsiteY0" fmla="*/ 431498 h 1338060"/>
                    <a:gd name="connsiteX1" fmla="*/ 694789 w 1350939"/>
                    <a:gd name="connsiteY1" fmla="*/ 0 h 1338060"/>
                    <a:gd name="connsiteX2" fmla="*/ 1350939 w 1350939"/>
                    <a:gd name="connsiteY2" fmla="*/ 495893 h 1338060"/>
                    <a:gd name="connsiteX3" fmla="*/ 1186706 w 1350939"/>
                    <a:gd name="connsiteY3" fmla="*/ 1338060 h 1338060"/>
                    <a:gd name="connsiteX4" fmla="*/ 318780 w 1350939"/>
                    <a:gd name="connsiteY4" fmla="*/ 1209271 h 1338060"/>
                    <a:gd name="connsiteX5" fmla="*/ 0 w 1350939"/>
                    <a:gd name="connsiteY5" fmla="*/ 431498 h 1338060"/>
                    <a:gd name="connsiteX0" fmla="*/ 0 w 1350939"/>
                    <a:gd name="connsiteY0" fmla="*/ 418619 h 1325181"/>
                    <a:gd name="connsiteX1" fmla="*/ 746304 w 1350939"/>
                    <a:gd name="connsiteY1" fmla="*/ 0 h 1325181"/>
                    <a:gd name="connsiteX2" fmla="*/ 1350939 w 1350939"/>
                    <a:gd name="connsiteY2" fmla="*/ 483014 h 1325181"/>
                    <a:gd name="connsiteX3" fmla="*/ 1186706 w 1350939"/>
                    <a:gd name="connsiteY3" fmla="*/ 1325181 h 1325181"/>
                    <a:gd name="connsiteX4" fmla="*/ 318780 w 1350939"/>
                    <a:gd name="connsiteY4" fmla="*/ 1196392 h 1325181"/>
                    <a:gd name="connsiteX5" fmla="*/ 0 w 1350939"/>
                    <a:gd name="connsiteY5" fmla="*/ 418619 h 1325181"/>
                    <a:gd name="connsiteX0" fmla="*/ 0 w 1350939"/>
                    <a:gd name="connsiteY0" fmla="*/ 508771 h 1325181"/>
                    <a:gd name="connsiteX1" fmla="*/ 746304 w 1350939"/>
                    <a:gd name="connsiteY1" fmla="*/ 0 h 1325181"/>
                    <a:gd name="connsiteX2" fmla="*/ 1350939 w 1350939"/>
                    <a:gd name="connsiteY2" fmla="*/ 483014 h 1325181"/>
                    <a:gd name="connsiteX3" fmla="*/ 1186706 w 1350939"/>
                    <a:gd name="connsiteY3" fmla="*/ 1325181 h 1325181"/>
                    <a:gd name="connsiteX4" fmla="*/ 318780 w 1350939"/>
                    <a:gd name="connsiteY4" fmla="*/ 1196392 h 1325181"/>
                    <a:gd name="connsiteX5" fmla="*/ 0 w 1350939"/>
                    <a:gd name="connsiteY5" fmla="*/ 508771 h 1325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50939" h="1325181">
                      <a:moveTo>
                        <a:pt x="0" y="508771"/>
                      </a:moveTo>
                      <a:lnTo>
                        <a:pt x="746304" y="0"/>
                      </a:lnTo>
                      <a:lnTo>
                        <a:pt x="1350939" y="483014"/>
                      </a:lnTo>
                      <a:lnTo>
                        <a:pt x="1186706" y="1325181"/>
                      </a:lnTo>
                      <a:lnTo>
                        <a:pt x="318780" y="1196392"/>
                      </a:lnTo>
                      <a:lnTo>
                        <a:pt x="0" y="50877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6" name="テキスト ボックス 145">
                  <a:extLst>
                    <a:ext uri="{FF2B5EF4-FFF2-40B4-BE49-F238E27FC236}">
                      <a16:creationId xmlns:a16="http://schemas.microsoft.com/office/drawing/2014/main" id="{28391589-C62F-3F43-A92D-BBCAFE07097F}"/>
                    </a:ext>
                  </a:extLst>
                </p:cNvPr>
                <p:cNvSpPr txBox="1"/>
                <p:nvPr/>
              </p:nvSpPr>
              <p:spPr>
                <a:xfrm>
                  <a:off x="3624486" y="4237038"/>
                  <a:ext cx="392195" cy="372410"/>
                </a:xfrm>
                <a:prstGeom prst="rect">
                  <a:avLst/>
                </a:prstGeom>
                <a:noFill/>
              </p:spPr>
              <p:txBody>
                <a:bodyPr wrap="none" rtlCol="0">
                  <a:spAutoFit/>
                </a:bodyPr>
                <a:lstStyle/>
                <a:p>
                  <a:r>
                    <a:rPr kumimoji="1" lang="en-US" altLang="ja-JP" sz="1400" dirty="0"/>
                    <a:t>N</a:t>
                  </a:r>
                  <a:endParaRPr kumimoji="1" lang="ja-JP" altLang="en-US" sz="1400"/>
                </a:p>
              </p:txBody>
            </p:sp>
            <p:sp>
              <p:nvSpPr>
                <p:cNvPr id="147" name="テキスト ボックス 146">
                  <a:extLst>
                    <a:ext uri="{FF2B5EF4-FFF2-40B4-BE49-F238E27FC236}">
                      <a16:creationId xmlns:a16="http://schemas.microsoft.com/office/drawing/2014/main" id="{D33BE5EA-FFA7-3D47-B7CF-3CD1443F56E1}"/>
                    </a:ext>
                  </a:extLst>
                </p:cNvPr>
                <p:cNvSpPr txBox="1"/>
                <p:nvPr/>
              </p:nvSpPr>
              <p:spPr>
                <a:xfrm>
                  <a:off x="4157616" y="5956951"/>
                  <a:ext cx="396074" cy="372410"/>
                </a:xfrm>
                <a:prstGeom prst="rect">
                  <a:avLst/>
                </a:prstGeom>
                <a:noFill/>
              </p:spPr>
              <p:txBody>
                <a:bodyPr wrap="none" rtlCol="0">
                  <a:spAutoFit/>
                </a:bodyPr>
                <a:lstStyle/>
                <a:p>
                  <a:r>
                    <a:rPr kumimoji="1" lang="en-US" altLang="ja-JP" sz="1400" dirty="0"/>
                    <a:t>O</a:t>
                  </a:r>
                  <a:endParaRPr kumimoji="1" lang="ja-JP" altLang="en-US" sz="1400"/>
                </a:p>
              </p:txBody>
            </p:sp>
            <p:sp>
              <p:nvSpPr>
                <p:cNvPr id="148" name="テキスト ボックス 147">
                  <a:extLst>
                    <a:ext uri="{FF2B5EF4-FFF2-40B4-BE49-F238E27FC236}">
                      <a16:creationId xmlns:a16="http://schemas.microsoft.com/office/drawing/2014/main" id="{338CA52E-FA79-614A-ABAD-207514E850A8}"/>
                    </a:ext>
                  </a:extLst>
                </p:cNvPr>
                <p:cNvSpPr txBox="1"/>
                <p:nvPr/>
              </p:nvSpPr>
              <p:spPr>
                <a:xfrm>
                  <a:off x="4535520" y="4888186"/>
                  <a:ext cx="363099" cy="372410"/>
                </a:xfrm>
                <a:prstGeom prst="rect">
                  <a:avLst/>
                </a:prstGeom>
                <a:noFill/>
              </p:spPr>
              <p:txBody>
                <a:bodyPr wrap="none" rtlCol="0">
                  <a:spAutoFit/>
                </a:bodyPr>
                <a:lstStyle/>
                <a:p>
                  <a:r>
                    <a:rPr kumimoji="1" lang="en-US" altLang="ja-JP" sz="1400" dirty="0"/>
                    <a:t>E</a:t>
                  </a:r>
                  <a:endParaRPr kumimoji="1" lang="ja-JP" altLang="en-US" sz="1400"/>
                </a:p>
              </p:txBody>
            </p:sp>
            <p:sp>
              <p:nvSpPr>
                <p:cNvPr id="149" name="テキスト ボックス 148">
                  <a:extLst>
                    <a:ext uri="{FF2B5EF4-FFF2-40B4-BE49-F238E27FC236}">
                      <a16:creationId xmlns:a16="http://schemas.microsoft.com/office/drawing/2014/main" id="{A344A837-1461-E44B-B1C3-F2298E102D7A}"/>
                    </a:ext>
                  </a:extLst>
                </p:cNvPr>
                <p:cNvSpPr txBox="1"/>
                <p:nvPr/>
              </p:nvSpPr>
              <p:spPr>
                <a:xfrm>
                  <a:off x="3156677" y="5956951"/>
                  <a:ext cx="386375" cy="372410"/>
                </a:xfrm>
                <a:prstGeom prst="rect">
                  <a:avLst/>
                </a:prstGeom>
                <a:noFill/>
              </p:spPr>
              <p:txBody>
                <a:bodyPr wrap="none" rtlCol="0">
                  <a:spAutoFit/>
                </a:bodyPr>
                <a:lstStyle/>
                <a:p>
                  <a:r>
                    <a:rPr kumimoji="1" lang="en-US" altLang="ja-JP" sz="1400" dirty="0"/>
                    <a:t>A</a:t>
                  </a:r>
                  <a:endParaRPr kumimoji="1" lang="ja-JP" altLang="en-US" sz="1400"/>
                </a:p>
              </p:txBody>
            </p:sp>
            <p:sp>
              <p:nvSpPr>
                <p:cNvPr id="150" name="テキスト ボックス 149">
                  <a:extLst>
                    <a:ext uri="{FF2B5EF4-FFF2-40B4-BE49-F238E27FC236}">
                      <a16:creationId xmlns:a16="http://schemas.microsoft.com/office/drawing/2014/main" id="{CA968138-EDEE-784A-8A2E-ED3069C494E9}"/>
                    </a:ext>
                  </a:extLst>
                </p:cNvPr>
                <p:cNvSpPr txBox="1"/>
                <p:nvPr/>
              </p:nvSpPr>
              <p:spPr>
                <a:xfrm>
                  <a:off x="2756727" y="4910171"/>
                  <a:ext cx="388316" cy="372410"/>
                </a:xfrm>
                <a:prstGeom prst="rect">
                  <a:avLst/>
                </a:prstGeom>
                <a:noFill/>
              </p:spPr>
              <p:txBody>
                <a:bodyPr wrap="none" rtlCol="0">
                  <a:spAutoFit/>
                </a:bodyPr>
                <a:lstStyle/>
                <a:p>
                  <a:r>
                    <a:rPr kumimoji="1" lang="en-US" altLang="ja-JP" sz="1400" dirty="0"/>
                    <a:t>C</a:t>
                  </a:r>
                  <a:endParaRPr kumimoji="1" lang="ja-JP" altLang="en-US" sz="1400"/>
                </a:p>
              </p:txBody>
            </p:sp>
          </p:grpSp>
          <p:sp>
            <p:nvSpPr>
              <p:cNvPr id="144" name="テキスト ボックス 143">
                <a:extLst>
                  <a:ext uri="{FF2B5EF4-FFF2-40B4-BE49-F238E27FC236}">
                    <a16:creationId xmlns:a16="http://schemas.microsoft.com/office/drawing/2014/main" id="{FB3E954F-4FED-FB4E-8A30-E5D2641F0B3A}"/>
                  </a:ext>
                </a:extLst>
              </p:cNvPr>
              <p:cNvSpPr txBox="1"/>
              <p:nvPr/>
            </p:nvSpPr>
            <p:spPr>
              <a:xfrm>
                <a:off x="3618876" y="5615872"/>
                <a:ext cx="1028358" cy="338554"/>
              </a:xfrm>
              <a:prstGeom prst="rect">
                <a:avLst/>
              </a:prstGeom>
              <a:noFill/>
            </p:spPr>
            <p:txBody>
              <a:bodyPr wrap="none" rtlCol="0">
                <a:spAutoFit/>
              </a:bodyPr>
              <a:lstStyle/>
              <a:p>
                <a:r>
                  <a:rPr kumimoji="1" lang="ja-JP" altLang="en-US" sz="1600"/>
                  <a:t>被験者</a:t>
                </a:r>
                <a:r>
                  <a:rPr kumimoji="1" lang="en-US" altLang="ja-JP" sz="1600" dirty="0"/>
                  <a:t>2</a:t>
                </a:r>
                <a:endParaRPr kumimoji="1" lang="ja-JP" altLang="en-US" sz="1600"/>
              </a:p>
            </p:txBody>
          </p:sp>
        </p:grpSp>
        <p:grpSp>
          <p:nvGrpSpPr>
            <p:cNvPr id="108" name="グループ化 107">
              <a:extLst>
                <a:ext uri="{FF2B5EF4-FFF2-40B4-BE49-F238E27FC236}">
                  <a16:creationId xmlns:a16="http://schemas.microsoft.com/office/drawing/2014/main" id="{5F944B5F-BB2B-3E40-BF7A-20E52892F954}"/>
                </a:ext>
              </a:extLst>
            </p:cNvPr>
            <p:cNvGrpSpPr/>
            <p:nvPr/>
          </p:nvGrpSpPr>
          <p:grpSpPr>
            <a:xfrm>
              <a:off x="7194416" y="2671946"/>
              <a:ext cx="1198665" cy="1519118"/>
              <a:chOff x="5326362" y="4080350"/>
              <a:chExt cx="1318532" cy="1671029"/>
            </a:xfrm>
          </p:grpSpPr>
          <p:grpSp>
            <p:nvGrpSpPr>
              <p:cNvPr id="135" name="グループ化 134">
                <a:extLst>
                  <a:ext uri="{FF2B5EF4-FFF2-40B4-BE49-F238E27FC236}">
                    <a16:creationId xmlns:a16="http://schemas.microsoft.com/office/drawing/2014/main" id="{3DB8DCC6-ABBB-0540-BD49-F1B350BF6681}"/>
                  </a:ext>
                </a:extLst>
              </p:cNvPr>
              <p:cNvGrpSpPr/>
              <p:nvPr/>
            </p:nvGrpSpPr>
            <p:grpSpPr>
              <a:xfrm>
                <a:off x="5326362" y="4080350"/>
                <a:ext cx="1318532" cy="1324496"/>
                <a:chOff x="4954042" y="4976907"/>
                <a:chExt cx="1318532" cy="1324496"/>
              </a:xfrm>
            </p:grpSpPr>
            <p:sp>
              <p:nvSpPr>
                <p:cNvPr id="137" name="五角形 15">
                  <a:extLst>
                    <a:ext uri="{FF2B5EF4-FFF2-40B4-BE49-F238E27FC236}">
                      <a16:creationId xmlns:a16="http://schemas.microsoft.com/office/drawing/2014/main" id="{A7A4AF50-14F4-DB42-B9D1-9C3290A21008}"/>
                    </a:ext>
                  </a:extLst>
                </p:cNvPr>
                <p:cNvSpPr/>
                <p:nvPr/>
              </p:nvSpPr>
              <p:spPr>
                <a:xfrm>
                  <a:off x="5262291" y="5316561"/>
                  <a:ext cx="693245" cy="680027"/>
                </a:xfrm>
                <a:custGeom>
                  <a:avLst/>
                  <a:gdLst>
                    <a:gd name="connsiteX0" fmla="*/ 2 w 1466853"/>
                    <a:gd name="connsiteY0" fmla="*/ 560287 h 1466853"/>
                    <a:gd name="connsiteX1" fmla="*/ 733427 w 1466853"/>
                    <a:gd name="connsiteY1" fmla="*/ 0 h 1466853"/>
                    <a:gd name="connsiteX2" fmla="*/ 1466851 w 1466853"/>
                    <a:gd name="connsiteY2" fmla="*/ 560287 h 1466853"/>
                    <a:gd name="connsiteX3" fmla="*/ 1186708 w 1466853"/>
                    <a:gd name="connsiteY3" fmla="*/ 1466849 h 1466853"/>
                    <a:gd name="connsiteX4" fmla="*/ 280145 w 1466853"/>
                    <a:gd name="connsiteY4" fmla="*/ 1466849 h 1466853"/>
                    <a:gd name="connsiteX5" fmla="*/ 2 w 1466853"/>
                    <a:gd name="connsiteY5" fmla="*/ 560287 h 1466853"/>
                    <a:gd name="connsiteX0" fmla="*/ 0 w 1466849"/>
                    <a:gd name="connsiteY0" fmla="*/ 560287 h 1466849"/>
                    <a:gd name="connsiteX1" fmla="*/ 733425 w 1466849"/>
                    <a:gd name="connsiteY1" fmla="*/ 0 h 1466849"/>
                    <a:gd name="connsiteX2" fmla="*/ 1466849 w 1466849"/>
                    <a:gd name="connsiteY2" fmla="*/ 560287 h 1466849"/>
                    <a:gd name="connsiteX3" fmla="*/ 1186706 w 1466849"/>
                    <a:gd name="connsiteY3" fmla="*/ 1466849 h 1466849"/>
                    <a:gd name="connsiteX4" fmla="*/ 357416 w 1466849"/>
                    <a:gd name="connsiteY4" fmla="*/ 1222150 h 1466849"/>
                    <a:gd name="connsiteX5" fmla="*/ 0 w 1466849"/>
                    <a:gd name="connsiteY5" fmla="*/ 560287 h 1466849"/>
                    <a:gd name="connsiteX0" fmla="*/ 0 w 1466849"/>
                    <a:gd name="connsiteY0" fmla="*/ 560287 h 1466849"/>
                    <a:gd name="connsiteX1" fmla="*/ 733425 w 1466849"/>
                    <a:gd name="connsiteY1" fmla="*/ 0 h 1466849"/>
                    <a:gd name="connsiteX2" fmla="*/ 1466849 w 1466849"/>
                    <a:gd name="connsiteY2" fmla="*/ 560287 h 1466849"/>
                    <a:gd name="connsiteX3" fmla="*/ 1186706 w 1466849"/>
                    <a:gd name="connsiteY3" fmla="*/ 1466849 h 1466849"/>
                    <a:gd name="connsiteX4" fmla="*/ 280143 w 1466849"/>
                    <a:gd name="connsiteY4" fmla="*/ 1389575 h 1466849"/>
                    <a:gd name="connsiteX5" fmla="*/ 0 w 1466849"/>
                    <a:gd name="connsiteY5" fmla="*/ 560287 h 1466849"/>
                    <a:gd name="connsiteX0" fmla="*/ 0 w 1466849"/>
                    <a:gd name="connsiteY0" fmla="*/ 418619 h 1325181"/>
                    <a:gd name="connsiteX1" fmla="*/ 733425 w 1466849"/>
                    <a:gd name="connsiteY1" fmla="*/ 0 h 1325181"/>
                    <a:gd name="connsiteX2" fmla="*/ 1466849 w 1466849"/>
                    <a:gd name="connsiteY2" fmla="*/ 418619 h 1325181"/>
                    <a:gd name="connsiteX3" fmla="*/ 1186706 w 1466849"/>
                    <a:gd name="connsiteY3" fmla="*/ 1325181 h 1325181"/>
                    <a:gd name="connsiteX4" fmla="*/ 280143 w 1466849"/>
                    <a:gd name="connsiteY4" fmla="*/ 1247907 h 1325181"/>
                    <a:gd name="connsiteX5" fmla="*/ 0 w 1466849"/>
                    <a:gd name="connsiteY5" fmla="*/ 418619 h 1325181"/>
                    <a:gd name="connsiteX0" fmla="*/ 0 w 1466849"/>
                    <a:gd name="connsiteY0" fmla="*/ 341346 h 1247908"/>
                    <a:gd name="connsiteX1" fmla="*/ 733425 w 1466849"/>
                    <a:gd name="connsiteY1" fmla="*/ 0 h 1247908"/>
                    <a:gd name="connsiteX2" fmla="*/ 1466849 w 1466849"/>
                    <a:gd name="connsiteY2" fmla="*/ 341346 h 1247908"/>
                    <a:gd name="connsiteX3" fmla="*/ 1186706 w 1466849"/>
                    <a:gd name="connsiteY3" fmla="*/ 1247908 h 1247908"/>
                    <a:gd name="connsiteX4" fmla="*/ 280143 w 1466849"/>
                    <a:gd name="connsiteY4" fmla="*/ 1170634 h 1247908"/>
                    <a:gd name="connsiteX5" fmla="*/ 0 w 1466849"/>
                    <a:gd name="connsiteY5" fmla="*/ 341346 h 1247908"/>
                    <a:gd name="connsiteX0" fmla="*/ 0 w 1466849"/>
                    <a:gd name="connsiteY0" fmla="*/ 341346 h 1247908"/>
                    <a:gd name="connsiteX1" fmla="*/ 733425 w 1466849"/>
                    <a:gd name="connsiteY1" fmla="*/ 0 h 1247908"/>
                    <a:gd name="connsiteX2" fmla="*/ 1466849 w 1466849"/>
                    <a:gd name="connsiteY2" fmla="*/ 341346 h 1247908"/>
                    <a:gd name="connsiteX3" fmla="*/ 1186706 w 1466849"/>
                    <a:gd name="connsiteY3" fmla="*/ 1247908 h 1247908"/>
                    <a:gd name="connsiteX4" fmla="*/ 318780 w 1466849"/>
                    <a:gd name="connsiteY4" fmla="*/ 1119119 h 1247908"/>
                    <a:gd name="connsiteX5" fmla="*/ 0 w 1466849"/>
                    <a:gd name="connsiteY5" fmla="*/ 341346 h 1247908"/>
                    <a:gd name="connsiteX0" fmla="*/ 0 w 1350939"/>
                    <a:gd name="connsiteY0" fmla="*/ 341346 h 1247908"/>
                    <a:gd name="connsiteX1" fmla="*/ 733425 w 1350939"/>
                    <a:gd name="connsiteY1" fmla="*/ 0 h 1247908"/>
                    <a:gd name="connsiteX2" fmla="*/ 1350939 w 1350939"/>
                    <a:gd name="connsiteY2" fmla="*/ 405741 h 1247908"/>
                    <a:gd name="connsiteX3" fmla="*/ 1186706 w 1350939"/>
                    <a:gd name="connsiteY3" fmla="*/ 1247908 h 1247908"/>
                    <a:gd name="connsiteX4" fmla="*/ 318780 w 1350939"/>
                    <a:gd name="connsiteY4" fmla="*/ 1119119 h 1247908"/>
                    <a:gd name="connsiteX5" fmla="*/ 0 w 1350939"/>
                    <a:gd name="connsiteY5" fmla="*/ 341346 h 1247908"/>
                    <a:gd name="connsiteX0" fmla="*/ 0 w 1350939"/>
                    <a:gd name="connsiteY0" fmla="*/ 444377 h 1350939"/>
                    <a:gd name="connsiteX1" fmla="*/ 759183 w 1350939"/>
                    <a:gd name="connsiteY1" fmla="*/ 0 h 1350939"/>
                    <a:gd name="connsiteX2" fmla="*/ 1350939 w 1350939"/>
                    <a:gd name="connsiteY2" fmla="*/ 508772 h 1350939"/>
                    <a:gd name="connsiteX3" fmla="*/ 1186706 w 1350939"/>
                    <a:gd name="connsiteY3" fmla="*/ 1350939 h 1350939"/>
                    <a:gd name="connsiteX4" fmla="*/ 318780 w 1350939"/>
                    <a:gd name="connsiteY4" fmla="*/ 1222150 h 1350939"/>
                    <a:gd name="connsiteX5" fmla="*/ 0 w 1350939"/>
                    <a:gd name="connsiteY5" fmla="*/ 444377 h 1350939"/>
                    <a:gd name="connsiteX0" fmla="*/ 0 w 1350939"/>
                    <a:gd name="connsiteY0" fmla="*/ 431498 h 1338060"/>
                    <a:gd name="connsiteX1" fmla="*/ 694789 w 1350939"/>
                    <a:gd name="connsiteY1" fmla="*/ 0 h 1338060"/>
                    <a:gd name="connsiteX2" fmla="*/ 1350939 w 1350939"/>
                    <a:gd name="connsiteY2" fmla="*/ 495893 h 1338060"/>
                    <a:gd name="connsiteX3" fmla="*/ 1186706 w 1350939"/>
                    <a:gd name="connsiteY3" fmla="*/ 1338060 h 1338060"/>
                    <a:gd name="connsiteX4" fmla="*/ 318780 w 1350939"/>
                    <a:gd name="connsiteY4" fmla="*/ 1209271 h 1338060"/>
                    <a:gd name="connsiteX5" fmla="*/ 0 w 1350939"/>
                    <a:gd name="connsiteY5" fmla="*/ 431498 h 1338060"/>
                    <a:gd name="connsiteX0" fmla="*/ 0 w 1350939"/>
                    <a:gd name="connsiteY0" fmla="*/ 418619 h 1325181"/>
                    <a:gd name="connsiteX1" fmla="*/ 746304 w 1350939"/>
                    <a:gd name="connsiteY1" fmla="*/ 0 h 1325181"/>
                    <a:gd name="connsiteX2" fmla="*/ 1350939 w 1350939"/>
                    <a:gd name="connsiteY2" fmla="*/ 483014 h 1325181"/>
                    <a:gd name="connsiteX3" fmla="*/ 1186706 w 1350939"/>
                    <a:gd name="connsiteY3" fmla="*/ 1325181 h 1325181"/>
                    <a:gd name="connsiteX4" fmla="*/ 318780 w 1350939"/>
                    <a:gd name="connsiteY4" fmla="*/ 1196392 h 1325181"/>
                    <a:gd name="connsiteX5" fmla="*/ 0 w 1350939"/>
                    <a:gd name="connsiteY5" fmla="*/ 418619 h 1325181"/>
                    <a:gd name="connsiteX0" fmla="*/ 0 w 1350939"/>
                    <a:gd name="connsiteY0" fmla="*/ 508771 h 1325181"/>
                    <a:gd name="connsiteX1" fmla="*/ 746304 w 1350939"/>
                    <a:gd name="connsiteY1" fmla="*/ 0 h 1325181"/>
                    <a:gd name="connsiteX2" fmla="*/ 1350939 w 1350939"/>
                    <a:gd name="connsiteY2" fmla="*/ 483014 h 1325181"/>
                    <a:gd name="connsiteX3" fmla="*/ 1186706 w 1350939"/>
                    <a:gd name="connsiteY3" fmla="*/ 1325181 h 1325181"/>
                    <a:gd name="connsiteX4" fmla="*/ 318780 w 1350939"/>
                    <a:gd name="connsiteY4" fmla="*/ 1196392 h 1325181"/>
                    <a:gd name="connsiteX5" fmla="*/ 0 w 1350939"/>
                    <a:gd name="connsiteY5" fmla="*/ 508771 h 1325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50939" h="1325181">
                      <a:moveTo>
                        <a:pt x="0" y="508771"/>
                      </a:moveTo>
                      <a:lnTo>
                        <a:pt x="746304" y="0"/>
                      </a:lnTo>
                      <a:lnTo>
                        <a:pt x="1350939" y="483014"/>
                      </a:lnTo>
                      <a:lnTo>
                        <a:pt x="1186706" y="1325181"/>
                      </a:lnTo>
                      <a:lnTo>
                        <a:pt x="318780" y="1196392"/>
                      </a:lnTo>
                      <a:lnTo>
                        <a:pt x="0" y="508771"/>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8" name="テキスト ボックス 137">
                  <a:extLst>
                    <a:ext uri="{FF2B5EF4-FFF2-40B4-BE49-F238E27FC236}">
                      <a16:creationId xmlns:a16="http://schemas.microsoft.com/office/drawing/2014/main" id="{A7175952-8800-FE4F-871D-85CDF3B4B8FF}"/>
                    </a:ext>
                  </a:extLst>
                </p:cNvPr>
                <p:cNvSpPr txBox="1"/>
                <p:nvPr/>
              </p:nvSpPr>
              <p:spPr>
                <a:xfrm>
                  <a:off x="5421851" y="4976907"/>
                  <a:ext cx="356541" cy="338554"/>
                </a:xfrm>
                <a:prstGeom prst="rect">
                  <a:avLst/>
                </a:prstGeom>
                <a:noFill/>
              </p:spPr>
              <p:txBody>
                <a:bodyPr wrap="none" rtlCol="0">
                  <a:spAutoFit/>
                </a:bodyPr>
                <a:lstStyle/>
                <a:p>
                  <a:r>
                    <a:rPr kumimoji="1" lang="en-US" altLang="ja-JP" sz="1400" dirty="0"/>
                    <a:t>N</a:t>
                  </a:r>
                  <a:endParaRPr kumimoji="1" lang="ja-JP" altLang="en-US" sz="1400"/>
                </a:p>
              </p:txBody>
            </p:sp>
            <p:sp>
              <p:nvSpPr>
                <p:cNvPr id="139" name="テキスト ボックス 138">
                  <a:extLst>
                    <a:ext uri="{FF2B5EF4-FFF2-40B4-BE49-F238E27FC236}">
                      <a16:creationId xmlns:a16="http://schemas.microsoft.com/office/drawing/2014/main" id="{186F4D24-D8C3-0A4A-BDF5-2650F9951797}"/>
                    </a:ext>
                  </a:extLst>
                </p:cNvPr>
                <p:cNvSpPr txBox="1"/>
                <p:nvPr/>
              </p:nvSpPr>
              <p:spPr>
                <a:xfrm>
                  <a:off x="5765995" y="5959491"/>
                  <a:ext cx="360068" cy="338554"/>
                </a:xfrm>
                <a:prstGeom prst="rect">
                  <a:avLst/>
                </a:prstGeom>
                <a:noFill/>
              </p:spPr>
              <p:txBody>
                <a:bodyPr wrap="none" rtlCol="0">
                  <a:spAutoFit/>
                </a:bodyPr>
                <a:lstStyle/>
                <a:p>
                  <a:r>
                    <a:rPr kumimoji="1" lang="en-US" altLang="ja-JP" sz="1400" dirty="0"/>
                    <a:t>O</a:t>
                  </a:r>
                  <a:endParaRPr kumimoji="1" lang="ja-JP" altLang="en-US" sz="1400"/>
                </a:p>
              </p:txBody>
            </p:sp>
            <p:sp>
              <p:nvSpPr>
                <p:cNvPr id="140" name="テキスト ボックス 139">
                  <a:extLst>
                    <a:ext uri="{FF2B5EF4-FFF2-40B4-BE49-F238E27FC236}">
                      <a16:creationId xmlns:a16="http://schemas.microsoft.com/office/drawing/2014/main" id="{665B1584-A1CF-9542-A281-64B93FC8D74D}"/>
                    </a:ext>
                  </a:extLst>
                </p:cNvPr>
                <p:cNvSpPr txBox="1"/>
                <p:nvPr/>
              </p:nvSpPr>
              <p:spPr>
                <a:xfrm>
                  <a:off x="5942484" y="5351653"/>
                  <a:ext cx="330090" cy="338554"/>
                </a:xfrm>
                <a:prstGeom prst="rect">
                  <a:avLst/>
                </a:prstGeom>
                <a:noFill/>
              </p:spPr>
              <p:txBody>
                <a:bodyPr wrap="none" rtlCol="0">
                  <a:spAutoFit/>
                </a:bodyPr>
                <a:lstStyle/>
                <a:p>
                  <a:r>
                    <a:rPr kumimoji="1" lang="en-US" altLang="ja-JP" sz="1400" dirty="0"/>
                    <a:t>E</a:t>
                  </a:r>
                  <a:endParaRPr kumimoji="1" lang="ja-JP" altLang="en-US" sz="1400"/>
                </a:p>
              </p:txBody>
            </p:sp>
            <p:sp>
              <p:nvSpPr>
                <p:cNvPr id="141" name="テキスト ボックス 140">
                  <a:extLst>
                    <a:ext uri="{FF2B5EF4-FFF2-40B4-BE49-F238E27FC236}">
                      <a16:creationId xmlns:a16="http://schemas.microsoft.com/office/drawing/2014/main" id="{22BC4A6A-599D-424C-9D23-8F89B1FA9565}"/>
                    </a:ext>
                  </a:extLst>
                </p:cNvPr>
                <p:cNvSpPr txBox="1"/>
                <p:nvPr/>
              </p:nvSpPr>
              <p:spPr>
                <a:xfrm>
                  <a:off x="5134874" y="5962849"/>
                  <a:ext cx="351250" cy="338554"/>
                </a:xfrm>
                <a:prstGeom prst="rect">
                  <a:avLst/>
                </a:prstGeom>
                <a:noFill/>
              </p:spPr>
              <p:txBody>
                <a:bodyPr wrap="none" rtlCol="0">
                  <a:spAutoFit/>
                </a:bodyPr>
                <a:lstStyle/>
                <a:p>
                  <a:r>
                    <a:rPr kumimoji="1" lang="en-US" altLang="ja-JP" sz="1400" dirty="0"/>
                    <a:t>A</a:t>
                  </a:r>
                  <a:endParaRPr kumimoji="1" lang="ja-JP" altLang="en-US" sz="1400"/>
                </a:p>
              </p:txBody>
            </p:sp>
            <p:sp>
              <p:nvSpPr>
                <p:cNvPr id="142" name="テキスト ボックス 141">
                  <a:extLst>
                    <a:ext uri="{FF2B5EF4-FFF2-40B4-BE49-F238E27FC236}">
                      <a16:creationId xmlns:a16="http://schemas.microsoft.com/office/drawing/2014/main" id="{16D8BE9F-3066-3D4F-A69B-624534D163A2}"/>
                    </a:ext>
                  </a:extLst>
                </p:cNvPr>
                <p:cNvSpPr txBox="1"/>
                <p:nvPr/>
              </p:nvSpPr>
              <p:spPr>
                <a:xfrm>
                  <a:off x="4954042" y="5351653"/>
                  <a:ext cx="353014" cy="338554"/>
                </a:xfrm>
                <a:prstGeom prst="rect">
                  <a:avLst/>
                </a:prstGeom>
                <a:noFill/>
              </p:spPr>
              <p:txBody>
                <a:bodyPr wrap="none" rtlCol="0">
                  <a:spAutoFit/>
                </a:bodyPr>
                <a:lstStyle/>
                <a:p>
                  <a:r>
                    <a:rPr kumimoji="1" lang="en-US" altLang="ja-JP" sz="1400" dirty="0"/>
                    <a:t>C</a:t>
                  </a:r>
                  <a:endParaRPr kumimoji="1" lang="ja-JP" altLang="en-US" sz="1400"/>
                </a:p>
              </p:txBody>
            </p:sp>
          </p:grpSp>
          <p:sp>
            <p:nvSpPr>
              <p:cNvPr id="136" name="テキスト ボックス 135">
                <a:extLst>
                  <a:ext uri="{FF2B5EF4-FFF2-40B4-BE49-F238E27FC236}">
                    <a16:creationId xmlns:a16="http://schemas.microsoft.com/office/drawing/2014/main" id="{233EF6B5-F8A2-5140-B952-34C92E8DDA40}"/>
                  </a:ext>
                </a:extLst>
              </p:cNvPr>
              <p:cNvSpPr txBox="1"/>
              <p:nvPr/>
            </p:nvSpPr>
            <p:spPr>
              <a:xfrm>
                <a:off x="5512892" y="5412826"/>
                <a:ext cx="934871" cy="338553"/>
              </a:xfrm>
              <a:prstGeom prst="rect">
                <a:avLst/>
              </a:prstGeom>
              <a:noFill/>
            </p:spPr>
            <p:txBody>
              <a:bodyPr wrap="none" rtlCol="0">
                <a:spAutoFit/>
              </a:bodyPr>
              <a:lstStyle/>
              <a:p>
                <a:r>
                  <a:rPr kumimoji="1" lang="ja-JP" altLang="en-US" sz="1600"/>
                  <a:t>被験者</a:t>
                </a:r>
                <a:r>
                  <a:rPr kumimoji="1" lang="en-US" altLang="ja-JP" sz="1600" dirty="0"/>
                  <a:t>1</a:t>
                </a:r>
                <a:endParaRPr kumimoji="1" lang="ja-JP" altLang="en-US" sz="1600"/>
              </a:p>
            </p:txBody>
          </p:sp>
        </p:grpSp>
        <p:grpSp>
          <p:nvGrpSpPr>
            <p:cNvPr id="109" name="グループ化 108">
              <a:extLst>
                <a:ext uri="{FF2B5EF4-FFF2-40B4-BE49-F238E27FC236}">
                  <a16:creationId xmlns:a16="http://schemas.microsoft.com/office/drawing/2014/main" id="{667EF2D9-E500-AE4E-92E8-E248DA1318E2}"/>
                </a:ext>
              </a:extLst>
            </p:cNvPr>
            <p:cNvGrpSpPr/>
            <p:nvPr/>
          </p:nvGrpSpPr>
          <p:grpSpPr>
            <a:xfrm>
              <a:off x="5334227" y="2684825"/>
              <a:ext cx="1198665" cy="1502024"/>
              <a:chOff x="1089506" y="4249627"/>
              <a:chExt cx="1318532" cy="1652226"/>
            </a:xfrm>
          </p:grpSpPr>
          <p:grpSp>
            <p:nvGrpSpPr>
              <p:cNvPr id="127" name="グループ化 126">
                <a:extLst>
                  <a:ext uri="{FF2B5EF4-FFF2-40B4-BE49-F238E27FC236}">
                    <a16:creationId xmlns:a16="http://schemas.microsoft.com/office/drawing/2014/main" id="{E73BD505-FA87-C04A-B331-3A9CFBCCE5D2}"/>
                  </a:ext>
                </a:extLst>
              </p:cNvPr>
              <p:cNvGrpSpPr/>
              <p:nvPr/>
            </p:nvGrpSpPr>
            <p:grpSpPr>
              <a:xfrm>
                <a:off x="1089506" y="4249627"/>
                <a:ext cx="1318532" cy="1324496"/>
                <a:chOff x="5423734" y="2855336"/>
                <a:chExt cx="1318532" cy="1324496"/>
              </a:xfrm>
            </p:grpSpPr>
            <p:sp>
              <p:nvSpPr>
                <p:cNvPr id="129" name="五角形 128">
                  <a:extLst>
                    <a:ext uri="{FF2B5EF4-FFF2-40B4-BE49-F238E27FC236}">
                      <a16:creationId xmlns:a16="http://schemas.microsoft.com/office/drawing/2014/main" id="{2D244E37-81D4-1641-828C-E27021EB6C6F}"/>
                    </a:ext>
                  </a:extLst>
                </p:cNvPr>
                <p:cNvSpPr/>
                <p:nvPr/>
              </p:nvSpPr>
              <p:spPr>
                <a:xfrm>
                  <a:off x="5713815" y="3173603"/>
                  <a:ext cx="752727" cy="752727"/>
                </a:xfrm>
                <a:prstGeom prst="pentag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0" name="テキスト ボックス 129">
                  <a:extLst>
                    <a:ext uri="{FF2B5EF4-FFF2-40B4-BE49-F238E27FC236}">
                      <a16:creationId xmlns:a16="http://schemas.microsoft.com/office/drawing/2014/main" id="{536C0DE8-2698-C14A-8D92-1EDB87D8029F}"/>
                    </a:ext>
                  </a:extLst>
                </p:cNvPr>
                <p:cNvSpPr txBox="1"/>
                <p:nvPr/>
              </p:nvSpPr>
              <p:spPr>
                <a:xfrm>
                  <a:off x="5891543" y="2855336"/>
                  <a:ext cx="356541" cy="338554"/>
                </a:xfrm>
                <a:prstGeom prst="rect">
                  <a:avLst/>
                </a:prstGeom>
                <a:noFill/>
              </p:spPr>
              <p:txBody>
                <a:bodyPr wrap="none" rtlCol="0">
                  <a:spAutoFit/>
                </a:bodyPr>
                <a:lstStyle/>
                <a:p>
                  <a:r>
                    <a:rPr kumimoji="1" lang="en-US" altLang="ja-JP" sz="1400" dirty="0"/>
                    <a:t>N</a:t>
                  </a:r>
                  <a:endParaRPr kumimoji="1" lang="ja-JP" altLang="en-US" sz="1400"/>
                </a:p>
              </p:txBody>
            </p:sp>
            <p:sp>
              <p:nvSpPr>
                <p:cNvPr id="131" name="テキスト ボックス 130">
                  <a:extLst>
                    <a:ext uri="{FF2B5EF4-FFF2-40B4-BE49-F238E27FC236}">
                      <a16:creationId xmlns:a16="http://schemas.microsoft.com/office/drawing/2014/main" id="{5856F4A5-829E-D44E-A21F-71323C63DF1C}"/>
                    </a:ext>
                  </a:extLst>
                </p:cNvPr>
                <p:cNvSpPr txBox="1"/>
                <p:nvPr/>
              </p:nvSpPr>
              <p:spPr>
                <a:xfrm>
                  <a:off x="6235687" y="3837920"/>
                  <a:ext cx="360067" cy="338554"/>
                </a:xfrm>
                <a:prstGeom prst="rect">
                  <a:avLst/>
                </a:prstGeom>
                <a:noFill/>
              </p:spPr>
              <p:txBody>
                <a:bodyPr wrap="none" rtlCol="0">
                  <a:spAutoFit/>
                </a:bodyPr>
                <a:lstStyle/>
                <a:p>
                  <a:r>
                    <a:rPr kumimoji="1" lang="en-US" altLang="ja-JP" sz="1400" dirty="0"/>
                    <a:t>O</a:t>
                  </a:r>
                  <a:endParaRPr kumimoji="1" lang="ja-JP" altLang="en-US" sz="1400"/>
                </a:p>
              </p:txBody>
            </p:sp>
            <p:sp>
              <p:nvSpPr>
                <p:cNvPr id="132" name="テキスト ボックス 131">
                  <a:extLst>
                    <a:ext uri="{FF2B5EF4-FFF2-40B4-BE49-F238E27FC236}">
                      <a16:creationId xmlns:a16="http://schemas.microsoft.com/office/drawing/2014/main" id="{EBBA7BAE-46F6-B14F-85B9-83409C9CF766}"/>
                    </a:ext>
                  </a:extLst>
                </p:cNvPr>
                <p:cNvSpPr txBox="1"/>
                <p:nvPr/>
              </p:nvSpPr>
              <p:spPr>
                <a:xfrm>
                  <a:off x="6412176" y="3230082"/>
                  <a:ext cx="330090" cy="338554"/>
                </a:xfrm>
                <a:prstGeom prst="rect">
                  <a:avLst/>
                </a:prstGeom>
                <a:noFill/>
              </p:spPr>
              <p:txBody>
                <a:bodyPr wrap="none" rtlCol="0">
                  <a:spAutoFit/>
                </a:bodyPr>
                <a:lstStyle/>
                <a:p>
                  <a:r>
                    <a:rPr kumimoji="1" lang="en-US" altLang="ja-JP" sz="1400" dirty="0"/>
                    <a:t>E</a:t>
                  </a:r>
                  <a:endParaRPr kumimoji="1" lang="ja-JP" altLang="en-US" sz="1400"/>
                </a:p>
              </p:txBody>
            </p:sp>
            <p:sp>
              <p:nvSpPr>
                <p:cNvPr id="133" name="テキスト ボックス 132">
                  <a:extLst>
                    <a:ext uri="{FF2B5EF4-FFF2-40B4-BE49-F238E27FC236}">
                      <a16:creationId xmlns:a16="http://schemas.microsoft.com/office/drawing/2014/main" id="{775F13D6-11E7-A54F-A4AF-2E8A9DEB8BFD}"/>
                    </a:ext>
                  </a:extLst>
                </p:cNvPr>
                <p:cNvSpPr txBox="1"/>
                <p:nvPr/>
              </p:nvSpPr>
              <p:spPr>
                <a:xfrm>
                  <a:off x="5604566" y="3841278"/>
                  <a:ext cx="351250" cy="338554"/>
                </a:xfrm>
                <a:prstGeom prst="rect">
                  <a:avLst/>
                </a:prstGeom>
                <a:noFill/>
              </p:spPr>
              <p:txBody>
                <a:bodyPr wrap="none" rtlCol="0">
                  <a:spAutoFit/>
                </a:bodyPr>
                <a:lstStyle/>
                <a:p>
                  <a:r>
                    <a:rPr kumimoji="1" lang="en-US" altLang="ja-JP" sz="1400" dirty="0"/>
                    <a:t>A</a:t>
                  </a:r>
                  <a:endParaRPr kumimoji="1" lang="ja-JP" altLang="en-US" sz="1400"/>
                </a:p>
              </p:txBody>
            </p:sp>
            <p:sp>
              <p:nvSpPr>
                <p:cNvPr id="134" name="テキスト ボックス 133">
                  <a:extLst>
                    <a:ext uri="{FF2B5EF4-FFF2-40B4-BE49-F238E27FC236}">
                      <a16:creationId xmlns:a16="http://schemas.microsoft.com/office/drawing/2014/main" id="{77C85D17-C2F9-E54E-B7BA-AC0192F2E950}"/>
                    </a:ext>
                  </a:extLst>
                </p:cNvPr>
                <p:cNvSpPr txBox="1"/>
                <p:nvPr/>
              </p:nvSpPr>
              <p:spPr>
                <a:xfrm>
                  <a:off x="5423734" y="3230082"/>
                  <a:ext cx="353014" cy="338554"/>
                </a:xfrm>
                <a:prstGeom prst="rect">
                  <a:avLst/>
                </a:prstGeom>
                <a:noFill/>
              </p:spPr>
              <p:txBody>
                <a:bodyPr wrap="none" rtlCol="0">
                  <a:spAutoFit/>
                </a:bodyPr>
                <a:lstStyle/>
                <a:p>
                  <a:r>
                    <a:rPr kumimoji="1" lang="en-US" altLang="ja-JP" sz="1400" dirty="0"/>
                    <a:t>C</a:t>
                  </a:r>
                  <a:endParaRPr kumimoji="1" lang="ja-JP" altLang="en-US" sz="1400"/>
                </a:p>
              </p:txBody>
            </p:sp>
          </p:grpSp>
          <mc:AlternateContent xmlns:mc="http://schemas.openxmlformats.org/markup-compatibility/2006" xmlns:a14="http://schemas.microsoft.com/office/drawing/2010/main">
            <mc:Choice Requires="a14">
              <p:sp>
                <p:nvSpPr>
                  <p:cNvPr id="128" name="テキスト ボックス 127">
                    <a:extLst>
                      <a:ext uri="{FF2B5EF4-FFF2-40B4-BE49-F238E27FC236}">
                        <a16:creationId xmlns:a16="http://schemas.microsoft.com/office/drawing/2014/main" id="{A7BE0E01-EC34-2545-949B-F50321658F16}"/>
                      </a:ext>
                    </a:extLst>
                  </p:cNvPr>
                  <p:cNvSpPr txBox="1"/>
                  <p:nvPr/>
                </p:nvSpPr>
                <p:spPr>
                  <a:xfrm>
                    <a:off x="1379440" y="5563300"/>
                    <a:ext cx="724686" cy="338553"/>
                  </a:xfrm>
                  <a:prstGeom prst="rect">
                    <a:avLst/>
                  </a:prstGeom>
                  <a:noFill/>
                </p:spPr>
                <p:txBody>
                  <a:bodyPr wrap="none" rtlCol="0">
                    <a:spAutoFit/>
                  </a:bodyPr>
                  <a:lstStyle/>
                  <a:p>
                    <a:r>
                      <a:rPr kumimoji="1" lang="ja-JP" altLang="en-US" sz="1600"/>
                      <a:t>性格</a:t>
                    </a:r>
                    <a14:m>
                      <m:oMath xmlns:m="http://schemas.openxmlformats.org/officeDocument/2006/math">
                        <m:r>
                          <a:rPr kumimoji="1" lang="en-US" altLang="ja-JP" sz="1600" b="0" i="1" smtClean="0">
                            <a:latin typeface="Cambria Math" panose="02040503050406030204" pitchFamily="18" charset="0"/>
                          </a:rPr>
                          <m:t>𝛼</m:t>
                        </m:r>
                      </m:oMath>
                    </a14:m>
                    <a:endParaRPr kumimoji="1" lang="ja-JP" altLang="en-US" sz="1600"/>
                  </a:p>
                </p:txBody>
              </p:sp>
            </mc:Choice>
            <mc:Fallback xmlns="">
              <p:sp>
                <p:nvSpPr>
                  <p:cNvPr id="128" name="テキスト ボックス 127">
                    <a:extLst>
                      <a:ext uri="{FF2B5EF4-FFF2-40B4-BE49-F238E27FC236}">
                        <a16:creationId xmlns:a16="http://schemas.microsoft.com/office/drawing/2014/main" id="{A7BE0E01-EC34-2545-949B-F50321658F16}"/>
                      </a:ext>
                    </a:extLst>
                  </p:cNvPr>
                  <p:cNvSpPr txBox="1">
                    <a:spLocks noRot="1" noChangeAspect="1" noMove="1" noResize="1" noEditPoints="1" noAdjustHandles="1" noChangeArrowheads="1" noChangeShapeType="1" noTextEdit="1"/>
                  </p:cNvSpPr>
                  <p:nvPr/>
                </p:nvSpPr>
                <p:spPr>
                  <a:xfrm>
                    <a:off x="1379440" y="5563300"/>
                    <a:ext cx="724686" cy="338553"/>
                  </a:xfrm>
                  <a:prstGeom prst="rect">
                    <a:avLst/>
                  </a:prstGeom>
                  <a:blipFill>
                    <a:blip r:embed="rId4"/>
                    <a:stretch>
                      <a:fillRect l="-3774" t="-4000" b="-36000"/>
                    </a:stretch>
                  </a:blipFill>
                </p:spPr>
                <p:txBody>
                  <a:bodyPr/>
                  <a:lstStyle/>
                  <a:p>
                    <a:r>
                      <a:rPr lang="ja-JP" altLang="en-US">
                        <a:noFill/>
                      </a:rPr>
                      <a:t> </a:t>
                    </a:r>
                  </a:p>
                </p:txBody>
              </p:sp>
            </mc:Fallback>
          </mc:AlternateContent>
        </p:grpSp>
        <p:grpSp>
          <p:nvGrpSpPr>
            <p:cNvPr id="110" name="グループ化 109">
              <a:extLst>
                <a:ext uri="{FF2B5EF4-FFF2-40B4-BE49-F238E27FC236}">
                  <a16:creationId xmlns:a16="http://schemas.microsoft.com/office/drawing/2014/main" id="{A0C08F29-C377-1843-8469-459F54B1F68E}"/>
                </a:ext>
              </a:extLst>
            </p:cNvPr>
            <p:cNvGrpSpPr/>
            <p:nvPr/>
          </p:nvGrpSpPr>
          <p:grpSpPr>
            <a:xfrm>
              <a:off x="4997905" y="4606628"/>
              <a:ext cx="1770158" cy="1957781"/>
              <a:chOff x="6947629" y="2328837"/>
              <a:chExt cx="2141892" cy="2368914"/>
            </a:xfrm>
          </p:grpSpPr>
          <p:grpSp>
            <p:nvGrpSpPr>
              <p:cNvPr id="119" name="グループ化 118">
                <a:extLst>
                  <a:ext uri="{FF2B5EF4-FFF2-40B4-BE49-F238E27FC236}">
                    <a16:creationId xmlns:a16="http://schemas.microsoft.com/office/drawing/2014/main" id="{9161BD5C-9FD8-974E-9446-90318B00859D}"/>
                  </a:ext>
                </a:extLst>
              </p:cNvPr>
              <p:cNvGrpSpPr/>
              <p:nvPr/>
            </p:nvGrpSpPr>
            <p:grpSpPr>
              <a:xfrm>
                <a:off x="6947629" y="2328837"/>
                <a:ext cx="2141892" cy="2092323"/>
                <a:chOff x="6716594" y="2373464"/>
                <a:chExt cx="2141892" cy="2092323"/>
              </a:xfrm>
            </p:grpSpPr>
            <p:sp>
              <p:nvSpPr>
                <p:cNvPr id="121" name="五角形 120">
                  <a:extLst>
                    <a:ext uri="{FF2B5EF4-FFF2-40B4-BE49-F238E27FC236}">
                      <a16:creationId xmlns:a16="http://schemas.microsoft.com/office/drawing/2014/main" id="{CC6C341E-DD7F-B94E-9251-E520BF124CCC}"/>
                    </a:ext>
                  </a:extLst>
                </p:cNvPr>
                <p:cNvSpPr/>
                <p:nvPr/>
              </p:nvSpPr>
              <p:spPr>
                <a:xfrm>
                  <a:off x="7067634" y="2690229"/>
                  <a:ext cx="1466853" cy="1466853"/>
                </a:xfrm>
                <a:prstGeom prst="pentag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2" name="テキスト ボックス 121">
                  <a:extLst>
                    <a:ext uri="{FF2B5EF4-FFF2-40B4-BE49-F238E27FC236}">
                      <a16:creationId xmlns:a16="http://schemas.microsoft.com/office/drawing/2014/main" id="{066AF7D6-9A9A-6E44-A8F6-43731139A375}"/>
                    </a:ext>
                  </a:extLst>
                </p:cNvPr>
                <p:cNvSpPr txBox="1"/>
                <p:nvPr/>
              </p:nvSpPr>
              <p:spPr>
                <a:xfrm>
                  <a:off x="7584353" y="2373464"/>
                  <a:ext cx="392195" cy="372410"/>
                </a:xfrm>
                <a:prstGeom prst="rect">
                  <a:avLst/>
                </a:prstGeom>
                <a:noFill/>
              </p:spPr>
              <p:txBody>
                <a:bodyPr wrap="none" rtlCol="0">
                  <a:spAutoFit/>
                </a:bodyPr>
                <a:lstStyle/>
                <a:p>
                  <a:r>
                    <a:rPr kumimoji="1" lang="en-US" altLang="ja-JP" sz="1400" dirty="0"/>
                    <a:t>N</a:t>
                  </a:r>
                  <a:endParaRPr kumimoji="1" lang="ja-JP" altLang="en-US" sz="1400"/>
                </a:p>
              </p:txBody>
            </p:sp>
            <p:sp>
              <p:nvSpPr>
                <p:cNvPr id="123" name="テキスト ボックス 122">
                  <a:extLst>
                    <a:ext uri="{FF2B5EF4-FFF2-40B4-BE49-F238E27FC236}">
                      <a16:creationId xmlns:a16="http://schemas.microsoft.com/office/drawing/2014/main" id="{5ABF2EDE-B8F4-3045-8A21-08390DAF0C12}"/>
                    </a:ext>
                  </a:extLst>
                </p:cNvPr>
                <p:cNvSpPr txBox="1"/>
                <p:nvPr/>
              </p:nvSpPr>
              <p:spPr>
                <a:xfrm>
                  <a:off x="8117483" y="4093377"/>
                  <a:ext cx="396074" cy="372410"/>
                </a:xfrm>
                <a:prstGeom prst="rect">
                  <a:avLst/>
                </a:prstGeom>
                <a:noFill/>
              </p:spPr>
              <p:txBody>
                <a:bodyPr wrap="none" rtlCol="0">
                  <a:spAutoFit/>
                </a:bodyPr>
                <a:lstStyle/>
                <a:p>
                  <a:r>
                    <a:rPr kumimoji="1" lang="en-US" altLang="ja-JP" sz="1400" dirty="0"/>
                    <a:t>O</a:t>
                  </a:r>
                  <a:endParaRPr kumimoji="1" lang="ja-JP" altLang="en-US" sz="1400"/>
                </a:p>
              </p:txBody>
            </p:sp>
            <p:sp>
              <p:nvSpPr>
                <p:cNvPr id="124" name="テキスト ボックス 123">
                  <a:extLst>
                    <a:ext uri="{FF2B5EF4-FFF2-40B4-BE49-F238E27FC236}">
                      <a16:creationId xmlns:a16="http://schemas.microsoft.com/office/drawing/2014/main" id="{09F8CF18-9E0A-144F-80EE-7E2FC4EAC96C}"/>
                    </a:ext>
                  </a:extLst>
                </p:cNvPr>
                <p:cNvSpPr txBox="1"/>
                <p:nvPr/>
              </p:nvSpPr>
              <p:spPr>
                <a:xfrm>
                  <a:off x="8495387" y="3024613"/>
                  <a:ext cx="363099" cy="372410"/>
                </a:xfrm>
                <a:prstGeom prst="rect">
                  <a:avLst/>
                </a:prstGeom>
                <a:noFill/>
              </p:spPr>
              <p:txBody>
                <a:bodyPr wrap="none" rtlCol="0">
                  <a:spAutoFit/>
                </a:bodyPr>
                <a:lstStyle/>
                <a:p>
                  <a:r>
                    <a:rPr kumimoji="1" lang="en-US" altLang="ja-JP" sz="1400" dirty="0"/>
                    <a:t>E</a:t>
                  </a:r>
                  <a:endParaRPr kumimoji="1" lang="ja-JP" altLang="en-US" sz="1400"/>
                </a:p>
              </p:txBody>
            </p:sp>
            <p:sp>
              <p:nvSpPr>
                <p:cNvPr id="125" name="テキスト ボックス 124">
                  <a:extLst>
                    <a:ext uri="{FF2B5EF4-FFF2-40B4-BE49-F238E27FC236}">
                      <a16:creationId xmlns:a16="http://schemas.microsoft.com/office/drawing/2014/main" id="{4527126A-EFD3-294B-AE24-3D2EEEA3A44E}"/>
                    </a:ext>
                  </a:extLst>
                </p:cNvPr>
                <p:cNvSpPr txBox="1"/>
                <p:nvPr/>
              </p:nvSpPr>
              <p:spPr>
                <a:xfrm>
                  <a:off x="7116544" y="4093377"/>
                  <a:ext cx="386375" cy="372410"/>
                </a:xfrm>
                <a:prstGeom prst="rect">
                  <a:avLst/>
                </a:prstGeom>
                <a:noFill/>
              </p:spPr>
              <p:txBody>
                <a:bodyPr wrap="none" rtlCol="0">
                  <a:spAutoFit/>
                </a:bodyPr>
                <a:lstStyle/>
                <a:p>
                  <a:r>
                    <a:rPr kumimoji="1" lang="en-US" altLang="ja-JP" sz="1400" dirty="0"/>
                    <a:t>A</a:t>
                  </a:r>
                  <a:endParaRPr kumimoji="1" lang="ja-JP" altLang="en-US" sz="1400"/>
                </a:p>
              </p:txBody>
            </p:sp>
            <p:sp>
              <p:nvSpPr>
                <p:cNvPr id="126" name="テキスト ボックス 125">
                  <a:extLst>
                    <a:ext uri="{FF2B5EF4-FFF2-40B4-BE49-F238E27FC236}">
                      <a16:creationId xmlns:a16="http://schemas.microsoft.com/office/drawing/2014/main" id="{EDE3BCE8-9539-A242-B65B-21731C5C32F8}"/>
                    </a:ext>
                  </a:extLst>
                </p:cNvPr>
                <p:cNvSpPr txBox="1"/>
                <p:nvPr/>
              </p:nvSpPr>
              <p:spPr>
                <a:xfrm>
                  <a:off x="6716594" y="3046596"/>
                  <a:ext cx="388316" cy="372410"/>
                </a:xfrm>
                <a:prstGeom prst="rect">
                  <a:avLst/>
                </a:prstGeom>
                <a:noFill/>
              </p:spPr>
              <p:txBody>
                <a:bodyPr wrap="none" rtlCol="0">
                  <a:spAutoFit/>
                </a:bodyPr>
                <a:lstStyle/>
                <a:p>
                  <a:r>
                    <a:rPr kumimoji="1" lang="en-US" altLang="ja-JP" sz="1400" dirty="0"/>
                    <a:t>C</a:t>
                  </a:r>
                  <a:endParaRPr kumimoji="1" lang="ja-JP" altLang="en-US" sz="1400"/>
                </a:p>
              </p:txBody>
            </p:sp>
          </p:grpSp>
          <mc:AlternateContent xmlns:mc="http://schemas.openxmlformats.org/markup-compatibility/2006" xmlns:a14="http://schemas.microsoft.com/office/drawing/2010/main">
            <mc:Choice Requires="a14">
              <p:sp>
                <p:nvSpPr>
                  <p:cNvPr id="120" name="テキスト ボックス 119">
                    <a:extLst>
                      <a:ext uri="{FF2B5EF4-FFF2-40B4-BE49-F238E27FC236}">
                        <a16:creationId xmlns:a16="http://schemas.microsoft.com/office/drawing/2014/main" id="{A79AE03C-6C4E-8043-B325-A8A0C42F2D36}"/>
                      </a:ext>
                    </a:extLst>
                  </p:cNvPr>
                  <p:cNvSpPr txBox="1"/>
                  <p:nvPr/>
                </p:nvSpPr>
                <p:spPr>
                  <a:xfrm>
                    <a:off x="7638168" y="4359197"/>
                    <a:ext cx="726289" cy="338554"/>
                  </a:xfrm>
                  <a:prstGeom prst="rect">
                    <a:avLst/>
                  </a:prstGeom>
                  <a:noFill/>
                </p:spPr>
                <p:txBody>
                  <a:bodyPr wrap="none" rtlCol="0">
                    <a:spAutoFit/>
                  </a:bodyPr>
                  <a:lstStyle/>
                  <a:p>
                    <a:r>
                      <a:rPr kumimoji="1" lang="ja-JP" altLang="en-US" sz="1600"/>
                      <a:t>性格</a:t>
                    </a:r>
                    <a14:m>
                      <m:oMath xmlns:m="http://schemas.openxmlformats.org/officeDocument/2006/math">
                        <m:r>
                          <a:rPr kumimoji="1" lang="en-US" altLang="ja-JP" sz="1600" b="0" i="1" smtClean="0">
                            <a:latin typeface="Cambria Math" panose="02040503050406030204" pitchFamily="18" charset="0"/>
                          </a:rPr>
                          <m:t>𝛽</m:t>
                        </m:r>
                      </m:oMath>
                    </a14:m>
                    <a:endParaRPr kumimoji="1" lang="ja-JP" altLang="en-US" sz="1600"/>
                  </a:p>
                </p:txBody>
              </p:sp>
            </mc:Choice>
            <mc:Fallback xmlns="">
              <p:sp>
                <p:nvSpPr>
                  <p:cNvPr id="120" name="テキスト ボックス 119">
                    <a:extLst>
                      <a:ext uri="{FF2B5EF4-FFF2-40B4-BE49-F238E27FC236}">
                        <a16:creationId xmlns:a16="http://schemas.microsoft.com/office/drawing/2014/main" id="{A79AE03C-6C4E-8043-B325-A8A0C42F2D36}"/>
                      </a:ext>
                    </a:extLst>
                  </p:cNvPr>
                  <p:cNvSpPr txBox="1">
                    <a:spLocks noRot="1" noChangeAspect="1" noMove="1" noResize="1" noEditPoints="1" noAdjustHandles="1" noChangeArrowheads="1" noChangeShapeType="1" noTextEdit="1"/>
                  </p:cNvSpPr>
                  <p:nvPr/>
                </p:nvSpPr>
                <p:spPr>
                  <a:xfrm>
                    <a:off x="7638168" y="4359197"/>
                    <a:ext cx="726289" cy="338554"/>
                  </a:xfrm>
                  <a:prstGeom prst="rect">
                    <a:avLst/>
                  </a:prstGeom>
                  <a:blipFill>
                    <a:blip r:embed="rId5"/>
                    <a:stretch>
                      <a:fillRect l="-4082" t="-4348" r="-16327" b="-43478"/>
                    </a:stretch>
                  </a:blipFill>
                </p:spPr>
                <p:txBody>
                  <a:bodyPr/>
                  <a:lstStyle/>
                  <a:p>
                    <a:r>
                      <a:rPr lang="ja-JP" altLang="en-US">
                        <a:noFill/>
                      </a:rPr>
                      <a:t> </a:t>
                    </a:r>
                  </a:p>
                </p:txBody>
              </p:sp>
            </mc:Fallback>
          </mc:AlternateContent>
        </p:grpSp>
        <p:sp>
          <p:nvSpPr>
            <p:cNvPr id="111" name="左右矢印 110">
              <a:extLst>
                <a:ext uri="{FF2B5EF4-FFF2-40B4-BE49-F238E27FC236}">
                  <a16:creationId xmlns:a16="http://schemas.microsoft.com/office/drawing/2014/main" id="{B71CB0BA-7B99-9449-8A4E-4CF02E4E9CD8}"/>
                </a:ext>
              </a:extLst>
            </p:cNvPr>
            <p:cNvSpPr/>
            <p:nvPr/>
          </p:nvSpPr>
          <p:spPr>
            <a:xfrm rot="5400000">
              <a:off x="5695772" y="4305064"/>
              <a:ext cx="420298" cy="202246"/>
            </a:xfrm>
            <a:prstGeom prst="lef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2" name="テキスト ボックス 111">
              <a:extLst>
                <a:ext uri="{FF2B5EF4-FFF2-40B4-BE49-F238E27FC236}">
                  <a16:creationId xmlns:a16="http://schemas.microsoft.com/office/drawing/2014/main" id="{6E8BD1E8-CA33-0C4F-858D-B4FF73A128D6}"/>
                </a:ext>
              </a:extLst>
            </p:cNvPr>
            <p:cNvSpPr txBox="1"/>
            <p:nvPr/>
          </p:nvSpPr>
          <p:spPr>
            <a:xfrm>
              <a:off x="5927205" y="4262382"/>
              <a:ext cx="595035" cy="338554"/>
            </a:xfrm>
            <a:prstGeom prst="rect">
              <a:avLst/>
            </a:prstGeom>
            <a:noFill/>
          </p:spPr>
          <p:txBody>
            <a:bodyPr wrap="none" rtlCol="0">
              <a:spAutoFit/>
            </a:bodyPr>
            <a:lstStyle/>
            <a:p>
              <a:r>
                <a:rPr kumimoji="1" lang="ja-JP" altLang="en-US" sz="1600"/>
                <a:t>相似</a:t>
              </a:r>
            </a:p>
          </p:txBody>
        </p:sp>
        <p:sp>
          <p:nvSpPr>
            <p:cNvPr id="113" name="左右矢印 112">
              <a:extLst>
                <a:ext uri="{FF2B5EF4-FFF2-40B4-BE49-F238E27FC236}">
                  <a16:creationId xmlns:a16="http://schemas.microsoft.com/office/drawing/2014/main" id="{DD9300D9-B410-444C-9154-9AFD843ACD73}"/>
                </a:ext>
              </a:extLst>
            </p:cNvPr>
            <p:cNvSpPr/>
            <p:nvPr/>
          </p:nvSpPr>
          <p:spPr>
            <a:xfrm rot="5400000">
              <a:off x="7647753" y="4304136"/>
              <a:ext cx="420298" cy="202246"/>
            </a:xfrm>
            <a:prstGeom prst="lef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4" name="テキスト ボックス 113">
              <a:extLst>
                <a:ext uri="{FF2B5EF4-FFF2-40B4-BE49-F238E27FC236}">
                  <a16:creationId xmlns:a16="http://schemas.microsoft.com/office/drawing/2014/main" id="{AEA127BF-B8DC-3145-84DB-8F4D9EDA08BF}"/>
                </a:ext>
              </a:extLst>
            </p:cNvPr>
            <p:cNvSpPr txBox="1"/>
            <p:nvPr/>
          </p:nvSpPr>
          <p:spPr>
            <a:xfrm>
              <a:off x="7879186" y="4261454"/>
              <a:ext cx="595035" cy="338554"/>
            </a:xfrm>
            <a:prstGeom prst="rect">
              <a:avLst/>
            </a:prstGeom>
            <a:noFill/>
          </p:spPr>
          <p:txBody>
            <a:bodyPr wrap="none" rtlCol="0">
              <a:spAutoFit/>
            </a:bodyPr>
            <a:lstStyle/>
            <a:p>
              <a:r>
                <a:rPr kumimoji="1" lang="ja-JP" altLang="en-US" sz="1600"/>
                <a:t>相似</a:t>
              </a:r>
            </a:p>
          </p:txBody>
        </p:sp>
        <p:sp>
          <p:nvSpPr>
            <p:cNvPr id="115" name="左矢印 114">
              <a:extLst>
                <a:ext uri="{FF2B5EF4-FFF2-40B4-BE49-F238E27FC236}">
                  <a16:creationId xmlns:a16="http://schemas.microsoft.com/office/drawing/2014/main" id="{F2494D3B-E225-434D-A330-43A4A00DC62F}"/>
                </a:ext>
              </a:extLst>
            </p:cNvPr>
            <p:cNvSpPr/>
            <p:nvPr/>
          </p:nvSpPr>
          <p:spPr>
            <a:xfrm>
              <a:off x="6675799" y="3289826"/>
              <a:ext cx="420298" cy="202246"/>
            </a:xfrm>
            <a:prstGeom prst="lef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6" name="左矢印 115">
              <a:extLst>
                <a:ext uri="{FF2B5EF4-FFF2-40B4-BE49-F238E27FC236}">
                  <a16:creationId xmlns:a16="http://schemas.microsoft.com/office/drawing/2014/main" id="{A880BB0C-62F0-7043-AC6A-66485D58F942}"/>
                </a:ext>
              </a:extLst>
            </p:cNvPr>
            <p:cNvSpPr/>
            <p:nvPr/>
          </p:nvSpPr>
          <p:spPr>
            <a:xfrm>
              <a:off x="6674795" y="5506775"/>
              <a:ext cx="420298" cy="202246"/>
            </a:xfrm>
            <a:prstGeom prst="lef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7" name="テキスト ボックス 116">
              <a:extLst>
                <a:ext uri="{FF2B5EF4-FFF2-40B4-BE49-F238E27FC236}">
                  <a16:creationId xmlns:a16="http://schemas.microsoft.com/office/drawing/2014/main" id="{D7FDCEB9-C133-BD49-B57B-35D9EA1CFE04}"/>
                </a:ext>
              </a:extLst>
            </p:cNvPr>
            <p:cNvSpPr txBox="1"/>
            <p:nvPr/>
          </p:nvSpPr>
          <p:spPr>
            <a:xfrm>
              <a:off x="6601419" y="3461609"/>
              <a:ext cx="595035" cy="338554"/>
            </a:xfrm>
            <a:prstGeom prst="rect">
              <a:avLst/>
            </a:prstGeom>
            <a:noFill/>
          </p:spPr>
          <p:txBody>
            <a:bodyPr wrap="none" rtlCol="0">
              <a:spAutoFit/>
            </a:bodyPr>
            <a:lstStyle/>
            <a:p>
              <a:r>
                <a:rPr kumimoji="1" lang="ja-JP" altLang="en-US" sz="1600"/>
                <a:t>分類</a:t>
              </a:r>
            </a:p>
          </p:txBody>
        </p:sp>
        <p:sp>
          <p:nvSpPr>
            <p:cNvPr id="118" name="テキスト ボックス 117">
              <a:extLst>
                <a:ext uri="{FF2B5EF4-FFF2-40B4-BE49-F238E27FC236}">
                  <a16:creationId xmlns:a16="http://schemas.microsoft.com/office/drawing/2014/main" id="{4A8B99EC-89F1-4C4D-83FD-C612D5483696}"/>
                </a:ext>
              </a:extLst>
            </p:cNvPr>
            <p:cNvSpPr txBox="1"/>
            <p:nvPr/>
          </p:nvSpPr>
          <p:spPr>
            <a:xfrm>
              <a:off x="6599381" y="5689490"/>
              <a:ext cx="595035" cy="338554"/>
            </a:xfrm>
            <a:prstGeom prst="rect">
              <a:avLst/>
            </a:prstGeom>
            <a:noFill/>
          </p:spPr>
          <p:txBody>
            <a:bodyPr wrap="none" rtlCol="0">
              <a:spAutoFit/>
            </a:bodyPr>
            <a:lstStyle/>
            <a:p>
              <a:r>
                <a:rPr kumimoji="1" lang="ja-JP" altLang="en-US" sz="1600"/>
                <a:t>分類</a:t>
              </a:r>
            </a:p>
          </p:txBody>
        </p:sp>
      </p:grpSp>
    </p:spTree>
    <p:extLst>
      <p:ext uri="{BB962C8B-B14F-4D97-AF65-F5344CB8AC3E}">
        <p14:creationId xmlns:p14="http://schemas.microsoft.com/office/powerpoint/2010/main" val="24305911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3BB963-1B76-4E44-9F6F-44B6F068ACC2}"/>
              </a:ext>
            </a:extLst>
          </p:cNvPr>
          <p:cNvSpPr>
            <a:spLocks noGrp="1"/>
          </p:cNvSpPr>
          <p:nvPr>
            <p:ph type="title"/>
          </p:nvPr>
        </p:nvSpPr>
        <p:spPr/>
        <p:txBody>
          <a:bodyPr/>
          <a:lstStyle/>
          <a:p>
            <a:endParaRPr kumimoji="1" lang="ja-JP" altLang="en-US"/>
          </a:p>
        </p:txBody>
      </p:sp>
      <p:sp>
        <p:nvSpPr>
          <p:cNvPr id="3" name="日付プレースホルダー 2">
            <a:extLst>
              <a:ext uri="{FF2B5EF4-FFF2-40B4-BE49-F238E27FC236}">
                <a16:creationId xmlns:a16="http://schemas.microsoft.com/office/drawing/2014/main" id="{B7F9CA9F-EF66-F648-A38A-F9C42ADC3D4C}"/>
              </a:ext>
            </a:extLst>
          </p:cNvPr>
          <p:cNvSpPr>
            <a:spLocks noGrp="1"/>
          </p:cNvSpPr>
          <p:nvPr>
            <p:ph type="dt" sz="half" idx="10"/>
          </p:nvPr>
        </p:nvSpPr>
        <p:spPr/>
        <p:txBody>
          <a:bodyPr/>
          <a:lstStyle/>
          <a:p>
            <a:fld id="{4341EA7C-D461-6041-8E0E-F656A44343A5}" type="datetime1">
              <a:rPr kumimoji="1" lang="ja-JP" altLang="en-US" smtClean="0"/>
              <a:t>2020/7/10</a:t>
            </a:fld>
            <a:endParaRPr kumimoji="1" lang="ja-JP" altLang="en-US"/>
          </a:p>
        </p:txBody>
      </p:sp>
      <p:sp>
        <p:nvSpPr>
          <p:cNvPr id="4" name="フッター プレースホルダー 3">
            <a:extLst>
              <a:ext uri="{FF2B5EF4-FFF2-40B4-BE49-F238E27FC236}">
                <a16:creationId xmlns:a16="http://schemas.microsoft.com/office/drawing/2014/main" id="{D50E35C6-CDAF-164F-A217-3A80030B0AC0}"/>
              </a:ext>
            </a:extLst>
          </p:cNvPr>
          <p:cNvSpPr>
            <a:spLocks noGrp="1"/>
          </p:cNvSpPr>
          <p:nvPr>
            <p:ph type="ftr" sz="quarter" idx="11"/>
          </p:nvPr>
        </p:nvSpPr>
        <p:spPr/>
        <p:txBody>
          <a:bodyPr/>
          <a:lstStyle/>
          <a:p>
            <a:r>
              <a:rPr kumimoji="1" lang="ja-JP" altLang="en-US"/>
              <a:t>進捗報告</a:t>
            </a:r>
          </a:p>
        </p:txBody>
      </p:sp>
      <p:sp>
        <p:nvSpPr>
          <p:cNvPr id="5" name="スライド番号プレースホルダー 4">
            <a:extLst>
              <a:ext uri="{FF2B5EF4-FFF2-40B4-BE49-F238E27FC236}">
                <a16:creationId xmlns:a16="http://schemas.microsoft.com/office/drawing/2014/main" id="{EDC7A173-3A23-3240-A54F-0FBA70C820A4}"/>
              </a:ext>
            </a:extLst>
          </p:cNvPr>
          <p:cNvSpPr>
            <a:spLocks noGrp="1"/>
          </p:cNvSpPr>
          <p:nvPr>
            <p:ph type="sldNum" sz="quarter" idx="12"/>
          </p:nvPr>
        </p:nvSpPr>
        <p:spPr/>
        <p:txBody>
          <a:bodyPr/>
          <a:lstStyle/>
          <a:p>
            <a:fld id="{2981C279-7323-A845-8A27-BB5908B2F04D}" type="slidenum">
              <a:rPr kumimoji="1" lang="ja-JP" altLang="en-US" smtClean="0"/>
              <a:t>19</a:t>
            </a:fld>
            <a:endParaRPr kumimoji="1" lang="ja-JP" altLang="en-US"/>
          </a:p>
        </p:txBody>
      </p:sp>
      <p:grpSp>
        <p:nvGrpSpPr>
          <p:cNvPr id="6" name="グループ化 5">
            <a:extLst>
              <a:ext uri="{FF2B5EF4-FFF2-40B4-BE49-F238E27FC236}">
                <a16:creationId xmlns:a16="http://schemas.microsoft.com/office/drawing/2014/main" id="{90D18F01-2BBF-C84B-8485-C7E7243E88D8}"/>
              </a:ext>
            </a:extLst>
          </p:cNvPr>
          <p:cNvGrpSpPr/>
          <p:nvPr/>
        </p:nvGrpSpPr>
        <p:grpSpPr>
          <a:xfrm>
            <a:off x="163626" y="1160115"/>
            <a:ext cx="4103574" cy="680876"/>
            <a:chOff x="163626" y="1160115"/>
            <a:chExt cx="4103574" cy="680876"/>
          </a:xfrm>
        </p:grpSpPr>
        <p:cxnSp>
          <p:nvCxnSpPr>
            <p:cNvPr id="7" name="直線コネクタ 6">
              <a:extLst>
                <a:ext uri="{FF2B5EF4-FFF2-40B4-BE49-F238E27FC236}">
                  <a16:creationId xmlns:a16="http://schemas.microsoft.com/office/drawing/2014/main" id="{E7C6A173-0964-134D-947E-15DC34060103}"/>
                </a:ext>
              </a:extLst>
            </p:cNvPr>
            <p:cNvCxnSpPr/>
            <p:nvPr userDrawn="1"/>
          </p:nvCxnSpPr>
          <p:spPr>
            <a:xfrm>
              <a:off x="163626" y="1699846"/>
              <a:ext cx="41035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8" name="正方形/長方形 7">
              <a:extLst>
                <a:ext uri="{FF2B5EF4-FFF2-40B4-BE49-F238E27FC236}">
                  <a16:creationId xmlns:a16="http://schemas.microsoft.com/office/drawing/2014/main" id="{FB915536-105B-5D47-8AEA-1D668ACAEC65}"/>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9" name="テキスト プレースホルダー 12">
            <a:extLst>
              <a:ext uri="{FF2B5EF4-FFF2-40B4-BE49-F238E27FC236}">
                <a16:creationId xmlns:a16="http://schemas.microsoft.com/office/drawing/2014/main" id="{B9E78AD1-3EAD-ED4C-A870-F775161359ED}"/>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テキスト</a:t>
            </a:r>
          </a:p>
        </p:txBody>
      </p:sp>
    </p:spTree>
    <p:extLst>
      <p:ext uri="{BB962C8B-B14F-4D97-AF65-F5344CB8AC3E}">
        <p14:creationId xmlns:p14="http://schemas.microsoft.com/office/powerpoint/2010/main" val="2314095881"/>
      </p:ext>
    </p:extLst>
  </p:cSld>
  <p:clrMapOvr>
    <a:masterClrMapping/>
  </p:clrMapOvr>
</p:sld>
</file>

<file path=ppt/theme/theme1.xml><?xml version="1.0" encoding="utf-8"?>
<a:theme xmlns:a="http://schemas.openxmlformats.org/drawingml/2006/main" name="Office テーマ">
  <a:themeElements>
    <a:clrScheme name="ユーザー定義 1">
      <a:dk1>
        <a:srgbClr val="1D1D1D"/>
      </a:dk1>
      <a:lt1>
        <a:srgbClr val="E4E4E4"/>
      </a:lt1>
      <a:dk2>
        <a:srgbClr val="44546A"/>
      </a:dk2>
      <a:lt2>
        <a:srgbClr val="E7E6E6"/>
      </a:lt2>
      <a:accent1>
        <a:srgbClr val="3090C4"/>
      </a:accent1>
      <a:accent2>
        <a:srgbClr val="D68126"/>
      </a:accent2>
      <a:accent3>
        <a:srgbClr val="42A544"/>
      </a:accent3>
      <a:accent4>
        <a:srgbClr val="FFC000"/>
      </a:accent4>
      <a:accent5>
        <a:srgbClr val="5B9BD5"/>
      </a:accent5>
      <a:accent6>
        <a:srgbClr val="70AD47"/>
      </a:accent6>
      <a:hlink>
        <a:srgbClr val="0563C1"/>
      </a:hlink>
      <a:folHlink>
        <a:srgbClr val="954F72"/>
      </a:folHlink>
    </a:clrScheme>
    <a:fontScheme name="ヒラギノ角ゴシック Pro W3">
      <a:majorFont>
        <a:latin typeface="Hiragino Kaku Gothic ProN W3"/>
        <a:ea typeface="Hiragino Kaku Gothic ProN W3"/>
        <a:cs typeface=""/>
      </a:majorFont>
      <a:minorFont>
        <a:latin typeface="Hiragino Kaku Gothic ProN W3"/>
        <a:ea typeface="Hiragino Kaku Gothic ProN W3"/>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プレゼンテーション2" id="{9EB16A4D-D7F9-2340-A8EA-104836EA809B}" vid="{4F111AF7-2BB2-9640-B3FE-4B3A89EAF971}"/>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テーマ</Template>
  <TotalTime>1385</TotalTime>
  <Words>1104</Words>
  <Application>Microsoft Macintosh PowerPoint</Application>
  <PresentationFormat>画面に合わせる (4:3)</PresentationFormat>
  <Paragraphs>274</Paragraphs>
  <Slides>19</Slides>
  <Notes>0</Notes>
  <HiddenSlides>5</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19</vt:i4>
      </vt:variant>
    </vt:vector>
  </HeadingPairs>
  <TitlesOfParts>
    <vt:vector size="26" baseType="lpstr">
      <vt:lpstr>Hiragino Kaku Gothic Pro W3</vt:lpstr>
      <vt:lpstr>Hiragino Kaku Gothic ProN W3</vt:lpstr>
      <vt:lpstr>Hiragino Sans W4</vt:lpstr>
      <vt:lpstr>游ゴシック</vt:lpstr>
      <vt:lpstr>Arial</vt:lpstr>
      <vt:lpstr>Cambria Math</vt:lpstr>
      <vt:lpstr>Office テーマ</vt:lpstr>
      <vt:lpstr>進捗報告</vt:lpstr>
      <vt:lpstr>BIG5</vt:lpstr>
      <vt:lpstr>BIG5</vt:lpstr>
      <vt:lpstr>BIG5</vt:lpstr>
      <vt:lpstr>BIG5</vt:lpstr>
      <vt:lpstr>BIG5</vt:lpstr>
      <vt:lpstr>BIG5</vt:lpstr>
      <vt:lpstr>TKI</vt:lpstr>
      <vt:lpstr>TKI</vt:lpstr>
      <vt:lpstr>TKI</vt:lpstr>
      <vt:lpstr>TKI</vt:lpstr>
      <vt:lpstr>その他研究について</vt:lpstr>
      <vt:lpstr>その他研究について</vt:lpstr>
      <vt:lpstr>その他研究について</vt:lpstr>
      <vt:lpstr>補足</vt:lpstr>
      <vt:lpstr>補足</vt:lpstr>
      <vt:lpstr>補足</vt:lpstr>
      <vt:lpstr>その他研究について</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進捗報告</dc:title>
  <dc:creator>昌悟 松下</dc:creator>
  <cp:lastModifiedBy>昌悟 松下</cp:lastModifiedBy>
  <cp:revision>87</cp:revision>
  <dcterms:created xsi:type="dcterms:W3CDTF">2020-04-19T09:33:40Z</dcterms:created>
  <dcterms:modified xsi:type="dcterms:W3CDTF">2020-07-10T04:53:04Z</dcterms:modified>
</cp:coreProperties>
</file>