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notesSlides/notesSlide5.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33"/>
  </p:notesMasterIdLst>
  <p:sldIdLst>
    <p:sldId id="256" r:id="rId2"/>
    <p:sldId id="290" r:id="rId3"/>
    <p:sldId id="299" r:id="rId4"/>
    <p:sldId id="300" r:id="rId5"/>
    <p:sldId id="274" r:id="rId6"/>
    <p:sldId id="303" r:id="rId7"/>
    <p:sldId id="302" r:id="rId8"/>
    <p:sldId id="321" r:id="rId9"/>
    <p:sldId id="322" r:id="rId10"/>
    <p:sldId id="323" r:id="rId11"/>
    <p:sldId id="319" r:id="rId12"/>
    <p:sldId id="324" r:id="rId13"/>
    <p:sldId id="306" r:id="rId14"/>
    <p:sldId id="307" r:id="rId15"/>
    <p:sldId id="308" r:id="rId16"/>
    <p:sldId id="309" r:id="rId17"/>
    <p:sldId id="310" r:id="rId18"/>
    <p:sldId id="311" r:id="rId19"/>
    <p:sldId id="312" r:id="rId20"/>
    <p:sldId id="325" r:id="rId21"/>
    <p:sldId id="327" r:id="rId22"/>
    <p:sldId id="313" r:id="rId23"/>
    <p:sldId id="329" r:id="rId24"/>
    <p:sldId id="315" r:id="rId25"/>
    <p:sldId id="328" r:id="rId26"/>
    <p:sldId id="297" r:id="rId27"/>
    <p:sldId id="292" r:id="rId28"/>
    <p:sldId id="293" r:id="rId29"/>
    <p:sldId id="267" r:id="rId30"/>
    <p:sldId id="330" r:id="rId31"/>
    <p:sldId id="331" r:id="rId32"/>
  </p:sldIdLst>
  <p:sldSz cx="18288000" cy="13716000"/>
  <p:notesSz cx="6858000" cy="9144000"/>
  <p:defaultTextStyle>
    <a:defPPr>
      <a:defRPr lang="ja-JP"/>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defaultTextStyle>
  <p:extLst>
    <p:ext uri="{521415D9-36F7-43E2-AB2F-B90AF26B5E84}">
      <p14:sectionLst xmlns:p14="http://schemas.microsoft.com/office/powerpoint/2010/main">
        <p14:section name="メインセクション" id="{3AF8E6CE-7EED-4697-8DC5-FCD53E35D329}">
          <p14:sldIdLst>
            <p14:sldId id="256"/>
            <p14:sldId id="290"/>
            <p14:sldId id="299"/>
            <p14:sldId id="300"/>
          </p14:sldIdLst>
        </p14:section>
        <p14:section name="実験" id="{CAE7764C-4812-DC4A-BFA1-9E8E74E8F5E0}">
          <p14:sldIdLst>
            <p14:sldId id="274"/>
            <p14:sldId id="303"/>
            <p14:sldId id="302"/>
            <p14:sldId id="321"/>
            <p14:sldId id="322"/>
            <p14:sldId id="323"/>
            <p14:sldId id="319"/>
            <p14:sldId id="324"/>
            <p14:sldId id="306"/>
            <p14:sldId id="307"/>
            <p14:sldId id="308"/>
            <p14:sldId id="309"/>
            <p14:sldId id="310"/>
          </p14:sldIdLst>
        </p14:section>
        <p14:section name="評価" id="{EDA6E36B-EE05-3649-B59D-CCC30A21C2E7}">
          <p14:sldIdLst>
            <p14:sldId id="311"/>
            <p14:sldId id="312"/>
            <p14:sldId id="325"/>
            <p14:sldId id="327"/>
            <p14:sldId id="313"/>
            <p14:sldId id="329"/>
            <p14:sldId id="315"/>
            <p14:sldId id="328"/>
          </p14:sldIdLst>
        </p14:section>
        <p14:section name="補助スライド" id="{040094EA-41C3-43AC-819E-647F1A036B25}">
          <p14:sldIdLst>
            <p14:sldId id="297"/>
            <p14:sldId id="292"/>
            <p14:sldId id="293"/>
          </p14:sldIdLst>
        </p14:section>
        <p14:section name="非表示" id="{E1D32D9D-ADF8-4F92-AB92-9CF6030857B6}">
          <p14:sldIdLst>
            <p14:sldId id="267"/>
            <p14:sldId id="330"/>
            <p14:sldId id="331"/>
          </p14:sldIdLst>
        </p14:section>
      </p14:sectionLst>
    </p:ext>
    <p:ext uri="{EFAFB233-063F-42B5-8137-9DF3F51BA10A}">
      <p15:sldGuideLst xmlns:p15="http://schemas.microsoft.com/office/powerpoint/2012/main">
        <p15:guide id="1" orient="horz" pos="1621" userDrawn="1">
          <p15:clr>
            <a:srgbClr val="A4A3A4"/>
          </p15:clr>
        </p15:guide>
        <p15:guide id="2" pos="5601" userDrawn="1">
          <p15:clr>
            <a:srgbClr val="A4A3A4"/>
          </p15:clr>
        </p15:guide>
        <p15:guide id="3" pos="385" userDrawn="1">
          <p15:clr>
            <a:srgbClr val="A4A3A4"/>
          </p15:clr>
        </p15:guide>
        <p15:guide id="4" pos="907" userDrawn="1">
          <p15:clr>
            <a:srgbClr val="A4A3A4"/>
          </p15:clr>
        </p15:guide>
        <p15:guide id="5" pos="181" userDrawn="1">
          <p15:clr>
            <a:srgbClr val="A4A3A4"/>
          </p15:clr>
        </p15:guide>
        <p15:guide id="6" orient="horz" pos="486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24242"/>
    <a:srgbClr val="F3F3F3"/>
    <a:srgbClr val="EDEDED"/>
    <a:srgbClr val="B1B1B1"/>
    <a:srgbClr val="EAEAEA"/>
    <a:srgbClr val="E0E0E0"/>
    <a:srgbClr val="F6F6F6"/>
    <a:srgbClr val="47BEB0"/>
    <a:srgbClr val="45BD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034"/>
    <p:restoredTop sz="94837" autoAdjust="0"/>
  </p:normalViewPr>
  <p:slideViewPr>
    <p:cSldViewPr snapToGrid="0" snapToObjects="1">
      <p:cViewPr varScale="1">
        <p:scale>
          <a:sx n="58" d="100"/>
          <a:sy n="58" d="100"/>
        </p:scale>
        <p:origin x="344" y="240"/>
      </p:cViewPr>
      <p:guideLst>
        <p:guide orient="horz" pos="1621"/>
        <p:guide pos="5601"/>
        <p:guide pos="385"/>
        <p:guide pos="907"/>
        <p:guide pos="181"/>
        <p:guide orient="horz" pos="4864"/>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DC76-43F3-8116-0ECE828DA5B1}"/>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0.20003</cdr:x>
      <cdr:y>0.89009</cdr:y>
    </cdr:from>
    <cdr:to>
      <cdr:x>0.28702</cdr:x>
      <cdr:y>0.96275</cdr:y>
    </cdr:to>
    <cdr:sp macro="" textlink="">
      <cdr:nvSpPr>
        <cdr:cNvPr id="6" name="直角三角形 5">
          <a:extLst xmlns:a="http://schemas.openxmlformats.org/drawingml/2006/main">
            <a:ext uri="{FF2B5EF4-FFF2-40B4-BE49-F238E27FC236}">
              <a16:creationId xmlns:a16="http://schemas.microsoft.com/office/drawing/2014/main" id="{74CC60A6-71E9-4C2E-86D8-0DDC539D9E7F}"/>
            </a:ext>
          </a:extLst>
        </cdr:cNvPr>
        <cdr:cNvSpPr/>
      </cdr:nvSpPr>
      <cdr:spPr>
        <a:xfrm xmlns:a="http://schemas.openxmlformats.org/drawingml/2006/main" flipH="1">
          <a:off x="1489936" y="3087119"/>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rtlCol="0" anchor="ctr"/>
        <a:lstStyle xmlns:a="http://schemas.openxmlformats.org/drawingml/2006/main"/>
        <a:p xmlns:a="http://schemas.openxmlformats.org/drawingml/2006/main">
          <a:endParaRPr lang="ja-JP"/>
        </a:p>
      </cdr:txBody>
    </cdr:sp>
  </cdr:relSizeAnchor>
  <cdr:relSizeAnchor xmlns:cdr="http://schemas.openxmlformats.org/drawingml/2006/chartDrawing">
    <cdr:from>
      <cdr:x>0.70275</cdr:x>
      <cdr:y>0.8844</cdr:y>
    </cdr:from>
    <cdr:to>
      <cdr:x>0.78975</cdr:x>
      <cdr:y>0.95705</cdr:y>
    </cdr:to>
    <cdr:sp macro="" textlink="">
      <cdr:nvSpPr>
        <cdr:cNvPr id="7" name="直角三角形 6">
          <a:extLst xmlns:a="http://schemas.openxmlformats.org/drawingml/2006/main">
            <a:ext uri="{FF2B5EF4-FFF2-40B4-BE49-F238E27FC236}">
              <a16:creationId xmlns:a16="http://schemas.microsoft.com/office/drawing/2014/main" id="{6A7DB7AC-D6D0-45D7-AA8F-C5E113A83884}"/>
            </a:ext>
          </a:extLst>
        </cdr:cNvPr>
        <cdr:cNvSpPr/>
      </cdr:nvSpPr>
      <cdr:spPr>
        <a:xfrm xmlns:a="http://schemas.openxmlformats.org/drawingml/2006/main">
          <a:off x="5234610" y="3067364"/>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endParaRPr lang="ja-JP"/>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B360EB-EED5-E74A-9E1B-64442734BBCE}" type="datetimeFigureOut">
              <a:rPr kumimoji="1" lang="ja-JP" altLang="en-US" smtClean="0"/>
              <a:t>2018/6/8</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4AD5B-25DE-AE41-9ACA-EFDE3C4BB9CC}" type="slidenum">
              <a:rPr kumimoji="1" lang="ja-JP" altLang="en-US" smtClean="0"/>
              <a:t>‹#›</a:t>
            </a:fld>
            <a:endParaRPr kumimoji="1" lang="ja-JP" altLang="en-US"/>
          </a:p>
        </p:txBody>
      </p:sp>
    </p:spTree>
    <p:extLst>
      <p:ext uri="{BB962C8B-B14F-4D97-AF65-F5344CB8AC3E}">
        <p14:creationId xmlns:p14="http://schemas.microsoft.com/office/powerpoint/2010/main" val="955236816"/>
      </p:ext>
    </p:extLst>
  </p:cSld>
  <p:clrMap bg1="lt1" tx1="dk1" bg2="lt2" tx2="dk2" accent1="accent1" accent2="accent2" accent3="accent3" accent4="accent4" accent5="accent5" accent6="accent6" hlink="hlink" folHlink="folHlink"/>
  <p:notesStyle>
    <a:lvl1pPr marL="0" algn="l" defTabSz="1828800" rtl="0" eaLnBrk="1" latinLnBrk="0" hangingPunct="1">
      <a:defRPr kumimoji="1" sz="2400" kern="1200">
        <a:solidFill>
          <a:schemeClr val="tx1"/>
        </a:solidFill>
        <a:latin typeface="+mn-lt"/>
        <a:ea typeface="+mn-ea"/>
        <a:cs typeface="+mn-cs"/>
      </a:defRPr>
    </a:lvl1pPr>
    <a:lvl2pPr marL="914400" algn="l" defTabSz="1828800" rtl="0" eaLnBrk="1" latinLnBrk="0" hangingPunct="1">
      <a:defRPr kumimoji="1" sz="2400" kern="1200">
        <a:solidFill>
          <a:schemeClr val="tx1"/>
        </a:solidFill>
        <a:latin typeface="+mn-lt"/>
        <a:ea typeface="+mn-ea"/>
        <a:cs typeface="+mn-cs"/>
      </a:defRPr>
    </a:lvl2pPr>
    <a:lvl3pPr marL="1828800" algn="l" defTabSz="1828800" rtl="0" eaLnBrk="1" latinLnBrk="0" hangingPunct="1">
      <a:defRPr kumimoji="1" sz="2400" kern="1200">
        <a:solidFill>
          <a:schemeClr val="tx1"/>
        </a:solidFill>
        <a:latin typeface="+mn-lt"/>
        <a:ea typeface="+mn-ea"/>
        <a:cs typeface="+mn-cs"/>
      </a:defRPr>
    </a:lvl3pPr>
    <a:lvl4pPr marL="2743200" algn="l" defTabSz="1828800" rtl="0" eaLnBrk="1" latinLnBrk="0" hangingPunct="1">
      <a:defRPr kumimoji="1" sz="2400" kern="1200">
        <a:solidFill>
          <a:schemeClr val="tx1"/>
        </a:solidFill>
        <a:latin typeface="+mn-lt"/>
        <a:ea typeface="+mn-ea"/>
        <a:cs typeface="+mn-cs"/>
      </a:defRPr>
    </a:lvl4pPr>
    <a:lvl5pPr marL="3657600" algn="l" defTabSz="1828800" rtl="0" eaLnBrk="1" latinLnBrk="0" hangingPunct="1">
      <a:defRPr kumimoji="1" sz="2400" kern="1200">
        <a:solidFill>
          <a:schemeClr val="tx1"/>
        </a:solidFill>
        <a:latin typeface="+mn-lt"/>
        <a:ea typeface="+mn-ea"/>
        <a:cs typeface="+mn-cs"/>
      </a:defRPr>
    </a:lvl5pPr>
    <a:lvl6pPr marL="4572000" algn="l" defTabSz="1828800" rtl="0" eaLnBrk="1" latinLnBrk="0" hangingPunct="1">
      <a:defRPr kumimoji="1" sz="2400" kern="1200">
        <a:solidFill>
          <a:schemeClr val="tx1"/>
        </a:solidFill>
        <a:latin typeface="+mn-lt"/>
        <a:ea typeface="+mn-ea"/>
        <a:cs typeface="+mn-cs"/>
      </a:defRPr>
    </a:lvl6pPr>
    <a:lvl7pPr marL="5486400" algn="l" defTabSz="1828800" rtl="0" eaLnBrk="1" latinLnBrk="0" hangingPunct="1">
      <a:defRPr kumimoji="1" sz="2400" kern="1200">
        <a:solidFill>
          <a:schemeClr val="tx1"/>
        </a:solidFill>
        <a:latin typeface="+mn-lt"/>
        <a:ea typeface="+mn-ea"/>
        <a:cs typeface="+mn-cs"/>
      </a:defRPr>
    </a:lvl7pPr>
    <a:lvl8pPr marL="6400800" algn="l" defTabSz="1828800" rtl="0" eaLnBrk="1" latinLnBrk="0" hangingPunct="1">
      <a:defRPr kumimoji="1" sz="2400" kern="1200">
        <a:solidFill>
          <a:schemeClr val="tx1"/>
        </a:solidFill>
        <a:latin typeface="+mn-lt"/>
        <a:ea typeface="+mn-ea"/>
        <a:cs typeface="+mn-cs"/>
      </a:defRPr>
    </a:lvl8pPr>
    <a:lvl9pPr marL="7315200" algn="l" defTabSz="1828800" rtl="0" eaLnBrk="1" latinLnBrk="0" hangingPunct="1">
      <a:defRPr kumimoji="1"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文献購読の研究室内発表と題しまして松下昌悟が発表します．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a:t>
            </a:fld>
            <a:endParaRPr kumimoji="1" lang="ja-JP" altLang="en-US"/>
          </a:p>
        </p:txBody>
      </p:sp>
    </p:spTree>
    <p:extLst>
      <p:ext uri="{BB962C8B-B14F-4D97-AF65-F5344CB8AC3E}">
        <p14:creationId xmlns:p14="http://schemas.microsoft.com/office/powerpoint/2010/main" val="41546258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今回の発表内容はこのようになっております．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a:t>
            </a:fld>
            <a:endParaRPr kumimoji="1" lang="ja-JP" altLang="en-US"/>
          </a:p>
        </p:txBody>
      </p:sp>
    </p:spTree>
    <p:extLst>
      <p:ext uri="{BB962C8B-B14F-4D97-AF65-F5344CB8AC3E}">
        <p14:creationId xmlns:p14="http://schemas.microsoft.com/office/powerpoint/2010/main" val="20079755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26</a:t>
            </a:fld>
            <a:endParaRPr kumimoji="1" lang="ja-JP" altLang="en-US"/>
          </a:p>
        </p:txBody>
      </p:sp>
    </p:spTree>
    <p:extLst>
      <p:ext uri="{BB962C8B-B14F-4D97-AF65-F5344CB8AC3E}">
        <p14:creationId xmlns:p14="http://schemas.microsoft.com/office/powerpoint/2010/main" val="15131330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F</a:t>
            </a:r>
            <a:r>
              <a:rPr kumimoji="1" lang="ja-JP" altLang="en-US" dirty="0"/>
              <a:t>検定は先ほど説明した</a:t>
            </a:r>
            <a:r>
              <a:rPr kumimoji="1" lang="en-US" altLang="ja-JP" dirty="0"/>
              <a:t>F</a:t>
            </a:r>
            <a:r>
              <a:rPr kumimoji="1" lang="ja-JP" altLang="en-US" dirty="0"/>
              <a:t>値と同様の考え方で，分子に分散が大きい方の群の分散，分母に分散が小さい方の群の分散を代入して計算する検定法です．これによって分散が等しいかどうか確認します．</a:t>
            </a:r>
            <a:endParaRPr kumimoji="1" lang="en-US" altLang="ja-JP" dirty="0"/>
          </a:p>
          <a:p>
            <a:r>
              <a:rPr kumimoji="1" lang="ja-JP" altLang="en-US" dirty="0"/>
              <a:t>ここでは簡単のため</a:t>
            </a:r>
            <a:r>
              <a:rPr kumimoji="1" lang="en-US" altLang="ja-JP" dirty="0"/>
              <a:t>1</a:t>
            </a:r>
            <a:r>
              <a:rPr kumimoji="1" lang="ja-JP" altLang="en-US" dirty="0"/>
              <a:t>群の</a:t>
            </a:r>
            <a:r>
              <a:rPr kumimoji="1" lang="en-US" altLang="ja-JP" dirty="0"/>
              <a:t>t</a:t>
            </a:r>
            <a:r>
              <a:rPr kumimoji="1" lang="ja-JP" altLang="en-US" dirty="0"/>
              <a:t>検定について説明します．</a:t>
            </a:r>
            <a:r>
              <a:rPr kumimoji="1" lang="en-US" altLang="ja-JP" dirty="0"/>
              <a:t>1</a:t>
            </a:r>
            <a:r>
              <a:rPr kumimoji="1" lang="ja-JP" altLang="en-US" dirty="0"/>
              <a:t>群の場合は群と固定値の平均値に差があるか調べると考えます．</a:t>
            </a:r>
            <a:endParaRPr kumimoji="1" lang="en-US" altLang="ja-JP" dirty="0"/>
          </a:p>
          <a:p>
            <a:r>
              <a:rPr kumimoji="1" lang="ja-JP" altLang="en-US" dirty="0"/>
              <a:t>対応のある</a:t>
            </a:r>
            <a:r>
              <a:rPr kumimoji="1" lang="en-US" altLang="ja-JP" dirty="0"/>
              <a:t>t</a:t>
            </a:r>
            <a:r>
              <a:rPr kumimoji="1" lang="ja-JP" altLang="en-US" dirty="0"/>
              <a:t>検定も１群の</a:t>
            </a:r>
            <a:r>
              <a:rPr kumimoji="1" lang="en-US" altLang="ja-JP" dirty="0"/>
              <a:t>t</a:t>
            </a:r>
            <a:r>
              <a:rPr kumimoji="1" lang="ja-JP" altLang="en-US" dirty="0"/>
              <a:t>検定と同様の考え方で，この式のデータの平均値を対となるデータの差の平均値に変えて</a:t>
            </a:r>
            <a:r>
              <a:rPr kumimoji="1" lang="en-US" altLang="ja-JP" dirty="0"/>
              <a:t>t</a:t>
            </a:r>
            <a:r>
              <a:rPr kumimoji="1" lang="ja-JP" altLang="en-US" dirty="0"/>
              <a:t>値の計算を行います．</a:t>
            </a:r>
            <a:endParaRPr kumimoji="1" lang="en-US" altLang="ja-JP" dirty="0"/>
          </a:p>
          <a:p>
            <a:r>
              <a:rPr kumimoji="1" lang="ja-JP" altLang="en-US" dirty="0"/>
              <a:t>これは対応のある群同士に差があるというのは群の差が</a:t>
            </a:r>
            <a:r>
              <a:rPr kumimoji="1" lang="en-US" altLang="ja-JP" dirty="0"/>
              <a:t>0</a:t>
            </a:r>
            <a:r>
              <a:rPr kumimoji="1" lang="ja-JP" altLang="en-US" dirty="0"/>
              <a:t>かどうかという問題に落とし込めるからです．</a:t>
            </a:r>
            <a:endParaRPr kumimoji="1" lang="en-US" altLang="ja-JP" dirty="0"/>
          </a:p>
          <a:p>
            <a:r>
              <a:rPr kumimoji="1" lang="ja-JP" altLang="en-US" dirty="0"/>
              <a:t>すなわち群の差という１つの群と固定値を比較するという問題と同義です．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27</a:t>
            </a:fld>
            <a:endParaRPr kumimoji="1" lang="ja-JP" altLang="en-US"/>
          </a:p>
        </p:txBody>
      </p:sp>
    </p:spTree>
    <p:extLst>
      <p:ext uri="{BB962C8B-B14F-4D97-AF65-F5344CB8AC3E}">
        <p14:creationId xmlns:p14="http://schemas.microsoft.com/office/powerpoint/2010/main" val="5456160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28</a:t>
            </a:fld>
            <a:endParaRPr kumimoji="1" lang="ja-JP" altLang="en-US"/>
          </a:p>
        </p:txBody>
      </p:sp>
    </p:spTree>
    <p:extLst>
      <p:ext uri="{BB962C8B-B14F-4D97-AF65-F5344CB8AC3E}">
        <p14:creationId xmlns:p14="http://schemas.microsoft.com/office/powerpoint/2010/main" val="41318906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29</a:t>
            </a:fld>
            <a:endParaRPr kumimoji="1" lang="ja-JP" altLang="en-US"/>
          </a:p>
        </p:txBody>
      </p:sp>
    </p:spTree>
    <p:extLst>
      <p:ext uri="{BB962C8B-B14F-4D97-AF65-F5344CB8AC3E}">
        <p14:creationId xmlns:p14="http://schemas.microsoft.com/office/powerpoint/2010/main" val="42210368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DB48260-19DA-2240-B1D7-219E5D21CDB1}"/>
              </a:ext>
            </a:extLst>
          </p:cNvPr>
          <p:cNvSpPr/>
          <p:nvPr userDrawn="1"/>
        </p:nvSpPr>
        <p:spPr>
          <a:xfrm>
            <a:off x="8984" y="3505120"/>
            <a:ext cx="18288000" cy="671094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p>
        </p:txBody>
      </p:sp>
      <p:sp>
        <p:nvSpPr>
          <p:cNvPr id="2" name="Title 1"/>
          <p:cNvSpPr>
            <a:spLocks noGrp="1"/>
          </p:cNvSpPr>
          <p:nvPr>
            <p:ph type="ctrTitle"/>
          </p:nvPr>
        </p:nvSpPr>
        <p:spPr>
          <a:xfrm>
            <a:off x="1371600" y="2244726"/>
            <a:ext cx="15544800" cy="4775200"/>
          </a:xfrm>
        </p:spPr>
        <p:txBody>
          <a:bodyPr anchor="b"/>
          <a:lstStyle>
            <a:lvl1pPr algn="ctr">
              <a:defRPr sz="12000">
                <a:solidFill>
                  <a:schemeClr val="bg2"/>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2286000" y="7204076"/>
            <a:ext cx="13716000" cy="3311524"/>
          </a:xfrm>
        </p:spPr>
        <p:txBody>
          <a:bodyPr/>
          <a:lstStyle>
            <a:lvl1pPr marL="0" indent="0" algn="ctr">
              <a:buNone/>
              <a:defRPr sz="4800">
                <a:solidFill>
                  <a:schemeClr val="bg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4920C136-7FFD-4B99-9F10-B0C455E4DCE4}" type="datetime1">
              <a:rPr lang="ja-JP" altLang="en-US" smtClean="0"/>
              <a:t>2018/6/8</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751210930"/>
      </p:ext>
    </p:extLst>
  </p:cSld>
  <p:clrMapOvr>
    <a:masterClrMapping/>
  </p:clrMapOvr>
  <p:extLst mod="1">
    <p:ext uri="{DCECCB84-F9BA-43D5-87BE-67443E8EF086}">
      <p15:sldGuideLst xmlns:p15="http://schemas.microsoft.com/office/powerpoint/2012/main">
        <p15:guide id="1" orient="horz" pos="8266" userDrawn="1">
          <p15:clr>
            <a:srgbClr val="FBAE40"/>
          </p15:clr>
        </p15:guide>
        <p15:guide id="2" pos="381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番号付き">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ADF1710-6306-4D7E-9276-861F0F5B15B3}" type="datetime1">
              <a:rPr lang="ja-JP" altLang="en-US" smtClean="0"/>
              <a:t>2018/6/8</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7" name="円弧 6">
            <a:extLst>
              <a:ext uri="{FF2B5EF4-FFF2-40B4-BE49-F238E27FC236}">
                <a16:creationId xmlns:a16="http://schemas.microsoft.com/office/drawing/2014/main" id="{CBF0D79E-DC97-7244-B970-BA67ACDF9F7B}"/>
              </a:ext>
            </a:extLst>
          </p:cNvPr>
          <p:cNvSpPr/>
          <p:nvPr userDrawn="1"/>
        </p:nvSpPr>
        <p:spPr>
          <a:xfrm rot="5400000">
            <a:off x="-1319547" y="-1502762"/>
            <a:ext cx="2628000" cy="2988000"/>
          </a:xfrm>
          <a:prstGeom prst="arc">
            <a:avLst/>
          </a:prstGeom>
          <a:solidFill>
            <a:schemeClr val="accent1">
              <a:lumMod val="75000"/>
            </a:schemeClr>
          </a:solidFill>
          <a:ln w="38100">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4000"/>
          </a:p>
        </p:txBody>
      </p:sp>
      <p:sp>
        <p:nvSpPr>
          <p:cNvPr id="9" name="テキスト プレースホルダー 8">
            <a:extLst>
              <a:ext uri="{FF2B5EF4-FFF2-40B4-BE49-F238E27FC236}">
                <a16:creationId xmlns:a16="http://schemas.microsoft.com/office/drawing/2014/main" id="{6ADBD5D3-E43E-EB4E-BFAF-EF2E8E601640}"/>
              </a:ext>
            </a:extLst>
          </p:cNvPr>
          <p:cNvSpPr>
            <a:spLocks noGrp="1"/>
          </p:cNvSpPr>
          <p:nvPr>
            <p:ph type="body" sz="quarter" idx="13" hasCustomPrompt="1"/>
          </p:nvPr>
        </p:nvSpPr>
        <p:spPr>
          <a:xfrm>
            <a:off x="-52615" y="-159024"/>
            <a:ext cx="6450012" cy="1420388"/>
          </a:xfrm>
        </p:spPr>
        <p:txBody>
          <a:bodyPr>
            <a:noAutofit/>
          </a:bodyPr>
          <a:lstStyle>
            <a:lvl1pPr marL="0" indent="0">
              <a:buNone/>
              <a:defRPr sz="10500">
                <a:solidFill>
                  <a:schemeClr val="bg2"/>
                </a:solidFill>
              </a:defRPr>
            </a:lvl1pPr>
          </a:lstStyle>
          <a:p>
            <a:pPr lvl="0"/>
            <a:r>
              <a:rPr kumimoji="1" lang="en-US" altLang="ja-JP" dirty="0"/>
              <a:t>No.</a:t>
            </a:r>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445162" y="69062"/>
            <a:ext cx="13323887" cy="796352"/>
          </a:xfrm>
        </p:spPr>
        <p:txBody>
          <a:bodyPr>
            <a:noAutofit/>
          </a:bodyPr>
          <a:lstStyle>
            <a:lvl1pPr marL="0" indent="0">
              <a:buNone/>
              <a:defRPr sz="6600">
                <a:solidFill>
                  <a:schemeClr val="bg2"/>
                </a:solidFill>
              </a:defRPr>
            </a:lvl1pPr>
          </a:lstStyle>
          <a:p>
            <a:pPr lvl="0"/>
            <a:r>
              <a:rPr kumimoji="1" lang="ja-JP" altLang="en-US" dirty="0"/>
              <a:t>タイトル</a:t>
            </a:r>
          </a:p>
        </p:txBody>
      </p:sp>
      <p:sp>
        <p:nvSpPr>
          <p:cNvPr id="44" name="円/楕円 43">
            <a:extLst>
              <a:ext uri="{FF2B5EF4-FFF2-40B4-BE49-F238E27FC236}">
                <a16:creationId xmlns:a16="http://schemas.microsoft.com/office/drawing/2014/main" id="{1EF83EC6-99EF-E94B-ADD7-5D20EA9BC096}"/>
              </a:ext>
            </a:extLst>
          </p:cNvPr>
          <p:cNvSpPr/>
          <p:nvPr userDrawn="1"/>
        </p:nvSpPr>
        <p:spPr>
          <a:xfrm>
            <a:off x="789086" y="866722"/>
            <a:ext cx="126000" cy="1260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1449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番号なし">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EE17DCE-E512-4FBB-B3A2-2CE2AF78648A}" type="datetime1">
              <a:rPr lang="ja-JP" altLang="en-US" smtClean="0"/>
              <a:t>2018/6/8</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6578" y="69062"/>
            <a:ext cx="13323887" cy="796352"/>
          </a:xfrm>
        </p:spPr>
        <p:txBody>
          <a:bodyPr>
            <a:noAutofit/>
          </a:bodyPr>
          <a:lstStyle>
            <a:lvl1pPr marL="0" indent="0">
              <a:buNone/>
              <a:defRPr sz="6000">
                <a:solidFill>
                  <a:schemeClr val="bg2"/>
                </a:solidFill>
              </a:defRPr>
            </a:lvl1pPr>
          </a:lstStyle>
          <a:p>
            <a:pPr lvl="0"/>
            <a:r>
              <a:rPr kumimoji="1" lang="ja-JP" altLang="en-US"/>
              <a:t>タイトル</a:t>
            </a:r>
          </a:p>
        </p:txBody>
      </p:sp>
    </p:spTree>
    <p:extLst>
      <p:ext uri="{BB962C8B-B14F-4D97-AF65-F5344CB8AC3E}">
        <p14:creationId xmlns:p14="http://schemas.microsoft.com/office/powerpoint/2010/main" val="2619534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コピー用">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BF63A4F-9011-46E5-9BF4-125C0F6D36D1}" type="datetime1">
              <a:rPr kumimoji="1" lang="ja-JP" altLang="en-US" smtClean="0"/>
              <a:t>2018/6/8</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grpSp>
        <p:nvGrpSpPr>
          <p:cNvPr id="42" name="グループ化 41">
            <a:extLst>
              <a:ext uri="{FF2B5EF4-FFF2-40B4-BE49-F238E27FC236}">
                <a16:creationId xmlns:a16="http://schemas.microsoft.com/office/drawing/2014/main" id="{7C64DA23-46D9-984B-B610-6E67459B873E}"/>
              </a:ext>
            </a:extLst>
          </p:cNvPr>
          <p:cNvGrpSpPr/>
          <p:nvPr userDrawn="1"/>
        </p:nvGrpSpPr>
        <p:grpSpPr>
          <a:xfrm>
            <a:off x="289330" y="1413298"/>
            <a:ext cx="2160000" cy="934436"/>
            <a:chOff x="144665" y="525617"/>
            <a:chExt cx="1080000" cy="467218"/>
          </a:xfrm>
        </p:grpSpPr>
        <p:sp>
          <p:nvSpPr>
            <p:cNvPr id="43" name="正方形/長方形 42">
              <a:extLst>
                <a:ext uri="{FF2B5EF4-FFF2-40B4-BE49-F238E27FC236}">
                  <a16:creationId xmlns:a16="http://schemas.microsoft.com/office/drawing/2014/main" id="{D665C4E3-299D-DF48-8BFD-9D032E326C5F}"/>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4" name="正方形/長方形 43">
              <a:extLst>
                <a:ext uri="{FF2B5EF4-FFF2-40B4-BE49-F238E27FC236}">
                  <a16:creationId xmlns:a16="http://schemas.microsoft.com/office/drawing/2014/main" id="{036DCA53-79EE-E047-9C3D-D1D6BE4D29A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5" name="グループ化 44">
            <a:extLst>
              <a:ext uri="{FF2B5EF4-FFF2-40B4-BE49-F238E27FC236}">
                <a16:creationId xmlns:a16="http://schemas.microsoft.com/office/drawing/2014/main" id="{2B75F477-C889-2943-A2CA-1622C8EA202B}"/>
              </a:ext>
            </a:extLst>
          </p:cNvPr>
          <p:cNvGrpSpPr/>
          <p:nvPr userDrawn="1"/>
        </p:nvGrpSpPr>
        <p:grpSpPr>
          <a:xfrm>
            <a:off x="617232" y="2555510"/>
            <a:ext cx="539448" cy="487368"/>
            <a:chOff x="400056" y="1061560"/>
            <a:chExt cx="269724" cy="243684"/>
          </a:xfrm>
        </p:grpSpPr>
        <p:sp>
          <p:nvSpPr>
            <p:cNvPr id="46" name="三角形 45">
              <a:extLst>
                <a:ext uri="{FF2B5EF4-FFF2-40B4-BE49-F238E27FC236}">
                  <a16:creationId xmlns:a16="http://schemas.microsoft.com/office/drawing/2014/main" id="{2A685D1C-1FAF-1B40-9357-32E276CD76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7" name="三角形 46">
              <a:extLst>
                <a:ext uri="{FF2B5EF4-FFF2-40B4-BE49-F238E27FC236}">
                  <a16:creationId xmlns:a16="http://schemas.microsoft.com/office/drawing/2014/main" id="{4B27A33D-C837-B14A-83D0-153BF1C23F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8" name="三角形 47">
            <a:extLst>
              <a:ext uri="{FF2B5EF4-FFF2-40B4-BE49-F238E27FC236}">
                <a16:creationId xmlns:a16="http://schemas.microsoft.com/office/drawing/2014/main" id="{BEA7B9D1-FCCE-824A-BFC7-6A498C977FD4}"/>
              </a:ext>
            </a:extLst>
          </p:cNvPr>
          <p:cNvSpPr/>
          <p:nvPr userDrawn="1"/>
        </p:nvSpPr>
        <p:spPr>
          <a:xfrm rot="5400000">
            <a:off x="1076238" y="33599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テキスト プレースホルダー 27">
            <a:extLst>
              <a:ext uri="{FF2B5EF4-FFF2-40B4-BE49-F238E27FC236}">
                <a16:creationId xmlns:a16="http://schemas.microsoft.com/office/drawing/2014/main" id="{1BC1998B-2FF5-524F-8768-2B4D222F8EB3}"/>
              </a:ext>
            </a:extLst>
          </p:cNvPr>
          <p:cNvSpPr>
            <a:spLocks noGrp="1"/>
          </p:cNvSpPr>
          <p:nvPr>
            <p:ph type="body" sz="quarter" idx="17" hasCustomPrompt="1"/>
          </p:nvPr>
        </p:nvSpPr>
        <p:spPr>
          <a:xfrm>
            <a:off x="1246886" y="2484733"/>
            <a:ext cx="16632960" cy="997834"/>
          </a:xfrm>
        </p:spPr>
        <p:txBody>
          <a:bodyPr>
            <a:normAutofit/>
          </a:bodyPr>
          <a:lstStyle>
            <a:lvl1pPr marL="0" indent="0">
              <a:buNone/>
              <a:defRPr sz="4800">
                <a:solidFill>
                  <a:srgbClr val="424242"/>
                </a:solidFill>
              </a:defRPr>
            </a:lvl1pPr>
          </a:lstStyle>
          <a:p>
            <a:pPr lvl="0"/>
            <a:r>
              <a:rPr kumimoji="1" lang="ja-JP" altLang="en-US"/>
              <a:t>レベル</a:t>
            </a:r>
            <a:r>
              <a:rPr kumimoji="1" lang="en-US" altLang="ja-JP" dirty="0"/>
              <a:t>2</a:t>
            </a:r>
            <a:endParaRPr kumimoji="1" lang="ja-JP" altLang="en-US"/>
          </a:p>
        </p:txBody>
      </p:sp>
      <p:sp>
        <p:nvSpPr>
          <p:cNvPr id="50" name="テキスト プレースホルダー 29">
            <a:extLst>
              <a:ext uri="{FF2B5EF4-FFF2-40B4-BE49-F238E27FC236}">
                <a16:creationId xmlns:a16="http://schemas.microsoft.com/office/drawing/2014/main" id="{8BEB543B-9F21-374C-8C29-418CED1A87B0}"/>
              </a:ext>
            </a:extLst>
          </p:cNvPr>
          <p:cNvSpPr>
            <a:spLocks noGrp="1"/>
          </p:cNvSpPr>
          <p:nvPr>
            <p:ph type="body" sz="quarter" idx="18" hasCustomPrompt="1"/>
          </p:nvPr>
        </p:nvSpPr>
        <p:spPr>
          <a:xfrm>
            <a:off x="1561000" y="3246502"/>
            <a:ext cx="16135964" cy="853994"/>
          </a:xfrm>
        </p:spPr>
        <p:txBody>
          <a:bodyPr>
            <a:normAutofit/>
          </a:bodyPr>
          <a:lstStyle>
            <a:lvl1pPr marL="0" indent="0">
              <a:buNone/>
              <a:defRPr sz="4000">
                <a:solidFill>
                  <a:srgbClr val="424242"/>
                </a:solidFill>
              </a:defRPr>
            </a:lvl1pPr>
          </a:lstStyle>
          <a:p>
            <a:pPr lvl="0"/>
            <a:r>
              <a:rPr kumimoji="1" lang="ja-JP" altLang="en-US"/>
              <a:t>レベル</a:t>
            </a:r>
            <a:r>
              <a:rPr kumimoji="1" lang="en-US" altLang="ja-JP" dirty="0"/>
              <a:t>3</a:t>
            </a:r>
            <a:endParaRPr kumimoji="1" lang="ja-JP" altLang="en-US"/>
          </a:p>
        </p:txBody>
      </p:sp>
      <p:sp>
        <p:nvSpPr>
          <p:cNvPr id="51" name="テキスト プレースホルダー 30">
            <a:extLst>
              <a:ext uri="{FF2B5EF4-FFF2-40B4-BE49-F238E27FC236}">
                <a16:creationId xmlns:a16="http://schemas.microsoft.com/office/drawing/2014/main" id="{02304497-0A2B-5C45-97ED-E58D120C141A}"/>
              </a:ext>
            </a:extLst>
          </p:cNvPr>
          <p:cNvSpPr>
            <a:spLocks noGrp="1"/>
          </p:cNvSpPr>
          <p:nvPr>
            <p:ph type="body" sz="quarter" idx="19" hasCustomPrompt="1"/>
          </p:nvPr>
        </p:nvSpPr>
        <p:spPr>
          <a:xfrm>
            <a:off x="571049" y="1583871"/>
            <a:ext cx="17302163" cy="1403350"/>
          </a:xfrm>
        </p:spPr>
        <p:txBody>
          <a:bodyPr>
            <a:normAutofit/>
          </a:bodyPr>
          <a:lstStyle>
            <a:lvl1pPr marL="0" indent="0">
              <a:buNone/>
              <a:defRPr sz="6000"/>
            </a:lvl1pPr>
          </a:lstStyle>
          <a:p>
            <a:pPr lvl="0"/>
            <a:r>
              <a:rPr kumimoji="1" lang="ja-JP" altLang="en-US"/>
              <a:t>レベル</a:t>
            </a:r>
            <a:r>
              <a:rPr kumimoji="1" lang="en-US" altLang="ja-JP" dirty="0"/>
              <a:t>1</a:t>
            </a:r>
            <a:endParaRPr kumimoji="1" lang="ja-JP" altLang="en-US"/>
          </a:p>
        </p:txBody>
      </p:sp>
    </p:spTree>
    <p:extLst>
      <p:ext uri="{BB962C8B-B14F-4D97-AF65-F5344CB8AC3E}">
        <p14:creationId xmlns:p14="http://schemas.microsoft.com/office/powerpoint/2010/main" val="3628165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257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9258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387B5743-A319-49BC-8A6B-2E5E377FE5C8}" type="datetime1">
              <a:rPr kumimoji="1" lang="ja-JP" altLang="en-US" smtClean="0"/>
              <a:t>2018/6/8</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28589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730253"/>
            <a:ext cx="15773400" cy="2651126"/>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9684" y="3362326"/>
            <a:ext cx="7736680"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4" name="Content Placeholder 3"/>
          <p:cNvSpPr>
            <a:spLocks noGrp="1"/>
          </p:cNvSpPr>
          <p:nvPr>
            <p:ph sz="half" idx="2"/>
          </p:nvPr>
        </p:nvSpPr>
        <p:spPr>
          <a:xfrm>
            <a:off x="1259684" y="5010150"/>
            <a:ext cx="7736680"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9258301" y="3362326"/>
            <a:ext cx="7774782"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6" name="Content Placeholder 5"/>
          <p:cNvSpPr>
            <a:spLocks noGrp="1"/>
          </p:cNvSpPr>
          <p:nvPr>
            <p:ph sz="quarter" idx="4"/>
          </p:nvPr>
        </p:nvSpPr>
        <p:spPr>
          <a:xfrm>
            <a:off x="9258301" y="5010150"/>
            <a:ext cx="7774782"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598F0631-E9D3-47C9-B58A-777BFC0A38C0}" type="datetime1">
              <a:rPr kumimoji="1" lang="ja-JP" altLang="en-US" smtClean="0"/>
              <a:t>2018/6/8</a:t>
            </a:fld>
            <a:endParaRPr kumimoji="1" lang="ja-JP" altLang="en-US"/>
          </a:p>
        </p:txBody>
      </p:sp>
      <p:sp>
        <p:nvSpPr>
          <p:cNvPr id="8" name="Footer Placeholder 7"/>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9" name="Slide Number Placeholder 8"/>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873045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BEDD01EA-B639-4352-B605-7FAB0B612417}" type="datetime1">
              <a:rPr kumimoji="1" lang="ja-JP" altLang="en-US" smtClean="0"/>
              <a:t>2018/6/8</a:t>
            </a:fld>
            <a:endParaRPr kumimoji="1" lang="ja-JP" altLang="en-US"/>
          </a:p>
        </p:txBody>
      </p:sp>
      <p:sp>
        <p:nvSpPr>
          <p:cNvPr id="4" name="Footer Placeholder 3"/>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5" name="Slide Number Placeholder 4"/>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3144938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1E5245-5D7C-4BDF-AE54-113FCAD120EA}" type="datetime1">
              <a:rPr kumimoji="1" lang="ja-JP" altLang="en-US" smtClean="0"/>
              <a:t>2018/6/8</a:t>
            </a:fld>
            <a:endParaRPr kumimoji="1" lang="ja-JP" altLang="en-US"/>
          </a:p>
        </p:txBody>
      </p:sp>
      <p:sp>
        <p:nvSpPr>
          <p:cNvPr id="3" name="Footer Placeholder 2"/>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Slide Number Placeholder 3"/>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01645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コンテンツ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Content Placeholder 2"/>
          <p:cNvSpPr>
            <a:spLocks noGrp="1"/>
          </p:cNvSpPr>
          <p:nvPr>
            <p:ph idx="1"/>
          </p:nvPr>
        </p:nvSpPr>
        <p:spPr>
          <a:xfrm>
            <a:off x="7774782" y="1974853"/>
            <a:ext cx="92583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6D1BE616-48CE-4A97-9276-F0F53F5F87BD}" type="datetime1">
              <a:rPr kumimoji="1" lang="ja-JP" altLang="en-US" smtClean="0"/>
              <a:t>2018/6/8</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22897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図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7774782" y="1974853"/>
            <a:ext cx="92583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BCB175B-1B65-4F49-8F2B-96DFC8EC5AA9}" type="datetime1">
              <a:rPr kumimoji="1" lang="ja-JP" altLang="en-US" smtClean="0"/>
              <a:t>2018/6/8</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2825589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76C977F-E312-4C26-BA3B-E1C3178424DF}" type="datetime1">
              <a:rPr kumimoji="1" lang="ja-JP" altLang="en-US" smtClean="0"/>
              <a:t>2018/6/8</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131211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1" y="730250"/>
            <a:ext cx="3943350" cy="11623676"/>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1257301" y="730250"/>
            <a:ext cx="11601450" cy="1162367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1C3EFCA0-1735-47AB-9DED-FB4B09783554}" type="datetime1">
              <a:rPr kumimoji="1" lang="ja-JP" altLang="en-US" smtClean="0"/>
              <a:t>2018/6/8</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724257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lumMod val="95000"/>
          </a:schemeClr>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3D2571E-41D4-D848-BB3B-72FBCA05A8F2}"/>
              </a:ext>
            </a:extLst>
          </p:cNvPr>
          <p:cNvSpPr/>
          <p:nvPr userDrawn="1"/>
        </p:nvSpPr>
        <p:spPr>
          <a:xfrm>
            <a:off x="0" y="13349930"/>
            <a:ext cx="18288000" cy="34962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8" name="正方形/長方形 7">
            <a:extLst>
              <a:ext uri="{FF2B5EF4-FFF2-40B4-BE49-F238E27FC236}">
                <a16:creationId xmlns:a16="http://schemas.microsoft.com/office/drawing/2014/main" id="{61B798F2-936C-9A42-9A8A-109E75FBD456}"/>
              </a:ext>
            </a:extLst>
          </p:cNvPr>
          <p:cNvSpPr/>
          <p:nvPr userDrawn="1"/>
        </p:nvSpPr>
        <p:spPr>
          <a:xfrm>
            <a:off x="0" y="-1802"/>
            <a:ext cx="18288000" cy="93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2" name="Title Placeholder 1"/>
          <p:cNvSpPr>
            <a:spLocks noGrp="1"/>
          </p:cNvSpPr>
          <p:nvPr>
            <p:ph type="title"/>
          </p:nvPr>
        </p:nvSpPr>
        <p:spPr>
          <a:xfrm>
            <a:off x="1257300" y="730253"/>
            <a:ext cx="15773400"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7300" y="3651250"/>
            <a:ext cx="15773400"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32658" y="13154933"/>
            <a:ext cx="4114800" cy="730250"/>
          </a:xfrm>
          <a:prstGeom prst="rect">
            <a:avLst/>
          </a:prstGeom>
        </p:spPr>
        <p:txBody>
          <a:bodyPr vert="horz" lIns="91440" tIns="45720" rIns="91440" bIns="45720" rtlCol="0" anchor="ctr"/>
          <a:lstStyle>
            <a:lvl1pPr algn="l">
              <a:defRPr sz="2400">
                <a:solidFill>
                  <a:schemeClr val="bg2"/>
                </a:solidFill>
              </a:defRPr>
            </a:lvl1pPr>
          </a:lstStyle>
          <a:p>
            <a:fld id="{24A5A1A9-107F-451C-8BA4-46179D70E0A7}" type="datetime1">
              <a:rPr lang="ja-JP" altLang="en-US" smtClean="0"/>
              <a:t>2018/6/8</a:t>
            </a:fld>
            <a:endParaRPr lang="ja-JP" altLang="en-US"/>
          </a:p>
        </p:txBody>
      </p:sp>
      <p:sp>
        <p:nvSpPr>
          <p:cNvPr id="5" name="Footer Placeholder 4"/>
          <p:cNvSpPr>
            <a:spLocks noGrp="1"/>
          </p:cNvSpPr>
          <p:nvPr>
            <p:ph type="ftr" sz="quarter" idx="3"/>
          </p:nvPr>
        </p:nvSpPr>
        <p:spPr>
          <a:xfrm>
            <a:off x="6057900" y="13186238"/>
            <a:ext cx="6172200" cy="730250"/>
          </a:xfrm>
          <a:prstGeom prst="rect">
            <a:avLst/>
          </a:prstGeom>
        </p:spPr>
        <p:txBody>
          <a:bodyPr vert="horz" lIns="91440" tIns="45720" rIns="91440" bIns="45720" rtlCol="0" anchor="ctr"/>
          <a:lstStyle>
            <a:lvl1pPr algn="ctr">
              <a:defRPr sz="2400">
                <a:solidFill>
                  <a:schemeClr val="bg2"/>
                </a:solidFill>
                <a:latin typeface="+mn-ea"/>
                <a:ea typeface="+mn-ea"/>
              </a:defRPr>
            </a:lvl1p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4"/>
          </p:nvPr>
        </p:nvSpPr>
        <p:spPr>
          <a:xfrm>
            <a:off x="14205862" y="13153581"/>
            <a:ext cx="4114800" cy="730250"/>
          </a:xfrm>
          <a:prstGeom prst="rect">
            <a:avLst/>
          </a:prstGeom>
        </p:spPr>
        <p:txBody>
          <a:bodyPr vert="horz" lIns="91440" tIns="45720" rIns="91440" bIns="45720" rtlCol="0" anchor="ctr"/>
          <a:lstStyle>
            <a:lvl1pPr algn="r">
              <a:defRPr sz="2400">
                <a:solidFill>
                  <a:schemeClr val="bg2"/>
                </a:solidFill>
              </a:defRPr>
            </a:lvl1p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2065557012"/>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88"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p:txStyles>
    <p:titleStyle>
      <a:lvl1pPr algn="l" defTabSz="1828800" rtl="0" eaLnBrk="1" latinLnBrk="0" hangingPunct="1">
        <a:lnSpc>
          <a:spcPct val="90000"/>
        </a:lnSpc>
        <a:spcBef>
          <a:spcPct val="0"/>
        </a:spcBef>
        <a:buNone/>
        <a:defRPr kumimoji="1"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kumimoji="1"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8289"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0.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1.png"/><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4" Type="http://schemas.openxmlformats.org/officeDocument/2006/relationships/image" Target="../media/image110.png"/></Relationships>
</file>

<file path=ppt/slides/_rels/slide28.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chart" Target="../charts/chart2.xml"/><Relationship Id="rId7" Type="http://schemas.openxmlformats.org/officeDocument/2006/relationships/image" Target="../media/image17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0.png"/><Relationship Id="rId5" Type="http://schemas.openxmlformats.org/officeDocument/2006/relationships/image" Target="../media/image150.png"/><Relationship Id="rId4" Type="http://schemas.openxmlformats.org/officeDocument/2006/relationships/chart" Target="../charts/chart3.xml"/><Relationship Id="rId9" Type="http://schemas.openxmlformats.org/officeDocument/2006/relationships/image" Target="../media/image190.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30.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C8BF32-0C66-1E44-925C-F1A9DBEC01DE}"/>
              </a:ext>
            </a:extLst>
          </p:cNvPr>
          <p:cNvSpPr>
            <a:spLocks noGrp="1"/>
          </p:cNvSpPr>
          <p:nvPr>
            <p:ph type="ctrTitle"/>
          </p:nvPr>
        </p:nvSpPr>
        <p:spPr>
          <a:xfrm>
            <a:off x="-242675" y="2503857"/>
            <a:ext cx="18809208" cy="4775200"/>
          </a:xfrm>
        </p:spPr>
        <p:txBody>
          <a:bodyPr>
            <a:normAutofit/>
          </a:bodyPr>
          <a:lstStyle/>
          <a:p>
            <a:r>
              <a:rPr kumimoji="1" lang="ja-JP" altLang="en-US"/>
              <a:t>文献講読</a:t>
            </a:r>
            <a:br>
              <a:rPr kumimoji="1" lang="en-US" altLang="ja-JP" dirty="0"/>
            </a:br>
            <a:r>
              <a:rPr kumimoji="1" lang="en-US" altLang="ja-JP" sz="5400" dirty="0"/>
              <a:t>(</a:t>
            </a:r>
            <a:r>
              <a:rPr lang="en-US" altLang="ja-JP" sz="5400" b="1" dirty="0"/>
              <a:t>Grumpy &amp; Pinocchio: Answering Human-Agent Negotiation Questions through Realistic Agent Design </a:t>
            </a:r>
            <a:r>
              <a:rPr kumimoji="1" lang="en-US" altLang="ja-JP" sz="5400" dirty="0"/>
              <a:t>)</a:t>
            </a:r>
            <a:endParaRPr kumimoji="1" lang="ja-JP" altLang="en-US" dirty="0"/>
          </a:p>
        </p:txBody>
      </p:sp>
      <p:sp>
        <p:nvSpPr>
          <p:cNvPr id="3" name="サブタイトル 2">
            <a:extLst>
              <a:ext uri="{FF2B5EF4-FFF2-40B4-BE49-F238E27FC236}">
                <a16:creationId xmlns:a16="http://schemas.microsoft.com/office/drawing/2014/main" id="{514C09A7-F9A3-4246-953E-DEDDA0B9D7CB}"/>
              </a:ext>
            </a:extLst>
          </p:cNvPr>
          <p:cNvSpPr>
            <a:spLocks noGrp="1"/>
          </p:cNvSpPr>
          <p:nvPr>
            <p:ph type="subTitle" idx="1"/>
          </p:nvPr>
        </p:nvSpPr>
        <p:spPr>
          <a:xfrm>
            <a:off x="2286000" y="8118485"/>
            <a:ext cx="13716000" cy="3311524"/>
          </a:xfrm>
        </p:spPr>
        <p:txBody>
          <a:bodyPr/>
          <a:lstStyle/>
          <a:p>
            <a:r>
              <a:rPr lang="ja-JP" altLang="en-US"/>
              <a:t>東京農工大学  情報工学科 </a:t>
            </a:r>
            <a:r>
              <a:rPr lang="en-US" altLang="ja-JP" dirty="0"/>
              <a:t> 4</a:t>
            </a:r>
            <a:r>
              <a:rPr lang="ja-JP" altLang="en-US"/>
              <a:t>年  藤田桂英研究室</a:t>
            </a:r>
            <a:endParaRPr lang="en-US" altLang="ja-JP" dirty="0"/>
          </a:p>
          <a:p>
            <a:r>
              <a:rPr lang="en-US" altLang="ja-JP" dirty="0"/>
              <a:t>17268508 </a:t>
            </a:r>
            <a:r>
              <a:rPr lang="ja-JP" altLang="en-US"/>
              <a:t> 松下昌悟</a:t>
            </a:r>
            <a:endParaRPr kumimoji="1" lang="ja-JP" altLang="en-US"/>
          </a:p>
        </p:txBody>
      </p:sp>
      <p:sp>
        <p:nvSpPr>
          <p:cNvPr id="7" name="日付プレースホルダー 6">
            <a:extLst>
              <a:ext uri="{FF2B5EF4-FFF2-40B4-BE49-F238E27FC236}">
                <a16:creationId xmlns:a16="http://schemas.microsoft.com/office/drawing/2014/main" id="{8F711B5A-02FA-904E-8709-C7DBEEC3C601}"/>
              </a:ext>
            </a:extLst>
          </p:cNvPr>
          <p:cNvSpPr>
            <a:spLocks noGrp="1"/>
          </p:cNvSpPr>
          <p:nvPr>
            <p:ph type="dt" sz="half" idx="10"/>
          </p:nvPr>
        </p:nvSpPr>
        <p:spPr/>
        <p:txBody>
          <a:bodyPr/>
          <a:lstStyle/>
          <a:p>
            <a:fld id="{7170581A-8A83-4BF1-B362-C67C103D747C}" type="datetime1">
              <a:rPr lang="ja-JP" altLang="en-US" smtClean="0"/>
              <a:t>2018/6/8</a:t>
            </a:fld>
            <a:endParaRPr lang="ja-JP" altLang="en-US"/>
          </a:p>
        </p:txBody>
      </p:sp>
      <p:sp>
        <p:nvSpPr>
          <p:cNvPr id="8" name="フッター プレースホルダー 7">
            <a:extLst>
              <a:ext uri="{FF2B5EF4-FFF2-40B4-BE49-F238E27FC236}">
                <a16:creationId xmlns:a16="http://schemas.microsoft.com/office/drawing/2014/main" id="{6702093A-5EED-FE40-9D94-B21C99E12CFF}"/>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9" name="スライド番号プレースホルダー 8">
            <a:extLst>
              <a:ext uri="{FF2B5EF4-FFF2-40B4-BE49-F238E27FC236}">
                <a16:creationId xmlns:a16="http://schemas.microsoft.com/office/drawing/2014/main" id="{202F569F-A4A1-AC4F-AF16-B68230E74BEF}"/>
              </a:ext>
            </a:extLst>
          </p:cNvPr>
          <p:cNvSpPr>
            <a:spLocks noGrp="1"/>
          </p:cNvSpPr>
          <p:nvPr>
            <p:ph type="sldNum" sz="quarter" idx="12"/>
          </p:nvPr>
        </p:nvSpPr>
        <p:spPr/>
        <p:txBody>
          <a:bodyPr/>
          <a:lstStyle/>
          <a:p>
            <a:fld id="{89242BC1-393D-1248-985B-18DA624F2964}" type="slidenum">
              <a:rPr lang="ja-JP" altLang="en-US" smtClean="0"/>
              <a:pPr/>
              <a:t>1</a:t>
            </a:fld>
            <a:endParaRPr lang="ja-JP" altLang="en-US"/>
          </a:p>
        </p:txBody>
      </p:sp>
    </p:spTree>
    <p:extLst>
      <p:ext uri="{BB962C8B-B14F-4D97-AF65-F5344CB8AC3E}">
        <p14:creationId xmlns:p14="http://schemas.microsoft.com/office/powerpoint/2010/main" val="2088156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1CFCC5C-9745-494D-B159-85BEAFCE28EC}"/>
              </a:ext>
            </a:extLst>
          </p:cNvPr>
          <p:cNvSpPr>
            <a:spLocks noGrp="1"/>
          </p:cNvSpPr>
          <p:nvPr>
            <p:ph type="dt" sz="half" idx="10"/>
          </p:nvPr>
        </p:nvSpPr>
        <p:spPr/>
        <p:txBody>
          <a:bodyPr/>
          <a:lstStyle/>
          <a:p>
            <a:fld id="{5ADF1710-6306-4D7E-9276-861F0F5B15B3}"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7614E227-246A-4614-860C-DB563A904974}"/>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E77A887D-F659-4F57-B569-049452BA7082}"/>
              </a:ext>
            </a:extLst>
          </p:cNvPr>
          <p:cNvSpPr>
            <a:spLocks noGrp="1"/>
          </p:cNvSpPr>
          <p:nvPr>
            <p:ph type="sldNum" sz="quarter" idx="12"/>
          </p:nvPr>
        </p:nvSpPr>
        <p:spPr/>
        <p:txBody>
          <a:bodyPr/>
          <a:lstStyle/>
          <a:p>
            <a:fld id="{89242BC1-393D-1248-985B-18DA624F2964}" type="slidenum">
              <a:rPr lang="ja-JP" altLang="en-US" smtClean="0"/>
              <a:pPr/>
              <a:t>2</a:t>
            </a:fld>
            <a:endParaRPr lang="ja-JP" altLang="en-US"/>
          </a:p>
        </p:txBody>
      </p:sp>
      <p:sp>
        <p:nvSpPr>
          <p:cNvPr id="5" name="テキスト プレースホルダー 4">
            <a:extLst>
              <a:ext uri="{FF2B5EF4-FFF2-40B4-BE49-F238E27FC236}">
                <a16:creationId xmlns:a16="http://schemas.microsoft.com/office/drawing/2014/main" id="{F93804D2-1D10-403E-B6A5-39777CEF3973}"/>
              </a:ext>
            </a:extLst>
          </p:cNvPr>
          <p:cNvSpPr>
            <a:spLocks noGrp="1"/>
          </p:cNvSpPr>
          <p:nvPr>
            <p:ph type="body" sz="quarter" idx="13"/>
          </p:nvPr>
        </p:nvSpPr>
        <p:spPr/>
        <p:txBody>
          <a:bodyPr/>
          <a:lstStyle/>
          <a:p>
            <a:r>
              <a:rPr kumimoji="1" lang="en-US" altLang="ja-JP" dirty="0"/>
              <a:t>0</a:t>
            </a:r>
            <a:endParaRPr kumimoji="1" lang="ja-JP" altLang="en-US" dirty="0"/>
          </a:p>
        </p:txBody>
      </p:sp>
      <p:sp>
        <p:nvSpPr>
          <p:cNvPr id="6" name="テキスト プレースホルダー 5">
            <a:extLst>
              <a:ext uri="{FF2B5EF4-FFF2-40B4-BE49-F238E27FC236}">
                <a16:creationId xmlns:a16="http://schemas.microsoft.com/office/drawing/2014/main" id="{27F5D563-4CCD-444C-8C40-533A72C9BE8A}"/>
              </a:ext>
            </a:extLst>
          </p:cNvPr>
          <p:cNvSpPr>
            <a:spLocks noGrp="1"/>
          </p:cNvSpPr>
          <p:nvPr>
            <p:ph type="body" sz="quarter" idx="14"/>
          </p:nvPr>
        </p:nvSpPr>
        <p:spPr/>
        <p:txBody>
          <a:bodyPr/>
          <a:lstStyle/>
          <a:p>
            <a:r>
              <a:rPr kumimoji="1" lang="ja-JP" altLang="en-US" dirty="0"/>
              <a:t>目次</a:t>
            </a:r>
          </a:p>
        </p:txBody>
      </p:sp>
      <p:grpSp>
        <p:nvGrpSpPr>
          <p:cNvPr id="7" name="グループ化 6">
            <a:extLst>
              <a:ext uri="{FF2B5EF4-FFF2-40B4-BE49-F238E27FC236}">
                <a16:creationId xmlns:a16="http://schemas.microsoft.com/office/drawing/2014/main" id="{948B2F3D-2A47-4C7D-921A-EDEBA3060D6E}"/>
              </a:ext>
            </a:extLst>
          </p:cNvPr>
          <p:cNvGrpSpPr/>
          <p:nvPr/>
        </p:nvGrpSpPr>
        <p:grpSpPr>
          <a:xfrm>
            <a:off x="617232" y="1494104"/>
            <a:ext cx="539448" cy="487368"/>
            <a:chOff x="400056" y="1061560"/>
            <a:chExt cx="269724" cy="243684"/>
          </a:xfrm>
        </p:grpSpPr>
        <p:sp>
          <p:nvSpPr>
            <p:cNvPr id="8" name="三角形 10">
              <a:extLst>
                <a:ext uri="{FF2B5EF4-FFF2-40B4-BE49-F238E27FC236}">
                  <a16:creationId xmlns:a16="http://schemas.microsoft.com/office/drawing/2014/main" id="{20407D7E-E84B-498A-8187-14EA2675A70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 name="三角形 11">
              <a:extLst>
                <a:ext uri="{FF2B5EF4-FFF2-40B4-BE49-F238E27FC236}">
                  <a16:creationId xmlns:a16="http://schemas.microsoft.com/office/drawing/2014/main" id="{F7027CF7-FB8A-4059-A39A-24B429D188D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0" name="三角形 12">
            <a:extLst>
              <a:ext uri="{FF2B5EF4-FFF2-40B4-BE49-F238E27FC236}">
                <a16:creationId xmlns:a16="http://schemas.microsoft.com/office/drawing/2014/main" id="{913E158E-993A-4C0D-B53A-67B444E43783}"/>
              </a:ext>
            </a:extLst>
          </p:cNvPr>
          <p:cNvSpPr/>
          <p:nvPr/>
        </p:nvSpPr>
        <p:spPr>
          <a:xfrm rot="5400000">
            <a:off x="1076238" y="229852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1" name="テキスト プレースホルダー 27">
            <a:extLst>
              <a:ext uri="{FF2B5EF4-FFF2-40B4-BE49-F238E27FC236}">
                <a16:creationId xmlns:a16="http://schemas.microsoft.com/office/drawing/2014/main" id="{8C043863-6013-4896-AB8B-E82FDAB2F430}"/>
              </a:ext>
            </a:extLst>
          </p:cNvPr>
          <p:cNvSpPr txBox="1">
            <a:spLocks/>
          </p:cNvSpPr>
          <p:nvPr/>
        </p:nvSpPr>
        <p:spPr>
          <a:xfrm>
            <a:off x="1254486" y="142147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はじめに</a:t>
            </a:r>
          </a:p>
        </p:txBody>
      </p:sp>
      <p:sp>
        <p:nvSpPr>
          <p:cNvPr id="12" name="テキスト プレースホルダー 29">
            <a:extLst>
              <a:ext uri="{FF2B5EF4-FFF2-40B4-BE49-F238E27FC236}">
                <a16:creationId xmlns:a16="http://schemas.microsoft.com/office/drawing/2014/main" id="{0022F4D8-0115-4AE5-8ABC-9E4F09D9E9D4}"/>
              </a:ext>
            </a:extLst>
          </p:cNvPr>
          <p:cNvSpPr txBox="1">
            <a:spLocks/>
          </p:cNvSpPr>
          <p:nvPr/>
        </p:nvSpPr>
        <p:spPr>
          <a:xfrm>
            <a:off x="1568600" y="218324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背景</a:t>
            </a:r>
          </a:p>
        </p:txBody>
      </p:sp>
      <p:sp>
        <p:nvSpPr>
          <p:cNvPr id="13" name="三角形 12">
            <a:extLst>
              <a:ext uri="{FF2B5EF4-FFF2-40B4-BE49-F238E27FC236}">
                <a16:creationId xmlns:a16="http://schemas.microsoft.com/office/drawing/2014/main" id="{9DB7ADFA-4600-4AFE-84B2-FE8DB3C377EB}"/>
              </a:ext>
            </a:extLst>
          </p:cNvPr>
          <p:cNvSpPr/>
          <p:nvPr/>
        </p:nvSpPr>
        <p:spPr>
          <a:xfrm rot="5400000">
            <a:off x="1076238" y="300525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9">
            <a:extLst>
              <a:ext uri="{FF2B5EF4-FFF2-40B4-BE49-F238E27FC236}">
                <a16:creationId xmlns:a16="http://schemas.microsoft.com/office/drawing/2014/main" id="{C8688FD1-4ED2-4A85-854F-E5A384566C64}"/>
              </a:ext>
            </a:extLst>
          </p:cNvPr>
          <p:cNvSpPr txBox="1">
            <a:spLocks/>
          </p:cNvSpPr>
          <p:nvPr/>
        </p:nvSpPr>
        <p:spPr>
          <a:xfrm>
            <a:off x="1568600" y="288998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目的</a:t>
            </a:r>
          </a:p>
        </p:txBody>
      </p:sp>
      <p:sp>
        <p:nvSpPr>
          <p:cNvPr id="15" name="三角形 12">
            <a:extLst>
              <a:ext uri="{FF2B5EF4-FFF2-40B4-BE49-F238E27FC236}">
                <a16:creationId xmlns:a16="http://schemas.microsoft.com/office/drawing/2014/main" id="{173C51D2-7C30-44FD-A9B8-597EE12F0EB6}"/>
              </a:ext>
            </a:extLst>
          </p:cNvPr>
          <p:cNvSpPr/>
          <p:nvPr/>
        </p:nvSpPr>
        <p:spPr>
          <a:xfrm rot="5400000">
            <a:off x="1076238" y="374681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6" name="テキスト プレースホルダー 29">
            <a:extLst>
              <a:ext uri="{FF2B5EF4-FFF2-40B4-BE49-F238E27FC236}">
                <a16:creationId xmlns:a16="http://schemas.microsoft.com/office/drawing/2014/main" id="{FB04F56F-18A0-4DA3-994E-92690676A6DA}"/>
              </a:ext>
            </a:extLst>
          </p:cNvPr>
          <p:cNvSpPr txBox="1">
            <a:spLocks/>
          </p:cNvSpPr>
          <p:nvPr/>
        </p:nvSpPr>
        <p:spPr>
          <a:xfrm>
            <a:off x="1568600" y="363154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関連研究</a:t>
            </a:r>
          </a:p>
        </p:txBody>
      </p:sp>
      <p:grpSp>
        <p:nvGrpSpPr>
          <p:cNvPr id="17" name="グループ化 16">
            <a:extLst>
              <a:ext uri="{FF2B5EF4-FFF2-40B4-BE49-F238E27FC236}">
                <a16:creationId xmlns:a16="http://schemas.microsoft.com/office/drawing/2014/main" id="{3FDC3068-B0AC-49E5-A68A-E395AA20AEA0}"/>
              </a:ext>
            </a:extLst>
          </p:cNvPr>
          <p:cNvGrpSpPr/>
          <p:nvPr/>
        </p:nvGrpSpPr>
        <p:grpSpPr>
          <a:xfrm>
            <a:off x="617232" y="4407333"/>
            <a:ext cx="539448" cy="487368"/>
            <a:chOff x="400056" y="1061560"/>
            <a:chExt cx="269724" cy="243684"/>
          </a:xfrm>
        </p:grpSpPr>
        <p:sp>
          <p:nvSpPr>
            <p:cNvPr id="18" name="三角形 10">
              <a:extLst>
                <a:ext uri="{FF2B5EF4-FFF2-40B4-BE49-F238E27FC236}">
                  <a16:creationId xmlns:a16="http://schemas.microsoft.com/office/drawing/2014/main" id="{89E9C7A0-0D9C-48AD-A522-C5CE85127DF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9" name="三角形 11">
              <a:extLst>
                <a:ext uri="{FF2B5EF4-FFF2-40B4-BE49-F238E27FC236}">
                  <a16:creationId xmlns:a16="http://schemas.microsoft.com/office/drawing/2014/main" id="{45DA7295-527E-4B86-AA20-7E5D005B8AD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テキスト プレースホルダー 27">
            <a:extLst>
              <a:ext uri="{FF2B5EF4-FFF2-40B4-BE49-F238E27FC236}">
                <a16:creationId xmlns:a16="http://schemas.microsoft.com/office/drawing/2014/main" id="{F579DAAD-4E76-4234-9B26-847BFFF5376C}"/>
              </a:ext>
            </a:extLst>
          </p:cNvPr>
          <p:cNvSpPr txBox="1">
            <a:spLocks/>
          </p:cNvSpPr>
          <p:nvPr/>
        </p:nvSpPr>
        <p:spPr>
          <a:xfrm>
            <a:off x="1254486" y="4334708"/>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実験概要</a:t>
            </a:r>
          </a:p>
        </p:txBody>
      </p:sp>
      <p:sp>
        <p:nvSpPr>
          <p:cNvPr id="21" name="三角形 12">
            <a:extLst>
              <a:ext uri="{FF2B5EF4-FFF2-40B4-BE49-F238E27FC236}">
                <a16:creationId xmlns:a16="http://schemas.microsoft.com/office/drawing/2014/main" id="{131CA47D-9FDB-4834-8D49-BF8BDD3F98A5}"/>
              </a:ext>
            </a:extLst>
          </p:cNvPr>
          <p:cNvSpPr/>
          <p:nvPr/>
        </p:nvSpPr>
        <p:spPr>
          <a:xfrm rot="5400000">
            <a:off x="1076238" y="527486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テキスト プレースホルダー 29">
            <a:extLst>
              <a:ext uri="{FF2B5EF4-FFF2-40B4-BE49-F238E27FC236}">
                <a16:creationId xmlns:a16="http://schemas.microsoft.com/office/drawing/2014/main" id="{819D5B2A-1FFF-4B1E-8926-A25B7C3C9D2A}"/>
              </a:ext>
            </a:extLst>
          </p:cNvPr>
          <p:cNvSpPr txBox="1">
            <a:spLocks/>
          </p:cNvSpPr>
          <p:nvPr/>
        </p:nvSpPr>
        <p:spPr>
          <a:xfrm>
            <a:off x="1568600" y="515959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交渉タスク</a:t>
            </a:r>
          </a:p>
        </p:txBody>
      </p:sp>
      <p:sp>
        <p:nvSpPr>
          <p:cNvPr id="23" name="三角形 12">
            <a:extLst>
              <a:ext uri="{FF2B5EF4-FFF2-40B4-BE49-F238E27FC236}">
                <a16:creationId xmlns:a16="http://schemas.microsoft.com/office/drawing/2014/main" id="{58AAB898-428C-4C2B-BE55-9527AE84ECE9}"/>
              </a:ext>
            </a:extLst>
          </p:cNvPr>
          <p:cNvSpPr/>
          <p:nvPr/>
        </p:nvSpPr>
        <p:spPr>
          <a:xfrm rot="5400000">
            <a:off x="1076238" y="602250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4" name="テキスト プレースホルダー 29">
            <a:extLst>
              <a:ext uri="{FF2B5EF4-FFF2-40B4-BE49-F238E27FC236}">
                <a16:creationId xmlns:a16="http://schemas.microsoft.com/office/drawing/2014/main" id="{EDE5EB5D-0C41-44C2-8642-C80BF49EC8F8}"/>
              </a:ext>
            </a:extLst>
          </p:cNvPr>
          <p:cNvSpPr txBox="1">
            <a:spLocks/>
          </p:cNvSpPr>
          <p:nvPr/>
        </p:nvSpPr>
        <p:spPr>
          <a:xfrm>
            <a:off x="1568600" y="590723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参加者へのインセンティブ</a:t>
            </a:r>
          </a:p>
        </p:txBody>
      </p:sp>
      <p:sp>
        <p:nvSpPr>
          <p:cNvPr id="25" name="三角形 12">
            <a:extLst>
              <a:ext uri="{FF2B5EF4-FFF2-40B4-BE49-F238E27FC236}">
                <a16:creationId xmlns:a16="http://schemas.microsoft.com/office/drawing/2014/main" id="{8B76B00A-3EAB-4ACD-9683-111B8ED27FD2}"/>
              </a:ext>
            </a:extLst>
          </p:cNvPr>
          <p:cNvSpPr/>
          <p:nvPr/>
        </p:nvSpPr>
        <p:spPr>
          <a:xfrm rot="5400000">
            <a:off x="1076238" y="679823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テキスト プレースホルダー 29">
            <a:extLst>
              <a:ext uri="{FF2B5EF4-FFF2-40B4-BE49-F238E27FC236}">
                <a16:creationId xmlns:a16="http://schemas.microsoft.com/office/drawing/2014/main" id="{B09AFE31-FCF4-474F-8FAD-E296F0DE41C7}"/>
              </a:ext>
            </a:extLst>
          </p:cNvPr>
          <p:cNvSpPr txBox="1">
            <a:spLocks/>
          </p:cNvSpPr>
          <p:nvPr/>
        </p:nvSpPr>
        <p:spPr>
          <a:xfrm>
            <a:off x="1568600" y="668296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条件</a:t>
            </a:r>
          </a:p>
        </p:txBody>
      </p:sp>
      <p:sp>
        <p:nvSpPr>
          <p:cNvPr id="27" name="三角形 12">
            <a:extLst>
              <a:ext uri="{FF2B5EF4-FFF2-40B4-BE49-F238E27FC236}">
                <a16:creationId xmlns:a16="http://schemas.microsoft.com/office/drawing/2014/main" id="{A95D0549-C4F7-4157-B834-E845A92AFFA3}"/>
              </a:ext>
            </a:extLst>
          </p:cNvPr>
          <p:cNvSpPr/>
          <p:nvPr/>
        </p:nvSpPr>
        <p:spPr>
          <a:xfrm rot="5400000">
            <a:off x="1076238" y="754587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テキスト プレースホルダー 29">
            <a:extLst>
              <a:ext uri="{FF2B5EF4-FFF2-40B4-BE49-F238E27FC236}">
                <a16:creationId xmlns:a16="http://schemas.microsoft.com/office/drawing/2014/main" id="{5BEBDC8D-D180-4766-BC6F-01705A2DF918}"/>
              </a:ext>
            </a:extLst>
          </p:cNvPr>
          <p:cNvSpPr txBox="1">
            <a:spLocks/>
          </p:cNvSpPr>
          <p:nvPr/>
        </p:nvSpPr>
        <p:spPr>
          <a:xfrm>
            <a:off x="1568600" y="743060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感情の伝達</a:t>
            </a:r>
          </a:p>
        </p:txBody>
      </p:sp>
      <p:sp>
        <p:nvSpPr>
          <p:cNvPr id="29" name="三角形 12">
            <a:extLst>
              <a:ext uri="{FF2B5EF4-FFF2-40B4-BE49-F238E27FC236}">
                <a16:creationId xmlns:a16="http://schemas.microsoft.com/office/drawing/2014/main" id="{EAC0FAF6-1092-4C33-A6A1-ED980B1DCFC9}"/>
              </a:ext>
            </a:extLst>
          </p:cNvPr>
          <p:cNvSpPr/>
          <p:nvPr/>
        </p:nvSpPr>
        <p:spPr>
          <a:xfrm rot="5400000">
            <a:off x="1076238" y="831634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D9006773-DCD6-47B0-AAF1-D6483631A7FF}"/>
              </a:ext>
            </a:extLst>
          </p:cNvPr>
          <p:cNvSpPr txBox="1">
            <a:spLocks/>
          </p:cNvSpPr>
          <p:nvPr/>
        </p:nvSpPr>
        <p:spPr>
          <a:xfrm>
            <a:off x="1568600" y="820107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評価方法</a:t>
            </a:r>
          </a:p>
        </p:txBody>
      </p:sp>
      <p:sp>
        <p:nvSpPr>
          <p:cNvPr id="31" name="三角形 12">
            <a:extLst>
              <a:ext uri="{FF2B5EF4-FFF2-40B4-BE49-F238E27FC236}">
                <a16:creationId xmlns:a16="http://schemas.microsoft.com/office/drawing/2014/main" id="{651AD531-5829-42EC-B512-708E31DC6775}"/>
              </a:ext>
            </a:extLst>
          </p:cNvPr>
          <p:cNvSpPr/>
          <p:nvPr/>
        </p:nvSpPr>
        <p:spPr>
          <a:xfrm rot="5400000">
            <a:off x="1076238" y="910753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2" name="テキスト プレースホルダー 29">
            <a:extLst>
              <a:ext uri="{FF2B5EF4-FFF2-40B4-BE49-F238E27FC236}">
                <a16:creationId xmlns:a16="http://schemas.microsoft.com/office/drawing/2014/main" id="{EED075D8-2D53-40ED-8686-AB03E4672ABC}"/>
              </a:ext>
            </a:extLst>
          </p:cNvPr>
          <p:cNvSpPr txBox="1">
            <a:spLocks/>
          </p:cNvSpPr>
          <p:nvPr/>
        </p:nvSpPr>
        <p:spPr>
          <a:xfrm>
            <a:off x="1568600" y="899225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ソフトウェア</a:t>
            </a:r>
          </a:p>
        </p:txBody>
      </p:sp>
      <p:sp>
        <p:nvSpPr>
          <p:cNvPr id="33" name="三角形 12">
            <a:extLst>
              <a:ext uri="{FF2B5EF4-FFF2-40B4-BE49-F238E27FC236}">
                <a16:creationId xmlns:a16="http://schemas.microsoft.com/office/drawing/2014/main" id="{8698F976-D3C2-46F1-AFBF-EE76F563DF04}"/>
              </a:ext>
            </a:extLst>
          </p:cNvPr>
          <p:cNvSpPr/>
          <p:nvPr/>
        </p:nvSpPr>
        <p:spPr>
          <a:xfrm rot="5400000">
            <a:off x="1076238" y="991131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4" name="テキスト プレースホルダー 29">
            <a:extLst>
              <a:ext uri="{FF2B5EF4-FFF2-40B4-BE49-F238E27FC236}">
                <a16:creationId xmlns:a16="http://schemas.microsoft.com/office/drawing/2014/main" id="{2CD5CB62-4098-4A7A-A402-045901E10C3D}"/>
              </a:ext>
            </a:extLst>
          </p:cNvPr>
          <p:cNvSpPr txBox="1">
            <a:spLocks/>
          </p:cNvSpPr>
          <p:nvPr/>
        </p:nvSpPr>
        <p:spPr>
          <a:xfrm>
            <a:off x="1568600" y="979604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チュートリアル</a:t>
            </a:r>
          </a:p>
        </p:txBody>
      </p:sp>
      <p:sp>
        <p:nvSpPr>
          <p:cNvPr id="35" name="三角形 12">
            <a:extLst>
              <a:ext uri="{FF2B5EF4-FFF2-40B4-BE49-F238E27FC236}">
                <a16:creationId xmlns:a16="http://schemas.microsoft.com/office/drawing/2014/main" id="{B362934F-6ADD-4491-97E7-FEE8A47AE841}"/>
              </a:ext>
            </a:extLst>
          </p:cNvPr>
          <p:cNvSpPr/>
          <p:nvPr/>
        </p:nvSpPr>
        <p:spPr>
          <a:xfrm rot="5400000">
            <a:off x="1076238" y="1071976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テキスト プレースホルダー 29">
            <a:extLst>
              <a:ext uri="{FF2B5EF4-FFF2-40B4-BE49-F238E27FC236}">
                <a16:creationId xmlns:a16="http://schemas.microsoft.com/office/drawing/2014/main" id="{106935A4-6436-44C2-8774-85E4562E8127}"/>
              </a:ext>
            </a:extLst>
          </p:cNvPr>
          <p:cNvSpPr txBox="1">
            <a:spLocks/>
          </p:cNvSpPr>
          <p:nvPr/>
        </p:nvSpPr>
        <p:spPr>
          <a:xfrm>
            <a:off x="1568600" y="1060449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実験の参加者</a:t>
            </a:r>
          </a:p>
        </p:txBody>
      </p:sp>
      <p:grpSp>
        <p:nvGrpSpPr>
          <p:cNvPr id="44" name="グループ化 43">
            <a:extLst>
              <a:ext uri="{FF2B5EF4-FFF2-40B4-BE49-F238E27FC236}">
                <a16:creationId xmlns:a16="http://schemas.microsoft.com/office/drawing/2014/main" id="{C6C1B1E9-BDFC-4708-9FB1-3D18597D0627}"/>
              </a:ext>
            </a:extLst>
          </p:cNvPr>
          <p:cNvGrpSpPr/>
          <p:nvPr/>
        </p:nvGrpSpPr>
        <p:grpSpPr>
          <a:xfrm>
            <a:off x="9573390" y="1495024"/>
            <a:ext cx="539448" cy="487368"/>
            <a:chOff x="400056" y="1061560"/>
            <a:chExt cx="269724" cy="243684"/>
          </a:xfrm>
        </p:grpSpPr>
        <p:sp>
          <p:nvSpPr>
            <p:cNvPr id="45" name="三角形 10">
              <a:extLst>
                <a:ext uri="{FF2B5EF4-FFF2-40B4-BE49-F238E27FC236}">
                  <a16:creationId xmlns:a16="http://schemas.microsoft.com/office/drawing/2014/main" id="{E6BD6CC8-0E3A-47E2-93E2-E78D2401F5A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三角形 11">
              <a:extLst>
                <a:ext uri="{FF2B5EF4-FFF2-40B4-BE49-F238E27FC236}">
                  <a16:creationId xmlns:a16="http://schemas.microsoft.com/office/drawing/2014/main" id="{5E051751-ADD4-42B6-89F8-39C8813679B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7" name="三角形 12">
            <a:extLst>
              <a:ext uri="{FF2B5EF4-FFF2-40B4-BE49-F238E27FC236}">
                <a16:creationId xmlns:a16="http://schemas.microsoft.com/office/drawing/2014/main" id="{7B297521-91AB-41EB-B4D4-1CD49FC25A52}"/>
              </a:ext>
            </a:extLst>
          </p:cNvPr>
          <p:cNvSpPr/>
          <p:nvPr/>
        </p:nvSpPr>
        <p:spPr>
          <a:xfrm rot="5400000">
            <a:off x="10032396" y="229944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7">
            <a:extLst>
              <a:ext uri="{FF2B5EF4-FFF2-40B4-BE49-F238E27FC236}">
                <a16:creationId xmlns:a16="http://schemas.microsoft.com/office/drawing/2014/main" id="{5240BE88-4E8A-4260-88F0-1E27D83563E3}"/>
              </a:ext>
            </a:extLst>
          </p:cNvPr>
          <p:cNvSpPr txBox="1">
            <a:spLocks/>
          </p:cNvSpPr>
          <p:nvPr/>
        </p:nvSpPr>
        <p:spPr>
          <a:xfrm>
            <a:off x="10210644" y="1422399"/>
            <a:ext cx="7460124"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実験結果</a:t>
            </a:r>
          </a:p>
        </p:txBody>
      </p:sp>
      <p:sp>
        <p:nvSpPr>
          <p:cNvPr id="49" name="テキスト プレースホルダー 29">
            <a:extLst>
              <a:ext uri="{FF2B5EF4-FFF2-40B4-BE49-F238E27FC236}">
                <a16:creationId xmlns:a16="http://schemas.microsoft.com/office/drawing/2014/main" id="{D913988D-523E-4123-B280-FE55427BE29B}"/>
              </a:ext>
            </a:extLst>
          </p:cNvPr>
          <p:cNvSpPr txBox="1">
            <a:spLocks/>
          </p:cNvSpPr>
          <p:nvPr/>
        </p:nvSpPr>
        <p:spPr>
          <a:xfrm>
            <a:off x="10524758" y="2184168"/>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マニピュレーションチェック</a:t>
            </a:r>
          </a:p>
        </p:txBody>
      </p:sp>
      <p:sp>
        <p:nvSpPr>
          <p:cNvPr id="50" name="三角形 12">
            <a:extLst>
              <a:ext uri="{FF2B5EF4-FFF2-40B4-BE49-F238E27FC236}">
                <a16:creationId xmlns:a16="http://schemas.microsoft.com/office/drawing/2014/main" id="{C84B159B-6263-4CE8-BB9D-A339E1D16C14}"/>
              </a:ext>
            </a:extLst>
          </p:cNvPr>
          <p:cNvSpPr/>
          <p:nvPr/>
        </p:nvSpPr>
        <p:spPr>
          <a:xfrm rot="5400000">
            <a:off x="10032396" y="300617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1" name="テキスト プレースホルダー 29">
            <a:extLst>
              <a:ext uri="{FF2B5EF4-FFF2-40B4-BE49-F238E27FC236}">
                <a16:creationId xmlns:a16="http://schemas.microsoft.com/office/drawing/2014/main" id="{BA8F774B-F3DD-460B-AC93-ED3C12D4303F}"/>
              </a:ext>
            </a:extLst>
          </p:cNvPr>
          <p:cNvSpPr txBox="1">
            <a:spLocks/>
          </p:cNvSpPr>
          <p:nvPr/>
        </p:nvSpPr>
        <p:spPr>
          <a:xfrm>
            <a:off x="10524758" y="2890900"/>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a:t>
            </a:r>
            <a:r>
              <a:rPr lang="ja-JP" altLang="en-US" dirty="0"/>
              <a:t> </a:t>
            </a:r>
            <a:r>
              <a:rPr lang="en-US" altLang="ja-JP" dirty="0"/>
              <a:t>difference</a:t>
            </a:r>
            <a:endParaRPr lang="ja-JP" altLang="en-US" dirty="0"/>
          </a:p>
        </p:txBody>
      </p:sp>
      <p:grpSp>
        <p:nvGrpSpPr>
          <p:cNvPr id="52" name="グループ化 51">
            <a:extLst>
              <a:ext uri="{FF2B5EF4-FFF2-40B4-BE49-F238E27FC236}">
                <a16:creationId xmlns:a16="http://schemas.microsoft.com/office/drawing/2014/main" id="{DB665E1D-14DB-413E-9CFC-7D9FA8E84A15}"/>
              </a:ext>
            </a:extLst>
          </p:cNvPr>
          <p:cNvGrpSpPr/>
          <p:nvPr/>
        </p:nvGrpSpPr>
        <p:grpSpPr>
          <a:xfrm>
            <a:off x="9573390" y="3730652"/>
            <a:ext cx="539448" cy="487368"/>
            <a:chOff x="400056" y="1061560"/>
            <a:chExt cx="269724" cy="243684"/>
          </a:xfrm>
        </p:grpSpPr>
        <p:sp>
          <p:nvSpPr>
            <p:cNvPr id="53" name="三角形 10">
              <a:extLst>
                <a:ext uri="{FF2B5EF4-FFF2-40B4-BE49-F238E27FC236}">
                  <a16:creationId xmlns:a16="http://schemas.microsoft.com/office/drawing/2014/main" id="{47D1CD17-F4A8-41F8-95D3-76EBCB0DCAB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11">
              <a:extLst>
                <a:ext uri="{FF2B5EF4-FFF2-40B4-BE49-F238E27FC236}">
                  <a16:creationId xmlns:a16="http://schemas.microsoft.com/office/drawing/2014/main" id="{01C46499-7644-4A4B-8FC3-73B98BD2155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12">
            <a:extLst>
              <a:ext uri="{FF2B5EF4-FFF2-40B4-BE49-F238E27FC236}">
                <a16:creationId xmlns:a16="http://schemas.microsoft.com/office/drawing/2014/main" id="{F5FB5532-8038-4106-A9E0-423B60EF0B47}"/>
              </a:ext>
            </a:extLst>
          </p:cNvPr>
          <p:cNvSpPr/>
          <p:nvPr/>
        </p:nvSpPr>
        <p:spPr>
          <a:xfrm rot="5400000">
            <a:off x="10032396" y="453507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7">
            <a:extLst>
              <a:ext uri="{FF2B5EF4-FFF2-40B4-BE49-F238E27FC236}">
                <a16:creationId xmlns:a16="http://schemas.microsoft.com/office/drawing/2014/main" id="{AB1ABC4C-E7ED-49AD-A5E3-8B1AEC6C5659}"/>
              </a:ext>
            </a:extLst>
          </p:cNvPr>
          <p:cNvSpPr txBox="1">
            <a:spLocks/>
          </p:cNvSpPr>
          <p:nvPr/>
        </p:nvSpPr>
        <p:spPr>
          <a:xfrm>
            <a:off x="10210644" y="3658027"/>
            <a:ext cx="7460124"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考察</a:t>
            </a:r>
          </a:p>
        </p:txBody>
      </p:sp>
      <p:sp>
        <p:nvSpPr>
          <p:cNvPr id="57" name="テキスト プレースホルダー 29">
            <a:extLst>
              <a:ext uri="{FF2B5EF4-FFF2-40B4-BE49-F238E27FC236}">
                <a16:creationId xmlns:a16="http://schemas.microsoft.com/office/drawing/2014/main" id="{E28424A9-F9EB-4004-A78B-2F9B82B0AB7B}"/>
              </a:ext>
            </a:extLst>
          </p:cNvPr>
          <p:cNvSpPr txBox="1">
            <a:spLocks/>
          </p:cNvSpPr>
          <p:nvPr/>
        </p:nvSpPr>
        <p:spPr>
          <a:xfrm>
            <a:off x="10524758" y="4419796"/>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マニピュレーションチェック</a:t>
            </a:r>
          </a:p>
        </p:txBody>
      </p:sp>
      <p:sp>
        <p:nvSpPr>
          <p:cNvPr id="58" name="三角形 12">
            <a:extLst>
              <a:ext uri="{FF2B5EF4-FFF2-40B4-BE49-F238E27FC236}">
                <a16:creationId xmlns:a16="http://schemas.microsoft.com/office/drawing/2014/main" id="{A0421127-E9DE-4A69-9564-049926D6281F}"/>
              </a:ext>
            </a:extLst>
          </p:cNvPr>
          <p:cNvSpPr/>
          <p:nvPr/>
        </p:nvSpPr>
        <p:spPr>
          <a:xfrm rot="5400000">
            <a:off x="10032396" y="524180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A378DDF3-3B02-4C62-8561-FD976440A60F}"/>
              </a:ext>
            </a:extLst>
          </p:cNvPr>
          <p:cNvSpPr txBox="1">
            <a:spLocks/>
          </p:cNvSpPr>
          <p:nvPr/>
        </p:nvSpPr>
        <p:spPr>
          <a:xfrm>
            <a:off x="10524758" y="5126528"/>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今後の展望</a:t>
            </a:r>
          </a:p>
        </p:txBody>
      </p:sp>
      <p:grpSp>
        <p:nvGrpSpPr>
          <p:cNvPr id="60" name="グループ化 59">
            <a:extLst>
              <a:ext uri="{FF2B5EF4-FFF2-40B4-BE49-F238E27FC236}">
                <a16:creationId xmlns:a16="http://schemas.microsoft.com/office/drawing/2014/main" id="{BF95E14C-FBAD-4578-A568-D8F99F23EA12}"/>
              </a:ext>
            </a:extLst>
          </p:cNvPr>
          <p:cNvGrpSpPr/>
          <p:nvPr/>
        </p:nvGrpSpPr>
        <p:grpSpPr>
          <a:xfrm>
            <a:off x="9573390" y="5902620"/>
            <a:ext cx="539448" cy="487368"/>
            <a:chOff x="400056" y="1061560"/>
            <a:chExt cx="269724" cy="243684"/>
          </a:xfrm>
        </p:grpSpPr>
        <p:sp>
          <p:nvSpPr>
            <p:cNvPr id="61" name="三角形 10">
              <a:extLst>
                <a:ext uri="{FF2B5EF4-FFF2-40B4-BE49-F238E27FC236}">
                  <a16:creationId xmlns:a16="http://schemas.microsoft.com/office/drawing/2014/main" id="{A007E2AE-7F7B-4B67-BC8F-1B15AF6AE80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三角形 11">
              <a:extLst>
                <a:ext uri="{FF2B5EF4-FFF2-40B4-BE49-F238E27FC236}">
                  <a16:creationId xmlns:a16="http://schemas.microsoft.com/office/drawing/2014/main" id="{8F037408-1EA9-46E7-A2E4-53B04BD0F13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3" name="テキスト プレースホルダー 27">
            <a:extLst>
              <a:ext uri="{FF2B5EF4-FFF2-40B4-BE49-F238E27FC236}">
                <a16:creationId xmlns:a16="http://schemas.microsoft.com/office/drawing/2014/main" id="{38B919F6-BF0B-43B0-AC16-1E2AA7319106}"/>
              </a:ext>
            </a:extLst>
          </p:cNvPr>
          <p:cNvSpPr txBox="1">
            <a:spLocks/>
          </p:cNvSpPr>
          <p:nvPr/>
        </p:nvSpPr>
        <p:spPr>
          <a:xfrm>
            <a:off x="10210644" y="5829995"/>
            <a:ext cx="7460124"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おわりに</a:t>
            </a:r>
          </a:p>
        </p:txBody>
      </p:sp>
    </p:spTree>
    <p:extLst>
      <p:ext uri="{BB962C8B-B14F-4D97-AF65-F5344CB8AC3E}">
        <p14:creationId xmlns:p14="http://schemas.microsoft.com/office/powerpoint/2010/main" val="9477326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550559B4-7B5A-C449-B390-10E0D7CE4B04}"/>
              </a:ext>
            </a:extLst>
          </p:cNvPr>
          <p:cNvSpPr>
            <a:spLocks noGrp="1"/>
          </p:cNvSpPr>
          <p:nvPr>
            <p:ph type="dt" sz="half" idx="10"/>
          </p:nvPr>
        </p:nvSpPr>
        <p:spPr/>
        <p:txBody>
          <a:bodyPr/>
          <a:lstStyle/>
          <a:p>
            <a:fld id="{5ADF1710-6306-4D7E-9276-861F0F5B15B3}"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34B734A0-EFF8-614D-83FD-C2DC9B90A17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44ED8047-BA8A-E742-9357-37262CCB8098}"/>
              </a:ext>
            </a:extLst>
          </p:cNvPr>
          <p:cNvSpPr>
            <a:spLocks noGrp="1"/>
          </p:cNvSpPr>
          <p:nvPr>
            <p:ph type="sldNum" sz="quarter" idx="12"/>
          </p:nvPr>
        </p:nvSpPr>
        <p:spPr/>
        <p:txBody>
          <a:bodyPr/>
          <a:lstStyle/>
          <a:p>
            <a:fld id="{89242BC1-393D-1248-985B-18DA624F2964}" type="slidenum">
              <a:rPr lang="ja-JP" altLang="en-US" smtClean="0"/>
              <a:pPr/>
              <a:t>3</a:t>
            </a:fld>
            <a:endParaRPr lang="ja-JP" altLang="en-US"/>
          </a:p>
        </p:txBody>
      </p:sp>
      <p:sp>
        <p:nvSpPr>
          <p:cNvPr id="5" name="テキスト プレースホルダー 4">
            <a:extLst>
              <a:ext uri="{FF2B5EF4-FFF2-40B4-BE49-F238E27FC236}">
                <a16:creationId xmlns:a16="http://schemas.microsoft.com/office/drawing/2014/main" id="{6D6E8D34-1D13-2140-8139-56B931FC3EAE}"/>
              </a:ext>
            </a:extLst>
          </p:cNvPr>
          <p:cNvSpPr>
            <a:spLocks noGrp="1"/>
          </p:cNvSpPr>
          <p:nvPr>
            <p:ph type="body" sz="quarter" idx="13"/>
          </p:nvPr>
        </p:nvSpPr>
        <p:spPr/>
        <p:txBody>
          <a:bodyPr/>
          <a:lstStyle/>
          <a:p>
            <a:r>
              <a:rPr kumimoji="1" lang="en-US" altLang="ja-JP" dirty="0"/>
              <a:t>0</a:t>
            </a:r>
            <a:endParaRPr kumimoji="1" lang="ja-JP" altLang="en-US"/>
          </a:p>
        </p:txBody>
      </p:sp>
      <p:sp>
        <p:nvSpPr>
          <p:cNvPr id="6" name="テキスト プレースホルダー 5">
            <a:extLst>
              <a:ext uri="{FF2B5EF4-FFF2-40B4-BE49-F238E27FC236}">
                <a16:creationId xmlns:a16="http://schemas.microsoft.com/office/drawing/2014/main" id="{D0CC148C-7764-1047-8DF4-F7EAC83DCF3C}"/>
              </a:ext>
            </a:extLst>
          </p:cNvPr>
          <p:cNvSpPr>
            <a:spLocks noGrp="1"/>
          </p:cNvSpPr>
          <p:nvPr>
            <p:ph type="body" sz="quarter" idx="14"/>
          </p:nvPr>
        </p:nvSpPr>
        <p:spPr/>
        <p:txBody>
          <a:bodyPr/>
          <a:lstStyle/>
          <a:p>
            <a:r>
              <a:rPr kumimoji="1" lang="ja-JP" altLang="en-US"/>
              <a:t>文献情報</a:t>
            </a:r>
          </a:p>
        </p:txBody>
      </p:sp>
      <p:grpSp>
        <p:nvGrpSpPr>
          <p:cNvPr id="7" name="グループ化 6">
            <a:extLst>
              <a:ext uri="{FF2B5EF4-FFF2-40B4-BE49-F238E27FC236}">
                <a16:creationId xmlns:a16="http://schemas.microsoft.com/office/drawing/2014/main" id="{EA9772E9-18CB-DD4F-BA5E-34D7460A36B0}"/>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67B7938-DCF1-0F49-894A-AFC732E64D4B}"/>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63B21146-BD0D-AE4D-BB59-0645DE6487D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B6937535-D013-DF48-A225-2C4D1D3CA91E}"/>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4916FEA8-67FC-7D4B-8CF8-A3540E79005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77912CF4-4BC3-D74D-BFFA-187AB10FB04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00225D3B-BEE6-7940-BDD9-77C4652785D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タイトル</a:t>
            </a:r>
          </a:p>
        </p:txBody>
      </p:sp>
      <p:sp>
        <p:nvSpPr>
          <p:cNvPr id="14" name="テキスト プレースホルダー 27">
            <a:extLst>
              <a:ext uri="{FF2B5EF4-FFF2-40B4-BE49-F238E27FC236}">
                <a16:creationId xmlns:a16="http://schemas.microsoft.com/office/drawing/2014/main" id="{217A887D-79AD-A748-AFA3-8B76C19F77B5}"/>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Grumpy &amp; Pinocchio: Answering Human-Agent Negotiation </a:t>
            </a:r>
          </a:p>
          <a:p>
            <a:r>
              <a:rPr lang="en-US" altLang="ja-JP" dirty="0"/>
              <a:t>Questions through Realistic Agent Design </a:t>
            </a:r>
          </a:p>
        </p:txBody>
      </p:sp>
      <p:grpSp>
        <p:nvGrpSpPr>
          <p:cNvPr id="15" name="グループ化 14">
            <a:extLst>
              <a:ext uri="{FF2B5EF4-FFF2-40B4-BE49-F238E27FC236}">
                <a16:creationId xmlns:a16="http://schemas.microsoft.com/office/drawing/2014/main" id="{F9E4D695-F8D2-E643-98C4-3C266F61ECEA}"/>
              </a:ext>
            </a:extLst>
          </p:cNvPr>
          <p:cNvGrpSpPr/>
          <p:nvPr/>
        </p:nvGrpSpPr>
        <p:grpSpPr>
          <a:xfrm>
            <a:off x="289330" y="4656431"/>
            <a:ext cx="2160000" cy="934436"/>
            <a:chOff x="144665" y="525617"/>
            <a:chExt cx="1080000" cy="467218"/>
          </a:xfrm>
        </p:grpSpPr>
        <p:sp>
          <p:nvSpPr>
            <p:cNvPr id="16" name="正方形/長方形 15">
              <a:extLst>
                <a:ext uri="{FF2B5EF4-FFF2-40B4-BE49-F238E27FC236}">
                  <a16:creationId xmlns:a16="http://schemas.microsoft.com/office/drawing/2014/main" id="{BE3FB6EE-61A6-AE41-A8D2-2201CAE3D94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17" name="正方形/長方形 16">
              <a:extLst>
                <a:ext uri="{FF2B5EF4-FFF2-40B4-BE49-F238E27FC236}">
                  <a16:creationId xmlns:a16="http://schemas.microsoft.com/office/drawing/2014/main" id="{06416749-E0D0-2041-A641-BE24859180B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8" name="グループ化 17">
            <a:extLst>
              <a:ext uri="{FF2B5EF4-FFF2-40B4-BE49-F238E27FC236}">
                <a16:creationId xmlns:a16="http://schemas.microsoft.com/office/drawing/2014/main" id="{A64283E6-2BEE-0B49-B2FA-3FDE8B822F94}"/>
              </a:ext>
            </a:extLst>
          </p:cNvPr>
          <p:cNvGrpSpPr/>
          <p:nvPr/>
        </p:nvGrpSpPr>
        <p:grpSpPr>
          <a:xfrm>
            <a:off x="617232" y="5800491"/>
            <a:ext cx="539448" cy="487368"/>
            <a:chOff x="400056" y="1061560"/>
            <a:chExt cx="269724" cy="243684"/>
          </a:xfrm>
        </p:grpSpPr>
        <p:sp>
          <p:nvSpPr>
            <p:cNvPr id="19" name="三角形 18">
              <a:extLst>
                <a:ext uri="{FF2B5EF4-FFF2-40B4-BE49-F238E27FC236}">
                  <a16:creationId xmlns:a16="http://schemas.microsoft.com/office/drawing/2014/main" id="{CA26EDA4-2FED-334C-AD33-81E17DC57B9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C4F459DE-6BDD-9A40-8049-2363A9B3E65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30">
            <a:extLst>
              <a:ext uri="{FF2B5EF4-FFF2-40B4-BE49-F238E27FC236}">
                <a16:creationId xmlns:a16="http://schemas.microsoft.com/office/drawing/2014/main" id="{1CD6C744-527D-D048-8CE5-13A077D003FD}"/>
              </a:ext>
            </a:extLst>
          </p:cNvPr>
          <p:cNvSpPr txBox="1">
            <a:spLocks/>
          </p:cNvSpPr>
          <p:nvPr/>
        </p:nvSpPr>
        <p:spPr>
          <a:xfrm>
            <a:off x="571049" y="482700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著者</a:t>
            </a:r>
          </a:p>
        </p:txBody>
      </p:sp>
      <p:sp>
        <p:nvSpPr>
          <p:cNvPr id="22" name="テキスト プレースホルダー 27">
            <a:extLst>
              <a:ext uri="{FF2B5EF4-FFF2-40B4-BE49-F238E27FC236}">
                <a16:creationId xmlns:a16="http://schemas.microsoft.com/office/drawing/2014/main" id="{D8B318C3-F374-3748-A918-9D28936A66F2}"/>
              </a:ext>
            </a:extLst>
          </p:cNvPr>
          <p:cNvSpPr txBox="1">
            <a:spLocks/>
          </p:cNvSpPr>
          <p:nvPr/>
        </p:nvSpPr>
        <p:spPr>
          <a:xfrm>
            <a:off x="1254486" y="5727866"/>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Johnathan Mell </a:t>
            </a:r>
            <a:r>
              <a:rPr lang="ja-JP" altLang="en-US"/>
              <a:t>，</a:t>
            </a:r>
            <a:r>
              <a:rPr lang="en" altLang="ja-JP" dirty="0"/>
              <a:t>Jonathan </a:t>
            </a:r>
            <a:r>
              <a:rPr lang="en" altLang="ja-JP" dirty="0" err="1"/>
              <a:t>Gratch</a:t>
            </a:r>
            <a:r>
              <a:rPr lang="en" altLang="ja-JP" dirty="0"/>
              <a:t>  </a:t>
            </a:r>
          </a:p>
        </p:txBody>
      </p:sp>
      <p:grpSp>
        <p:nvGrpSpPr>
          <p:cNvPr id="23" name="グループ化 22">
            <a:extLst>
              <a:ext uri="{FF2B5EF4-FFF2-40B4-BE49-F238E27FC236}">
                <a16:creationId xmlns:a16="http://schemas.microsoft.com/office/drawing/2014/main" id="{29ABE773-EE2B-A643-8963-170995A10204}"/>
              </a:ext>
            </a:extLst>
          </p:cNvPr>
          <p:cNvGrpSpPr/>
          <p:nvPr/>
        </p:nvGrpSpPr>
        <p:grpSpPr>
          <a:xfrm>
            <a:off x="289330" y="6881583"/>
            <a:ext cx="2160000" cy="934436"/>
            <a:chOff x="144665" y="525617"/>
            <a:chExt cx="1080000" cy="467218"/>
          </a:xfrm>
        </p:grpSpPr>
        <p:sp>
          <p:nvSpPr>
            <p:cNvPr id="24" name="正方形/長方形 23">
              <a:extLst>
                <a:ext uri="{FF2B5EF4-FFF2-40B4-BE49-F238E27FC236}">
                  <a16:creationId xmlns:a16="http://schemas.microsoft.com/office/drawing/2014/main" id="{EC536AD0-2560-E948-9871-6345739A3CA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5" name="正方形/長方形 24">
              <a:extLst>
                <a:ext uri="{FF2B5EF4-FFF2-40B4-BE49-F238E27FC236}">
                  <a16:creationId xmlns:a16="http://schemas.microsoft.com/office/drawing/2014/main" id="{3DEB03DD-24E5-9645-BF69-1A3786A5097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26" name="グループ化 25">
            <a:extLst>
              <a:ext uri="{FF2B5EF4-FFF2-40B4-BE49-F238E27FC236}">
                <a16:creationId xmlns:a16="http://schemas.microsoft.com/office/drawing/2014/main" id="{97999A0C-2B98-2A47-8F2E-76A461F34280}"/>
              </a:ext>
            </a:extLst>
          </p:cNvPr>
          <p:cNvGrpSpPr/>
          <p:nvPr/>
        </p:nvGrpSpPr>
        <p:grpSpPr>
          <a:xfrm>
            <a:off x="617232" y="8025643"/>
            <a:ext cx="539448" cy="487368"/>
            <a:chOff x="400056" y="1061560"/>
            <a:chExt cx="269724" cy="243684"/>
          </a:xfrm>
        </p:grpSpPr>
        <p:sp>
          <p:nvSpPr>
            <p:cNvPr id="27" name="三角形 26">
              <a:extLst>
                <a:ext uri="{FF2B5EF4-FFF2-40B4-BE49-F238E27FC236}">
                  <a16:creationId xmlns:a16="http://schemas.microsoft.com/office/drawing/2014/main" id="{6C070C1A-837E-FA42-8FC4-04E882F89E6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FBC3C6C1-1205-884E-B062-3DD5CAB6216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30">
            <a:extLst>
              <a:ext uri="{FF2B5EF4-FFF2-40B4-BE49-F238E27FC236}">
                <a16:creationId xmlns:a16="http://schemas.microsoft.com/office/drawing/2014/main" id="{6B58FF44-4470-124B-99F6-9B37ADD858D5}"/>
              </a:ext>
            </a:extLst>
          </p:cNvPr>
          <p:cNvSpPr txBox="1">
            <a:spLocks/>
          </p:cNvSpPr>
          <p:nvPr/>
        </p:nvSpPr>
        <p:spPr>
          <a:xfrm>
            <a:off x="571049" y="705215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出典</a:t>
            </a:r>
          </a:p>
        </p:txBody>
      </p:sp>
      <p:sp>
        <p:nvSpPr>
          <p:cNvPr id="30" name="テキスト プレースホルダー 27">
            <a:extLst>
              <a:ext uri="{FF2B5EF4-FFF2-40B4-BE49-F238E27FC236}">
                <a16:creationId xmlns:a16="http://schemas.microsoft.com/office/drawing/2014/main" id="{94A4FDD3-7A19-C643-AE99-5008501BA03B}"/>
              </a:ext>
            </a:extLst>
          </p:cNvPr>
          <p:cNvSpPr txBox="1">
            <a:spLocks/>
          </p:cNvSpPr>
          <p:nvPr/>
        </p:nvSpPr>
        <p:spPr>
          <a:xfrm>
            <a:off x="1254486" y="7953018"/>
            <a:ext cx="17551674" cy="1721508"/>
          </a:xfrm>
          <a:prstGeom prst="rect">
            <a:avLst/>
          </a:prstGeom>
        </p:spPr>
        <p:txBody>
          <a:bodyPr>
            <a:normAutofit fontScale="92500"/>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Proceedings of the 16th International Conference on Autonomous Agents and Multiagent Systems (AAMAS 2017), Pages 401-409 </a:t>
            </a:r>
          </a:p>
        </p:txBody>
      </p:sp>
    </p:spTree>
    <p:extLst>
      <p:ext uri="{BB962C8B-B14F-4D97-AF65-F5344CB8AC3E}">
        <p14:creationId xmlns:p14="http://schemas.microsoft.com/office/powerpoint/2010/main" val="31266364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4</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ja-JP" altLang="en-US"/>
              <a:t>はじめに</a:t>
            </a:r>
            <a:endParaRPr kumimoji="1" lang="ja-JP" altLang="en-US"/>
          </a:p>
        </p:txBody>
      </p:sp>
    </p:spTree>
    <p:extLst>
      <p:ext uri="{BB962C8B-B14F-4D97-AF65-F5344CB8AC3E}">
        <p14:creationId xmlns:p14="http://schemas.microsoft.com/office/powerpoint/2010/main" val="4269440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E23E8662-C802-5F46-BB63-19816491BB27}"/>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graphicFrame>
        <p:nvGraphicFramePr>
          <p:cNvPr id="11" name="表 10">
            <a:extLst>
              <a:ext uri="{FF2B5EF4-FFF2-40B4-BE49-F238E27FC236}">
                <a16:creationId xmlns:a16="http://schemas.microsoft.com/office/drawing/2014/main" id="{6E373CB3-2B2C-EF40-BE10-962D76FB06CB}"/>
              </a:ext>
            </a:extLst>
          </p:cNvPr>
          <p:cNvGraphicFramePr>
            <a:graphicFrameLocks noGrp="1"/>
          </p:cNvGraphicFramePr>
          <p:nvPr>
            <p:extLst/>
          </p:nvPr>
        </p:nvGraphicFramePr>
        <p:xfrm>
          <a:off x="5942504" y="10220928"/>
          <a:ext cx="6402992" cy="1920240"/>
        </p:xfrm>
        <a:graphic>
          <a:graphicData uri="http://schemas.openxmlformats.org/drawingml/2006/table">
            <a:tbl>
              <a:tblPr firstRow="1" firstCol="1" bandRow="1">
                <a:tableStyleId>{5C22544A-7EE6-4342-B048-85BDC9FD1C3A}</a:tableStyleId>
              </a:tblPr>
              <a:tblGrid>
                <a:gridCol w="1506992">
                  <a:extLst>
                    <a:ext uri="{9D8B030D-6E8A-4147-A177-3AD203B41FA5}">
                      <a16:colId xmlns:a16="http://schemas.microsoft.com/office/drawing/2014/main" val="1849738667"/>
                    </a:ext>
                  </a:extLst>
                </a:gridCol>
                <a:gridCol w="2448000">
                  <a:extLst>
                    <a:ext uri="{9D8B030D-6E8A-4147-A177-3AD203B41FA5}">
                      <a16:colId xmlns:a16="http://schemas.microsoft.com/office/drawing/2014/main" val="4083354713"/>
                    </a:ext>
                  </a:extLst>
                </a:gridCol>
                <a:gridCol w="2448000">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r>
                        <a:rPr kumimoji="1" lang="en-US" altLang="ja-JP" dirty="0"/>
                        <a:t>Strategic</a:t>
                      </a:r>
                      <a:endParaRPr kumimoji="1" lang="ja-JP" altLang="en-US"/>
                    </a:p>
                  </a:txBody>
                  <a:tcPr/>
                </a:tc>
                <a:tc>
                  <a:txBody>
                    <a:bodyPr/>
                    <a:lstStyle/>
                    <a:p>
                      <a:r>
                        <a:rPr kumimoji="1" lang="en-US" altLang="ja-JP" dirty="0"/>
                        <a:t>Free</a:t>
                      </a:r>
                      <a:endParaRPr kumimoji="1" lang="ja-JP" altLang="en-US"/>
                    </a:p>
                  </a:txBody>
                  <a:tcPr/>
                </a:tc>
                <a:extLst>
                  <a:ext uri="{0D108BD9-81ED-4DB2-BD59-A6C34878D82A}">
                    <a16:rowId xmlns:a16="http://schemas.microsoft.com/office/drawing/2014/main" val="2469104469"/>
                  </a:ext>
                </a:extLst>
              </a:tr>
              <a:tr h="370840">
                <a:tc>
                  <a:txBody>
                    <a:bodyPr/>
                    <a:lstStyle/>
                    <a:p>
                      <a:r>
                        <a:rPr kumimoji="1" lang="en-US" altLang="ja-JP" dirty="0"/>
                        <a:t>Nice</a:t>
                      </a:r>
                      <a:endParaRPr kumimoji="1" lang="ja-JP" altLang="en-US"/>
                    </a:p>
                  </a:txBody>
                  <a:tcPr/>
                </a:tc>
                <a:tc>
                  <a:txBody>
                    <a:bodyPr/>
                    <a:lstStyle/>
                    <a:p>
                      <a:r>
                        <a:rPr kumimoji="1" lang="en-US" altLang="ja-JP" dirty="0"/>
                        <a:t>Merlin</a:t>
                      </a:r>
                      <a:endParaRPr kumimoji="1" lang="ja-JP" altLang="en-US"/>
                    </a:p>
                  </a:txBody>
                  <a:tcPr/>
                </a:tc>
                <a:tc>
                  <a:txBody>
                    <a:bodyPr/>
                    <a:lstStyle/>
                    <a:p>
                      <a:r>
                        <a:rPr kumimoji="1" lang="en-US" altLang="ja-JP" dirty="0"/>
                        <a:t>Pinocchio</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Nasty</a:t>
                      </a:r>
                      <a:endParaRPr kumimoji="1" lang="ja-JP" altLang="en-US"/>
                    </a:p>
                  </a:txBody>
                  <a:tcPr/>
                </a:tc>
                <a:tc>
                  <a:txBody>
                    <a:bodyPr/>
                    <a:lstStyle/>
                    <a:p>
                      <a:r>
                        <a:rPr kumimoji="1" lang="en-US" altLang="ja-JP" dirty="0"/>
                        <a:t>Rumple</a:t>
                      </a:r>
                      <a:endParaRPr kumimoji="1" lang="ja-JP" altLang="en-US"/>
                    </a:p>
                  </a:txBody>
                  <a:tcPr/>
                </a:tc>
                <a:tc>
                  <a:txBody>
                    <a:bodyPr/>
                    <a:lstStyle/>
                    <a:p>
                      <a:r>
                        <a:rPr kumimoji="1" lang="en-US" altLang="ja-JP" dirty="0"/>
                        <a:t>Grumpy</a:t>
                      </a:r>
                      <a:endParaRPr kumimoji="1" lang="ja-JP" altLang="en-US"/>
                    </a:p>
                  </a:txBody>
                  <a:tcPr/>
                </a:tc>
                <a:extLst>
                  <a:ext uri="{0D108BD9-81ED-4DB2-BD59-A6C34878D82A}">
                    <a16:rowId xmlns:a16="http://schemas.microsoft.com/office/drawing/2014/main" val="3045131851"/>
                  </a:ext>
                </a:extLst>
              </a:tr>
            </a:tbl>
          </a:graphicData>
        </a:graphic>
      </p:graphicFrame>
      <p:sp>
        <p:nvSpPr>
          <p:cNvPr id="41" name="角丸四角形吹き出し 40">
            <a:extLst>
              <a:ext uri="{FF2B5EF4-FFF2-40B4-BE49-F238E27FC236}">
                <a16:creationId xmlns:a16="http://schemas.microsoft.com/office/drawing/2014/main" id="{78F29628-574B-584C-95E8-BCC49AB896BE}"/>
              </a:ext>
            </a:extLst>
          </p:cNvPr>
          <p:cNvSpPr/>
          <p:nvPr/>
        </p:nvSpPr>
        <p:spPr>
          <a:xfrm>
            <a:off x="9525072" y="8207321"/>
            <a:ext cx="4190928" cy="1442523"/>
          </a:xfrm>
          <a:prstGeom prst="wedgeRoundRectCallout">
            <a:avLst>
              <a:gd name="adj1" fmla="val -42507"/>
              <a:gd name="adj2" fmla="val 8097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人間からの質問に対する対応</a:t>
            </a:r>
            <a:endParaRPr kumimoji="1" lang="en-US" altLang="ja-JP" dirty="0"/>
          </a:p>
        </p:txBody>
      </p:sp>
      <p:sp>
        <p:nvSpPr>
          <p:cNvPr id="43" name="角丸四角形吹き出し 42">
            <a:extLst>
              <a:ext uri="{FF2B5EF4-FFF2-40B4-BE49-F238E27FC236}">
                <a16:creationId xmlns:a16="http://schemas.microsoft.com/office/drawing/2014/main" id="{9C5CDFF6-B4AF-8643-AC52-227E8D512948}"/>
              </a:ext>
            </a:extLst>
          </p:cNvPr>
          <p:cNvSpPr/>
          <p:nvPr/>
        </p:nvSpPr>
        <p:spPr>
          <a:xfrm>
            <a:off x="1457090" y="10394264"/>
            <a:ext cx="3639733" cy="1442523"/>
          </a:xfrm>
          <a:prstGeom prst="wedgeRoundRectCallout">
            <a:avLst>
              <a:gd name="adj1" fmla="val 64444"/>
              <a:gd name="adj2" fmla="val 3659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感情の出し方</a:t>
            </a:r>
            <a:endParaRPr kumimoji="1" lang="en-US" altLang="ja-JP" dirty="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4" name="テキスト プレースホルダー 29">
            <a:extLst>
              <a:ext uri="{FF2B5EF4-FFF2-40B4-BE49-F238E27FC236}">
                <a16:creationId xmlns:a16="http://schemas.microsoft.com/office/drawing/2014/main" id="{F88BF725-1068-9F4A-9259-18950880151C}"/>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7" name="テキスト プレースホルダー 29">
            <a:extLst>
              <a:ext uri="{FF2B5EF4-FFF2-40B4-BE49-F238E27FC236}">
                <a16:creationId xmlns:a16="http://schemas.microsoft.com/office/drawing/2014/main" id="{60889405-9F38-6B4A-A3E0-E372A4D1BBEE}"/>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Tree>
    <p:extLst>
      <p:ext uri="{BB962C8B-B14F-4D97-AF65-F5344CB8AC3E}">
        <p14:creationId xmlns:p14="http://schemas.microsoft.com/office/powerpoint/2010/main" val="2968766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84" name="テキスト プレースホルダー 29">
            <a:extLst>
              <a:ext uri="{FF2B5EF4-FFF2-40B4-BE49-F238E27FC236}">
                <a16:creationId xmlns:a16="http://schemas.microsoft.com/office/drawing/2014/main" id="{19F75963-FBE9-F84B-AC0C-EEE55E628B97}"/>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85" name="テキスト プレースホルダー 29">
            <a:extLst>
              <a:ext uri="{FF2B5EF4-FFF2-40B4-BE49-F238E27FC236}">
                <a16:creationId xmlns:a16="http://schemas.microsoft.com/office/drawing/2014/main" id="{20CE951B-7F66-7D4D-9538-B8EC240262A8}"/>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6" name="テキスト プレースホルダー 29">
            <a:extLst>
              <a:ext uri="{FF2B5EF4-FFF2-40B4-BE49-F238E27FC236}">
                <a16:creationId xmlns:a16="http://schemas.microsoft.com/office/drawing/2014/main" id="{4F135535-5A3C-C24D-BFFF-4F1F217E4BBB}"/>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87" name="テキスト ボックス 86">
            <a:extLst>
              <a:ext uri="{FF2B5EF4-FFF2-40B4-BE49-F238E27FC236}">
                <a16:creationId xmlns:a16="http://schemas.microsoft.com/office/drawing/2014/main" id="{9CB7A75D-B2EA-B24C-A053-DDC492E2D1F7}"/>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88" name="角丸四角形吹き出し 87">
            <a:extLst>
              <a:ext uri="{FF2B5EF4-FFF2-40B4-BE49-F238E27FC236}">
                <a16:creationId xmlns:a16="http://schemas.microsoft.com/office/drawing/2014/main" id="{2FA856A0-BE84-DB47-AE01-BE93B1037E7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あなたは</a:t>
            </a:r>
            <a:endParaRPr lang="en-US" altLang="ja-JP" dirty="0"/>
          </a:p>
          <a:p>
            <a:pPr algn="ctr"/>
            <a:r>
              <a:rPr lang="ja-JP" altLang="en-US"/>
              <a:t>何が好きなの？</a:t>
            </a:r>
          </a:p>
        </p:txBody>
      </p:sp>
    </p:spTree>
    <p:extLst>
      <p:ext uri="{BB962C8B-B14F-4D97-AF65-F5344CB8AC3E}">
        <p14:creationId xmlns:p14="http://schemas.microsoft.com/office/powerpoint/2010/main" val="2031478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パスタが好き</a:t>
                  </a:r>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2" name="テキスト プレースホルダー 29">
            <a:extLst>
              <a:ext uri="{FF2B5EF4-FFF2-40B4-BE49-F238E27FC236}">
                <a16:creationId xmlns:a16="http://schemas.microsoft.com/office/drawing/2014/main" id="{403746BA-F4FD-B64E-A356-E5F6E22664BE}"/>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73" name="テキスト プレースホルダー 29">
            <a:extLst>
              <a:ext uri="{FF2B5EF4-FFF2-40B4-BE49-F238E27FC236}">
                <a16:creationId xmlns:a16="http://schemas.microsoft.com/office/drawing/2014/main" id="{A8A832F9-EC6E-874C-8344-0EF97A5E6BB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4" name="テキスト プレースホルダー 29">
            <a:extLst>
              <a:ext uri="{FF2B5EF4-FFF2-40B4-BE49-F238E27FC236}">
                <a16:creationId xmlns:a16="http://schemas.microsoft.com/office/drawing/2014/main" id="{FD06A781-A10D-DB44-8281-C3832AADDB68}"/>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Tree>
    <p:extLst>
      <p:ext uri="{BB962C8B-B14F-4D97-AF65-F5344CB8AC3E}">
        <p14:creationId xmlns:p14="http://schemas.microsoft.com/office/powerpoint/2010/main" val="24999479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84" name="テキスト プレースホルダー 29">
            <a:extLst>
              <a:ext uri="{FF2B5EF4-FFF2-40B4-BE49-F238E27FC236}">
                <a16:creationId xmlns:a16="http://schemas.microsoft.com/office/drawing/2014/main" id="{19F75963-FBE9-F84B-AC0C-EEE55E628B97}"/>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85" name="テキスト プレースホルダー 29">
            <a:extLst>
              <a:ext uri="{FF2B5EF4-FFF2-40B4-BE49-F238E27FC236}">
                <a16:creationId xmlns:a16="http://schemas.microsoft.com/office/drawing/2014/main" id="{20CE951B-7F66-7D4D-9538-B8EC240262A8}"/>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6" name="テキスト プレースホルダー 29">
            <a:extLst>
              <a:ext uri="{FF2B5EF4-FFF2-40B4-BE49-F238E27FC236}">
                <a16:creationId xmlns:a16="http://schemas.microsoft.com/office/drawing/2014/main" id="{4F135535-5A3C-C24D-BFFF-4F1F217E4BBB}"/>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41" name="テキスト ボックス 40">
            <a:extLst>
              <a:ext uri="{FF2B5EF4-FFF2-40B4-BE49-F238E27FC236}">
                <a16:creationId xmlns:a16="http://schemas.microsoft.com/office/drawing/2014/main" id="{F613CE05-0AE6-7842-8A7E-E90DD8622F74}"/>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42" name="角丸四角形吹き出し 41">
            <a:extLst>
              <a:ext uri="{FF2B5EF4-FFF2-40B4-BE49-F238E27FC236}">
                <a16:creationId xmlns:a16="http://schemas.microsoft.com/office/drawing/2014/main" id="{2CC83B68-D0CE-DC4A-895B-94E1A075E0C4}"/>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t>パスタより</a:t>
            </a:r>
            <a:endParaRPr kumimoji="1" lang="en-US" altLang="ja-JP" dirty="0"/>
          </a:p>
          <a:p>
            <a:pPr algn="ctr"/>
            <a:r>
              <a:rPr lang="ja-JP" altLang="en-US"/>
              <a:t>ピザが好き</a:t>
            </a:r>
            <a:endParaRPr kumimoji="1" lang="ja-JP" altLang="en-US"/>
          </a:p>
        </p:txBody>
      </p:sp>
    </p:spTree>
    <p:extLst>
      <p:ext uri="{BB962C8B-B14F-4D97-AF65-F5344CB8AC3E}">
        <p14:creationId xmlns:p14="http://schemas.microsoft.com/office/powerpoint/2010/main" val="3806332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ja-JP" altLang="en-US"/>
                    <a:t>この中で一番</a:t>
                  </a:r>
                  <a:endParaRPr lang="en-US" altLang="ja-JP" dirty="0"/>
                </a:p>
                <a:p>
                  <a:pPr algn="ctr"/>
                  <a:r>
                    <a:rPr lang="ja-JP" altLang="en-US"/>
                    <a:t>好きなのは？</a:t>
                  </a:r>
                  <a:endParaRPr kumimoji="1" lang="ja-JP" altLang="en-US"/>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2" name="テキスト プレースホルダー 29">
            <a:extLst>
              <a:ext uri="{FF2B5EF4-FFF2-40B4-BE49-F238E27FC236}">
                <a16:creationId xmlns:a16="http://schemas.microsoft.com/office/drawing/2014/main" id="{403746BA-F4FD-B64E-A356-E5F6E22664BE}"/>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73" name="テキスト プレースホルダー 29">
            <a:extLst>
              <a:ext uri="{FF2B5EF4-FFF2-40B4-BE49-F238E27FC236}">
                <a16:creationId xmlns:a16="http://schemas.microsoft.com/office/drawing/2014/main" id="{A8A832F9-EC6E-874C-8344-0EF97A5E6BB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4" name="テキスト プレースホルダー 29">
            <a:extLst>
              <a:ext uri="{FF2B5EF4-FFF2-40B4-BE49-F238E27FC236}">
                <a16:creationId xmlns:a16="http://schemas.microsoft.com/office/drawing/2014/main" id="{FD06A781-A10D-DB44-8281-C3832AADDB68}"/>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Tree>
    <p:extLst>
      <p:ext uri="{BB962C8B-B14F-4D97-AF65-F5344CB8AC3E}">
        <p14:creationId xmlns:p14="http://schemas.microsoft.com/office/powerpoint/2010/main" val="30815729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7319687"/>
            <a:ext cx="11854350" cy="5984041"/>
            <a:chOff x="3216825" y="7319687"/>
            <a:chExt cx="11854350" cy="5984041"/>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7319687"/>
              <a:ext cx="8392160" cy="2292139"/>
              <a:chOff x="4892225" y="7319687"/>
              <a:chExt cx="8392160" cy="2292139"/>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7319687"/>
                <a:ext cx="5890838" cy="2243000"/>
                <a:chOff x="7393547" y="7319687"/>
                <a:chExt cx="5890838" cy="2243000"/>
              </a:xfrm>
            </p:grpSpPr>
            <p:sp>
              <p:nvSpPr>
                <p:cNvPr id="56" name="右矢印 55">
                  <a:extLst>
                    <a:ext uri="{FF2B5EF4-FFF2-40B4-BE49-F238E27FC236}">
                      <a16:creationId xmlns:a16="http://schemas.microsoft.com/office/drawing/2014/main" id="{D3D6865F-741F-8540-9761-8CA1ECAEAA13}"/>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2" name="テキスト プレースホルダー 29">
            <a:extLst>
              <a:ext uri="{FF2B5EF4-FFF2-40B4-BE49-F238E27FC236}">
                <a16:creationId xmlns:a16="http://schemas.microsoft.com/office/drawing/2014/main" id="{403746BA-F4FD-B64E-A356-E5F6E22664BE}"/>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73" name="テキスト プレースホルダー 29">
            <a:extLst>
              <a:ext uri="{FF2B5EF4-FFF2-40B4-BE49-F238E27FC236}">
                <a16:creationId xmlns:a16="http://schemas.microsoft.com/office/drawing/2014/main" id="{A8A832F9-EC6E-874C-8344-0EF97A5E6BB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4" name="テキスト プレースホルダー 29">
            <a:extLst>
              <a:ext uri="{FF2B5EF4-FFF2-40B4-BE49-F238E27FC236}">
                <a16:creationId xmlns:a16="http://schemas.microsoft.com/office/drawing/2014/main" id="{FD06A781-A10D-DB44-8281-C3832AADDB68}"/>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6" name="角丸四角形吹き出し 75">
            <a:extLst>
              <a:ext uri="{FF2B5EF4-FFF2-40B4-BE49-F238E27FC236}">
                <a16:creationId xmlns:a16="http://schemas.microsoft.com/office/drawing/2014/main" id="{82EE7CCB-E7DF-BD46-9418-8211094636FF}"/>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ドーナツです</a:t>
            </a:r>
          </a:p>
        </p:txBody>
      </p:sp>
    </p:spTree>
    <p:extLst>
      <p:ext uri="{BB962C8B-B14F-4D97-AF65-F5344CB8AC3E}">
        <p14:creationId xmlns:p14="http://schemas.microsoft.com/office/powerpoint/2010/main" val="11045670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84" name="テキスト プレースホルダー 29">
            <a:extLst>
              <a:ext uri="{FF2B5EF4-FFF2-40B4-BE49-F238E27FC236}">
                <a16:creationId xmlns:a16="http://schemas.microsoft.com/office/drawing/2014/main" id="{19F75963-FBE9-F84B-AC0C-EEE55E628B97}"/>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85" name="テキスト プレースホルダー 29">
            <a:extLst>
              <a:ext uri="{FF2B5EF4-FFF2-40B4-BE49-F238E27FC236}">
                <a16:creationId xmlns:a16="http://schemas.microsoft.com/office/drawing/2014/main" id="{20CE951B-7F66-7D4D-9538-B8EC240262A8}"/>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6" name="テキスト プレースホルダー 29">
            <a:extLst>
              <a:ext uri="{FF2B5EF4-FFF2-40B4-BE49-F238E27FC236}">
                <a16:creationId xmlns:a16="http://schemas.microsoft.com/office/drawing/2014/main" id="{4F135535-5A3C-C24D-BFFF-4F1F217E4BBB}"/>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41" name="角丸四角形吹き出し 40">
            <a:extLst>
              <a:ext uri="{FF2B5EF4-FFF2-40B4-BE49-F238E27FC236}">
                <a16:creationId xmlns:a16="http://schemas.microsoft.com/office/drawing/2014/main" id="{B616B707-3BE7-114D-93EA-40C19AF1152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あなたは</a:t>
            </a:r>
            <a:endParaRPr lang="en-US" altLang="ja-JP" dirty="0"/>
          </a:p>
          <a:p>
            <a:pPr algn="ctr"/>
            <a:r>
              <a:rPr lang="ja-JP" altLang="en-US"/>
              <a:t>何が好きなの？</a:t>
            </a:r>
          </a:p>
        </p:txBody>
      </p:sp>
      <p:sp>
        <p:nvSpPr>
          <p:cNvPr id="42" name="テキスト ボックス 41">
            <a:extLst>
              <a:ext uri="{FF2B5EF4-FFF2-40B4-BE49-F238E27FC236}">
                <a16:creationId xmlns:a16="http://schemas.microsoft.com/office/drawing/2014/main" id="{2F0586CC-A384-0841-B70B-1F7940B17540}"/>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Nice</a:t>
            </a:r>
            <a:endParaRPr kumimoji="1" lang="ja-JP" altLang="en-US"/>
          </a:p>
        </p:txBody>
      </p:sp>
    </p:spTree>
    <p:extLst>
      <p:ext uri="{BB962C8B-B14F-4D97-AF65-F5344CB8AC3E}">
        <p14:creationId xmlns:p14="http://schemas.microsoft.com/office/powerpoint/2010/main" val="1149291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gd name="adj" fmla="val 396"/>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84" name="テキスト プレースホルダー 29">
            <a:extLst>
              <a:ext uri="{FF2B5EF4-FFF2-40B4-BE49-F238E27FC236}">
                <a16:creationId xmlns:a16="http://schemas.microsoft.com/office/drawing/2014/main" id="{19F75963-FBE9-F84B-AC0C-EEE55E628B97}"/>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85" name="テキスト プレースホルダー 29">
            <a:extLst>
              <a:ext uri="{FF2B5EF4-FFF2-40B4-BE49-F238E27FC236}">
                <a16:creationId xmlns:a16="http://schemas.microsoft.com/office/drawing/2014/main" id="{20CE951B-7F66-7D4D-9538-B8EC240262A8}"/>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6" name="テキスト プレースホルダー 29">
            <a:extLst>
              <a:ext uri="{FF2B5EF4-FFF2-40B4-BE49-F238E27FC236}">
                <a16:creationId xmlns:a16="http://schemas.microsoft.com/office/drawing/2014/main" id="{4F135535-5A3C-C24D-BFFF-4F1F217E4BBB}"/>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41" name="角丸四角形吹き出し 40">
            <a:extLst>
              <a:ext uri="{FF2B5EF4-FFF2-40B4-BE49-F238E27FC236}">
                <a16:creationId xmlns:a16="http://schemas.microsoft.com/office/drawing/2014/main" id="{B616B707-3BE7-114D-93EA-40C19AF1152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お前</a:t>
            </a:r>
            <a:endParaRPr lang="en-US" altLang="ja-JP" dirty="0"/>
          </a:p>
          <a:p>
            <a:pPr algn="ctr"/>
            <a:r>
              <a:rPr lang="ja-JP" altLang="en-US"/>
              <a:t>何が好き？</a:t>
            </a:r>
          </a:p>
        </p:txBody>
      </p:sp>
      <p:sp>
        <p:nvSpPr>
          <p:cNvPr id="42" name="テキスト ボックス 41">
            <a:extLst>
              <a:ext uri="{FF2B5EF4-FFF2-40B4-BE49-F238E27FC236}">
                <a16:creationId xmlns:a16="http://schemas.microsoft.com/office/drawing/2014/main" id="{2F0586CC-A384-0841-B70B-1F7940B17540}"/>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Nasty</a:t>
            </a:r>
            <a:endParaRPr kumimoji="1" lang="ja-JP" altLang="en-US"/>
          </a:p>
        </p:txBody>
      </p:sp>
    </p:spTree>
    <p:extLst>
      <p:ext uri="{BB962C8B-B14F-4D97-AF65-F5344CB8AC3E}">
        <p14:creationId xmlns:p14="http://schemas.microsoft.com/office/powerpoint/2010/main" val="2843386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70" name="テキスト プレースホルダー 29">
            <a:extLst>
              <a:ext uri="{FF2B5EF4-FFF2-40B4-BE49-F238E27FC236}">
                <a16:creationId xmlns:a16="http://schemas.microsoft.com/office/drawing/2014/main" id="{920797D9-67D0-3D47-A32C-5F22EAB8074F}"/>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71" name="テキスト プレースホルダー 29">
            <a:extLst>
              <a:ext uri="{FF2B5EF4-FFF2-40B4-BE49-F238E27FC236}">
                <a16:creationId xmlns:a16="http://schemas.microsoft.com/office/drawing/2014/main" id="{3C828A68-AC70-5F46-B916-48009F240354}"/>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2" name="テキスト プレースホルダー 29">
            <a:extLst>
              <a:ext uri="{FF2B5EF4-FFF2-40B4-BE49-F238E27FC236}">
                <a16:creationId xmlns:a16="http://schemas.microsoft.com/office/drawing/2014/main" id="{21F68C42-F73E-254D-A83E-29BA0C1C06BA}"/>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73" name="角丸四角形吹き出し 72">
            <a:extLst>
              <a:ext uri="{FF2B5EF4-FFF2-40B4-BE49-F238E27FC236}">
                <a16:creationId xmlns:a16="http://schemas.microsoft.com/office/drawing/2014/main" id="{47D75432-6C71-B645-AC85-34C7BBCD2D87}"/>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ケーキが</a:t>
            </a:r>
            <a:endParaRPr lang="en-US" altLang="ja-JP" dirty="0"/>
          </a:p>
          <a:p>
            <a:pPr algn="ctr"/>
            <a:r>
              <a:rPr lang="ja-JP" altLang="en-US"/>
              <a:t>一番好き</a:t>
            </a:r>
          </a:p>
        </p:txBody>
      </p:sp>
      <p:sp>
        <p:nvSpPr>
          <p:cNvPr id="74" name="テキスト ボックス 73">
            <a:extLst>
              <a:ext uri="{FF2B5EF4-FFF2-40B4-BE49-F238E27FC236}">
                <a16:creationId xmlns:a16="http://schemas.microsoft.com/office/drawing/2014/main" id="{5800728C-D2C4-2642-9AD7-042767F86896}"/>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5" name="右矢印 74">
            <a:extLst>
              <a:ext uri="{FF2B5EF4-FFF2-40B4-BE49-F238E27FC236}">
                <a16:creationId xmlns:a16="http://schemas.microsoft.com/office/drawing/2014/main" id="{B34C0DE4-CF29-ED46-9173-0FE6DF39C862}"/>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6" name="右矢印 75">
            <a:extLst>
              <a:ext uri="{FF2B5EF4-FFF2-40B4-BE49-F238E27FC236}">
                <a16:creationId xmlns:a16="http://schemas.microsoft.com/office/drawing/2014/main" id="{BF573361-2351-474F-BC9E-7883D0525AE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38692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7" name="グループ化 6">
            <a:extLst>
              <a:ext uri="{FF2B5EF4-FFF2-40B4-BE49-F238E27FC236}">
                <a16:creationId xmlns:a16="http://schemas.microsoft.com/office/drawing/2014/main" id="{7BCF6B4B-FAC5-0D48-8062-C29BB28E23F9}"/>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7" name="右矢印 66">
              <a:extLst>
                <a:ext uri="{FF2B5EF4-FFF2-40B4-BE49-F238E27FC236}">
                  <a16:creationId xmlns:a16="http://schemas.microsoft.com/office/drawing/2014/main" id="{9B6EB49B-929A-2143-80F3-A5186EADA105}"/>
                </a:ext>
              </a:extLst>
            </p:cNvPr>
            <p:cNvSpPr/>
            <p:nvPr/>
          </p:nvSpPr>
          <p:spPr>
            <a:xfrm rot="4162315" flipH="1">
              <a:off x="6215361" y="9936365"/>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9" name="右矢印 68">
              <a:extLst>
                <a:ext uri="{FF2B5EF4-FFF2-40B4-BE49-F238E27FC236}">
                  <a16:creationId xmlns:a16="http://schemas.microsoft.com/office/drawing/2014/main" id="{E376EE9B-DFE0-ED4F-8D6B-8D92AC204AC6}"/>
                </a:ext>
              </a:extLst>
            </p:cNvPr>
            <p:cNvSpPr/>
            <p:nvPr/>
          </p:nvSpPr>
          <p:spPr>
            <a:xfrm rot="4162315" flipH="1">
              <a:off x="12899619" y="9938974"/>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56" name="テキスト プレースホルダー 29">
            <a:extLst>
              <a:ext uri="{FF2B5EF4-FFF2-40B4-BE49-F238E27FC236}">
                <a16:creationId xmlns:a16="http://schemas.microsoft.com/office/drawing/2014/main" id="{831D258A-B0AB-8343-BE8F-043C44F331F2}"/>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59" name="テキスト プレースホルダー 29">
            <a:extLst>
              <a:ext uri="{FF2B5EF4-FFF2-40B4-BE49-F238E27FC236}">
                <a16:creationId xmlns:a16="http://schemas.microsoft.com/office/drawing/2014/main" id="{6F2751EC-F9DA-9549-BB75-F74DDC09681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0" name="テキスト プレースホルダー 29">
            <a:extLst>
              <a:ext uri="{FF2B5EF4-FFF2-40B4-BE49-F238E27FC236}">
                <a16:creationId xmlns:a16="http://schemas.microsoft.com/office/drawing/2014/main" id="{C95566C4-408F-A744-8936-BF0DED8ADB4F}"/>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71" name="角丸四角形吹き出し 70">
            <a:extLst>
              <a:ext uri="{FF2B5EF4-FFF2-40B4-BE49-F238E27FC236}">
                <a16:creationId xmlns:a16="http://schemas.microsoft.com/office/drawing/2014/main" id="{2FEEEF84-39A0-E948-9831-B970CD2D5951}"/>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2" name="テキスト ボックス 71">
            <a:extLst>
              <a:ext uri="{FF2B5EF4-FFF2-40B4-BE49-F238E27FC236}">
                <a16:creationId xmlns:a16="http://schemas.microsoft.com/office/drawing/2014/main" id="{E272B516-57A1-3948-B24E-036BFC358399}"/>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3" name="右矢印 72">
            <a:extLst>
              <a:ext uri="{FF2B5EF4-FFF2-40B4-BE49-F238E27FC236}">
                <a16:creationId xmlns:a16="http://schemas.microsoft.com/office/drawing/2014/main" id="{D21F08F5-59FE-854C-BB35-EE45BD8806D6}"/>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4" name="右矢印 73">
            <a:extLst>
              <a:ext uri="{FF2B5EF4-FFF2-40B4-BE49-F238E27FC236}">
                <a16:creationId xmlns:a16="http://schemas.microsoft.com/office/drawing/2014/main" id="{C35266EC-779B-6942-9B8F-9FAF2E1D955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0616807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7319687"/>
            <a:ext cx="11854350" cy="5984041"/>
            <a:chOff x="3216825" y="7319687"/>
            <a:chExt cx="11854350" cy="5984041"/>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7319687"/>
              <a:ext cx="8392160" cy="2292139"/>
              <a:chOff x="4866258" y="5234219"/>
              <a:chExt cx="8392160" cy="2292139"/>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8" name="グループ化 47">
                <a:extLst>
                  <a:ext uri="{FF2B5EF4-FFF2-40B4-BE49-F238E27FC236}">
                    <a16:creationId xmlns:a16="http://schemas.microsoft.com/office/drawing/2014/main" id="{35B623F4-6B74-1747-810F-D94794252AC4}"/>
                  </a:ext>
                </a:extLst>
              </p:cNvPr>
              <p:cNvGrpSpPr/>
              <p:nvPr/>
            </p:nvGrpSpPr>
            <p:grpSpPr>
              <a:xfrm>
                <a:off x="11522664"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67" name="右矢印 66">
            <a:extLst>
              <a:ext uri="{FF2B5EF4-FFF2-40B4-BE49-F238E27FC236}">
                <a16:creationId xmlns:a16="http://schemas.microsoft.com/office/drawing/2014/main" id="{B770DD3B-ACF7-BC4F-9CE8-67D837C4377C}"/>
              </a:ext>
            </a:extLst>
          </p:cNvPr>
          <p:cNvSpPr/>
          <p:nvPr/>
        </p:nvSpPr>
        <p:spPr>
          <a:xfrm rot="20300887">
            <a:off x="8221799" y="9708008"/>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テキスト プレースホルダー 29">
            <a:extLst>
              <a:ext uri="{FF2B5EF4-FFF2-40B4-BE49-F238E27FC236}">
                <a16:creationId xmlns:a16="http://schemas.microsoft.com/office/drawing/2014/main" id="{89234110-1A1A-0847-B09B-0062FE3066F1}"/>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70" name="テキスト プレースホルダー 29">
            <a:extLst>
              <a:ext uri="{FF2B5EF4-FFF2-40B4-BE49-F238E27FC236}">
                <a16:creationId xmlns:a16="http://schemas.microsoft.com/office/drawing/2014/main" id="{F9FEABA2-15C2-D74E-9657-A3B413C63495}"/>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1" name="テキスト プレースホルダー 29">
            <a:extLst>
              <a:ext uri="{FF2B5EF4-FFF2-40B4-BE49-F238E27FC236}">
                <a16:creationId xmlns:a16="http://schemas.microsoft.com/office/drawing/2014/main" id="{05E1375B-A102-E34F-AADE-04FBBC4C52B3}"/>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72" name="テキスト ボックス 71">
            <a:extLst>
              <a:ext uri="{FF2B5EF4-FFF2-40B4-BE49-F238E27FC236}">
                <a16:creationId xmlns:a16="http://schemas.microsoft.com/office/drawing/2014/main" id="{BA02D70E-6EFD-D043-B9B8-69F420D62E47}"/>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77" name="角丸四角形吹き出し 76">
            <a:extLst>
              <a:ext uri="{FF2B5EF4-FFF2-40B4-BE49-F238E27FC236}">
                <a16:creationId xmlns:a16="http://schemas.microsoft.com/office/drawing/2014/main" id="{2B1BC254-E1B6-214C-8960-A31F1690285F}"/>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sp>
        <p:nvSpPr>
          <p:cNvPr id="78" name="角丸四角形吹き出し 77">
            <a:extLst>
              <a:ext uri="{FF2B5EF4-FFF2-40B4-BE49-F238E27FC236}">
                <a16:creationId xmlns:a16="http://schemas.microsoft.com/office/drawing/2014/main" id="{22C9FD4E-0881-F84D-91CA-5D593C303372}"/>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9" name="右矢印 78">
            <a:extLst>
              <a:ext uri="{FF2B5EF4-FFF2-40B4-BE49-F238E27FC236}">
                <a16:creationId xmlns:a16="http://schemas.microsoft.com/office/drawing/2014/main" id="{9A4243AF-53DE-954C-9CCC-BB9CE09331C3}"/>
              </a:ext>
            </a:extLst>
          </p:cNvPr>
          <p:cNvSpPr/>
          <p:nvPr/>
        </p:nvSpPr>
        <p:spPr>
          <a:xfrm rot="784289" flipH="1">
            <a:off x="7058733" y="9873008"/>
            <a:ext cx="6074694"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258514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4818997"/>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553268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546006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grpSp>
      <p:sp>
        <p:nvSpPr>
          <p:cNvPr id="56" name="右矢印 55">
            <a:extLst>
              <a:ext uri="{FF2B5EF4-FFF2-40B4-BE49-F238E27FC236}">
                <a16:creationId xmlns:a16="http://schemas.microsoft.com/office/drawing/2014/main" id="{5B59D436-C3FA-314C-92D7-79A3104BB9FE}"/>
              </a:ext>
            </a:extLst>
          </p:cNvPr>
          <p:cNvSpPr/>
          <p:nvPr/>
        </p:nvSpPr>
        <p:spPr>
          <a:xfrm rot="1345402" flipH="1">
            <a:off x="6960044" y="9952401"/>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テキスト プレースホルダー 29">
            <a:extLst>
              <a:ext uri="{FF2B5EF4-FFF2-40B4-BE49-F238E27FC236}">
                <a16:creationId xmlns:a16="http://schemas.microsoft.com/office/drawing/2014/main" id="{C8DBA6EC-5B8A-4F4B-BC10-59AFC66B2525}"/>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67" name="テキスト プレースホルダー 29">
            <a:extLst>
              <a:ext uri="{FF2B5EF4-FFF2-40B4-BE49-F238E27FC236}">
                <a16:creationId xmlns:a16="http://schemas.microsoft.com/office/drawing/2014/main" id="{1AF1BB3A-1AF3-B548-A357-1C1A6DC698D7}"/>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9" name="テキスト プレースホルダー 29">
            <a:extLst>
              <a:ext uri="{FF2B5EF4-FFF2-40B4-BE49-F238E27FC236}">
                <a16:creationId xmlns:a16="http://schemas.microsoft.com/office/drawing/2014/main" id="{BD769421-0C15-0540-A6B5-E3D9BE400D52}"/>
              </a:ext>
            </a:extLst>
          </p:cNvPr>
          <p:cNvSpPr txBox="1">
            <a:spLocks/>
          </p:cNvSpPr>
          <p:nvPr/>
        </p:nvSpPr>
        <p:spPr>
          <a:xfrm>
            <a:off x="1445162" y="47037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70" name="角丸四角形吹き出し 69">
            <a:extLst>
              <a:ext uri="{FF2B5EF4-FFF2-40B4-BE49-F238E27FC236}">
                <a16:creationId xmlns:a16="http://schemas.microsoft.com/office/drawing/2014/main" id="{134A6445-69DA-7F4B-ABCD-57D80A1108B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どうしても</a:t>
            </a:r>
            <a:endParaRPr lang="en-US" altLang="ja-JP" dirty="0"/>
          </a:p>
          <a:p>
            <a:pPr algn="ctr"/>
            <a:r>
              <a:rPr lang="ja-JP" altLang="en-US"/>
              <a:t>パスタが欲しい</a:t>
            </a:r>
          </a:p>
        </p:txBody>
      </p:sp>
      <p:sp>
        <p:nvSpPr>
          <p:cNvPr id="71" name="テキスト ボックス 70">
            <a:extLst>
              <a:ext uri="{FF2B5EF4-FFF2-40B4-BE49-F238E27FC236}">
                <a16:creationId xmlns:a16="http://schemas.microsoft.com/office/drawing/2014/main" id="{48F7608B-F96A-FB4B-A921-AAA2CA945F2A}"/>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Nasty</a:t>
            </a:r>
            <a:endParaRPr kumimoji="1" lang="ja-JP" altLang="en-US"/>
          </a:p>
        </p:txBody>
      </p:sp>
    </p:spTree>
    <p:extLst>
      <p:ext uri="{BB962C8B-B14F-4D97-AF65-F5344CB8AC3E}">
        <p14:creationId xmlns:p14="http://schemas.microsoft.com/office/powerpoint/2010/main" val="39212232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実験方法</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実験に関するチュートリアルを読む</a:t>
            </a:r>
            <a:endParaRPr lang="en-US" altLang="ja-JP" dirty="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340897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交渉の仕方を理解したか確認</a:t>
            </a:r>
            <a:endParaRPr lang="en-US" altLang="ja-JP" dirty="0"/>
          </a:p>
        </p:txBody>
      </p:sp>
      <p:grpSp>
        <p:nvGrpSpPr>
          <p:cNvPr id="59" name="グループ化 58">
            <a:extLst>
              <a:ext uri="{FF2B5EF4-FFF2-40B4-BE49-F238E27FC236}">
                <a16:creationId xmlns:a16="http://schemas.microsoft.com/office/drawing/2014/main" id="{DF8A36AD-5836-A949-969B-3510C31E8635}"/>
              </a:ext>
            </a:extLst>
          </p:cNvPr>
          <p:cNvGrpSpPr/>
          <p:nvPr/>
        </p:nvGrpSpPr>
        <p:grpSpPr>
          <a:xfrm>
            <a:off x="617232" y="4318974"/>
            <a:ext cx="539448" cy="487368"/>
            <a:chOff x="400056" y="1061560"/>
            <a:chExt cx="269724" cy="243684"/>
          </a:xfrm>
        </p:grpSpPr>
        <p:sp>
          <p:nvSpPr>
            <p:cNvPr id="66" name="三角形 65">
              <a:extLst>
                <a:ext uri="{FF2B5EF4-FFF2-40B4-BE49-F238E27FC236}">
                  <a16:creationId xmlns:a16="http://schemas.microsoft.com/office/drawing/2014/main" id="{BABAD8D6-A9B7-D841-AB0B-97617C1DD5D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66">
              <a:extLst>
                <a:ext uri="{FF2B5EF4-FFF2-40B4-BE49-F238E27FC236}">
                  <a16:creationId xmlns:a16="http://schemas.microsoft.com/office/drawing/2014/main" id="{571901B6-8460-5144-A973-557A2883CB1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6239CF5E-1568-8D45-AC49-9DD4CEAA2286}"/>
              </a:ext>
            </a:extLst>
          </p:cNvPr>
          <p:cNvSpPr txBox="1">
            <a:spLocks/>
          </p:cNvSpPr>
          <p:nvPr/>
        </p:nvSpPr>
        <p:spPr>
          <a:xfrm>
            <a:off x="1254486" y="42463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4</a:t>
            </a:r>
            <a:r>
              <a:rPr lang="ja-JP" altLang="en-US"/>
              <a:t>つのエージェントのうちランダムに</a:t>
            </a:r>
            <a:r>
              <a:rPr lang="en-US" altLang="ja-JP" dirty="0"/>
              <a:t>1</a:t>
            </a:r>
            <a:r>
              <a:rPr lang="ja-JP" altLang="en-US"/>
              <a:t>つを割り当てる</a:t>
            </a:r>
            <a:endParaRPr lang="en-US" altLang="ja-JP" dirty="0"/>
          </a:p>
        </p:txBody>
      </p:sp>
      <p:grpSp>
        <p:nvGrpSpPr>
          <p:cNvPr id="69" name="グループ化 68">
            <a:extLst>
              <a:ext uri="{FF2B5EF4-FFF2-40B4-BE49-F238E27FC236}">
                <a16:creationId xmlns:a16="http://schemas.microsoft.com/office/drawing/2014/main" id="{DBA9D50B-A088-6F44-9B47-34964A9D77BA}"/>
              </a:ext>
            </a:extLst>
          </p:cNvPr>
          <p:cNvGrpSpPr/>
          <p:nvPr/>
        </p:nvGrpSpPr>
        <p:grpSpPr>
          <a:xfrm>
            <a:off x="617232" y="5219836"/>
            <a:ext cx="539448" cy="487368"/>
            <a:chOff x="400056" y="1061560"/>
            <a:chExt cx="269724" cy="243684"/>
          </a:xfrm>
        </p:grpSpPr>
        <p:sp>
          <p:nvSpPr>
            <p:cNvPr id="70" name="三角形 69">
              <a:extLst>
                <a:ext uri="{FF2B5EF4-FFF2-40B4-BE49-F238E27FC236}">
                  <a16:creationId xmlns:a16="http://schemas.microsoft.com/office/drawing/2014/main" id="{7A5C93D8-0C41-1840-94A6-39F0D9990F8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三角形 70">
              <a:extLst>
                <a:ext uri="{FF2B5EF4-FFF2-40B4-BE49-F238E27FC236}">
                  <a16:creationId xmlns:a16="http://schemas.microsoft.com/office/drawing/2014/main" id="{85D77BB3-4F9D-E84B-9B19-D1633364534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27">
            <a:extLst>
              <a:ext uri="{FF2B5EF4-FFF2-40B4-BE49-F238E27FC236}">
                <a16:creationId xmlns:a16="http://schemas.microsoft.com/office/drawing/2014/main" id="{5D7BBC1D-C9F9-0646-88C7-4FF420616C33}"/>
              </a:ext>
            </a:extLst>
          </p:cNvPr>
          <p:cNvSpPr txBox="1">
            <a:spLocks/>
          </p:cNvSpPr>
          <p:nvPr/>
        </p:nvSpPr>
        <p:spPr>
          <a:xfrm>
            <a:off x="1254486" y="514721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被験者とエージェントが交渉を実施</a:t>
            </a:r>
            <a:endParaRPr lang="en-US" altLang="ja-JP" dirty="0"/>
          </a:p>
        </p:txBody>
      </p:sp>
      <p:sp>
        <p:nvSpPr>
          <p:cNvPr id="104" name="角丸四角形吹き出し 103">
            <a:extLst>
              <a:ext uri="{FF2B5EF4-FFF2-40B4-BE49-F238E27FC236}">
                <a16:creationId xmlns:a16="http://schemas.microsoft.com/office/drawing/2014/main" id="{FE7DB32D-1958-FE48-BF91-4857427784B7}"/>
              </a:ext>
            </a:extLst>
          </p:cNvPr>
          <p:cNvSpPr/>
          <p:nvPr/>
        </p:nvSpPr>
        <p:spPr>
          <a:xfrm>
            <a:off x="1254486" y="7119738"/>
            <a:ext cx="8033059" cy="2034116"/>
          </a:xfrm>
          <a:prstGeom prst="wedgeRoundRectCallout">
            <a:avLst>
              <a:gd name="adj1" fmla="val 33975"/>
              <a:gd name="adj2" fmla="val 8107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10</a:t>
            </a:r>
            <a:r>
              <a:rPr lang="ja-JP" altLang="en-US"/>
              <a:t>分経過</a:t>
            </a:r>
            <a:r>
              <a:rPr lang="en-US" altLang="ja-JP" dirty="0"/>
              <a:t> or </a:t>
            </a:r>
            <a:r>
              <a:rPr lang="ja-JP" altLang="en-US"/>
              <a:t>両者が</a:t>
            </a:r>
            <a:r>
              <a:rPr lang="en-US" altLang="ja-JP" dirty="0"/>
              <a:t>Formal Accept</a:t>
            </a:r>
          </a:p>
          <a:p>
            <a:pPr algn="ctr"/>
            <a:r>
              <a:rPr lang="ja-JP" altLang="en-US"/>
              <a:t>した時点で交渉が終了</a:t>
            </a:r>
            <a:endParaRPr lang="en-US" altLang="ja-JP" dirty="0"/>
          </a:p>
        </p:txBody>
      </p:sp>
      <p:grpSp>
        <p:nvGrpSpPr>
          <p:cNvPr id="9" name="グループ化 8">
            <a:extLst>
              <a:ext uri="{FF2B5EF4-FFF2-40B4-BE49-F238E27FC236}">
                <a16:creationId xmlns:a16="http://schemas.microsoft.com/office/drawing/2014/main" id="{3AB28AB3-0C9C-F847-B002-1AACC5CC4E63}"/>
              </a:ext>
            </a:extLst>
          </p:cNvPr>
          <p:cNvGrpSpPr/>
          <p:nvPr/>
        </p:nvGrpSpPr>
        <p:grpSpPr>
          <a:xfrm>
            <a:off x="4947920" y="9595226"/>
            <a:ext cx="8392160" cy="2673310"/>
            <a:chOff x="4947920" y="9595226"/>
            <a:chExt cx="8392160" cy="2673310"/>
          </a:xfrm>
        </p:grpSpPr>
        <p:grpSp>
          <p:nvGrpSpPr>
            <p:cNvPr id="8" name="グループ化 7">
              <a:extLst>
                <a:ext uri="{FF2B5EF4-FFF2-40B4-BE49-F238E27FC236}">
                  <a16:creationId xmlns:a16="http://schemas.microsoft.com/office/drawing/2014/main" id="{AECC32A7-3A08-3744-8D07-E6987153BEC9}"/>
                </a:ext>
              </a:extLst>
            </p:cNvPr>
            <p:cNvGrpSpPr/>
            <p:nvPr/>
          </p:nvGrpSpPr>
          <p:grpSpPr>
            <a:xfrm>
              <a:off x="4947920" y="9595226"/>
              <a:ext cx="8392160" cy="2292139"/>
              <a:chOff x="4892225" y="8861611"/>
              <a:chExt cx="8392160" cy="2292139"/>
            </a:xfrm>
          </p:grpSpPr>
          <p:grpSp>
            <p:nvGrpSpPr>
              <p:cNvPr id="83" name="グループ化 82">
                <a:extLst>
                  <a:ext uri="{FF2B5EF4-FFF2-40B4-BE49-F238E27FC236}">
                    <a16:creationId xmlns:a16="http://schemas.microsoft.com/office/drawing/2014/main" id="{59BD4F83-68E5-1547-8512-D9B49D8D5A3B}"/>
                  </a:ext>
                </a:extLst>
              </p:cNvPr>
              <p:cNvGrpSpPr/>
              <p:nvPr/>
            </p:nvGrpSpPr>
            <p:grpSpPr>
              <a:xfrm>
                <a:off x="4892225" y="8861611"/>
                <a:ext cx="8392160" cy="2292139"/>
                <a:chOff x="4866258" y="5234219"/>
                <a:chExt cx="8392160" cy="2292139"/>
              </a:xfrm>
            </p:grpSpPr>
            <p:grpSp>
              <p:nvGrpSpPr>
                <p:cNvPr id="90" name="グループ化 89">
                  <a:extLst>
                    <a:ext uri="{FF2B5EF4-FFF2-40B4-BE49-F238E27FC236}">
                      <a16:creationId xmlns:a16="http://schemas.microsoft.com/office/drawing/2014/main" id="{4335B907-BA7B-004C-B36F-FC3D24E01213}"/>
                    </a:ext>
                  </a:extLst>
                </p:cNvPr>
                <p:cNvGrpSpPr/>
                <p:nvPr/>
              </p:nvGrpSpPr>
              <p:grpSpPr>
                <a:xfrm>
                  <a:off x="4866258" y="5349476"/>
                  <a:ext cx="1735754" cy="2176882"/>
                  <a:chOff x="4299330" y="5349476"/>
                  <a:chExt cx="1735754" cy="2176882"/>
                </a:xfrm>
              </p:grpSpPr>
              <p:sp>
                <p:nvSpPr>
                  <p:cNvPr id="92" name="スマイル 91">
                    <a:extLst>
                      <a:ext uri="{FF2B5EF4-FFF2-40B4-BE49-F238E27FC236}">
                        <a16:creationId xmlns:a16="http://schemas.microsoft.com/office/drawing/2014/main" id="{679019F6-298E-E944-AA65-CFFAAB5208F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1C51F41D-9EDA-5E40-8784-F599F0EE9E28}"/>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86" name="グループ化 85">
                  <a:extLst>
                    <a:ext uri="{FF2B5EF4-FFF2-40B4-BE49-F238E27FC236}">
                      <a16:creationId xmlns:a16="http://schemas.microsoft.com/office/drawing/2014/main" id="{834CC020-3387-7544-A0D3-3AAE792A1BB1}"/>
                    </a:ext>
                  </a:extLst>
                </p:cNvPr>
                <p:cNvGrpSpPr/>
                <p:nvPr/>
              </p:nvGrpSpPr>
              <p:grpSpPr>
                <a:xfrm>
                  <a:off x="11522664" y="5234219"/>
                  <a:ext cx="1735754" cy="2243000"/>
                  <a:chOff x="12053016" y="5234219"/>
                  <a:chExt cx="1735754" cy="2243000"/>
                </a:xfrm>
              </p:grpSpPr>
              <p:sp>
                <p:nvSpPr>
                  <p:cNvPr id="88" name="スマイル 87">
                    <a:extLst>
                      <a:ext uri="{FF2B5EF4-FFF2-40B4-BE49-F238E27FC236}">
                        <a16:creationId xmlns:a16="http://schemas.microsoft.com/office/drawing/2014/main" id="{1D6A7F08-9569-0140-BC1D-EA1DE6F3D208}"/>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7CB723DE-F9AE-6242-8D96-D0D33F298684}"/>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100" name="右矢印 99">
                <a:extLst>
                  <a:ext uri="{FF2B5EF4-FFF2-40B4-BE49-F238E27FC236}">
                    <a16:creationId xmlns:a16="http://schemas.microsoft.com/office/drawing/2014/main" id="{6CE7365C-D3A4-F740-BB9F-6F68931E96CF}"/>
                  </a:ext>
                </a:extLst>
              </p:cNvPr>
              <p:cNvSpPr/>
              <p:nvPr/>
            </p:nvSpPr>
            <p:spPr>
              <a:xfrm>
                <a:off x="7393547" y="9886578"/>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1" name="右矢印 100">
                <a:extLst>
                  <a:ext uri="{FF2B5EF4-FFF2-40B4-BE49-F238E27FC236}">
                    <a16:creationId xmlns:a16="http://schemas.microsoft.com/office/drawing/2014/main" id="{779D4D7B-597A-7145-8B14-5EF8078B8350}"/>
                  </a:ext>
                </a:extLst>
              </p:cNvPr>
              <p:cNvSpPr/>
              <p:nvPr/>
            </p:nvSpPr>
            <p:spPr>
              <a:xfrm flipH="1">
                <a:off x="7395361" y="10504709"/>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8605F7D7-1FF3-3748-ABEE-39D3B7EDF4B1}"/>
                  </a:ext>
                </a:extLst>
              </p:cNvPr>
              <p:cNvSpPr txBox="1"/>
              <p:nvPr/>
            </p:nvSpPr>
            <p:spPr>
              <a:xfrm>
                <a:off x="7315197" y="9136014"/>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
          <p:nvSpPr>
            <p:cNvPr id="105" name="テキスト ボックス 104">
              <a:extLst>
                <a:ext uri="{FF2B5EF4-FFF2-40B4-BE49-F238E27FC236}">
                  <a16:creationId xmlns:a16="http://schemas.microsoft.com/office/drawing/2014/main" id="{9D5A26B4-3F63-0D45-B2AA-F328C0A85C99}"/>
                </a:ext>
              </a:extLst>
            </p:cNvPr>
            <p:cNvSpPr txBox="1"/>
            <p:nvPr/>
          </p:nvSpPr>
          <p:spPr>
            <a:xfrm>
              <a:off x="7367300" y="11622205"/>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Tree>
    <p:extLst>
      <p:ext uri="{BB962C8B-B14F-4D97-AF65-F5344CB8AC3E}">
        <p14:creationId xmlns:p14="http://schemas.microsoft.com/office/powerpoint/2010/main" val="5695623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交渉終了時に獲得できる合計価値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よりも</a:t>
            </a:r>
            <a:r>
              <a:rPr lang="en-US" altLang="ja-JP" dirty="0"/>
              <a:t>Free</a:t>
            </a:r>
            <a:r>
              <a:rPr lang="ja-JP" altLang="en-US"/>
              <a:t>の方がポイントが高くなった</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2"/>
          <a:stretch>
            <a:fillRect/>
          </a:stretch>
        </p:blipFill>
        <p:spPr>
          <a:xfrm>
            <a:off x="5349396" y="7709495"/>
            <a:ext cx="7589208" cy="5594416"/>
          </a:xfrm>
          <a:prstGeom prst="rect">
            <a:avLst/>
          </a:prstGeom>
        </p:spPr>
      </p:pic>
      <p:sp>
        <p:nvSpPr>
          <p:cNvPr id="48" name="テキスト プレースホルダー 27">
            <a:extLst>
              <a:ext uri="{FF2B5EF4-FFF2-40B4-BE49-F238E27FC236}">
                <a16:creationId xmlns:a16="http://schemas.microsoft.com/office/drawing/2014/main" id="{2E5A577F-4092-634D-BB6E-B2CB72A087D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9" name="三角形 48">
            <a:extLst>
              <a:ext uri="{FF2B5EF4-FFF2-40B4-BE49-F238E27FC236}">
                <a16:creationId xmlns:a16="http://schemas.microsoft.com/office/drawing/2014/main" id="{A34F2C5B-F0A5-6A42-AC9B-E40745DB7758}"/>
              </a:ext>
            </a:extLst>
          </p:cNvPr>
          <p:cNvSpPr/>
          <p:nvPr/>
        </p:nvSpPr>
        <p:spPr>
          <a:xfrm rot="5400000">
            <a:off x="1076238" y="421339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50" name="テキスト プレースホルダー 29">
                <a:extLst>
                  <a:ext uri="{FF2B5EF4-FFF2-40B4-BE49-F238E27FC236}">
                    <a16:creationId xmlns:a16="http://schemas.microsoft.com/office/drawing/2014/main" id="{000AC2C8-4326-8F4B-89D2-7FDE690CC76C}"/>
                  </a:ext>
                </a:extLst>
              </p:cNvPr>
              <p:cNvSpPr txBox="1">
                <a:spLocks/>
              </p:cNvSpPr>
              <p:nvPr/>
            </p:nvSpPr>
            <p:spPr>
              <a:xfrm>
                <a:off x="1457090" y="409812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b="0" i="1" smtClean="0">
                        <a:latin typeface="Cambria Math" panose="02040503050406030204" pitchFamily="18" charset="0"/>
                      </a:rPr>
                      <m:t>𝐹</m:t>
                    </m:r>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1,194</m:t>
                        </m:r>
                      </m:e>
                    </m:d>
                    <m:r>
                      <a:rPr lang="en-US" altLang="ja-JP" b="0" i="1" smtClean="0">
                        <a:latin typeface="Cambria Math" panose="02040503050406030204" pitchFamily="18" charset="0"/>
                      </a:rPr>
                      <m:t>=5.887,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=.016,</m:t>
                    </m:r>
                    <m:r>
                      <a:rPr lang="en-US" altLang="ja-JP" b="0" i="1" smtClean="0">
                        <a:latin typeface="Cambria Math" panose="02040503050406030204" pitchFamily="18" charset="0"/>
                      </a:rPr>
                      <m:t>𝑑</m:t>
                    </m:r>
                    <m:r>
                      <a:rPr lang="en-US" altLang="ja-JP" b="0" i="1" smtClean="0">
                        <a:latin typeface="Cambria Math" panose="02040503050406030204" pitchFamily="18" charset="0"/>
                      </a:rPr>
                      <m:t>=0.352</m:t>
                    </m:r>
                  </m:oMath>
                </a14:m>
                <a:endParaRPr lang="ja-JP" altLang="en-US"/>
              </a:p>
            </p:txBody>
          </p:sp>
        </mc:Choice>
        <mc:Fallback xmlns="">
          <p:sp>
            <p:nvSpPr>
              <p:cNvPr id="50" name="テキスト プレースホルダー 29">
                <a:extLst>
                  <a:ext uri="{FF2B5EF4-FFF2-40B4-BE49-F238E27FC236}">
                    <a16:creationId xmlns:a16="http://schemas.microsoft.com/office/drawing/2014/main" id="{000AC2C8-4326-8F4B-89D2-7FDE690CC76C}"/>
                  </a:ext>
                </a:extLst>
              </p:cNvPr>
              <p:cNvSpPr txBox="1">
                <a:spLocks noRot="1" noChangeAspect="1" noMove="1" noResize="1" noEditPoints="1" noAdjustHandles="1" noChangeArrowheads="1" noChangeShapeType="1" noTextEdit="1"/>
              </p:cNvSpPr>
              <p:nvPr/>
            </p:nvSpPr>
            <p:spPr>
              <a:xfrm>
                <a:off x="1457090" y="4098121"/>
                <a:ext cx="16135964" cy="853994"/>
              </a:xfrm>
              <a:prstGeom prst="rect">
                <a:avLst/>
              </a:prstGeom>
              <a:blipFill>
                <a:blip r:embed="rId3"/>
                <a:stretch>
                  <a:fillRect l="-1338" t="-10294" b="-14706"/>
                </a:stretch>
              </a:blipFill>
            </p:spPr>
            <p:txBody>
              <a:bodyPr/>
              <a:lstStyle/>
              <a:p>
                <a:r>
                  <a:rPr lang="ja-JP" altLang="en-US">
                    <a:noFill/>
                  </a:rPr>
                  <a:t> </a:t>
                </a:r>
              </a:p>
            </p:txBody>
          </p:sp>
        </mc:Fallback>
      </mc:AlternateContent>
      <p:grpSp>
        <p:nvGrpSpPr>
          <p:cNvPr id="51" name="グループ化 50">
            <a:extLst>
              <a:ext uri="{FF2B5EF4-FFF2-40B4-BE49-F238E27FC236}">
                <a16:creationId xmlns:a16="http://schemas.microsoft.com/office/drawing/2014/main" id="{2AA0D94D-C69E-7E4B-A1A4-ADC36E90359B}"/>
              </a:ext>
            </a:extLst>
          </p:cNvPr>
          <p:cNvGrpSpPr/>
          <p:nvPr/>
        </p:nvGrpSpPr>
        <p:grpSpPr>
          <a:xfrm>
            <a:off x="617232" y="3408977"/>
            <a:ext cx="539448" cy="487368"/>
            <a:chOff x="400056" y="1061560"/>
            <a:chExt cx="269724" cy="243684"/>
          </a:xfrm>
        </p:grpSpPr>
        <p:sp>
          <p:nvSpPr>
            <p:cNvPr id="52" name="三角形 51">
              <a:extLst>
                <a:ext uri="{FF2B5EF4-FFF2-40B4-BE49-F238E27FC236}">
                  <a16:creationId xmlns:a16="http://schemas.microsoft.com/office/drawing/2014/main" id="{A25629C6-B470-D74E-816E-12AEADF18DC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37715B1E-1BF4-6C4E-AC3F-A29EF6E548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55" name="テキスト プレースホルダー 27">
                <a:extLst>
                  <a:ext uri="{FF2B5EF4-FFF2-40B4-BE49-F238E27FC236}">
                    <a16:creationId xmlns:a16="http://schemas.microsoft.com/office/drawing/2014/main" id="{117226EF-3D51-4F4B-8EAC-B1AB30AEF618}"/>
                  </a:ext>
                </a:extLst>
              </p:cNvPr>
              <p:cNvSpPr txBox="1">
                <a:spLocks/>
              </p:cNvSpPr>
              <p:nvPr/>
            </p:nvSpPr>
            <p:spPr>
              <a:xfrm>
                <a:off x="1254486" y="625268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oMath>
                </a14:m>
                <a:r>
                  <a:rPr lang="ja-JP" altLang="en-US"/>
                  <a:t>検定を使用しエージェントの戦略による影響を分析</a:t>
                </a:r>
                <a:endParaRPr lang="en-US" altLang="ja-JP" dirty="0"/>
              </a:p>
            </p:txBody>
          </p:sp>
        </mc:Choice>
        <mc:Fallback xmlns="">
          <p:sp>
            <p:nvSpPr>
              <p:cNvPr id="55" name="テキスト プレースホルダー 27">
                <a:extLst>
                  <a:ext uri="{FF2B5EF4-FFF2-40B4-BE49-F238E27FC236}">
                    <a16:creationId xmlns:a16="http://schemas.microsoft.com/office/drawing/2014/main" id="{117226EF-3D51-4F4B-8EAC-B1AB30AEF618}"/>
                  </a:ext>
                </a:extLst>
              </p:cNvPr>
              <p:cNvSpPr txBox="1">
                <a:spLocks noRot="1" noChangeAspect="1" noMove="1" noResize="1" noEditPoints="1" noAdjustHandles="1" noChangeArrowheads="1" noChangeShapeType="1" noTextEdit="1"/>
              </p:cNvSpPr>
              <p:nvPr/>
            </p:nvSpPr>
            <p:spPr>
              <a:xfrm>
                <a:off x="1254486" y="6252681"/>
                <a:ext cx="17551674" cy="1721508"/>
              </a:xfrm>
              <a:prstGeom prst="rect">
                <a:avLst/>
              </a:prstGeom>
              <a:blipFill>
                <a:blip r:embed="rId4"/>
                <a:stretch>
                  <a:fillRect l="-651" t="-10294"/>
                </a:stretch>
              </a:blipFill>
            </p:spPr>
            <p:txBody>
              <a:bodyPr/>
              <a:lstStyle/>
              <a:p>
                <a:r>
                  <a:rPr lang="ja-JP" altLang="en-US">
                    <a:noFill/>
                  </a:rPr>
                  <a:t> </a:t>
                </a:r>
              </a:p>
            </p:txBody>
          </p:sp>
        </mc:Fallback>
      </mc:AlternateContent>
      <p:sp>
        <p:nvSpPr>
          <p:cNvPr id="56" name="三角形 55">
            <a:extLst>
              <a:ext uri="{FF2B5EF4-FFF2-40B4-BE49-F238E27FC236}">
                <a16:creationId xmlns:a16="http://schemas.microsoft.com/office/drawing/2014/main" id="{7EF3F024-A41F-5948-8EFA-508F52ED3B78}"/>
              </a:ext>
            </a:extLst>
          </p:cNvPr>
          <p:cNvSpPr/>
          <p:nvPr/>
        </p:nvSpPr>
        <p:spPr>
          <a:xfrm rot="5400000">
            <a:off x="1076238" y="712972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57" name="テキスト プレースホルダー 29">
                <a:extLst>
                  <a:ext uri="{FF2B5EF4-FFF2-40B4-BE49-F238E27FC236}">
                    <a16:creationId xmlns:a16="http://schemas.microsoft.com/office/drawing/2014/main" id="{E9D41197-6137-F844-BADC-A8C8C06BBF81}"/>
                  </a:ext>
                </a:extLst>
              </p:cNvPr>
              <p:cNvSpPr txBox="1">
                <a:spLocks/>
              </p:cNvSpPr>
              <p:nvPr/>
            </p:nvSpPr>
            <p:spPr>
              <a:xfrm>
                <a:off x="1457090" y="701445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b="0"/>
                  <a:t>有意差</a:t>
                </a:r>
                <a:r>
                  <a:rPr lang="ja-JP" altLang="en-US" b="0">
                    <a:solidFill>
                      <a:schemeClr val="accent2"/>
                    </a:solidFill>
                  </a:rPr>
                  <a:t>あり</a:t>
                </a:r>
                <a14:m>
                  <m:oMath xmlns:m="http://schemas.openxmlformats.org/officeDocument/2006/math">
                    <m:r>
                      <a:rPr lang="en-US" altLang="ja-JP" b="0" i="0" smtClean="0">
                        <a:latin typeface="Cambria Math" panose="02040503050406030204" pitchFamily="18" charset="0"/>
                      </a:rPr>
                      <m:t>    </m:t>
                    </m:r>
                    <m:sSup>
                      <m:sSupPr>
                        <m:ctrlPr>
                          <a:rPr lang="en-US" altLang="ja-JP" b="0" i="1" smtClean="0">
                            <a:latin typeface="Cambria Math" panose="02040503050406030204" pitchFamily="18" charset="0"/>
                          </a:rPr>
                        </m:ctrlPr>
                      </m:sSupPr>
                      <m:e>
                        <m:r>
                          <a:rPr lang="en-US" altLang="ja-JP" b="0"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1,196</m:t>
                        </m:r>
                      </m:e>
                    </m:d>
                    <m:r>
                      <a:rPr lang="en-US" altLang="ja-JP" b="0" i="1" smtClean="0">
                        <a:latin typeface="Cambria Math" panose="02040503050406030204" pitchFamily="18" charset="0"/>
                      </a:rPr>
                      <m:t>=5.737,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=.014</m:t>
                    </m:r>
                  </m:oMath>
                </a14:m>
                <a:endParaRPr lang="ja-JP" altLang="en-US"/>
              </a:p>
            </p:txBody>
          </p:sp>
        </mc:Choice>
        <mc:Fallback xmlns="">
          <p:sp>
            <p:nvSpPr>
              <p:cNvPr id="57" name="テキスト プレースホルダー 29">
                <a:extLst>
                  <a:ext uri="{FF2B5EF4-FFF2-40B4-BE49-F238E27FC236}">
                    <a16:creationId xmlns:a16="http://schemas.microsoft.com/office/drawing/2014/main" id="{E9D41197-6137-F844-BADC-A8C8C06BBF81}"/>
                  </a:ext>
                </a:extLst>
              </p:cNvPr>
              <p:cNvSpPr txBox="1">
                <a:spLocks noRot="1" noChangeAspect="1" noMove="1" noResize="1" noEditPoints="1" noAdjustHandles="1" noChangeArrowheads="1" noChangeShapeType="1" noTextEdit="1"/>
              </p:cNvSpPr>
              <p:nvPr/>
            </p:nvSpPr>
            <p:spPr>
              <a:xfrm>
                <a:off x="1457090" y="7014450"/>
                <a:ext cx="16135964" cy="853994"/>
              </a:xfrm>
              <a:prstGeom prst="rect">
                <a:avLst/>
              </a:prstGeom>
              <a:blipFill>
                <a:blip r:embed="rId5"/>
                <a:stretch>
                  <a:fillRect l="-1338" t="-16176" b="-7353"/>
                </a:stretch>
              </a:blipFill>
            </p:spPr>
            <p:txBody>
              <a:bodyPr/>
              <a:lstStyle/>
              <a:p>
                <a:r>
                  <a:rPr lang="ja-JP" altLang="en-US">
                    <a:noFill/>
                  </a:rPr>
                  <a:t> </a:t>
                </a:r>
              </a:p>
            </p:txBody>
          </p:sp>
        </mc:Fallback>
      </mc:AlternateContent>
      <p:grpSp>
        <p:nvGrpSpPr>
          <p:cNvPr id="58" name="グループ化 57">
            <a:extLst>
              <a:ext uri="{FF2B5EF4-FFF2-40B4-BE49-F238E27FC236}">
                <a16:creationId xmlns:a16="http://schemas.microsoft.com/office/drawing/2014/main" id="{A2AD5E50-0AA5-E24F-8DCC-9D58EF26EE6F}"/>
              </a:ext>
            </a:extLst>
          </p:cNvPr>
          <p:cNvGrpSpPr/>
          <p:nvPr/>
        </p:nvGrpSpPr>
        <p:grpSpPr>
          <a:xfrm>
            <a:off x="617232" y="6325306"/>
            <a:ext cx="539448" cy="487368"/>
            <a:chOff x="400056" y="1061560"/>
            <a:chExt cx="269724" cy="243684"/>
          </a:xfrm>
        </p:grpSpPr>
        <p:sp>
          <p:nvSpPr>
            <p:cNvPr id="60" name="三角形 59">
              <a:extLst>
                <a:ext uri="{FF2B5EF4-FFF2-40B4-BE49-F238E27FC236}">
                  <a16:creationId xmlns:a16="http://schemas.microsoft.com/office/drawing/2014/main" id="{F5F4D039-6A97-2546-9BF6-4D0E95ED05F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三角形 60">
              <a:extLst>
                <a:ext uri="{FF2B5EF4-FFF2-40B4-BE49-F238E27FC236}">
                  <a16:creationId xmlns:a16="http://schemas.microsoft.com/office/drawing/2014/main" id="{5DCE93FA-10E0-6348-BD6C-18922991E59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62" name="グループ化 61">
            <a:extLst>
              <a:ext uri="{FF2B5EF4-FFF2-40B4-BE49-F238E27FC236}">
                <a16:creationId xmlns:a16="http://schemas.microsoft.com/office/drawing/2014/main" id="{66E46BC3-E609-A548-8579-FB7F58375B47}"/>
              </a:ext>
            </a:extLst>
          </p:cNvPr>
          <p:cNvGrpSpPr/>
          <p:nvPr/>
        </p:nvGrpSpPr>
        <p:grpSpPr>
          <a:xfrm>
            <a:off x="289330" y="5126285"/>
            <a:ext cx="2160000" cy="934436"/>
            <a:chOff x="144665" y="525617"/>
            <a:chExt cx="1080000" cy="467218"/>
          </a:xfrm>
        </p:grpSpPr>
        <p:sp>
          <p:nvSpPr>
            <p:cNvPr id="63" name="正方形/長方形 62">
              <a:extLst>
                <a:ext uri="{FF2B5EF4-FFF2-40B4-BE49-F238E27FC236}">
                  <a16:creationId xmlns:a16="http://schemas.microsoft.com/office/drawing/2014/main" id="{1C4BE10B-9FC0-7645-9F70-C68E8910CF94}"/>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4" name="正方形/長方形 63">
              <a:extLst>
                <a:ext uri="{FF2B5EF4-FFF2-40B4-BE49-F238E27FC236}">
                  <a16:creationId xmlns:a16="http://schemas.microsoft.com/office/drawing/2014/main" id="{35C8DD2A-A324-DD43-9C38-F6B111323E7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65" name="テキスト プレースホルダー 30">
            <a:extLst>
              <a:ext uri="{FF2B5EF4-FFF2-40B4-BE49-F238E27FC236}">
                <a16:creationId xmlns:a16="http://schemas.microsoft.com/office/drawing/2014/main" id="{71ACC8B6-BB98-3B45-874B-94586179D11A}"/>
              </a:ext>
            </a:extLst>
          </p:cNvPr>
          <p:cNvSpPr txBox="1">
            <a:spLocks/>
          </p:cNvSpPr>
          <p:nvPr/>
        </p:nvSpPr>
        <p:spPr>
          <a:xfrm>
            <a:off x="571049" y="529685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r>
              <a:rPr lang="ja-JP" altLang="en-US"/>
              <a:t>を受け入れた回数</a:t>
            </a:r>
          </a:p>
        </p:txBody>
      </p:sp>
    </p:spTree>
    <p:extLst>
      <p:ext uri="{BB962C8B-B14F-4D97-AF65-F5344CB8AC3E}">
        <p14:creationId xmlns:p14="http://schemas.microsoft.com/office/powerpoint/2010/main" val="12390826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交渉終了時に獲得できる価値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2"/>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i="1" smtClean="0">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m:t>
                    </m:r>
                    <m:r>
                      <a:rPr lang="en-US" altLang="ja-JP" i="1">
                        <a:latin typeface="Cambria Math" panose="02040503050406030204" pitchFamily="18" charset="0"/>
                      </a:rPr>
                      <m:t>.</m:t>
                    </m:r>
                    <m:r>
                      <a:rPr lang="en-US" altLang="ja-JP" b="0" i="1" smtClean="0">
                        <a:latin typeface="Cambria Math" panose="02040503050406030204" pitchFamily="18" charset="0"/>
                      </a:rPr>
                      <m:t>638</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𝑑</m:t>
                    </m:r>
                    <m:r>
                      <a:rPr lang="en-US" altLang="ja-JP" i="1">
                        <a:latin typeface="Cambria Math" panose="02040503050406030204" pitchFamily="18" charset="0"/>
                      </a:rPr>
                      <m:t>=0.375</m:t>
                    </m:r>
                  </m:oMath>
                </a14:m>
                <a:r>
                  <a:rPr lang="ja-JP" altLang="en-US"/>
                  <a:t>   </a:t>
                </a:r>
                <a:r>
                  <a:rPr lang="en-US" altLang="ja-JP" dirty="0"/>
                  <a:t>(</a:t>
                </a:r>
                <a:r>
                  <a:rPr lang="ja-JP" altLang="en-US"/>
                  <a:t>被験者</a:t>
                </a:r>
                <a:r>
                  <a:rPr lang="en-US" altLang="ja-JP" dirty="0"/>
                  <a:t>)</a:t>
                </a:r>
                <a:endParaRPr lang="ja-JP" altLang="en-US"/>
              </a:p>
            </p:txBody>
          </p:sp>
        </mc:Choice>
        <mc:Fallback>
          <p:sp>
            <p:nvSpPr>
              <p:cNvPr id="40" name="テキスト プレースホルダー 29">
                <a:extLst>
                  <a:ext uri="{FF2B5EF4-FFF2-40B4-BE49-F238E27FC236}">
                    <a16:creationId xmlns:a16="http://schemas.microsoft.com/office/drawing/2014/main" id="{3BEBEE22-EDA1-D049-A160-F12C04BE26CB}"/>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1181" t="-14706" b="-14706"/>
                </a:stretch>
              </a:blipFill>
            </p:spPr>
            <p:txBody>
              <a:bodyPr/>
              <a:lstStyle/>
              <a:p>
                <a:r>
                  <a:rPr lang="ja-JP" altLang="en-US">
                    <a:noFill/>
                  </a:rPr>
                  <a:t> </a:t>
                </a:r>
              </a:p>
            </p:txBody>
          </p:sp>
        </mc:Fallback>
      </mc:AlternateContent>
      <p:sp>
        <p:nvSpPr>
          <p:cNvPr id="41" name="三角形 40">
            <a:extLst>
              <a:ext uri="{FF2B5EF4-FFF2-40B4-BE49-F238E27FC236}">
                <a16:creationId xmlns:a16="http://schemas.microsoft.com/office/drawing/2014/main" id="{31002C7F-FE31-744C-A64A-52AC062DCF8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2" name="テキスト プレースホルダー 29">
                <a:extLst>
                  <a:ext uri="{FF2B5EF4-FFF2-40B4-BE49-F238E27FC236}">
                    <a16:creationId xmlns:a16="http://schemas.microsoft.com/office/drawing/2014/main" id="{FCC50EAD-E512-4142-B005-10529CBB46B9}"/>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ja-JP" altLang="en-US" i="1" smtClean="0">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=4.688, </m:t>
                    </m:r>
                    <m:r>
                      <a:rPr lang="en-US" altLang="ja-JP" i="1">
                        <a:latin typeface="Cambria Math" panose="02040503050406030204" pitchFamily="18" charset="0"/>
                      </a:rPr>
                      <m:t>𝑝</m:t>
                    </m:r>
                    <m:r>
                      <a:rPr lang="en-US" altLang="ja-JP" i="1">
                        <a:latin typeface="Cambria Math" panose="02040503050406030204" pitchFamily="18" charset="0"/>
                      </a:rPr>
                      <m:t>=.032,</m:t>
                    </m:r>
                    <m:r>
                      <a:rPr lang="en-US" altLang="ja-JP" i="1">
                        <a:latin typeface="Cambria Math" panose="02040503050406030204" pitchFamily="18" charset="0"/>
                      </a:rPr>
                      <m:t>𝑑</m:t>
                    </m:r>
                    <m:r>
                      <a:rPr lang="en-US" altLang="ja-JP" i="1">
                        <a:latin typeface="Cambria Math" panose="02040503050406030204" pitchFamily="18" charset="0"/>
                      </a:rPr>
                      <m:t>=0.314</m:t>
                    </m:r>
                  </m:oMath>
                </a14:m>
                <a:r>
                  <a:rPr lang="ja-JP" altLang="en-US"/>
                  <a:t>   </a:t>
                </a:r>
                <a:r>
                  <a:rPr lang="en-US" altLang="ja-JP" dirty="0"/>
                  <a:t>(</a:t>
                </a:r>
                <a:r>
                  <a:rPr lang="ja-JP" altLang="en-US" dirty="0"/>
                  <a:t>エージェント</a:t>
                </a:r>
                <a:r>
                  <a:rPr lang="en-US" altLang="ja-JP" dirty="0"/>
                  <a:t>)</a:t>
                </a:r>
                <a:endParaRPr lang="ja-JP" altLang="en-US"/>
              </a:p>
            </p:txBody>
          </p:sp>
        </mc:Choice>
        <mc:Fallback xmlns="">
          <p:sp>
            <p:nvSpPr>
              <p:cNvPr id="42" name="テキスト プレースホルダー 29">
                <a:extLst>
                  <a:ext uri="{FF2B5EF4-FFF2-40B4-BE49-F238E27FC236}">
                    <a16:creationId xmlns:a16="http://schemas.microsoft.com/office/drawing/2014/main" id="{FCC50EAD-E512-4142-B005-10529CBB46B9}"/>
                  </a:ext>
                </a:extLst>
              </p:cNvPr>
              <p:cNvSpPr txBox="1">
                <a:spLocks noRot="1" noChangeAspect="1" noMove="1" noResize="1" noEditPoints="1" noAdjustHandles="1" noChangeArrowheads="1" noChangeShapeType="1" noTextEdit="1"/>
              </p:cNvSpPr>
              <p:nvPr/>
            </p:nvSpPr>
            <p:spPr>
              <a:xfrm>
                <a:off x="1457090" y="3976067"/>
                <a:ext cx="16135964" cy="853994"/>
              </a:xfrm>
              <a:prstGeom prst="rect">
                <a:avLst/>
              </a:prstGeom>
              <a:blipFill>
                <a:blip r:embed="rId4"/>
                <a:stretch>
                  <a:fillRect l="-787" t="-13235" b="-14706"/>
                </a:stretch>
              </a:blipFill>
            </p:spPr>
            <p:txBody>
              <a:bodyPr/>
              <a:lstStyle/>
              <a:p>
                <a:r>
                  <a:rPr lang="ja-JP" altLang="en-US">
                    <a:noFill/>
                  </a:rPr>
                  <a:t> </a:t>
                </a:r>
              </a:p>
            </p:txBody>
          </p:sp>
        </mc:Fallback>
      </mc:AlternateContent>
      <p:sp>
        <p:nvSpPr>
          <p:cNvPr id="11" name="角丸四角形 10">
            <a:extLst>
              <a:ext uri="{FF2B5EF4-FFF2-40B4-BE49-F238E27FC236}">
                <a16:creationId xmlns:a16="http://schemas.microsoft.com/office/drawing/2014/main" id="{304C86DB-2406-E840-8BE5-D4DFBFD11135}"/>
              </a:ext>
            </a:extLst>
          </p:cNvPr>
          <p:cNvSpPr/>
          <p:nvPr/>
        </p:nvSpPr>
        <p:spPr>
          <a:xfrm>
            <a:off x="3490480" y="5550565"/>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価値の損失は人間・エージェント双方に発生する</a:t>
            </a:r>
          </a:p>
        </p:txBody>
      </p:sp>
      <p:sp>
        <p:nvSpPr>
          <p:cNvPr id="45" name="三角形 44">
            <a:extLst>
              <a:ext uri="{FF2B5EF4-FFF2-40B4-BE49-F238E27FC236}">
                <a16:creationId xmlns:a16="http://schemas.microsoft.com/office/drawing/2014/main" id="{55024619-97C2-264B-B3C3-89379D6FC462}"/>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1478289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な行動による影響</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は</a:t>
            </a:r>
            <a:r>
              <a:rPr lang="en-US" altLang="ja-JP" dirty="0"/>
              <a:t>Free</a:t>
            </a:r>
            <a:r>
              <a:rPr lang="ja-JP" altLang="en-US"/>
              <a:t>よりも選好情報を伝達しない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2"/>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被験者から協調的ではないとみなされる</a:t>
            </a:r>
          </a:p>
        </p:txBody>
      </p:sp>
      <p:sp>
        <p:nvSpPr>
          <p:cNvPr id="22" name="三角形 21">
            <a:extLst>
              <a:ext uri="{FF2B5EF4-FFF2-40B4-BE49-F238E27FC236}">
                <a16:creationId xmlns:a16="http://schemas.microsoft.com/office/drawing/2014/main" id="{2E2F3E23-DF60-0247-BDBE-59F5E2856AE6}"/>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99DEF933-024B-E744-9AC5-87472316B7E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一方で統合的交渉では関係構築・妥協が重要</a:t>
            </a:r>
            <a:endParaRPr lang="en-US" altLang="ja-JP" dirty="0"/>
          </a:p>
        </p:txBody>
      </p:sp>
      <p:sp>
        <p:nvSpPr>
          <p:cNvPr id="24" name="角丸四角形 23">
            <a:extLst>
              <a:ext uri="{FF2B5EF4-FFF2-40B4-BE49-F238E27FC236}">
                <a16:creationId xmlns:a16="http://schemas.microsoft.com/office/drawing/2014/main" id="{1AD87DFB-BA45-DD4F-8087-7CD1D1B20456}"/>
              </a:ext>
            </a:extLst>
          </p:cNvPr>
          <p:cNvSpPr/>
          <p:nvPr/>
        </p:nvSpPr>
        <p:spPr>
          <a:xfrm>
            <a:off x="3490480" y="5550565"/>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結果的にお互いが獲得できる価値が減少する</a:t>
            </a:r>
            <a:r>
              <a:rPr kumimoji="1" lang="en-US" altLang="ja-JP" dirty="0">
                <a:solidFill>
                  <a:schemeClr val="bg2"/>
                </a:solidFill>
              </a:rPr>
              <a:t>(Q2)</a:t>
            </a:r>
            <a:endParaRPr kumimoji="1" lang="ja-JP" altLang="en-US">
              <a:solidFill>
                <a:schemeClr val="bg2"/>
              </a:solidFill>
            </a:endParaRPr>
          </a:p>
        </p:txBody>
      </p:sp>
      <p:sp>
        <p:nvSpPr>
          <p:cNvPr id="25" name="三角形 24">
            <a:extLst>
              <a:ext uri="{FF2B5EF4-FFF2-40B4-BE49-F238E27FC236}">
                <a16:creationId xmlns:a16="http://schemas.microsoft.com/office/drawing/2014/main" id="{B620F0D8-942E-4349-BD1F-149CFAF0B2A1}"/>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22364879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2018/6/9</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被験者が送信した選好の数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=6.523</m:t>
                      </m:r>
                      <m:r>
                        <a:rPr lang="en-US" altLang="ja-JP" b="0" i="1" smtClean="0">
                          <a:latin typeface="Cambria Math" panose="02040503050406030204" pitchFamily="18" charset="0"/>
                        </a:rPr>
                        <m:t>,</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𝑑</m:t>
                      </m:r>
                      <m:r>
                        <a:rPr lang="en-US" altLang="ja-JP" i="1">
                          <a:latin typeface="Cambria Math" panose="02040503050406030204" pitchFamily="18" charset="0"/>
                        </a:rPr>
                        <m:t>=0.370</m:t>
                      </m:r>
                    </m:oMath>
                  </m:oMathPara>
                </a14:m>
                <a:endParaRPr lang="ja-JP" altLang="en-US"/>
              </a:p>
            </p:txBody>
          </p:sp>
        </mc:Choice>
        <mc:Fallback>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3"/>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=12.534, </m:t>
                      </m:r>
                      <m:r>
                        <a:rPr lang="en-US" altLang="ja-JP" i="1">
                          <a:latin typeface="Cambria Math" panose="02040503050406030204" pitchFamily="18" charset="0"/>
                        </a:rPr>
                        <m:t>𝑝</m:t>
                      </m:r>
                      <m:r>
                        <a:rPr lang="en-US" altLang="ja-JP" i="1">
                          <a:latin typeface="Cambria Math" panose="02040503050406030204" pitchFamily="18" charset="0"/>
                        </a:rPr>
                        <m:t>=.001,</m:t>
                      </m:r>
                      <m:r>
                        <a:rPr lang="en-US" altLang="ja-JP" i="1">
                          <a:latin typeface="Cambria Math" panose="02040503050406030204" pitchFamily="18" charset="0"/>
                        </a:rPr>
                        <m:t>𝑑</m:t>
                      </m:r>
                      <m:r>
                        <a:rPr lang="en-US" altLang="ja-JP" i="1">
                          <a:latin typeface="Cambria Math" panose="02040503050406030204" pitchFamily="18" charset="0"/>
                        </a:rPr>
                        <m:t>=0.434</m:t>
                      </m:r>
                    </m:oMath>
                  </m:oMathPara>
                </a14:m>
                <a:endParaRPr lang="ja-JP" altLang="en-US"/>
              </a:p>
            </p:txBody>
          </p:sp>
        </mc:Choice>
        <mc:Fallback>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694" t="-2941"/>
                </a:stretch>
              </a:blipFill>
            </p:spPr>
            <p:txBody>
              <a:bodyPr/>
              <a:lstStyle/>
              <a:p>
                <a:r>
                  <a:rPr lang="ja-JP" altLang="en-US">
                    <a:noFill/>
                  </a:rPr>
                  <a:t> </a:t>
                </a:r>
              </a:p>
            </p:txBody>
          </p:sp>
        </mc:Fallback>
      </mc:AlternateContent>
      <p:sp>
        <p:nvSpPr>
          <p:cNvPr id="29" name="テキスト プレースホルダー 27">
            <a:extLst>
              <a:ext uri="{FF2B5EF4-FFF2-40B4-BE49-F238E27FC236}">
                <a16:creationId xmlns:a16="http://schemas.microsoft.com/office/drawing/2014/main" id="{E66EB769-F856-C84D-AEA1-3746E0B97606}"/>
              </a:ext>
            </a:extLst>
          </p:cNvPr>
          <p:cNvSpPr txBox="1">
            <a:spLocks/>
          </p:cNvSpPr>
          <p:nvPr/>
        </p:nvSpPr>
        <p:spPr>
          <a:xfrm>
            <a:off x="1254486" y="59319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戦略とトーンの間に交互効果</a:t>
            </a:r>
            <a:r>
              <a:rPr lang="ja-JP" altLang="en-US">
                <a:solidFill>
                  <a:schemeClr val="accent2"/>
                </a:solidFill>
              </a:rPr>
              <a:t>あり</a:t>
            </a:r>
            <a:endParaRPr lang="en-US" altLang="ja-JP" dirty="0">
              <a:solidFill>
                <a:schemeClr val="accent2"/>
              </a:solidFill>
            </a:endParaRPr>
          </a:p>
        </p:txBody>
      </p:sp>
      <p:grpSp>
        <p:nvGrpSpPr>
          <p:cNvPr id="30" name="グループ化 29">
            <a:extLst>
              <a:ext uri="{FF2B5EF4-FFF2-40B4-BE49-F238E27FC236}">
                <a16:creationId xmlns:a16="http://schemas.microsoft.com/office/drawing/2014/main" id="{83A1F438-F388-DD4C-83C0-C1CC399AD3A3}"/>
              </a:ext>
            </a:extLst>
          </p:cNvPr>
          <p:cNvGrpSpPr/>
          <p:nvPr/>
        </p:nvGrpSpPr>
        <p:grpSpPr>
          <a:xfrm>
            <a:off x="617232" y="6004577"/>
            <a:ext cx="539448" cy="487368"/>
            <a:chOff x="400056" y="1061560"/>
            <a:chExt cx="269724" cy="243684"/>
          </a:xfrm>
        </p:grpSpPr>
        <p:sp>
          <p:nvSpPr>
            <p:cNvPr id="34" name="三角形 33">
              <a:extLst>
                <a:ext uri="{FF2B5EF4-FFF2-40B4-BE49-F238E27FC236}">
                  <a16:creationId xmlns:a16="http://schemas.microsoft.com/office/drawing/2014/main" id="{7DC5555D-08F0-2D47-AF26-A6ADE09408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三角形 34">
              <a:extLst>
                <a:ext uri="{FF2B5EF4-FFF2-40B4-BE49-F238E27FC236}">
                  <a16:creationId xmlns:a16="http://schemas.microsoft.com/office/drawing/2014/main" id="{A3449075-7461-5644-BC64-D6FE978B862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24111792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2018/6/9</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6.619</m:t>
                      </m:r>
                      <m:r>
                        <a:rPr lang="en-US" altLang="ja-JP" i="1">
                          <a:latin typeface="Cambria Math" panose="02040503050406030204" pitchFamily="18" charset="0"/>
                        </a:rPr>
                        <m:t>, </m:t>
                      </m:r>
                      <m:r>
                        <a:rPr lang="en-US" altLang="ja-JP" i="1" smtClean="0">
                          <a:latin typeface="Cambria Math" panose="02040503050406030204" pitchFamily="18" charset="0"/>
                        </a:rPr>
                        <m:t>𝑝</m:t>
                      </m:r>
                      <m:r>
                        <a:rPr lang="en-US" altLang="ja-JP" b="0" i="1" smtClean="0">
                          <a:latin typeface="Cambria Math" panose="02040503050406030204" pitchFamily="18" charset="0"/>
                        </a:rPr>
                        <m:t>=</m:t>
                      </m:r>
                      <m:r>
                        <a:rPr lang="en-US" altLang="ja-JP" i="1">
                          <a:latin typeface="Cambria Math" panose="02040503050406030204" pitchFamily="18" charset="0"/>
                        </a:rPr>
                        <m:t>.0</m:t>
                      </m:r>
                      <m:r>
                        <a:rPr lang="en-US" altLang="ja-JP" b="0" i="1" smtClean="0">
                          <a:latin typeface="Cambria Math" panose="02040503050406030204" pitchFamily="18" charset="0"/>
                        </a:rPr>
                        <m:t>14</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=0.358</m:t>
                      </m:r>
                    </m:oMath>
                  </m:oMathPara>
                </a14:m>
                <a:endParaRPr lang="ja-JP" altLang="en-US"/>
              </a:p>
            </p:txBody>
          </p:sp>
        </mc:Choice>
        <mc:Fallback>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3"/>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i="1">
                          <a:latin typeface="Cambria Math" panose="02040503050406030204" pitchFamily="18" charset="0"/>
                        </a:rPr>
                        <m:t>15.361</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&lt;.001</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=0.517</m:t>
                      </m:r>
                    </m:oMath>
                  </m:oMathPara>
                </a14:m>
                <a:endParaRPr lang="ja-JP" altLang="en-US"/>
              </a:p>
            </p:txBody>
          </p:sp>
        </mc:Choice>
        <mc:Fallback>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694" t="-2941"/>
                </a:stretch>
              </a:blipFill>
            </p:spPr>
            <p:txBody>
              <a:bodyPr/>
              <a:lstStyle/>
              <a:p>
                <a:r>
                  <a:rPr lang="ja-JP" altLang="en-US">
                    <a:noFill/>
                  </a:rPr>
                  <a:t> </a:t>
                </a:r>
              </a:p>
            </p:txBody>
          </p:sp>
        </mc:Fallback>
      </mc:AlternateContent>
      <p:sp>
        <p:nvSpPr>
          <p:cNvPr id="26" name="テキスト プレースホルダー 27">
            <a:extLst>
              <a:ext uri="{FF2B5EF4-FFF2-40B4-BE49-F238E27FC236}">
                <a16:creationId xmlns:a16="http://schemas.microsoft.com/office/drawing/2014/main" id="{BEE71F9F-CA98-DC4A-929E-D0DB009D712A}"/>
              </a:ext>
            </a:extLst>
          </p:cNvPr>
          <p:cNvSpPr txBox="1">
            <a:spLocks/>
          </p:cNvSpPr>
          <p:nvPr/>
        </p:nvSpPr>
        <p:spPr>
          <a:xfrm>
            <a:off x="1254486" y="59319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戦略とトーンに交互効果</a:t>
            </a:r>
            <a:r>
              <a:rPr lang="ja-JP" altLang="en-US">
                <a:solidFill>
                  <a:schemeClr val="accent2"/>
                </a:solidFill>
              </a:rPr>
              <a:t>あり</a:t>
            </a:r>
            <a:endParaRPr lang="en-US" altLang="ja-JP" dirty="0">
              <a:solidFill>
                <a:schemeClr val="accent2"/>
              </a:solidFill>
            </a:endParaRPr>
          </a:p>
        </p:txBody>
      </p:sp>
      <p:grpSp>
        <p:nvGrpSpPr>
          <p:cNvPr id="28" name="グループ化 27">
            <a:extLst>
              <a:ext uri="{FF2B5EF4-FFF2-40B4-BE49-F238E27FC236}">
                <a16:creationId xmlns:a16="http://schemas.microsoft.com/office/drawing/2014/main" id="{B2E76D69-A78F-C041-8AE7-868B2B30778A}"/>
              </a:ext>
            </a:extLst>
          </p:cNvPr>
          <p:cNvGrpSpPr/>
          <p:nvPr/>
        </p:nvGrpSpPr>
        <p:grpSpPr>
          <a:xfrm>
            <a:off x="617232" y="6004577"/>
            <a:ext cx="539448" cy="487368"/>
            <a:chOff x="400056" y="1061560"/>
            <a:chExt cx="269724" cy="243684"/>
          </a:xfrm>
        </p:grpSpPr>
        <p:sp>
          <p:nvSpPr>
            <p:cNvPr id="29" name="三角形 28">
              <a:extLst>
                <a:ext uri="{FF2B5EF4-FFF2-40B4-BE49-F238E27FC236}">
                  <a16:creationId xmlns:a16="http://schemas.microsoft.com/office/drawing/2014/main" id="{1CD53D64-0349-E54B-B043-AFD54C50A49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70F4E235-9D83-A243-9964-DD3F41FBCAC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11847373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被験者が送信した感情の数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5.760,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=0.332</m:t>
                      </m:r>
                    </m:oMath>
                  </m:oMathPara>
                </a14:m>
                <a:endParaRPr lang="ja-JP" altLang="en-US"/>
              </a:p>
            </p:txBody>
          </p:sp>
        </mc:Choice>
        <mc:Fallback>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3"/>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6.026,</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=.015,</m:t>
                      </m:r>
                      <m:r>
                        <a:rPr lang="en-US" altLang="ja-JP" i="1">
                          <a:latin typeface="Cambria Math" panose="02040503050406030204" pitchFamily="18" charset="0"/>
                        </a:rPr>
                        <m:t>𝑑</m:t>
                      </m:r>
                      <m:r>
                        <a:rPr lang="en-US" altLang="ja-JP" i="1">
                          <a:latin typeface="Cambria Math" panose="02040503050406030204" pitchFamily="18" charset="0"/>
                        </a:rPr>
                        <m:t>=−0.342</m:t>
                      </m:r>
                    </m:oMath>
                  </m:oMathPara>
                </a14:m>
                <a:endParaRPr lang="ja-JP" altLang="en-US"/>
              </a:p>
            </p:txBody>
          </p:sp>
        </mc:Choice>
        <mc:Fallback>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694" t="-294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2020458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2018/6/9</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な行動による影響</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なエージェントは選好を送ることを要求</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角丸四角形 28">
            <a:extLst>
              <a:ext uri="{FF2B5EF4-FFF2-40B4-BE49-F238E27FC236}">
                <a16:creationId xmlns:a16="http://schemas.microsoft.com/office/drawing/2014/main" id="{51D004F6-42D5-4F43-B8C9-38CE89AEC833}"/>
              </a:ext>
            </a:extLst>
          </p:cNvPr>
          <p:cNvSpPr/>
          <p:nvPr/>
        </p:nvSpPr>
        <p:spPr>
          <a:xfrm>
            <a:off x="1404000" y="4989090"/>
            <a:ext cx="15480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選好を明らかにするための戦略が相手の行動に影響を及ぼしている</a:t>
            </a:r>
            <a:r>
              <a:rPr lang="en-US" altLang="ja-JP" dirty="0">
                <a:solidFill>
                  <a:schemeClr val="bg2"/>
                </a:solidFill>
              </a:rPr>
              <a:t>(Q1)</a:t>
            </a:r>
            <a:endParaRPr lang="ja-JP" altLang="en-US">
              <a:solidFill>
                <a:schemeClr val="bg2"/>
              </a:solidFill>
            </a:endParaRPr>
          </a:p>
        </p:txBody>
      </p:sp>
      <p:sp>
        <p:nvSpPr>
          <p:cNvPr id="30" name="三角形 29">
            <a:extLst>
              <a:ext uri="{FF2B5EF4-FFF2-40B4-BE49-F238E27FC236}">
                <a16:creationId xmlns:a16="http://schemas.microsoft.com/office/drawing/2014/main" id="{0F2C5C4E-FBE3-1E46-845D-550915307A85}"/>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FEC23561-D131-034E-8663-410597765773}"/>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DD6FB9E7-B96F-AB4C-867F-CE9CD3FFE569}"/>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エージェントへ送られるメッセージ・感情の数も増加</a:t>
            </a:r>
          </a:p>
        </p:txBody>
      </p:sp>
    </p:spTree>
    <p:extLst>
      <p:ext uri="{BB962C8B-B14F-4D97-AF65-F5344CB8AC3E}">
        <p14:creationId xmlns:p14="http://schemas.microsoft.com/office/powerpoint/2010/main" val="18212656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2018/6/9</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エージェントと被験者のポイント差</a:t>
            </a:r>
            <a:endParaRPr lang="en-US" altLang="ja-JP" dirty="0"/>
          </a:p>
        </p:txBody>
      </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2"/>
          <a:stretch>
            <a:fillRect/>
          </a:stretch>
        </p:blipFill>
        <p:spPr>
          <a:xfrm>
            <a:off x="4290415" y="7746448"/>
            <a:ext cx="9707170" cy="5598000"/>
          </a:xfrm>
          <a:prstGeom prst="rect">
            <a:avLst/>
          </a:prstGeom>
        </p:spPr>
      </p:pic>
      <p:sp>
        <p:nvSpPr>
          <p:cNvPr id="39" name="テキスト プレースホルダー 27">
            <a:extLst>
              <a:ext uri="{FF2B5EF4-FFF2-40B4-BE49-F238E27FC236}">
                <a16:creationId xmlns:a16="http://schemas.microsoft.com/office/drawing/2014/main" id="{8670582A-C108-FD40-9F79-F533B8256ABF}"/>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0" name="グループ化 39">
            <a:extLst>
              <a:ext uri="{FF2B5EF4-FFF2-40B4-BE49-F238E27FC236}">
                <a16:creationId xmlns:a16="http://schemas.microsoft.com/office/drawing/2014/main" id="{8AF82E61-B55E-EE43-918C-D094939463FA}"/>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53AA2FE6-F2A6-9E40-A8DD-769354E4176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8978B820-CBDB-D148-BBB2-CD5310B9CC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7E2885D0-49F9-EC44-8F64-1D245D7E964A}"/>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44" name="テキスト プレースホルダー 29">
                <a:extLst>
                  <a:ext uri="{FF2B5EF4-FFF2-40B4-BE49-F238E27FC236}">
                    <a16:creationId xmlns:a16="http://schemas.microsoft.com/office/drawing/2014/main" id="{1D18615C-4EF2-0249-800D-E23008E1B22E}"/>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5.780,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=0.416</m:t>
                      </m:r>
                    </m:oMath>
                  </m:oMathPara>
                </a14:m>
                <a:endParaRPr lang="ja-JP" altLang="en-US"/>
              </a:p>
            </p:txBody>
          </p:sp>
        </mc:Choice>
        <mc:Fallback>
          <p:sp>
            <p:nvSpPr>
              <p:cNvPr id="44" name="テキスト プレースホルダー 29">
                <a:extLst>
                  <a:ext uri="{FF2B5EF4-FFF2-40B4-BE49-F238E27FC236}">
                    <a16:creationId xmlns:a16="http://schemas.microsoft.com/office/drawing/2014/main" id="{1D18615C-4EF2-0249-800D-E23008E1B22E}"/>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694" t="-2941"/>
                </a:stretch>
              </a:blipFill>
            </p:spPr>
            <p:txBody>
              <a:bodyPr/>
              <a:lstStyle/>
              <a:p>
                <a:r>
                  <a:rPr lang="ja-JP" altLang="en-US">
                    <a:noFill/>
                  </a:rPr>
                  <a:t> </a:t>
                </a:r>
              </a:p>
            </p:txBody>
          </p:sp>
        </mc:Fallback>
      </mc:AlternateContent>
      <p:sp>
        <p:nvSpPr>
          <p:cNvPr id="45" name="角丸四角形 44">
            <a:extLst>
              <a:ext uri="{FF2B5EF4-FFF2-40B4-BE49-F238E27FC236}">
                <a16:creationId xmlns:a16="http://schemas.microsoft.com/office/drawing/2014/main" id="{0F7383B7-3E81-1F49-B0F0-33036BF46069}"/>
              </a:ext>
            </a:extLst>
          </p:cNvPr>
          <p:cNvSpPr/>
          <p:nvPr/>
        </p:nvSpPr>
        <p:spPr>
          <a:xfrm>
            <a:off x="3328824" y="4989090"/>
            <a:ext cx="11630353"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積極的な行動によって被験者は譲歩している</a:t>
            </a:r>
            <a:r>
              <a:rPr lang="en-US" altLang="ja-JP" dirty="0">
                <a:solidFill>
                  <a:schemeClr val="bg2"/>
                </a:solidFill>
              </a:rPr>
              <a:t>(Q3)</a:t>
            </a:r>
            <a:endParaRPr lang="ja-JP" altLang="en-US">
              <a:solidFill>
                <a:schemeClr val="bg2"/>
              </a:solidFill>
            </a:endParaRPr>
          </a:p>
        </p:txBody>
      </p:sp>
      <p:sp>
        <p:nvSpPr>
          <p:cNvPr id="46" name="三角形 45">
            <a:extLst>
              <a:ext uri="{FF2B5EF4-FFF2-40B4-BE49-F238E27FC236}">
                <a16:creationId xmlns:a16="http://schemas.microsoft.com/office/drawing/2014/main" id="{CD46B539-7742-424B-A8EF-055A14D0EB0F}"/>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20080218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26</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3</a:t>
            </a:r>
            <a:r>
              <a:rPr lang="ja-JP" altLang="en-US" dirty="0"/>
              <a:t>群以上の群で平均値が相違しているか分析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45915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値を求める　</a:t>
            </a:r>
            <a:r>
              <a:rPr lang="en-US" altLang="ja-JP" dirty="0"/>
              <a:t>F</a:t>
            </a:r>
            <a:r>
              <a:rPr lang="ja-JP" altLang="en-US" dirty="0"/>
              <a:t>値</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dirty="0"/>
              <a:t>分散分析</a:t>
            </a:r>
            <a:r>
              <a:rPr lang="en-US" altLang="ja-JP" dirty="0"/>
              <a:t>)</a:t>
            </a:r>
            <a:endParaRPr lang="ja-JP" altLang="en-US" dirty="0"/>
          </a:p>
        </p:txBody>
      </p:sp>
      <p:grpSp>
        <p:nvGrpSpPr>
          <p:cNvPr id="22" name="グループ化 21">
            <a:extLst>
              <a:ext uri="{FF2B5EF4-FFF2-40B4-BE49-F238E27FC236}">
                <a16:creationId xmlns:a16="http://schemas.microsoft.com/office/drawing/2014/main" id="{B48A9A5D-80B9-4AB8-BE4A-03BB6E8CF4B8}"/>
              </a:ext>
            </a:extLst>
          </p:cNvPr>
          <p:cNvGrpSpPr/>
          <p:nvPr/>
        </p:nvGrpSpPr>
        <p:grpSpPr>
          <a:xfrm>
            <a:off x="130150" y="7994759"/>
            <a:ext cx="17952018" cy="5432284"/>
            <a:chOff x="130150" y="6442413"/>
            <a:chExt cx="17952018" cy="5432284"/>
          </a:xfrm>
        </p:grpSpPr>
        <p:pic>
          <p:nvPicPr>
            <p:cNvPr id="18" name="図 17">
              <a:extLst>
                <a:ext uri="{FF2B5EF4-FFF2-40B4-BE49-F238E27FC236}">
                  <a16:creationId xmlns:a16="http://schemas.microsoft.com/office/drawing/2014/main" id="{6E7367BC-D546-400C-AC2E-4BB69F750EB3}"/>
                </a:ext>
              </a:extLst>
            </p:cNvPr>
            <p:cNvPicPr>
              <a:picLocks noChangeAspect="1"/>
            </p:cNvPicPr>
            <p:nvPr/>
          </p:nvPicPr>
          <p:blipFill>
            <a:blip r:embed="rId3"/>
            <a:stretch>
              <a:fillRect/>
            </a:stretch>
          </p:blipFill>
          <p:spPr>
            <a:xfrm>
              <a:off x="130150" y="6442413"/>
              <a:ext cx="8914457" cy="4758091"/>
            </a:xfrm>
            <a:prstGeom prst="rect">
              <a:avLst/>
            </a:prstGeom>
          </p:spPr>
        </p:pic>
        <p:pic>
          <p:nvPicPr>
            <p:cNvPr id="21" name="図 20">
              <a:extLst>
                <a:ext uri="{FF2B5EF4-FFF2-40B4-BE49-F238E27FC236}">
                  <a16:creationId xmlns:a16="http://schemas.microsoft.com/office/drawing/2014/main" id="{CADF3FBB-D398-499C-A4E0-81D56D0959FF}"/>
                </a:ext>
              </a:extLst>
            </p:cNvPr>
            <p:cNvPicPr>
              <a:picLocks noChangeAspect="1"/>
            </p:cNvPicPr>
            <p:nvPr/>
          </p:nvPicPr>
          <p:blipFill>
            <a:blip r:embed="rId4"/>
            <a:stretch>
              <a:fillRect/>
            </a:stretch>
          </p:blipFill>
          <p:spPr>
            <a:xfrm>
              <a:off x="9370984" y="6442413"/>
              <a:ext cx="8711184" cy="4725818"/>
            </a:xfrm>
            <a:prstGeom prst="rect">
              <a:avLst/>
            </a:prstGeom>
          </p:spPr>
        </p:pic>
        <p:sp>
          <p:nvSpPr>
            <p:cNvPr id="66" name="テキスト ボックス 65">
              <a:extLst>
                <a:ext uri="{FF2B5EF4-FFF2-40B4-BE49-F238E27FC236}">
                  <a16:creationId xmlns:a16="http://schemas.microsoft.com/office/drawing/2014/main" id="{96E25A4F-E04B-4122-BC01-3B1A14895F74}"/>
                </a:ext>
              </a:extLst>
            </p:cNvPr>
            <p:cNvSpPr txBox="1"/>
            <p:nvPr/>
          </p:nvSpPr>
          <p:spPr>
            <a:xfrm>
              <a:off x="12230100" y="11166811"/>
              <a:ext cx="3438014" cy="707886"/>
            </a:xfrm>
            <a:prstGeom prst="rect">
              <a:avLst/>
            </a:prstGeom>
            <a:noFill/>
          </p:spPr>
          <p:txBody>
            <a:bodyPr wrap="square" rtlCol="0">
              <a:spAutoFit/>
            </a:bodyPr>
            <a:lstStyle/>
            <a:p>
              <a:pPr algn="ctr"/>
              <a:r>
                <a:rPr kumimoji="1" lang="ja-JP" altLang="en-US" sz="4000" dirty="0"/>
                <a:t>有意差あり</a:t>
              </a:r>
            </a:p>
          </p:txBody>
        </p:sp>
        <p:sp>
          <p:nvSpPr>
            <p:cNvPr id="67" name="テキスト ボックス 66">
              <a:extLst>
                <a:ext uri="{FF2B5EF4-FFF2-40B4-BE49-F238E27FC236}">
                  <a16:creationId xmlns:a16="http://schemas.microsoft.com/office/drawing/2014/main" id="{C4F5FCFA-8086-469C-BE65-AD54BC99FA43}"/>
                </a:ext>
              </a:extLst>
            </p:cNvPr>
            <p:cNvSpPr txBox="1"/>
            <p:nvPr/>
          </p:nvSpPr>
          <p:spPr>
            <a:xfrm>
              <a:off x="2868371" y="11166811"/>
              <a:ext cx="3438014" cy="707886"/>
            </a:xfrm>
            <a:prstGeom prst="rect">
              <a:avLst/>
            </a:prstGeom>
            <a:noFill/>
          </p:spPr>
          <p:txBody>
            <a:bodyPr wrap="square" rtlCol="0">
              <a:spAutoFit/>
            </a:bodyPr>
            <a:lstStyle/>
            <a:p>
              <a:pPr algn="ctr"/>
              <a:r>
                <a:rPr kumimoji="1" lang="ja-JP" altLang="en-US" sz="4000" dirty="0"/>
                <a:t>有意差</a:t>
              </a:r>
              <a:r>
                <a:rPr lang="ja-JP" altLang="en-US" sz="4000" dirty="0"/>
                <a:t>なし</a:t>
              </a:r>
              <a:endParaRPr kumimoji="1" lang="ja-JP" altLang="en-US" sz="4000" dirty="0"/>
            </a:p>
          </p:txBody>
        </p:sp>
      </p:grpSp>
      <p:grpSp>
        <p:nvGrpSpPr>
          <p:cNvPr id="68" name="グループ化 67">
            <a:extLst>
              <a:ext uri="{FF2B5EF4-FFF2-40B4-BE49-F238E27FC236}">
                <a16:creationId xmlns:a16="http://schemas.microsoft.com/office/drawing/2014/main" id="{341CDCDE-C3BB-4AA3-9F25-255A3A10C35A}"/>
              </a:ext>
            </a:extLst>
          </p:cNvPr>
          <p:cNvGrpSpPr/>
          <p:nvPr/>
        </p:nvGrpSpPr>
        <p:grpSpPr>
          <a:xfrm>
            <a:off x="617233" y="5287847"/>
            <a:ext cx="539448" cy="487368"/>
            <a:chOff x="400056" y="1061560"/>
            <a:chExt cx="269724" cy="243684"/>
          </a:xfrm>
        </p:grpSpPr>
        <p:sp>
          <p:nvSpPr>
            <p:cNvPr id="69" name="三角形 47">
              <a:extLst>
                <a:ext uri="{FF2B5EF4-FFF2-40B4-BE49-F238E27FC236}">
                  <a16:creationId xmlns:a16="http://schemas.microsoft.com/office/drawing/2014/main" id="{B6B36AF4-741A-43F6-A912-80BA50841B9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三角形 48">
              <a:extLst>
                <a:ext uri="{FF2B5EF4-FFF2-40B4-BE49-F238E27FC236}">
                  <a16:creationId xmlns:a16="http://schemas.microsoft.com/office/drawing/2014/main" id="{6EEC547C-8486-4E56-BC07-30DA12F3C08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1" name="テキスト プレースホルダー 27">
            <a:extLst>
              <a:ext uri="{FF2B5EF4-FFF2-40B4-BE49-F238E27FC236}">
                <a16:creationId xmlns:a16="http://schemas.microsoft.com/office/drawing/2014/main" id="{E0119F4D-9B2E-4C65-81A6-FD41672E59DE}"/>
              </a:ext>
            </a:extLst>
          </p:cNvPr>
          <p:cNvSpPr txBox="1">
            <a:spLocks/>
          </p:cNvSpPr>
          <p:nvPr/>
        </p:nvSpPr>
        <p:spPr>
          <a:xfrm>
            <a:off x="1254486" y="5215222"/>
            <a:ext cx="17875725"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どの群との間に有意差があるか</a:t>
            </a:r>
            <a:r>
              <a:rPr lang="ja-JP" altLang="en-US" dirty="0">
                <a:solidFill>
                  <a:schemeClr val="tx1"/>
                </a:solidFill>
              </a:rPr>
              <a:t>はわからない</a:t>
            </a:r>
          </a:p>
        </p:txBody>
      </p: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144D27A4-69EF-45D0-91E4-0A4EE2D3B4F0}"/>
                  </a:ext>
                </a:extLst>
              </p:cNvPr>
              <p:cNvSpPr txBox="1"/>
              <p:nvPr/>
            </p:nvSpPr>
            <p:spPr>
              <a:xfrm>
                <a:off x="5999635" y="3106945"/>
                <a:ext cx="3371349" cy="124476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lang="ja-JP" altLang="en-US" i="1">
                              <a:latin typeface="Cambria Math" panose="02040503050406030204" pitchFamily="18" charset="0"/>
                            </a:rPr>
                            <m:t>要因変動</m:t>
                          </m:r>
                          <m:r>
                            <a:rPr lang="ja-JP" altLang="en-US" i="1" smtClean="0">
                              <a:latin typeface="Cambria Math" panose="02040503050406030204" pitchFamily="18" charset="0"/>
                            </a:rPr>
                            <m:t>の分散</m:t>
                          </m:r>
                        </m:num>
                        <m:den>
                          <m:r>
                            <a:rPr lang="ja-JP" altLang="en-US" i="1">
                              <a:latin typeface="Cambria Math" panose="02040503050406030204" pitchFamily="18" charset="0"/>
                            </a:rPr>
                            <m:t>誤差変動</m:t>
                          </m:r>
                          <m:r>
                            <a:rPr lang="ja-JP" altLang="en-US" i="1" smtClean="0">
                              <a:latin typeface="Cambria Math" panose="02040503050406030204" pitchFamily="18" charset="0"/>
                            </a:rPr>
                            <m:t>の分散</m:t>
                          </m:r>
                        </m:den>
                      </m:f>
                    </m:oMath>
                  </m:oMathPara>
                </a14:m>
                <a:endParaRPr kumimoji="1" lang="ja-JP" altLang="en-US" dirty="0"/>
              </a:p>
            </p:txBody>
          </p:sp>
        </mc:Choice>
        <mc:Fallback xmlns="">
          <p:sp>
            <p:nvSpPr>
              <p:cNvPr id="44" name="テキスト ボックス 43">
                <a:extLst>
                  <a:ext uri="{FF2B5EF4-FFF2-40B4-BE49-F238E27FC236}">
                    <a16:creationId xmlns:a16="http://schemas.microsoft.com/office/drawing/2014/main" id="{144D27A4-69EF-45D0-91E4-0A4EE2D3B4F0}"/>
                  </a:ext>
                </a:extLst>
              </p:cNvPr>
              <p:cNvSpPr txBox="1">
                <a:spLocks noRot="1" noChangeAspect="1" noMove="1" noResize="1" noEditPoints="1" noAdjustHandles="1" noChangeArrowheads="1" noChangeShapeType="1" noTextEdit="1"/>
              </p:cNvSpPr>
              <p:nvPr/>
            </p:nvSpPr>
            <p:spPr>
              <a:xfrm>
                <a:off x="5999635" y="3106945"/>
                <a:ext cx="3371349" cy="1244764"/>
              </a:xfrm>
              <a:prstGeom prst="rect">
                <a:avLst/>
              </a:prstGeom>
              <a:blipFill>
                <a:blip r:embed="rId5"/>
                <a:stretch>
                  <a:fillRect l="-5063" r="-3074"/>
                </a:stretch>
              </a:blipFill>
            </p:spPr>
            <p:txBody>
              <a:bodyPr/>
              <a:lstStyle/>
              <a:p>
                <a:r>
                  <a:rPr lang="ja-JP" altLang="en-US">
                    <a:noFill/>
                  </a:rPr>
                  <a:t> </a:t>
                </a:r>
              </a:p>
            </p:txBody>
          </p:sp>
        </mc:Fallback>
      </mc:AlternateContent>
      <p:sp>
        <p:nvSpPr>
          <p:cNvPr id="45" name="三角形 31">
            <a:extLst>
              <a:ext uri="{FF2B5EF4-FFF2-40B4-BE49-F238E27FC236}">
                <a16:creationId xmlns:a16="http://schemas.microsoft.com/office/drawing/2014/main" id="{E9B349C1-A17E-42A7-9B1C-3F21EACA5EC7}"/>
              </a:ext>
            </a:extLst>
          </p:cNvPr>
          <p:cNvSpPr/>
          <p:nvPr/>
        </p:nvSpPr>
        <p:spPr>
          <a:xfrm rot="5400000">
            <a:off x="1076238" y="458211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テキスト プレースホルダー 29">
            <a:extLst>
              <a:ext uri="{FF2B5EF4-FFF2-40B4-BE49-F238E27FC236}">
                <a16:creationId xmlns:a16="http://schemas.microsoft.com/office/drawing/2014/main" id="{AC10C7C1-EB80-41DE-A139-203FA477C1F1}"/>
              </a:ext>
            </a:extLst>
          </p:cNvPr>
          <p:cNvSpPr txBox="1">
            <a:spLocks/>
          </p:cNvSpPr>
          <p:nvPr/>
        </p:nvSpPr>
        <p:spPr>
          <a:xfrm>
            <a:off x="1568600" y="446684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a:t>
            </a:r>
            <a:r>
              <a:rPr lang="en-US" altLang="ja-JP" dirty="0"/>
              <a:t>p</a:t>
            </a:r>
            <a:r>
              <a:rPr lang="ja-JP" altLang="en-US" dirty="0"/>
              <a:t>値に変換して有意差があるか判断</a:t>
            </a:r>
          </a:p>
        </p:txBody>
      </p:sp>
      <p:grpSp>
        <p:nvGrpSpPr>
          <p:cNvPr id="49" name="グループ化 48">
            <a:extLst>
              <a:ext uri="{FF2B5EF4-FFF2-40B4-BE49-F238E27FC236}">
                <a16:creationId xmlns:a16="http://schemas.microsoft.com/office/drawing/2014/main" id="{AF160084-E1D3-499A-B4E5-6C915D63AC3B}"/>
              </a:ext>
            </a:extLst>
          </p:cNvPr>
          <p:cNvGrpSpPr/>
          <p:nvPr/>
        </p:nvGrpSpPr>
        <p:grpSpPr>
          <a:xfrm>
            <a:off x="289330" y="6120979"/>
            <a:ext cx="2160000" cy="934436"/>
            <a:chOff x="144665" y="525617"/>
            <a:chExt cx="1080000" cy="467218"/>
          </a:xfrm>
        </p:grpSpPr>
        <p:sp>
          <p:nvSpPr>
            <p:cNvPr id="50" name="正方形/長方形 49">
              <a:extLst>
                <a:ext uri="{FF2B5EF4-FFF2-40B4-BE49-F238E27FC236}">
                  <a16:creationId xmlns:a16="http://schemas.microsoft.com/office/drawing/2014/main" id="{4A4EAF1F-D20C-43A4-93B3-2416980C964A}"/>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1" name="正方形/長方形 50">
              <a:extLst>
                <a:ext uri="{FF2B5EF4-FFF2-40B4-BE49-F238E27FC236}">
                  <a16:creationId xmlns:a16="http://schemas.microsoft.com/office/drawing/2014/main" id="{B72FB05C-C9FC-4F95-9512-B6755ACB86C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2" name="グループ化 51">
            <a:extLst>
              <a:ext uri="{FF2B5EF4-FFF2-40B4-BE49-F238E27FC236}">
                <a16:creationId xmlns:a16="http://schemas.microsoft.com/office/drawing/2014/main" id="{4CC2BE6F-8E50-4133-B296-A063187AF148}"/>
              </a:ext>
            </a:extLst>
          </p:cNvPr>
          <p:cNvGrpSpPr/>
          <p:nvPr/>
        </p:nvGrpSpPr>
        <p:grpSpPr>
          <a:xfrm>
            <a:off x="617232" y="7265039"/>
            <a:ext cx="539448" cy="487368"/>
            <a:chOff x="400056" y="1061560"/>
            <a:chExt cx="269724" cy="243684"/>
          </a:xfrm>
        </p:grpSpPr>
        <p:sp>
          <p:nvSpPr>
            <p:cNvPr id="53" name="三角形 10">
              <a:extLst>
                <a:ext uri="{FF2B5EF4-FFF2-40B4-BE49-F238E27FC236}">
                  <a16:creationId xmlns:a16="http://schemas.microsoft.com/office/drawing/2014/main" id="{C92062D5-2A8A-4869-BCFB-A893D1B5053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11">
              <a:extLst>
                <a:ext uri="{FF2B5EF4-FFF2-40B4-BE49-F238E27FC236}">
                  <a16:creationId xmlns:a16="http://schemas.microsoft.com/office/drawing/2014/main" id="{12CBDCF7-0938-4236-8CAA-E7012AF4FDD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テキスト プレースホルダー 27">
            <a:extLst>
              <a:ext uri="{FF2B5EF4-FFF2-40B4-BE49-F238E27FC236}">
                <a16:creationId xmlns:a16="http://schemas.microsoft.com/office/drawing/2014/main" id="{EAFF1B7D-3752-466C-981C-5192E50B4645}"/>
              </a:ext>
            </a:extLst>
          </p:cNvPr>
          <p:cNvSpPr txBox="1">
            <a:spLocks/>
          </p:cNvSpPr>
          <p:nvPr/>
        </p:nvSpPr>
        <p:spPr>
          <a:xfrm>
            <a:off x="1254486" y="7192414"/>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3</a:t>
            </a:r>
            <a:r>
              <a:rPr lang="ja-JP" altLang="en-US" dirty="0"/>
              <a:t>群以上の群でどの群との間に有意差があるか分析</a:t>
            </a:r>
            <a:endParaRPr lang="en-US" altLang="ja-JP" dirty="0"/>
          </a:p>
        </p:txBody>
      </p:sp>
      <p:sp>
        <p:nvSpPr>
          <p:cNvPr id="56" name="テキスト プレースホルダー 30">
            <a:extLst>
              <a:ext uri="{FF2B5EF4-FFF2-40B4-BE49-F238E27FC236}">
                <a16:creationId xmlns:a16="http://schemas.microsoft.com/office/drawing/2014/main" id="{2D0D14FF-4AD0-4987-AE97-B12F2DF454A3}"/>
              </a:ext>
            </a:extLst>
          </p:cNvPr>
          <p:cNvSpPr txBox="1">
            <a:spLocks/>
          </p:cNvSpPr>
          <p:nvPr/>
        </p:nvSpPr>
        <p:spPr>
          <a:xfrm>
            <a:off x="571049" y="6291552"/>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多重比較</a:t>
            </a:r>
            <a:r>
              <a:rPr lang="en-US" altLang="ja-JP" dirty="0"/>
              <a:t>(Tukey</a:t>
            </a:r>
            <a:r>
              <a:rPr lang="ja-JP" altLang="en-US" dirty="0"/>
              <a:t>法</a:t>
            </a:r>
            <a:r>
              <a:rPr lang="en-US" altLang="ja-JP" dirty="0"/>
              <a:t>)</a:t>
            </a:r>
            <a:endParaRPr lang="ja-JP" altLang="en-US" dirty="0"/>
          </a:p>
        </p:txBody>
      </p:sp>
    </p:spTree>
    <p:extLst>
      <p:ext uri="{BB962C8B-B14F-4D97-AF65-F5344CB8AC3E}">
        <p14:creationId xmlns:p14="http://schemas.microsoft.com/office/powerpoint/2010/main" val="12992458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2</a:t>
            </a:r>
            <a:r>
              <a:rPr lang="ja-JP" altLang="en-US" dirty="0" err="1"/>
              <a:t>つの</a:t>
            </a:r>
            <a:r>
              <a:rPr lang="ja-JP" altLang="en-US" dirty="0"/>
              <a:t>群の平均値に差があるか調べる</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対応のある</a:t>
            </a:r>
            <a:r>
              <a:rPr lang="en-US" altLang="ja-JP" dirty="0">
                <a:solidFill>
                  <a:schemeClr val="accent2"/>
                </a:solidFill>
              </a:rPr>
              <a:t>t</a:t>
            </a:r>
            <a:r>
              <a:rPr lang="ja-JP" altLang="en-US" dirty="0">
                <a:solidFill>
                  <a:schemeClr val="accent2"/>
                </a:solidFill>
              </a:rPr>
              <a:t>検定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検定</a:t>
            </a:r>
          </a:p>
        </p:txBody>
      </p:sp>
      <p:sp>
        <p:nvSpPr>
          <p:cNvPr id="56" name="三角形 31">
            <a:extLst>
              <a:ext uri="{FF2B5EF4-FFF2-40B4-BE49-F238E27FC236}">
                <a16:creationId xmlns:a16="http://schemas.microsoft.com/office/drawing/2014/main" id="{DCB5B886-D7E6-45BF-8758-B6E1FE59254C}"/>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552F4357-F2E2-4DBB-BFC1-94552ED6791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対応のない</a:t>
            </a:r>
            <a:r>
              <a:rPr lang="en-US" altLang="ja-JP" dirty="0"/>
              <a:t>t</a:t>
            </a:r>
            <a:r>
              <a:rPr lang="ja-JP" altLang="en-US" dirty="0"/>
              <a:t>検定</a:t>
            </a:r>
          </a:p>
        </p:txBody>
      </p: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E20ACCBB-636F-4414-8727-024D72940B1E}"/>
                  </a:ext>
                </a:extLst>
              </p:cNvPr>
              <p:cNvSpPr txBox="1"/>
              <p:nvPr/>
            </p:nvSpPr>
            <p:spPr>
              <a:xfrm>
                <a:off x="5727030" y="3270346"/>
                <a:ext cx="3371349" cy="205755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n-US" altLang="ja-JP" sz="4000" i="1" smtClean="0">
                              <a:latin typeface="Cambria Math" panose="02040503050406030204" pitchFamily="18" charset="0"/>
                            </a:rPr>
                          </m:ctrlPr>
                        </m:dPr>
                        <m:e>
                          <m:eqArr>
                            <m:eqArrPr>
                              <m:ctrlPr>
                                <a:rPr lang="en-US" altLang="ja-JP" sz="4000" b="0" i="1" smtClean="0">
                                  <a:latin typeface="Cambria Math" panose="02040503050406030204" pitchFamily="18" charset="0"/>
                                </a:rPr>
                              </m:ctrlPr>
                            </m:eqArrPr>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m:t>
                              </m:r>
                              <m:r>
                                <a:rPr lang="ja-JP" altLang="en-US" sz="4000" i="1" smtClean="0">
                                  <a:latin typeface="Cambria Math" panose="02040503050406030204" pitchFamily="18" charset="0"/>
                                </a:rPr>
                                <m:t>等しい</m:t>
                              </m:r>
                            </m:e>
                            <m:e/>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分散が異なる</m:t>
                              </m:r>
                            </m:e>
                          </m:eqArr>
                        </m:e>
                      </m:d>
                    </m:oMath>
                  </m:oMathPara>
                </a14:m>
                <a:endParaRPr kumimoji="1" lang="ja-JP" altLang="en-US" sz="4000" dirty="0"/>
              </a:p>
            </p:txBody>
          </p:sp>
        </mc:Choice>
        <mc:Fallback xmlns="">
          <p:sp>
            <p:nvSpPr>
              <p:cNvPr id="62" name="テキスト ボックス 61">
                <a:extLst>
                  <a:ext uri="{FF2B5EF4-FFF2-40B4-BE49-F238E27FC236}">
                    <a16:creationId xmlns:a16="http://schemas.microsoft.com/office/drawing/2014/main" id="{E20ACCBB-636F-4414-8727-024D72940B1E}"/>
                  </a:ext>
                </a:extLst>
              </p:cNvPr>
              <p:cNvSpPr txBox="1">
                <a:spLocks noRot="1" noChangeAspect="1" noMove="1" noResize="1" noEditPoints="1" noAdjustHandles="1" noChangeArrowheads="1" noChangeShapeType="1" noTextEdit="1"/>
              </p:cNvSpPr>
              <p:nvPr/>
            </p:nvSpPr>
            <p:spPr>
              <a:xfrm>
                <a:off x="5727030" y="3270346"/>
                <a:ext cx="3371349" cy="2057551"/>
              </a:xfrm>
              <a:prstGeom prst="rect">
                <a:avLst/>
              </a:prstGeom>
              <a:blipFill>
                <a:blip r:embed="rId3"/>
                <a:stretch>
                  <a:fillRect l="-4152"/>
                </a:stretch>
              </a:blipFill>
            </p:spPr>
            <p:txBody>
              <a:bodyPr/>
              <a:lstStyle/>
              <a:p>
                <a:r>
                  <a:rPr lang="ja-JP" altLang="en-US">
                    <a:noFill/>
                  </a:rPr>
                  <a:t> </a:t>
                </a:r>
              </a:p>
            </p:txBody>
          </p:sp>
        </mc:Fallback>
      </mc:AlternateContent>
      <p:grpSp>
        <p:nvGrpSpPr>
          <p:cNvPr id="17" name="グループ化 16">
            <a:extLst>
              <a:ext uri="{FF2B5EF4-FFF2-40B4-BE49-F238E27FC236}">
                <a16:creationId xmlns:a16="http://schemas.microsoft.com/office/drawing/2014/main" id="{89863FAB-D82A-422B-87E7-ADA8FCD5A6D2}"/>
              </a:ext>
            </a:extLst>
          </p:cNvPr>
          <p:cNvGrpSpPr/>
          <p:nvPr/>
        </p:nvGrpSpPr>
        <p:grpSpPr>
          <a:xfrm>
            <a:off x="10151291" y="3831750"/>
            <a:ext cx="3009266" cy="1112202"/>
            <a:chOff x="9758259" y="3831750"/>
            <a:chExt cx="3009266" cy="1112202"/>
          </a:xfrm>
        </p:grpSpPr>
        <p:sp>
          <p:nvSpPr>
            <p:cNvPr id="64" name="角丸四角形吹き出し 6">
              <a:extLst>
                <a:ext uri="{FF2B5EF4-FFF2-40B4-BE49-F238E27FC236}">
                  <a16:creationId xmlns:a16="http://schemas.microsoft.com/office/drawing/2014/main" id="{A0D614E6-25E0-439B-8324-31E747247F3F}"/>
                </a:ext>
              </a:extLst>
            </p:cNvPr>
            <p:cNvSpPr/>
            <p:nvPr/>
          </p:nvSpPr>
          <p:spPr>
            <a:xfrm>
              <a:off x="9782323" y="3831750"/>
              <a:ext cx="2985202" cy="1104181"/>
            </a:xfrm>
            <a:prstGeom prst="wedgeRoundRectCallout">
              <a:avLst>
                <a:gd name="adj1" fmla="val -79894"/>
                <a:gd name="adj2" fmla="val -4908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63" name="角丸四角形吹き出し 6">
              <a:extLst>
                <a:ext uri="{FF2B5EF4-FFF2-40B4-BE49-F238E27FC236}">
                  <a16:creationId xmlns:a16="http://schemas.microsoft.com/office/drawing/2014/main" id="{C79816CA-E853-4BCA-9E1E-9EA4D525EFBE}"/>
                </a:ext>
              </a:extLst>
            </p:cNvPr>
            <p:cNvSpPr/>
            <p:nvPr/>
          </p:nvSpPr>
          <p:spPr>
            <a:xfrm>
              <a:off x="9758259" y="3839771"/>
              <a:ext cx="2985202" cy="1104181"/>
            </a:xfrm>
            <a:prstGeom prst="wedgeRoundRectCallout">
              <a:avLst>
                <a:gd name="adj1" fmla="val -78281"/>
                <a:gd name="adj2" fmla="val 49706"/>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2"/>
                  </a:solidFill>
                </a:rPr>
                <a:t>F</a:t>
              </a:r>
              <a:r>
                <a:rPr kumimoji="1" lang="ja-JP" altLang="en-US" dirty="0">
                  <a:solidFill>
                    <a:schemeClr val="bg2"/>
                  </a:solidFill>
                </a:rPr>
                <a:t>検定</a:t>
              </a:r>
            </a:p>
          </p:txBody>
        </p:sp>
      </p:grpSp>
      <p:grpSp>
        <p:nvGrpSpPr>
          <p:cNvPr id="18" name="グループ化 17">
            <a:extLst>
              <a:ext uri="{FF2B5EF4-FFF2-40B4-BE49-F238E27FC236}">
                <a16:creationId xmlns:a16="http://schemas.microsoft.com/office/drawing/2014/main" id="{9D388AC3-4963-459A-8EE7-3B33EA739392}"/>
              </a:ext>
            </a:extLst>
          </p:cNvPr>
          <p:cNvGrpSpPr/>
          <p:nvPr/>
        </p:nvGrpSpPr>
        <p:grpSpPr>
          <a:xfrm>
            <a:off x="617232" y="7578814"/>
            <a:ext cx="18339600" cy="1301447"/>
            <a:chOff x="617232" y="5298546"/>
            <a:chExt cx="18339600" cy="1301447"/>
          </a:xfrm>
        </p:grpSpPr>
        <p:grpSp>
          <p:nvGrpSpPr>
            <p:cNvPr id="65" name="グループ化 64">
              <a:extLst>
                <a:ext uri="{FF2B5EF4-FFF2-40B4-BE49-F238E27FC236}">
                  <a16:creationId xmlns:a16="http://schemas.microsoft.com/office/drawing/2014/main" id="{47AA8D32-33FE-4BEA-A071-E369D0F66E80}"/>
                </a:ext>
              </a:extLst>
            </p:cNvPr>
            <p:cNvGrpSpPr/>
            <p:nvPr/>
          </p:nvGrpSpPr>
          <p:grpSpPr>
            <a:xfrm>
              <a:off x="617232" y="5642178"/>
              <a:ext cx="539448" cy="487368"/>
              <a:chOff x="400056" y="1061560"/>
              <a:chExt cx="269724" cy="243684"/>
            </a:xfrm>
          </p:grpSpPr>
          <p:sp>
            <p:nvSpPr>
              <p:cNvPr id="66" name="三角形 10">
                <a:extLst>
                  <a:ext uri="{FF2B5EF4-FFF2-40B4-BE49-F238E27FC236}">
                    <a16:creationId xmlns:a16="http://schemas.microsoft.com/office/drawing/2014/main" id="{C804D627-0B58-4E14-BFE1-044814E18FF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11">
                <a:extLst>
                  <a:ext uri="{FF2B5EF4-FFF2-40B4-BE49-F238E27FC236}">
                    <a16:creationId xmlns:a16="http://schemas.microsoft.com/office/drawing/2014/main" id="{8C184901-8EB8-4593-9B5A-D0FFD6DFA93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85F8D510-329B-4528-90E5-24C71EFC6D2D}"/>
                </a:ext>
              </a:extLst>
            </p:cNvPr>
            <p:cNvSpPr txBox="1">
              <a:spLocks/>
            </p:cNvSpPr>
            <p:nvPr/>
          </p:nvSpPr>
          <p:spPr>
            <a:xfrm>
              <a:off x="1254486" y="556955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a:t>
              </a:r>
              <a:r>
                <a:rPr lang="ja-JP" altLang="en-US" dirty="0"/>
                <a:t>群の</a:t>
              </a:r>
              <a:r>
                <a:rPr lang="en-US" altLang="ja-JP" dirty="0"/>
                <a:t>t</a:t>
              </a:r>
              <a:r>
                <a:rPr lang="ja-JP" altLang="en-US" dirty="0"/>
                <a:t>検定で用いる</a:t>
              </a:r>
              <a:r>
                <a:rPr lang="en-US" altLang="ja-JP" dirty="0"/>
                <a:t>t</a:t>
              </a:r>
              <a:r>
                <a:rPr lang="ja-JP" altLang="en-US" dirty="0"/>
                <a:t>値</a:t>
              </a:r>
              <a:endParaRPr lang="en-US" altLang="ja-JP" dirty="0"/>
            </a:p>
          </p:txBody>
        </p:sp>
        <mc:AlternateContent xmlns:mc="http://schemas.openxmlformats.org/markup-compatibility/2006" xmlns:a14="http://schemas.microsoft.com/office/drawing/2010/main">
          <mc:Choice Requires="a14">
            <p:sp>
              <p:nvSpPr>
                <p:cNvPr id="69" name="テキスト ボックス 68">
                  <a:extLst>
                    <a:ext uri="{FF2B5EF4-FFF2-40B4-BE49-F238E27FC236}">
                      <a16:creationId xmlns:a16="http://schemas.microsoft.com/office/drawing/2014/main" id="{E7ACA8A3-D548-4BA3-BCF9-0D775A8A0B25}"/>
                    </a:ext>
                  </a:extLst>
                </p:cNvPr>
                <p:cNvSpPr txBox="1"/>
                <p:nvPr/>
              </p:nvSpPr>
              <p:spPr>
                <a:xfrm>
                  <a:off x="6995381" y="5298546"/>
                  <a:ext cx="3371349" cy="130144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f>
                          <m:fPr>
                            <m:ctrlPr>
                              <a:rPr kumimoji="1" lang="en-US" altLang="ja-JP" sz="4000" b="0" i="1" smtClean="0">
                                <a:latin typeface="Cambria Math" panose="02040503050406030204" pitchFamily="18" charset="0"/>
                              </a:rPr>
                            </m:ctrlPr>
                          </m:fPr>
                          <m:num>
                            <m:r>
                              <a:rPr kumimoji="1" lang="ja-JP" altLang="en-US" sz="4000" b="0" i="1" smtClean="0">
                                <a:latin typeface="Cambria Math" panose="02040503050406030204" pitchFamily="18" charset="0"/>
                              </a:rPr>
                              <m:t>𝜇</m:t>
                            </m:r>
                            <m:r>
                              <a:rPr kumimoji="1" lang="en-US" altLang="ja-JP" sz="4000" b="0" i="1" smtClean="0">
                                <a:latin typeface="Cambria Math" panose="02040503050406030204" pitchFamily="18" charset="0"/>
                              </a:rPr>
                              <m:t>−</m:t>
                            </m:r>
                            <m:sSub>
                              <m:sSubPr>
                                <m:ctrlPr>
                                  <a:rPr kumimoji="1" lang="en-US" altLang="ja-JP" sz="4000" b="0" i="1" smtClean="0">
                                    <a:latin typeface="Cambria Math" panose="02040503050406030204" pitchFamily="18" charset="0"/>
                                  </a:rPr>
                                </m:ctrlPr>
                              </m:sSubPr>
                              <m:e>
                                <m:r>
                                  <a:rPr kumimoji="1" lang="ja-JP" altLang="en-US" sz="4000" b="0" i="1" smtClean="0">
                                    <a:latin typeface="Cambria Math" panose="02040503050406030204" pitchFamily="18" charset="0"/>
                                  </a:rPr>
                                  <m:t>𝜇</m:t>
                                </m:r>
                              </m:e>
                              <m:sub>
                                <m:r>
                                  <a:rPr kumimoji="1" lang="en-US" altLang="ja-JP" sz="4000" b="0" i="1" smtClean="0">
                                    <a:latin typeface="Cambria Math" panose="02040503050406030204" pitchFamily="18" charset="0"/>
                                  </a:rPr>
                                  <m:t>0</m:t>
                                </m:r>
                              </m:sub>
                            </m:sSub>
                          </m:num>
                          <m:den>
                            <m:f>
                              <m:fPr>
                                <m:type m:val="lin"/>
                                <m:ctrlPr>
                                  <a:rPr kumimoji="1" lang="ja-JP" altLang="en-US" sz="4000" b="0" i="1" smtClean="0">
                                    <a:latin typeface="Cambria Math" panose="02040503050406030204" pitchFamily="18" charset="0"/>
                                  </a:rPr>
                                </m:ctrlPr>
                              </m:fPr>
                              <m:num>
                                <m:r>
                                  <a:rPr kumimoji="1" lang="ja-JP" altLang="en-US" sz="4000" b="0" i="1" smtClean="0">
                                    <a:latin typeface="Cambria Math" panose="02040503050406030204" pitchFamily="18" charset="0"/>
                                  </a:rPr>
                                  <m:t>𝜎</m:t>
                                </m:r>
                              </m:num>
                              <m:den>
                                <m:rad>
                                  <m:radPr>
                                    <m:degHide m:val="on"/>
                                    <m:ctrlPr>
                                      <a:rPr kumimoji="1" lang="ja-JP" altLang="en-US" sz="4000" b="0" i="1" smtClean="0">
                                        <a:latin typeface="Cambria Math" panose="02040503050406030204" pitchFamily="18" charset="0"/>
                                      </a:rPr>
                                    </m:ctrlPr>
                                  </m:radPr>
                                  <m:deg/>
                                  <m:e>
                                    <m:r>
                                      <a:rPr kumimoji="1" lang="en-US" altLang="ja-JP" sz="4000" b="0" i="1" smtClean="0">
                                        <a:latin typeface="Cambria Math" panose="02040503050406030204" pitchFamily="18" charset="0"/>
                                      </a:rPr>
                                      <m:t>𝑁</m:t>
                                    </m:r>
                                  </m:e>
                                </m:rad>
                              </m:den>
                            </m:f>
                          </m:den>
                        </m:f>
                      </m:oMath>
                    </m:oMathPara>
                  </a14:m>
                  <a:endParaRPr kumimoji="1" lang="ja-JP" altLang="en-US" sz="4000" dirty="0"/>
                </a:p>
              </p:txBody>
            </p:sp>
          </mc:Choice>
          <mc:Fallback xmlns="">
            <p:sp>
              <p:nvSpPr>
                <p:cNvPr id="69" name="テキスト ボックス 68">
                  <a:extLst>
                    <a:ext uri="{FF2B5EF4-FFF2-40B4-BE49-F238E27FC236}">
                      <a16:creationId xmlns:a16="http://schemas.microsoft.com/office/drawing/2014/main" id="{E7ACA8A3-D548-4BA3-BCF9-0D775A8A0B25}"/>
                    </a:ext>
                  </a:extLst>
                </p:cNvPr>
                <p:cNvSpPr txBox="1">
                  <a:spLocks noRot="1" noChangeAspect="1" noMove="1" noResize="1" noEditPoints="1" noAdjustHandles="1" noChangeArrowheads="1" noChangeShapeType="1" noTextEdit="1"/>
                </p:cNvSpPr>
                <p:nvPr/>
              </p:nvSpPr>
              <p:spPr>
                <a:xfrm>
                  <a:off x="6995381" y="5298546"/>
                  <a:ext cx="3371349" cy="1301447"/>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477157A3-6F4D-44BD-A3B4-044093F27E6B}"/>
                    </a:ext>
                  </a:extLst>
                </p:cNvPr>
                <p:cNvSpPr txBox="1"/>
                <p:nvPr/>
              </p:nvSpPr>
              <p:spPr>
                <a:xfrm>
                  <a:off x="10123898" y="5391366"/>
                  <a:ext cx="4750970" cy="954107"/>
                </a:xfrm>
                <a:prstGeom prst="rect">
                  <a:avLst/>
                </a:prstGeom>
                <a:noFill/>
              </p:spPr>
              <p:txBody>
                <a:bodyPr wrap="square" rtlCol="0">
                  <a:spAutoFit/>
                </a:bodyPr>
                <a:lstStyle/>
                <a:p>
                  <a14:m>
                    <m:oMath xmlns:m="http://schemas.openxmlformats.org/officeDocument/2006/math">
                      <m:r>
                        <a:rPr kumimoji="1" lang="ja-JP" altLang="en-US" sz="2800" i="1" smtClean="0">
                          <a:latin typeface="Cambria Math" panose="02040503050406030204" pitchFamily="18" charset="0"/>
                        </a:rPr>
                        <m:t>𝜇</m:t>
                      </m:r>
                      <m:r>
                        <a:rPr lang="ja-JP" altLang="en-US" sz="2800" i="1">
                          <a:latin typeface="Cambria Math" panose="02040503050406030204" pitchFamily="18" charset="0"/>
                        </a:rPr>
                        <m:t>：</m:t>
                      </m:r>
                    </m:oMath>
                  </a14:m>
                  <a:r>
                    <a:rPr kumimoji="1" lang="ja-JP" altLang="en-US" sz="2800" dirty="0"/>
                    <a:t>データの平均値</a:t>
                  </a:r>
                  <a:endParaRPr kumimoji="1" lang="en-US" altLang="ja-JP" sz="2800" dirty="0"/>
                </a:p>
                <a:p>
                  <a14:m>
                    <m:oMath xmlns:m="http://schemas.openxmlformats.org/officeDocument/2006/math">
                      <m:sSub>
                        <m:sSubPr>
                          <m:ctrlPr>
                            <a:rPr kumimoji="1" lang="en-US" altLang="ja-JP" sz="2800" i="1" smtClean="0">
                              <a:latin typeface="Cambria Math" panose="02040503050406030204" pitchFamily="18" charset="0"/>
                            </a:rPr>
                          </m:ctrlPr>
                        </m:sSubPr>
                        <m:e>
                          <m:r>
                            <a:rPr kumimoji="1" lang="ja-JP" altLang="en-US" sz="2800" i="1" smtClean="0">
                              <a:latin typeface="Cambria Math" panose="02040503050406030204" pitchFamily="18" charset="0"/>
                            </a:rPr>
                            <m:t>𝜇</m:t>
                          </m:r>
                        </m:e>
                        <m:sub>
                          <m:r>
                            <a:rPr kumimoji="1" lang="en-US" altLang="ja-JP" sz="2800" b="0" i="1" smtClean="0">
                              <a:latin typeface="Cambria Math" panose="02040503050406030204" pitchFamily="18" charset="0"/>
                            </a:rPr>
                            <m:t>0</m:t>
                          </m:r>
                        </m:sub>
                      </m:sSub>
                      <m:r>
                        <a:rPr lang="ja-JP" altLang="en-US" sz="2800" i="1">
                          <a:latin typeface="Cambria Math" panose="02040503050406030204" pitchFamily="18" charset="0"/>
                        </a:rPr>
                        <m:t>：</m:t>
                      </m:r>
                    </m:oMath>
                  </a14:m>
                  <a:r>
                    <a:rPr kumimoji="1" lang="ja-JP" altLang="en-US" sz="2800" dirty="0"/>
                    <a:t>基準となる平均値</a:t>
                  </a:r>
                </a:p>
              </p:txBody>
            </p:sp>
          </mc:Choice>
          <mc:Fallback xmlns="">
            <p:sp>
              <p:nvSpPr>
                <p:cNvPr id="70" name="テキスト ボックス 69">
                  <a:extLst>
                    <a:ext uri="{FF2B5EF4-FFF2-40B4-BE49-F238E27FC236}">
                      <a16:creationId xmlns:a16="http://schemas.microsoft.com/office/drawing/2014/main" id="{477157A3-6F4D-44BD-A3B4-044093F27E6B}"/>
                    </a:ext>
                  </a:extLst>
                </p:cNvPr>
                <p:cNvSpPr txBox="1">
                  <a:spLocks noRot="1" noChangeAspect="1" noMove="1" noResize="1" noEditPoints="1" noAdjustHandles="1" noChangeArrowheads="1" noChangeShapeType="1" noTextEdit="1"/>
                </p:cNvSpPr>
                <p:nvPr/>
              </p:nvSpPr>
              <p:spPr>
                <a:xfrm>
                  <a:off x="10123898" y="5391366"/>
                  <a:ext cx="4750970" cy="954107"/>
                </a:xfrm>
                <a:prstGeom prst="rect">
                  <a:avLst/>
                </a:prstGeom>
                <a:blipFill>
                  <a:blip r:embed="rId5"/>
                  <a:stretch>
                    <a:fillRect l="-642" t="-5096" b="-1783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1" name="テキスト ボックス 70">
                  <a:extLst>
                    <a:ext uri="{FF2B5EF4-FFF2-40B4-BE49-F238E27FC236}">
                      <a16:creationId xmlns:a16="http://schemas.microsoft.com/office/drawing/2014/main" id="{678227D8-9716-4D18-BA9D-132259A6A1EB}"/>
                    </a:ext>
                  </a:extLst>
                </p:cNvPr>
                <p:cNvSpPr txBox="1"/>
                <p:nvPr/>
              </p:nvSpPr>
              <p:spPr>
                <a:xfrm>
                  <a:off x="14205862" y="5383345"/>
                  <a:ext cx="4750970" cy="954107"/>
                </a:xfrm>
                <a:prstGeom prst="rect">
                  <a:avLst/>
                </a:prstGeom>
                <a:noFill/>
              </p:spPr>
              <p:txBody>
                <a:bodyPr wrap="square" rtlCol="0">
                  <a:spAutoFit/>
                </a:bodyPr>
                <a:lstStyle/>
                <a:p>
                  <a14:m>
                    <m:oMath xmlns:m="http://schemas.openxmlformats.org/officeDocument/2006/math">
                      <m:r>
                        <a:rPr lang="ja-JP" altLang="en-US" sz="2800" i="1" smtClean="0">
                          <a:latin typeface="Cambria Math" panose="02040503050406030204" pitchFamily="18" charset="0"/>
                        </a:rPr>
                        <m:t>𝜎</m:t>
                      </m:r>
                      <m:r>
                        <a:rPr lang="ja-JP" altLang="en-US" sz="2800" i="1">
                          <a:latin typeface="Cambria Math" panose="02040503050406030204" pitchFamily="18" charset="0"/>
                        </a:rPr>
                        <m:t>：</m:t>
                      </m:r>
                    </m:oMath>
                  </a14:m>
                  <a:r>
                    <a:rPr kumimoji="1" lang="ja-JP" altLang="en-US" sz="2800" dirty="0"/>
                    <a:t>データの標準偏差</a:t>
                  </a:r>
                  <a:endParaRPr kumimoji="1" lang="en-US" altLang="ja-JP" sz="2800" dirty="0"/>
                </a:p>
                <a:p>
                  <a14:m>
                    <m:oMath xmlns:m="http://schemas.openxmlformats.org/officeDocument/2006/math">
                      <m:r>
                        <a:rPr lang="en-US" altLang="ja-JP" sz="2800" b="0" i="1" smtClean="0">
                          <a:latin typeface="Cambria Math" panose="02040503050406030204" pitchFamily="18" charset="0"/>
                        </a:rPr>
                        <m:t>𝑁</m:t>
                      </m:r>
                      <m:r>
                        <a:rPr lang="ja-JP" altLang="en-US" sz="2800" i="1">
                          <a:latin typeface="Cambria Math" panose="02040503050406030204" pitchFamily="18" charset="0"/>
                        </a:rPr>
                        <m:t>：</m:t>
                      </m:r>
                    </m:oMath>
                  </a14:m>
                  <a:r>
                    <a:rPr kumimoji="1" lang="ja-JP" altLang="en-US" sz="2800" dirty="0"/>
                    <a:t>データ数</a:t>
                  </a:r>
                </a:p>
              </p:txBody>
            </p:sp>
          </mc:Choice>
          <mc:Fallback xmlns="">
            <p:sp>
              <p:nvSpPr>
                <p:cNvPr id="71" name="テキスト ボックス 70">
                  <a:extLst>
                    <a:ext uri="{FF2B5EF4-FFF2-40B4-BE49-F238E27FC236}">
                      <a16:creationId xmlns:a16="http://schemas.microsoft.com/office/drawing/2014/main" id="{678227D8-9716-4D18-BA9D-132259A6A1EB}"/>
                    </a:ext>
                  </a:extLst>
                </p:cNvPr>
                <p:cNvSpPr txBox="1">
                  <a:spLocks noRot="1" noChangeAspect="1" noMove="1" noResize="1" noEditPoints="1" noAdjustHandles="1" noChangeArrowheads="1" noChangeShapeType="1" noTextEdit="1"/>
                </p:cNvSpPr>
                <p:nvPr/>
              </p:nvSpPr>
              <p:spPr>
                <a:xfrm>
                  <a:off x="14205862" y="5383345"/>
                  <a:ext cx="4750970" cy="954107"/>
                </a:xfrm>
                <a:prstGeom prst="rect">
                  <a:avLst/>
                </a:prstGeom>
                <a:blipFill>
                  <a:blip r:embed="rId6"/>
                  <a:stretch>
                    <a:fillRect l="-641" t="-5096" b="-17834"/>
                  </a:stretch>
                </a:blipFill>
              </p:spPr>
              <p:txBody>
                <a:bodyPr/>
                <a:lstStyle/>
                <a:p>
                  <a:r>
                    <a:rPr lang="ja-JP" altLang="en-US">
                      <a:noFill/>
                    </a:rPr>
                    <a:t> </a:t>
                  </a:r>
                </a:p>
              </p:txBody>
            </p:sp>
          </mc:Fallback>
        </mc:AlternateContent>
      </p:grpSp>
      <p:grpSp>
        <p:nvGrpSpPr>
          <p:cNvPr id="72" name="グループ化 71">
            <a:extLst>
              <a:ext uri="{FF2B5EF4-FFF2-40B4-BE49-F238E27FC236}">
                <a16:creationId xmlns:a16="http://schemas.microsoft.com/office/drawing/2014/main" id="{E9D8AFAF-E2D5-4468-9035-0096156D9101}"/>
              </a:ext>
            </a:extLst>
          </p:cNvPr>
          <p:cNvGrpSpPr/>
          <p:nvPr/>
        </p:nvGrpSpPr>
        <p:grpSpPr>
          <a:xfrm>
            <a:off x="617232" y="5660668"/>
            <a:ext cx="539448" cy="487368"/>
            <a:chOff x="400056" y="1061560"/>
            <a:chExt cx="269724" cy="243684"/>
          </a:xfrm>
        </p:grpSpPr>
        <p:sp>
          <p:nvSpPr>
            <p:cNvPr id="73" name="三角形 10">
              <a:extLst>
                <a:ext uri="{FF2B5EF4-FFF2-40B4-BE49-F238E27FC236}">
                  <a16:creationId xmlns:a16="http://schemas.microsoft.com/office/drawing/2014/main" id="{A4A7EA79-DC11-4899-ADB9-59725827207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11">
              <a:extLst>
                <a:ext uri="{FF2B5EF4-FFF2-40B4-BE49-F238E27FC236}">
                  <a16:creationId xmlns:a16="http://schemas.microsoft.com/office/drawing/2014/main" id="{64C3E05E-0D1D-4018-9100-323D9099FF1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5" name="テキスト プレースホルダー 27">
            <a:extLst>
              <a:ext uri="{FF2B5EF4-FFF2-40B4-BE49-F238E27FC236}">
                <a16:creationId xmlns:a16="http://schemas.microsoft.com/office/drawing/2014/main" id="{6433910E-85AD-49D8-AF3D-A242CE08A12E}"/>
              </a:ext>
            </a:extLst>
          </p:cNvPr>
          <p:cNvSpPr txBox="1">
            <a:spLocks/>
          </p:cNvSpPr>
          <p:nvPr/>
        </p:nvSpPr>
        <p:spPr>
          <a:xfrm>
            <a:off x="1254486" y="558804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検定は帰無仮説が異なっていることを立証できる</a:t>
            </a:r>
            <a:endParaRPr lang="en-US" altLang="ja-JP" dirty="0"/>
          </a:p>
        </p:txBody>
      </p:sp>
      <p:sp>
        <p:nvSpPr>
          <p:cNvPr id="76" name="角丸四角形吹き出し 6">
            <a:extLst>
              <a:ext uri="{FF2B5EF4-FFF2-40B4-BE49-F238E27FC236}">
                <a16:creationId xmlns:a16="http://schemas.microsoft.com/office/drawing/2014/main" id="{6C78627D-ECBA-4F1F-A5EF-81072891B9AB}"/>
              </a:ext>
            </a:extLst>
          </p:cNvPr>
          <p:cNvSpPr/>
          <p:nvPr/>
        </p:nvSpPr>
        <p:spPr>
          <a:xfrm>
            <a:off x="5069608" y="6341278"/>
            <a:ext cx="4750969" cy="1104181"/>
          </a:xfrm>
          <a:prstGeom prst="wedgeRoundRectCallout">
            <a:avLst>
              <a:gd name="adj1" fmla="val -66996"/>
              <a:gd name="adj2" fmla="val -62163"/>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2"/>
                </a:solidFill>
              </a:rPr>
              <a:t>立証したい仮説の逆</a:t>
            </a:r>
          </a:p>
        </p:txBody>
      </p:sp>
      <p:grpSp>
        <p:nvGrpSpPr>
          <p:cNvPr id="77" name="グループ化 76">
            <a:extLst>
              <a:ext uri="{FF2B5EF4-FFF2-40B4-BE49-F238E27FC236}">
                <a16:creationId xmlns:a16="http://schemas.microsoft.com/office/drawing/2014/main" id="{D8987127-8D79-402A-A161-6225D3315976}"/>
              </a:ext>
            </a:extLst>
          </p:cNvPr>
          <p:cNvGrpSpPr/>
          <p:nvPr/>
        </p:nvGrpSpPr>
        <p:grpSpPr>
          <a:xfrm>
            <a:off x="571049" y="9292494"/>
            <a:ext cx="539448" cy="487368"/>
            <a:chOff x="400056" y="1061560"/>
            <a:chExt cx="269724" cy="243684"/>
          </a:xfrm>
        </p:grpSpPr>
        <p:sp>
          <p:nvSpPr>
            <p:cNvPr id="78" name="三角形 10">
              <a:extLst>
                <a:ext uri="{FF2B5EF4-FFF2-40B4-BE49-F238E27FC236}">
                  <a16:creationId xmlns:a16="http://schemas.microsoft.com/office/drawing/2014/main" id="{CA68466A-A078-4DDF-8B1D-3527D8EE81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11">
              <a:extLst>
                <a:ext uri="{FF2B5EF4-FFF2-40B4-BE49-F238E27FC236}">
                  <a16:creationId xmlns:a16="http://schemas.microsoft.com/office/drawing/2014/main" id="{7BC9E0D5-95FD-4D89-BDC7-B6F1C35524B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80" name="テキスト プレースホルダー 27">
                <a:extLst>
                  <a:ext uri="{FF2B5EF4-FFF2-40B4-BE49-F238E27FC236}">
                    <a16:creationId xmlns:a16="http://schemas.microsoft.com/office/drawing/2014/main" id="{FE1D963F-85EA-43A7-A649-1F9AC6AE0643}"/>
                  </a:ext>
                </a:extLst>
              </p:cNvPr>
              <p:cNvSpPr txBox="1">
                <a:spLocks/>
              </p:cNvSpPr>
              <p:nvPr/>
            </p:nvSpPr>
            <p:spPr>
              <a:xfrm>
                <a:off x="1208303" y="921986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80" name="テキスト プレースホルダー 27">
                <a:extLst>
                  <a:ext uri="{FF2B5EF4-FFF2-40B4-BE49-F238E27FC236}">
                    <a16:creationId xmlns:a16="http://schemas.microsoft.com/office/drawing/2014/main" id="{FE1D963F-85EA-43A7-A649-1F9AC6AE0643}"/>
                  </a:ext>
                </a:extLst>
              </p:cNvPr>
              <p:cNvSpPr txBox="1">
                <a:spLocks noRot="1" noChangeAspect="1" noMove="1" noResize="1" noEditPoints="1" noAdjustHandles="1" noChangeArrowheads="1" noChangeShapeType="1" noTextEdit="1"/>
              </p:cNvSpPr>
              <p:nvPr/>
            </p:nvSpPr>
            <p:spPr>
              <a:xfrm>
                <a:off x="1208303" y="9219869"/>
                <a:ext cx="16632960" cy="997834"/>
              </a:xfrm>
              <a:prstGeom prst="rect">
                <a:avLst/>
              </a:prstGeom>
              <a:blipFill>
                <a:blip r:embed="rId7"/>
                <a:stretch>
                  <a:fillRect l="-1649" t="-22561" b="-10976"/>
                </a:stretch>
              </a:blipFill>
            </p:spPr>
            <p:txBody>
              <a:bodyPr/>
              <a:lstStyle/>
              <a:p>
                <a:r>
                  <a:rPr lang="ja-JP" altLang="en-US">
                    <a:noFill/>
                  </a:rPr>
                  <a:t> </a:t>
                </a:r>
              </a:p>
            </p:txBody>
          </p:sp>
        </mc:Fallback>
      </mc:AlternateContent>
      <p:sp>
        <p:nvSpPr>
          <p:cNvPr id="81" name="三角形 31">
            <a:extLst>
              <a:ext uri="{FF2B5EF4-FFF2-40B4-BE49-F238E27FC236}">
                <a16:creationId xmlns:a16="http://schemas.microsoft.com/office/drawing/2014/main" id="{72FC2108-B7B0-452E-AE0A-D96CED49A17D}"/>
              </a:ext>
            </a:extLst>
          </p:cNvPr>
          <p:cNvSpPr/>
          <p:nvPr/>
        </p:nvSpPr>
        <p:spPr>
          <a:xfrm rot="5400000">
            <a:off x="1076238" y="1014693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テキスト プレースホルダー 29">
            <a:extLst>
              <a:ext uri="{FF2B5EF4-FFF2-40B4-BE49-F238E27FC236}">
                <a16:creationId xmlns:a16="http://schemas.microsoft.com/office/drawing/2014/main" id="{74D4ABE3-E41E-43DB-AE14-7D2CB62C9AC3}"/>
              </a:ext>
            </a:extLst>
          </p:cNvPr>
          <p:cNvSpPr txBox="1">
            <a:spLocks/>
          </p:cNvSpPr>
          <p:nvPr/>
        </p:nvSpPr>
        <p:spPr>
          <a:xfrm>
            <a:off x="1568600" y="1003165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値が大きいほど</a:t>
            </a:r>
            <a:r>
              <a:rPr lang="en-US" altLang="ja-JP" dirty="0"/>
              <a:t>p</a:t>
            </a:r>
            <a:r>
              <a:rPr lang="ja-JP" altLang="en-US" dirty="0"/>
              <a:t>値は小さくなる</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1398975709"/>
              </p:ext>
            </p:extLst>
          </p:nvPr>
        </p:nvGraphicFramePr>
        <p:xfrm>
          <a:off x="11660907" y="9747489"/>
          <a:ext cx="7448710" cy="3468316"/>
        </p:xfrm>
        <a:graphic>
          <a:graphicData uri="http://schemas.openxmlformats.org/drawingml/2006/chart">
            <c:chart xmlns:c="http://schemas.openxmlformats.org/drawingml/2006/chart" xmlns:r="http://schemas.openxmlformats.org/officeDocument/2006/relationships" r:id="rId8"/>
          </a:graphicData>
        </a:graphic>
      </p:graphicFrame>
      <p:grpSp>
        <p:nvGrpSpPr>
          <p:cNvPr id="86" name="グループ化 85">
            <a:extLst>
              <a:ext uri="{FF2B5EF4-FFF2-40B4-BE49-F238E27FC236}">
                <a16:creationId xmlns:a16="http://schemas.microsoft.com/office/drawing/2014/main" id="{ECA339E4-A18F-428D-9A21-15C2F327E22E}"/>
              </a:ext>
            </a:extLst>
          </p:cNvPr>
          <p:cNvGrpSpPr/>
          <p:nvPr/>
        </p:nvGrpSpPr>
        <p:grpSpPr>
          <a:xfrm>
            <a:off x="10655524" y="10436256"/>
            <a:ext cx="2793097" cy="1404822"/>
            <a:chOff x="9758259" y="3831750"/>
            <a:chExt cx="3009266" cy="1112202"/>
          </a:xfrm>
        </p:grpSpPr>
        <p:sp>
          <p:nvSpPr>
            <p:cNvPr id="87" name="角丸四角形吹き出し 6">
              <a:extLst>
                <a:ext uri="{FF2B5EF4-FFF2-40B4-BE49-F238E27FC236}">
                  <a16:creationId xmlns:a16="http://schemas.microsoft.com/office/drawing/2014/main" id="{CEC416A7-9FF1-4150-B2F8-706027A56A1D}"/>
                </a:ext>
              </a:extLst>
            </p:cNvPr>
            <p:cNvSpPr/>
            <p:nvPr/>
          </p:nvSpPr>
          <p:spPr>
            <a:xfrm>
              <a:off x="9782323" y="3831750"/>
              <a:ext cx="2985202" cy="1104181"/>
            </a:xfrm>
            <a:prstGeom prst="wedgeRoundRectCallout">
              <a:avLst>
                <a:gd name="adj1" fmla="val 170198"/>
                <a:gd name="adj2" fmla="val 12130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88" name="角丸四角形吹き出し 6">
              <a:extLst>
                <a:ext uri="{FF2B5EF4-FFF2-40B4-BE49-F238E27FC236}">
                  <a16:creationId xmlns:a16="http://schemas.microsoft.com/office/drawing/2014/main" id="{3EA12ED9-A253-4A06-BE8D-FE8DA1BB0289}"/>
                </a:ext>
              </a:extLst>
            </p:cNvPr>
            <p:cNvSpPr/>
            <p:nvPr/>
          </p:nvSpPr>
          <p:spPr>
            <a:xfrm>
              <a:off x="9758259" y="3839771"/>
              <a:ext cx="2985202" cy="1104181"/>
            </a:xfrm>
            <a:prstGeom prst="wedgeRoundRectCallout">
              <a:avLst>
                <a:gd name="adj1" fmla="val -15004"/>
                <a:gd name="adj2" fmla="val 31072"/>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2"/>
                  </a:solidFill>
                </a:rPr>
                <a:t>これらの</a:t>
              </a:r>
              <a:endParaRPr lang="en-US" altLang="ja-JP" dirty="0">
                <a:solidFill>
                  <a:schemeClr val="bg2"/>
                </a:solidFill>
              </a:endParaRPr>
            </a:p>
            <a:p>
              <a:pPr algn="ctr"/>
              <a:r>
                <a:rPr lang="ja-JP" altLang="en-US" dirty="0">
                  <a:solidFill>
                    <a:schemeClr val="bg2"/>
                  </a:solidFill>
                </a:rPr>
                <a:t>面積が</a:t>
              </a:r>
              <a:r>
                <a:rPr lang="en-US" altLang="ja-JP" dirty="0">
                  <a:solidFill>
                    <a:schemeClr val="bg2"/>
                  </a:solidFill>
                </a:rPr>
                <a:t>p</a:t>
              </a:r>
              <a:r>
                <a:rPr lang="ja-JP" altLang="en-US" dirty="0">
                  <a:solidFill>
                    <a:schemeClr val="bg2"/>
                  </a:solidFill>
                </a:rPr>
                <a:t>値</a:t>
              </a:r>
              <a:endParaRPr kumimoji="1" lang="ja-JP" altLang="en-US" dirty="0">
                <a:solidFill>
                  <a:schemeClr val="bg2"/>
                </a:solidFill>
              </a:endParaRPr>
            </a:p>
          </p:txBody>
        </p:sp>
      </p:grpSp>
      <p:sp>
        <p:nvSpPr>
          <p:cNvPr id="20" name="二等辺三角形 19">
            <a:extLst>
              <a:ext uri="{FF2B5EF4-FFF2-40B4-BE49-F238E27FC236}">
                <a16:creationId xmlns:a16="http://schemas.microsoft.com/office/drawing/2014/main" id="{2FF63A9F-7A66-4C51-89A7-3AA90FF58EEF}"/>
              </a:ext>
            </a:extLst>
          </p:cNvPr>
          <p:cNvSpPr/>
          <p:nvPr/>
        </p:nvSpPr>
        <p:spPr>
          <a:xfrm rot="19906755" flipV="1">
            <a:off x="12851678" y="11610804"/>
            <a:ext cx="358661" cy="1381511"/>
          </a:xfrm>
          <a:prstGeom prs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cxnSp>
        <p:nvCxnSpPr>
          <p:cNvPr id="22" name="直線矢印コネクタ 21">
            <a:extLst>
              <a:ext uri="{FF2B5EF4-FFF2-40B4-BE49-F238E27FC236}">
                <a16:creationId xmlns:a16="http://schemas.microsoft.com/office/drawing/2014/main" id="{828909BD-ACDB-4AA9-9F73-33FAA0BB6388}"/>
              </a:ext>
            </a:extLst>
          </p:cNvPr>
          <p:cNvCxnSpPr>
            <a:cxnSpLocks/>
          </p:cNvCxnSpPr>
          <p:nvPr/>
        </p:nvCxnSpPr>
        <p:spPr>
          <a:xfrm>
            <a:off x="16923790" y="11640306"/>
            <a:ext cx="0" cy="96420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56B4F9A4-17D1-4B27-AE3A-FBF040F6793A}"/>
              </a:ext>
            </a:extLst>
          </p:cNvPr>
          <p:cNvSpPr txBox="1"/>
          <p:nvPr/>
        </p:nvSpPr>
        <p:spPr>
          <a:xfrm>
            <a:off x="16453813" y="11104162"/>
            <a:ext cx="939954" cy="523220"/>
          </a:xfrm>
          <a:prstGeom prst="rect">
            <a:avLst/>
          </a:prstGeom>
          <a:noFill/>
        </p:spPr>
        <p:txBody>
          <a:bodyPr wrap="square" rtlCol="0">
            <a:spAutoFit/>
          </a:bodyPr>
          <a:lstStyle/>
          <a:p>
            <a:pPr algn="ctr"/>
            <a:r>
              <a:rPr lang="en-US" altLang="ja-JP" sz="2800" dirty="0"/>
              <a:t>t</a:t>
            </a:r>
            <a:r>
              <a:rPr lang="ja-JP" altLang="en-US" sz="2800" dirty="0"/>
              <a:t>値</a:t>
            </a:r>
            <a:endParaRPr kumimoji="1" lang="ja-JP" altLang="en-US" sz="2800" dirty="0"/>
          </a:p>
        </p:txBody>
      </p:sp>
      <p:grpSp>
        <p:nvGrpSpPr>
          <p:cNvPr id="90" name="グループ化 89">
            <a:extLst>
              <a:ext uri="{FF2B5EF4-FFF2-40B4-BE49-F238E27FC236}">
                <a16:creationId xmlns:a16="http://schemas.microsoft.com/office/drawing/2014/main" id="{4C429A67-04F0-4B15-AD37-D464E78F784E}"/>
              </a:ext>
            </a:extLst>
          </p:cNvPr>
          <p:cNvGrpSpPr/>
          <p:nvPr/>
        </p:nvGrpSpPr>
        <p:grpSpPr>
          <a:xfrm>
            <a:off x="571049" y="10873301"/>
            <a:ext cx="539448" cy="487368"/>
            <a:chOff x="400056" y="1061560"/>
            <a:chExt cx="269724" cy="243684"/>
          </a:xfrm>
        </p:grpSpPr>
        <p:sp>
          <p:nvSpPr>
            <p:cNvPr id="91" name="三角形 10">
              <a:extLst>
                <a:ext uri="{FF2B5EF4-FFF2-40B4-BE49-F238E27FC236}">
                  <a16:creationId xmlns:a16="http://schemas.microsoft.com/office/drawing/2014/main" id="{3786D899-089C-4640-BB09-5D155E65720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2" name="三角形 11">
              <a:extLst>
                <a:ext uri="{FF2B5EF4-FFF2-40B4-BE49-F238E27FC236}">
                  <a16:creationId xmlns:a16="http://schemas.microsoft.com/office/drawing/2014/main" id="{8400A2C9-DFCC-4FF8-98EC-187C35D4BD9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93" name="テキスト プレースホルダー 27">
            <a:extLst>
              <a:ext uri="{FF2B5EF4-FFF2-40B4-BE49-F238E27FC236}">
                <a16:creationId xmlns:a16="http://schemas.microsoft.com/office/drawing/2014/main" id="{DBBF23A9-82D5-4994-852A-CD18931B2B47}"/>
              </a:ext>
            </a:extLst>
          </p:cNvPr>
          <p:cNvSpPr txBox="1">
            <a:spLocks/>
          </p:cNvSpPr>
          <p:nvPr/>
        </p:nvSpPr>
        <p:spPr>
          <a:xfrm>
            <a:off x="1208303" y="1080067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対応のある</a:t>
            </a:r>
            <a:r>
              <a:rPr lang="en-US" altLang="ja-JP" dirty="0"/>
              <a:t>t</a:t>
            </a:r>
            <a:r>
              <a:rPr lang="ja-JP" altLang="en-US" dirty="0"/>
              <a:t>検定も同様</a:t>
            </a:r>
            <a:endParaRPr lang="en-US" altLang="ja-JP" dirty="0"/>
          </a:p>
        </p:txBody>
      </p:sp>
      <p:sp>
        <p:nvSpPr>
          <p:cNvPr id="94" name="三角形 31">
            <a:extLst>
              <a:ext uri="{FF2B5EF4-FFF2-40B4-BE49-F238E27FC236}">
                <a16:creationId xmlns:a16="http://schemas.microsoft.com/office/drawing/2014/main" id="{E8421B1F-A0FC-4E95-BD36-74FD7B4E0037}"/>
              </a:ext>
            </a:extLst>
          </p:cNvPr>
          <p:cNvSpPr/>
          <p:nvPr/>
        </p:nvSpPr>
        <p:spPr>
          <a:xfrm rot="5400000">
            <a:off x="1076238" y="1168064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5" name="テキスト プレースホルダー 29">
            <a:extLst>
              <a:ext uri="{FF2B5EF4-FFF2-40B4-BE49-F238E27FC236}">
                <a16:creationId xmlns:a16="http://schemas.microsoft.com/office/drawing/2014/main" id="{B8614BDD-EF4C-47FE-8E91-DB3731D41CE1}"/>
              </a:ext>
            </a:extLst>
          </p:cNvPr>
          <p:cNvSpPr txBox="1">
            <a:spLocks/>
          </p:cNvSpPr>
          <p:nvPr/>
        </p:nvSpPr>
        <p:spPr>
          <a:xfrm>
            <a:off x="1568600" y="1156537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データの平均値</a:t>
            </a:r>
            <a:endParaRPr lang="en-US" altLang="ja-JP" dirty="0"/>
          </a:p>
        </p:txBody>
      </p:sp>
      <p:sp>
        <p:nvSpPr>
          <p:cNvPr id="96" name="テキスト プレースホルダー 29">
            <a:extLst>
              <a:ext uri="{FF2B5EF4-FFF2-40B4-BE49-F238E27FC236}">
                <a16:creationId xmlns:a16="http://schemas.microsoft.com/office/drawing/2014/main" id="{54590739-33F3-49FA-BF6D-E4FAA66A6B2A}"/>
              </a:ext>
            </a:extLst>
          </p:cNvPr>
          <p:cNvSpPr txBox="1">
            <a:spLocks/>
          </p:cNvSpPr>
          <p:nvPr/>
        </p:nvSpPr>
        <p:spPr>
          <a:xfrm>
            <a:off x="1568600" y="1271751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対となる</a:t>
            </a:r>
            <a:r>
              <a:rPr lang="ja-JP" altLang="en-US" dirty="0">
                <a:solidFill>
                  <a:schemeClr val="accent2"/>
                </a:solidFill>
              </a:rPr>
              <a:t>データの差</a:t>
            </a:r>
            <a:r>
              <a:rPr lang="ja-JP" altLang="en-US" dirty="0"/>
              <a:t>の平均値</a:t>
            </a:r>
            <a:endParaRPr lang="en-US" altLang="ja-JP" dirty="0"/>
          </a:p>
        </p:txBody>
      </p:sp>
      <p:sp>
        <p:nvSpPr>
          <p:cNvPr id="97" name="テキスト プレースホルダー 29">
            <a:extLst>
              <a:ext uri="{FF2B5EF4-FFF2-40B4-BE49-F238E27FC236}">
                <a16:creationId xmlns:a16="http://schemas.microsoft.com/office/drawing/2014/main" id="{F7248446-D5C6-47FF-B40F-1DA2DD047509}"/>
              </a:ext>
            </a:extLst>
          </p:cNvPr>
          <p:cNvSpPr txBox="1">
            <a:spLocks/>
          </p:cNvSpPr>
          <p:nvPr/>
        </p:nvSpPr>
        <p:spPr>
          <a:xfrm>
            <a:off x="1568600" y="120781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　　　↓</a:t>
            </a:r>
            <a:endParaRPr lang="en-US" altLang="ja-JP" dirty="0"/>
          </a:p>
        </p:txBody>
      </p:sp>
    </p:spTree>
    <p:extLst>
      <p:ext uri="{BB962C8B-B14F-4D97-AF65-F5344CB8AC3E}">
        <p14:creationId xmlns:p14="http://schemas.microsoft.com/office/powerpoint/2010/main" val="35090824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2018/6/8</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任意の値をとることができる変数の個数</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自由度によって</a:t>
            </a:r>
            <a:r>
              <a:rPr lang="ja-JP" altLang="en-US" dirty="0">
                <a:solidFill>
                  <a:schemeClr val="accent2"/>
                </a:solidFill>
              </a:rPr>
              <a:t>分布が異なる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3488216152"/>
              </p:ext>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7" name="グラフ 56">
            <a:extLst>
              <a:ext uri="{FF2B5EF4-FFF2-40B4-BE49-F238E27FC236}">
                <a16:creationId xmlns:a16="http://schemas.microsoft.com/office/drawing/2014/main" id="{9F20EB6B-F8AB-4536-A672-D9036836DCF8}"/>
              </a:ext>
            </a:extLst>
          </p:cNvPr>
          <p:cNvGraphicFramePr>
            <a:graphicFrameLocks/>
          </p:cNvGraphicFramePr>
          <p:nvPr>
            <p:extLst>
              <p:ext uri="{D42A27DB-BD31-4B8C-83A1-F6EECF244321}">
                <p14:modId xmlns:p14="http://schemas.microsoft.com/office/powerpoint/2010/main" val="2725720440"/>
              </p:ext>
            </p:extLst>
          </p:nvPr>
        </p:nvGraphicFramePr>
        <p:xfrm>
          <a:off x="4731250" y="7552174"/>
          <a:ext cx="8879677" cy="5484095"/>
        </p:xfrm>
        <a:graphic>
          <a:graphicData uri="http://schemas.openxmlformats.org/drawingml/2006/chart">
            <c:chart xmlns:c="http://schemas.openxmlformats.org/drawingml/2006/chart" xmlns:r="http://schemas.openxmlformats.org/officeDocument/2006/relationships" r:id="rId4"/>
          </a:graphicData>
        </a:graphic>
      </p:graphicFrame>
      <p:sp>
        <p:nvSpPr>
          <p:cNvPr id="58" name="三角形 31">
            <a:extLst>
              <a:ext uri="{FF2B5EF4-FFF2-40B4-BE49-F238E27FC236}">
                <a16:creationId xmlns:a16="http://schemas.microsoft.com/office/drawing/2014/main" id="{A274DFD9-C45D-4457-89BB-362F21F7C5A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DFDE5F60-FC3E-4744-969E-31244A20D912}"/>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自由度が高いほど分布は正規分布に近づく</a:t>
            </a:r>
          </a:p>
        </p:txBody>
      </p:sp>
      <p:grpSp>
        <p:nvGrpSpPr>
          <p:cNvPr id="84" name="グループ化 83">
            <a:extLst>
              <a:ext uri="{FF2B5EF4-FFF2-40B4-BE49-F238E27FC236}">
                <a16:creationId xmlns:a16="http://schemas.microsoft.com/office/drawing/2014/main" id="{A4E5D9A7-32D7-4287-944F-1ECEE1B51772}"/>
              </a:ext>
            </a:extLst>
          </p:cNvPr>
          <p:cNvGrpSpPr/>
          <p:nvPr/>
        </p:nvGrpSpPr>
        <p:grpSpPr>
          <a:xfrm>
            <a:off x="617232" y="4900245"/>
            <a:ext cx="539448" cy="487368"/>
            <a:chOff x="400056" y="1061560"/>
            <a:chExt cx="269724" cy="243684"/>
          </a:xfrm>
        </p:grpSpPr>
        <p:sp>
          <p:nvSpPr>
            <p:cNvPr id="98" name="三角形 10">
              <a:extLst>
                <a:ext uri="{FF2B5EF4-FFF2-40B4-BE49-F238E27FC236}">
                  <a16:creationId xmlns:a16="http://schemas.microsoft.com/office/drawing/2014/main" id="{5389D612-82B6-4335-8B2D-BC5EE24B292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9" name="三角形 11">
              <a:extLst>
                <a:ext uri="{FF2B5EF4-FFF2-40B4-BE49-F238E27FC236}">
                  <a16:creationId xmlns:a16="http://schemas.microsoft.com/office/drawing/2014/main" id="{7CFB7EAF-9C6A-45DA-A1E8-D102CBD5869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00" name="テキスト プレースホルダー 27">
            <a:extLst>
              <a:ext uri="{FF2B5EF4-FFF2-40B4-BE49-F238E27FC236}">
                <a16:creationId xmlns:a16="http://schemas.microsoft.com/office/drawing/2014/main" id="{D222DA18-19D9-43A9-AEE1-3BA6898B8F3F}"/>
              </a:ext>
            </a:extLst>
          </p:cNvPr>
          <p:cNvSpPr txBox="1">
            <a:spLocks/>
          </p:cNvSpPr>
          <p:nvPr/>
        </p:nvSpPr>
        <p:spPr>
          <a:xfrm>
            <a:off x="1254486" y="482762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一般に自由度</a:t>
            </a:r>
            <a:r>
              <a:rPr lang="en-US" altLang="ja-JP" dirty="0" err="1"/>
              <a:t>df</a:t>
            </a:r>
            <a:endParaRPr lang="en-US" altLang="ja-JP" dirty="0"/>
          </a:p>
        </p:txBody>
      </p:sp>
      <mc:AlternateContent xmlns:mc="http://schemas.openxmlformats.org/markup-compatibility/2006" xmlns:a14="http://schemas.microsoft.com/office/drawing/2010/main">
        <mc:Choice Requires="a14">
          <p:sp>
            <p:nvSpPr>
              <p:cNvPr id="101" name="テキスト ボックス 100">
                <a:extLst>
                  <a:ext uri="{FF2B5EF4-FFF2-40B4-BE49-F238E27FC236}">
                    <a16:creationId xmlns:a16="http://schemas.microsoft.com/office/drawing/2014/main" id="{9299AC82-F4D7-477B-AF1F-20F6669EE17F}"/>
                  </a:ext>
                </a:extLst>
              </p:cNvPr>
              <p:cNvSpPr txBox="1"/>
              <p:nvPr/>
            </p:nvSpPr>
            <p:spPr>
              <a:xfrm>
                <a:off x="4952540" y="4797432"/>
                <a:ext cx="3371349" cy="70788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𝑛</m:t>
                      </m:r>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𝑘</m:t>
                      </m:r>
                    </m:oMath>
                  </m:oMathPara>
                </a14:m>
                <a:endParaRPr kumimoji="1" lang="ja-JP" altLang="en-US" sz="4000" dirty="0"/>
              </a:p>
            </p:txBody>
          </p:sp>
        </mc:Choice>
        <mc:Fallback xmlns="">
          <p:sp>
            <p:nvSpPr>
              <p:cNvPr id="101" name="テキスト ボックス 100">
                <a:extLst>
                  <a:ext uri="{FF2B5EF4-FFF2-40B4-BE49-F238E27FC236}">
                    <a16:creationId xmlns:a16="http://schemas.microsoft.com/office/drawing/2014/main" id="{9299AC82-F4D7-477B-AF1F-20F6669EE17F}"/>
                  </a:ext>
                </a:extLst>
              </p:cNvPr>
              <p:cNvSpPr txBox="1">
                <a:spLocks noRot="1" noChangeAspect="1" noMove="1" noResize="1" noEditPoints="1" noAdjustHandles="1" noChangeArrowheads="1" noChangeShapeType="1" noTextEdit="1"/>
              </p:cNvSpPr>
              <p:nvPr/>
            </p:nvSpPr>
            <p:spPr>
              <a:xfrm>
                <a:off x="4952540" y="4797432"/>
                <a:ext cx="3371349" cy="707886"/>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2" name="テキスト ボックス 101">
                <a:extLst>
                  <a:ext uri="{FF2B5EF4-FFF2-40B4-BE49-F238E27FC236}">
                    <a16:creationId xmlns:a16="http://schemas.microsoft.com/office/drawing/2014/main" id="{2320C5A6-347F-4E44-978D-66C84B34138D}"/>
                  </a:ext>
                </a:extLst>
              </p:cNvPr>
              <p:cNvSpPr txBox="1"/>
              <p:nvPr/>
            </p:nvSpPr>
            <p:spPr>
              <a:xfrm>
                <a:off x="7991475" y="4674010"/>
                <a:ext cx="4750970" cy="954107"/>
              </a:xfrm>
              <a:prstGeom prst="rect">
                <a:avLst/>
              </a:prstGeom>
              <a:noFill/>
            </p:spPr>
            <p:txBody>
              <a:bodyPr wrap="square" rtlCol="0">
                <a:spAutoFit/>
              </a:bodyPr>
              <a:lstStyle/>
              <a:p>
                <a:r>
                  <a:rPr lang="en-US" altLang="ja-JP" sz="2800" dirty="0"/>
                  <a:t>n</a:t>
                </a:r>
                <a14:m>
                  <m:oMath xmlns:m="http://schemas.openxmlformats.org/officeDocument/2006/math">
                    <m:r>
                      <a:rPr lang="ja-JP" altLang="en-US" sz="2800" i="1">
                        <a:latin typeface="Cambria Math" panose="02040503050406030204" pitchFamily="18" charset="0"/>
                      </a:rPr>
                      <m:t>：</m:t>
                    </m:r>
                  </m:oMath>
                </a14:m>
                <a:r>
                  <a:rPr kumimoji="1" lang="ja-JP" altLang="en-US" sz="2800" dirty="0"/>
                  <a:t>データ数</a:t>
                </a:r>
                <a:endParaRPr kumimoji="1" lang="en-US" altLang="ja-JP" sz="2800" dirty="0"/>
              </a:p>
              <a:p>
                <a14:m>
                  <m:oMath xmlns:m="http://schemas.openxmlformats.org/officeDocument/2006/math">
                    <m:r>
                      <a:rPr lang="en-US" altLang="ja-JP" sz="2800" b="0" i="1" smtClean="0">
                        <a:latin typeface="Cambria Math" panose="02040503050406030204" pitchFamily="18" charset="0"/>
                      </a:rPr>
                      <m:t>𝑘</m:t>
                    </m:r>
                    <m:r>
                      <a:rPr lang="ja-JP" altLang="en-US" sz="2800" i="1">
                        <a:latin typeface="Cambria Math" panose="02040503050406030204" pitchFamily="18" charset="0"/>
                      </a:rPr>
                      <m:t>：</m:t>
                    </m:r>
                  </m:oMath>
                </a14:m>
                <a:r>
                  <a:rPr kumimoji="1" lang="ja-JP" altLang="en-US" sz="2800" dirty="0"/>
                  <a:t>条件の数</a:t>
                </a:r>
              </a:p>
            </p:txBody>
          </p:sp>
        </mc:Choice>
        <mc:Fallback xmlns="">
          <p:sp>
            <p:nvSpPr>
              <p:cNvPr id="102" name="テキスト ボックス 101">
                <a:extLst>
                  <a:ext uri="{FF2B5EF4-FFF2-40B4-BE49-F238E27FC236}">
                    <a16:creationId xmlns:a16="http://schemas.microsoft.com/office/drawing/2014/main" id="{2320C5A6-347F-4E44-978D-66C84B34138D}"/>
                  </a:ext>
                </a:extLst>
              </p:cNvPr>
              <p:cNvSpPr txBox="1">
                <a:spLocks noRot="1" noChangeAspect="1" noMove="1" noResize="1" noEditPoints="1" noAdjustHandles="1" noChangeArrowheads="1" noChangeShapeType="1" noTextEdit="1"/>
              </p:cNvSpPr>
              <p:nvPr/>
            </p:nvSpPr>
            <p:spPr>
              <a:xfrm>
                <a:off x="7991475" y="4674010"/>
                <a:ext cx="4750970" cy="954107"/>
              </a:xfrm>
              <a:prstGeom prst="rect">
                <a:avLst/>
              </a:prstGeom>
              <a:blipFill>
                <a:blip r:embed="rId6"/>
                <a:stretch>
                  <a:fillRect l="-2696" t="-8974" b="-18590"/>
                </a:stretch>
              </a:blipFill>
            </p:spPr>
            <p:txBody>
              <a:bodyPr/>
              <a:lstStyle/>
              <a:p>
                <a:r>
                  <a:rPr lang="ja-JP" altLang="en-US">
                    <a:noFill/>
                  </a:rPr>
                  <a:t> </a:t>
                </a:r>
              </a:p>
            </p:txBody>
          </p:sp>
        </mc:Fallback>
      </mc:AlternateContent>
      <p:sp>
        <p:nvSpPr>
          <p:cNvPr id="103" name="三角形 12">
            <a:extLst>
              <a:ext uri="{FF2B5EF4-FFF2-40B4-BE49-F238E27FC236}">
                <a16:creationId xmlns:a16="http://schemas.microsoft.com/office/drawing/2014/main" id="{F0EEBA86-6058-4750-9C69-08AF8AE97BDE}"/>
              </a:ext>
            </a:extLst>
          </p:cNvPr>
          <p:cNvSpPr/>
          <p:nvPr/>
        </p:nvSpPr>
        <p:spPr>
          <a:xfrm rot="5400000">
            <a:off x="1076238" y="578947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104" name="テキスト プレースホルダー 29">
                <a:extLst>
                  <a:ext uri="{FF2B5EF4-FFF2-40B4-BE49-F238E27FC236}">
                    <a16:creationId xmlns:a16="http://schemas.microsoft.com/office/drawing/2014/main" id="{07009295-78E3-43C5-935F-70EFA41CA413}"/>
                  </a:ext>
                </a:extLst>
              </p:cNvPr>
              <p:cNvSpPr txBox="1">
                <a:spLocks/>
              </p:cNvSpPr>
              <p:nvPr/>
            </p:nvSpPr>
            <p:spPr>
              <a:xfrm>
                <a:off x="1568600" y="567419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t</a:t>
                </a:r>
                <a:r>
                  <a:rPr lang="ja-JP" altLang="en-US" dirty="0">
                    <a:solidFill>
                      <a:schemeClr val="tx1"/>
                    </a:solidFill>
                  </a:rPr>
                  <a:t>検定の自由度</a:t>
                </a:r>
                <a14:m>
                  <m:oMath xmlns:m="http://schemas.openxmlformats.org/officeDocument/2006/math">
                    <m:r>
                      <a:rPr lang="ja-JP" altLang="en-US" i="1" dirty="0" smtClean="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126</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150</m:t>
                    </m:r>
                    <m:r>
                      <a:rPr lang="ja-JP" altLang="en-US" i="1" dirty="0" smtClean="0">
                        <a:solidFill>
                          <a:schemeClr val="tx1"/>
                        </a:solidFill>
                        <a:latin typeface="Cambria Math" panose="02040503050406030204" pitchFamily="18" charset="0"/>
                      </a:rPr>
                      <m:t>名</m:t>
                    </m:r>
                    <m:r>
                      <a:rPr lang="en-US" altLang="ja-JP" i="1" dirty="0" smtClean="0">
                        <a:solidFill>
                          <a:schemeClr val="tx1"/>
                        </a:solidFill>
                        <a:latin typeface="Cambria Math" panose="02040503050406030204" pitchFamily="18" charset="0"/>
                      </a:rPr>
                      <m:t>−24</m:t>
                    </m:r>
                    <m:r>
                      <a:rPr lang="ja-JP" altLang="en-US" i="1" dirty="0" smtClean="0">
                        <a:solidFill>
                          <a:schemeClr val="tx1"/>
                        </a:solidFill>
                        <a:latin typeface="Cambria Math" panose="02040503050406030204" pitchFamily="18" charset="0"/>
                      </a:rPr>
                      <m:t>名</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=125</m:t>
                    </m:r>
                  </m:oMath>
                </a14:m>
                <a:endParaRPr lang="ja-JP" altLang="en-US" dirty="0">
                  <a:solidFill>
                    <a:schemeClr val="accent2"/>
                  </a:solidFill>
                </a:endParaRPr>
              </a:p>
            </p:txBody>
          </p:sp>
        </mc:Choice>
        <mc:Fallback xmlns="">
          <p:sp>
            <p:nvSpPr>
              <p:cNvPr id="104" name="テキスト プレースホルダー 29">
                <a:extLst>
                  <a:ext uri="{FF2B5EF4-FFF2-40B4-BE49-F238E27FC236}">
                    <a16:creationId xmlns:a16="http://schemas.microsoft.com/office/drawing/2014/main" id="{07009295-78E3-43C5-935F-70EFA41CA413}"/>
                  </a:ext>
                </a:extLst>
              </p:cNvPr>
              <p:cNvSpPr txBox="1">
                <a:spLocks noRot="1" noChangeAspect="1" noMove="1" noResize="1" noEditPoints="1" noAdjustHandles="1" noChangeArrowheads="1" noChangeShapeType="1" noTextEdit="1"/>
              </p:cNvSpPr>
              <p:nvPr/>
            </p:nvSpPr>
            <p:spPr>
              <a:xfrm>
                <a:off x="1568600" y="5674198"/>
                <a:ext cx="18275484" cy="853994"/>
              </a:xfrm>
              <a:prstGeom prst="rect">
                <a:avLst/>
              </a:prstGeom>
              <a:blipFill>
                <a:blip r:embed="rId7"/>
                <a:stretch>
                  <a:fillRect l="-1167" t="-21429" b="-10000"/>
                </a:stretch>
              </a:blipFill>
            </p:spPr>
            <p:txBody>
              <a:bodyPr/>
              <a:lstStyle/>
              <a:p>
                <a:r>
                  <a:rPr lang="ja-JP" altLang="en-US">
                    <a:noFill/>
                  </a:rPr>
                  <a:t> </a:t>
                </a:r>
              </a:p>
            </p:txBody>
          </p:sp>
        </mc:Fallback>
      </mc:AlternateContent>
      <p:sp>
        <p:nvSpPr>
          <p:cNvPr id="29" name="三角形 12">
            <a:extLst>
              <a:ext uri="{FF2B5EF4-FFF2-40B4-BE49-F238E27FC236}">
                <a16:creationId xmlns:a16="http://schemas.microsoft.com/office/drawing/2014/main" id="{247F4DE0-7369-4900-A295-545FAC8EAA5D}"/>
              </a:ext>
            </a:extLst>
          </p:cNvPr>
          <p:cNvSpPr/>
          <p:nvPr/>
        </p:nvSpPr>
        <p:spPr>
          <a:xfrm rot="5400000">
            <a:off x="1074006" y="656153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820DDAF2-5F28-4F4A-A1A4-6FE17E799ACD}"/>
                  </a:ext>
                </a:extLst>
              </p:cNvPr>
              <p:cNvSpPr txBox="1">
                <a:spLocks/>
              </p:cNvSpPr>
              <p:nvPr/>
            </p:nvSpPr>
            <p:spPr>
              <a:xfrm>
                <a:off x="1566368" y="644625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b="0" i="0"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3(</m:t>
                    </m:r>
                    <m:r>
                      <a:rPr lang="ja-JP" altLang="en-US" i="1" dirty="0">
                        <a:solidFill>
                          <a:schemeClr val="tx1"/>
                        </a:solidFill>
                        <a:latin typeface="Cambria Math" panose="02040503050406030204" pitchFamily="18" charset="0"/>
                      </a:rPr>
                      <m:t>怒り</m:t>
                    </m:r>
                    <m:r>
                      <a:rPr lang="ja-JP" altLang="en-US"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喜び</m:t>
                    </m:r>
                    <m:r>
                      <a:rPr lang="ja-JP" altLang="en-US"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中立</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=2</m:t>
                    </m:r>
                  </m:oMath>
                </a14:m>
                <a:endParaRPr lang="ja-JP" altLang="en-US" dirty="0">
                  <a:solidFill>
                    <a:schemeClr val="accent2"/>
                  </a:solidFill>
                </a:endParaRPr>
              </a:p>
            </p:txBody>
          </p:sp>
        </mc:Choice>
        <mc:Fallback xmlns="">
          <p:sp>
            <p:nvSpPr>
              <p:cNvPr id="30" name="テキスト プレースホルダー 29">
                <a:extLst>
                  <a:ext uri="{FF2B5EF4-FFF2-40B4-BE49-F238E27FC236}">
                    <a16:creationId xmlns:a16="http://schemas.microsoft.com/office/drawing/2014/main" id="{820DDAF2-5F28-4F4A-A1A4-6FE17E799ACD}"/>
                  </a:ext>
                </a:extLst>
              </p:cNvPr>
              <p:cNvSpPr txBox="1">
                <a:spLocks noRot="1" noChangeAspect="1" noMove="1" noResize="1" noEditPoints="1" noAdjustHandles="1" noChangeArrowheads="1" noChangeShapeType="1" noTextEdit="1"/>
              </p:cNvSpPr>
              <p:nvPr/>
            </p:nvSpPr>
            <p:spPr>
              <a:xfrm>
                <a:off x="1566368" y="6446258"/>
                <a:ext cx="18275484" cy="853994"/>
              </a:xfrm>
              <a:prstGeom prst="rect">
                <a:avLst/>
              </a:prstGeom>
              <a:blipFill>
                <a:blip r:embed="rId8"/>
                <a:stretch>
                  <a:fillRect l="-1201" t="-19858" b="-10638"/>
                </a:stretch>
              </a:blipFill>
            </p:spPr>
            <p:txBody>
              <a:bodyPr/>
              <a:lstStyle/>
              <a:p>
                <a:r>
                  <a:rPr lang="ja-JP" altLang="en-US">
                    <a:noFill/>
                  </a:rPr>
                  <a:t> </a:t>
                </a:r>
              </a:p>
            </p:txBody>
          </p:sp>
        </mc:Fallback>
      </mc:AlternateContent>
      <p:sp>
        <p:nvSpPr>
          <p:cNvPr id="31" name="三角形 12">
            <a:extLst>
              <a:ext uri="{FF2B5EF4-FFF2-40B4-BE49-F238E27FC236}">
                <a16:creationId xmlns:a16="http://schemas.microsoft.com/office/drawing/2014/main" id="{65595DA7-2467-4BB5-81D7-9529235CECA6}"/>
              </a:ext>
            </a:extLst>
          </p:cNvPr>
          <p:cNvSpPr/>
          <p:nvPr/>
        </p:nvSpPr>
        <p:spPr>
          <a:xfrm rot="5400000">
            <a:off x="1076238" y="737164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2" name="テキスト プレースホルダー 29">
                <a:extLst>
                  <a:ext uri="{FF2B5EF4-FFF2-40B4-BE49-F238E27FC236}">
                    <a16:creationId xmlns:a16="http://schemas.microsoft.com/office/drawing/2014/main" id="{A59BE8D2-7476-4DFB-AFFD-9EA7C74750F2}"/>
                  </a:ext>
                </a:extLst>
              </p:cNvPr>
              <p:cNvSpPr txBox="1">
                <a:spLocks/>
              </p:cNvSpPr>
              <p:nvPr/>
            </p:nvSpPr>
            <p:spPr>
              <a:xfrm>
                <a:off x="1568600" y="7256366"/>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b="0" i="0"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2)</m:t>
                    </m:r>
                    <m:r>
                      <a:rPr lang="ja-JP" altLang="en-US" i="1" dirty="0" smtClean="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126</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150</m:t>
                    </m:r>
                    <m:r>
                      <a:rPr lang="ja-JP" altLang="en-US" i="1" dirty="0" smtClean="0">
                        <a:solidFill>
                          <a:schemeClr val="tx1"/>
                        </a:solidFill>
                        <a:latin typeface="Cambria Math" panose="02040503050406030204" pitchFamily="18" charset="0"/>
                      </a:rPr>
                      <m:t>名</m:t>
                    </m:r>
                    <m:r>
                      <a:rPr lang="en-US" altLang="ja-JP" i="1" dirty="0" smtClean="0">
                        <a:solidFill>
                          <a:schemeClr val="tx1"/>
                        </a:solidFill>
                        <a:latin typeface="Cambria Math" panose="02040503050406030204" pitchFamily="18" charset="0"/>
                      </a:rPr>
                      <m:t>−24</m:t>
                    </m:r>
                    <m:r>
                      <a:rPr lang="ja-JP" altLang="en-US" i="1" dirty="0" smtClean="0">
                        <a:solidFill>
                          <a:schemeClr val="tx1"/>
                        </a:solidFill>
                        <a:latin typeface="Cambria Math" panose="02040503050406030204" pitchFamily="18" charset="0"/>
                      </a:rPr>
                      <m:t>名</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6(</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=12</m:t>
                    </m:r>
                    <m:r>
                      <a:rPr lang="en-US" altLang="ja-JP" b="0" i="1" dirty="0" smtClean="0">
                        <a:solidFill>
                          <a:schemeClr val="tx1"/>
                        </a:solidFill>
                        <a:latin typeface="Cambria Math" panose="02040503050406030204" pitchFamily="18" charset="0"/>
                      </a:rPr>
                      <m:t>0</m:t>
                    </m:r>
                  </m:oMath>
                </a14:m>
                <a:endParaRPr lang="ja-JP" altLang="en-US" dirty="0">
                  <a:solidFill>
                    <a:schemeClr val="accent2"/>
                  </a:solidFill>
                </a:endParaRPr>
              </a:p>
            </p:txBody>
          </p:sp>
        </mc:Choice>
        <mc:Fallback xmlns="">
          <p:sp>
            <p:nvSpPr>
              <p:cNvPr id="32" name="テキスト プレースホルダー 29">
                <a:extLst>
                  <a:ext uri="{FF2B5EF4-FFF2-40B4-BE49-F238E27FC236}">
                    <a16:creationId xmlns:a16="http://schemas.microsoft.com/office/drawing/2014/main" id="{A59BE8D2-7476-4DFB-AFFD-9EA7C74750F2}"/>
                  </a:ext>
                </a:extLst>
              </p:cNvPr>
              <p:cNvSpPr txBox="1">
                <a:spLocks noRot="1" noChangeAspect="1" noMove="1" noResize="1" noEditPoints="1" noAdjustHandles="1" noChangeArrowheads="1" noChangeShapeType="1" noTextEdit="1"/>
              </p:cNvSpPr>
              <p:nvPr/>
            </p:nvSpPr>
            <p:spPr>
              <a:xfrm>
                <a:off x="1568600" y="7256366"/>
                <a:ext cx="18275484" cy="853994"/>
              </a:xfrm>
              <a:prstGeom prst="rect">
                <a:avLst/>
              </a:prstGeom>
              <a:blipFill>
                <a:blip r:embed="rId9"/>
                <a:stretch>
                  <a:fillRect l="-1167" t="-21429" b="-1000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922953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0F43D92D-1E68-EF4A-8153-4DC9B21D77FE}"/>
              </a:ext>
            </a:extLst>
          </p:cNvPr>
          <p:cNvGrpSpPr/>
          <p:nvPr/>
        </p:nvGrpSpPr>
        <p:grpSpPr>
          <a:xfrm>
            <a:off x="289330" y="1413298"/>
            <a:ext cx="2160000" cy="934436"/>
            <a:chOff x="144665" y="525617"/>
            <a:chExt cx="1080000" cy="467218"/>
          </a:xfrm>
        </p:grpSpPr>
        <p:sp>
          <p:nvSpPr>
            <p:cNvPr id="38" name="正方形/長方形 37">
              <a:extLst>
                <a:ext uri="{FF2B5EF4-FFF2-40B4-BE49-F238E27FC236}">
                  <a16:creationId xmlns:a16="http://schemas.microsoft.com/office/drawing/2014/main" id="{A34D3398-9322-F748-B364-CA3F60D9B54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9" name="正方形/長方形 38">
              <a:extLst>
                <a:ext uri="{FF2B5EF4-FFF2-40B4-BE49-F238E27FC236}">
                  <a16:creationId xmlns:a16="http://schemas.microsoft.com/office/drawing/2014/main" id="{DD43C602-551C-5746-BC9B-C19E492EADD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0" name="グループ化 39">
            <a:extLst>
              <a:ext uri="{FF2B5EF4-FFF2-40B4-BE49-F238E27FC236}">
                <a16:creationId xmlns:a16="http://schemas.microsoft.com/office/drawing/2014/main" id="{7D2F3500-005E-9541-81E5-8F781456C6E9}"/>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D29DEB6E-A193-0546-B684-3CB43FF9DF4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2CEA62FD-E89F-5B40-B5BD-22C36179584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F0E65632-B875-9644-B7BD-5AC77419A68E}"/>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7">
            <a:extLst>
              <a:ext uri="{FF2B5EF4-FFF2-40B4-BE49-F238E27FC236}">
                <a16:creationId xmlns:a16="http://schemas.microsoft.com/office/drawing/2014/main" id="{3ED0938B-63CA-DD4A-9751-C64A1DA1B535}"/>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45" name="テキスト プレースホルダー 29">
            <a:extLst>
              <a:ext uri="{FF2B5EF4-FFF2-40B4-BE49-F238E27FC236}">
                <a16:creationId xmlns:a16="http://schemas.microsoft.com/office/drawing/2014/main" id="{090E7D85-8568-4F42-952D-8AE547A43A3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46" name="テキスト プレースホルダー 30">
            <a:extLst>
              <a:ext uri="{FF2B5EF4-FFF2-40B4-BE49-F238E27FC236}">
                <a16:creationId xmlns:a16="http://schemas.microsoft.com/office/drawing/2014/main" id="{8C754852-53DA-F34B-BF94-C8A63863454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a:t>1</a:t>
            </a:r>
            <a:endParaRPr lang="ja-JP" altLang="en-US"/>
          </a:p>
        </p:txBody>
      </p:sp>
      <p:sp>
        <p:nvSpPr>
          <p:cNvPr id="12" name="正方形/長方形 11">
            <a:extLst>
              <a:ext uri="{FF2B5EF4-FFF2-40B4-BE49-F238E27FC236}">
                <a16:creationId xmlns:a16="http://schemas.microsoft.com/office/drawing/2014/main" id="{476B25E6-38D1-DE4E-879D-49178108AB02}"/>
              </a:ext>
            </a:extLst>
          </p:cNvPr>
          <p:cNvSpPr/>
          <p:nvPr/>
        </p:nvSpPr>
        <p:spPr>
          <a:xfrm>
            <a:off x="617232" y="3762234"/>
            <a:ext cx="2160000" cy="32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 name="日付プレースホルダー 1">
            <a:extLst>
              <a:ext uri="{FF2B5EF4-FFF2-40B4-BE49-F238E27FC236}">
                <a16:creationId xmlns:a16="http://schemas.microsoft.com/office/drawing/2014/main" id="{DE492A0B-E8BA-440E-A362-71EB5D2801D7}"/>
              </a:ext>
            </a:extLst>
          </p:cNvPr>
          <p:cNvSpPr>
            <a:spLocks noGrp="1"/>
          </p:cNvSpPr>
          <p:nvPr>
            <p:ph type="dt" sz="half" idx="10"/>
          </p:nvPr>
        </p:nvSpPr>
        <p:spPr/>
        <p:txBody>
          <a:bodyPr/>
          <a:lstStyle/>
          <a:p>
            <a:fld id="{49692F1E-685E-40C6-A42B-8BC18A18F21A}" type="datetime1">
              <a:rPr kumimoji="1" lang="ja-JP" altLang="en-US" smtClean="0"/>
              <a:t>2018/6/8</a:t>
            </a:fld>
            <a:endParaRPr kumimoji="1" lang="ja-JP" altLang="en-US"/>
          </a:p>
        </p:txBody>
      </p:sp>
      <p:sp>
        <p:nvSpPr>
          <p:cNvPr id="3" name="フッター プレースホルダー 2">
            <a:extLst>
              <a:ext uri="{FF2B5EF4-FFF2-40B4-BE49-F238E27FC236}">
                <a16:creationId xmlns:a16="http://schemas.microsoft.com/office/drawing/2014/main" id="{DB7F1FD1-C822-464D-940C-DAB95B6F1E62}"/>
              </a:ext>
            </a:extLst>
          </p:cNvPr>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スライド番号プレースホルダー 3">
            <a:extLst>
              <a:ext uri="{FF2B5EF4-FFF2-40B4-BE49-F238E27FC236}">
                <a16:creationId xmlns:a16="http://schemas.microsoft.com/office/drawing/2014/main" id="{99DEFD88-84B7-4DCC-9111-EA6F81B25BBB}"/>
              </a:ext>
            </a:extLst>
          </p:cNvPr>
          <p:cNvSpPr>
            <a:spLocks noGrp="1"/>
          </p:cNvSpPr>
          <p:nvPr>
            <p:ph type="sldNum" sz="quarter" idx="12"/>
          </p:nvPr>
        </p:nvSpPr>
        <p:spPr/>
        <p:txBody>
          <a:bodyPr/>
          <a:lstStyle/>
          <a:p>
            <a:fld id="{89242BC1-393D-1248-985B-18DA624F2964}" type="slidenum">
              <a:rPr kumimoji="1" lang="ja-JP" altLang="en-US" smtClean="0"/>
              <a:t>29</a:t>
            </a:fld>
            <a:endParaRPr kumimoji="1" lang="ja-JP" altLang="en-US"/>
          </a:p>
        </p:txBody>
      </p:sp>
    </p:spTree>
    <p:extLst>
      <p:ext uri="{BB962C8B-B14F-4D97-AF65-F5344CB8AC3E}">
        <p14:creationId xmlns:p14="http://schemas.microsoft.com/office/powerpoint/2010/main" val="22043327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2018/6/9</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30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被験者が送信したメッセージの数</a:t>
            </a:r>
            <a:r>
              <a:rPr lang="en-US" altLang="ja-JP" dirty="0"/>
              <a:t>(</a:t>
            </a:r>
            <a:r>
              <a:rPr lang="ja-JP" altLang="en-US"/>
              <a:t>選好除外</a:t>
            </a:r>
            <a:r>
              <a:rPr lang="en-US" altLang="ja-JP" dirty="0"/>
              <a:t>)</a:t>
            </a:r>
            <a:endParaRPr lang="ja-JP" altLang="en-US"/>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主効果</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4.949</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b="0" i="1" smtClean="0">
                          <a:latin typeface="Cambria Math" panose="02040503050406030204" pitchFamily="18" charset="0"/>
                        </a:rPr>
                        <m:t>=</m:t>
                      </m:r>
                      <m:r>
                        <a:rPr lang="en-US" altLang="ja-JP" i="1">
                          <a:latin typeface="Cambria Math" panose="02040503050406030204" pitchFamily="18" charset="0"/>
                        </a:rPr>
                        <m:t>.0</m:t>
                      </m:r>
                      <m:r>
                        <a:rPr lang="en-US" altLang="ja-JP" b="0" i="1" smtClean="0">
                          <a:latin typeface="Cambria Math" panose="02040503050406030204" pitchFamily="18" charset="0"/>
                        </a:rPr>
                        <m:t>27</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=0.303</m:t>
                      </m:r>
                    </m:oMath>
                  </m:oMathPara>
                </a14:m>
                <a:endParaRPr lang="ja-JP" altLang="en-US"/>
              </a:p>
            </p:txBody>
          </p:sp>
        </mc:Choice>
        <mc:Fallback>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764" t="-5882"/>
                </a:stretch>
              </a:blipFill>
            </p:spPr>
            <p:txBody>
              <a:bodyPr/>
              <a:lstStyle/>
              <a:p>
                <a:r>
                  <a:rPr lang="ja-JP" altLang="en-US">
                    <a:noFill/>
                  </a:rPr>
                  <a:t> </a:t>
                </a:r>
              </a:p>
            </p:txBody>
          </p:sp>
        </mc:Fallback>
      </mc:AlternateContent>
      <p:sp>
        <p:nvSpPr>
          <p:cNvPr id="29" name="テキスト プレースホルダー 27">
            <a:extLst>
              <a:ext uri="{FF2B5EF4-FFF2-40B4-BE49-F238E27FC236}">
                <a16:creationId xmlns:a16="http://schemas.microsoft.com/office/drawing/2014/main" id="{32E235EC-C2CC-F847-A121-E4B5E8F68547}"/>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戦略とトーンに交互効果</a:t>
            </a:r>
            <a:r>
              <a:rPr lang="ja-JP" altLang="en-US">
                <a:solidFill>
                  <a:schemeClr val="accent3"/>
                </a:solidFill>
              </a:rPr>
              <a:t>なし</a:t>
            </a:r>
            <a:endParaRPr lang="en-US" altLang="ja-JP" dirty="0">
              <a:solidFill>
                <a:schemeClr val="accent3"/>
              </a:solidFill>
            </a:endParaRPr>
          </a:p>
        </p:txBody>
      </p:sp>
      <p:grpSp>
        <p:nvGrpSpPr>
          <p:cNvPr id="30" name="グループ化 29">
            <a:extLst>
              <a:ext uri="{FF2B5EF4-FFF2-40B4-BE49-F238E27FC236}">
                <a16:creationId xmlns:a16="http://schemas.microsoft.com/office/drawing/2014/main" id="{6F6FE64F-328E-5741-99EA-CA8E94FB595D}"/>
              </a:ext>
            </a:extLst>
          </p:cNvPr>
          <p:cNvGrpSpPr/>
          <p:nvPr/>
        </p:nvGrpSpPr>
        <p:grpSpPr>
          <a:xfrm>
            <a:off x="617232" y="4223807"/>
            <a:ext cx="539448" cy="487368"/>
            <a:chOff x="400056" y="1061560"/>
            <a:chExt cx="269724" cy="243684"/>
          </a:xfrm>
        </p:grpSpPr>
        <p:sp>
          <p:nvSpPr>
            <p:cNvPr id="34" name="三角形 33">
              <a:extLst>
                <a:ext uri="{FF2B5EF4-FFF2-40B4-BE49-F238E27FC236}">
                  <a16:creationId xmlns:a16="http://schemas.microsoft.com/office/drawing/2014/main" id="{89023521-6EED-3D40-AD5E-74B3836CD96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三角形 34">
              <a:extLst>
                <a:ext uri="{FF2B5EF4-FFF2-40B4-BE49-F238E27FC236}">
                  <a16:creationId xmlns:a16="http://schemas.microsoft.com/office/drawing/2014/main" id="{D4725244-A083-3540-BA15-FE9097AE5AC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30026760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2018/6/9</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31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エージェントの勝率</a:t>
            </a:r>
          </a:p>
        </p:txBody>
      </p:sp>
      <mc:AlternateContent xmlns:mc="http://schemas.openxmlformats.org/markup-compatibility/2006">
        <mc:Choice xmlns:a14="http://schemas.microsoft.com/office/drawing/2010/main" Requires="a14">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検定を使用しエージェントの戦略による影響を分析</a:t>
                </a:r>
                <a:endParaRPr lang="en-US" altLang="ja-JP" dirty="0"/>
              </a:p>
            </p:txBody>
          </p:sp>
        </mc:Choice>
        <mc:Fallback>
          <p:sp>
            <p:nvSpPr>
              <p:cNvPr id="27" name="テキスト プレースホルダー 27">
                <a:extLst>
                  <a:ext uri="{FF2B5EF4-FFF2-40B4-BE49-F238E27FC236}">
                    <a16:creationId xmlns:a16="http://schemas.microsoft.com/office/drawing/2014/main" id="{93A2A9E1-21DA-184F-B179-025C75CC0F29}"/>
                  </a:ext>
                </a:extLst>
              </p:cNvPr>
              <p:cNvSpPr txBox="1">
                <a:spLocks noRot="1" noChangeAspect="1" noMove="1" noResize="1" noEditPoints="1" noAdjustHandles="1" noChangeArrowheads="1" noChangeShapeType="1" noTextEdit="1"/>
              </p:cNvSpPr>
              <p:nvPr/>
            </p:nvSpPr>
            <p:spPr>
              <a:xfrm>
                <a:off x="1254486" y="2486122"/>
                <a:ext cx="17551674" cy="1721508"/>
              </a:xfrm>
              <a:prstGeom prst="rect">
                <a:avLst/>
              </a:prstGeom>
              <a:blipFill>
                <a:blip r:embed="rId2"/>
                <a:stretch>
                  <a:fillRect l="-651" t="-10294"/>
                </a:stretch>
              </a:blipFill>
            </p:spPr>
            <p:txBody>
              <a:bodyPr/>
              <a:lstStyle/>
              <a:p>
                <a:r>
                  <a:rPr lang="ja-JP" altLang="en-US">
                    <a:noFill/>
                  </a:rPr>
                  <a:t> </a:t>
                </a:r>
              </a:p>
            </p:txBody>
          </p:sp>
        </mc:Fallback>
      </mc:AlternateContent>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三角形 19">
            <a:extLst>
              <a:ext uri="{FF2B5EF4-FFF2-40B4-BE49-F238E27FC236}">
                <a16:creationId xmlns:a16="http://schemas.microsoft.com/office/drawing/2014/main" id="{CE745CCD-58D9-7641-9186-E5F49B6D63D8}"/>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21" name="テキスト プレースホルダー 29">
                <a:extLst>
                  <a:ext uri="{FF2B5EF4-FFF2-40B4-BE49-F238E27FC236}">
                    <a16:creationId xmlns:a16="http://schemas.microsoft.com/office/drawing/2014/main" id="{12BDE794-8098-264A-BC23-90CF86C3BDC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3"/>
                    </a:solidFill>
                  </a:rPr>
                  <a:t>なし</a:t>
                </a:r>
                <a14:m>
                  <m:oMath xmlns:m="http://schemas.openxmlformats.org/officeDocument/2006/math">
                    <m:r>
                      <a:rPr lang="en-US" altLang="ja-JP">
                        <a:latin typeface="Cambria Math" panose="02040503050406030204" pitchFamily="18" charset="0"/>
                      </a:rPr>
                      <m:t>    </m:t>
                    </m:r>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d>
                      <m:dPr>
                        <m:ctrlPr>
                          <a:rPr lang="en-US" altLang="ja-JP" i="1">
                            <a:latin typeface="Cambria Math" panose="02040503050406030204" pitchFamily="18" charset="0"/>
                          </a:rPr>
                        </m:ctrlPr>
                      </m:dPr>
                      <m:e>
                        <m:r>
                          <a:rPr lang="en-US" altLang="ja-JP" i="1">
                            <a:latin typeface="Cambria Math" panose="02040503050406030204" pitchFamily="18" charset="0"/>
                          </a:rPr>
                          <m:t>1,196</m:t>
                        </m:r>
                      </m:e>
                    </m:d>
                    <m:r>
                      <a:rPr lang="en-US" altLang="ja-JP" i="1">
                        <a:latin typeface="Cambria Math" panose="02040503050406030204" pitchFamily="18" charset="0"/>
                      </a:rPr>
                      <m:t>=</m:t>
                    </m:r>
                    <m:r>
                      <a:rPr lang="en-US" altLang="ja-JP" b="0" i="1" smtClean="0">
                        <a:latin typeface="Cambria Math" panose="02040503050406030204" pitchFamily="18" charset="0"/>
                      </a:rPr>
                      <m:t>1</m:t>
                    </m:r>
                    <m:r>
                      <a:rPr lang="en-US" altLang="ja-JP" i="1">
                        <a:latin typeface="Cambria Math" panose="02040503050406030204" pitchFamily="18" charset="0"/>
                      </a:rPr>
                      <m:t>.</m:t>
                    </m:r>
                    <m:r>
                      <a:rPr lang="en-US" altLang="ja-JP" b="0" i="1" smtClean="0">
                        <a:latin typeface="Cambria Math" panose="02040503050406030204" pitchFamily="18" charset="0"/>
                      </a:rPr>
                      <m:t>242</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m:t>
                    </m:r>
                    <m:r>
                      <a:rPr lang="en-US" altLang="ja-JP" b="0" i="1" smtClean="0">
                        <a:latin typeface="Cambria Math" panose="02040503050406030204" pitchFamily="18" charset="0"/>
                      </a:rPr>
                      <m:t>𝑛𝑠</m:t>
                    </m:r>
                  </m:oMath>
                </a14:m>
                <a:endParaRPr lang="ja-JP" altLang="en-US"/>
              </a:p>
            </p:txBody>
          </p:sp>
        </mc:Choice>
        <mc:Fallback>
          <p:sp>
            <p:nvSpPr>
              <p:cNvPr id="21" name="テキスト プレースホルダー 29">
                <a:extLst>
                  <a:ext uri="{FF2B5EF4-FFF2-40B4-BE49-F238E27FC236}">
                    <a16:creationId xmlns:a16="http://schemas.microsoft.com/office/drawing/2014/main" id="{12BDE794-8098-264A-BC23-90CF86C3BDC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1181" t="-16176" b="-8824"/>
                </a:stretch>
              </a:blipFill>
            </p:spPr>
            <p:txBody>
              <a:bodyPr/>
              <a:lstStyle/>
              <a:p>
                <a:r>
                  <a:rPr lang="ja-JP" altLang="en-US">
                    <a:noFill/>
                  </a:rPr>
                  <a:t> </a:t>
                </a:r>
              </a:p>
            </p:txBody>
          </p:sp>
        </mc:Fallback>
      </mc:AlternateContent>
      <p:sp>
        <p:nvSpPr>
          <p:cNvPr id="29" name="三角形 28">
            <a:extLst>
              <a:ext uri="{FF2B5EF4-FFF2-40B4-BE49-F238E27FC236}">
                <a16:creationId xmlns:a16="http://schemas.microsoft.com/office/drawing/2014/main" id="{78A506A5-CBB2-F244-BB24-692A56580116}"/>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mc:Choice xmlns:a14="http://schemas.microsoft.com/office/drawing/2010/main" Requires="a14">
          <p:sp>
            <p:nvSpPr>
              <p:cNvPr id="30" name="テキスト プレースホルダー 29">
                <a:extLst>
                  <a:ext uri="{FF2B5EF4-FFF2-40B4-BE49-F238E27FC236}">
                    <a16:creationId xmlns:a16="http://schemas.microsoft.com/office/drawing/2014/main" id="{FFE858AC-41E6-5D42-874E-AF33C25AE90B}"/>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m:rPr>
                          <m:nor/>
                        </m:rPr>
                        <a:rPr lang="ja-JP" altLang="en-US" smtClean="0"/>
                        <m:t>有意差</m:t>
                      </m:r>
                      <m:r>
                        <a:rPr lang="ja-JP" altLang="en-US" i="1" smtClean="0">
                          <a:solidFill>
                            <a:schemeClr val="accent2"/>
                          </a:solidFill>
                          <a:latin typeface="Cambria Math" panose="02040503050406030204" pitchFamily="18" charset="0"/>
                        </a:rPr>
                        <m:t>あり</m:t>
                      </m:r>
                      <m:r>
                        <a:rPr lang="en-US" altLang="ja-JP">
                          <a:latin typeface="Cambria Math" panose="02040503050406030204" pitchFamily="18" charset="0"/>
                        </a:rPr>
                        <m:t>    </m:t>
                      </m:r>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d>
                        <m:dPr>
                          <m:ctrlPr>
                            <a:rPr lang="en-US" altLang="ja-JP" i="1">
                              <a:latin typeface="Cambria Math" panose="02040503050406030204" pitchFamily="18" charset="0"/>
                            </a:rPr>
                          </m:ctrlPr>
                        </m:dPr>
                        <m:e>
                          <m:r>
                            <a:rPr lang="en-US" altLang="ja-JP" i="1">
                              <a:latin typeface="Cambria Math" panose="02040503050406030204" pitchFamily="18" charset="0"/>
                            </a:rPr>
                            <m:t>1,196</m:t>
                          </m:r>
                        </m:e>
                      </m:d>
                      <m:r>
                        <a:rPr lang="en-US" altLang="ja-JP" i="1">
                          <a:latin typeface="Cambria Math" panose="02040503050406030204" pitchFamily="18" charset="0"/>
                        </a:rPr>
                        <m:t>=</m:t>
                      </m:r>
                      <m:r>
                        <a:rPr lang="en-US" altLang="ja-JP" b="0" i="1" smtClean="0">
                          <a:latin typeface="Cambria Math" panose="02040503050406030204" pitchFamily="18" charset="0"/>
                        </a:rPr>
                        <m:t>5.</m:t>
                      </m:r>
                      <m:r>
                        <a:rPr lang="en-US" altLang="ja-JP" i="1">
                          <a:latin typeface="Cambria Math" panose="02040503050406030204" pitchFamily="18" charset="0"/>
                        </a:rPr>
                        <m:t>879</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oMath>
                  </m:oMathPara>
                </a14:m>
                <a:endParaRPr lang="ja-JP" altLang="en-US"/>
              </a:p>
            </p:txBody>
          </p:sp>
        </mc:Choice>
        <mc:Fallback>
          <p:sp>
            <p:nvSpPr>
              <p:cNvPr id="30" name="テキスト プレースホルダー 29">
                <a:extLst>
                  <a:ext uri="{FF2B5EF4-FFF2-40B4-BE49-F238E27FC236}">
                    <a16:creationId xmlns:a16="http://schemas.microsoft.com/office/drawing/2014/main" id="{FFE858AC-41E6-5D42-874E-AF33C25AE90B}"/>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7353"/>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4" name="テキスト プレースホルダー 27">
                <a:extLst>
                  <a:ext uri="{FF2B5EF4-FFF2-40B4-BE49-F238E27FC236}">
                    <a16:creationId xmlns:a16="http://schemas.microsoft.com/office/drawing/2014/main" id="{8058094B-A476-D841-9BCA-65D48CE2326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検定を使用しエージェントのトーンによる影響を分析</a:t>
                </a:r>
                <a:endParaRPr lang="en-US" altLang="ja-JP" dirty="0"/>
              </a:p>
            </p:txBody>
          </p:sp>
        </mc:Choice>
        <mc:Fallback>
          <p:sp>
            <p:nvSpPr>
              <p:cNvPr id="34" name="テキスト プレースホルダー 27">
                <a:extLst>
                  <a:ext uri="{FF2B5EF4-FFF2-40B4-BE49-F238E27FC236}">
                    <a16:creationId xmlns:a16="http://schemas.microsoft.com/office/drawing/2014/main" id="{8058094B-A476-D841-9BCA-65D48CE23264}"/>
                  </a:ext>
                </a:extLst>
              </p:cNvPr>
              <p:cNvSpPr txBox="1">
                <a:spLocks noRot="1" noChangeAspect="1" noMove="1" noResize="1" noEditPoints="1" noAdjustHandles="1" noChangeArrowheads="1" noChangeShapeType="1" noTextEdit="1"/>
              </p:cNvSpPr>
              <p:nvPr/>
            </p:nvSpPr>
            <p:spPr>
              <a:xfrm>
                <a:off x="1254486" y="4151182"/>
                <a:ext cx="17551674" cy="1721508"/>
              </a:xfrm>
              <a:prstGeom prst="rect">
                <a:avLst/>
              </a:prstGeom>
              <a:blipFill>
                <a:blip r:embed="rId5"/>
                <a:stretch>
                  <a:fillRect l="-651" t="-10294"/>
                </a:stretch>
              </a:blipFill>
            </p:spPr>
            <p:txBody>
              <a:bodyPr/>
              <a:lstStyle/>
              <a:p>
                <a:r>
                  <a:rPr lang="ja-JP" altLang="en-US">
                    <a:noFill/>
                  </a:rPr>
                  <a:t> </a:t>
                </a:r>
              </a:p>
            </p:txBody>
          </p:sp>
        </mc:Fallback>
      </mc:AlternateContent>
      <p:grpSp>
        <p:nvGrpSpPr>
          <p:cNvPr id="35" name="グループ化 34">
            <a:extLst>
              <a:ext uri="{FF2B5EF4-FFF2-40B4-BE49-F238E27FC236}">
                <a16:creationId xmlns:a16="http://schemas.microsoft.com/office/drawing/2014/main" id="{08B0DD1F-6EED-6849-94B2-A6FAAF7E6DDD}"/>
              </a:ext>
            </a:extLst>
          </p:cNvPr>
          <p:cNvGrpSpPr/>
          <p:nvPr/>
        </p:nvGrpSpPr>
        <p:grpSpPr>
          <a:xfrm>
            <a:off x="617232" y="4223807"/>
            <a:ext cx="539448" cy="487368"/>
            <a:chOff x="400056" y="1061560"/>
            <a:chExt cx="269724" cy="243684"/>
          </a:xfrm>
        </p:grpSpPr>
        <p:sp>
          <p:nvSpPr>
            <p:cNvPr id="36" name="三角形 35">
              <a:extLst>
                <a:ext uri="{FF2B5EF4-FFF2-40B4-BE49-F238E27FC236}">
                  <a16:creationId xmlns:a16="http://schemas.microsoft.com/office/drawing/2014/main" id="{C152DA39-CD61-3041-B58D-A58BF07C41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三角形 37">
              <a:extLst>
                <a:ext uri="{FF2B5EF4-FFF2-40B4-BE49-F238E27FC236}">
                  <a16:creationId xmlns:a16="http://schemas.microsoft.com/office/drawing/2014/main" id="{CF7E8EA0-5F82-E34E-AE43-59025C7B6DD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6"/>
          <a:stretch>
            <a:fillRect/>
          </a:stretch>
        </p:blipFill>
        <p:spPr>
          <a:xfrm>
            <a:off x="4290415" y="7746448"/>
            <a:ext cx="9707170" cy="5598000"/>
          </a:xfrm>
          <a:prstGeom prst="rect">
            <a:avLst/>
          </a:prstGeom>
        </p:spPr>
      </p:pic>
    </p:spTree>
    <p:extLst>
      <p:ext uri="{BB962C8B-B14F-4D97-AF65-F5344CB8AC3E}">
        <p14:creationId xmlns:p14="http://schemas.microsoft.com/office/powerpoint/2010/main" val="1739191806"/>
      </p:ext>
    </p:extLst>
  </p:cSld>
  <p:clrMapOvr>
    <a:masterClrMapping/>
  </p:clrMapOvr>
</p:sld>
</file>

<file path=ppt/theme/theme1.xml><?xml version="1.0" encoding="utf-8"?>
<a:theme xmlns:a="http://schemas.openxmlformats.org/drawingml/2006/main" name="Office テーマ">
  <a:themeElements>
    <a:clrScheme name="エメラルドグリーンメイン">
      <a:dk1>
        <a:srgbClr val="333333"/>
      </a:dk1>
      <a:lt1>
        <a:srgbClr val="FFFFFF"/>
      </a:lt1>
      <a:dk2>
        <a:srgbClr val="153430"/>
      </a:dk2>
      <a:lt2>
        <a:srgbClr val="EEEEEE"/>
      </a:lt2>
      <a:accent1>
        <a:srgbClr val="4DBDB0"/>
      </a:accent1>
      <a:accent2>
        <a:srgbClr val="CE4457"/>
      </a:accent2>
      <a:accent3>
        <a:srgbClr val="4197B8"/>
      </a:accent3>
      <a:accent4>
        <a:srgbClr val="FFC000"/>
      </a:accent4>
      <a:accent5>
        <a:srgbClr val="5B9BD5"/>
      </a:accent5>
      <a:accent6>
        <a:srgbClr val="70AD47"/>
      </a:accent6>
      <a:hlink>
        <a:srgbClr val="0563C1"/>
      </a:hlink>
      <a:folHlink>
        <a:srgbClr val="954F72"/>
      </a:folHlink>
    </a:clrScheme>
    <a:fontScheme name="ヒラギノ_Century">
      <a:majorFont>
        <a:latin typeface="Helvetica"/>
        <a:ea typeface="Meiryo"/>
        <a:cs typeface=""/>
      </a:majorFont>
      <a:minorFont>
        <a:latin typeface="Helvetica"/>
        <a:ea typeface="Meiryo"/>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kumimoji="1">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8981</TotalTime>
  <Words>2662</Words>
  <Application>Microsoft Macintosh PowerPoint</Application>
  <PresentationFormat>ユーザー設定</PresentationFormat>
  <Paragraphs>468</Paragraphs>
  <Slides>31</Slides>
  <Notes>6</Notes>
  <HiddenSlides>3</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31</vt:i4>
      </vt:variant>
    </vt:vector>
  </HeadingPairs>
  <TitlesOfParts>
    <vt:vector size="37" baseType="lpstr">
      <vt:lpstr>Meiryo</vt:lpstr>
      <vt:lpstr>游ゴシック</vt:lpstr>
      <vt:lpstr>Arial</vt:lpstr>
      <vt:lpstr>Cambria Math</vt:lpstr>
      <vt:lpstr>Helvetica</vt:lpstr>
      <vt:lpstr>Office テーマ</vt:lpstr>
      <vt:lpstr>文献講読 (Grumpy &amp; Pinocchio: Answering Human-Agent Negotiation Questions through Realistic Agent Design )</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16.0013</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Shogo MATSUSHITA</dc:creator>
  <cp:lastModifiedBy>Shogo MATSUSHITA</cp:lastModifiedBy>
  <cp:revision>346</cp:revision>
  <cp:lastPrinted>2018-04-18T08:51:19Z</cp:lastPrinted>
  <dcterms:created xsi:type="dcterms:W3CDTF">2018-04-18T07:57:09Z</dcterms:created>
  <dcterms:modified xsi:type="dcterms:W3CDTF">2018-06-08T17:17:09Z</dcterms:modified>
</cp:coreProperties>
</file>