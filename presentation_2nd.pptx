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5.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12"/>
  </p:notesMasterIdLst>
  <p:sldIdLst>
    <p:sldId id="256" r:id="rId2"/>
    <p:sldId id="290" r:id="rId3"/>
    <p:sldId id="299" r:id="rId4"/>
    <p:sldId id="300" r:id="rId5"/>
    <p:sldId id="301" r:id="rId6"/>
    <p:sldId id="297" r:id="rId7"/>
    <p:sldId id="292" r:id="rId8"/>
    <p:sldId id="293" r:id="rId9"/>
    <p:sldId id="298" r:id="rId10"/>
    <p:sldId id="267" r:id="rId11"/>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メインセクション" id="{3AF8E6CE-7EED-4697-8DC5-FCD53E35D329}">
          <p14:sldIdLst>
            <p14:sldId id="256"/>
            <p14:sldId id="290"/>
            <p14:sldId id="299"/>
            <p14:sldId id="300"/>
            <p14:sldId id="301"/>
          </p14:sldIdLst>
        </p14:section>
        <p14:section name="補助スライド" id="{040094EA-41C3-43AC-819E-647F1A036B25}">
          <p14:sldIdLst>
            <p14:sldId id="297"/>
            <p14:sldId id="292"/>
            <p14:sldId id="293"/>
          </p14:sldIdLst>
        </p14:section>
        <p14:section name="非表示" id="{E1D32D9D-ADF8-4F92-AB92-9CF6030857B6}">
          <p14:sldIdLst>
            <p14:sldId id="298"/>
            <p14:sldId id="267"/>
          </p14:sldIdLst>
        </p14:section>
      </p14:sectionLst>
    </p:ext>
    <p:ext uri="{EFAFB233-063F-42B5-8137-9DF3F51BA10A}">
      <p15:sldGuideLst xmlns:p15="http://schemas.microsoft.com/office/powerpoint/2012/main">
        <p15:guide id="1" orient="horz" pos="8130" userDrawn="1">
          <p15:clr>
            <a:srgbClr val="A4A3A4"/>
          </p15:clr>
        </p15:guide>
        <p15:guide id="2" pos="5601" userDrawn="1">
          <p15:clr>
            <a:srgbClr val="A4A3A4"/>
          </p15:clr>
        </p15:guide>
        <p15:guide id="3" pos="272" userDrawn="1">
          <p15:clr>
            <a:srgbClr val="A4A3A4"/>
          </p15:clr>
        </p15:guide>
        <p15:guide id="4" pos="503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774"/>
    <p:restoredTop sz="94742" autoAdjust="0"/>
  </p:normalViewPr>
  <p:slideViewPr>
    <p:cSldViewPr snapToGrid="0" snapToObjects="1">
      <p:cViewPr varScale="1">
        <p:scale>
          <a:sx n="64" d="100"/>
          <a:sy n="64" d="100"/>
        </p:scale>
        <p:origin x="200" y="1328"/>
      </p:cViewPr>
      <p:guideLst>
        <p:guide orient="horz" pos="8130"/>
        <p:guide pos="5601"/>
        <p:guide pos="272"/>
        <p:guide pos="5034"/>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2018/5/31</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文献購読の研究室内発表と題しまして松下昌悟が発表します．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今回の発表内容はこのようになっております．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すなわちレベル１が参加者にとって最も価値が低く，レベル</a:t>
            </a:r>
            <a:r>
              <a:rPr kumimoji="1" lang="en-US" altLang="ja-JP" dirty="0"/>
              <a:t>9</a:t>
            </a:r>
            <a:r>
              <a:rPr kumimoji="1" lang="ja-JP" altLang="en-US" dirty="0"/>
              <a:t>が最も価値が高いということ</a:t>
            </a:r>
            <a:endParaRPr kumimoji="1" lang="en-US" altLang="ja-JP" dirty="0"/>
          </a:p>
          <a:p>
            <a:r>
              <a:rPr kumimoji="1" lang="ja-JP" altLang="en-US" dirty="0"/>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14125312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2018/5/31</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2018/5/31</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53228"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2018/5/31</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2018/5/31</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2018/5/31</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2018/5/31</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2018/5/31</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2018/5/31</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2018/5/31</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2018/5/31</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2018/5/31</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2018/5/31</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2018/5/31</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100.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chart" Target="../charts/chart2.xml"/><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chart" Target="../charts/chart3.xml"/><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594360" y="2503857"/>
            <a:ext cx="17099280" cy="4775200"/>
          </a:xfrm>
        </p:spPr>
        <p:txBody>
          <a:bodyPr>
            <a:normAutofit/>
          </a:bodyPr>
          <a:lstStyle/>
          <a:p>
            <a:r>
              <a:rPr kumimoji="1" lang="ja-JP" altLang="en-US"/>
              <a:t>文献講読</a:t>
            </a:r>
            <a:br>
              <a:rPr kumimoji="1" lang="en-US" altLang="ja-JP" dirty="0"/>
            </a:br>
            <a:r>
              <a:rPr kumimoji="1" lang="en-US" altLang="ja-JP" sz="5400" dirty="0"/>
              <a:t>(</a:t>
            </a:r>
            <a:r>
              <a:rPr lang="en-US" altLang="ja-JP" sz="5400" b="1" dirty="0"/>
              <a:t>Grumpy &amp; Pinocchio: Answering Human-Agent Negotiation Questions through Realistic Agent Design </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2018/5/31</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2018/5/31</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4941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 name="三角形 12">
            <a:extLst>
              <a:ext uri="{FF2B5EF4-FFF2-40B4-BE49-F238E27FC236}">
                <a16:creationId xmlns:a16="http://schemas.microsoft.com/office/drawing/2014/main" id="{913E158E-993A-4C0D-B53A-67B444E43783}"/>
              </a:ext>
            </a:extLst>
          </p:cNvPr>
          <p:cNvSpPr/>
          <p:nvPr/>
        </p:nvSpPr>
        <p:spPr>
          <a:xfrm rot="5400000">
            <a:off x="1076238" y="229852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はじめに</a:t>
            </a:r>
          </a:p>
        </p:txBody>
      </p:sp>
      <p:sp>
        <p:nvSpPr>
          <p:cNvPr id="12" name="テキスト プレースホルダー 29">
            <a:extLst>
              <a:ext uri="{FF2B5EF4-FFF2-40B4-BE49-F238E27FC236}">
                <a16:creationId xmlns:a16="http://schemas.microsoft.com/office/drawing/2014/main" id="{0022F4D8-0115-4AE5-8ABC-9E4F09D9E9D4}"/>
              </a:ext>
            </a:extLst>
          </p:cNvPr>
          <p:cNvSpPr txBox="1">
            <a:spLocks/>
          </p:cNvSpPr>
          <p:nvPr/>
        </p:nvSpPr>
        <p:spPr>
          <a:xfrm>
            <a:off x="1568600" y="218324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背景</a:t>
            </a:r>
          </a:p>
        </p:txBody>
      </p:sp>
      <p:sp>
        <p:nvSpPr>
          <p:cNvPr id="13" name="三角形 12">
            <a:extLst>
              <a:ext uri="{FF2B5EF4-FFF2-40B4-BE49-F238E27FC236}">
                <a16:creationId xmlns:a16="http://schemas.microsoft.com/office/drawing/2014/main" id="{9DB7ADFA-4600-4AFE-84B2-FE8DB3C377EB}"/>
              </a:ext>
            </a:extLst>
          </p:cNvPr>
          <p:cNvSpPr/>
          <p:nvPr/>
        </p:nvSpPr>
        <p:spPr>
          <a:xfrm rot="5400000">
            <a:off x="1076238" y="30052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9">
            <a:extLst>
              <a:ext uri="{FF2B5EF4-FFF2-40B4-BE49-F238E27FC236}">
                <a16:creationId xmlns:a16="http://schemas.microsoft.com/office/drawing/2014/main" id="{C8688FD1-4ED2-4A85-854F-E5A384566C64}"/>
              </a:ext>
            </a:extLst>
          </p:cNvPr>
          <p:cNvSpPr txBox="1">
            <a:spLocks/>
          </p:cNvSpPr>
          <p:nvPr/>
        </p:nvSpPr>
        <p:spPr>
          <a:xfrm>
            <a:off x="1568600" y="28899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目的</a:t>
            </a:r>
          </a:p>
        </p:txBody>
      </p:sp>
      <p:sp>
        <p:nvSpPr>
          <p:cNvPr id="15" name="三角形 12">
            <a:extLst>
              <a:ext uri="{FF2B5EF4-FFF2-40B4-BE49-F238E27FC236}">
                <a16:creationId xmlns:a16="http://schemas.microsoft.com/office/drawing/2014/main" id="{173C51D2-7C30-44FD-A9B8-597EE12F0EB6}"/>
              </a:ext>
            </a:extLst>
          </p:cNvPr>
          <p:cNvSpPr/>
          <p:nvPr/>
        </p:nvSpPr>
        <p:spPr>
          <a:xfrm rot="5400000">
            <a:off x="1076238" y="374681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6" name="テキスト プレースホルダー 29">
            <a:extLst>
              <a:ext uri="{FF2B5EF4-FFF2-40B4-BE49-F238E27FC236}">
                <a16:creationId xmlns:a16="http://schemas.microsoft.com/office/drawing/2014/main" id="{FB04F56F-18A0-4DA3-994E-92690676A6DA}"/>
              </a:ext>
            </a:extLst>
          </p:cNvPr>
          <p:cNvSpPr txBox="1">
            <a:spLocks/>
          </p:cNvSpPr>
          <p:nvPr/>
        </p:nvSpPr>
        <p:spPr>
          <a:xfrm>
            <a:off x="1568600" y="363154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関連研究</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44073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4334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実験概要</a:t>
            </a:r>
          </a:p>
        </p:txBody>
      </p:sp>
      <p:sp>
        <p:nvSpPr>
          <p:cNvPr id="21" name="三角形 12">
            <a:extLst>
              <a:ext uri="{FF2B5EF4-FFF2-40B4-BE49-F238E27FC236}">
                <a16:creationId xmlns:a16="http://schemas.microsoft.com/office/drawing/2014/main" id="{131CA47D-9FDB-4834-8D49-BF8BDD3F98A5}"/>
              </a:ext>
            </a:extLst>
          </p:cNvPr>
          <p:cNvSpPr/>
          <p:nvPr/>
        </p:nvSpPr>
        <p:spPr>
          <a:xfrm rot="5400000">
            <a:off x="1076238" y="527486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819D5B2A-1FFF-4B1E-8926-A25B7C3C9D2A}"/>
              </a:ext>
            </a:extLst>
          </p:cNvPr>
          <p:cNvSpPr txBox="1">
            <a:spLocks/>
          </p:cNvSpPr>
          <p:nvPr/>
        </p:nvSpPr>
        <p:spPr>
          <a:xfrm>
            <a:off x="1568600" y="515959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交渉タスク</a:t>
            </a:r>
          </a:p>
        </p:txBody>
      </p:sp>
      <p:sp>
        <p:nvSpPr>
          <p:cNvPr id="23" name="三角形 12">
            <a:extLst>
              <a:ext uri="{FF2B5EF4-FFF2-40B4-BE49-F238E27FC236}">
                <a16:creationId xmlns:a16="http://schemas.microsoft.com/office/drawing/2014/main" id="{58AAB898-428C-4C2B-BE55-9527AE84ECE9}"/>
              </a:ext>
            </a:extLst>
          </p:cNvPr>
          <p:cNvSpPr/>
          <p:nvPr/>
        </p:nvSpPr>
        <p:spPr>
          <a:xfrm rot="5400000">
            <a:off x="1076238" y="602250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テキスト プレースホルダー 29">
            <a:extLst>
              <a:ext uri="{FF2B5EF4-FFF2-40B4-BE49-F238E27FC236}">
                <a16:creationId xmlns:a16="http://schemas.microsoft.com/office/drawing/2014/main" id="{EDE5EB5D-0C41-44C2-8642-C80BF49EC8F8}"/>
              </a:ext>
            </a:extLst>
          </p:cNvPr>
          <p:cNvSpPr txBox="1">
            <a:spLocks/>
          </p:cNvSpPr>
          <p:nvPr/>
        </p:nvSpPr>
        <p:spPr>
          <a:xfrm>
            <a:off x="1568600" y="590723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参加者へのインセンティブ</a:t>
            </a:r>
          </a:p>
        </p:txBody>
      </p:sp>
      <p:sp>
        <p:nvSpPr>
          <p:cNvPr id="25" name="三角形 12">
            <a:extLst>
              <a:ext uri="{FF2B5EF4-FFF2-40B4-BE49-F238E27FC236}">
                <a16:creationId xmlns:a16="http://schemas.microsoft.com/office/drawing/2014/main" id="{8B76B00A-3EAB-4ACD-9683-111B8ED27FD2}"/>
              </a:ext>
            </a:extLst>
          </p:cNvPr>
          <p:cNvSpPr/>
          <p:nvPr/>
        </p:nvSpPr>
        <p:spPr>
          <a:xfrm rot="5400000">
            <a:off x="1076238" y="679823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テキスト プレースホルダー 29">
            <a:extLst>
              <a:ext uri="{FF2B5EF4-FFF2-40B4-BE49-F238E27FC236}">
                <a16:creationId xmlns:a16="http://schemas.microsoft.com/office/drawing/2014/main" id="{B09AFE31-FCF4-474F-8FAD-E296F0DE41C7}"/>
              </a:ext>
            </a:extLst>
          </p:cNvPr>
          <p:cNvSpPr txBox="1">
            <a:spLocks/>
          </p:cNvSpPr>
          <p:nvPr/>
        </p:nvSpPr>
        <p:spPr>
          <a:xfrm>
            <a:off x="1568600" y="668296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条件</a:t>
            </a:r>
          </a:p>
        </p:txBody>
      </p:sp>
      <p:sp>
        <p:nvSpPr>
          <p:cNvPr id="27" name="三角形 12">
            <a:extLst>
              <a:ext uri="{FF2B5EF4-FFF2-40B4-BE49-F238E27FC236}">
                <a16:creationId xmlns:a16="http://schemas.microsoft.com/office/drawing/2014/main" id="{A95D0549-C4F7-4157-B834-E845A92AFFA3}"/>
              </a:ext>
            </a:extLst>
          </p:cNvPr>
          <p:cNvSpPr/>
          <p:nvPr/>
        </p:nvSpPr>
        <p:spPr>
          <a:xfrm rot="5400000">
            <a:off x="1076238" y="754587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BEBDC8D-D180-4766-BC6F-01705A2DF918}"/>
              </a:ext>
            </a:extLst>
          </p:cNvPr>
          <p:cNvSpPr txBox="1">
            <a:spLocks/>
          </p:cNvSpPr>
          <p:nvPr/>
        </p:nvSpPr>
        <p:spPr>
          <a:xfrm>
            <a:off x="1568600" y="743060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感情の伝達</a:t>
            </a:r>
          </a:p>
        </p:txBody>
      </p:sp>
      <p:sp>
        <p:nvSpPr>
          <p:cNvPr id="29" name="三角形 12">
            <a:extLst>
              <a:ext uri="{FF2B5EF4-FFF2-40B4-BE49-F238E27FC236}">
                <a16:creationId xmlns:a16="http://schemas.microsoft.com/office/drawing/2014/main" id="{EAC0FAF6-1092-4C33-A6A1-ED980B1DCFC9}"/>
              </a:ext>
            </a:extLst>
          </p:cNvPr>
          <p:cNvSpPr/>
          <p:nvPr/>
        </p:nvSpPr>
        <p:spPr>
          <a:xfrm rot="5400000">
            <a:off x="1076238" y="83163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D9006773-DCD6-47B0-AAF1-D6483631A7FF}"/>
              </a:ext>
            </a:extLst>
          </p:cNvPr>
          <p:cNvSpPr txBox="1">
            <a:spLocks/>
          </p:cNvSpPr>
          <p:nvPr/>
        </p:nvSpPr>
        <p:spPr>
          <a:xfrm>
            <a:off x="1568600" y="82010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評価方法</a:t>
            </a:r>
          </a:p>
        </p:txBody>
      </p:sp>
      <p:sp>
        <p:nvSpPr>
          <p:cNvPr id="31" name="三角形 12">
            <a:extLst>
              <a:ext uri="{FF2B5EF4-FFF2-40B4-BE49-F238E27FC236}">
                <a16:creationId xmlns:a16="http://schemas.microsoft.com/office/drawing/2014/main" id="{651AD531-5829-42EC-B512-708E31DC6775}"/>
              </a:ext>
            </a:extLst>
          </p:cNvPr>
          <p:cNvSpPr/>
          <p:nvPr/>
        </p:nvSpPr>
        <p:spPr>
          <a:xfrm rot="5400000">
            <a:off x="1076238" y="9107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EED075D8-2D53-40ED-8686-AB03E4672ABC}"/>
              </a:ext>
            </a:extLst>
          </p:cNvPr>
          <p:cNvSpPr txBox="1">
            <a:spLocks/>
          </p:cNvSpPr>
          <p:nvPr/>
        </p:nvSpPr>
        <p:spPr>
          <a:xfrm>
            <a:off x="1568600" y="899225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ソフトウェア</a:t>
            </a:r>
          </a:p>
        </p:txBody>
      </p:sp>
      <p:sp>
        <p:nvSpPr>
          <p:cNvPr id="33" name="三角形 12">
            <a:extLst>
              <a:ext uri="{FF2B5EF4-FFF2-40B4-BE49-F238E27FC236}">
                <a16:creationId xmlns:a16="http://schemas.microsoft.com/office/drawing/2014/main" id="{8698F976-D3C2-46F1-AFBF-EE76F563DF04}"/>
              </a:ext>
            </a:extLst>
          </p:cNvPr>
          <p:cNvSpPr/>
          <p:nvPr/>
        </p:nvSpPr>
        <p:spPr>
          <a:xfrm rot="5400000">
            <a:off x="1076238" y="991131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テキスト プレースホルダー 29">
            <a:extLst>
              <a:ext uri="{FF2B5EF4-FFF2-40B4-BE49-F238E27FC236}">
                <a16:creationId xmlns:a16="http://schemas.microsoft.com/office/drawing/2014/main" id="{2CD5CB62-4098-4A7A-A402-045901E10C3D}"/>
              </a:ext>
            </a:extLst>
          </p:cNvPr>
          <p:cNvSpPr txBox="1">
            <a:spLocks/>
          </p:cNvSpPr>
          <p:nvPr/>
        </p:nvSpPr>
        <p:spPr>
          <a:xfrm>
            <a:off x="1568600" y="979604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チュートリアル</a:t>
            </a:r>
          </a:p>
        </p:txBody>
      </p:sp>
      <p:sp>
        <p:nvSpPr>
          <p:cNvPr id="35" name="三角形 12">
            <a:extLst>
              <a:ext uri="{FF2B5EF4-FFF2-40B4-BE49-F238E27FC236}">
                <a16:creationId xmlns:a16="http://schemas.microsoft.com/office/drawing/2014/main" id="{B362934F-6ADD-4491-97E7-FEE8A47AE841}"/>
              </a:ext>
            </a:extLst>
          </p:cNvPr>
          <p:cNvSpPr/>
          <p:nvPr/>
        </p:nvSpPr>
        <p:spPr>
          <a:xfrm rot="5400000">
            <a:off x="1076238" y="107197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106935A4-6436-44C2-8774-85E4562E8127}"/>
              </a:ext>
            </a:extLst>
          </p:cNvPr>
          <p:cNvSpPr txBox="1">
            <a:spLocks/>
          </p:cNvSpPr>
          <p:nvPr/>
        </p:nvSpPr>
        <p:spPr>
          <a:xfrm>
            <a:off x="1568600" y="1060449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実験の参加者</a:t>
            </a:r>
          </a:p>
        </p:txBody>
      </p:sp>
      <p:grpSp>
        <p:nvGrpSpPr>
          <p:cNvPr id="44" name="グループ化 43">
            <a:extLst>
              <a:ext uri="{FF2B5EF4-FFF2-40B4-BE49-F238E27FC236}">
                <a16:creationId xmlns:a16="http://schemas.microsoft.com/office/drawing/2014/main" id="{C6C1B1E9-BDFC-4708-9FB1-3D18597D0627}"/>
              </a:ext>
            </a:extLst>
          </p:cNvPr>
          <p:cNvGrpSpPr/>
          <p:nvPr/>
        </p:nvGrpSpPr>
        <p:grpSpPr>
          <a:xfrm>
            <a:off x="9573390" y="1495024"/>
            <a:ext cx="539448" cy="487368"/>
            <a:chOff x="400056" y="1061560"/>
            <a:chExt cx="269724" cy="243684"/>
          </a:xfrm>
        </p:grpSpPr>
        <p:sp>
          <p:nvSpPr>
            <p:cNvPr id="45" name="三角形 10">
              <a:extLst>
                <a:ext uri="{FF2B5EF4-FFF2-40B4-BE49-F238E27FC236}">
                  <a16:creationId xmlns:a16="http://schemas.microsoft.com/office/drawing/2014/main" id="{E6BD6CC8-0E3A-47E2-93E2-E78D2401F5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三角形 11">
              <a:extLst>
                <a:ext uri="{FF2B5EF4-FFF2-40B4-BE49-F238E27FC236}">
                  <a16:creationId xmlns:a16="http://schemas.microsoft.com/office/drawing/2014/main" id="{5E051751-ADD4-42B6-89F8-39C8813679B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7" name="三角形 12">
            <a:extLst>
              <a:ext uri="{FF2B5EF4-FFF2-40B4-BE49-F238E27FC236}">
                <a16:creationId xmlns:a16="http://schemas.microsoft.com/office/drawing/2014/main" id="{7B297521-91AB-41EB-B4D4-1CD49FC25A52}"/>
              </a:ext>
            </a:extLst>
          </p:cNvPr>
          <p:cNvSpPr/>
          <p:nvPr/>
        </p:nvSpPr>
        <p:spPr>
          <a:xfrm rot="5400000">
            <a:off x="10032396" y="229944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7">
            <a:extLst>
              <a:ext uri="{FF2B5EF4-FFF2-40B4-BE49-F238E27FC236}">
                <a16:creationId xmlns:a16="http://schemas.microsoft.com/office/drawing/2014/main" id="{5240BE88-4E8A-4260-88F0-1E27D83563E3}"/>
              </a:ext>
            </a:extLst>
          </p:cNvPr>
          <p:cNvSpPr txBox="1">
            <a:spLocks/>
          </p:cNvSpPr>
          <p:nvPr/>
        </p:nvSpPr>
        <p:spPr>
          <a:xfrm>
            <a:off x="10210644" y="1422399"/>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実験結果</a:t>
            </a:r>
          </a:p>
        </p:txBody>
      </p:sp>
      <p:sp>
        <p:nvSpPr>
          <p:cNvPr id="49" name="テキスト プレースホルダー 29">
            <a:extLst>
              <a:ext uri="{FF2B5EF4-FFF2-40B4-BE49-F238E27FC236}">
                <a16:creationId xmlns:a16="http://schemas.microsoft.com/office/drawing/2014/main" id="{D913988D-523E-4123-B280-FE55427BE29B}"/>
              </a:ext>
            </a:extLst>
          </p:cNvPr>
          <p:cNvSpPr txBox="1">
            <a:spLocks/>
          </p:cNvSpPr>
          <p:nvPr/>
        </p:nvSpPr>
        <p:spPr>
          <a:xfrm>
            <a:off x="10524758" y="218416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0" name="三角形 12">
            <a:extLst>
              <a:ext uri="{FF2B5EF4-FFF2-40B4-BE49-F238E27FC236}">
                <a16:creationId xmlns:a16="http://schemas.microsoft.com/office/drawing/2014/main" id="{C84B159B-6263-4CE8-BB9D-A339E1D16C14}"/>
              </a:ext>
            </a:extLst>
          </p:cNvPr>
          <p:cNvSpPr/>
          <p:nvPr/>
        </p:nvSpPr>
        <p:spPr>
          <a:xfrm rot="5400000">
            <a:off x="10032396" y="3006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BA8F774B-F3DD-460B-AC93-ED3C12D4303F}"/>
              </a:ext>
            </a:extLst>
          </p:cNvPr>
          <p:cNvSpPr txBox="1">
            <a:spLocks/>
          </p:cNvSpPr>
          <p:nvPr/>
        </p:nvSpPr>
        <p:spPr>
          <a:xfrm>
            <a:off x="10524758" y="2890900"/>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a:t>
            </a:r>
            <a:r>
              <a:rPr lang="ja-JP" altLang="en-US" dirty="0"/>
              <a:t> </a:t>
            </a:r>
            <a:r>
              <a:rPr lang="en-US" altLang="ja-JP" dirty="0"/>
              <a:t>difference</a:t>
            </a:r>
            <a:endParaRPr lang="ja-JP" altLang="en-US" dirty="0"/>
          </a:p>
        </p:txBody>
      </p:sp>
      <p:grpSp>
        <p:nvGrpSpPr>
          <p:cNvPr id="52" name="グループ化 51">
            <a:extLst>
              <a:ext uri="{FF2B5EF4-FFF2-40B4-BE49-F238E27FC236}">
                <a16:creationId xmlns:a16="http://schemas.microsoft.com/office/drawing/2014/main" id="{DB665E1D-14DB-413E-9CFC-7D9FA8E84A15}"/>
              </a:ext>
            </a:extLst>
          </p:cNvPr>
          <p:cNvGrpSpPr/>
          <p:nvPr/>
        </p:nvGrpSpPr>
        <p:grpSpPr>
          <a:xfrm>
            <a:off x="9573390" y="3730652"/>
            <a:ext cx="539448" cy="487368"/>
            <a:chOff x="400056" y="1061560"/>
            <a:chExt cx="269724" cy="243684"/>
          </a:xfrm>
        </p:grpSpPr>
        <p:sp>
          <p:nvSpPr>
            <p:cNvPr id="53" name="三角形 10">
              <a:extLst>
                <a:ext uri="{FF2B5EF4-FFF2-40B4-BE49-F238E27FC236}">
                  <a16:creationId xmlns:a16="http://schemas.microsoft.com/office/drawing/2014/main" id="{47D1CD17-F4A8-41F8-95D3-76EBCB0DCA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01C46499-7644-4A4B-8FC3-73B98BD2155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12">
            <a:extLst>
              <a:ext uri="{FF2B5EF4-FFF2-40B4-BE49-F238E27FC236}">
                <a16:creationId xmlns:a16="http://schemas.microsoft.com/office/drawing/2014/main" id="{F5FB5532-8038-4106-A9E0-423B60EF0B47}"/>
              </a:ext>
            </a:extLst>
          </p:cNvPr>
          <p:cNvSpPr/>
          <p:nvPr/>
        </p:nvSpPr>
        <p:spPr>
          <a:xfrm rot="5400000">
            <a:off x="10032396" y="453507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7">
            <a:extLst>
              <a:ext uri="{FF2B5EF4-FFF2-40B4-BE49-F238E27FC236}">
                <a16:creationId xmlns:a16="http://schemas.microsoft.com/office/drawing/2014/main" id="{AB1ABC4C-E7ED-49AD-A5E3-8B1AEC6C5659}"/>
              </a:ext>
            </a:extLst>
          </p:cNvPr>
          <p:cNvSpPr txBox="1">
            <a:spLocks/>
          </p:cNvSpPr>
          <p:nvPr/>
        </p:nvSpPr>
        <p:spPr>
          <a:xfrm>
            <a:off x="10210644" y="3658027"/>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考察</a:t>
            </a:r>
          </a:p>
        </p:txBody>
      </p:sp>
      <p:sp>
        <p:nvSpPr>
          <p:cNvPr id="57" name="テキスト プレースホルダー 29">
            <a:extLst>
              <a:ext uri="{FF2B5EF4-FFF2-40B4-BE49-F238E27FC236}">
                <a16:creationId xmlns:a16="http://schemas.microsoft.com/office/drawing/2014/main" id="{E28424A9-F9EB-4004-A78B-2F9B82B0AB7B}"/>
              </a:ext>
            </a:extLst>
          </p:cNvPr>
          <p:cNvSpPr txBox="1">
            <a:spLocks/>
          </p:cNvSpPr>
          <p:nvPr/>
        </p:nvSpPr>
        <p:spPr>
          <a:xfrm>
            <a:off x="10524758" y="4419796"/>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8" name="三角形 12">
            <a:extLst>
              <a:ext uri="{FF2B5EF4-FFF2-40B4-BE49-F238E27FC236}">
                <a16:creationId xmlns:a16="http://schemas.microsoft.com/office/drawing/2014/main" id="{A0421127-E9DE-4A69-9564-049926D6281F}"/>
              </a:ext>
            </a:extLst>
          </p:cNvPr>
          <p:cNvSpPr/>
          <p:nvPr/>
        </p:nvSpPr>
        <p:spPr>
          <a:xfrm rot="5400000">
            <a:off x="10032396" y="524180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A378DDF3-3B02-4C62-8561-FD976440A60F}"/>
              </a:ext>
            </a:extLst>
          </p:cNvPr>
          <p:cNvSpPr txBox="1">
            <a:spLocks/>
          </p:cNvSpPr>
          <p:nvPr/>
        </p:nvSpPr>
        <p:spPr>
          <a:xfrm>
            <a:off x="10524758" y="512652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今後の展望</a:t>
            </a:r>
          </a:p>
        </p:txBody>
      </p:sp>
      <p:grpSp>
        <p:nvGrpSpPr>
          <p:cNvPr id="60" name="グループ化 59">
            <a:extLst>
              <a:ext uri="{FF2B5EF4-FFF2-40B4-BE49-F238E27FC236}">
                <a16:creationId xmlns:a16="http://schemas.microsoft.com/office/drawing/2014/main" id="{BF95E14C-FBAD-4578-A568-D8F99F23EA12}"/>
              </a:ext>
            </a:extLst>
          </p:cNvPr>
          <p:cNvGrpSpPr/>
          <p:nvPr/>
        </p:nvGrpSpPr>
        <p:grpSpPr>
          <a:xfrm>
            <a:off x="9573390" y="5902620"/>
            <a:ext cx="539448" cy="487368"/>
            <a:chOff x="400056" y="1061560"/>
            <a:chExt cx="269724" cy="243684"/>
          </a:xfrm>
        </p:grpSpPr>
        <p:sp>
          <p:nvSpPr>
            <p:cNvPr id="61" name="三角形 10">
              <a:extLst>
                <a:ext uri="{FF2B5EF4-FFF2-40B4-BE49-F238E27FC236}">
                  <a16:creationId xmlns:a16="http://schemas.microsoft.com/office/drawing/2014/main" id="{A007E2AE-7F7B-4B67-BC8F-1B15AF6AE8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11">
              <a:extLst>
                <a:ext uri="{FF2B5EF4-FFF2-40B4-BE49-F238E27FC236}">
                  <a16:creationId xmlns:a16="http://schemas.microsoft.com/office/drawing/2014/main" id="{8F037408-1EA9-46E7-A2E4-53B04BD0F13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38B919F6-BF0B-43B0-AC16-1E2AA7319106}"/>
              </a:ext>
            </a:extLst>
          </p:cNvPr>
          <p:cNvSpPr txBox="1">
            <a:spLocks/>
          </p:cNvSpPr>
          <p:nvPr/>
        </p:nvSpPr>
        <p:spPr>
          <a:xfrm>
            <a:off x="10210644" y="5829995"/>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2018/5/31</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186163"/>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330223"/>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35673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257598"/>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411315"/>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7555375"/>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658188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482750"/>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2018/5/31</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ja-JP" altLang="en-US"/>
              <a:t>はじめに</a:t>
            </a:r>
            <a:endParaRPr kumimoji="1" lang="ja-JP" altLang="en-US"/>
          </a:p>
        </p:txBody>
      </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2018/5/31</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ja-JP" altLang="en-US"/>
              <a:t>はじめに</a:t>
            </a:r>
            <a:endParaRPr kumimoji="1" lang="ja-JP" altLang="en-US"/>
          </a:p>
        </p:txBody>
      </p:sp>
    </p:spTree>
    <p:extLst>
      <p:ext uri="{BB962C8B-B14F-4D97-AF65-F5344CB8AC3E}">
        <p14:creationId xmlns:p14="http://schemas.microsoft.com/office/powerpoint/2010/main" val="26527135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2018/5/31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群以上の群で平均値が相違しているか分析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5999635" y="3106945"/>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5999635" y="3106945"/>
                <a:ext cx="3371349" cy="1244764"/>
              </a:xfrm>
              <a:prstGeom prst="rect">
                <a:avLst/>
              </a:prstGeom>
              <a:blipFill>
                <a:blip r:embed="rId5"/>
                <a:stretch>
                  <a:fillRect l="-5063" r="-3074"/>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49" name="グループ化 48">
            <a:extLst>
              <a:ext uri="{FF2B5EF4-FFF2-40B4-BE49-F238E27FC236}">
                <a16:creationId xmlns:a16="http://schemas.microsoft.com/office/drawing/2014/main" id="{AF160084-E1D3-499A-B4E5-6C915D63AC3B}"/>
              </a:ext>
            </a:extLst>
          </p:cNvPr>
          <p:cNvGrpSpPr/>
          <p:nvPr/>
        </p:nvGrpSpPr>
        <p:grpSpPr>
          <a:xfrm>
            <a:off x="289330" y="6120979"/>
            <a:ext cx="2160000" cy="934436"/>
            <a:chOff x="144665" y="525617"/>
            <a:chExt cx="1080000" cy="467218"/>
          </a:xfrm>
        </p:grpSpPr>
        <p:sp>
          <p:nvSpPr>
            <p:cNvPr id="50" name="正方形/長方形 49">
              <a:extLst>
                <a:ext uri="{FF2B5EF4-FFF2-40B4-BE49-F238E27FC236}">
                  <a16:creationId xmlns:a16="http://schemas.microsoft.com/office/drawing/2014/main" id="{4A4EAF1F-D20C-43A4-93B3-2416980C964A}"/>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1" name="正方形/長方形 50">
              <a:extLst>
                <a:ext uri="{FF2B5EF4-FFF2-40B4-BE49-F238E27FC236}">
                  <a16:creationId xmlns:a16="http://schemas.microsoft.com/office/drawing/2014/main" id="{B72FB05C-C9FC-4F95-9512-B6755ACB86C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2" name="グループ化 51">
            <a:extLst>
              <a:ext uri="{FF2B5EF4-FFF2-40B4-BE49-F238E27FC236}">
                <a16:creationId xmlns:a16="http://schemas.microsoft.com/office/drawing/2014/main" id="{4CC2BE6F-8E50-4133-B296-A063187AF148}"/>
              </a:ext>
            </a:extLst>
          </p:cNvPr>
          <p:cNvGrpSpPr/>
          <p:nvPr/>
        </p:nvGrpSpPr>
        <p:grpSpPr>
          <a:xfrm>
            <a:off x="617232" y="7265039"/>
            <a:ext cx="539448" cy="487368"/>
            <a:chOff x="400056" y="1061560"/>
            <a:chExt cx="269724" cy="243684"/>
          </a:xfrm>
        </p:grpSpPr>
        <p:sp>
          <p:nvSpPr>
            <p:cNvPr id="53" name="三角形 10">
              <a:extLst>
                <a:ext uri="{FF2B5EF4-FFF2-40B4-BE49-F238E27FC236}">
                  <a16:creationId xmlns:a16="http://schemas.microsoft.com/office/drawing/2014/main" id="{C92062D5-2A8A-4869-BCFB-A893D1B5053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12CBDCF7-0938-4236-8CAA-E7012AF4F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テキスト プレースホルダー 27">
            <a:extLst>
              <a:ext uri="{FF2B5EF4-FFF2-40B4-BE49-F238E27FC236}">
                <a16:creationId xmlns:a16="http://schemas.microsoft.com/office/drawing/2014/main" id="{EAFF1B7D-3752-466C-981C-5192E50B4645}"/>
              </a:ext>
            </a:extLst>
          </p:cNvPr>
          <p:cNvSpPr txBox="1">
            <a:spLocks/>
          </p:cNvSpPr>
          <p:nvPr/>
        </p:nvSpPr>
        <p:spPr>
          <a:xfrm>
            <a:off x="1254486" y="719241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群以上の群でどの群との間に有意差があるか分析</a:t>
            </a:r>
            <a:endParaRPr lang="en-US" altLang="ja-JP" dirty="0"/>
          </a:p>
        </p:txBody>
      </p:sp>
      <p:sp>
        <p:nvSpPr>
          <p:cNvPr id="56" name="テキスト プレースホルダー 30">
            <a:extLst>
              <a:ext uri="{FF2B5EF4-FFF2-40B4-BE49-F238E27FC236}">
                <a16:creationId xmlns:a16="http://schemas.microsoft.com/office/drawing/2014/main" id="{2D0D14FF-4AD0-4987-AE97-B12F2DF454A3}"/>
              </a:ext>
            </a:extLst>
          </p:cNvPr>
          <p:cNvSpPr txBox="1">
            <a:spLocks/>
          </p:cNvSpPr>
          <p:nvPr/>
        </p:nvSpPr>
        <p:spPr>
          <a:xfrm>
            <a:off x="571049" y="6291552"/>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多重比較</a:t>
            </a:r>
            <a:r>
              <a:rPr lang="en-US" altLang="ja-JP" dirty="0"/>
              <a:t>(Tukey</a:t>
            </a:r>
            <a:r>
              <a:rPr lang="ja-JP" altLang="en-US" dirty="0"/>
              <a:t>法</a:t>
            </a:r>
            <a:r>
              <a:rPr lang="en-US" altLang="ja-JP" dirty="0"/>
              <a:t>)</a:t>
            </a:r>
            <a:endParaRPr lang="ja-JP" altLang="en-US" dirty="0"/>
          </a:p>
        </p:txBody>
      </p:sp>
    </p:spTree>
    <p:extLst>
      <p:ext uri="{BB962C8B-B14F-4D97-AF65-F5344CB8AC3E}">
        <p14:creationId xmlns:p14="http://schemas.microsoft.com/office/powerpoint/2010/main" val="12992458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2018/5/31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2018/5/31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2725720440"/>
              </p:ext>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t</a:t>
                </a:r>
                <a:r>
                  <a:rPr lang="ja-JP" altLang="en-US" dirty="0">
                    <a:solidFill>
                      <a:schemeClr val="tx1"/>
                    </a:solidFill>
                  </a:rPr>
                  <a:t>検定の自由度</a:t>
                </a:r>
                <a14:m>
                  <m:oMath xmlns:m="http://schemas.openxmlformats.org/officeDocument/2006/math">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=125</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67" t="-21429" b="-10000"/>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3(</m:t>
                    </m:r>
                    <m:r>
                      <a:rPr lang="ja-JP" altLang="en-US" i="1" dirty="0">
                        <a:solidFill>
                          <a:schemeClr val="tx1"/>
                        </a:solidFill>
                        <a:latin typeface="Cambria Math" panose="02040503050406030204" pitchFamily="18" charset="0"/>
                      </a:rPr>
                      <m:t>怒り</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喜び</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中立</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=2</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201" t="-19858" b="-10638"/>
                </a:stretch>
              </a:blipFill>
            </p:spPr>
            <p:txBody>
              <a:bodyPr/>
              <a:lstStyle/>
              <a:p>
                <a:r>
                  <a:rPr lang="ja-JP" altLang="en-US">
                    <a:noFill/>
                  </a:rPr>
                  <a:t> </a:t>
                </a:r>
              </a:p>
            </p:txBody>
          </p:sp>
        </mc:Fallback>
      </mc:AlternateContent>
      <p:sp>
        <p:nvSpPr>
          <p:cNvPr id="31" name="三角形 12">
            <a:extLst>
              <a:ext uri="{FF2B5EF4-FFF2-40B4-BE49-F238E27FC236}">
                <a16:creationId xmlns:a16="http://schemas.microsoft.com/office/drawing/2014/main" id="{65595DA7-2467-4BB5-81D7-9529235CECA6}"/>
              </a:ext>
            </a:extLst>
          </p:cNvPr>
          <p:cNvSpPr/>
          <p:nvPr/>
        </p:nvSpPr>
        <p:spPr>
          <a:xfrm rot="5400000">
            <a:off x="1076238" y="7371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2" name="テキスト プレースホルダー 29">
                <a:extLst>
                  <a:ext uri="{FF2B5EF4-FFF2-40B4-BE49-F238E27FC236}">
                    <a16:creationId xmlns:a16="http://schemas.microsoft.com/office/drawing/2014/main" id="{A59BE8D2-7476-4DFB-AFFD-9EA7C74750F2}"/>
                  </a:ext>
                </a:extLst>
              </p:cNvPr>
              <p:cNvSpPr txBox="1">
                <a:spLocks/>
              </p:cNvSpPr>
              <p:nvPr/>
            </p:nvSpPr>
            <p:spPr>
              <a:xfrm>
                <a:off x="1568600" y="7256366"/>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6(</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m:t>
                    </m:r>
                    <m:r>
                      <a:rPr lang="en-US" altLang="ja-JP" b="0" i="1" dirty="0" smtClean="0">
                        <a:solidFill>
                          <a:schemeClr val="tx1"/>
                        </a:solidFill>
                        <a:latin typeface="Cambria Math" panose="02040503050406030204" pitchFamily="18" charset="0"/>
                      </a:rPr>
                      <m:t>0</m:t>
                    </m:r>
                  </m:oMath>
                </a14:m>
                <a:endParaRPr lang="ja-JP" altLang="en-US" dirty="0">
                  <a:solidFill>
                    <a:schemeClr val="accent2"/>
                  </a:solidFill>
                </a:endParaRPr>
              </a:p>
            </p:txBody>
          </p:sp>
        </mc:Choice>
        <mc:Fallback xmlns="">
          <p:sp>
            <p:nvSpPr>
              <p:cNvPr id="32" name="テキスト プレースホルダー 29">
                <a:extLst>
                  <a:ext uri="{FF2B5EF4-FFF2-40B4-BE49-F238E27FC236}">
                    <a16:creationId xmlns:a16="http://schemas.microsoft.com/office/drawing/2014/main" id="{A59BE8D2-7476-4DFB-AFFD-9EA7C74750F2}"/>
                  </a:ext>
                </a:extLst>
              </p:cNvPr>
              <p:cNvSpPr txBox="1">
                <a:spLocks noRot="1" noChangeAspect="1" noMove="1" noResize="1" noEditPoints="1" noAdjustHandles="1" noChangeArrowheads="1" noChangeShapeType="1" noTextEdit="1"/>
              </p:cNvSpPr>
              <p:nvPr/>
            </p:nvSpPr>
            <p:spPr>
              <a:xfrm>
                <a:off x="1568600" y="7256366"/>
                <a:ext cx="18275484" cy="853994"/>
              </a:xfrm>
              <a:prstGeom prst="rect">
                <a:avLst/>
              </a:prstGeom>
              <a:blipFill>
                <a:blip r:embed="rId9"/>
                <a:stretch>
                  <a:fillRect l="-1167" t="-21429" b="-1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26481851-F70A-4A51-BC98-3D89606D8F0E}" type="datetime1">
              <a:rPr lang="ja-JP" altLang="en-US" smtClean="0"/>
              <a:t>2018/5/31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pic>
        <p:nvPicPr>
          <p:cNvPr id="33" name="図 32">
            <a:extLst>
              <a:ext uri="{FF2B5EF4-FFF2-40B4-BE49-F238E27FC236}">
                <a16:creationId xmlns:a16="http://schemas.microsoft.com/office/drawing/2014/main" id="{60AA3D5C-A433-0848-809D-0129548D2476}"/>
              </a:ext>
            </a:extLst>
          </p:cNvPr>
          <p:cNvPicPr>
            <a:picLocks noChangeAspect="1"/>
          </p:cNvPicPr>
          <p:nvPr/>
        </p:nvPicPr>
        <p:blipFill>
          <a:blip r:embed="rId3"/>
          <a:stretch>
            <a:fillRect/>
          </a:stretch>
        </p:blipFill>
        <p:spPr>
          <a:xfrm>
            <a:off x="8285019" y="6507284"/>
            <a:ext cx="9208175" cy="6691825"/>
          </a:xfrm>
          <a:prstGeom prst="rect">
            <a:avLst/>
          </a:prstGeom>
        </p:spPr>
      </p:pic>
      <p:grpSp>
        <p:nvGrpSpPr>
          <p:cNvPr id="43" name="グループ化 42">
            <a:extLst>
              <a:ext uri="{FF2B5EF4-FFF2-40B4-BE49-F238E27FC236}">
                <a16:creationId xmlns:a16="http://schemas.microsoft.com/office/drawing/2014/main" id="{4DFCD83C-59F3-4D47-95B3-DEB5C0D2AD78}"/>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8B2F580B-6108-4278-B355-D2A9C16533F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5" name="正方形/長方形 54">
              <a:extLst>
                <a:ext uri="{FF2B5EF4-FFF2-40B4-BE49-F238E27FC236}">
                  <a16:creationId xmlns:a16="http://schemas.microsoft.com/office/drawing/2014/main" id="{CF013B8F-1081-4324-9005-7204FC234B4C}"/>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6" name="グループ化 55">
            <a:extLst>
              <a:ext uri="{FF2B5EF4-FFF2-40B4-BE49-F238E27FC236}">
                <a16:creationId xmlns:a16="http://schemas.microsoft.com/office/drawing/2014/main" id="{BD0EE451-7C05-4419-B942-B95C3BB2F2D2}"/>
              </a:ext>
            </a:extLst>
          </p:cNvPr>
          <p:cNvGrpSpPr/>
          <p:nvPr/>
        </p:nvGrpSpPr>
        <p:grpSpPr>
          <a:xfrm>
            <a:off x="617232" y="2557358"/>
            <a:ext cx="539448" cy="487368"/>
            <a:chOff x="400056" y="1061560"/>
            <a:chExt cx="269724" cy="243684"/>
          </a:xfrm>
        </p:grpSpPr>
        <p:sp>
          <p:nvSpPr>
            <p:cNvPr id="57" name="三角形 10">
              <a:extLst>
                <a:ext uri="{FF2B5EF4-FFF2-40B4-BE49-F238E27FC236}">
                  <a16:creationId xmlns:a16="http://schemas.microsoft.com/office/drawing/2014/main" id="{A6E93498-047E-4A8A-8DAE-9F65307418D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三角形 11">
              <a:extLst>
                <a:ext uri="{FF2B5EF4-FFF2-40B4-BE49-F238E27FC236}">
                  <a16:creationId xmlns:a16="http://schemas.microsoft.com/office/drawing/2014/main" id="{F1737AA8-F219-47CC-B497-444921A4E17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9" name="三角形 12">
            <a:extLst>
              <a:ext uri="{FF2B5EF4-FFF2-40B4-BE49-F238E27FC236}">
                <a16:creationId xmlns:a16="http://schemas.microsoft.com/office/drawing/2014/main" id="{286E783B-D4B5-46DD-9C75-89BA72BE8FC5}"/>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7">
            <a:extLst>
              <a:ext uri="{FF2B5EF4-FFF2-40B4-BE49-F238E27FC236}">
                <a16:creationId xmlns:a16="http://schemas.microsoft.com/office/drawing/2014/main" id="{98A55B19-9BED-4BC5-A582-C905C678E2CA}"/>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を使用して分析</a:t>
            </a:r>
            <a:endParaRPr lang="en-US" altLang="ja-JP" dirty="0"/>
          </a:p>
        </p:txBody>
      </p:sp>
      <p:sp>
        <p:nvSpPr>
          <p:cNvPr id="71" name="テキスト プレースホルダー 29">
            <a:extLst>
              <a:ext uri="{FF2B5EF4-FFF2-40B4-BE49-F238E27FC236}">
                <a16:creationId xmlns:a16="http://schemas.microsoft.com/office/drawing/2014/main" id="{7D0B3055-9C97-4CF1-8DF3-F1A86807EF85}"/>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72" name="テキスト プレースホルダー 30">
            <a:extLst>
              <a:ext uri="{FF2B5EF4-FFF2-40B4-BE49-F238E27FC236}">
                <a16:creationId xmlns:a16="http://schemas.microsoft.com/office/drawing/2014/main" id="{F6E8B08F-CA9E-4F5E-9667-501E224E40E8}"/>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73" name="グループ化 72">
            <a:extLst>
              <a:ext uri="{FF2B5EF4-FFF2-40B4-BE49-F238E27FC236}">
                <a16:creationId xmlns:a16="http://schemas.microsoft.com/office/drawing/2014/main" id="{6001CBF3-C13D-412F-B6B8-6D9299A976EC}"/>
              </a:ext>
            </a:extLst>
          </p:cNvPr>
          <p:cNvGrpSpPr/>
          <p:nvPr/>
        </p:nvGrpSpPr>
        <p:grpSpPr>
          <a:xfrm>
            <a:off x="617232" y="4073585"/>
            <a:ext cx="539448" cy="487368"/>
            <a:chOff x="400056" y="1061560"/>
            <a:chExt cx="269724" cy="243684"/>
          </a:xfrm>
        </p:grpSpPr>
        <p:sp>
          <p:nvSpPr>
            <p:cNvPr id="74" name="三角形 20">
              <a:extLst>
                <a:ext uri="{FF2B5EF4-FFF2-40B4-BE49-F238E27FC236}">
                  <a16:creationId xmlns:a16="http://schemas.microsoft.com/office/drawing/2014/main" id="{AAE85F2C-C337-4EE1-974A-BF5CDD0BA5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5" name="三角形 21">
              <a:extLst>
                <a:ext uri="{FF2B5EF4-FFF2-40B4-BE49-F238E27FC236}">
                  <a16:creationId xmlns:a16="http://schemas.microsoft.com/office/drawing/2014/main" id="{9881C522-1BBE-4FAD-AC9E-980614EE74F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76" name="テキスト プレースホルダー 27">
                <a:extLst>
                  <a:ext uri="{FF2B5EF4-FFF2-40B4-BE49-F238E27FC236}">
                    <a16:creationId xmlns:a16="http://schemas.microsoft.com/office/drawing/2014/main" id="{F14D3335-4103-4599-8FA5-F9FC89C35C58}"/>
                  </a:ext>
                </a:extLst>
              </p:cNvPr>
              <p:cNvSpPr txBox="1">
                <a:spLocks/>
              </p:cNvSpPr>
              <p:nvPr/>
            </p:nvSpPr>
            <p:spPr>
              <a:xfrm>
                <a:off x="1254485" y="4000960"/>
                <a:ext cx="18309421"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伝達方法に有意差は</a:t>
                </a:r>
                <a:r>
                  <a:rPr lang="ja-JP" altLang="en-US" dirty="0">
                    <a:solidFill>
                      <a:schemeClr val="accent3"/>
                    </a:solidFill>
                  </a:rPr>
                  <a:t>みられない</a:t>
                </a:r>
                <a:r>
                  <a:rPr lang="en-US" altLang="ja-JP" dirty="0">
                    <a:solidFill>
                      <a:schemeClr val="tx1"/>
                    </a:solidFill>
                  </a:rPr>
                  <a:t>(</a:t>
                </a:r>
                <a14:m>
                  <m:oMath xmlns:m="http://schemas.openxmlformats.org/officeDocument/2006/math">
                    <m:r>
                      <a:rPr lang="en-US" altLang="ja-JP" i="1">
                        <a:solidFill>
                          <a:schemeClr val="tx1"/>
                        </a:solidFill>
                        <a:latin typeface="Cambria Math" panose="02040503050406030204" pitchFamily="18" charset="0"/>
                      </a:rPr>
                      <m:t>𝐹</m:t>
                    </m:r>
                    <m:d>
                      <m:dPr>
                        <m:ctrlPr>
                          <a:rPr lang="en-US" altLang="ja-JP" i="1">
                            <a:solidFill>
                              <a:schemeClr val="tx1"/>
                            </a:solidFill>
                            <a:latin typeface="Cambria Math" panose="02040503050406030204" pitchFamily="18" charset="0"/>
                          </a:rPr>
                        </m:ctrlPr>
                      </m:dPr>
                      <m:e>
                        <m:r>
                          <a:rPr lang="en-US" altLang="ja-JP" b="0" i="1" smtClean="0">
                            <a:solidFill>
                              <a:schemeClr val="tx1"/>
                            </a:solidFill>
                            <a:latin typeface="Cambria Math" panose="02040503050406030204" pitchFamily="18" charset="0"/>
                          </a:rPr>
                          <m:t>1</m:t>
                        </m:r>
                        <m:r>
                          <a:rPr lang="en-US" altLang="ja-JP" i="1">
                            <a:solidFill>
                              <a:schemeClr val="tx1"/>
                            </a:solidFill>
                            <a:latin typeface="Cambria Math" panose="02040503050406030204" pitchFamily="18" charset="0"/>
                          </a:rPr>
                          <m:t>,120</m:t>
                        </m:r>
                      </m:e>
                    </m:d>
                    <m:r>
                      <a:rPr lang="en-US" altLang="ja-JP" i="1">
                        <a:solidFill>
                          <a:schemeClr val="tx1"/>
                        </a:solidFill>
                        <a:latin typeface="Cambria Math" panose="02040503050406030204" pitchFamily="18" charset="0"/>
                      </a:rPr>
                      <m:t>=</m:t>
                    </m:r>
                    <m:r>
                      <a:rPr lang="en-US" altLang="ja-JP" b="0" i="1" smtClean="0">
                        <a:solidFill>
                          <a:schemeClr val="tx1"/>
                        </a:solidFill>
                        <a:latin typeface="Cambria Math" panose="02040503050406030204" pitchFamily="18" charset="0"/>
                      </a:rPr>
                      <m:t>0.767</m:t>
                    </m:r>
                    <m:r>
                      <a:rPr lang="en-US" altLang="ja-JP" i="1">
                        <a:solidFill>
                          <a:schemeClr val="tx1"/>
                        </a:solidFill>
                        <a:latin typeface="Cambria Math" panose="02040503050406030204" pitchFamily="18" charset="0"/>
                      </a:rPr>
                      <m:t>,</m:t>
                    </m:r>
                    <m:r>
                      <a:rPr lang="en-US" altLang="ja-JP" i="1">
                        <a:solidFill>
                          <a:schemeClr val="tx1"/>
                        </a:solidFill>
                        <a:latin typeface="Cambria Math" panose="02040503050406030204" pitchFamily="18" charset="0"/>
                      </a:rPr>
                      <m:t>𝑝</m:t>
                    </m:r>
                    <m:r>
                      <a:rPr lang="en-US" altLang="ja-JP" b="0" i="1" smtClean="0">
                        <a:solidFill>
                          <a:schemeClr val="tx1"/>
                        </a:solidFill>
                        <a:latin typeface="Cambria Math" panose="02040503050406030204" pitchFamily="18" charset="0"/>
                      </a:rPr>
                      <m:t>&gt;</m:t>
                    </m:r>
                    <m:r>
                      <a:rPr lang="en-US" altLang="ja-JP" i="1">
                        <a:solidFill>
                          <a:schemeClr val="tx1"/>
                        </a:solidFill>
                        <a:latin typeface="Cambria Math" panose="02040503050406030204" pitchFamily="18" charset="0"/>
                      </a:rPr>
                      <m:t>0.0</m:t>
                    </m:r>
                    <m:r>
                      <a:rPr lang="en-US" altLang="ja-JP" b="0" i="1" smtClean="0">
                        <a:solidFill>
                          <a:schemeClr val="tx1"/>
                        </a:solidFill>
                        <a:latin typeface="Cambria Math" panose="02040503050406030204" pitchFamily="18" charset="0"/>
                      </a:rPr>
                      <m:t>5</m:t>
                    </m:r>
                  </m:oMath>
                </a14:m>
                <a:r>
                  <a:rPr lang="en-US" altLang="ja-JP" dirty="0">
                    <a:solidFill>
                      <a:schemeClr val="tx1"/>
                    </a:solidFill>
                  </a:rPr>
                  <a:t>)</a:t>
                </a:r>
                <a:endParaRPr lang="en-US" altLang="ja-JP" dirty="0">
                  <a:solidFill>
                    <a:schemeClr val="accent3"/>
                  </a:solidFill>
                </a:endParaRPr>
              </a:p>
            </p:txBody>
          </p:sp>
        </mc:Choice>
        <mc:Fallback xmlns="">
          <p:sp>
            <p:nvSpPr>
              <p:cNvPr id="76" name="テキスト プレースホルダー 27">
                <a:extLst>
                  <a:ext uri="{FF2B5EF4-FFF2-40B4-BE49-F238E27FC236}">
                    <a16:creationId xmlns:a16="http://schemas.microsoft.com/office/drawing/2014/main" id="{F14D3335-4103-4599-8FA5-F9FC89C35C58}"/>
                  </a:ext>
                </a:extLst>
              </p:cNvPr>
              <p:cNvSpPr txBox="1">
                <a:spLocks noRot="1" noChangeAspect="1" noMove="1" noResize="1" noEditPoints="1" noAdjustHandles="1" noChangeArrowheads="1" noChangeShapeType="1" noTextEdit="1"/>
              </p:cNvSpPr>
              <p:nvPr/>
            </p:nvSpPr>
            <p:spPr>
              <a:xfrm>
                <a:off x="1254485" y="4000960"/>
                <a:ext cx="18309421" cy="997834"/>
              </a:xfrm>
              <a:prstGeom prst="rect">
                <a:avLst/>
              </a:prstGeom>
              <a:blipFill>
                <a:blip r:embed="rId4"/>
                <a:stretch>
                  <a:fillRect l="-1532" t="-22561" b="-10976"/>
                </a:stretch>
              </a:blipFill>
            </p:spPr>
            <p:txBody>
              <a:bodyPr/>
              <a:lstStyle/>
              <a:p>
                <a:r>
                  <a:rPr lang="ja-JP" altLang="en-US">
                    <a:noFill/>
                  </a:rPr>
                  <a:t> </a:t>
                </a:r>
              </a:p>
            </p:txBody>
          </p:sp>
        </mc:Fallback>
      </mc:AlternateContent>
      <p:grpSp>
        <p:nvGrpSpPr>
          <p:cNvPr id="77" name="グループ化 76">
            <a:extLst>
              <a:ext uri="{FF2B5EF4-FFF2-40B4-BE49-F238E27FC236}">
                <a16:creationId xmlns:a16="http://schemas.microsoft.com/office/drawing/2014/main" id="{4D44CC4D-D10C-4340-97B9-4593C54F983E}"/>
              </a:ext>
            </a:extLst>
          </p:cNvPr>
          <p:cNvGrpSpPr/>
          <p:nvPr/>
        </p:nvGrpSpPr>
        <p:grpSpPr>
          <a:xfrm>
            <a:off x="617232" y="5712270"/>
            <a:ext cx="539448" cy="487368"/>
            <a:chOff x="400056" y="1061560"/>
            <a:chExt cx="269724" cy="243684"/>
          </a:xfrm>
        </p:grpSpPr>
        <p:sp>
          <p:nvSpPr>
            <p:cNvPr id="78" name="三角形 26">
              <a:extLst>
                <a:ext uri="{FF2B5EF4-FFF2-40B4-BE49-F238E27FC236}">
                  <a16:creationId xmlns:a16="http://schemas.microsoft.com/office/drawing/2014/main" id="{E145E839-9C43-4359-B1C5-7BF93A3A9D2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27">
              <a:extLst>
                <a:ext uri="{FF2B5EF4-FFF2-40B4-BE49-F238E27FC236}">
                  <a16:creationId xmlns:a16="http://schemas.microsoft.com/office/drawing/2014/main" id="{3E7B8A1F-5FBD-44D7-8BE5-15C1C3B869D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DABB3F83-5025-44C1-B913-0C0FD0B6FDA3}"/>
                  </a:ext>
                </a:extLst>
              </p:cNvPr>
              <p:cNvSpPr txBox="1">
                <a:spLocks/>
              </p:cNvSpPr>
              <p:nvPr/>
            </p:nvSpPr>
            <p:spPr>
              <a:xfrm>
                <a:off x="1254486" y="563964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感情には有意差が</a:t>
                </a:r>
                <a:r>
                  <a:rPr lang="ja-JP" altLang="en-US" dirty="0">
                    <a:solidFill>
                      <a:schemeClr val="accent2"/>
                    </a:solidFill>
                  </a:rPr>
                  <a:t>みられた</a:t>
                </a:r>
                <a:r>
                  <a:rPr lang="en-US" altLang="ja-JP" dirty="0">
                    <a:solidFill>
                      <a:schemeClr val="tx1"/>
                    </a:solidFill>
                  </a:rPr>
                  <a:t>(</a:t>
                </a:r>
                <a14:m>
                  <m:oMath xmlns:m="http://schemas.openxmlformats.org/officeDocument/2006/math">
                    <m:r>
                      <a:rPr lang="en-US" altLang="ja-JP" i="1">
                        <a:solidFill>
                          <a:schemeClr val="tx1"/>
                        </a:solidFill>
                        <a:latin typeface="Cambria Math" panose="02040503050406030204" pitchFamily="18" charset="0"/>
                      </a:rPr>
                      <m:t>𝐹</m:t>
                    </m:r>
                    <m:d>
                      <m:dPr>
                        <m:ctrlPr>
                          <a:rPr lang="en-US" altLang="ja-JP" i="1">
                            <a:solidFill>
                              <a:schemeClr val="tx1"/>
                            </a:solidFill>
                            <a:latin typeface="Cambria Math" panose="02040503050406030204" pitchFamily="18" charset="0"/>
                          </a:rPr>
                        </m:ctrlPr>
                      </m:dPr>
                      <m:e>
                        <m:r>
                          <a:rPr lang="en-US" altLang="ja-JP" i="1">
                            <a:solidFill>
                              <a:schemeClr val="tx1"/>
                            </a:solidFill>
                            <a:latin typeface="Cambria Math" panose="02040503050406030204" pitchFamily="18" charset="0"/>
                          </a:rPr>
                          <m:t>2,120</m:t>
                        </m:r>
                      </m:e>
                    </m:d>
                    <m:r>
                      <a:rPr lang="en-US" altLang="ja-JP" i="1">
                        <a:solidFill>
                          <a:schemeClr val="tx1"/>
                        </a:solidFill>
                        <a:latin typeface="Cambria Math" panose="02040503050406030204" pitchFamily="18" charset="0"/>
                      </a:rPr>
                      <m:t>=</m:t>
                    </m:r>
                    <m:r>
                      <a:rPr lang="en-US" altLang="ja-JP" b="0" i="1" smtClean="0">
                        <a:solidFill>
                          <a:schemeClr val="tx1"/>
                        </a:solidFill>
                        <a:latin typeface="Cambria Math" panose="02040503050406030204" pitchFamily="18" charset="0"/>
                      </a:rPr>
                      <m:t>6</m:t>
                    </m:r>
                    <m:r>
                      <a:rPr lang="en-US" altLang="ja-JP" i="1">
                        <a:solidFill>
                          <a:schemeClr val="tx1"/>
                        </a:solidFill>
                        <a:latin typeface="Cambria Math" panose="02040503050406030204" pitchFamily="18" charset="0"/>
                      </a:rPr>
                      <m:t>.</m:t>
                    </m:r>
                    <m:r>
                      <a:rPr lang="en-US" altLang="ja-JP" b="0" i="1" smtClean="0">
                        <a:solidFill>
                          <a:schemeClr val="tx1"/>
                        </a:solidFill>
                        <a:latin typeface="Cambria Math" panose="02040503050406030204" pitchFamily="18" charset="0"/>
                      </a:rPr>
                      <m:t>578</m:t>
                    </m:r>
                    <m:r>
                      <a:rPr lang="en-US" altLang="ja-JP" i="1">
                        <a:solidFill>
                          <a:schemeClr val="tx1"/>
                        </a:solidFill>
                        <a:latin typeface="Cambria Math" panose="02040503050406030204" pitchFamily="18" charset="0"/>
                      </a:rPr>
                      <m:t>,</m:t>
                    </m:r>
                    <m:r>
                      <a:rPr lang="en-US" altLang="ja-JP" i="1">
                        <a:solidFill>
                          <a:schemeClr val="tx1"/>
                        </a:solidFill>
                        <a:latin typeface="Cambria Math" panose="02040503050406030204" pitchFamily="18" charset="0"/>
                      </a:rPr>
                      <m:t>𝑝</m:t>
                    </m:r>
                    <m:r>
                      <a:rPr lang="en-US" altLang="ja-JP" i="1">
                        <a:solidFill>
                          <a:schemeClr val="tx1"/>
                        </a:solidFill>
                        <a:latin typeface="Cambria Math" panose="02040503050406030204" pitchFamily="18" charset="0"/>
                      </a:rPr>
                      <m:t>&lt;0.01</m:t>
                    </m:r>
                  </m:oMath>
                </a14:m>
                <a:r>
                  <a:rPr lang="en-US" altLang="ja-JP" dirty="0">
                    <a:solidFill>
                      <a:schemeClr val="tx1"/>
                    </a:solidFill>
                  </a:rPr>
                  <a:t>)</a:t>
                </a:r>
                <a:endParaRPr lang="en-US" altLang="ja-JP" dirty="0">
                  <a:solidFill>
                    <a:schemeClr val="accent2"/>
                  </a:solidFill>
                </a:endParaRPr>
              </a:p>
            </p:txBody>
          </p:sp>
        </mc:Choice>
        <mc:Fallback xmlns="">
          <p:sp>
            <p:nvSpPr>
              <p:cNvPr id="80" name="テキスト プレースホルダー 27">
                <a:extLst>
                  <a:ext uri="{FF2B5EF4-FFF2-40B4-BE49-F238E27FC236}">
                    <a16:creationId xmlns:a16="http://schemas.microsoft.com/office/drawing/2014/main" id="{DABB3F83-5025-44C1-B913-0C0FD0B6FDA3}"/>
                  </a:ext>
                </a:extLst>
              </p:cNvPr>
              <p:cNvSpPr txBox="1">
                <a:spLocks noRot="1" noChangeAspect="1" noMove="1" noResize="1" noEditPoints="1" noAdjustHandles="1" noChangeArrowheads="1" noChangeShapeType="1" noTextEdit="1"/>
              </p:cNvSpPr>
              <p:nvPr/>
            </p:nvSpPr>
            <p:spPr>
              <a:xfrm>
                <a:off x="1254486" y="5639645"/>
                <a:ext cx="16632960" cy="997834"/>
              </a:xfrm>
              <a:prstGeom prst="rect">
                <a:avLst/>
              </a:prstGeom>
              <a:blipFill>
                <a:blip r:embed="rId5"/>
                <a:stretch>
                  <a:fillRect l="-1686" t="-22561" b="-10976"/>
                </a:stretch>
              </a:blipFill>
            </p:spPr>
            <p:txBody>
              <a:bodyPr/>
              <a:lstStyle/>
              <a:p>
                <a:r>
                  <a:rPr lang="ja-JP" altLang="en-US">
                    <a:noFill/>
                  </a:rPr>
                  <a:t> </a:t>
                </a:r>
              </a:p>
            </p:txBody>
          </p:sp>
        </mc:Fallback>
      </mc:AlternateContent>
      <p:sp>
        <p:nvSpPr>
          <p:cNvPr id="81" name="三角形 42">
            <a:extLst>
              <a:ext uri="{FF2B5EF4-FFF2-40B4-BE49-F238E27FC236}">
                <a16:creationId xmlns:a16="http://schemas.microsoft.com/office/drawing/2014/main" id="{9D000605-3B69-43D0-8C4C-3A0C2BD5AD36}"/>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49E8CD27-A2E5-4BE1-A8B5-168514226394}"/>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テキストであっても表情と同程度感情を伝達する</a:t>
            </a:r>
          </a:p>
        </p:txBody>
      </p:sp>
      <p:sp>
        <p:nvSpPr>
          <p:cNvPr id="83" name="三角形 60">
            <a:extLst>
              <a:ext uri="{FF2B5EF4-FFF2-40B4-BE49-F238E27FC236}">
                <a16:creationId xmlns:a16="http://schemas.microsoft.com/office/drawing/2014/main" id="{166138D1-327B-4E86-A168-6808450D483B}"/>
              </a:ext>
            </a:extLst>
          </p:cNvPr>
          <p:cNvSpPr/>
          <p:nvPr/>
        </p:nvSpPr>
        <p:spPr>
          <a:xfrm rot="5400000">
            <a:off x="1076238" y="65680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テキスト プレースホルダー 29">
            <a:extLst>
              <a:ext uri="{FF2B5EF4-FFF2-40B4-BE49-F238E27FC236}">
                <a16:creationId xmlns:a16="http://schemas.microsoft.com/office/drawing/2014/main" id="{38E79A1C-8714-4310-8720-C0AF8F451269}"/>
              </a:ext>
            </a:extLst>
          </p:cNvPr>
          <p:cNvSpPr txBox="1">
            <a:spLocks/>
          </p:cNvSpPr>
          <p:nvPr/>
        </p:nvSpPr>
        <p:spPr>
          <a:xfrm>
            <a:off x="1568600" y="64527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Tukey</a:t>
            </a:r>
            <a:r>
              <a:rPr lang="ja-JP" altLang="en-US" dirty="0"/>
              <a:t>の検定を実施</a:t>
            </a:r>
          </a:p>
        </p:txBody>
      </p:sp>
    </p:spTree>
    <p:extLst>
      <p:ext uri="{BB962C8B-B14F-4D97-AF65-F5344CB8AC3E}">
        <p14:creationId xmlns:p14="http://schemas.microsoft.com/office/powerpoint/2010/main" val="3857113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2018/5/31</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10</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7987</TotalTime>
  <Words>1067</Words>
  <Application>Microsoft Macintosh PowerPoint</Application>
  <PresentationFormat>ユーザー設定</PresentationFormat>
  <Paragraphs>156</Paragraphs>
  <Slides>10</Slides>
  <Notes>7</Notes>
  <HiddenSlides>2</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メイリオ</vt:lpstr>
      <vt:lpstr>游ゴシック</vt:lpstr>
      <vt:lpstr>Arial</vt:lpstr>
      <vt:lpstr>Calibri</vt:lpstr>
      <vt:lpstr>Cambria Math</vt:lpstr>
      <vt:lpstr>Office テーマ</vt:lpstr>
      <vt:lpstr>文献講読 (Grumpy &amp; Pinocchio: Answering Human-Agent Negotiation Questions through Realistic Agent Design )</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305</cp:revision>
  <cp:lastPrinted>2018-04-18T08:51:19Z</cp:lastPrinted>
  <dcterms:created xsi:type="dcterms:W3CDTF">2018-04-18T07:57:09Z</dcterms:created>
  <dcterms:modified xsi:type="dcterms:W3CDTF">2018-05-31T09:08:17Z</dcterms:modified>
</cp:coreProperties>
</file>