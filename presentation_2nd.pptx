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4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41.xml" ContentType="application/vnd.openxmlformats-officedocument.presentationml.notesSlid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1.xml" ContentType="application/vnd.openxmlformats-officedocument.drawingml.chartshape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50"/>
  </p:notesMasterIdLst>
  <p:sldIdLst>
    <p:sldId id="256" r:id="rId2"/>
    <p:sldId id="299" r:id="rId3"/>
    <p:sldId id="290" r:id="rId4"/>
    <p:sldId id="300" r:id="rId5"/>
    <p:sldId id="337" r:id="rId6"/>
    <p:sldId id="334" r:id="rId7"/>
    <p:sldId id="335" r:id="rId8"/>
    <p:sldId id="274" r:id="rId9"/>
    <p:sldId id="302" r:id="rId10"/>
    <p:sldId id="321" r:id="rId11"/>
    <p:sldId id="322" r:id="rId12"/>
    <p:sldId id="306" r:id="rId13"/>
    <p:sldId id="307" r:id="rId14"/>
    <p:sldId id="308" r:id="rId15"/>
    <p:sldId id="309" r:id="rId16"/>
    <p:sldId id="310" r:id="rId17"/>
    <p:sldId id="336" r:id="rId18"/>
    <p:sldId id="338" r:id="rId19"/>
    <p:sldId id="340" r:id="rId20"/>
    <p:sldId id="341" r:id="rId21"/>
    <p:sldId id="342" r:id="rId22"/>
    <p:sldId id="343" r:id="rId23"/>
    <p:sldId id="344" r:id="rId24"/>
    <p:sldId id="345" r:id="rId25"/>
    <p:sldId id="332" r:id="rId26"/>
    <p:sldId id="333" r:id="rId27"/>
    <p:sldId id="297" r:id="rId28"/>
    <p:sldId id="348" r:id="rId29"/>
    <p:sldId id="349" r:id="rId30"/>
    <p:sldId id="350" r:id="rId31"/>
    <p:sldId id="354" r:id="rId32"/>
    <p:sldId id="356" r:id="rId33"/>
    <p:sldId id="357" r:id="rId34"/>
    <p:sldId id="358" r:id="rId35"/>
    <p:sldId id="346" r:id="rId36"/>
    <p:sldId id="353" r:id="rId37"/>
    <p:sldId id="359" r:id="rId38"/>
    <p:sldId id="351" r:id="rId39"/>
    <p:sldId id="293" r:id="rId40"/>
    <p:sldId id="352" r:id="rId41"/>
    <p:sldId id="292" r:id="rId42"/>
    <p:sldId id="267" r:id="rId43"/>
    <p:sldId id="330" r:id="rId44"/>
    <p:sldId id="331" r:id="rId45"/>
    <p:sldId id="325" r:id="rId46"/>
    <p:sldId id="315" r:id="rId47"/>
    <p:sldId id="328" r:id="rId48"/>
    <p:sldId id="339" r:id="rId49"/>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など" id="{3AF8E6CE-7EED-4697-8DC5-FCD53E35D329}">
          <p14:sldIdLst>
            <p14:sldId id="256"/>
            <p14:sldId id="299"/>
            <p14:sldId id="290"/>
          </p14:sldIdLst>
        </p14:section>
        <p14:section name="はじめに" id="{755D3CFA-B3BC-5F46-B668-2ECF2461FA4C}">
          <p14:sldIdLst>
            <p14:sldId id="300"/>
            <p14:sldId id="337"/>
          </p14:sldIdLst>
        </p14:section>
        <p14:section name="IAGO" id="{E5698FF8-31B6-8343-8D0B-33D2897CECA3}">
          <p14:sldIdLst>
            <p14:sldId id="334"/>
            <p14:sldId id="335"/>
          </p14:sldIdLst>
        </p14:section>
        <p14:section name="実験" id="{CAE7764C-4812-DC4A-BFA1-9E8E74E8F5E0}">
          <p14:sldIdLst>
            <p14:sldId id="274"/>
            <p14:sldId id="302"/>
            <p14:sldId id="321"/>
            <p14:sldId id="322"/>
            <p14:sldId id="306"/>
            <p14:sldId id="307"/>
            <p14:sldId id="308"/>
            <p14:sldId id="309"/>
            <p14:sldId id="310"/>
            <p14:sldId id="336"/>
          </p14:sldIdLst>
        </p14:section>
        <p14:section name="評価" id="{EDA6E36B-EE05-3649-B59D-CCC30A21C2E7}">
          <p14:sldIdLst>
            <p14:sldId id="338"/>
            <p14:sldId id="340"/>
            <p14:sldId id="341"/>
            <p14:sldId id="342"/>
            <p14:sldId id="343"/>
            <p14:sldId id="344"/>
            <p14:sldId id="345"/>
          </p14:sldIdLst>
        </p14:section>
        <p14:section name="まとめ" id="{E43900AF-1714-9448-9CAC-4B22357AC068}">
          <p14:sldIdLst>
            <p14:sldId id="332"/>
          </p14:sldIdLst>
        </p14:section>
        <p14:section name="おわりに" id="{DBEAEF00-314B-2D44-A3AD-FDC616BFC1D0}">
          <p14:sldIdLst>
            <p14:sldId id="333"/>
          </p14:sldIdLst>
        </p14:section>
        <p14:section name="補助スライド" id="{040094EA-41C3-43AC-819E-647F1A036B25}">
          <p14:sldIdLst>
            <p14:sldId id="297"/>
            <p14:sldId id="348"/>
            <p14:sldId id="349"/>
            <p14:sldId id="350"/>
            <p14:sldId id="354"/>
            <p14:sldId id="356"/>
            <p14:sldId id="357"/>
            <p14:sldId id="358"/>
            <p14:sldId id="346"/>
            <p14:sldId id="353"/>
            <p14:sldId id="359"/>
            <p14:sldId id="351"/>
            <p14:sldId id="293"/>
            <p14:sldId id="352"/>
          </p14:sldIdLst>
        </p14:section>
        <p14:section name="非表示" id="{E1D32D9D-ADF8-4F92-AB92-9CF6030857B6}">
          <p14:sldIdLst>
            <p14:sldId id="292"/>
            <p14:sldId id="267"/>
            <p14:sldId id="330"/>
            <p14:sldId id="331"/>
            <p14:sldId id="325"/>
            <p14:sldId id="315"/>
            <p14:sldId id="328"/>
            <p14:sldId id="339"/>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62" userDrawn="1">
          <p15:clr>
            <a:srgbClr val="A4A3A4"/>
          </p15:clr>
        </p15:guide>
        <p15:guide id="4" pos="884" userDrawn="1">
          <p15:clr>
            <a:srgbClr val="A4A3A4"/>
          </p15:clr>
        </p15:guide>
        <p15:guide id="5" pos="9706" userDrawn="1">
          <p15:clr>
            <a:srgbClr val="A4A3A4"/>
          </p15:clr>
        </p15:guide>
        <p15:guide id="6" orient="horz" pos="5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77"/>
    <p:restoredTop sz="84764" autoAdjust="0"/>
  </p:normalViewPr>
  <p:slideViewPr>
    <p:cSldViewPr snapToGrid="0" snapToObjects="1">
      <p:cViewPr varScale="1">
        <p:scale>
          <a:sx n="87" d="100"/>
          <a:sy n="87" d="100"/>
        </p:scale>
        <p:origin x="1960" y="216"/>
      </p:cViewPr>
      <p:guideLst>
        <p:guide orient="horz" pos="1621"/>
        <p:guide pos="5601"/>
        <p:guide pos="362"/>
        <p:guide pos="884"/>
        <p:guide pos="9706"/>
        <p:guide orient="horz" pos="584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45DD-8244-BB2F-B5073F10E536}"/>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9A0-114A-842C-92971EF8A9D7}"/>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EAF5-7449-8489-4523140EA252}"/>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2018/6/13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文献購読第２回目の発表</a:t>
            </a:r>
            <a:r>
              <a:rPr kumimoji="1" lang="ja-JP" altLang="en-US" dirty="0"/>
              <a:t>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今回文献講読で読んだ論文はこちらになります．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2409988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a:t>
            </a:r>
            <a:r>
              <a:rPr kumimoji="1" lang="ja-JP" altLang="en-US"/>
              <a:t>このような流れで行って行きたいと思います．</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まず，この研究の背景として交渉はビジネス，人間関係における衝突解消，さらには</a:t>
            </a:r>
            <a:r>
              <a:rPr kumimoji="1" lang="en-US" altLang="ja-JP" dirty="0"/>
              <a:t>AI</a:t>
            </a:r>
            <a:r>
              <a:rPr kumimoji="1" lang="ja-JP" altLang="en-US" dirty="0"/>
              <a:t>など様々な分野において研究されている課題です．</a:t>
            </a:r>
            <a:endParaRPr kumimoji="1" lang="en-US" altLang="ja-JP" dirty="0"/>
          </a:p>
          <a:p>
            <a:r>
              <a:rPr kumimoji="1" lang="ja-JP" altLang="en-US" dirty="0"/>
              <a:t>これらの分野では主にエージェント同士または人間同士の交渉が研究されていますが，近年では人間とエージェントの交渉への関心が高まってきています．</a:t>
            </a:r>
            <a:endParaRPr kumimoji="1" lang="en-US" altLang="ja-JP" dirty="0"/>
          </a:p>
          <a:p>
            <a:r>
              <a:rPr kumimoji="1" lang="ja-JP" altLang="en-US" dirty="0"/>
              <a:t>交渉の仲介人や人間同士の衝突解消のためにエージェントを用いたり，学校などの教育機関で交渉術を学ぶための教育ツールなどが人間とエージェントの交渉の応用先として考えられています．</a:t>
            </a:r>
            <a:endParaRPr kumimoji="1" lang="en-US" altLang="ja-JP" dirty="0"/>
          </a:p>
          <a:p>
            <a:r>
              <a:rPr kumimoji="1" lang="ja-JP" altLang="en-US" dirty="0"/>
              <a:t>そのため，このような人間とエージェントが交渉するためのプラットフォームが必要となっています．</a:t>
            </a:r>
            <a:endParaRPr kumimoji="1" lang="en-US" altLang="ja-JP" dirty="0"/>
          </a:p>
          <a:p>
            <a:r>
              <a:rPr kumimoji="1" lang="ja-JP" altLang="en-US" dirty="0"/>
              <a:t>また，交渉は</a:t>
            </a:r>
            <a:r>
              <a:rPr kumimoji="1" lang="en-US" altLang="ja-JP" dirty="0"/>
              <a:t>AI</a:t>
            </a:r>
            <a:r>
              <a:rPr kumimoji="1" lang="ja-JP" altLang="en-US" dirty="0"/>
              <a:t>の分野でも研究されているため，エージェント同士の交渉に関しては様々な研究がなされています．</a:t>
            </a:r>
            <a:endParaRPr kumimoji="1" lang="en-US" altLang="ja-JP" dirty="0"/>
          </a:p>
          <a:p>
            <a:r>
              <a:rPr kumimoji="1" lang="ja-JP" altLang="en-US" dirty="0"/>
              <a:t>しかし，エージェント同士で用いられている交渉理論を人間とエージェントの交渉にそのまま応用することは難しいという問題があります．</a:t>
            </a:r>
            <a:endParaRPr kumimoji="1" lang="en-US" altLang="ja-JP" dirty="0"/>
          </a:p>
          <a:p>
            <a:r>
              <a:rPr kumimoji="1" lang="ja-JP" altLang="en-US" dirty="0"/>
              <a:t>理由としては人間はコンピュータと異なり非合理的な行動を取る場合があります．</a:t>
            </a:r>
            <a:endParaRPr kumimoji="1" lang="en-US" altLang="ja-JP" dirty="0"/>
          </a:p>
          <a:p>
            <a:r>
              <a:rPr kumimoji="1" lang="ja-JP" altLang="en-US" dirty="0"/>
              <a:t>また，人間同士の交渉では相手の感情によって結果が左右されることがありますが，エージェント同士ではこのような情報は必要としません．</a:t>
            </a:r>
            <a:endParaRPr kumimoji="1" lang="en-US" altLang="ja-JP" dirty="0"/>
          </a:p>
          <a:p>
            <a:r>
              <a:rPr kumimoji="1" lang="ja-JP" altLang="en-US" dirty="0"/>
              <a:t>このような理由からエージェント同士の交渉理論を人間とエージェントの交渉に応用することは困難になっています．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617688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そこで，人間同士の交渉に用いられている技術を適用することが考えられていますが，このような技術を適用することで効果があるのか調べる必要があります．</a:t>
            </a:r>
            <a:endParaRPr kumimoji="1" lang="en-US" altLang="ja-JP" dirty="0"/>
          </a:p>
          <a:p>
            <a:r>
              <a:rPr kumimoji="1" lang="ja-JP" altLang="en-US" dirty="0"/>
              <a:t>また，複数のチャネルを持った交渉のプラットフォームがないという問題があります．</a:t>
            </a:r>
            <a:endParaRPr kumimoji="1" lang="en-US" altLang="ja-JP" dirty="0"/>
          </a:p>
          <a:p>
            <a:r>
              <a:rPr kumimoji="1" lang="ja-JP" altLang="en-US" dirty="0"/>
              <a:t>自然言語による交渉が行える</a:t>
            </a:r>
            <a:r>
              <a:rPr kumimoji="1" lang="en-US" altLang="ja-JP" dirty="0" err="1"/>
              <a:t>Nego</a:t>
            </a:r>
            <a:r>
              <a:rPr kumimoji="1" lang="ja-JP" altLang="en-US" dirty="0"/>
              <a:t> </a:t>
            </a:r>
            <a:r>
              <a:rPr kumimoji="1" lang="en-US" altLang="ja-JP" dirty="0"/>
              <a:t>Chat</a:t>
            </a:r>
            <a:r>
              <a:rPr kumimoji="1" lang="ja-JP" altLang="en-US" dirty="0" err="1"/>
              <a:t>，</a:t>
            </a:r>
            <a:r>
              <a:rPr kumimoji="1" lang="ja-JP" altLang="en-US" dirty="0"/>
              <a:t>複数論点交渉問題を扱える</a:t>
            </a:r>
            <a:r>
              <a:rPr kumimoji="1" lang="en-US" altLang="ja-JP" dirty="0"/>
              <a:t>Colored Trails</a:t>
            </a:r>
            <a:r>
              <a:rPr kumimoji="1" lang="ja-JP" altLang="en-US" dirty="0" err="1"/>
              <a:t>，</a:t>
            </a:r>
            <a:r>
              <a:rPr kumimoji="1" lang="en-US" altLang="ja-JP" dirty="0"/>
              <a:t>Colored Trails</a:t>
            </a:r>
            <a:r>
              <a:rPr kumimoji="1" lang="ja-JP" altLang="en-US" dirty="0"/>
              <a:t>を</a:t>
            </a:r>
            <a:r>
              <a:rPr kumimoji="1" lang="en-US" altLang="ja-JP" dirty="0"/>
              <a:t>Web</a:t>
            </a:r>
            <a:r>
              <a:rPr kumimoji="1" lang="ja-JP" altLang="en-US" dirty="0"/>
              <a:t>上で扱える</a:t>
            </a:r>
            <a:r>
              <a:rPr kumimoji="1" lang="en-US" altLang="ja-JP" dirty="0"/>
              <a:t>Web CT</a:t>
            </a:r>
            <a:r>
              <a:rPr kumimoji="1" lang="ja-JP" altLang="en-US" dirty="0"/>
              <a:t>などのプラットフォームがありますがこれらの人間とエージェントの交渉を扱うには不十分であると考えられます．</a:t>
            </a:r>
            <a:endParaRPr kumimoji="1" lang="en-US" altLang="ja-JP" dirty="0"/>
          </a:p>
          <a:p>
            <a:r>
              <a:rPr kumimoji="1" lang="ja-JP" altLang="en-US" dirty="0"/>
              <a:t>そこで，本研究では感情の送信，自然言語でのチャットなどの複数のチャネルを持ち，なおかつ</a:t>
            </a:r>
            <a:r>
              <a:rPr kumimoji="1" lang="en-US" altLang="ja-JP" dirty="0"/>
              <a:t>WEB</a:t>
            </a:r>
            <a:r>
              <a:rPr kumimoji="1" lang="ja-JP" altLang="en-US" dirty="0"/>
              <a:t>上で交渉を行うことができる</a:t>
            </a:r>
            <a:r>
              <a:rPr kumimoji="1" lang="en-US" altLang="ja-JP" dirty="0"/>
              <a:t>IAGO</a:t>
            </a:r>
            <a:r>
              <a:rPr kumimoji="1" lang="ja-JP" altLang="en-US" dirty="0"/>
              <a:t>というプラットフォームの紹介を行います．</a:t>
            </a:r>
            <a:endParaRPr kumimoji="1" lang="en-US" altLang="ja-JP" dirty="0"/>
          </a:p>
          <a:p>
            <a:r>
              <a:rPr kumimoji="1" lang="ja-JP" altLang="en-US" dirty="0"/>
              <a:t>また，この</a:t>
            </a:r>
            <a:r>
              <a:rPr kumimoji="1" lang="en-US" altLang="ja-JP" dirty="0"/>
              <a:t>IAGO</a:t>
            </a:r>
            <a:r>
              <a:rPr kumimoji="1" lang="ja-JP" altLang="en-US" dirty="0"/>
              <a:t>を使用して</a:t>
            </a:r>
            <a:r>
              <a:rPr kumimoji="1" lang="en-US" altLang="ja-JP" dirty="0"/>
              <a:t>4</a:t>
            </a:r>
            <a:r>
              <a:rPr kumimoji="1" lang="ja-JP" altLang="en-US" dirty="0" err="1"/>
              <a:t>つの</a:t>
            </a:r>
            <a:r>
              <a:rPr kumimoji="1" lang="ja-JP" altLang="en-US" dirty="0"/>
              <a:t>エージェントを作成し，そのエージェントを用いて実験を行うことで人間同士の交渉で現れる効果がエージェントとの交渉でも現れるか調査することを目的としています．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1085218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a:t>
            </a:r>
            <a:r>
              <a:rPr kumimoji="1" lang="en-US" altLang="ja-JP" dirty="0"/>
              <a:t>IAGO</a:t>
            </a:r>
            <a:r>
              <a:rPr kumimoji="1" lang="ja-JP" altLang="en-US" dirty="0"/>
              <a:t>に関する説明に移りたいと思います．</a:t>
            </a:r>
            <a:endParaRPr kumimoji="1" lang="en-US" altLang="ja-JP" dirty="0"/>
          </a:p>
          <a:p>
            <a:r>
              <a:rPr kumimoji="1" lang="en-US" altLang="ja-JP" dirty="0"/>
              <a:t>IAGO</a:t>
            </a:r>
            <a:r>
              <a:rPr kumimoji="1" lang="ja-JP" altLang="en-US" dirty="0"/>
              <a:t>は</a:t>
            </a:r>
            <a:r>
              <a:rPr kumimoji="1" lang="en-US" altLang="ja-JP" dirty="0"/>
              <a:t>3</a:t>
            </a:r>
            <a:r>
              <a:rPr kumimoji="1" lang="ja-JP" altLang="en-US" dirty="0" err="1"/>
              <a:t>つの</a:t>
            </a:r>
            <a:r>
              <a:rPr kumimoji="1" lang="ja-JP" altLang="en-US" dirty="0"/>
              <a:t>原則にしたがって設計されています．</a:t>
            </a:r>
            <a:endParaRPr kumimoji="1" lang="en-US" altLang="ja-JP" dirty="0"/>
          </a:p>
          <a:p>
            <a:r>
              <a:rPr kumimoji="1" lang="ja-JP" altLang="en-US" dirty="0"/>
              <a:t>まず，</a:t>
            </a:r>
            <a:r>
              <a:rPr kumimoji="1" lang="en-US" altLang="ja-JP" dirty="0"/>
              <a:t>WEB</a:t>
            </a:r>
            <a:r>
              <a:rPr kumimoji="1" lang="ja-JP" altLang="en-US" dirty="0"/>
              <a:t>標準をサポートしています．</a:t>
            </a:r>
            <a:endParaRPr kumimoji="1" lang="en-US" altLang="ja-JP" dirty="0"/>
          </a:p>
          <a:p>
            <a:r>
              <a:rPr kumimoji="1" lang="ja-JP" altLang="en-US" dirty="0"/>
              <a:t>これによってエージェントと交渉を行うユーザはソフトウェアのインストールを行わずに</a:t>
            </a:r>
            <a:r>
              <a:rPr kumimoji="1" lang="en-US" altLang="ja-JP" dirty="0"/>
              <a:t>WEB</a:t>
            </a:r>
            <a:r>
              <a:rPr kumimoji="1" lang="ja-JP" altLang="en-US" dirty="0"/>
              <a:t>ブラウザ上で簡単に交渉を行うことができます．</a:t>
            </a:r>
            <a:endParaRPr kumimoji="1" lang="en-US" altLang="ja-JP" dirty="0"/>
          </a:p>
          <a:p>
            <a:r>
              <a:rPr kumimoji="1" lang="ja-JP" altLang="en-US" dirty="0"/>
              <a:t>また，開発者の視点から見ても開発環境を整えるのが簡単であるという「利点があります．</a:t>
            </a:r>
            <a:endParaRPr kumimoji="1" lang="en-US" altLang="ja-JP" dirty="0"/>
          </a:p>
          <a:p>
            <a:r>
              <a:rPr kumimoji="1" lang="ja-JP" altLang="en-US" dirty="0"/>
              <a:t>また，</a:t>
            </a:r>
            <a:r>
              <a:rPr kumimoji="1" lang="en-US" altLang="ja-JP" dirty="0"/>
              <a:t>IAGO</a:t>
            </a:r>
            <a:r>
              <a:rPr kumimoji="1" lang="ja-JP" altLang="en-US" dirty="0"/>
              <a:t>は</a:t>
            </a:r>
            <a:r>
              <a:rPr kumimoji="1" lang="en-US" altLang="ja-JP" dirty="0"/>
              <a:t>API</a:t>
            </a:r>
            <a:r>
              <a:rPr kumimoji="1" lang="ja-JP" altLang="en-US" dirty="0"/>
              <a:t>を公開しているためエージェントや交渉のプロトコルを設計することが簡単になっています．</a:t>
            </a:r>
            <a:endParaRPr kumimoji="1" lang="en-US" altLang="ja-JP" dirty="0"/>
          </a:p>
          <a:p>
            <a:r>
              <a:rPr kumimoji="1" lang="ja-JP" altLang="en-US" dirty="0"/>
              <a:t>最後に，人間とエージェントの交渉では効果があるか検証されていないが人間同士の交渉で用いられるチャネルをサポートしています．</a:t>
            </a:r>
            <a:endParaRPr kumimoji="1" lang="en-US" altLang="ja-JP" dirty="0"/>
          </a:p>
          <a:p>
            <a:r>
              <a:rPr kumimoji="1" lang="en-US" altLang="ja-JP" dirty="0"/>
              <a:t>IAGO</a:t>
            </a:r>
            <a:r>
              <a:rPr kumimoji="1" lang="ja-JP" altLang="en-US" dirty="0"/>
              <a:t>ではエージェンが送信した感情の視覚的表現や，ピザよりドーナツが好きといったような相対的な選好を相手に公開，または相手の選好を聞き出すような方法がサポートされています．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9382358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a:t>
            </a:r>
            <a:r>
              <a:rPr kumimoji="1" lang="en-US" altLang="ja-JP" dirty="0"/>
              <a:t>IAGO</a:t>
            </a:r>
            <a:r>
              <a:rPr kumimoji="1" lang="ja-JP" altLang="en-US" dirty="0"/>
              <a:t>で交渉を行う場合の</a:t>
            </a:r>
            <a:r>
              <a:rPr kumimoji="1" lang="en-US" altLang="ja-JP" dirty="0"/>
              <a:t>GUI</a:t>
            </a:r>
            <a:r>
              <a:rPr kumimoji="1" lang="ja-JP" altLang="en-US" dirty="0"/>
              <a:t>です．</a:t>
            </a:r>
            <a:endParaRPr kumimoji="1" lang="en-US" altLang="ja-JP" dirty="0"/>
          </a:p>
          <a:p>
            <a:r>
              <a:rPr kumimoji="1" lang="ja-JP" altLang="en-US" dirty="0"/>
              <a:t>こちらにエージェントの顔が表示されており，エージェントの感情によって表情が変化します．</a:t>
            </a:r>
            <a:endParaRPr kumimoji="1" lang="en-US" altLang="ja-JP" dirty="0"/>
          </a:p>
          <a:p>
            <a:r>
              <a:rPr kumimoji="1" lang="ja-JP" altLang="en-US" dirty="0"/>
              <a:t>こちらには現在の</a:t>
            </a:r>
            <a:r>
              <a:rPr kumimoji="1" lang="en-US" altLang="ja-JP" dirty="0"/>
              <a:t>offer</a:t>
            </a:r>
            <a:r>
              <a:rPr kumimoji="1" lang="ja-JP" altLang="en-US" dirty="0"/>
              <a:t>の内容が表示され，この</a:t>
            </a:r>
            <a:r>
              <a:rPr kumimoji="1" lang="en-US" altLang="ja-JP" dirty="0"/>
              <a:t>offer</a:t>
            </a:r>
            <a:r>
              <a:rPr kumimoji="1" lang="ja-JP" altLang="en-US" dirty="0"/>
              <a:t>に対して</a:t>
            </a:r>
            <a:r>
              <a:rPr kumimoji="1" lang="en-US" altLang="ja-JP" dirty="0"/>
              <a:t>accept</a:t>
            </a:r>
            <a:r>
              <a:rPr kumimoji="1" lang="ja-JP" altLang="en-US" dirty="0"/>
              <a:t>するか</a:t>
            </a:r>
            <a:r>
              <a:rPr kumimoji="1" lang="en-US" altLang="ja-JP" dirty="0"/>
              <a:t>reject</a:t>
            </a:r>
            <a:r>
              <a:rPr kumimoji="1" lang="ja-JP" altLang="en-US" dirty="0"/>
              <a:t>するかなどの行動を取ることができます．</a:t>
            </a:r>
            <a:endParaRPr kumimoji="1" lang="en-US" altLang="ja-JP" dirty="0"/>
          </a:p>
          <a:p>
            <a:r>
              <a:rPr kumimoji="1" lang="ja-JP" altLang="en-US" dirty="0"/>
              <a:t>あらかじめ用意された自然言語のメッセージや感情を相手に送信できます．</a:t>
            </a:r>
            <a:endParaRPr kumimoji="1" lang="en-US" altLang="ja-JP" dirty="0"/>
          </a:p>
          <a:p>
            <a:r>
              <a:rPr kumimoji="1" lang="ja-JP" altLang="en-US" dirty="0"/>
              <a:t>これによって自分の選好を後悔したり相手の選好を聞き出すことができます．</a:t>
            </a:r>
            <a:endParaRPr kumimoji="1" lang="en-US" altLang="ja-JP" dirty="0"/>
          </a:p>
          <a:p>
            <a:r>
              <a:rPr kumimoji="1" lang="ja-JP" altLang="en-US" dirty="0"/>
              <a:t>送信された感情とメッセージのログがこのように表示されます．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88974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a:t>
            </a:r>
            <a:r>
              <a:rPr kumimoji="1" lang="en-US" altLang="ja-JP" dirty="0"/>
              <a:t>IAGO</a:t>
            </a:r>
            <a:r>
              <a:rPr kumimoji="1" lang="ja-JP" altLang="en-US" dirty="0"/>
              <a:t>で作成したエージェントを用いた実験について説明したいと思います．</a:t>
            </a:r>
            <a:endParaRPr kumimoji="1" lang="en-US" altLang="ja-JP" dirty="0"/>
          </a:p>
          <a:p>
            <a:r>
              <a:rPr kumimoji="1" lang="ja-JP" altLang="en-US" dirty="0"/>
              <a:t>この実験は</a:t>
            </a:r>
            <a:r>
              <a:rPr kumimoji="1" lang="en-US" altLang="ja-JP" dirty="0"/>
              <a:t>IAGO</a:t>
            </a:r>
            <a:r>
              <a:rPr kumimoji="1" lang="ja-JP" altLang="en-US" dirty="0"/>
              <a:t>がプラットフォームとして機能することを実証することと人間同士の交渉で生じる</a:t>
            </a:r>
            <a:r>
              <a:rPr kumimoji="1" lang="en-US" altLang="ja-JP" dirty="0"/>
              <a:t>3</a:t>
            </a:r>
            <a:r>
              <a:rPr kumimoji="1" lang="ja-JP" altLang="en-US" dirty="0" err="1"/>
              <a:t>つの</a:t>
            </a:r>
            <a:r>
              <a:rPr kumimoji="1" lang="ja-JP" altLang="en-US" dirty="0"/>
              <a:t>効果について調査することを目的としています．</a:t>
            </a:r>
            <a:endParaRPr kumimoji="1" lang="en-US" altLang="ja-JP" dirty="0"/>
          </a:p>
          <a:p>
            <a:r>
              <a:rPr kumimoji="1" lang="ja-JP" altLang="en-US" dirty="0"/>
              <a:t>今回作成したエージェントはそれぞれ感情のトーンが</a:t>
            </a:r>
            <a:r>
              <a:rPr kumimoji="1" lang="en-US" altLang="ja-JP" dirty="0"/>
              <a:t>Nice</a:t>
            </a:r>
            <a:r>
              <a:rPr kumimoji="1" lang="ja-JP" altLang="en-US" dirty="0"/>
              <a:t>と</a:t>
            </a:r>
            <a:r>
              <a:rPr kumimoji="1" lang="en-US" altLang="ja-JP" dirty="0"/>
              <a:t>Nasty</a:t>
            </a:r>
            <a:r>
              <a:rPr kumimoji="1" lang="ja-JP" altLang="en-US" dirty="0" err="1"/>
              <a:t>，</a:t>
            </a:r>
            <a:r>
              <a:rPr kumimoji="1" lang="ja-JP" altLang="en-US" dirty="0"/>
              <a:t>人間からの質問に対する対応が</a:t>
            </a:r>
            <a:r>
              <a:rPr kumimoji="1" lang="en-US" altLang="ja-JP" dirty="0"/>
              <a:t>Strategic</a:t>
            </a:r>
            <a:r>
              <a:rPr kumimoji="1" lang="ja-JP" altLang="en-US" dirty="0"/>
              <a:t>と</a:t>
            </a:r>
            <a:r>
              <a:rPr kumimoji="1" lang="en-US" altLang="ja-JP" dirty="0"/>
              <a:t>Free</a:t>
            </a:r>
            <a:r>
              <a:rPr kumimoji="1" lang="ja-JP" altLang="en-US" dirty="0"/>
              <a:t>の組み合わせが異なる</a:t>
            </a:r>
            <a:r>
              <a:rPr kumimoji="1" lang="en-US" altLang="ja-JP" dirty="0"/>
              <a:t>4</a:t>
            </a:r>
            <a:r>
              <a:rPr kumimoji="1" lang="ja-JP" altLang="en-US" dirty="0"/>
              <a:t>種になります．</a:t>
            </a:r>
            <a:endParaRPr kumimoji="1" lang="en-US" altLang="ja-JP" dirty="0"/>
          </a:p>
          <a:p>
            <a:r>
              <a:rPr kumimoji="1" lang="ja-JP" altLang="en-US" dirty="0"/>
              <a:t>感情のトーンが</a:t>
            </a:r>
            <a:r>
              <a:rPr kumimoji="1" lang="en-US" altLang="ja-JP" dirty="0"/>
              <a:t>Nice</a:t>
            </a:r>
            <a:r>
              <a:rPr kumimoji="1" lang="ja-JP" altLang="en-US" dirty="0"/>
              <a:t>のエージェントは公平じゃない</a:t>
            </a:r>
            <a:r>
              <a:rPr kumimoji="1" lang="en-US" altLang="ja-JP" dirty="0"/>
              <a:t>offer</a:t>
            </a:r>
            <a:r>
              <a:rPr kumimoji="1" lang="ja-JP" altLang="en-US" dirty="0"/>
              <a:t>に対して「すみませんが，この</a:t>
            </a:r>
            <a:r>
              <a:rPr kumimoji="1" lang="en-US" altLang="ja-JP" dirty="0"/>
              <a:t>offer</a:t>
            </a:r>
            <a:r>
              <a:rPr kumimoji="1" lang="ja-JP" altLang="en-US" dirty="0"/>
              <a:t>は公平じゃないと思います」といった返答を行い，</a:t>
            </a:r>
            <a:r>
              <a:rPr kumimoji="1" lang="en-US" altLang="ja-JP" dirty="0"/>
              <a:t>Nasty</a:t>
            </a:r>
            <a:r>
              <a:rPr kumimoji="1" lang="ja-JP" altLang="en-US" dirty="0"/>
              <a:t>のエージェントは「この</a:t>
            </a:r>
            <a:r>
              <a:rPr kumimoji="1" lang="en-US" altLang="ja-JP" dirty="0"/>
              <a:t>offer</a:t>
            </a:r>
            <a:r>
              <a:rPr kumimoji="1" lang="ja-JP" altLang="en-US" dirty="0"/>
              <a:t>は公平じゃない」という返答を行います．</a:t>
            </a:r>
            <a:endParaRPr kumimoji="1" lang="en-US" altLang="ja-JP" dirty="0"/>
          </a:p>
          <a:p>
            <a:r>
              <a:rPr kumimoji="1" lang="ja-JP" altLang="en-US" dirty="0"/>
              <a:t>このように同じ意味でも返答する内容が少し異なります．</a:t>
            </a:r>
            <a:endParaRPr kumimoji="1" lang="en-US" altLang="ja-JP" dirty="0"/>
          </a:p>
          <a:p>
            <a:r>
              <a:rPr kumimoji="1" lang="ja-JP" altLang="en-US" dirty="0"/>
              <a:t>選好を公開する戦略が</a:t>
            </a:r>
            <a:r>
              <a:rPr kumimoji="1" lang="en-US" altLang="ja-JP" dirty="0"/>
              <a:t>Strategic</a:t>
            </a:r>
            <a:r>
              <a:rPr kumimoji="1" lang="ja-JP" altLang="en-US" dirty="0"/>
              <a:t>なエージェントは</a:t>
            </a:r>
            <a:r>
              <a:rPr kumimoji="1" lang="ja-JP" altLang="en-US"/>
              <a:t>人間が応報戦略，</a:t>
            </a:r>
            <a:r>
              <a:rPr kumimoji="1" lang="en-US" altLang="ja-JP" dirty="0"/>
              <a:t>Free</a:t>
            </a:r>
            <a:r>
              <a:rPr kumimoji="1" lang="ja-JP" altLang="en-US"/>
              <a:t>のエージェントは応報戦略に加えて，</a:t>
            </a:r>
            <a:r>
              <a:rPr kumimoji="1" lang="ja-JP" altLang="en-US" dirty="0"/>
              <a:t>「一番好きなものは何ですか？」といった単純な質問には答えます．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70493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実験で調査する内容について説明します．</a:t>
            </a:r>
            <a:endParaRPr kumimoji="1" lang="en-US" altLang="ja-JP" dirty="0"/>
          </a:p>
          <a:p>
            <a:r>
              <a:rPr kumimoji="1" lang="en-US" altLang="ja-JP" dirty="0"/>
              <a:t>1</a:t>
            </a:r>
            <a:r>
              <a:rPr kumimoji="1" lang="ja-JP" altLang="en-US" dirty="0"/>
              <a:t>つめは，選好を明らかにするための戦略は人間の行動に影響を及ぼすかを調査します．</a:t>
            </a:r>
            <a:endParaRPr kumimoji="1" lang="en-US" altLang="ja-JP" dirty="0"/>
          </a:p>
          <a:p>
            <a:r>
              <a:rPr kumimoji="1" lang="en-US" altLang="ja-JP" dirty="0"/>
              <a:t>Strategic</a:t>
            </a:r>
            <a:r>
              <a:rPr kumimoji="1" lang="ja-JP" altLang="en-US" dirty="0"/>
              <a:t>なエージェントは自分から選好を公開しませんが，人間が「ピザよりパスタが好き」という選好を公開すると，</a:t>
            </a:r>
          </a:p>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336213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エージェントは「パスタよりピザが好き」という選好を公開します．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469674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Free</a:t>
            </a:r>
            <a:r>
              <a:rPr kumimoji="1" lang="ja-JP" altLang="en-US"/>
              <a:t>なエージェントはこれに加えて，「この中で一番好きなのは何ですか？」といった単純な質問に対して「ドーナツです」と回答します．</a:t>
            </a:r>
            <a:endParaRPr kumimoji="1" lang="en-US" altLang="ja-JP" dirty="0"/>
          </a:p>
          <a:p>
            <a:r>
              <a:rPr kumimoji="1" lang="ja-JP" altLang="en-US"/>
              <a:t>このように自分の選好を公開する戦略が異なると人間の行動に影響が出るのか調査します．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36101193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２つ目は，選好を明らかにするための戦略は統合的交渉に影響を与えるか調査します．</a:t>
            </a:r>
            <a:endParaRPr kumimoji="1" lang="en-US" altLang="ja-JP" dirty="0"/>
          </a:p>
          <a:p>
            <a:r>
              <a:rPr kumimoji="1" lang="ja-JP" altLang="en-US"/>
              <a:t>エージェントは「ケーキが一番好き」人間は「パスタが一番好き」といった場合を考えます．</a:t>
            </a:r>
            <a:endParaRPr kumimoji="1" lang="en-US" altLang="ja-JP" dirty="0"/>
          </a:p>
          <a:p>
            <a:r>
              <a:rPr kumimoji="1" lang="ja-JP" altLang="en-US"/>
              <a:t>この場合，残りのピザとドーナツをどう配分するかが問題になります．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635514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もし，エージェントが「ドーナツよりピザが好き」，人間が「ピザよりドーナツが好き」とお互いにわかっていれば，ピザをエージェント，ドーナツを人間に配分すると考えられます．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2165828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しかし，その選好情報がわからない状態だとエージェントにドーナツ，人間にピザが配分されてしまい，お互い不幸になってしまいます．</a:t>
            </a:r>
            <a:endParaRPr kumimoji="1" lang="en-US" altLang="ja-JP" dirty="0"/>
          </a:p>
          <a:p>
            <a:r>
              <a:rPr kumimoji="1" lang="ja-JP" altLang="en-US"/>
              <a:t>そこで，選好を明らかにするための戦略がこのような統合的交渉に影響を与えるか調査します．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4218277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a:t>つ目は積極的な行動が相手を譲歩させるのか調査します．</a:t>
            </a:r>
            <a:endParaRPr kumimoji="1" lang="en-US" altLang="ja-JP" dirty="0"/>
          </a:p>
          <a:p>
            <a:r>
              <a:rPr kumimoji="1" lang="ja-JP" altLang="en-US"/>
              <a:t>人間がパスタが一番好きな状態でエージェントが「わたしもパスタが欲しい」と積極的な行動をとった場合に人間は譲歩するのか調べます．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40714369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続いて実験方法についてです．</a:t>
            </a:r>
            <a:endParaRPr kumimoji="1" lang="en-US" altLang="ja-JP" dirty="0"/>
          </a:p>
          <a:p>
            <a:r>
              <a:rPr kumimoji="1" lang="ja-JP" altLang="en-US"/>
              <a:t>まず，被験者には実験に関するチュートリアルを読んでもらい，交渉の仕方を理解したか確認します．</a:t>
            </a:r>
            <a:endParaRPr kumimoji="1" lang="en-US" altLang="ja-JP" dirty="0"/>
          </a:p>
          <a:p>
            <a:r>
              <a:rPr kumimoji="1" lang="ja-JP" altLang="en-US"/>
              <a:t>そして，先ほどの</a:t>
            </a:r>
            <a:r>
              <a:rPr kumimoji="1" lang="en-US" altLang="ja-JP" dirty="0"/>
              <a:t>4</a:t>
            </a:r>
            <a:r>
              <a:rPr kumimoji="1" lang="ja-JP" altLang="en-US"/>
              <a:t>つのエージェントから</a:t>
            </a:r>
            <a:r>
              <a:rPr kumimoji="1" lang="en-US" altLang="ja-JP" dirty="0"/>
              <a:t>1</a:t>
            </a:r>
            <a:r>
              <a:rPr kumimoji="1" lang="ja-JP" altLang="en-US"/>
              <a:t>つをランダムに割り当て，そのエージェントと交渉を行います．</a:t>
            </a:r>
            <a:endParaRPr kumimoji="1" lang="en-US" altLang="ja-JP" dirty="0"/>
          </a:p>
          <a:p>
            <a:r>
              <a:rPr kumimoji="1" lang="ja-JP" altLang="en-US"/>
              <a:t>交渉は</a:t>
            </a:r>
            <a:r>
              <a:rPr kumimoji="1" lang="en-US" altLang="ja-JP" dirty="0"/>
              <a:t>10</a:t>
            </a:r>
            <a:r>
              <a:rPr kumimoji="1" lang="ja-JP" altLang="en-US"/>
              <a:t>分経過するか，両者が</a:t>
            </a:r>
            <a:r>
              <a:rPr kumimoji="1" lang="en-US" altLang="ja-JP" dirty="0"/>
              <a:t>offer</a:t>
            </a:r>
            <a:r>
              <a:rPr kumimoji="1" lang="ja-JP" altLang="en-US"/>
              <a:t>に対して</a:t>
            </a:r>
            <a:r>
              <a:rPr kumimoji="1" lang="en-US" altLang="ja-JP" dirty="0"/>
              <a:t>accept</a:t>
            </a:r>
            <a:r>
              <a:rPr kumimoji="1" lang="ja-JP" altLang="en-US"/>
              <a:t>すると終了します．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274405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交渉ではスパイス，バナナ，金，鉄が各５つあり，それを</a:t>
            </a:r>
            <a:r>
              <a:rPr kumimoji="1" lang="en-US" altLang="ja-JP" dirty="0"/>
              <a:t>2</a:t>
            </a:r>
            <a:r>
              <a:rPr kumimoji="1" lang="ja-JP" altLang="en-US" dirty="0"/>
              <a:t>人で分け合います．</a:t>
            </a:r>
            <a:endParaRPr kumimoji="1" lang="en-US" altLang="ja-JP" dirty="0"/>
          </a:p>
          <a:p>
            <a:r>
              <a:rPr kumimoji="1" lang="ja-JP" altLang="en-US" dirty="0"/>
              <a:t>両者に対する価値は表のようになっており，これらが適切に配分すると統合的交渉となります．</a:t>
            </a:r>
            <a:endParaRPr kumimoji="1" lang="en-US" altLang="ja-JP" dirty="0"/>
          </a:p>
          <a:p>
            <a:r>
              <a:rPr kumimoji="1" lang="ja-JP" altLang="en-US" dirty="0"/>
              <a:t>合意に達さずに交渉が終了した場合，</a:t>
            </a:r>
            <a:r>
              <a:rPr kumimoji="1" lang="en-US" altLang="ja-JP" dirty="0"/>
              <a:t>BATNA</a:t>
            </a:r>
            <a:r>
              <a:rPr kumimoji="1" lang="ja-JP" altLang="en-US" dirty="0"/>
              <a:t>として両者に</a:t>
            </a:r>
            <a:r>
              <a:rPr kumimoji="1" lang="en-US" altLang="ja-JP" dirty="0"/>
              <a:t>4</a:t>
            </a:r>
            <a:r>
              <a:rPr kumimoji="1" lang="ja-JP" altLang="en-US" dirty="0"/>
              <a:t>点ずつ与えられます．</a:t>
            </a:r>
            <a:endParaRPr kumimoji="1" lang="en-US" altLang="ja-JP" dirty="0"/>
          </a:p>
          <a:p>
            <a:r>
              <a:rPr kumimoji="1" lang="en-US" altLang="ja-JP" dirty="0"/>
              <a:t>BATNA</a:t>
            </a:r>
            <a:r>
              <a:rPr kumimoji="1" lang="ja-JP" altLang="en-US" dirty="0"/>
              <a:t>とは交渉が決裂した場合の対処策として最も良い案のことで，今回の交渉の場合，自分が一番好きなものを一つずつ得るということになります．</a:t>
            </a:r>
            <a:endParaRPr kumimoji="1" lang="en-US" altLang="ja-JP" dirty="0"/>
          </a:p>
          <a:p>
            <a:r>
              <a:rPr kumimoji="1" lang="ja-JP" altLang="en-US" dirty="0"/>
              <a:t>また，相手の各アイテムに対する価値と</a:t>
            </a:r>
            <a:r>
              <a:rPr kumimoji="1" lang="en-US" altLang="ja-JP" dirty="0"/>
              <a:t>BATNA</a:t>
            </a:r>
            <a:r>
              <a:rPr kumimoji="1" lang="ja-JP" altLang="en-US" dirty="0"/>
              <a:t>は知らない状態で交渉を行います．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420923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ここからは実験結果の評価・考察に移りたいと思います．</a:t>
            </a:r>
            <a:endParaRPr kumimoji="1" lang="en-US" altLang="ja-JP" dirty="0"/>
          </a:p>
          <a:p>
            <a:r>
              <a:rPr kumimoji="1" lang="ja-JP" altLang="en-US" dirty="0"/>
              <a:t>交渉終了時に獲得できる合計価値はこのように</a:t>
            </a:r>
            <a:r>
              <a:rPr kumimoji="1" lang="en-US" altLang="ja-JP" dirty="0"/>
              <a:t>Strategic</a:t>
            </a:r>
            <a:r>
              <a:rPr kumimoji="1" lang="ja-JP" altLang="en-US" dirty="0"/>
              <a:t>より</a:t>
            </a:r>
            <a:r>
              <a:rPr kumimoji="1" lang="en-US" altLang="ja-JP" dirty="0"/>
              <a:t>Free</a:t>
            </a:r>
            <a:r>
              <a:rPr kumimoji="1" lang="ja-JP" altLang="en-US" dirty="0"/>
              <a:t>の方が高くなりました．</a:t>
            </a:r>
            <a:endParaRPr kumimoji="1" lang="en-US" altLang="ja-JP" dirty="0"/>
          </a:p>
          <a:p>
            <a:r>
              <a:rPr kumimoji="1" lang="ja-JP" altLang="en-US" dirty="0"/>
              <a:t>エージェントの戦略による影響を分析した結果，有意差がありました．</a:t>
            </a:r>
            <a:endParaRPr kumimoji="1" lang="en-US" altLang="ja-JP" dirty="0"/>
          </a:p>
          <a:p>
            <a:r>
              <a:rPr kumimoji="1" lang="ja-JP" altLang="en-US" dirty="0"/>
              <a:t>また，</a:t>
            </a:r>
            <a:r>
              <a:rPr kumimoji="1" lang="en-US" altLang="ja-JP" dirty="0"/>
              <a:t>BATNA</a:t>
            </a:r>
            <a:r>
              <a:rPr kumimoji="1" lang="ja-JP" altLang="en-US" dirty="0"/>
              <a:t>を受け入れた回数は</a:t>
            </a:r>
            <a:r>
              <a:rPr kumimoji="1" lang="en-US" altLang="ja-JP" dirty="0"/>
              <a:t>Strategic</a:t>
            </a:r>
            <a:r>
              <a:rPr kumimoji="1" lang="ja-JP" altLang="en-US" dirty="0"/>
              <a:t>の方が多く，エージェントの戦略による影響を分析した結果，有意差がありました．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18</a:t>
            </a:fld>
            <a:endParaRPr kumimoji="1" lang="ja-JP" altLang="en-US"/>
          </a:p>
        </p:txBody>
      </p:sp>
    </p:spTree>
    <p:extLst>
      <p:ext uri="{BB962C8B-B14F-4D97-AF65-F5344CB8AC3E}">
        <p14:creationId xmlns:p14="http://schemas.microsoft.com/office/powerpoint/2010/main" val="15363818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19</a:t>
            </a:fld>
            <a:endParaRPr kumimoji="1" lang="ja-JP" altLang="en-US"/>
          </a:p>
        </p:txBody>
      </p:sp>
    </p:spTree>
    <p:extLst>
      <p:ext uri="{BB962C8B-B14F-4D97-AF65-F5344CB8AC3E}">
        <p14:creationId xmlns:p14="http://schemas.microsoft.com/office/powerpoint/2010/main" val="2017048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被験者が送信したイベントの数は図のように</a:t>
            </a:r>
            <a:r>
              <a:rPr kumimoji="1" lang="en-US" altLang="ja-JP" dirty="0"/>
              <a:t>Free</a:t>
            </a:r>
            <a:r>
              <a:rPr kumimoji="1" lang="ja-JP" altLang="en-US" dirty="0"/>
              <a:t>より</a:t>
            </a:r>
            <a:r>
              <a:rPr kumimoji="1" lang="en-US" altLang="ja-JP" dirty="0"/>
              <a:t>Strategic</a:t>
            </a:r>
            <a:r>
              <a:rPr kumimoji="1" lang="ja-JP" altLang="en-US" dirty="0"/>
              <a:t>なエージェントの方が多いということが分かります．</a:t>
            </a:r>
            <a:endParaRPr kumimoji="1" lang="en-US" altLang="ja-JP" dirty="0"/>
          </a:p>
          <a:p>
            <a:r>
              <a:rPr kumimoji="1" lang="ja-JP" altLang="en-US" dirty="0"/>
              <a:t>被験者が送信した選好の数について分析を行った結果，戦略，トーン共に有意差があり，これらの間に交互作用があることがわかりました．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20</a:t>
            </a:fld>
            <a:endParaRPr kumimoji="1" lang="ja-JP" altLang="en-US"/>
          </a:p>
        </p:txBody>
      </p:sp>
    </p:spTree>
    <p:extLst>
      <p:ext uri="{BB962C8B-B14F-4D97-AF65-F5344CB8AC3E}">
        <p14:creationId xmlns:p14="http://schemas.microsoft.com/office/powerpoint/2010/main" val="3855968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1" lang="ja-JP" altLang="en-US"/>
              <a:t>また，被験者が送信したメッセージの数について分析を行った結果，戦略，トーン共に有意差があり，これらの間に交互作用があることがわかりました．</a:t>
            </a:r>
          </a:p>
          <a:p>
            <a:endParaRPr kumimoji="1" lang="ja-JP" altLang="en-US"/>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21</a:t>
            </a:fld>
            <a:endParaRPr kumimoji="1" lang="ja-JP" altLang="en-US"/>
          </a:p>
        </p:txBody>
      </p:sp>
    </p:spTree>
    <p:extLst>
      <p:ext uri="{BB962C8B-B14F-4D97-AF65-F5344CB8AC3E}">
        <p14:creationId xmlns:p14="http://schemas.microsoft.com/office/powerpoint/2010/main" val="2924654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1" lang="ja-JP" altLang="en-US"/>
              <a:t>最後に，被験者が送信した感情の数について分析を行った結果，戦略，トーン共に有意差があるということがわかりました．</a:t>
            </a:r>
          </a:p>
          <a:p>
            <a:endParaRPr kumimoji="1" lang="ja-JP" altLang="en-US"/>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22</a:t>
            </a:fld>
            <a:endParaRPr kumimoji="1" lang="ja-JP" altLang="en-US"/>
          </a:p>
        </p:txBody>
      </p:sp>
    </p:spTree>
    <p:extLst>
      <p:ext uri="{BB962C8B-B14F-4D97-AF65-F5344CB8AC3E}">
        <p14:creationId xmlns:p14="http://schemas.microsoft.com/office/powerpoint/2010/main" val="3547648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23</a:t>
            </a:fld>
            <a:endParaRPr kumimoji="1" lang="ja-JP" altLang="en-US"/>
          </a:p>
        </p:txBody>
      </p:sp>
    </p:spTree>
    <p:extLst>
      <p:ext uri="{BB962C8B-B14F-4D97-AF65-F5344CB8AC3E}">
        <p14:creationId xmlns:p14="http://schemas.microsoft.com/office/powerpoint/2010/main" val="10237678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24</a:t>
            </a:fld>
            <a:endParaRPr kumimoji="1" lang="ja-JP" altLang="en-US"/>
          </a:p>
        </p:txBody>
      </p:sp>
    </p:spTree>
    <p:extLst>
      <p:ext uri="{BB962C8B-B14F-4D97-AF65-F5344CB8AC3E}">
        <p14:creationId xmlns:p14="http://schemas.microsoft.com/office/powerpoint/2010/main" val="804062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まとめに移りたいと思います．</a:t>
            </a:r>
            <a:endParaRPr kumimoji="1" lang="en-US" altLang="ja-JP" dirty="0"/>
          </a:p>
          <a:p>
            <a:r>
              <a:rPr kumimoji="1" lang="ja-JP" altLang="en-US"/>
              <a:t>この論文では人間同士の交渉で生じる</a:t>
            </a:r>
            <a:r>
              <a:rPr kumimoji="1" lang="en-US" altLang="ja-JP" dirty="0"/>
              <a:t>3</a:t>
            </a:r>
            <a:r>
              <a:rPr kumimoji="1" lang="ja-JP" altLang="en-US"/>
              <a:t>つの効果について調査しました．</a:t>
            </a:r>
            <a:endParaRPr kumimoji="1" lang="en-US" altLang="ja-JP" dirty="0"/>
          </a:p>
          <a:p>
            <a:r>
              <a:rPr kumimoji="1" lang="ja-JP" altLang="en-US"/>
              <a:t>そして，実験の結果，これらの効果は人間とエージェントの交渉でも効果があるということがわかりました．</a:t>
            </a:r>
            <a:endParaRPr kumimoji="1" lang="en-US" altLang="ja-JP" dirty="0"/>
          </a:p>
          <a:p>
            <a:r>
              <a:rPr kumimoji="1" lang="ja-JP" altLang="en-US"/>
              <a:t>またエージェントを作成し実験するという一連の流れを</a:t>
            </a:r>
            <a:r>
              <a:rPr kumimoji="1" lang="en-US" altLang="ja-JP" dirty="0"/>
              <a:t>IAGO</a:t>
            </a:r>
            <a:r>
              <a:rPr kumimoji="1" lang="ja-JP" altLang="en-US"/>
              <a:t>を用いて行うことで，人間とエージェントの交渉において</a:t>
            </a:r>
            <a:r>
              <a:rPr kumimoji="1" lang="en-US" altLang="ja-JP" dirty="0"/>
              <a:t>IAGO</a:t>
            </a:r>
            <a:r>
              <a:rPr kumimoji="1" lang="ja-JP" altLang="en-US"/>
              <a:t>がプラットフォームとして機能していることを実証しました．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25</a:t>
            </a:fld>
            <a:endParaRPr kumimoji="1" lang="ja-JP" altLang="en-US"/>
          </a:p>
        </p:txBody>
      </p:sp>
    </p:spTree>
    <p:extLst>
      <p:ext uri="{BB962C8B-B14F-4D97-AF65-F5344CB8AC3E}">
        <p14:creationId xmlns:p14="http://schemas.microsoft.com/office/powerpoint/2010/main" val="3606064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本発表をまとめるとこのようになっております．</a:t>
            </a:r>
            <a:endParaRPr kumimoji="1" lang="en-US" altLang="ja-JP" dirty="0"/>
          </a:p>
          <a:p>
            <a:r>
              <a:rPr kumimoji="1" lang="ja-JP" altLang="en-US"/>
              <a:t>今後の展望としては，戦略とトーンの交互作用に関する調査や人間とエージェントの交渉に影響がある効果が他にどのようなものがあるか調査するといったことが挙げられます．</a:t>
            </a:r>
            <a:endParaRPr kumimoji="1" lang="en-US" altLang="ja-JP" dirty="0"/>
          </a:p>
          <a:p>
            <a:r>
              <a:rPr kumimoji="1" lang="ja-JP" altLang="en-US"/>
              <a:t>以上で発表を終わります．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6223249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868431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29</a:t>
            </a:fld>
            <a:endParaRPr kumimoji="1" lang="ja-JP" altLang="en-US"/>
          </a:p>
        </p:txBody>
      </p:sp>
    </p:spTree>
    <p:extLst>
      <p:ext uri="{BB962C8B-B14F-4D97-AF65-F5344CB8AC3E}">
        <p14:creationId xmlns:p14="http://schemas.microsoft.com/office/powerpoint/2010/main" val="12365189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30</a:t>
            </a:fld>
            <a:endParaRPr kumimoji="1" lang="ja-JP" altLang="en-US"/>
          </a:p>
        </p:txBody>
      </p:sp>
    </p:spTree>
    <p:extLst>
      <p:ext uri="{BB962C8B-B14F-4D97-AF65-F5344CB8AC3E}">
        <p14:creationId xmlns:p14="http://schemas.microsoft.com/office/powerpoint/2010/main" val="7531920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31</a:t>
            </a:fld>
            <a:endParaRPr kumimoji="1" lang="ja-JP" altLang="en-US"/>
          </a:p>
        </p:txBody>
      </p:sp>
    </p:spTree>
    <p:extLst>
      <p:ext uri="{BB962C8B-B14F-4D97-AF65-F5344CB8AC3E}">
        <p14:creationId xmlns:p14="http://schemas.microsoft.com/office/powerpoint/2010/main" val="10472480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32</a:t>
            </a:fld>
            <a:endParaRPr kumimoji="1" lang="ja-JP" altLang="en-US"/>
          </a:p>
        </p:txBody>
      </p:sp>
    </p:spTree>
    <p:extLst>
      <p:ext uri="{BB962C8B-B14F-4D97-AF65-F5344CB8AC3E}">
        <p14:creationId xmlns:p14="http://schemas.microsoft.com/office/powerpoint/2010/main" val="2226546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33</a:t>
            </a:fld>
            <a:endParaRPr kumimoji="1" lang="ja-JP" altLang="en-US"/>
          </a:p>
        </p:txBody>
      </p:sp>
    </p:spTree>
    <p:extLst>
      <p:ext uri="{BB962C8B-B14F-4D97-AF65-F5344CB8AC3E}">
        <p14:creationId xmlns:p14="http://schemas.microsoft.com/office/powerpoint/2010/main" val="2166771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34</a:t>
            </a:fld>
            <a:endParaRPr kumimoji="1" lang="ja-JP" altLang="en-US"/>
          </a:p>
        </p:txBody>
      </p:sp>
    </p:spTree>
    <p:extLst>
      <p:ext uri="{BB962C8B-B14F-4D97-AF65-F5344CB8AC3E}">
        <p14:creationId xmlns:p14="http://schemas.microsoft.com/office/powerpoint/2010/main" val="30916155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35</a:t>
            </a:fld>
            <a:endParaRPr kumimoji="1" lang="ja-JP" altLang="en-US"/>
          </a:p>
        </p:txBody>
      </p:sp>
    </p:spTree>
    <p:extLst>
      <p:ext uri="{BB962C8B-B14F-4D97-AF65-F5344CB8AC3E}">
        <p14:creationId xmlns:p14="http://schemas.microsoft.com/office/powerpoint/2010/main" val="15800155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36</a:t>
            </a:fld>
            <a:endParaRPr kumimoji="1" lang="ja-JP" altLang="en-US"/>
          </a:p>
        </p:txBody>
      </p:sp>
    </p:spTree>
    <p:extLst>
      <p:ext uri="{BB962C8B-B14F-4D97-AF65-F5344CB8AC3E}">
        <p14:creationId xmlns:p14="http://schemas.microsoft.com/office/powerpoint/2010/main" val="3171993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37</a:t>
            </a:fld>
            <a:endParaRPr kumimoji="1" lang="ja-JP" altLang="en-US"/>
          </a:p>
        </p:txBody>
      </p:sp>
    </p:spTree>
    <p:extLst>
      <p:ext uri="{BB962C8B-B14F-4D97-AF65-F5344CB8AC3E}">
        <p14:creationId xmlns:p14="http://schemas.microsoft.com/office/powerpoint/2010/main" val="30930636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38</a:t>
            </a:fld>
            <a:endParaRPr kumimoji="1" lang="ja-JP" altLang="en-US"/>
          </a:p>
        </p:txBody>
      </p:sp>
    </p:spTree>
    <p:extLst>
      <p:ext uri="{BB962C8B-B14F-4D97-AF65-F5344CB8AC3E}">
        <p14:creationId xmlns:p14="http://schemas.microsoft.com/office/powerpoint/2010/main" val="28432564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39</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40</a:t>
            </a:fld>
            <a:endParaRPr kumimoji="1" lang="ja-JP" altLang="en-US"/>
          </a:p>
        </p:txBody>
      </p:sp>
    </p:spTree>
    <p:extLst>
      <p:ext uri="{BB962C8B-B14F-4D97-AF65-F5344CB8AC3E}">
        <p14:creationId xmlns:p14="http://schemas.microsoft.com/office/powerpoint/2010/main" val="208730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41</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42</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45</a:t>
            </a:fld>
            <a:endParaRPr kumimoji="1" lang="ja-JP" altLang="en-US"/>
          </a:p>
        </p:txBody>
      </p:sp>
    </p:spTree>
    <p:extLst>
      <p:ext uri="{BB962C8B-B14F-4D97-AF65-F5344CB8AC3E}">
        <p14:creationId xmlns:p14="http://schemas.microsoft.com/office/powerpoint/2010/main" val="15848690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46</a:t>
            </a:fld>
            <a:endParaRPr kumimoji="1" lang="ja-JP" altLang="en-US"/>
          </a:p>
        </p:txBody>
      </p:sp>
    </p:spTree>
    <p:extLst>
      <p:ext uri="{BB962C8B-B14F-4D97-AF65-F5344CB8AC3E}">
        <p14:creationId xmlns:p14="http://schemas.microsoft.com/office/powerpoint/2010/main" val="403043641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47</a:t>
            </a:fld>
            <a:endParaRPr kumimoji="1" lang="ja-JP" altLang="en-US"/>
          </a:p>
        </p:txBody>
      </p:sp>
    </p:spTree>
    <p:extLst>
      <p:ext uri="{BB962C8B-B14F-4D97-AF65-F5344CB8AC3E}">
        <p14:creationId xmlns:p14="http://schemas.microsoft.com/office/powerpoint/2010/main" val="22032625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また，交渉終了時に獲得できる価値について被験者とエージェントについて各々調査した結果，どちらも有意差がありました．</a:t>
            </a:r>
            <a:endParaRPr kumimoji="1" lang="en-US" altLang="ja-JP" dirty="0"/>
          </a:p>
          <a:p>
            <a:r>
              <a:rPr kumimoji="1" lang="ja-JP" altLang="en-US" dirty="0"/>
              <a:t>したがって，価値の損失は人間とエージェントの双方に対して発生するということがわかりました．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48</a:t>
            </a:fld>
            <a:endParaRPr kumimoji="1" lang="ja-JP" altLang="en-US"/>
          </a:p>
        </p:txBody>
      </p:sp>
    </p:spTree>
    <p:extLst>
      <p:ext uri="{BB962C8B-B14F-4D97-AF65-F5344CB8AC3E}">
        <p14:creationId xmlns:p14="http://schemas.microsoft.com/office/powerpoint/2010/main" val="24708728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2018/6/13</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2018/6/13</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2018/6/13</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2018/6/13</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5.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chart" Target="../charts/chart1.xml"/><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2.xml"/></Relationships>
</file>

<file path=ppt/slides/_rels/slide3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chart" Target="../charts/chart3.xml"/><Relationship Id="rId7" Type="http://schemas.openxmlformats.org/officeDocument/2006/relationships/chart" Target="../charts/chart5.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4.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chart" Target="../charts/chart4.xml"/><Relationship Id="rId9" Type="http://schemas.openxmlformats.org/officeDocument/2006/relationships/image" Target="../media/image42.png"/></Relationships>
</file>

<file path=ppt/slides/_rels/slide40.xml.rels><?xml version="1.0" encoding="UTF-8" standalone="yes"?>
<Relationships xmlns="http://schemas.openxmlformats.org/package/2006/relationships"><Relationship Id="rId8" Type="http://schemas.openxmlformats.org/officeDocument/2006/relationships/chart" Target="../charts/chart7.xml"/><Relationship Id="rId3" Type="http://schemas.openxmlformats.org/officeDocument/2006/relationships/chart" Target="../charts/chart6.xml"/><Relationship Id="rId7"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0.png"/><Relationship Id="rId5" Type="http://schemas.openxmlformats.org/officeDocument/2006/relationships/image" Target="../media/image42.png"/><Relationship Id="rId10" Type="http://schemas.openxmlformats.org/officeDocument/2006/relationships/image" Target="../media/image39.png"/><Relationship Id="rId4" Type="http://schemas.openxmlformats.org/officeDocument/2006/relationships/image" Target="../media/image41.png"/><Relationship Id="rId9" Type="http://schemas.openxmlformats.org/officeDocument/2006/relationships/chart" Target="../charts/chart8.xml"/></Relationships>
</file>

<file path=ppt/slides/_rels/slide41.xml.rels><?xml version="1.0" encoding="UTF-8" standalone="yes"?>
<Relationships xmlns="http://schemas.openxmlformats.org/package/2006/relationships"><Relationship Id="rId8" Type="http://schemas.openxmlformats.org/officeDocument/2006/relationships/chart" Target="../charts/chart9.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300.png"/><Relationship Id="rId4" Type="http://schemas.openxmlformats.org/officeDocument/2006/relationships/image" Target="../media/image290.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41.png"/><Relationship Id="rId4" Type="http://schemas.openxmlformats.org/officeDocument/2006/relationships/image" Target="../media/image1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dirty="0"/>
              <a:t>文献講読</a:t>
            </a:r>
            <a:br>
              <a:rPr kumimoji="1" lang="en-US" altLang="ja-JP" dirty="0"/>
            </a:br>
            <a:r>
              <a:rPr kumimoji="1" lang="en-US" altLang="ja-JP" sz="5400" dirty="0"/>
              <a:t>(</a:t>
            </a:r>
            <a:r>
              <a:rPr lang="en-US" altLang="ja-JP" sz="5400" b="1" dirty="0"/>
              <a:t>Grumpy &amp; Pinocchio: Answering Human-Agent Negotiation Questions through Realistic Agent Design</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2018/6/13</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5703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はじめ</a:t>
            </a:r>
            <a:r>
              <a:rPr lang="ja-JP" altLang="en-US" dirty="0">
                <a:solidFill>
                  <a:schemeClr val="tx1"/>
                </a:solidFill>
              </a:rPr>
              <a:t>に</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25785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2429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sz="5400" dirty="0">
                <a:solidFill>
                  <a:schemeClr val="tx1"/>
                </a:solidFill>
              </a:rPr>
              <a:t>IAGO</a:t>
            </a:r>
            <a:endParaRPr lang="ja-JP" altLang="en-US" sz="5400" dirty="0">
              <a:solidFill>
                <a:schemeClr val="tx1"/>
              </a:solidFill>
            </a:endParaRPr>
          </a:p>
        </p:txBody>
      </p:sp>
      <p:grpSp>
        <p:nvGrpSpPr>
          <p:cNvPr id="72" name="グループ化 71">
            <a:extLst>
              <a:ext uri="{FF2B5EF4-FFF2-40B4-BE49-F238E27FC236}">
                <a16:creationId xmlns:a16="http://schemas.microsoft.com/office/drawing/2014/main" id="{8C43106E-301E-4C95-A8A5-5792F9B73C8B}"/>
              </a:ext>
            </a:extLst>
          </p:cNvPr>
          <p:cNvGrpSpPr/>
          <p:nvPr/>
        </p:nvGrpSpPr>
        <p:grpSpPr>
          <a:xfrm>
            <a:off x="617232" y="3588197"/>
            <a:ext cx="539448" cy="487368"/>
            <a:chOff x="400056" y="1061560"/>
            <a:chExt cx="269724" cy="243684"/>
          </a:xfrm>
        </p:grpSpPr>
        <p:sp>
          <p:nvSpPr>
            <p:cNvPr id="73" name="三角形 10">
              <a:extLst>
                <a:ext uri="{FF2B5EF4-FFF2-40B4-BE49-F238E27FC236}">
                  <a16:creationId xmlns:a16="http://schemas.microsoft.com/office/drawing/2014/main" id="{E39CE58C-F543-4587-8BC2-1DBBD59FCEC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B9AD3C7B-3540-427B-8D84-AF596A82E6C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0D716BD3-35AB-4AAC-B1C9-54156D89781A}"/>
              </a:ext>
            </a:extLst>
          </p:cNvPr>
          <p:cNvSpPr txBox="1">
            <a:spLocks/>
          </p:cNvSpPr>
          <p:nvPr/>
        </p:nvSpPr>
        <p:spPr>
          <a:xfrm>
            <a:off x="1254486" y="34393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実験</a:t>
            </a:r>
            <a:endParaRPr lang="ja-JP" altLang="en-US" dirty="0">
              <a:solidFill>
                <a:schemeClr val="tx1"/>
              </a:solidFill>
            </a:endParaRPr>
          </a:p>
        </p:txBody>
      </p:sp>
      <p:grpSp>
        <p:nvGrpSpPr>
          <p:cNvPr id="76" name="グループ化 75">
            <a:extLst>
              <a:ext uri="{FF2B5EF4-FFF2-40B4-BE49-F238E27FC236}">
                <a16:creationId xmlns:a16="http://schemas.microsoft.com/office/drawing/2014/main" id="{0DBE61B9-21F2-42F5-9F38-A7D192AE01A6}"/>
              </a:ext>
            </a:extLst>
          </p:cNvPr>
          <p:cNvGrpSpPr/>
          <p:nvPr/>
        </p:nvGrpSpPr>
        <p:grpSpPr>
          <a:xfrm>
            <a:off x="617232" y="4596426"/>
            <a:ext cx="539448" cy="487368"/>
            <a:chOff x="400056" y="1061560"/>
            <a:chExt cx="269724" cy="243684"/>
          </a:xfrm>
        </p:grpSpPr>
        <p:sp>
          <p:nvSpPr>
            <p:cNvPr id="77" name="三角形 10">
              <a:extLst>
                <a:ext uri="{FF2B5EF4-FFF2-40B4-BE49-F238E27FC236}">
                  <a16:creationId xmlns:a16="http://schemas.microsoft.com/office/drawing/2014/main" id="{32BE39DC-0C57-40B8-ACD3-6D9108249B1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78" name="三角形 11">
              <a:extLst>
                <a:ext uri="{FF2B5EF4-FFF2-40B4-BE49-F238E27FC236}">
                  <a16:creationId xmlns:a16="http://schemas.microsoft.com/office/drawing/2014/main" id="{961F958C-1278-4EC4-ADA5-49DD1F990C8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79" name="テキスト プレースホルダー 27">
            <a:extLst>
              <a:ext uri="{FF2B5EF4-FFF2-40B4-BE49-F238E27FC236}">
                <a16:creationId xmlns:a16="http://schemas.microsoft.com/office/drawing/2014/main" id="{8A4A5122-497E-46B4-A6D3-10D5942C0A1B}"/>
              </a:ext>
            </a:extLst>
          </p:cNvPr>
          <p:cNvSpPr txBox="1">
            <a:spLocks/>
          </p:cNvSpPr>
          <p:nvPr/>
        </p:nvSpPr>
        <p:spPr>
          <a:xfrm>
            <a:off x="1254486" y="4447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評価・考察</a:t>
            </a:r>
          </a:p>
        </p:txBody>
      </p:sp>
      <p:grpSp>
        <p:nvGrpSpPr>
          <p:cNvPr id="80" name="グループ化 79">
            <a:extLst>
              <a:ext uri="{FF2B5EF4-FFF2-40B4-BE49-F238E27FC236}">
                <a16:creationId xmlns:a16="http://schemas.microsoft.com/office/drawing/2014/main" id="{F9C367CD-6120-45A2-AD0F-DAB840162699}"/>
              </a:ext>
            </a:extLst>
          </p:cNvPr>
          <p:cNvGrpSpPr/>
          <p:nvPr/>
        </p:nvGrpSpPr>
        <p:grpSpPr>
          <a:xfrm>
            <a:off x="617232" y="5739281"/>
            <a:ext cx="539448" cy="487368"/>
            <a:chOff x="400056" y="1061560"/>
            <a:chExt cx="269724" cy="243684"/>
          </a:xfrm>
        </p:grpSpPr>
        <p:sp>
          <p:nvSpPr>
            <p:cNvPr id="81" name="三角形 10">
              <a:extLst>
                <a:ext uri="{FF2B5EF4-FFF2-40B4-BE49-F238E27FC236}">
                  <a16:creationId xmlns:a16="http://schemas.microsoft.com/office/drawing/2014/main" id="{3C165F1F-6649-43D6-AC5E-4AE0BBA3D73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11">
              <a:extLst>
                <a:ext uri="{FF2B5EF4-FFF2-40B4-BE49-F238E27FC236}">
                  <a16:creationId xmlns:a16="http://schemas.microsoft.com/office/drawing/2014/main" id="{ABDCCDFC-63FA-4E95-80E9-53258DC61AF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3BF5A59C-D0A0-42B6-BBFA-EF30B94E6473}"/>
              </a:ext>
            </a:extLst>
          </p:cNvPr>
          <p:cNvSpPr txBox="1">
            <a:spLocks/>
          </p:cNvSpPr>
          <p:nvPr/>
        </p:nvSpPr>
        <p:spPr>
          <a:xfrm>
            <a:off x="1254486" y="559045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まとめ</a:t>
            </a:r>
            <a:endParaRPr lang="ja-JP" altLang="en-US" dirty="0">
              <a:solidFill>
                <a:schemeClr val="tx1"/>
              </a:solidFill>
            </a:endParaRPr>
          </a:p>
        </p:txBody>
      </p:sp>
      <p:grpSp>
        <p:nvGrpSpPr>
          <p:cNvPr id="84" name="グループ化 83">
            <a:extLst>
              <a:ext uri="{FF2B5EF4-FFF2-40B4-BE49-F238E27FC236}">
                <a16:creationId xmlns:a16="http://schemas.microsoft.com/office/drawing/2014/main" id="{F9D9BAF6-3A13-4E38-ADE7-ECB194944975}"/>
              </a:ext>
            </a:extLst>
          </p:cNvPr>
          <p:cNvGrpSpPr/>
          <p:nvPr/>
        </p:nvGrpSpPr>
        <p:grpSpPr>
          <a:xfrm>
            <a:off x="617232" y="6747510"/>
            <a:ext cx="539448" cy="487368"/>
            <a:chOff x="400056" y="1061560"/>
            <a:chExt cx="269724" cy="243684"/>
          </a:xfrm>
        </p:grpSpPr>
        <p:sp>
          <p:nvSpPr>
            <p:cNvPr id="85" name="三角形 10">
              <a:extLst>
                <a:ext uri="{FF2B5EF4-FFF2-40B4-BE49-F238E27FC236}">
                  <a16:creationId xmlns:a16="http://schemas.microsoft.com/office/drawing/2014/main" id="{6A626BB2-C38C-4DCA-8191-5554285CD28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86" name="三角形 11">
              <a:extLst>
                <a:ext uri="{FF2B5EF4-FFF2-40B4-BE49-F238E27FC236}">
                  <a16:creationId xmlns:a16="http://schemas.microsoft.com/office/drawing/2014/main" id="{97B99D7B-98E0-4F89-841D-369FB117FF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87" name="テキスト プレースホルダー 27">
            <a:extLst>
              <a:ext uri="{FF2B5EF4-FFF2-40B4-BE49-F238E27FC236}">
                <a16:creationId xmlns:a16="http://schemas.microsoft.com/office/drawing/2014/main" id="{11C49298-B4CB-4882-83E1-4A74C1098CAD}"/>
              </a:ext>
            </a:extLst>
          </p:cNvPr>
          <p:cNvSpPr txBox="1">
            <a:spLocks/>
          </p:cNvSpPr>
          <p:nvPr/>
        </p:nvSpPr>
        <p:spPr>
          <a:xfrm>
            <a:off x="1254486" y="659868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交渉はビジネス・衝突解消・</a:t>
            </a:r>
            <a:r>
              <a:rPr lang="en-US" altLang="ja-JP" dirty="0"/>
              <a:t>AI</a:t>
            </a:r>
            <a:r>
              <a:rPr lang="ja-JP" altLang="en-US"/>
              <a:t>などの分野における課題</a:t>
            </a:r>
            <a:endParaRPr lang="en-US" altLang="ja-JP" dirty="0"/>
          </a:p>
        </p:txBody>
      </p:sp>
      <p:sp>
        <p:nvSpPr>
          <p:cNvPr id="17" name="テキスト プレースホルダー 27">
            <a:extLst>
              <a:ext uri="{FF2B5EF4-FFF2-40B4-BE49-F238E27FC236}">
                <a16:creationId xmlns:a16="http://schemas.microsoft.com/office/drawing/2014/main" id="{1DB7FA9A-40E2-3C43-BBAC-A410898E769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18" name="グループ化 17">
            <a:extLst>
              <a:ext uri="{FF2B5EF4-FFF2-40B4-BE49-F238E27FC236}">
                <a16:creationId xmlns:a16="http://schemas.microsoft.com/office/drawing/2014/main" id="{FD2ADD19-9240-1E42-B6B1-9A8370D378B9}"/>
              </a:ext>
            </a:extLst>
          </p:cNvPr>
          <p:cNvGrpSpPr/>
          <p:nvPr/>
        </p:nvGrpSpPr>
        <p:grpSpPr>
          <a:xfrm>
            <a:off x="617232" y="3408977"/>
            <a:ext cx="539448" cy="487368"/>
            <a:chOff x="400056" y="1061560"/>
            <a:chExt cx="269724" cy="243684"/>
          </a:xfrm>
        </p:grpSpPr>
        <p:sp>
          <p:nvSpPr>
            <p:cNvPr id="19" name="三角形 18">
              <a:extLst>
                <a:ext uri="{FF2B5EF4-FFF2-40B4-BE49-F238E27FC236}">
                  <a16:creationId xmlns:a16="http://schemas.microsoft.com/office/drawing/2014/main" id="{DCC362DF-97E9-8148-9F3D-2C813C88968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1204D8EE-CC1A-D347-B035-B4F306B7D6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三角形 20">
            <a:extLst>
              <a:ext uri="{FF2B5EF4-FFF2-40B4-BE49-F238E27FC236}">
                <a16:creationId xmlns:a16="http://schemas.microsoft.com/office/drawing/2014/main" id="{AE5CFC64-59E6-D348-AA91-8BE6ED16FF70}"/>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D1E7CC8D-6335-7D42-8E65-332D1BB2BDBD}"/>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交渉の仲介人・衝突解消・交渉スキルの教育ツールへの応用</a:t>
            </a:r>
          </a:p>
        </p:txBody>
      </p:sp>
      <p:sp>
        <p:nvSpPr>
          <p:cNvPr id="23" name="テキスト プレースホルダー 27">
            <a:extLst>
              <a:ext uri="{FF2B5EF4-FFF2-40B4-BE49-F238E27FC236}">
                <a16:creationId xmlns:a16="http://schemas.microsoft.com/office/drawing/2014/main" id="{510DDF94-63F8-E34B-BE82-C3F2A610B47D}"/>
              </a:ext>
            </a:extLst>
          </p:cNvPr>
          <p:cNvSpPr txBox="1">
            <a:spLocks/>
          </p:cNvSpPr>
          <p:nvPr/>
        </p:nvSpPr>
        <p:spPr>
          <a:xfrm>
            <a:off x="1254486" y="571234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24" name="グループ化 23">
            <a:extLst>
              <a:ext uri="{FF2B5EF4-FFF2-40B4-BE49-F238E27FC236}">
                <a16:creationId xmlns:a16="http://schemas.microsoft.com/office/drawing/2014/main" id="{26FCBA5C-D1AC-5C42-8C7B-2E6EDB59343A}"/>
              </a:ext>
            </a:extLst>
          </p:cNvPr>
          <p:cNvGrpSpPr/>
          <p:nvPr/>
        </p:nvGrpSpPr>
        <p:grpSpPr>
          <a:xfrm>
            <a:off x="617232" y="5784968"/>
            <a:ext cx="539448" cy="487368"/>
            <a:chOff x="400056" y="1061560"/>
            <a:chExt cx="269724" cy="243684"/>
          </a:xfrm>
        </p:grpSpPr>
        <p:sp>
          <p:nvSpPr>
            <p:cNvPr id="25" name="三角形 24">
              <a:extLst>
                <a:ext uri="{FF2B5EF4-FFF2-40B4-BE49-F238E27FC236}">
                  <a16:creationId xmlns:a16="http://schemas.microsoft.com/office/drawing/2014/main" id="{7708CC64-3CF3-C849-A839-9E93704619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736D82C9-FFAC-3A4A-9DFF-3A7881DFEA2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7" name="三角形 34">
            <a:extLst>
              <a:ext uri="{FF2B5EF4-FFF2-40B4-BE49-F238E27FC236}">
                <a16:creationId xmlns:a16="http://schemas.microsoft.com/office/drawing/2014/main" id="{E05169D7-E045-4884-B97F-B58FB0947BC0}"/>
              </a:ext>
            </a:extLst>
          </p:cNvPr>
          <p:cNvSpPr/>
          <p:nvPr/>
        </p:nvSpPr>
        <p:spPr>
          <a:xfrm rot="5400000">
            <a:off x="1076238" y="49525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FCAB8AE-7C5D-44A7-948A-B19690070A9F}"/>
              </a:ext>
            </a:extLst>
          </p:cNvPr>
          <p:cNvSpPr txBox="1">
            <a:spLocks/>
          </p:cNvSpPr>
          <p:nvPr/>
        </p:nvSpPr>
        <p:spPr>
          <a:xfrm>
            <a:off x="1457090" y="48372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研究を促進するためのツールが必要</a:t>
            </a:r>
          </a:p>
        </p:txBody>
      </p:sp>
      <p:sp>
        <p:nvSpPr>
          <p:cNvPr id="29" name="三角形 20">
            <a:extLst>
              <a:ext uri="{FF2B5EF4-FFF2-40B4-BE49-F238E27FC236}">
                <a16:creationId xmlns:a16="http://schemas.microsoft.com/office/drawing/2014/main" id="{F706203B-4009-44D4-B981-88B86AE4B89C}"/>
              </a:ext>
            </a:extLst>
          </p:cNvPr>
          <p:cNvSpPr/>
          <p:nvPr/>
        </p:nvSpPr>
        <p:spPr>
          <a:xfrm rot="5400000">
            <a:off x="1076238" y="7459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4A534331-A558-4C31-B634-AE2185EE5447}"/>
              </a:ext>
            </a:extLst>
          </p:cNvPr>
          <p:cNvSpPr txBox="1">
            <a:spLocks/>
          </p:cNvSpPr>
          <p:nvPr/>
        </p:nvSpPr>
        <p:spPr>
          <a:xfrm>
            <a:off x="1457090" y="734436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人間は非合理的に行動する場合がある</a:t>
            </a:r>
          </a:p>
        </p:txBody>
      </p:sp>
      <p:sp>
        <p:nvSpPr>
          <p:cNvPr id="31" name="三角形 34">
            <a:extLst>
              <a:ext uri="{FF2B5EF4-FFF2-40B4-BE49-F238E27FC236}">
                <a16:creationId xmlns:a16="http://schemas.microsoft.com/office/drawing/2014/main" id="{BD89BF2D-5294-4DEA-A3D7-E4C4E387D6BF}"/>
              </a:ext>
            </a:extLst>
          </p:cNvPr>
          <p:cNvSpPr/>
          <p:nvPr/>
        </p:nvSpPr>
        <p:spPr>
          <a:xfrm rot="5400000">
            <a:off x="1076238" y="820371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AC9C9AD0-7E32-46D9-9C9C-C90B6E9F7DB6}"/>
              </a:ext>
            </a:extLst>
          </p:cNvPr>
          <p:cNvSpPr txBox="1">
            <a:spLocks/>
          </p:cNvSpPr>
          <p:nvPr/>
        </p:nvSpPr>
        <p:spPr>
          <a:xfrm>
            <a:off x="1457090" y="808843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感情表現チャネルが必要</a:t>
            </a:r>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人間同士の交渉に用いられる技術を適用できるか？</a:t>
            </a:r>
          </a:p>
        </p:txBody>
      </p:sp>
      <p:sp>
        <p:nvSpPr>
          <p:cNvPr id="29" name="三角形 28">
            <a:extLst>
              <a:ext uri="{FF2B5EF4-FFF2-40B4-BE49-F238E27FC236}">
                <a16:creationId xmlns:a16="http://schemas.microsoft.com/office/drawing/2014/main" id="{51420A13-2C53-6542-BD31-69204614D56D}"/>
              </a:ext>
            </a:extLst>
          </p:cNvPr>
          <p:cNvSpPr/>
          <p:nvPr/>
        </p:nvSpPr>
        <p:spPr>
          <a:xfrm rot="5400000">
            <a:off x="1076238" y="426331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027106D4-FF03-0E4E-93DE-BF9771BBF67C}"/>
              </a:ext>
            </a:extLst>
          </p:cNvPr>
          <p:cNvSpPr txBox="1">
            <a:spLocks/>
          </p:cNvSpPr>
          <p:nvPr/>
        </p:nvSpPr>
        <p:spPr>
          <a:xfrm>
            <a:off x="1457090" y="414803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NegoChat</a:t>
            </a:r>
            <a:r>
              <a:rPr lang="ja-JP" altLang="en-US"/>
              <a:t>：自然言語による交渉</a:t>
            </a:r>
          </a:p>
        </p:txBody>
      </p:sp>
      <p:sp>
        <p:nvSpPr>
          <p:cNvPr id="31" name="テキスト プレースホルダー 27">
            <a:extLst>
              <a:ext uri="{FF2B5EF4-FFF2-40B4-BE49-F238E27FC236}">
                <a16:creationId xmlns:a16="http://schemas.microsoft.com/office/drawing/2014/main" id="{0DF0E73A-BA5B-6546-AF85-3CDD6AD6CB33}"/>
              </a:ext>
            </a:extLst>
          </p:cNvPr>
          <p:cNvSpPr txBox="1">
            <a:spLocks/>
          </p:cNvSpPr>
          <p:nvPr/>
        </p:nvSpPr>
        <p:spPr>
          <a:xfrm>
            <a:off x="1254486" y="333303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複数のチャネルを持った交渉のプラットフォームがない</a:t>
            </a:r>
            <a:endParaRPr lang="en-US" altLang="ja-JP" dirty="0"/>
          </a:p>
        </p:txBody>
      </p:sp>
      <p:grpSp>
        <p:nvGrpSpPr>
          <p:cNvPr id="32" name="グループ化 31">
            <a:extLst>
              <a:ext uri="{FF2B5EF4-FFF2-40B4-BE49-F238E27FC236}">
                <a16:creationId xmlns:a16="http://schemas.microsoft.com/office/drawing/2014/main" id="{96B6C440-697B-8242-917D-F0B42168F1D4}"/>
              </a:ext>
            </a:extLst>
          </p:cNvPr>
          <p:cNvGrpSpPr/>
          <p:nvPr/>
        </p:nvGrpSpPr>
        <p:grpSpPr>
          <a:xfrm>
            <a:off x="617232" y="3405664"/>
            <a:ext cx="539448" cy="487368"/>
            <a:chOff x="400056" y="1061560"/>
            <a:chExt cx="269724" cy="243684"/>
          </a:xfrm>
        </p:grpSpPr>
        <p:sp>
          <p:nvSpPr>
            <p:cNvPr id="33" name="三角形 32">
              <a:extLst>
                <a:ext uri="{FF2B5EF4-FFF2-40B4-BE49-F238E27FC236}">
                  <a16:creationId xmlns:a16="http://schemas.microsoft.com/office/drawing/2014/main" id="{2FAFA69D-65E2-E747-B18E-884659B3F7E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三角形 33">
              <a:extLst>
                <a:ext uri="{FF2B5EF4-FFF2-40B4-BE49-F238E27FC236}">
                  <a16:creationId xmlns:a16="http://schemas.microsoft.com/office/drawing/2014/main" id="{3F4FB6AA-E215-2543-91C4-3F1FBB07B3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5" name="三角形 34">
            <a:extLst>
              <a:ext uri="{FF2B5EF4-FFF2-40B4-BE49-F238E27FC236}">
                <a16:creationId xmlns:a16="http://schemas.microsoft.com/office/drawing/2014/main" id="{715375D8-9B34-4346-8C4C-B12DE1A617C3}"/>
              </a:ext>
            </a:extLst>
          </p:cNvPr>
          <p:cNvSpPr/>
          <p:nvPr/>
        </p:nvSpPr>
        <p:spPr>
          <a:xfrm rot="5400000">
            <a:off x="1076238" y="497256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0D8385BE-5CA6-F545-A8FF-588BE477B44F}"/>
              </a:ext>
            </a:extLst>
          </p:cNvPr>
          <p:cNvSpPr txBox="1">
            <a:spLocks/>
          </p:cNvSpPr>
          <p:nvPr/>
        </p:nvSpPr>
        <p:spPr>
          <a:xfrm>
            <a:off x="1457090" y="485729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Colored Trails</a:t>
            </a:r>
            <a:r>
              <a:rPr lang="ja-JP" altLang="en-US"/>
              <a:t>：複数論点交渉問題</a:t>
            </a:r>
          </a:p>
        </p:txBody>
      </p:sp>
      <p:sp>
        <p:nvSpPr>
          <p:cNvPr id="37" name="三角形 36">
            <a:extLst>
              <a:ext uri="{FF2B5EF4-FFF2-40B4-BE49-F238E27FC236}">
                <a16:creationId xmlns:a16="http://schemas.microsoft.com/office/drawing/2014/main" id="{DFCEFDA6-BC90-FC4E-9CCF-2EA42B5D16CA}"/>
              </a:ext>
            </a:extLst>
          </p:cNvPr>
          <p:cNvSpPr/>
          <p:nvPr/>
        </p:nvSpPr>
        <p:spPr>
          <a:xfrm rot="5400000">
            <a:off x="1076238" y="57166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テキスト プレースホルダー 29">
            <a:extLst>
              <a:ext uri="{FF2B5EF4-FFF2-40B4-BE49-F238E27FC236}">
                <a16:creationId xmlns:a16="http://schemas.microsoft.com/office/drawing/2014/main" id="{B3E93F10-7EB6-BD45-8AD4-A38AD3883790}"/>
              </a:ext>
            </a:extLst>
          </p:cNvPr>
          <p:cNvSpPr txBox="1">
            <a:spLocks/>
          </p:cNvSpPr>
          <p:nvPr/>
        </p:nvSpPr>
        <p:spPr>
          <a:xfrm>
            <a:off x="1457090" y="56013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WebCT</a:t>
            </a:r>
            <a:r>
              <a:rPr lang="ja-JP" altLang="en-US"/>
              <a:t>：</a:t>
            </a:r>
            <a:r>
              <a:rPr lang="en-US" altLang="ja-JP" dirty="0"/>
              <a:t>WEB</a:t>
            </a:r>
            <a:r>
              <a:rPr lang="ja-JP" altLang="en-US"/>
              <a:t>上で動作する</a:t>
            </a:r>
            <a:r>
              <a:rPr lang="en-US" altLang="ja-JP" dirty="0"/>
              <a:t>Colored Trails</a:t>
            </a:r>
            <a:endParaRPr lang="ja-JP" altLang="en-US"/>
          </a:p>
        </p:txBody>
      </p:sp>
      <p:grpSp>
        <p:nvGrpSpPr>
          <p:cNvPr id="39" name="グループ化 38">
            <a:extLst>
              <a:ext uri="{FF2B5EF4-FFF2-40B4-BE49-F238E27FC236}">
                <a16:creationId xmlns:a16="http://schemas.microsoft.com/office/drawing/2014/main" id="{FECBE6B5-A283-8149-B912-57A690A6BD1B}"/>
              </a:ext>
            </a:extLst>
          </p:cNvPr>
          <p:cNvGrpSpPr/>
          <p:nvPr/>
        </p:nvGrpSpPr>
        <p:grpSpPr>
          <a:xfrm>
            <a:off x="292956" y="6558918"/>
            <a:ext cx="2160000" cy="934436"/>
            <a:chOff x="144665" y="525617"/>
            <a:chExt cx="1080000" cy="467218"/>
          </a:xfrm>
        </p:grpSpPr>
        <p:sp>
          <p:nvSpPr>
            <p:cNvPr id="40" name="正方形/長方形 39">
              <a:extLst>
                <a:ext uri="{FF2B5EF4-FFF2-40B4-BE49-F238E27FC236}">
                  <a16:creationId xmlns:a16="http://schemas.microsoft.com/office/drawing/2014/main" id="{E8534F5B-390A-764B-BC19-9EE0B5855FD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1" name="正方形/長方形 40">
              <a:extLst>
                <a:ext uri="{FF2B5EF4-FFF2-40B4-BE49-F238E27FC236}">
                  <a16:creationId xmlns:a16="http://schemas.microsoft.com/office/drawing/2014/main" id="{699B0853-5573-1241-B0D4-0E3DF921E9E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2" name="テキスト プレースホルダー 30">
            <a:extLst>
              <a:ext uri="{FF2B5EF4-FFF2-40B4-BE49-F238E27FC236}">
                <a16:creationId xmlns:a16="http://schemas.microsoft.com/office/drawing/2014/main" id="{D32FE023-A78E-D346-8801-AAF68EB20D57}"/>
              </a:ext>
            </a:extLst>
          </p:cNvPr>
          <p:cNvSpPr txBox="1">
            <a:spLocks/>
          </p:cNvSpPr>
          <p:nvPr/>
        </p:nvSpPr>
        <p:spPr>
          <a:xfrm>
            <a:off x="574675" y="672949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grpSp>
        <p:nvGrpSpPr>
          <p:cNvPr id="43" name="グループ化 42">
            <a:extLst>
              <a:ext uri="{FF2B5EF4-FFF2-40B4-BE49-F238E27FC236}">
                <a16:creationId xmlns:a16="http://schemas.microsoft.com/office/drawing/2014/main" id="{0424706E-5394-094D-BD60-99733484C6F7}"/>
              </a:ext>
            </a:extLst>
          </p:cNvPr>
          <p:cNvGrpSpPr/>
          <p:nvPr/>
        </p:nvGrpSpPr>
        <p:grpSpPr>
          <a:xfrm>
            <a:off x="617232" y="7716677"/>
            <a:ext cx="539448" cy="487368"/>
            <a:chOff x="400056" y="1061560"/>
            <a:chExt cx="269724" cy="243684"/>
          </a:xfrm>
        </p:grpSpPr>
        <p:sp>
          <p:nvSpPr>
            <p:cNvPr id="44" name="三角形 43">
              <a:extLst>
                <a:ext uri="{FF2B5EF4-FFF2-40B4-BE49-F238E27FC236}">
                  <a16:creationId xmlns:a16="http://schemas.microsoft.com/office/drawing/2014/main" id="{452F7735-2188-A44A-8760-7E35258E44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44">
              <a:extLst>
                <a:ext uri="{FF2B5EF4-FFF2-40B4-BE49-F238E27FC236}">
                  <a16:creationId xmlns:a16="http://schemas.microsoft.com/office/drawing/2014/main" id="{538FF098-8CB3-1842-9E36-A2A50D99072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49DAD935-3DAF-1F4D-947D-2DF60D91F56F}"/>
              </a:ext>
            </a:extLst>
          </p:cNvPr>
          <p:cNvSpPr txBox="1">
            <a:spLocks/>
          </p:cNvSpPr>
          <p:nvPr/>
        </p:nvSpPr>
        <p:spPr>
          <a:xfrm>
            <a:off x="1254486" y="76440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複数のチャネルを持ち</a:t>
            </a:r>
            <a:r>
              <a:rPr lang="en-US" altLang="ja-JP" dirty="0">
                <a:solidFill>
                  <a:schemeClr val="accent2"/>
                </a:solidFill>
              </a:rPr>
              <a:t>WEB</a:t>
            </a:r>
            <a:r>
              <a:rPr lang="ja-JP" altLang="en-US" dirty="0">
                <a:solidFill>
                  <a:schemeClr val="accent2"/>
                </a:solidFill>
              </a:rPr>
              <a:t>上で交渉が行える</a:t>
            </a:r>
            <a:endParaRPr lang="en-US" altLang="ja-JP" dirty="0">
              <a:solidFill>
                <a:schemeClr val="accent2"/>
              </a:solidFill>
            </a:endParaRPr>
          </a:p>
          <a:p>
            <a:pPr>
              <a:spcBef>
                <a:spcPts val="800"/>
              </a:spcBef>
            </a:pPr>
            <a:r>
              <a:rPr lang="en-US" altLang="ja-JP" dirty="0"/>
              <a:t>IAGO</a:t>
            </a:r>
            <a:r>
              <a:rPr lang="ja-JP" altLang="en-US" dirty="0"/>
              <a:t>プラットフォームの紹介</a:t>
            </a:r>
            <a:endParaRPr lang="en-US" altLang="ja-JP" dirty="0"/>
          </a:p>
        </p:txBody>
      </p:sp>
      <p:sp>
        <p:nvSpPr>
          <p:cNvPr id="47" name="テキスト プレースホルダー 27">
            <a:extLst>
              <a:ext uri="{FF2B5EF4-FFF2-40B4-BE49-F238E27FC236}">
                <a16:creationId xmlns:a16="http://schemas.microsoft.com/office/drawing/2014/main" id="{D1F6A537-F2B6-344C-8EC4-B0DE24B1ACC0}"/>
              </a:ext>
            </a:extLst>
          </p:cNvPr>
          <p:cNvSpPr txBox="1">
            <a:spLocks/>
          </p:cNvSpPr>
          <p:nvPr/>
        </p:nvSpPr>
        <p:spPr>
          <a:xfrm>
            <a:off x="1254486" y="94362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dirty="0">
                <a:solidFill>
                  <a:schemeClr val="accent2"/>
                </a:solidFill>
              </a:rPr>
              <a:t>現れるか</a:t>
            </a:r>
            <a:r>
              <a:rPr lang="ja-JP" altLang="en-US" dirty="0"/>
              <a:t>調査</a:t>
            </a:r>
            <a:endParaRPr lang="en-US" altLang="ja-JP" dirty="0"/>
          </a:p>
        </p:txBody>
      </p:sp>
      <p:grpSp>
        <p:nvGrpSpPr>
          <p:cNvPr id="48" name="グループ化 47">
            <a:extLst>
              <a:ext uri="{FF2B5EF4-FFF2-40B4-BE49-F238E27FC236}">
                <a16:creationId xmlns:a16="http://schemas.microsoft.com/office/drawing/2014/main" id="{F8A30EE8-8E6A-9E4F-B074-680F064772E5}"/>
              </a:ext>
            </a:extLst>
          </p:cNvPr>
          <p:cNvGrpSpPr/>
          <p:nvPr/>
        </p:nvGrpSpPr>
        <p:grpSpPr>
          <a:xfrm>
            <a:off x="617232" y="9508874"/>
            <a:ext cx="539448" cy="487368"/>
            <a:chOff x="400056" y="1061560"/>
            <a:chExt cx="269724" cy="243684"/>
          </a:xfrm>
        </p:grpSpPr>
        <p:sp>
          <p:nvSpPr>
            <p:cNvPr id="49" name="三角形 48">
              <a:extLst>
                <a:ext uri="{FF2B5EF4-FFF2-40B4-BE49-F238E27FC236}">
                  <a16:creationId xmlns:a16="http://schemas.microsoft.com/office/drawing/2014/main" id="{AD31B9BF-9C8E-4249-A169-46F0281F999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三角形 49">
              <a:extLst>
                <a:ext uri="{FF2B5EF4-FFF2-40B4-BE49-F238E27FC236}">
                  <a16:creationId xmlns:a16="http://schemas.microsoft.com/office/drawing/2014/main" id="{A23FFA0A-4DCA-144F-8618-B31415F5DE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977162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7" name="グループ化 6">
            <a:extLst>
              <a:ext uri="{FF2B5EF4-FFF2-40B4-BE49-F238E27FC236}">
                <a16:creationId xmlns:a16="http://schemas.microsoft.com/office/drawing/2014/main" id="{2A7D584C-BA55-476D-B4AA-AB70F0074DF7}"/>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FA9372D4-189B-4290-8B2D-3170C136562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FAE7A18-FDD4-4A35-8A2B-E2E37883336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ACD703F-3C82-4119-ACEE-FECF5263C900}"/>
              </a:ext>
            </a:extLst>
          </p:cNvPr>
          <p:cNvGrpSpPr/>
          <p:nvPr/>
        </p:nvGrpSpPr>
        <p:grpSpPr>
          <a:xfrm>
            <a:off x="617232" y="2557358"/>
            <a:ext cx="539448" cy="487368"/>
            <a:chOff x="400056" y="1061560"/>
            <a:chExt cx="269724" cy="243684"/>
          </a:xfrm>
        </p:grpSpPr>
        <p:sp>
          <p:nvSpPr>
            <p:cNvPr id="11" name="三角形 34">
              <a:extLst>
                <a:ext uri="{FF2B5EF4-FFF2-40B4-BE49-F238E27FC236}">
                  <a16:creationId xmlns:a16="http://schemas.microsoft.com/office/drawing/2014/main" id="{805B0236-C588-4646-AC21-68729AABA9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35">
              <a:extLst>
                <a:ext uri="{FF2B5EF4-FFF2-40B4-BE49-F238E27FC236}">
                  <a16:creationId xmlns:a16="http://schemas.microsoft.com/office/drawing/2014/main" id="{FD5C05A4-4271-4AC3-A067-08B5696E3AA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CCFAF509-8E4C-4E23-9741-CF6BD7AB302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設計原則</a:t>
            </a:r>
          </a:p>
        </p:txBody>
      </p:sp>
      <p:sp>
        <p:nvSpPr>
          <p:cNvPr id="14" name="テキスト プレースホルダー 27">
            <a:extLst>
              <a:ext uri="{FF2B5EF4-FFF2-40B4-BE49-F238E27FC236}">
                <a16:creationId xmlns:a16="http://schemas.microsoft.com/office/drawing/2014/main" id="{7B54FE9E-FA27-4440-AD69-C027B516564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a:t>
            </a:r>
            <a:r>
              <a:rPr lang="ja-JP" altLang="en-US" dirty="0"/>
              <a:t>標準をサポート</a:t>
            </a:r>
            <a:endParaRPr lang="en-US" altLang="ja-JP" dirty="0"/>
          </a:p>
        </p:txBody>
      </p:sp>
      <p:grpSp>
        <p:nvGrpSpPr>
          <p:cNvPr id="18" name="グループ化 17">
            <a:extLst>
              <a:ext uri="{FF2B5EF4-FFF2-40B4-BE49-F238E27FC236}">
                <a16:creationId xmlns:a16="http://schemas.microsoft.com/office/drawing/2014/main" id="{1CFA5317-6A72-4452-B6E6-FA8FDD68AAF7}"/>
              </a:ext>
            </a:extLst>
          </p:cNvPr>
          <p:cNvGrpSpPr/>
          <p:nvPr/>
        </p:nvGrpSpPr>
        <p:grpSpPr>
          <a:xfrm>
            <a:off x="617232" y="4882177"/>
            <a:ext cx="539448" cy="487368"/>
            <a:chOff x="400056" y="1061560"/>
            <a:chExt cx="269724" cy="243684"/>
          </a:xfrm>
        </p:grpSpPr>
        <p:sp>
          <p:nvSpPr>
            <p:cNvPr id="19" name="三角形 28">
              <a:extLst>
                <a:ext uri="{FF2B5EF4-FFF2-40B4-BE49-F238E27FC236}">
                  <a16:creationId xmlns:a16="http://schemas.microsoft.com/office/drawing/2014/main" id="{73FE92B5-15C4-462F-8B21-74BDC425860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29">
              <a:extLst>
                <a:ext uri="{FF2B5EF4-FFF2-40B4-BE49-F238E27FC236}">
                  <a16:creationId xmlns:a16="http://schemas.microsoft.com/office/drawing/2014/main" id="{9836CA20-8D8C-4153-A8A9-334E60050B8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27">
            <a:extLst>
              <a:ext uri="{FF2B5EF4-FFF2-40B4-BE49-F238E27FC236}">
                <a16:creationId xmlns:a16="http://schemas.microsoft.com/office/drawing/2014/main" id="{BAC29408-C463-4892-B941-2D3AE2E0B8D2}"/>
              </a:ext>
            </a:extLst>
          </p:cNvPr>
          <p:cNvSpPr txBox="1">
            <a:spLocks/>
          </p:cNvSpPr>
          <p:nvPr/>
        </p:nvSpPr>
        <p:spPr>
          <a:xfrm>
            <a:off x="1254486" y="48095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API</a:t>
            </a:r>
            <a:r>
              <a:rPr lang="ja-JP" altLang="en-US"/>
              <a:t>の公開</a:t>
            </a:r>
            <a:endParaRPr lang="en-US" altLang="ja-JP" dirty="0"/>
          </a:p>
        </p:txBody>
      </p:sp>
      <p:grpSp>
        <p:nvGrpSpPr>
          <p:cNvPr id="22" name="グループ化 21">
            <a:extLst>
              <a:ext uri="{FF2B5EF4-FFF2-40B4-BE49-F238E27FC236}">
                <a16:creationId xmlns:a16="http://schemas.microsoft.com/office/drawing/2014/main" id="{FF304DFB-6AE6-49FF-AD7A-ED3694AB7F9E}"/>
              </a:ext>
            </a:extLst>
          </p:cNvPr>
          <p:cNvGrpSpPr/>
          <p:nvPr/>
        </p:nvGrpSpPr>
        <p:grpSpPr>
          <a:xfrm>
            <a:off x="617232" y="6477974"/>
            <a:ext cx="539448" cy="487368"/>
            <a:chOff x="400056" y="1061560"/>
            <a:chExt cx="269724" cy="243684"/>
          </a:xfrm>
        </p:grpSpPr>
        <p:sp>
          <p:nvSpPr>
            <p:cNvPr id="23" name="三角形 65">
              <a:extLst>
                <a:ext uri="{FF2B5EF4-FFF2-40B4-BE49-F238E27FC236}">
                  <a16:creationId xmlns:a16="http://schemas.microsoft.com/office/drawing/2014/main" id="{4F5FC97A-C893-49BF-8815-1864959CDB5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三角形 66">
              <a:extLst>
                <a:ext uri="{FF2B5EF4-FFF2-40B4-BE49-F238E27FC236}">
                  <a16:creationId xmlns:a16="http://schemas.microsoft.com/office/drawing/2014/main" id="{A60B6DD9-CC6D-40ED-84EB-4022A2DC1E1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テキスト プレースホルダー 27">
            <a:extLst>
              <a:ext uri="{FF2B5EF4-FFF2-40B4-BE49-F238E27FC236}">
                <a16:creationId xmlns:a16="http://schemas.microsoft.com/office/drawing/2014/main" id="{94029836-50FF-4462-B577-431FF883B3BD}"/>
              </a:ext>
            </a:extLst>
          </p:cNvPr>
          <p:cNvSpPr txBox="1">
            <a:spLocks/>
          </p:cNvSpPr>
          <p:nvPr/>
        </p:nvSpPr>
        <p:spPr>
          <a:xfrm>
            <a:off x="1254486" y="6405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a:t>
            </a:r>
            <a:r>
              <a:rPr lang="ja-JP" altLang="en-US" dirty="0"/>
              <a:t>同士</a:t>
            </a:r>
            <a:r>
              <a:rPr lang="ja-JP" altLang="en-US"/>
              <a:t>の交渉で使用されるチャネルを</a:t>
            </a:r>
            <a:r>
              <a:rPr lang="ja-JP" altLang="en-US" dirty="0"/>
              <a:t>サポート</a:t>
            </a:r>
            <a:endParaRPr lang="en-US" altLang="ja-JP" dirty="0"/>
          </a:p>
        </p:txBody>
      </p:sp>
      <p:sp>
        <p:nvSpPr>
          <p:cNvPr id="26" name="三角形 56">
            <a:extLst>
              <a:ext uri="{FF2B5EF4-FFF2-40B4-BE49-F238E27FC236}">
                <a16:creationId xmlns:a16="http://schemas.microsoft.com/office/drawing/2014/main" id="{5C61CF1A-453F-4402-8D5A-D3D0256DBC31}"/>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5F7D9DA9-0C4B-4C2C-9E72-881C7F19A85B}"/>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ユーザ：</a:t>
            </a:r>
            <a:r>
              <a:rPr lang="en-US" altLang="ja-JP" dirty="0">
                <a:solidFill>
                  <a:schemeClr val="accent2"/>
                </a:solidFill>
              </a:rPr>
              <a:t>WEB</a:t>
            </a:r>
            <a:r>
              <a:rPr lang="ja-JP" altLang="en-US" dirty="0">
                <a:solidFill>
                  <a:schemeClr val="accent2"/>
                </a:solidFill>
              </a:rPr>
              <a:t>ブラウザ</a:t>
            </a:r>
            <a:r>
              <a:rPr lang="ja-JP" altLang="en-US">
                <a:solidFill>
                  <a:schemeClr val="accent2"/>
                </a:solidFill>
              </a:rPr>
              <a:t>を通した交渉</a:t>
            </a:r>
            <a:r>
              <a:rPr lang="ja-JP" altLang="en-US" dirty="0"/>
              <a:t>が可能</a:t>
            </a:r>
          </a:p>
        </p:txBody>
      </p:sp>
      <p:sp>
        <p:nvSpPr>
          <p:cNvPr id="30" name="三角形 22">
            <a:extLst>
              <a:ext uri="{FF2B5EF4-FFF2-40B4-BE49-F238E27FC236}">
                <a16:creationId xmlns:a16="http://schemas.microsoft.com/office/drawing/2014/main" id="{D6DE0BB4-A42D-4F5B-8D41-7B96E714EFF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1" name="テキスト プレースホルダー 29">
            <a:extLst>
              <a:ext uri="{FF2B5EF4-FFF2-40B4-BE49-F238E27FC236}">
                <a16:creationId xmlns:a16="http://schemas.microsoft.com/office/drawing/2014/main" id="{E843CBFD-AF0A-4FE5-9D0E-C9DCA78ABFB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開発者：</a:t>
            </a:r>
            <a:r>
              <a:rPr lang="ja-JP" altLang="en-US" dirty="0">
                <a:solidFill>
                  <a:schemeClr val="accent3"/>
                </a:solidFill>
              </a:rPr>
              <a:t>開発環境を整える</a:t>
            </a:r>
            <a:r>
              <a:rPr lang="ja-JP" altLang="en-US" dirty="0"/>
              <a:t>のが簡単</a:t>
            </a:r>
          </a:p>
        </p:txBody>
      </p:sp>
      <p:sp>
        <p:nvSpPr>
          <p:cNvPr id="32" name="三角形 25">
            <a:extLst>
              <a:ext uri="{FF2B5EF4-FFF2-40B4-BE49-F238E27FC236}">
                <a16:creationId xmlns:a16="http://schemas.microsoft.com/office/drawing/2014/main" id="{BEFE0B33-5DD9-498A-9DFE-D73ED905C160}"/>
              </a:ext>
            </a:extLst>
          </p:cNvPr>
          <p:cNvSpPr/>
          <p:nvPr/>
        </p:nvSpPr>
        <p:spPr>
          <a:xfrm rot="5400000">
            <a:off x="1064310" y="56825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CBC77707-3E09-4789-8846-50F69BF3E1E7}"/>
              </a:ext>
            </a:extLst>
          </p:cNvPr>
          <p:cNvSpPr txBox="1">
            <a:spLocks/>
          </p:cNvSpPr>
          <p:nvPr/>
        </p:nvSpPr>
        <p:spPr>
          <a:xfrm>
            <a:off x="1445162" y="55673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エージェント・交渉の設計を簡単化</a:t>
            </a:r>
          </a:p>
        </p:txBody>
      </p:sp>
      <p:sp>
        <p:nvSpPr>
          <p:cNvPr id="34" name="三角形 25">
            <a:extLst>
              <a:ext uri="{FF2B5EF4-FFF2-40B4-BE49-F238E27FC236}">
                <a16:creationId xmlns:a16="http://schemas.microsoft.com/office/drawing/2014/main" id="{9091A7CC-A431-4131-B25B-A90E6E2D4CEF}"/>
              </a:ext>
            </a:extLst>
          </p:cNvPr>
          <p:cNvSpPr/>
          <p:nvPr/>
        </p:nvSpPr>
        <p:spPr>
          <a:xfrm rot="5400000">
            <a:off x="1064310" y="72827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テキスト プレースホルダー 29">
            <a:extLst>
              <a:ext uri="{FF2B5EF4-FFF2-40B4-BE49-F238E27FC236}">
                <a16:creationId xmlns:a16="http://schemas.microsoft.com/office/drawing/2014/main" id="{D40832F0-4FF0-4BB3-AA85-936423576470}"/>
              </a:ext>
            </a:extLst>
          </p:cNvPr>
          <p:cNvSpPr txBox="1">
            <a:spLocks/>
          </p:cNvSpPr>
          <p:nvPr/>
        </p:nvSpPr>
        <p:spPr>
          <a:xfrm>
            <a:off x="1445162" y="71675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感情の視覚的表現・相対的な選好の誘発</a:t>
            </a:r>
            <a:r>
              <a:rPr lang="en-US" altLang="ja-JP" dirty="0"/>
              <a:t>/</a:t>
            </a:r>
            <a:r>
              <a:rPr lang="ja-JP" altLang="en-US" dirty="0"/>
              <a:t>公開</a:t>
            </a:r>
          </a:p>
        </p:txBody>
      </p:sp>
    </p:spTree>
    <p:extLst>
      <p:ext uri="{BB962C8B-B14F-4D97-AF65-F5344CB8AC3E}">
        <p14:creationId xmlns:p14="http://schemas.microsoft.com/office/powerpoint/2010/main" val="2693543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11681C5F-4BB8-754D-A247-8DEC62B7AB0B}"/>
              </a:ext>
            </a:extLst>
          </p:cNvPr>
          <p:cNvPicPr>
            <a:picLocks noChangeAspect="1"/>
          </p:cNvPicPr>
          <p:nvPr/>
        </p:nvPicPr>
        <p:blipFill>
          <a:blip r:embed="rId3"/>
          <a:stretch>
            <a:fillRect/>
          </a:stretch>
        </p:blipFill>
        <p:spPr>
          <a:xfrm>
            <a:off x="4323676" y="3442304"/>
            <a:ext cx="9640649" cy="9697027"/>
          </a:xfrm>
          <a:prstGeom prst="rect">
            <a:avLst/>
          </a:prstGeom>
        </p:spPr>
      </p:pic>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18" name="グループ化 17">
            <a:extLst>
              <a:ext uri="{FF2B5EF4-FFF2-40B4-BE49-F238E27FC236}">
                <a16:creationId xmlns:a16="http://schemas.microsoft.com/office/drawing/2014/main" id="{FD33C00C-48BD-46D1-B865-EAE615A23447}"/>
              </a:ext>
            </a:extLst>
          </p:cNvPr>
          <p:cNvGrpSpPr/>
          <p:nvPr/>
        </p:nvGrpSpPr>
        <p:grpSpPr>
          <a:xfrm>
            <a:off x="289330" y="1413298"/>
            <a:ext cx="2160000" cy="934436"/>
            <a:chOff x="144665" y="525617"/>
            <a:chExt cx="1080000" cy="467218"/>
          </a:xfrm>
        </p:grpSpPr>
        <p:sp>
          <p:nvSpPr>
            <p:cNvPr id="19" name="正方形/長方形 18">
              <a:extLst>
                <a:ext uri="{FF2B5EF4-FFF2-40B4-BE49-F238E27FC236}">
                  <a16:creationId xmlns:a16="http://schemas.microsoft.com/office/drawing/2014/main" id="{1233DF67-A5B9-4D90-AD90-A89091867D0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0" name="正方形/長方形 19">
              <a:extLst>
                <a:ext uri="{FF2B5EF4-FFF2-40B4-BE49-F238E27FC236}">
                  <a16:creationId xmlns:a16="http://schemas.microsoft.com/office/drawing/2014/main" id="{68FA212B-70A9-41F7-AACB-1E726C86EC5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21" name="テキスト プレースホルダー 30">
            <a:extLst>
              <a:ext uri="{FF2B5EF4-FFF2-40B4-BE49-F238E27FC236}">
                <a16:creationId xmlns:a16="http://schemas.microsoft.com/office/drawing/2014/main" id="{DE9F3EF3-0CF6-4982-9DF2-31B86EC8FDC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dirty="0"/>
              <a:t>を用いた交渉</a:t>
            </a:r>
          </a:p>
        </p:txBody>
      </p:sp>
      <p:sp>
        <p:nvSpPr>
          <p:cNvPr id="13" name="角丸四角形吹き出し 12">
            <a:extLst>
              <a:ext uri="{FF2B5EF4-FFF2-40B4-BE49-F238E27FC236}">
                <a16:creationId xmlns:a16="http://schemas.microsoft.com/office/drawing/2014/main" id="{B4D6E342-25E2-D34C-B0EC-1D0386B9B474}"/>
              </a:ext>
            </a:extLst>
          </p:cNvPr>
          <p:cNvSpPr/>
          <p:nvPr/>
        </p:nvSpPr>
        <p:spPr>
          <a:xfrm>
            <a:off x="14205862" y="3547203"/>
            <a:ext cx="1899157" cy="985263"/>
          </a:xfrm>
          <a:prstGeom prst="wedgeRoundRectCallout">
            <a:avLst>
              <a:gd name="adj1" fmla="val -84900"/>
              <a:gd name="adj2" fmla="val 5021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ログ</a:t>
            </a:r>
            <a:endParaRPr kumimoji="1" lang="en-US" altLang="ja-JP" dirty="0"/>
          </a:p>
        </p:txBody>
      </p:sp>
      <p:sp>
        <p:nvSpPr>
          <p:cNvPr id="14" name="角丸四角形吹き出し 13">
            <a:extLst>
              <a:ext uri="{FF2B5EF4-FFF2-40B4-BE49-F238E27FC236}">
                <a16:creationId xmlns:a16="http://schemas.microsoft.com/office/drawing/2014/main" id="{7B9DEFFF-B116-AD46-BFB4-EF68A980ABF0}"/>
              </a:ext>
            </a:extLst>
          </p:cNvPr>
          <p:cNvSpPr/>
          <p:nvPr/>
        </p:nvSpPr>
        <p:spPr>
          <a:xfrm>
            <a:off x="2267887" y="3547203"/>
            <a:ext cx="1899157" cy="985263"/>
          </a:xfrm>
          <a:prstGeom prst="wedgeRoundRectCallout">
            <a:avLst>
              <a:gd name="adj1" fmla="val 79490"/>
              <a:gd name="adj2" fmla="val 5816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相手</a:t>
            </a:r>
            <a:endParaRPr kumimoji="1" lang="en-US" altLang="ja-JP" dirty="0"/>
          </a:p>
        </p:txBody>
      </p:sp>
      <p:sp>
        <p:nvSpPr>
          <p:cNvPr id="16" name="角丸四角形吹き出し 15">
            <a:extLst>
              <a:ext uri="{FF2B5EF4-FFF2-40B4-BE49-F238E27FC236}">
                <a16:creationId xmlns:a16="http://schemas.microsoft.com/office/drawing/2014/main" id="{4EFC30A0-1748-A541-A951-E6996C72DD33}"/>
              </a:ext>
            </a:extLst>
          </p:cNvPr>
          <p:cNvSpPr/>
          <p:nvPr/>
        </p:nvSpPr>
        <p:spPr>
          <a:xfrm>
            <a:off x="14205862" y="8627195"/>
            <a:ext cx="1899157" cy="985263"/>
          </a:xfrm>
          <a:prstGeom prst="wedgeRoundRectCallout">
            <a:avLst>
              <a:gd name="adj1" fmla="val -141302"/>
              <a:gd name="adj2" fmla="val 4092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a:t>
            </a:r>
            <a:endParaRPr kumimoji="1" lang="en-US" altLang="ja-JP" dirty="0"/>
          </a:p>
        </p:txBody>
      </p:sp>
      <p:sp>
        <p:nvSpPr>
          <p:cNvPr id="17" name="角丸四角形吹き出し 16">
            <a:extLst>
              <a:ext uri="{FF2B5EF4-FFF2-40B4-BE49-F238E27FC236}">
                <a16:creationId xmlns:a16="http://schemas.microsoft.com/office/drawing/2014/main" id="{39BEAE52-2BA4-6B4B-90EC-ED0B57CADC6B}"/>
              </a:ext>
            </a:extLst>
          </p:cNvPr>
          <p:cNvSpPr/>
          <p:nvPr/>
        </p:nvSpPr>
        <p:spPr>
          <a:xfrm>
            <a:off x="14205862" y="11155680"/>
            <a:ext cx="2984858" cy="1437919"/>
          </a:xfrm>
          <a:prstGeom prst="wedgeRoundRectCallout">
            <a:avLst>
              <a:gd name="adj1" fmla="val -85401"/>
              <a:gd name="adj2" fmla="val -2678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メッセージ</a:t>
            </a:r>
            <a:endParaRPr lang="en-US" altLang="ja-JP" dirty="0"/>
          </a:p>
          <a:p>
            <a:pPr algn="ctr"/>
            <a:r>
              <a:rPr kumimoji="1" lang="ja-JP" altLang="en-US"/>
              <a:t>送信</a:t>
            </a:r>
            <a:endParaRPr kumimoji="1" lang="en-US" altLang="ja-JP" dirty="0"/>
          </a:p>
        </p:txBody>
      </p:sp>
      <p:sp>
        <p:nvSpPr>
          <p:cNvPr id="22" name="角丸四角形吹き出し 21">
            <a:extLst>
              <a:ext uri="{FF2B5EF4-FFF2-40B4-BE49-F238E27FC236}">
                <a16:creationId xmlns:a16="http://schemas.microsoft.com/office/drawing/2014/main" id="{3A706121-3977-8E45-8F71-1CD80D09F554}"/>
              </a:ext>
            </a:extLst>
          </p:cNvPr>
          <p:cNvSpPr/>
          <p:nvPr/>
        </p:nvSpPr>
        <p:spPr>
          <a:xfrm>
            <a:off x="901337" y="8134563"/>
            <a:ext cx="2854929" cy="985263"/>
          </a:xfrm>
          <a:prstGeom prst="wedgeRoundRectCallout">
            <a:avLst>
              <a:gd name="adj1" fmla="val 87582"/>
              <a:gd name="adj2" fmla="val -812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の内容</a:t>
            </a:r>
            <a:endParaRPr kumimoji="1" lang="en-US" altLang="ja-JP" dirty="0"/>
          </a:p>
        </p:txBody>
      </p:sp>
      <p:sp>
        <p:nvSpPr>
          <p:cNvPr id="23" name="角丸四角形吹き出し 22">
            <a:extLst>
              <a:ext uri="{FF2B5EF4-FFF2-40B4-BE49-F238E27FC236}">
                <a16:creationId xmlns:a16="http://schemas.microsoft.com/office/drawing/2014/main" id="{1AA60244-34D2-644C-9DB0-3BCAC0F8FE74}"/>
              </a:ext>
            </a:extLst>
          </p:cNvPr>
          <p:cNvSpPr/>
          <p:nvPr/>
        </p:nvSpPr>
        <p:spPr>
          <a:xfrm>
            <a:off x="289331" y="11117055"/>
            <a:ext cx="3466936" cy="1436400"/>
          </a:xfrm>
          <a:prstGeom prst="wedgeRoundRectCallout">
            <a:avLst>
              <a:gd name="adj1" fmla="val 75902"/>
              <a:gd name="adj2" fmla="val -903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に対する</a:t>
            </a:r>
            <a:endParaRPr lang="en-US" altLang="ja-JP" dirty="0"/>
          </a:p>
          <a:p>
            <a:pPr algn="ctr"/>
            <a:r>
              <a:rPr kumimoji="1" lang="ja-JP" altLang="en-US"/>
              <a:t>行動</a:t>
            </a:r>
            <a:endParaRPr kumimoji="1" lang="en-US" altLang="ja-JP" dirty="0"/>
          </a:p>
        </p:txBody>
      </p:sp>
    </p:spTree>
    <p:extLst>
      <p:ext uri="{BB962C8B-B14F-4D97-AF65-F5344CB8AC3E}">
        <p14:creationId xmlns:p14="http://schemas.microsoft.com/office/powerpoint/2010/main" val="628829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ext uri="{D42A27DB-BD31-4B8C-83A1-F6EECF244321}">
                <p14:modId xmlns:p14="http://schemas.microsoft.com/office/powerpoint/2010/main" val="686680132"/>
              </p:ext>
            </p:extLst>
          </p:nvPr>
        </p:nvGraphicFramePr>
        <p:xfrm>
          <a:off x="11596544" y="11210345"/>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Strategic</a:t>
                      </a:r>
                      <a:endParaRPr kumimoji="1" lang="ja-JP" altLang="en-US"/>
                    </a:p>
                  </a:txBody>
                  <a:tcPr/>
                </a:tc>
                <a:tc>
                  <a:txBody>
                    <a:bodyPr/>
                    <a:lstStyle/>
                    <a:p>
                      <a:pPr algn="ctr"/>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pPr algn="r"/>
                      <a:r>
                        <a:rPr kumimoji="1" lang="en-US" altLang="ja-JP" dirty="0"/>
                        <a:t>Merlin</a:t>
                      </a:r>
                      <a:endParaRPr kumimoji="1" lang="ja-JP" altLang="en-US"/>
                    </a:p>
                  </a:txBody>
                  <a:tcPr/>
                </a:tc>
                <a:tc>
                  <a:txBody>
                    <a:bodyPr/>
                    <a:lstStyle/>
                    <a:p>
                      <a:pPr algn="r"/>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pPr algn="r"/>
                      <a:r>
                        <a:rPr kumimoji="1" lang="en-US" altLang="ja-JP" dirty="0"/>
                        <a:t>Rumple</a:t>
                      </a:r>
                      <a:endParaRPr kumimoji="1" lang="ja-JP" altLang="en-US"/>
                    </a:p>
                  </a:txBody>
                  <a:tcPr/>
                </a:tc>
                <a:tc>
                  <a:txBody>
                    <a:bodyPr/>
                    <a:lstStyle/>
                    <a:p>
                      <a:pPr algn="r"/>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13563600" y="9421825"/>
            <a:ext cx="4556760" cy="1083789"/>
          </a:xfrm>
          <a:prstGeom prst="wedgeRoundRectCallout">
            <a:avLst>
              <a:gd name="adj1" fmla="val -40235"/>
              <a:gd name="adj2" fmla="val 9953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選好を公開する戦略</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7437357" y="12130811"/>
            <a:ext cx="3308848" cy="1083789"/>
          </a:xfrm>
          <a:prstGeom prst="wedgeRoundRectCallout">
            <a:avLst>
              <a:gd name="adj1" fmla="val 71143"/>
              <a:gd name="adj2" fmla="val -2731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感情のトーン</a:t>
            </a:r>
            <a:endParaRPr kumimoji="1" lang="en-US" altLang="ja-JP" dirty="0"/>
          </a:p>
        </p:txBody>
      </p:sp>
      <p:sp>
        <p:nvSpPr>
          <p:cNvPr id="46" name="テキスト プレースホルダー 27">
            <a:extLst>
              <a:ext uri="{FF2B5EF4-FFF2-40B4-BE49-F238E27FC236}">
                <a16:creationId xmlns:a16="http://schemas.microsoft.com/office/drawing/2014/main" id="{EAF36F5C-9601-5E49-B3C6-69687AEC35A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47" name="グループ化 46">
            <a:extLst>
              <a:ext uri="{FF2B5EF4-FFF2-40B4-BE49-F238E27FC236}">
                <a16:creationId xmlns:a16="http://schemas.microsoft.com/office/drawing/2014/main" id="{E2FF9CBA-6B61-AB43-8461-6BD14B5A34DD}"/>
              </a:ext>
            </a:extLst>
          </p:cNvPr>
          <p:cNvGrpSpPr/>
          <p:nvPr/>
        </p:nvGrpSpPr>
        <p:grpSpPr>
          <a:xfrm>
            <a:off x="617232" y="3408977"/>
            <a:ext cx="539448" cy="487368"/>
            <a:chOff x="400056" y="1061560"/>
            <a:chExt cx="269724" cy="243684"/>
          </a:xfrm>
        </p:grpSpPr>
        <p:sp>
          <p:nvSpPr>
            <p:cNvPr id="48" name="三角形 47">
              <a:extLst>
                <a:ext uri="{FF2B5EF4-FFF2-40B4-BE49-F238E27FC236}">
                  <a16:creationId xmlns:a16="http://schemas.microsoft.com/office/drawing/2014/main" id="{B6B7A5ED-0D74-1D45-9F16-C58E53FA577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9EB5C674-BE62-3E4F-9973-38F3E872E3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3" name="三角形 52">
            <a:extLst>
              <a:ext uri="{FF2B5EF4-FFF2-40B4-BE49-F238E27FC236}">
                <a16:creationId xmlns:a16="http://schemas.microsoft.com/office/drawing/2014/main" id="{E0F37030-C88F-8041-A9EA-15B655419376}"/>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テキスト プレースホルダー 29">
            <a:extLst>
              <a:ext uri="{FF2B5EF4-FFF2-40B4-BE49-F238E27FC236}">
                <a16:creationId xmlns:a16="http://schemas.microsoft.com/office/drawing/2014/main" id="{41C24230-3125-6A45-BB77-0B575B48A04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5" name="三角形 54">
            <a:extLst>
              <a:ext uri="{FF2B5EF4-FFF2-40B4-BE49-F238E27FC236}">
                <a16:creationId xmlns:a16="http://schemas.microsoft.com/office/drawing/2014/main" id="{5796B99C-2FC0-8049-A423-F3D05492D44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CF60E22-835A-8E4B-80AC-490096FED1C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53293BB8-EF81-F049-BA2F-B52D4D69C659}"/>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4FE588B4-13A0-9E44-85C8-5C243EBA5A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B83A8B5D-851D-C240-AB8F-B8A543C5EE17}"/>
              </a:ext>
            </a:extLst>
          </p:cNvPr>
          <p:cNvGrpSpPr/>
          <p:nvPr/>
        </p:nvGrpSpPr>
        <p:grpSpPr>
          <a:xfrm>
            <a:off x="289330" y="6602201"/>
            <a:ext cx="2160000" cy="934436"/>
            <a:chOff x="144665" y="525617"/>
            <a:chExt cx="1080000" cy="467218"/>
          </a:xfrm>
        </p:grpSpPr>
        <p:sp>
          <p:nvSpPr>
            <p:cNvPr id="29" name="正方形/長方形 28">
              <a:extLst>
                <a:ext uri="{FF2B5EF4-FFF2-40B4-BE49-F238E27FC236}">
                  <a16:creationId xmlns:a16="http://schemas.microsoft.com/office/drawing/2014/main" id="{F950B6AB-F41F-844F-9D60-8752FAEAA78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0" name="正方形/長方形 29">
              <a:extLst>
                <a:ext uri="{FF2B5EF4-FFF2-40B4-BE49-F238E27FC236}">
                  <a16:creationId xmlns:a16="http://schemas.microsoft.com/office/drawing/2014/main" id="{6E1BB748-47C2-6C4E-BBAF-1AD0B9D6A3C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9" name="グループ化 38">
            <a:extLst>
              <a:ext uri="{FF2B5EF4-FFF2-40B4-BE49-F238E27FC236}">
                <a16:creationId xmlns:a16="http://schemas.microsoft.com/office/drawing/2014/main" id="{798D724F-8E14-EB4C-9CDA-E384F96D61A8}"/>
              </a:ext>
            </a:extLst>
          </p:cNvPr>
          <p:cNvGrpSpPr/>
          <p:nvPr/>
        </p:nvGrpSpPr>
        <p:grpSpPr>
          <a:xfrm>
            <a:off x="617232" y="7746261"/>
            <a:ext cx="539448" cy="487368"/>
            <a:chOff x="400056" y="1061560"/>
            <a:chExt cx="269724" cy="243684"/>
          </a:xfrm>
        </p:grpSpPr>
        <p:sp>
          <p:nvSpPr>
            <p:cNvPr id="40" name="三角形 39">
              <a:extLst>
                <a:ext uri="{FF2B5EF4-FFF2-40B4-BE49-F238E27FC236}">
                  <a16:creationId xmlns:a16="http://schemas.microsoft.com/office/drawing/2014/main" id="{BEC90B32-EA9B-B44E-BF51-B16AFC06E5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1BF02046-6DA5-034F-B102-946A4CA470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30">
            <a:extLst>
              <a:ext uri="{FF2B5EF4-FFF2-40B4-BE49-F238E27FC236}">
                <a16:creationId xmlns:a16="http://schemas.microsoft.com/office/drawing/2014/main" id="{C46F9976-6140-E943-A193-90AF6990CE0E}"/>
              </a:ext>
            </a:extLst>
          </p:cNvPr>
          <p:cNvSpPr txBox="1">
            <a:spLocks/>
          </p:cNvSpPr>
          <p:nvPr/>
        </p:nvSpPr>
        <p:spPr>
          <a:xfrm>
            <a:off x="571049" y="677277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エージェントの特徴</a:t>
            </a:r>
          </a:p>
        </p:txBody>
      </p:sp>
      <p:sp>
        <p:nvSpPr>
          <p:cNvPr id="45" name="テキスト プレースホルダー 27">
            <a:extLst>
              <a:ext uri="{FF2B5EF4-FFF2-40B4-BE49-F238E27FC236}">
                <a16:creationId xmlns:a16="http://schemas.microsoft.com/office/drawing/2014/main" id="{4F63084C-EE27-0E4F-AC84-FDA01AD3A146}"/>
              </a:ext>
            </a:extLst>
          </p:cNvPr>
          <p:cNvSpPr txBox="1">
            <a:spLocks/>
          </p:cNvSpPr>
          <p:nvPr/>
        </p:nvSpPr>
        <p:spPr>
          <a:xfrm>
            <a:off x="1254486" y="767363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感情のトーン</a:t>
            </a:r>
            <a:endParaRPr lang="en-US" altLang="ja-JP" dirty="0"/>
          </a:p>
        </p:txBody>
      </p:sp>
      <p:sp>
        <p:nvSpPr>
          <p:cNvPr id="50" name="三角形 49">
            <a:extLst>
              <a:ext uri="{FF2B5EF4-FFF2-40B4-BE49-F238E27FC236}">
                <a16:creationId xmlns:a16="http://schemas.microsoft.com/office/drawing/2014/main" id="{2ACC796D-5B3B-F343-BDB6-63BD1DEA3310}"/>
              </a:ext>
            </a:extLst>
          </p:cNvPr>
          <p:cNvSpPr/>
          <p:nvPr/>
        </p:nvSpPr>
        <p:spPr>
          <a:xfrm rot="5400000">
            <a:off x="1076238" y="85825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2A44B63A-DF51-6D4E-8DC4-D3DC0279015A}"/>
              </a:ext>
            </a:extLst>
          </p:cNvPr>
          <p:cNvSpPr txBox="1">
            <a:spLocks/>
          </p:cNvSpPr>
          <p:nvPr/>
        </p:nvSpPr>
        <p:spPr>
          <a:xfrm>
            <a:off x="1457090" y="84672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Nice:</a:t>
            </a:r>
            <a:r>
              <a:rPr lang="ja-JP" altLang="en-US"/>
              <a:t>「すみませんが，この</a:t>
            </a:r>
            <a:r>
              <a:rPr lang="en-US" altLang="ja-JP" dirty="0"/>
              <a:t>offer</a:t>
            </a:r>
            <a:r>
              <a:rPr lang="ja-JP" altLang="en-US"/>
              <a:t>は公平じゃないと思います」</a:t>
            </a:r>
          </a:p>
        </p:txBody>
      </p:sp>
      <p:sp>
        <p:nvSpPr>
          <p:cNvPr id="52" name="三角形 51">
            <a:extLst>
              <a:ext uri="{FF2B5EF4-FFF2-40B4-BE49-F238E27FC236}">
                <a16:creationId xmlns:a16="http://schemas.microsoft.com/office/drawing/2014/main" id="{8EB84465-5567-AC4A-9514-CABBB43D0B6F}"/>
              </a:ext>
            </a:extLst>
          </p:cNvPr>
          <p:cNvSpPr/>
          <p:nvPr/>
        </p:nvSpPr>
        <p:spPr>
          <a:xfrm rot="5400000">
            <a:off x="1059011" y="92979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テキスト プレースホルダー 29">
            <a:extLst>
              <a:ext uri="{FF2B5EF4-FFF2-40B4-BE49-F238E27FC236}">
                <a16:creationId xmlns:a16="http://schemas.microsoft.com/office/drawing/2014/main" id="{49683247-8FCC-1842-B6E4-5212F1B11110}"/>
              </a:ext>
            </a:extLst>
          </p:cNvPr>
          <p:cNvSpPr txBox="1">
            <a:spLocks/>
          </p:cNvSpPr>
          <p:nvPr/>
        </p:nvSpPr>
        <p:spPr>
          <a:xfrm>
            <a:off x="1439863" y="91826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Nasty:</a:t>
            </a:r>
            <a:r>
              <a:rPr lang="ja-JP" altLang="en-US"/>
              <a:t>「この</a:t>
            </a:r>
            <a:r>
              <a:rPr lang="en-US" altLang="ja-JP" dirty="0"/>
              <a:t>offer</a:t>
            </a:r>
            <a:r>
              <a:rPr lang="ja-JP" altLang="en-US"/>
              <a:t>は公平じゃない」</a:t>
            </a:r>
          </a:p>
        </p:txBody>
      </p:sp>
      <p:grpSp>
        <p:nvGrpSpPr>
          <p:cNvPr id="58" name="グループ化 57">
            <a:extLst>
              <a:ext uri="{FF2B5EF4-FFF2-40B4-BE49-F238E27FC236}">
                <a16:creationId xmlns:a16="http://schemas.microsoft.com/office/drawing/2014/main" id="{E9DA1FFF-3FCA-C642-9EEA-1A25AC239095}"/>
              </a:ext>
            </a:extLst>
          </p:cNvPr>
          <p:cNvGrpSpPr/>
          <p:nvPr/>
        </p:nvGrpSpPr>
        <p:grpSpPr>
          <a:xfrm>
            <a:off x="617232" y="10089956"/>
            <a:ext cx="539448" cy="487368"/>
            <a:chOff x="400056" y="1061560"/>
            <a:chExt cx="269724" cy="243684"/>
          </a:xfrm>
        </p:grpSpPr>
        <p:sp>
          <p:nvSpPr>
            <p:cNvPr id="61" name="三角形 60">
              <a:extLst>
                <a:ext uri="{FF2B5EF4-FFF2-40B4-BE49-F238E27FC236}">
                  <a16:creationId xmlns:a16="http://schemas.microsoft.com/office/drawing/2014/main" id="{7AAC6B2D-D297-8640-8694-FE46F85047C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67A5A383-E183-1544-B12D-72CF8B5D687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5C045A2E-057A-AC4C-A3CA-A8512E433214}"/>
              </a:ext>
            </a:extLst>
          </p:cNvPr>
          <p:cNvSpPr txBox="1">
            <a:spLocks/>
          </p:cNvSpPr>
          <p:nvPr/>
        </p:nvSpPr>
        <p:spPr>
          <a:xfrm>
            <a:off x="1254486" y="1001733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選好を公開する戦略</a:t>
            </a:r>
            <a:endParaRPr lang="en-US" altLang="ja-JP" dirty="0"/>
          </a:p>
        </p:txBody>
      </p:sp>
      <p:sp>
        <p:nvSpPr>
          <p:cNvPr id="64" name="三角形 63">
            <a:extLst>
              <a:ext uri="{FF2B5EF4-FFF2-40B4-BE49-F238E27FC236}">
                <a16:creationId xmlns:a16="http://schemas.microsoft.com/office/drawing/2014/main" id="{EB75CB94-0C55-0F48-BE73-432ED5FC813A}"/>
              </a:ext>
            </a:extLst>
          </p:cNvPr>
          <p:cNvSpPr/>
          <p:nvPr/>
        </p:nvSpPr>
        <p:spPr>
          <a:xfrm rot="5400000">
            <a:off x="1076238" y="109262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テキスト プレースホルダー 29">
            <a:extLst>
              <a:ext uri="{FF2B5EF4-FFF2-40B4-BE49-F238E27FC236}">
                <a16:creationId xmlns:a16="http://schemas.microsoft.com/office/drawing/2014/main" id="{77314A3C-FB69-ED4C-9A85-15399286544D}"/>
              </a:ext>
            </a:extLst>
          </p:cNvPr>
          <p:cNvSpPr txBox="1">
            <a:spLocks/>
          </p:cNvSpPr>
          <p:nvPr/>
        </p:nvSpPr>
        <p:spPr>
          <a:xfrm>
            <a:off x="1457090" y="108109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応報戦略</a:t>
            </a:r>
          </a:p>
        </p:txBody>
      </p:sp>
      <p:sp>
        <p:nvSpPr>
          <p:cNvPr id="66" name="三角形 65">
            <a:extLst>
              <a:ext uri="{FF2B5EF4-FFF2-40B4-BE49-F238E27FC236}">
                <a16:creationId xmlns:a16="http://schemas.microsoft.com/office/drawing/2014/main" id="{0CA39131-7CC2-1A46-8B6C-5EABF3264DE9}"/>
              </a:ext>
            </a:extLst>
          </p:cNvPr>
          <p:cNvSpPr/>
          <p:nvPr/>
        </p:nvSpPr>
        <p:spPr>
          <a:xfrm rot="5400000">
            <a:off x="1059011" y="116416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テキスト プレースホルダー 29">
            <a:extLst>
              <a:ext uri="{FF2B5EF4-FFF2-40B4-BE49-F238E27FC236}">
                <a16:creationId xmlns:a16="http://schemas.microsoft.com/office/drawing/2014/main" id="{AE8C281F-73A1-D749-83F2-86275FC784ED}"/>
              </a:ext>
            </a:extLst>
          </p:cNvPr>
          <p:cNvSpPr txBox="1">
            <a:spLocks/>
          </p:cNvSpPr>
          <p:nvPr/>
        </p:nvSpPr>
        <p:spPr>
          <a:xfrm>
            <a:off x="1439863" y="115263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Free:</a:t>
            </a:r>
            <a:r>
              <a:rPr lang="ja-JP" altLang="en-US"/>
              <a:t>応報戦略＋単純な質問には答える</a:t>
            </a:r>
          </a:p>
        </p:txBody>
      </p:sp>
    </p:spTree>
    <p:extLst>
      <p:ext uri="{BB962C8B-B14F-4D97-AF65-F5344CB8AC3E}">
        <p14:creationId xmlns:p14="http://schemas.microsoft.com/office/powerpoint/2010/main" val="2968766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grpSp>
        <p:nvGrpSpPr>
          <p:cNvPr id="43" name="グループ化 42">
            <a:extLst>
              <a:ext uri="{FF2B5EF4-FFF2-40B4-BE49-F238E27FC236}">
                <a16:creationId xmlns:a16="http://schemas.microsoft.com/office/drawing/2014/main" id="{B1337309-F72E-D14B-82D5-CBC6EDAFFD4E}"/>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A7F403AD-3A48-8A4B-B614-37BBA7395B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D3D1F316-8C13-A644-A910-2CE9727CF9D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68C9C3F8-CFC7-6642-891E-FD0EE8BBFF09}"/>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45C9BBF3-E820-7345-A4EF-BA4953379EE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24F164C6-1BAE-0248-859F-87D5B8B11A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549D4CA0-52DB-1E48-8577-8090DABD64B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4E7EAC88-F7B4-584D-A9E4-C4CD8B26FF31}"/>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4E1CE13F-8312-1041-B35E-62ACFF7A3EF9}"/>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FD5BBBCD-7906-B645-AD7D-39C955779A7D}"/>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79772ED-62AF-A141-AF9E-80FE17337B9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84ADFB29-E940-C143-B35A-3CBA4BC690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52A501FA-7418-3548-80DA-7270AF9F53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3A6BC091-1493-2346-96C1-5D44510A041E}"/>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C19D49B6-237C-A44D-ACA8-BB506905DAB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EE413897-7393-DE4E-97AF-7D9C0928713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E0751383-35D8-7B4B-810F-94693DEBB66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7351F6FB-52A8-7347-A6AB-704A6E7F241E}"/>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499947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grpSp>
        <p:nvGrpSpPr>
          <p:cNvPr id="43" name="グループ化 42">
            <a:extLst>
              <a:ext uri="{FF2B5EF4-FFF2-40B4-BE49-F238E27FC236}">
                <a16:creationId xmlns:a16="http://schemas.microsoft.com/office/drawing/2014/main" id="{19262A50-DE92-DA4A-BE01-7A9160BCE3B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5CEDC2EF-E458-E34F-A35A-3234A259463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1C4752FD-6D3B-2F40-9BDE-C93DBFB48A4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28E246CF-C500-9F46-A412-0FFF44332B7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E18BCB11-6046-8047-B85E-3F9DCFE941A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EDFC19C-A07A-DE4C-A78E-2633CE62C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4D2A8AFF-ADBB-824A-B436-87C4E8C22B0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055EA33C-2582-A143-BA80-19A4A93B0CA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15D06C17-6B83-6241-A69A-3B5E854AA6E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4416C8C6-33CB-C946-8396-31B91C96DA84}"/>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BB44860B-5E8B-4745-B2E2-CFCC33821A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534A2B81-114B-E241-B67D-18B8B27D45C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A1696794-62EF-644A-8814-E79942CDA55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DBB463B0-A574-FF42-84C1-B893F8241140}"/>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8" name="三角形 57">
            <a:extLst>
              <a:ext uri="{FF2B5EF4-FFF2-40B4-BE49-F238E27FC236}">
                <a16:creationId xmlns:a16="http://schemas.microsoft.com/office/drawing/2014/main" id="{AAD5F6E6-D0FB-6346-858D-9FEC12B9A53A}"/>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F5B2A1EB-BDF7-C947-A724-54A4B60FDA0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0D4CA450-3C2E-314C-A4A7-B45AC80464A6}"/>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DD0CDCC8-C8C9-7443-8681-0C1D007A95D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80633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grpSp>
        <p:nvGrpSpPr>
          <p:cNvPr id="43" name="グループ化 42">
            <a:extLst>
              <a:ext uri="{FF2B5EF4-FFF2-40B4-BE49-F238E27FC236}">
                <a16:creationId xmlns:a16="http://schemas.microsoft.com/office/drawing/2014/main" id="{81CF4DF9-C75E-FB43-8619-F648F805253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93D8EBC4-C197-9049-ADE5-09B0B82577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B6333091-F95C-2949-B68E-FA6814C0FEF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5619057-FEB9-0A4A-B20D-AC3A324B83CF}"/>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C1161179-1A76-C241-9859-081B149870C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7A5BC4E5-0503-064D-9496-419D4D8A3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BD165CEE-796A-0E49-8CA4-B69411A973F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CAD09DD9-6AB1-144C-972C-292D85DADA2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530F7A4D-D674-744B-839E-A242192FF05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91CA6CB4-6920-1045-8FA2-E1EFF1148B00}"/>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EB535784-3C60-9941-B184-FB51159F885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D5F907B-252F-674B-8054-1533B3605F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C9655906-F1EF-9D48-B07E-216C6087D01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46C895B7-E2AC-D549-AFD8-F492AF327286}"/>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86D83FC9-AB69-1549-B78B-3DBB4CF8A2BF}"/>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4F1B8434-554A-2743-8C11-EA4F0B987A8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29D5EDF0-E39D-9C42-85FC-A4C51646990F}"/>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AB2E1FC5-CE5E-074C-BC09-C2DF1CF46CC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57" name="角丸四角形吹き出し 56">
            <a:extLst>
              <a:ext uri="{FF2B5EF4-FFF2-40B4-BE49-F238E27FC236}">
                <a16:creationId xmlns:a16="http://schemas.microsoft.com/office/drawing/2014/main" id="{7DC24181-3B12-104D-9265-0D9E906F2BF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3081572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26E0BE3F-B3A7-7543-BE81-FE3CCA4DBEB2}"/>
              </a:ext>
            </a:extLst>
          </p:cNvPr>
          <p:cNvGrpSpPr/>
          <p:nvPr/>
        </p:nvGrpSpPr>
        <p:grpSpPr>
          <a:xfrm>
            <a:off x="289330" y="1413298"/>
            <a:ext cx="2160000" cy="934436"/>
            <a:chOff x="144665" y="525617"/>
            <a:chExt cx="1080000" cy="467218"/>
          </a:xfrm>
        </p:grpSpPr>
        <p:sp>
          <p:nvSpPr>
            <p:cNvPr id="56" name="正方形/長方形 55">
              <a:extLst>
                <a:ext uri="{FF2B5EF4-FFF2-40B4-BE49-F238E27FC236}">
                  <a16:creationId xmlns:a16="http://schemas.microsoft.com/office/drawing/2014/main" id="{78A4757B-6A5C-8345-91DD-347AA0FA53E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8" name="正方形/長方形 57">
              <a:extLst>
                <a:ext uri="{FF2B5EF4-FFF2-40B4-BE49-F238E27FC236}">
                  <a16:creationId xmlns:a16="http://schemas.microsoft.com/office/drawing/2014/main" id="{1BA64B69-7271-F24A-8719-85E380B1B64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9" name="グループ化 58">
            <a:extLst>
              <a:ext uri="{FF2B5EF4-FFF2-40B4-BE49-F238E27FC236}">
                <a16:creationId xmlns:a16="http://schemas.microsoft.com/office/drawing/2014/main" id="{66A243BF-BD57-D443-8FA8-EC26B1152712}"/>
              </a:ext>
            </a:extLst>
          </p:cNvPr>
          <p:cNvGrpSpPr/>
          <p:nvPr/>
        </p:nvGrpSpPr>
        <p:grpSpPr>
          <a:xfrm>
            <a:off x="617232" y="2557358"/>
            <a:ext cx="539448" cy="487368"/>
            <a:chOff x="400056" y="1061560"/>
            <a:chExt cx="269724" cy="243684"/>
          </a:xfrm>
        </p:grpSpPr>
        <p:sp>
          <p:nvSpPr>
            <p:cNvPr id="67" name="三角形 66">
              <a:extLst>
                <a:ext uri="{FF2B5EF4-FFF2-40B4-BE49-F238E27FC236}">
                  <a16:creationId xmlns:a16="http://schemas.microsoft.com/office/drawing/2014/main" id="{D6DD2E02-9902-8F42-B904-37F88221065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9" name="三角形 68">
              <a:extLst>
                <a:ext uri="{FF2B5EF4-FFF2-40B4-BE49-F238E27FC236}">
                  <a16:creationId xmlns:a16="http://schemas.microsoft.com/office/drawing/2014/main" id="{FD9B1FAC-52FC-664E-96A3-ECF74090722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7" name="テキスト プレースホルダー 30">
            <a:extLst>
              <a:ext uri="{FF2B5EF4-FFF2-40B4-BE49-F238E27FC236}">
                <a16:creationId xmlns:a16="http://schemas.microsoft.com/office/drawing/2014/main" id="{DFBFD38B-B677-1645-9715-81E8D065236C}"/>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8" name="テキスト プレースホルダー 27">
            <a:extLst>
              <a:ext uri="{FF2B5EF4-FFF2-40B4-BE49-F238E27FC236}">
                <a16:creationId xmlns:a16="http://schemas.microsoft.com/office/drawing/2014/main" id="{A6279D6A-65AC-914C-81B2-3B5DC3ACEC9F}"/>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9" name="テキスト プレースホルダー 27">
            <a:extLst>
              <a:ext uri="{FF2B5EF4-FFF2-40B4-BE49-F238E27FC236}">
                <a16:creationId xmlns:a16="http://schemas.microsoft.com/office/drawing/2014/main" id="{3A8B1469-E700-6745-A0DB-61DA9639EE4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0" name="グループ化 79">
            <a:extLst>
              <a:ext uri="{FF2B5EF4-FFF2-40B4-BE49-F238E27FC236}">
                <a16:creationId xmlns:a16="http://schemas.microsoft.com/office/drawing/2014/main" id="{66C3F4D8-2D36-AF40-80F6-75259394DAA9}"/>
              </a:ext>
            </a:extLst>
          </p:cNvPr>
          <p:cNvGrpSpPr/>
          <p:nvPr/>
        </p:nvGrpSpPr>
        <p:grpSpPr>
          <a:xfrm>
            <a:off x="617232" y="3408977"/>
            <a:ext cx="539448" cy="487368"/>
            <a:chOff x="400056" y="1061560"/>
            <a:chExt cx="269724" cy="243684"/>
          </a:xfrm>
        </p:grpSpPr>
        <p:sp>
          <p:nvSpPr>
            <p:cNvPr id="81" name="三角形 80">
              <a:extLst>
                <a:ext uri="{FF2B5EF4-FFF2-40B4-BE49-F238E27FC236}">
                  <a16:creationId xmlns:a16="http://schemas.microsoft.com/office/drawing/2014/main" id="{07DB9808-3440-644A-848A-E7DD04189F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100B0124-0630-8647-AA82-7F179600E08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三角形 82">
            <a:extLst>
              <a:ext uri="{FF2B5EF4-FFF2-40B4-BE49-F238E27FC236}">
                <a16:creationId xmlns:a16="http://schemas.microsoft.com/office/drawing/2014/main" id="{12002D9E-B44E-F348-BDC5-9972B017B31A}"/>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98469888-0FC7-8F40-A23A-2444CF17B5C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5" name="三角形 84">
            <a:extLst>
              <a:ext uri="{FF2B5EF4-FFF2-40B4-BE49-F238E27FC236}">
                <a16:creationId xmlns:a16="http://schemas.microsoft.com/office/drawing/2014/main" id="{57C5DC3B-EE36-324C-98D1-E34A429016E1}"/>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49FFBE5F-CF83-2748-9313-5CDC83CCB42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7" name="三角形 86">
            <a:extLst>
              <a:ext uri="{FF2B5EF4-FFF2-40B4-BE49-F238E27FC236}">
                <a16:creationId xmlns:a16="http://schemas.microsoft.com/office/drawing/2014/main" id="{CDB880EE-D90F-3D41-915F-64D46A5EC3E5}"/>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411C85A4-8E82-B842-8261-8396B3137EF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238692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8C7750BC-AD54-B84C-891B-867038CA8566}"/>
              </a:ext>
            </a:extLst>
          </p:cNvPr>
          <p:cNvGrpSpPr/>
          <p:nvPr/>
        </p:nvGrpSpPr>
        <p:grpSpPr>
          <a:xfrm>
            <a:off x="289330" y="1413298"/>
            <a:ext cx="2160000" cy="934436"/>
            <a:chOff x="144665" y="525617"/>
            <a:chExt cx="1080000" cy="467218"/>
          </a:xfrm>
        </p:grpSpPr>
        <p:sp>
          <p:nvSpPr>
            <p:cNvPr id="58" name="正方形/長方形 57">
              <a:extLst>
                <a:ext uri="{FF2B5EF4-FFF2-40B4-BE49-F238E27FC236}">
                  <a16:creationId xmlns:a16="http://schemas.microsoft.com/office/drawing/2014/main" id="{05518FC9-9453-A24C-BE16-FFCEF291D21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5" name="正方形/長方形 74">
              <a:extLst>
                <a:ext uri="{FF2B5EF4-FFF2-40B4-BE49-F238E27FC236}">
                  <a16:creationId xmlns:a16="http://schemas.microsoft.com/office/drawing/2014/main" id="{015CF808-C57B-2B48-8425-6B524190214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6" name="グループ化 75">
            <a:extLst>
              <a:ext uri="{FF2B5EF4-FFF2-40B4-BE49-F238E27FC236}">
                <a16:creationId xmlns:a16="http://schemas.microsoft.com/office/drawing/2014/main" id="{2581B3DC-9A13-7F45-9A23-08FBE9C90F9E}"/>
              </a:ext>
            </a:extLst>
          </p:cNvPr>
          <p:cNvGrpSpPr/>
          <p:nvPr/>
        </p:nvGrpSpPr>
        <p:grpSpPr>
          <a:xfrm>
            <a:off x="617232" y="2557358"/>
            <a:ext cx="539448" cy="487368"/>
            <a:chOff x="400056" y="1061560"/>
            <a:chExt cx="269724" cy="243684"/>
          </a:xfrm>
        </p:grpSpPr>
        <p:sp>
          <p:nvSpPr>
            <p:cNvPr id="77" name="三角形 76">
              <a:extLst>
                <a:ext uri="{FF2B5EF4-FFF2-40B4-BE49-F238E27FC236}">
                  <a16:creationId xmlns:a16="http://schemas.microsoft.com/office/drawing/2014/main" id="{29E1F9E5-D1B9-8D44-ABCA-E777A229E79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8" name="三角形 77">
              <a:extLst>
                <a:ext uri="{FF2B5EF4-FFF2-40B4-BE49-F238E27FC236}">
                  <a16:creationId xmlns:a16="http://schemas.microsoft.com/office/drawing/2014/main" id="{0E5FE36E-E1F5-2746-8219-06960F8530C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9" name="テキスト プレースホルダー 30">
            <a:extLst>
              <a:ext uri="{FF2B5EF4-FFF2-40B4-BE49-F238E27FC236}">
                <a16:creationId xmlns:a16="http://schemas.microsoft.com/office/drawing/2014/main" id="{15986ACC-171C-9E46-B502-00C5B348A602}"/>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80" name="テキスト プレースホルダー 27">
            <a:extLst>
              <a:ext uri="{FF2B5EF4-FFF2-40B4-BE49-F238E27FC236}">
                <a16:creationId xmlns:a16="http://schemas.microsoft.com/office/drawing/2014/main" id="{75F77A7C-A9E6-8C4C-804D-43070D3C59C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81" name="テキスト プレースホルダー 27">
            <a:extLst>
              <a:ext uri="{FF2B5EF4-FFF2-40B4-BE49-F238E27FC236}">
                <a16:creationId xmlns:a16="http://schemas.microsoft.com/office/drawing/2014/main" id="{A304272B-5B2B-754B-B569-2106622257E0}"/>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2" name="グループ化 81">
            <a:extLst>
              <a:ext uri="{FF2B5EF4-FFF2-40B4-BE49-F238E27FC236}">
                <a16:creationId xmlns:a16="http://schemas.microsoft.com/office/drawing/2014/main" id="{6E813CA5-7EB2-F74F-9EF0-F53C5CCB5B6C}"/>
              </a:ext>
            </a:extLst>
          </p:cNvPr>
          <p:cNvGrpSpPr/>
          <p:nvPr/>
        </p:nvGrpSpPr>
        <p:grpSpPr>
          <a:xfrm>
            <a:off x="617232" y="3408977"/>
            <a:ext cx="539448" cy="487368"/>
            <a:chOff x="400056" y="1061560"/>
            <a:chExt cx="269724" cy="243684"/>
          </a:xfrm>
        </p:grpSpPr>
        <p:sp>
          <p:nvSpPr>
            <p:cNvPr id="83" name="三角形 82">
              <a:extLst>
                <a:ext uri="{FF2B5EF4-FFF2-40B4-BE49-F238E27FC236}">
                  <a16:creationId xmlns:a16="http://schemas.microsoft.com/office/drawing/2014/main" id="{97790EB7-899D-594F-8C3D-4FEFE65D3DD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三角形 83">
              <a:extLst>
                <a:ext uri="{FF2B5EF4-FFF2-40B4-BE49-F238E27FC236}">
                  <a16:creationId xmlns:a16="http://schemas.microsoft.com/office/drawing/2014/main" id="{654FBC0E-248F-974F-929E-F7B96FBB043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5" name="三角形 84">
            <a:extLst>
              <a:ext uri="{FF2B5EF4-FFF2-40B4-BE49-F238E27FC236}">
                <a16:creationId xmlns:a16="http://schemas.microsoft.com/office/drawing/2014/main" id="{DD8A3EE3-9760-E040-9F60-6A745B8E6BF3}"/>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BE7EC345-3D90-0D48-A18C-C6A408936F8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7" name="三角形 86">
            <a:extLst>
              <a:ext uri="{FF2B5EF4-FFF2-40B4-BE49-F238E27FC236}">
                <a16:creationId xmlns:a16="http://schemas.microsoft.com/office/drawing/2014/main" id="{46338A84-6660-B948-8242-4C3617C401AD}"/>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1CBE7D7C-6E77-0340-83AA-196E34CBBE43}"/>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9" name="三角形 88">
            <a:extLst>
              <a:ext uri="{FF2B5EF4-FFF2-40B4-BE49-F238E27FC236}">
                <a16:creationId xmlns:a16="http://schemas.microsoft.com/office/drawing/2014/main" id="{E17BFE78-E02B-A14E-95C3-490E3755DA0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0" name="テキスト プレースホルダー 29">
            <a:extLst>
              <a:ext uri="{FF2B5EF4-FFF2-40B4-BE49-F238E27FC236}">
                <a16:creationId xmlns:a16="http://schemas.microsoft.com/office/drawing/2014/main" id="{EEB8CBD2-D4BF-7D4B-8554-E2CD60BD44F6}"/>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061680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7" name="グループ化 46">
            <a:extLst>
              <a:ext uri="{FF2B5EF4-FFF2-40B4-BE49-F238E27FC236}">
                <a16:creationId xmlns:a16="http://schemas.microsoft.com/office/drawing/2014/main" id="{7CD8775C-C767-9E45-94FC-F31293AAC335}"/>
              </a:ext>
            </a:extLst>
          </p:cNvPr>
          <p:cNvGrpSpPr/>
          <p:nvPr/>
        </p:nvGrpSpPr>
        <p:grpSpPr>
          <a:xfrm>
            <a:off x="289330" y="1413298"/>
            <a:ext cx="2160000" cy="934436"/>
            <a:chOff x="144665" y="525617"/>
            <a:chExt cx="1080000" cy="467218"/>
          </a:xfrm>
        </p:grpSpPr>
        <p:sp>
          <p:nvSpPr>
            <p:cNvPr id="49" name="正方形/長方形 48">
              <a:extLst>
                <a:ext uri="{FF2B5EF4-FFF2-40B4-BE49-F238E27FC236}">
                  <a16:creationId xmlns:a16="http://schemas.microsoft.com/office/drawing/2014/main" id="{A313E728-4CE8-F049-9F73-E1E18035545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2BE87D79-9ACF-274C-AC57-C665A3B00802}"/>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62B2B805-569E-4F44-9F5A-7F78B414EBC2}"/>
              </a:ext>
            </a:extLst>
          </p:cNvPr>
          <p:cNvGrpSpPr/>
          <p:nvPr/>
        </p:nvGrpSpPr>
        <p:grpSpPr>
          <a:xfrm>
            <a:off x="617232" y="2557358"/>
            <a:ext cx="539448" cy="487368"/>
            <a:chOff x="400056" y="1061560"/>
            <a:chExt cx="269724" cy="243684"/>
          </a:xfrm>
        </p:grpSpPr>
        <p:sp>
          <p:nvSpPr>
            <p:cNvPr id="58" name="三角形 57">
              <a:extLst>
                <a:ext uri="{FF2B5EF4-FFF2-40B4-BE49-F238E27FC236}">
                  <a16:creationId xmlns:a16="http://schemas.microsoft.com/office/drawing/2014/main" id="{652DFE10-AF84-5443-A2A8-C888A09DA3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2488103C-5DCF-CE48-9D9A-8DE63F712DE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3" name="テキスト プレースホルダー 30">
            <a:extLst>
              <a:ext uri="{FF2B5EF4-FFF2-40B4-BE49-F238E27FC236}">
                <a16:creationId xmlns:a16="http://schemas.microsoft.com/office/drawing/2014/main" id="{FF2658AD-50C5-B445-B69B-2E9713CA133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4" name="テキスト プレースホルダー 27">
            <a:extLst>
              <a:ext uri="{FF2B5EF4-FFF2-40B4-BE49-F238E27FC236}">
                <a16:creationId xmlns:a16="http://schemas.microsoft.com/office/drawing/2014/main" id="{03364163-0BB2-AC4F-B09F-3E71E96FB1F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5" name="テキスト プレースホルダー 27">
            <a:extLst>
              <a:ext uri="{FF2B5EF4-FFF2-40B4-BE49-F238E27FC236}">
                <a16:creationId xmlns:a16="http://schemas.microsoft.com/office/drawing/2014/main" id="{8C8B172C-DF5D-484E-8405-08144B62E36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6" name="グループ化 75">
            <a:extLst>
              <a:ext uri="{FF2B5EF4-FFF2-40B4-BE49-F238E27FC236}">
                <a16:creationId xmlns:a16="http://schemas.microsoft.com/office/drawing/2014/main" id="{819C787D-B881-2B4B-84DD-4379C999EB11}"/>
              </a:ext>
            </a:extLst>
          </p:cNvPr>
          <p:cNvGrpSpPr/>
          <p:nvPr/>
        </p:nvGrpSpPr>
        <p:grpSpPr>
          <a:xfrm>
            <a:off x="617232" y="3408977"/>
            <a:ext cx="539448" cy="487368"/>
            <a:chOff x="400056" y="1061560"/>
            <a:chExt cx="269724" cy="243684"/>
          </a:xfrm>
        </p:grpSpPr>
        <p:sp>
          <p:nvSpPr>
            <p:cNvPr id="80" name="三角形 79">
              <a:extLst>
                <a:ext uri="{FF2B5EF4-FFF2-40B4-BE49-F238E27FC236}">
                  <a16:creationId xmlns:a16="http://schemas.microsoft.com/office/drawing/2014/main" id="{80986109-58DA-EE4E-A49D-73C97E87C20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三角形 80">
              <a:extLst>
                <a:ext uri="{FF2B5EF4-FFF2-40B4-BE49-F238E27FC236}">
                  <a16:creationId xmlns:a16="http://schemas.microsoft.com/office/drawing/2014/main" id="{0C026213-0563-6B43-8AFE-C4118C70E41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2" name="三角形 81">
            <a:extLst>
              <a:ext uri="{FF2B5EF4-FFF2-40B4-BE49-F238E27FC236}">
                <a16:creationId xmlns:a16="http://schemas.microsoft.com/office/drawing/2014/main" id="{1CCA1C68-C03B-A84E-93D5-F2BA4C5E2FD7}"/>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71F83367-C7BD-A143-91AD-2FB0397ABD35}"/>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4" name="三角形 83">
            <a:extLst>
              <a:ext uri="{FF2B5EF4-FFF2-40B4-BE49-F238E27FC236}">
                <a16:creationId xmlns:a16="http://schemas.microsoft.com/office/drawing/2014/main" id="{A437E9DB-7320-AE4C-9A64-64820BF883F6}"/>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54406D36-9648-D142-94BB-F0487BB18AE2}"/>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三角形 85">
            <a:extLst>
              <a:ext uri="{FF2B5EF4-FFF2-40B4-BE49-F238E27FC236}">
                <a16:creationId xmlns:a16="http://schemas.microsoft.com/office/drawing/2014/main" id="{CD5D06BE-FD8E-2B43-88A9-B96BA637971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D05DC6B0-2E21-EF43-88ED-175D5013B8AC}"/>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4258514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わたしも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5" name="グループ化 44">
            <a:extLst>
              <a:ext uri="{FF2B5EF4-FFF2-40B4-BE49-F238E27FC236}">
                <a16:creationId xmlns:a16="http://schemas.microsoft.com/office/drawing/2014/main" id="{AF486190-A1E0-624F-AA04-D7AF2EDBAFB2}"/>
              </a:ext>
            </a:extLst>
          </p:cNvPr>
          <p:cNvGrpSpPr/>
          <p:nvPr/>
        </p:nvGrpSpPr>
        <p:grpSpPr>
          <a:xfrm>
            <a:off x="289330" y="1413298"/>
            <a:ext cx="2160000" cy="934436"/>
            <a:chOff x="144665" y="525617"/>
            <a:chExt cx="1080000" cy="467218"/>
          </a:xfrm>
        </p:grpSpPr>
        <p:sp>
          <p:nvSpPr>
            <p:cNvPr id="46" name="正方形/長方形 45">
              <a:extLst>
                <a:ext uri="{FF2B5EF4-FFF2-40B4-BE49-F238E27FC236}">
                  <a16:creationId xmlns:a16="http://schemas.microsoft.com/office/drawing/2014/main" id="{53A56332-FB64-3840-B774-ACD9BF2666C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9B4F0EF0-9617-514A-98BE-DE858B331B3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8" name="グループ化 57">
            <a:extLst>
              <a:ext uri="{FF2B5EF4-FFF2-40B4-BE49-F238E27FC236}">
                <a16:creationId xmlns:a16="http://schemas.microsoft.com/office/drawing/2014/main" id="{AB5ED2BD-67FE-D142-946E-1BDFA9A61CD2}"/>
              </a:ext>
            </a:extLst>
          </p:cNvPr>
          <p:cNvGrpSpPr/>
          <p:nvPr/>
        </p:nvGrpSpPr>
        <p:grpSpPr>
          <a:xfrm>
            <a:off x="617232" y="2557358"/>
            <a:ext cx="539448" cy="487368"/>
            <a:chOff x="400056" y="1061560"/>
            <a:chExt cx="269724" cy="243684"/>
          </a:xfrm>
        </p:grpSpPr>
        <p:sp>
          <p:nvSpPr>
            <p:cNvPr id="66" name="三角形 65">
              <a:extLst>
                <a:ext uri="{FF2B5EF4-FFF2-40B4-BE49-F238E27FC236}">
                  <a16:creationId xmlns:a16="http://schemas.microsoft.com/office/drawing/2014/main" id="{421BE9E9-C7FE-214F-956B-5D7038C9907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三角形 67">
              <a:extLst>
                <a:ext uri="{FF2B5EF4-FFF2-40B4-BE49-F238E27FC236}">
                  <a16:creationId xmlns:a16="http://schemas.microsoft.com/office/drawing/2014/main" id="{64D8F7B2-2362-C842-88A8-79002A04F91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FFB76449-EAFC-D34B-87B7-A038B72CC95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E4B7B84C-946A-C441-B897-98B5E81CC8EB}"/>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4" name="テキスト プレースホルダー 27">
            <a:extLst>
              <a:ext uri="{FF2B5EF4-FFF2-40B4-BE49-F238E27FC236}">
                <a16:creationId xmlns:a16="http://schemas.microsoft.com/office/drawing/2014/main" id="{9B805498-8191-C648-8FF5-BA5D970250FB}"/>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5" name="グループ化 74">
            <a:extLst>
              <a:ext uri="{FF2B5EF4-FFF2-40B4-BE49-F238E27FC236}">
                <a16:creationId xmlns:a16="http://schemas.microsoft.com/office/drawing/2014/main" id="{94FD31B4-A900-2441-AEEF-1A191CDD7907}"/>
              </a:ext>
            </a:extLst>
          </p:cNvPr>
          <p:cNvGrpSpPr/>
          <p:nvPr/>
        </p:nvGrpSpPr>
        <p:grpSpPr>
          <a:xfrm>
            <a:off x="617232" y="3408977"/>
            <a:ext cx="539448" cy="487368"/>
            <a:chOff x="400056" y="1061560"/>
            <a:chExt cx="269724" cy="243684"/>
          </a:xfrm>
        </p:grpSpPr>
        <p:sp>
          <p:nvSpPr>
            <p:cNvPr id="76" name="三角形 75">
              <a:extLst>
                <a:ext uri="{FF2B5EF4-FFF2-40B4-BE49-F238E27FC236}">
                  <a16:creationId xmlns:a16="http://schemas.microsoft.com/office/drawing/2014/main" id="{AF4DFFB0-5C71-7644-91CC-F3AB7A22181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三角形 76">
              <a:extLst>
                <a:ext uri="{FF2B5EF4-FFF2-40B4-BE49-F238E27FC236}">
                  <a16:creationId xmlns:a16="http://schemas.microsoft.com/office/drawing/2014/main" id="{7B277B97-CD03-9344-B790-DA5451611EE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8" name="三角形 77">
            <a:extLst>
              <a:ext uri="{FF2B5EF4-FFF2-40B4-BE49-F238E27FC236}">
                <a16:creationId xmlns:a16="http://schemas.microsoft.com/office/drawing/2014/main" id="{838B9343-2FDC-4147-A8B8-2F12BC3CF0B4}"/>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テキスト プレースホルダー 29">
            <a:extLst>
              <a:ext uri="{FF2B5EF4-FFF2-40B4-BE49-F238E27FC236}">
                <a16:creationId xmlns:a16="http://schemas.microsoft.com/office/drawing/2014/main" id="{724F87ED-07F3-5045-9346-9F6632B7123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0" name="三角形 79">
            <a:extLst>
              <a:ext uri="{FF2B5EF4-FFF2-40B4-BE49-F238E27FC236}">
                <a16:creationId xmlns:a16="http://schemas.microsoft.com/office/drawing/2014/main" id="{50DF1F51-2062-D84A-9F50-0BB92A2E9DF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テキスト プレースホルダー 29">
            <a:extLst>
              <a:ext uri="{FF2B5EF4-FFF2-40B4-BE49-F238E27FC236}">
                <a16:creationId xmlns:a16="http://schemas.microsoft.com/office/drawing/2014/main" id="{36DACA61-0200-C04F-994A-37BE121B9FE7}"/>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2" name="三角形 81">
            <a:extLst>
              <a:ext uri="{FF2B5EF4-FFF2-40B4-BE49-F238E27FC236}">
                <a16:creationId xmlns:a16="http://schemas.microsoft.com/office/drawing/2014/main" id="{3BF7FB60-152B-F541-8D05-CD7D885C60E2}"/>
              </a:ext>
            </a:extLst>
          </p:cNvPr>
          <p:cNvSpPr/>
          <p:nvPr/>
        </p:nvSpPr>
        <p:spPr>
          <a:xfrm rot="5400000">
            <a:off x="1064310" y="566565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4094E98C-F84C-E944-BB87-8C240EA8E55F}"/>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921223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951569" y="7347664"/>
            <a:ext cx="6638892" cy="184919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dirty="0"/>
              <a:t>分経過</a:t>
            </a:r>
            <a:r>
              <a:rPr lang="en-US" altLang="ja-JP" dirty="0"/>
              <a:t> or </a:t>
            </a:r>
            <a:r>
              <a:rPr lang="ja-JP" altLang="en-US" dirty="0"/>
              <a:t>両者が</a:t>
            </a:r>
            <a:r>
              <a:rPr lang="en-US" altLang="ja-JP" dirty="0"/>
              <a:t>Accept</a:t>
            </a:r>
          </a:p>
          <a:p>
            <a:pPr algn="ctr"/>
            <a:r>
              <a:rPr lang="ja-JP" altLang="en-US" dirty="0"/>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交渉内容</a:t>
            </a:r>
          </a:p>
        </p:txBody>
      </p:sp>
      <p:graphicFrame>
        <p:nvGraphicFramePr>
          <p:cNvPr id="7" name="表 6">
            <a:extLst>
              <a:ext uri="{FF2B5EF4-FFF2-40B4-BE49-F238E27FC236}">
                <a16:creationId xmlns:a16="http://schemas.microsoft.com/office/drawing/2014/main" id="{78E44B1C-73BE-7541-A566-A49CFEE1F5EC}"/>
              </a:ext>
            </a:extLst>
          </p:cNvPr>
          <p:cNvGraphicFramePr>
            <a:graphicFrameLocks noGrp="1"/>
          </p:cNvGraphicFramePr>
          <p:nvPr>
            <p:extLst>
              <p:ext uri="{D42A27DB-BD31-4B8C-83A1-F6EECF244321}">
                <p14:modId xmlns:p14="http://schemas.microsoft.com/office/powerpoint/2010/main" val="2990923139"/>
              </p:ext>
            </p:extLst>
          </p:nvPr>
        </p:nvGraphicFramePr>
        <p:xfrm>
          <a:off x="3061066" y="10808714"/>
          <a:ext cx="12165869" cy="1920240"/>
        </p:xfrm>
        <a:graphic>
          <a:graphicData uri="http://schemas.openxmlformats.org/drawingml/2006/table">
            <a:tbl>
              <a:tblPr firstRow="1" bandRow="1">
                <a:tableStyleId>{5C22544A-7EE6-4342-B048-85BDC9FD1C3A}</a:tableStyleId>
              </a:tblPr>
              <a:tblGrid>
                <a:gridCol w="2085869">
                  <a:extLst>
                    <a:ext uri="{9D8B030D-6E8A-4147-A177-3AD203B41FA5}">
                      <a16:colId xmlns:a16="http://schemas.microsoft.com/office/drawing/2014/main" val="4249962592"/>
                    </a:ext>
                  </a:extLst>
                </a:gridCol>
                <a:gridCol w="2520000">
                  <a:extLst>
                    <a:ext uri="{9D8B030D-6E8A-4147-A177-3AD203B41FA5}">
                      <a16:colId xmlns:a16="http://schemas.microsoft.com/office/drawing/2014/main" val="2784172759"/>
                    </a:ext>
                  </a:extLst>
                </a:gridCol>
                <a:gridCol w="2520000">
                  <a:extLst>
                    <a:ext uri="{9D8B030D-6E8A-4147-A177-3AD203B41FA5}">
                      <a16:colId xmlns:a16="http://schemas.microsoft.com/office/drawing/2014/main" val="2945936030"/>
                    </a:ext>
                  </a:extLst>
                </a:gridCol>
                <a:gridCol w="2520000">
                  <a:extLst>
                    <a:ext uri="{9D8B030D-6E8A-4147-A177-3AD203B41FA5}">
                      <a16:colId xmlns:a16="http://schemas.microsoft.com/office/drawing/2014/main" val="3851264986"/>
                    </a:ext>
                  </a:extLst>
                </a:gridCol>
                <a:gridCol w="2520000">
                  <a:extLst>
                    <a:ext uri="{9D8B030D-6E8A-4147-A177-3AD203B41FA5}">
                      <a16:colId xmlns:a16="http://schemas.microsoft.com/office/drawing/2014/main" val="3925575652"/>
                    </a:ext>
                  </a:extLst>
                </a:gridCol>
              </a:tblGrid>
              <a:tr h="370840">
                <a:tc>
                  <a:txBody>
                    <a:bodyPr/>
                    <a:lstStyle/>
                    <a:p>
                      <a:endParaRPr kumimoji="1" lang="ja-JP" altLang="en-US"/>
                    </a:p>
                  </a:txBody>
                  <a:tcPr/>
                </a:tc>
                <a:tc>
                  <a:txBody>
                    <a:bodyPr/>
                    <a:lstStyle/>
                    <a:p>
                      <a:r>
                        <a:rPr kumimoji="1" lang="en-US" altLang="ja-JP" dirty="0"/>
                        <a:t>Spice</a:t>
                      </a:r>
                      <a:endParaRPr kumimoji="1" lang="ja-JP" altLang="en-US"/>
                    </a:p>
                  </a:txBody>
                  <a:tcPr/>
                </a:tc>
                <a:tc>
                  <a:txBody>
                    <a:bodyPr/>
                    <a:lstStyle/>
                    <a:p>
                      <a:r>
                        <a:rPr kumimoji="1" lang="en-US" altLang="ja-JP" dirty="0"/>
                        <a:t>Banana</a:t>
                      </a:r>
                      <a:endParaRPr kumimoji="1" lang="ja-JP" altLang="en-US"/>
                    </a:p>
                  </a:txBody>
                  <a:tcPr/>
                </a:tc>
                <a:tc>
                  <a:txBody>
                    <a:bodyPr/>
                    <a:lstStyle/>
                    <a:p>
                      <a:r>
                        <a:rPr kumimoji="1" lang="en-US" altLang="ja-JP" dirty="0"/>
                        <a:t>Gold</a:t>
                      </a:r>
                      <a:endParaRPr kumimoji="1" lang="ja-JP" altLang="en-US"/>
                    </a:p>
                  </a:txBody>
                  <a:tcPr/>
                </a:tc>
                <a:tc>
                  <a:txBody>
                    <a:bodyPr/>
                    <a:lstStyle/>
                    <a:p>
                      <a:r>
                        <a:rPr kumimoji="1" lang="en-US" altLang="ja-JP" dirty="0"/>
                        <a:t>Iron</a:t>
                      </a:r>
                      <a:endParaRPr kumimoji="1" lang="ja-JP" altLang="en-US"/>
                    </a:p>
                  </a:txBody>
                  <a:tcPr/>
                </a:tc>
                <a:extLst>
                  <a:ext uri="{0D108BD9-81ED-4DB2-BD59-A6C34878D82A}">
                    <a16:rowId xmlns:a16="http://schemas.microsoft.com/office/drawing/2014/main" val="3999418044"/>
                  </a:ext>
                </a:extLst>
              </a:tr>
              <a:tr h="370840">
                <a:tc>
                  <a:txBody>
                    <a:bodyPr/>
                    <a:lstStyle/>
                    <a:p>
                      <a:r>
                        <a:rPr kumimoji="1" lang="en-US" altLang="ja-JP" dirty="0"/>
                        <a:t>human</a:t>
                      </a:r>
                      <a:endParaRPr kumimoji="1" lang="ja-JP" altLang="en-US"/>
                    </a:p>
                  </a:txBody>
                  <a:tcPr/>
                </a:tc>
                <a:tc>
                  <a:txBody>
                    <a:bodyPr/>
                    <a:lstStyle/>
                    <a:p>
                      <a:r>
                        <a:rPr kumimoji="1" lang="en-US" altLang="ja-JP" dirty="0"/>
                        <a:t>4</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1</a:t>
                      </a:r>
                      <a:endParaRPr kumimoji="1" lang="ja-JP" altLang="en-US"/>
                    </a:p>
                  </a:txBody>
                  <a:tcPr/>
                </a:tc>
                <a:extLst>
                  <a:ext uri="{0D108BD9-81ED-4DB2-BD59-A6C34878D82A}">
                    <a16:rowId xmlns:a16="http://schemas.microsoft.com/office/drawing/2014/main" val="3871592815"/>
                  </a:ext>
                </a:extLst>
              </a:tr>
              <a:tr h="370840">
                <a:tc>
                  <a:txBody>
                    <a:bodyPr/>
                    <a:lstStyle/>
                    <a:p>
                      <a:r>
                        <a:rPr kumimoji="1" lang="en-US" altLang="ja-JP" dirty="0"/>
                        <a:t>agent</a:t>
                      </a:r>
                      <a:endParaRPr kumimoji="1" lang="ja-JP" altLang="en-US"/>
                    </a:p>
                  </a:txBody>
                  <a:tcPr/>
                </a:tc>
                <a:tc>
                  <a:txBody>
                    <a:bodyPr/>
                    <a:lstStyle/>
                    <a:p>
                      <a:r>
                        <a:rPr kumimoji="1" lang="en-US" altLang="ja-JP" dirty="0"/>
                        <a:t>1</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4</a:t>
                      </a:r>
                      <a:endParaRPr kumimoji="1" lang="ja-JP" altLang="en-US"/>
                    </a:p>
                  </a:txBody>
                  <a:tcPr/>
                </a:tc>
                <a:extLst>
                  <a:ext uri="{0D108BD9-81ED-4DB2-BD59-A6C34878D82A}">
                    <a16:rowId xmlns:a16="http://schemas.microsoft.com/office/drawing/2014/main" val="1239973184"/>
                  </a:ext>
                </a:extLst>
              </a:tr>
            </a:tbl>
          </a:graphicData>
        </a:graphic>
      </p:graphicFrame>
      <p:grpSp>
        <p:nvGrpSpPr>
          <p:cNvPr id="42" name="グループ化 41">
            <a:extLst>
              <a:ext uri="{FF2B5EF4-FFF2-40B4-BE49-F238E27FC236}">
                <a16:creationId xmlns:a16="http://schemas.microsoft.com/office/drawing/2014/main" id="{B8B36512-8D7E-7244-836F-6E5C2A03A972}"/>
              </a:ext>
            </a:extLst>
          </p:cNvPr>
          <p:cNvGrpSpPr/>
          <p:nvPr/>
        </p:nvGrpSpPr>
        <p:grpSpPr>
          <a:xfrm>
            <a:off x="617232" y="2557358"/>
            <a:ext cx="539448" cy="487368"/>
            <a:chOff x="400056" y="1061560"/>
            <a:chExt cx="269724" cy="243684"/>
          </a:xfrm>
        </p:grpSpPr>
        <p:sp>
          <p:nvSpPr>
            <p:cNvPr id="43" name="三角形 42">
              <a:extLst>
                <a:ext uri="{FF2B5EF4-FFF2-40B4-BE49-F238E27FC236}">
                  <a16:creationId xmlns:a16="http://schemas.microsoft.com/office/drawing/2014/main" id="{8B0C4883-78B3-5A48-9530-36E1A6C3C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三角形 43">
              <a:extLst>
                <a:ext uri="{FF2B5EF4-FFF2-40B4-BE49-F238E27FC236}">
                  <a16:creationId xmlns:a16="http://schemas.microsoft.com/office/drawing/2014/main" id="{9164DA6D-58EE-A240-9F01-D474A42F1B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5" name="テキスト プレースホルダー 27">
            <a:extLst>
              <a:ext uri="{FF2B5EF4-FFF2-40B4-BE49-F238E27FC236}">
                <a16:creationId xmlns:a16="http://schemas.microsoft.com/office/drawing/2014/main" id="{3F027FC9-22EB-5449-A6CC-CE3297F20F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種計</a:t>
            </a:r>
            <a:r>
              <a:rPr lang="en-US" altLang="ja-JP" dirty="0"/>
              <a:t>20</a:t>
            </a:r>
            <a:r>
              <a:rPr lang="ja-JP" altLang="en-US"/>
              <a:t>個のアイテムをそれぞれのプレイヤーに分配</a:t>
            </a:r>
            <a:endParaRPr lang="en-US" altLang="ja-JP" dirty="0"/>
          </a:p>
        </p:txBody>
      </p:sp>
      <p:grpSp>
        <p:nvGrpSpPr>
          <p:cNvPr id="54" name="グループ化 53">
            <a:extLst>
              <a:ext uri="{FF2B5EF4-FFF2-40B4-BE49-F238E27FC236}">
                <a16:creationId xmlns:a16="http://schemas.microsoft.com/office/drawing/2014/main" id="{284FD64E-190F-EE43-B11F-62F990B428A1}"/>
              </a:ext>
            </a:extLst>
          </p:cNvPr>
          <p:cNvGrpSpPr/>
          <p:nvPr/>
        </p:nvGrpSpPr>
        <p:grpSpPr>
          <a:xfrm>
            <a:off x="617232" y="5131774"/>
            <a:ext cx="539448" cy="487368"/>
            <a:chOff x="400056" y="1061560"/>
            <a:chExt cx="269724" cy="243684"/>
          </a:xfrm>
        </p:grpSpPr>
        <p:sp>
          <p:nvSpPr>
            <p:cNvPr id="55" name="三角形 54">
              <a:extLst>
                <a:ext uri="{FF2B5EF4-FFF2-40B4-BE49-F238E27FC236}">
                  <a16:creationId xmlns:a16="http://schemas.microsoft.com/office/drawing/2014/main" id="{B9378480-F0AE-1544-8447-94876CF416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E6A5331B-708E-8746-AFFC-931E41CAAA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7" name="テキスト プレースホルダー 27">
            <a:extLst>
              <a:ext uri="{FF2B5EF4-FFF2-40B4-BE49-F238E27FC236}">
                <a16:creationId xmlns:a16="http://schemas.microsoft.com/office/drawing/2014/main" id="{93A7F070-B3F8-BC4F-B899-217319AE2039}"/>
              </a:ext>
            </a:extLst>
          </p:cNvPr>
          <p:cNvSpPr txBox="1">
            <a:spLocks/>
          </p:cNvSpPr>
          <p:nvPr/>
        </p:nvSpPr>
        <p:spPr>
          <a:xfrm>
            <a:off x="1254486" y="50591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相手の各アイテムに対する価値・</a:t>
            </a:r>
            <a:r>
              <a:rPr lang="en-US" altLang="ja-JP" dirty="0"/>
              <a:t>BATNA</a:t>
            </a:r>
            <a:r>
              <a:rPr lang="ja-JP" altLang="en-US"/>
              <a:t>はわからない</a:t>
            </a:r>
            <a:endParaRPr lang="en-US" altLang="ja-JP" dirty="0"/>
          </a:p>
        </p:txBody>
      </p:sp>
      <p:sp>
        <p:nvSpPr>
          <p:cNvPr id="58" name="角丸四角形吹き出し 57">
            <a:extLst>
              <a:ext uri="{FF2B5EF4-FFF2-40B4-BE49-F238E27FC236}">
                <a16:creationId xmlns:a16="http://schemas.microsoft.com/office/drawing/2014/main" id="{DD7A587B-2C62-374A-9553-635D6897BE18}"/>
              </a:ext>
            </a:extLst>
          </p:cNvPr>
          <p:cNvSpPr/>
          <p:nvPr/>
        </p:nvSpPr>
        <p:spPr>
          <a:xfrm>
            <a:off x="5394227" y="6313343"/>
            <a:ext cx="6035356" cy="1849196"/>
          </a:xfrm>
          <a:prstGeom prst="wedgeRoundRectCallout">
            <a:avLst>
              <a:gd name="adj1" fmla="val 43412"/>
              <a:gd name="adj2" fmla="val -77091"/>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交渉が決裂した場合の</a:t>
            </a:r>
            <a:endParaRPr lang="en-US" altLang="ja-JP" dirty="0"/>
          </a:p>
          <a:p>
            <a:pPr algn="ctr"/>
            <a:r>
              <a:rPr lang="ja-JP" altLang="en-US"/>
              <a:t>対処策として最も良い案</a:t>
            </a:r>
            <a:endParaRPr lang="en-US" altLang="ja-JP" dirty="0"/>
          </a:p>
        </p:txBody>
      </p:sp>
      <p:sp>
        <p:nvSpPr>
          <p:cNvPr id="62" name="三角形 61">
            <a:extLst>
              <a:ext uri="{FF2B5EF4-FFF2-40B4-BE49-F238E27FC236}">
                <a16:creationId xmlns:a16="http://schemas.microsoft.com/office/drawing/2014/main" id="{D0373C42-343B-ED47-9B4A-B64D64DC922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3" name="テキスト プレースホルダー 29">
            <a:extLst>
              <a:ext uri="{FF2B5EF4-FFF2-40B4-BE49-F238E27FC236}">
                <a16:creationId xmlns:a16="http://schemas.microsoft.com/office/drawing/2014/main" id="{980E51A5-7DEA-5841-A807-C882CA7432E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統合的交渉</a:t>
            </a:r>
            <a:endParaRPr lang="ja-JP" altLang="en-US"/>
          </a:p>
        </p:txBody>
      </p:sp>
      <p:sp>
        <p:nvSpPr>
          <p:cNvPr id="64" name="テキスト プレースホルダー 27">
            <a:extLst>
              <a:ext uri="{FF2B5EF4-FFF2-40B4-BE49-F238E27FC236}">
                <a16:creationId xmlns:a16="http://schemas.microsoft.com/office/drawing/2014/main" id="{0E816883-5012-6E45-858F-1DB7F2237F3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合意に達しなかった場合</a:t>
            </a:r>
            <a:r>
              <a:rPr lang="en-US" altLang="ja-JP" dirty="0"/>
              <a:t>BATNA</a:t>
            </a:r>
            <a:r>
              <a:rPr lang="ja-JP" altLang="en-US"/>
              <a:t>として両者に</a:t>
            </a:r>
            <a:r>
              <a:rPr lang="en-US" altLang="ja-JP" dirty="0"/>
              <a:t>4</a:t>
            </a:r>
            <a:r>
              <a:rPr lang="ja-JP" altLang="en-US"/>
              <a:t>点与えられる</a:t>
            </a:r>
            <a:endParaRPr lang="en-US" altLang="ja-JP" dirty="0"/>
          </a:p>
        </p:txBody>
      </p:sp>
      <p:grpSp>
        <p:nvGrpSpPr>
          <p:cNvPr id="65" name="グループ化 64">
            <a:extLst>
              <a:ext uri="{FF2B5EF4-FFF2-40B4-BE49-F238E27FC236}">
                <a16:creationId xmlns:a16="http://schemas.microsoft.com/office/drawing/2014/main" id="{B307B42A-4FC1-E84F-9DD9-0687B0AB310B}"/>
              </a:ext>
            </a:extLst>
          </p:cNvPr>
          <p:cNvGrpSpPr/>
          <p:nvPr/>
        </p:nvGrpSpPr>
        <p:grpSpPr>
          <a:xfrm>
            <a:off x="617232" y="4223807"/>
            <a:ext cx="539448" cy="487368"/>
            <a:chOff x="400056" y="1061560"/>
            <a:chExt cx="269724" cy="243684"/>
          </a:xfrm>
        </p:grpSpPr>
        <p:sp>
          <p:nvSpPr>
            <p:cNvPr id="73" name="三角形 72">
              <a:extLst>
                <a:ext uri="{FF2B5EF4-FFF2-40B4-BE49-F238E27FC236}">
                  <a16:creationId xmlns:a16="http://schemas.microsoft.com/office/drawing/2014/main" id="{93A158AB-7FB8-824F-AC0F-E216F968A47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E8CA582B-330E-CC40-AD7D-146E7825032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6337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4"/>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5"/>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6"/>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216641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6707782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7" name="正方形/長方形 6">
            <a:extLst>
              <a:ext uri="{FF2B5EF4-FFF2-40B4-BE49-F238E27FC236}">
                <a16:creationId xmlns:a16="http://schemas.microsoft.com/office/drawing/2014/main" id="{91E91C97-B2E9-4652-A545-F30C4BB54491}"/>
              </a:ext>
            </a:extLst>
          </p:cNvPr>
          <p:cNvSpPr/>
          <p:nvPr/>
        </p:nvSpPr>
        <p:spPr>
          <a:xfrm>
            <a:off x="12323276" y="8621147"/>
            <a:ext cx="403758" cy="417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229C445A-1A1A-4CCD-BE7D-D84EDE318370}"/>
              </a:ext>
            </a:extLst>
          </p:cNvPr>
          <p:cNvSpPr/>
          <p:nvPr/>
        </p:nvSpPr>
        <p:spPr>
          <a:xfrm>
            <a:off x="10454265" y="9879332"/>
            <a:ext cx="403758" cy="29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ED5ABC26-0241-4139-8FB3-B76BB9F56862}"/>
              </a:ext>
            </a:extLst>
          </p:cNvPr>
          <p:cNvSpPr/>
          <p:nvPr/>
        </p:nvSpPr>
        <p:spPr>
          <a:xfrm>
            <a:off x="6692173" y="10339684"/>
            <a:ext cx="403758" cy="2484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9" name="正方形/長方形 38">
            <a:extLst>
              <a:ext uri="{FF2B5EF4-FFF2-40B4-BE49-F238E27FC236}">
                <a16:creationId xmlns:a16="http://schemas.microsoft.com/office/drawing/2014/main" id="{F061D847-4599-4EF3-BE16-DC7A4E943587}"/>
              </a:ext>
            </a:extLst>
          </p:cNvPr>
          <p:cNvSpPr/>
          <p:nvPr/>
        </p:nvSpPr>
        <p:spPr>
          <a:xfrm>
            <a:off x="8564768" y="10655982"/>
            <a:ext cx="403758"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5390729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=15.361,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34" name="正方形/長方形 33">
            <a:extLst>
              <a:ext uri="{FF2B5EF4-FFF2-40B4-BE49-F238E27FC236}">
                <a16:creationId xmlns:a16="http://schemas.microsoft.com/office/drawing/2014/main" id="{63CA5F0B-CE86-4786-AA0F-7F9F84588DAC}"/>
              </a:ext>
            </a:extLst>
          </p:cNvPr>
          <p:cNvSpPr/>
          <p:nvPr/>
        </p:nvSpPr>
        <p:spPr>
          <a:xfrm>
            <a:off x="11908610" y="11094982"/>
            <a:ext cx="403758" cy="169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5" name="正方形/長方形 34">
            <a:extLst>
              <a:ext uri="{FF2B5EF4-FFF2-40B4-BE49-F238E27FC236}">
                <a16:creationId xmlns:a16="http://schemas.microsoft.com/office/drawing/2014/main" id="{CEA3D4F5-53F4-459C-A684-293B3D21C4BE}"/>
              </a:ext>
            </a:extLst>
          </p:cNvPr>
          <p:cNvSpPr/>
          <p:nvPr/>
        </p:nvSpPr>
        <p:spPr>
          <a:xfrm>
            <a:off x="10028966" y="11880996"/>
            <a:ext cx="403758" cy="93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A3042F48-A336-4992-AC4C-0AC09FFB771B}"/>
              </a:ext>
            </a:extLst>
          </p:cNvPr>
          <p:cNvSpPr/>
          <p:nvPr/>
        </p:nvSpPr>
        <p:spPr>
          <a:xfrm>
            <a:off x="6266874" y="12038508"/>
            <a:ext cx="403758" cy="7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780AA106-F438-4526-8468-3F17C3EBFAE1}"/>
              </a:ext>
            </a:extLst>
          </p:cNvPr>
          <p:cNvSpPr/>
          <p:nvPr/>
        </p:nvSpPr>
        <p:spPr>
          <a:xfrm>
            <a:off x="8150102" y="12223369"/>
            <a:ext cx="403758" cy="57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922635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26" name="正方形/長方形 25">
            <a:extLst>
              <a:ext uri="{FF2B5EF4-FFF2-40B4-BE49-F238E27FC236}">
                <a16:creationId xmlns:a16="http://schemas.microsoft.com/office/drawing/2014/main" id="{A22AB04F-6CF8-413A-8744-3E2A708E45EE}"/>
              </a:ext>
            </a:extLst>
          </p:cNvPr>
          <p:cNvSpPr/>
          <p:nvPr/>
        </p:nvSpPr>
        <p:spPr>
          <a:xfrm>
            <a:off x="12748589" y="11921522"/>
            <a:ext cx="403758" cy="8682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8" name="正方形/長方形 27">
            <a:extLst>
              <a:ext uri="{FF2B5EF4-FFF2-40B4-BE49-F238E27FC236}">
                <a16:creationId xmlns:a16="http://schemas.microsoft.com/office/drawing/2014/main" id="{A4A2832E-317E-411C-B7B3-2DFD1BD89F60}"/>
              </a:ext>
            </a:extLst>
          </p:cNvPr>
          <p:cNvSpPr/>
          <p:nvPr/>
        </p:nvSpPr>
        <p:spPr>
          <a:xfrm>
            <a:off x="10868945" y="12353959"/>
            <a:ext cx="403758" cy="43665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9" name="正方形/長方形 28">
            <a:extLst>
              <a:ext uri="{FF2B5EF4-FFF2-40B4-BE49-F238E27FC236}">
                <a16:creationId xmlns:a16="http://schemas.microsoft.com/office/drawing/2014/main" id="{395A5D5F-F2E9-4A05-8F4C-6372B7A92918}"/>
              </a:ext>
            </a:extLst>
          </p:cNvPr>
          <p:cNvSpPr/>
          <p:nvPr/>
        </p:nvSpPr>
        <p:spPr>
          <a:xfrm>
            <a:off x="7106853" y="12403290"/>
            <a:ext cx="403758" cy="3879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0" name="正方形/長方形 29">
            <a:extLst>
              <a:ext uri="{FF2B5EF4-FFF2-40B4-BE49-F238E27FC236}">
                <a16:creationId xmlns:a16="http://schemas.microsoft.com/office/drawing/2014/main" id="{2E53BEAC-271C-4D48-9C12-2D0699BB9566}"/>
              </a:ext>
            </a:extLst>
          </p:cNvPr>
          <p:cNvSpPr/>
          <p:nvPr/>
        </p:nvSpPr>
        <p:spPr>
          <a:xfrm>
            <a:off x="8990081" y="12369417"/>
            <a:ext cx="403758" cy="43275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3464075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319855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173263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まとめ</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5</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エージェントの作成・実験を</a:t>
            </a:r>
            <a:r>
              <a:rPr lang="en-US" altLang="ja-JP" dirty="0"/>
              <a:t>IAGO</a:t>
            </a:r>
            <a:r>
              <a:rPr lang="ja-JP" altLang="en-US"/>
              <a:t>を用いて実行</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338069" y="5427240"/>
            <a:ext cx="9611862"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人間とエージェントの交渉でも効果が現れる</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3348000" y="9125019"/>
            <a:ext cx="11592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IAGO</a:t>
            </a:r>
            <a:r>
              <a:rPr lang="ja-JP" altLang="en-US"/>
              <a:t>がプラットフォームとして機能することを実証</a:t>
            </a:r>
            <a:endParaRPr lang="en-US" altLang="ja-JP" dirty="0"/>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867317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おわりに</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6</a:t>
            </a:r>
            <a:endParaRPr kumimoji="1" lang="ja-JP" altLang="en-US"/>
          </a:p>
        </p:txBody>
      </p:sp>
      <p:grpSp>
        <p:nvGrpSpPr>
          <p:cNvPr id="25" name="グループ化 24">
            <a:extLst>
              <a:ext uri="{FF2B5EF4-FFF2-40B4-BE49-F238E27FC236}">
                <a16:creationId xmlns:a16="http://schemas.microsoft.com/office/drawing/2014/main" id="{B04F10B0-4420-A646-A778-BE3FC4CFF73F}"/>
              </a:ext>
            </a:extLst>
          </p:cNvPr>
          <p:cNvGrpSpPr/>
          <p:nvPr/>
        </p:nvGrpSpPr>
        <p:grpSpPr>
          <a:xfrm>
            <a:off x="289330" y="1413298"/>
            <a:ext cx="2160000" cy="934436"/>
            <a:chOff x="144665" y="525617"/>
            <a:chExt cx="1080000" cy="467218"/>
          </a:xfrm>
        </p:grpSpPr>
        <p:sp>
          <p:nvSpPr>
            <p:cNvPr id="27" name="正方形/長方形 26">
              <a:extLst>
                <a:ext uri="{FF2B5EF4-FFF2-40B4-BE49-F238E27FC236}">
                  <a16:creationId xmlns:a16="http://schemas.microsoft.com/office/drawing/2014/main" id="{512CBFA0-DF25-0545-98A8-605386528408}"/>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1" name="正方形/長方形 30">
              <a:extLst>
                <a:ext uri="{FF2B5EF4-FFF2-40B4-BE49-F238E27FC236}">
                  <a16:creationId xmlns:a16="http://schemas.microsoft.com/office/drawing/2014/main" id="{7796CF9B-6698-C74F-95DD-839C3CC0263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2" name="グループ化 31">
            <a:extLst>
              <a:ext uri="{FF2B5EF4-FFF2-40B4-BE49-F238E27FC236}">
                <a16:creationId xmlns:a16="http://schemas.microsoft.com/office/drawing/2014/main" id="{52FE61B1-DD6D-0F47-A6F3-3C10C102A32D}"/>
              </a:ext>
            </a:extLst>
          </p:cNvPr>
          <p:cNvGrpSpPr/>
          <p:nvPr/>
        </p:nvGrpSpPr>
        <p:grpSpPr>
          <a:xfrm>
            <a:off x="617232" y="2557358"/>
            <a:ext cx="539448" cy="487368"/>
            <a:chOff x="400056" y="1061560"/>
            <a:chExt cx="269724" cy="243684"/>
          </a:xfrm>
        </p:grpSpPr>
        <p:sp>
          <p:nvSpPr>
            <p:cNvPr id="33" name="三角形 32">
              <a:extLst>
                <a:ext uri="{FF2B5EF4-FFF2-40B4-BE49-F238E27FC236}">
                  <a16:creationId xmlns:a16="http://schemas.microsoft.com/office/drawing/2014/main" id="{E4A7DB1A-871F-1548-8FFD-E7DDAE2337A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三角形 36">
              <a:extLst>
                <a:ext uri="{FF2B5EF4-FFF2-40B4-BE49-F238E27FC236}">
                  <a16:creationId xmlns:a16="http://schemas.microsoft.com/office/drawing/2014/main" id="{ACEF5680-18DF-0247-B440-DB23D975BE8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30">
            <a:extLst>
              <a:ext uri="{FF2B5EF4-FFF2-40B4-BE49-F238E27FC236}">
                <a16:creationId xmlns:a16="http://schemas.microsoft.com/office/drawing/2014/main" id="{708E0071-38DD-1147-AE9A-694BAF793C8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41" name="テキスト プレースホルダー 27">
            <a:extLst>
              <a:ext uri="{FF2B5EF4-FFF2-40B4-BE49-F238E27FC236}">
                <a16:creationId xmlns:a16="http://schemas.microsoft.com/office/drawing/2014/main" id="{BF1E480F-74E2-D94B-8B4E-CD62CD33D046}"/>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64" name="グループ化 63">
            <a:extLst>
              <a:ext uri="{FF2B5EF4-FFF2-40B4-BE49-F238E27FC236}">
                <a16:creationId xmlns:a16="http://schemas.microsoft.com/office/drawing/2014/main" id="{53F73D34-9AD6-1E44-8962-C4522111F1D7}"/>
              </a:ext>
            </a:extLst>
          </p:cNvPr>
          <p:cNvGrpSpPr/>
          <p:nvPr/>
        </p:nvGrpSpPr>
        <p:grpSpPr>
          <a:xfrm>
            <a:off x="284974" y="5099403"/>
            <a:ext cx="2160000" cy="934436"/>
            <a:chOff x="144665" y="525617"/>
            <a:chExt cx="1080000" cy="467218"/>
          </a:xfrm>
        </p:grpSpPr>
        <p:sp>
          <p:nvSpPr>
            <p:cNvPr id="65" name="正方形/長方形 64">
              <a:extLst>
                <a:ext uri="{FF2B5EF4-FFF2-40B4-BE49-F238E27FC236}">
                  <a16:creationId xmlns:a16="http://schemas.microsoft.com/office/drawing/2014/main" id="{423ACE73-D6BE-FB4D-B5B0-8A0403C7E39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6" name="正方形/長方形 65">
              <a:extLst>
                <a:ext uri="{FF2B5EF4-FFF2-40B4-BE49-F238E27FC236}">
                  <a16:creationId xmlns:a16="http://schemas.microsoft.com/office/drawing/2014/main" id="{5650C725-AA2A-1F45-85BF-F74775666E68}"/>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8" name="グループ化 67">
            <a:extLst>
              <a:ext uri="{FF2B5EF4-FFF2-40B4-BE49-F238E27FC236}">
                <a16:creationId xmlns:a16="http://schemas.microsoft.com/office/drawing/2014/main" id="{D125D6C1-82AC-8E4F-96D2-A4DA933AABD0}"/>
              </a:ext>
            </a:extLst>
          </p:cNvPr>
          <p:cNvGrpSpPr/>
          <p:nvPr/>
        </p:nvGrpSpPr>
        <p:grpSpPr>
          <a:xfrm>
            <a:off x="612876" y="6243463"/>
            <a:ext cx="539448" cy="487368"/>
            <a:chOff x="400056" y="1061560"/>
            <a:chExt cx="269724" cy="243684"/>
          </a:xfrm>
        </p:grpSpPr>
        <p:sp>
          <p:nvSpPr>
            <p:cNvPr id="70" name="三角形 69">
              <a:extLst>
                <a:ext uri="{FF2B5EF4-FFF2-40B4-BE49-F238E27FC236}">
                  <a16:creationId xmlns:a16="http://schemas.microsoft.com/office/drawing/2014/main" id="{E21F5F76-EF11-054E-ADCD-50BD0DA80BE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C1D945D-6EDB-EC4B-A8D9-B00166F1F8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03752849-2223-9343-B5D7-85FA60B451FC}"/>
              </a:ext>
            </a:extLst>
          </p:cNvPr>
          <p:cNvSpPr txBox="1">
            <a:spLocks/>
          </p:cNvSpPr>
          <p:nvPr/>
        </p:nvSpPr>
        <p:spPr>
          <a:xfrm>
            <a:off x="566693" y="526997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DC61D139-2312-3D48-9C35-68F0DD89C9E4}"/>
              </a:ext>
            </a:extLst>
          </p:cNvPr>
          <p:cNvSpPr txBox="1">
            <a:spLocks/>
          </p:cNvSpPr>
          <p:nvPr/>
        </p:nvSpPr>
        <p:spPr>
          <a:xfrm>
            <a:off x="1250130" y="617083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a:solidFill>
                  <a:schemeClr val="accent2"/>
                </a:solidFill>
              </a:rPr>
              <a:t>現れるか</a:t>
            </a:r>
            <a:r>
              <a:rPr lang="ja-JP" altLang="en-US"/>
              <a:t>調査</a:t>
            </a:r>
            <a:endParaRPr lang="en-US" altLang="ja-JP" dirty="0"/>
          </a:p>
        </p:txBody>
      </p:sp>
      <p:grpSp>
        <p:nvGrpSpPr>
          <p:cNvPr id="74" name="グループ化 73">
            <a:extLst>
              <a:ext uri="{FF2B5EF4-FFF2-40B4-BE49-F238E27FC236}">
                <a16:creationId xmlns:a16="http://schemas.microsoft.com/office/drawing/2014/main" id="{D55A6549-A452-B845-8F01-194660D88BB2}"/>
              </a:ext>
            </a:extLst>
          </p:cNvPr>
          <p:cNvGrpSpPr/>
          <p:nvPr/>
        </p:nvGrpSpPr>
        <p:grpSpPr>
          <a:xfrm>
            <a:off x="284974" y="7897472"/>
            <a:ext cx="2160000" cy="934436"/>
            <a:chOff x="144665" y="525617"/>
            <a:chExt cx="1080000" cy="467218"/>
          </a:xfrm>
        </p:grpSpPr>
        <p:sp>
          <p:nvSpPr>
            <p:cNvPr id="75" name="正方形/長方形 74">
              <a:extLst>
                <a:ext uri="{FF2B5EF4-FFF2-40B4-BE49-F238E27FC236}">
                  <a16:creationId xmlns:a16="http://schemas.microsoft.com/office/drawing/2014/main" id="{371FDD76-3027-6C4F-8100-16FE4579012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6" name="正方形/長方形 75">
              <a:extLst>
                <a:ext uri="{FF2B5EF4-FFF2-40B4-BE49-F238E27FC236}">
                  <a16:creationId xmlns:a16="http://schemas.microsoft.com/office/drawing/2014/main" id="{0D58D4FE-AE5B-1B48-8E71-23D168CD16E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7" name="グループ化 76">
            <a:extLst>
              <a:ext uri="{FF2B5EF4-FFF2-40B4-BE49-F238E27FC236}">
                <a16:creationId xmlns:a16="http://schemas.microsoft.com/office/drawing/2014/main" id="{327C705D-713E-9540-95BC-EAF0A779FB45}"/>
              </a:ext>
            </a:extLst>
          </p:cNvPr>
          <p:cNvGrpSpPr/>
          <p:nvPr/>
        </p:nvGrpSpPr>
        <p:grpSpPr>
          <a:xfrm>
            <a:off x="612876" y="9041532"/>
            <a:ext cx="539448" cy="487368"/>
            <a:chOff x="400056" y="1061560"/>
            <a:chExt cx="269724" cy="243684"/>
          </a:xfrm>
        </p:grpSpPr>
        <p:sp>
          <p:nvSpPr>
            <p:cNvPr id="78" name="三角形 77">
              <a:extLst>
                <a:ext uri="{FF2B5EF4-FFF2-40B4-BE49-F238E27FC236}">
                  <a16:creationId xmlns:a16="http://schemas.microsoft.com/office/drawing/2014/main" id="{788F2E37-0892-364C-8534-0034261AB71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78">
              <a:extLst>
                <a:ext uri="{FF2B5EF4-FFF2-40B4-BE49-F238E27FC236}">
                  <a16:creationId xmlns:a16="http://schemas.microsoft.com/office/drawing/2014/main" id="{34E4E9DC-8B1D-A040-9467-49E33EC6E67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0" name="テキスト プレースホルダー 30">
            <a:extLst>
              <a:ext uri="{FF2B5EF4-FFF2-40B4-BE49-F238E27FC236}">
                <a16:creationId xmlns:a16="http://schemas.microsoft.com/office/drawing/2014/main" id="{6BA62554-EA29-7247-B8DA-938770186E56}"/>
              </a:ext>
            </a:extLst>
          </p:cNvPr>
          <p:cNvSpPr txBox="1">
            <a:spLocks/>
          </p:cNvSpPr>
          <p:nvPr/>
        </p:nvSpPr>
        <p:spPr>
          <a:xfrm>
            <a:off x="566693" y="8068045"/>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実験結果</a:t>
            </a:r>
          </a:p>
        </p:txBody>
      </p:sp>
      <p:sp>
        <p:nvSpPr>
          <p:cNvPr id="81" name="テキスト プレースホルダー 27">
            <a:extLst>
              <a:ext uri="{FF2B5EF4-FFF2-40B4-BE49-F238E27FC236}">
                <a16:creationId xmlns:a16="http://schemas.microsoft.com/office/drawing/2014/main" id="{C95CAF15-24F2-BE43-81C3-9EC9F06CAE35}"/>
              </a:ext>
            </a:extLst>
          </p:cNvPr>
          <p:cNvSpPr txBox="1">
            <a:spLocks/>
          </p:cNvSpPr>
          <p:nvPr/>
        </p:nvSpPr>
        <p:spPr>
          <a:xfrm>
            <a:off x="1250130" y="8968907"/>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tx1"/>
                </a:solidFill>
              </a:rPr>
              <a:t>人間とエージェントの交渉でも</a:t>
            </a:r>
            <a:r>
              <a:rPr lang="ja-JP" altLang="en-US">
                <a:solidFill>
                  <a:schemeClr val="accent2"/>
                </a:solidFill>
              </a:rPr>
              <a:t>効果が現れる</a:t>
            </a:r>
            <a:endParaRPr lang="en-US" altLang="ja-JP" dirty="0"/>
          </a:p>
        </p:txBody>
      </p:sp>
      <p:grpSp>
        <p:nvGrpSpPr>
          <p:cNvPr id="82" name="グループ化 81">
            <a:extLst>
              <a:ext uri="{FF2B5EF4-FFF2-40B4-BE49-F238E27FC236}">
                <a16:creationId xmlns:a16="http://schemas.microsoft.com/office/drawing/2014/main" id="{047BA0B0-D10E-1B45-B5D3-347AF1DD4F66}"/>
              </a:ext>
            </a:extLst>
          </p:cNvPr>
          <p:cNvGrpSpPr/>
          <p:nvPr/>
        </p:nvGrpSpPr>
        <p:grpSpPr>
          <a:xfrm>
            <a:off x="284974" y="10086066"/>
            <a:ext cx="2160000" cy="934436"/>
            <a:chOff x="144665" y="525617"/>
            <a:chExt cx="1080000" cy="467218"/>
          </a:xfrm>
        </p:grpSpPr>
        <p:sp>
          <p:nvSpPr>
            <p:cNvPr id="83" name="正方形/長方形 82">
              <a:extLst>
                <a:ext uri="{FF2B5EF4-FFF2-40B4-BE49-F238E27FC236}">
                  <a16:creationId xmlns:a16="http://schemas.microsoft.com/office/drawing/2014/main" id="{AE23ABD7-4095-C64B-8DFD-F2B12F154CF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84" name="正方形/長方形 83">
              <a:extLst>
                <a:ext uri="{FF2B5EF4-FFF2-40B4-BE49-F238E27FC236}">
                  <a16:creationId xmlns:a16="http://schemas.microsoft.com/office/drawing/2014/main" id="{CB82FC08-758C-AD47-9D7D-E7286740D69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85" name="グループ化 84">
            <a:extLst>
              <a:ext uri="{FF2B5EF4-FFF2-40B4-BE49-F238E27FC236}">
                <a16:creationId xmlns:a16="http://schemas.microsoft.com/office/drawing/2014/main" id="{215BF189-8CE3-BD43-AD8B-56BBF295FE2E}"/>
              </a:ext>
            </a:extLst>
          </p:cNvPr>
          <p:cNvGrpSpPr/>
          <p:nvPr/>
        </p:nvGrpSpPr>
        <p:grpSpPr>
          <a:xfrm>
            <a:off x="612876" y="11230126"/>
            <a:ext cx="539448" cy="487368"/>
            <a:chOff x="400056" y="1061560"/>
            <a:chExt cx="269724" cy="243684"/>
          </a:xfrm>
        </p:grpSpPr>
        <p:sp>
          <p:nvSpPr>
            <p:cNvPr id="86" name="三角形 85">
              <a:extLst>
                <a:ext uri="{FF2B5EF4-FFF2-40B4-BE49-F238E27FC236}">
                  <a16:creationId xmlns:a16="http://schemas.microsoft.com/office/drawing/2014/main" id="{7C167DEB-6AF1-F34B-A186-BFBEC19D956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三角形 86">
              <a:extLst>
                <a:ext uri="{FF2B5EF4-FFF2-40B4-BE49-F238E27FC236}">
                  <a16:creationId xmlns:a16="http://schemas.microsoft.com/office/drawing/2014/main" id="{57C0B95E-DB22-D646-858E-F6E20AE5E03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8" name="テキスト プレースホルダー 30">
            <a:extLst>
              <a:ext uri="{FF2B5EF4-FFF2-40B4-BE49-F238E27FC236}">
                <a16:creationId xmlns:a16="http://schemas.microsoft.com/office/drawing/2014/main" id="{34CB64CF-C91D-9442-AB5A-37AB7B58B9A3}"/>
              </a:ext>
            </a:extLst>
          </p:cNvPr>
          <p:cNvSpPr txBox="1">
            <a:spLocks/>
          </p:cNvSpPr>
          <p:nvPr/>
        </p:nvSpPr>
        <p:spPr>
          <a:xfrm>
            <a:off x="566693" y="10256639"/>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sp>
        <p:nvSpPr>
          <p:cNvPr id="89" name="テキスト プレースホルダー 27">
            <a:extLst>
              <a:ext uri="{FF2B5EF4-FFF2-40B4-BE49-F238E27FC236}">
                <a16:creationId xmlns:a16="http://schemas.microsoft.com/office/drawing/2014/main" id="{2A3A066A-094E-5B4B-8DE2-B28CAE6750F4}"/>
              </a:ext>
            </a:extLst>
          </p:cNvPr>
          <p:cNvSpPr txBox="1">
            <a:spLocks/>
          </p:cNvSpPr>
          <p:nvPr/>
        </p:nvSpPr>
        <p:spPr>
          <a:xfrm>
            <a:off x="1250130" y="1115750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戦略とトーンの交互作用の調査</a:t>
            </a:r>
            <a:endParaRPr lang="en-US" altLang="ja-JP" dirty="0"/>
          </a:p>
        </p:txBody>
      </p:sp>
      <p:sp>
        <p:nvSpPr>
          <p:cNvPr id="90" name="テキスト プレースホルダー 27">
            <a:extLst>
              <a:ext uri="{FF2B5EF4-FFF2-40B4-BE49-F238E27FC236}">
                <a16:creationId xmlns:a16="http://schemas.microsoft.com/office/drawing/2014/main" id="{D2611241-21A9-7841-B640-D795B3AA128C}"/>
              </a:ext>
            </a:extLst>
          </p:cNvPr>
          <p:cNvSpPr txBox="1">
            <a:spLocks/>
          </p:cNvSpPr>
          <p:nvPr/>
        </p:nvSpPr>
        <p:spPr>
          <a:xfrm>
            <a:off x="1254486" y="336538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91" name="グループ化 90">
            <a:extLst>
              <a:ext uri="{FF2B5EF4-FFF2-40B4-BE49-F238E27FC236}">
                <a16:creationId xmlns:a16="http://schemas.microsoft.com/office/drawing/2014/main" id="{2B412576-EC31-1A4A-8BB2-0713887FB7E5}"/>
              </a:ext>
            </a:extLst>
          </p:cNvPr>
          <p:cNvGrpSpPr/>
          <p:nvPr/>
        </p:nvGrpSpPr>
        <p:grpSpPr>
          <a:xfrm>
            <a:off x="617232" y="3438008"/>
            <a:ext cx="539448" cy="487368"/>
            <a:chOff x="400056" y="1061560"/>
            <a:chExt cx="269724" cy="243684"/>
          </a:xfrm>
        </p:grpSpPr>
        <p:sp>
          <p:nvSpPr>
            <p:cNvPr id="92" name="三角形 91">
              <a:extLst>
                <a:ext uri="{FF2B5EF4-FFF2-40B4-BE49-F238E27FC236}">
                  <a16:creationId xmlns:a16="http://schemas.microsoft.com/office/drawing/2014/main" id="{4A4F0B4B-8E6F-614F-B634-C67E2600958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3" name="三角形 92">
              <a:extLst>
                <a:ext uri="{FF2B5EF4-FFF2-40B4-BE49-F238E27FC236}">
                  <a16:creationId xmlns:a16="http://schemas.microsoft.com/office/drawing/2014/main" id="{FA5F2B28-DB3F-914B-AA6E-5499F698BD6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7" name="テキスト プレースホルダー 27">
            <a:extLst>
              <a:ext uri="{FF2B5EF4-FFF2-40B4-BE49-F238E27FC236}">
                <a16:creationId xmlns:a16="http://schemas.microsoft.com/office/drawing/2014/main" id="{98E67DAC-1C97-F646-A760-8D1726E2F92E}"/>
              </a:ext>
            </a:extLst>
          </p:cNvPr>
          <p:cNvSpPr txBox="1">
            <a:spLocks/>
          </p:cNvSpPr>
          <p:nvPr/>
        </p:nvSpPr>
        <p:spPr>
          <a:xfrm>
            <a:off x="1250130" y="1203691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人間とエージェントの交渉に影響がある効果のさらなる調査</a:t>
            </a:r>
            <a:endParaRPr lang="en-US" altLang="ja-JP" dirty="0"/>
          </a:p>
        </p:txBody>
      </p:sp>
      <p:grpSp>
        <p:nvGrpSpPr>
          <p:cNvPr id="98" name="グループ化 97">
            <a:extLst>
              <a:ext uri="{FF2B5EF4-FFF2-40B4-BE49-F238E27FC236}">
                <a16:creationId xmlns:a16="http://schemas.microsoft.com/office/drawing/2014/main" id="{9D7BEF5B-856C-054C-A174-DBCCC4497D13}"/>
              </a:ext>
            </a:extLst>
          </p:cNvPr>
          <p:cNvGrpSpPr/>
          <p:nvPr/>
        </p:nvGrpSpPr>
        <p:grpSpPr>
          <a:xfrm>
            <a:off x="612876" y="12109537"/>
            <a:ext cx="539448" cy="487368"/>
            <a:chOff x="400056" y="1061560"/>
            <a:chExt cx="269724" cy="243684"/>
          </a:xfrm>
        </p:grpSpPr>
        <p:sp>
          <p:nvSpPr>
            <p:cNvPr id="99" name="三角形 98">
              <a:extLst>
                <a:ext uri="{FF2B5EF4-FFF2-40B4-BE49-F238E27FC236}">
                  <a16:creationId xmlns:a16="http://schemas.microsoft.com/office/drawing/2014/main" id="{934FBACC-8FC9-ED4B-8BCB-EA93BA8394A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00" name="三角形 99">
              <a:extLst>
                <a:ext uri="{FF2B5EF4-FFF2-40B4-BE49-F238E27FC236}">
                  <a16:creationId xmlns:a16="http://schemas.microsoft.com/office/drawing/2014/main" id="{E16CFC96-92F3-084C-8F3A-C26B3C9953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517603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交渉事項について配分を考える交渉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配分的交渉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一方が得をすると他方は必ず損をする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en-US" altLang="ja-JP" dirty="0"/>
                  <a:t>2</a:t>
                </a:r>
                <a:r>
                  <a:rPr kumimoji="1" lang="ja-JP" altLang="en-US"/>
                  <a:t>億円以下で</a:t>
                </a:r>
                <a:endParaRPr kumimoji="1" lang="en-US" altLang="ja-JP" dirty="0"/>
              </a:p>
              <a:p>
                <a:pPr algn="ctr"/>
                <a:r>
                  <a:rPr kumimoji="1" lang="ja-JP" altLang="en-US"/>
                  <a:t>買いたい</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億円以上で</a:t>
            </a:r>
            <a:endParaRPr lang="en-US" altLang="ja-JP" dirty="0"/>
          </a:p>
          <a:p>
            <a:pPr algn="ctr"/>
            <a:r>
              <a:rPr lang="ja-JP" altLang="en-US"/>
              <a:t>売りたい</a:t>
            </a:r>
          </a:p>
        </p:txBody>
      </p:sp>
      <p:graphicFrame>
        <p:nvGraphicFramePr>
          <p:cNvPr id="108" name="表 107">
            <a:extLst>
              <a:ext uri="{FF2B5EF4-FFF2-40B4-BE49-F238E27FC236}">
                <a16:creationId xmlns:a16="http://schemas.microsoft.com/office/drawing/2014/main" id="{FFC7171A-4DD8-E742-801B-9CBF4705A5CC}"/>
              </a:ext>
            </a:extLst>
          </p:cNvPr>
          <p:cNvGraphicFramePr>
            <a:graphicFrameLocks noGrp="1"/>
          </p:cNvGraphicFramePr>
          <p:nvPr>
            <p:extLst>
              <p:ext uri="{D42A27DB-BD31-4B8C-83A1-F6EECF244321}">
                <p14:modId xmlns:p14="http://schemas.microsoft.com/office/powerpoint/2010/main" val="870133389"/>
              </p:ext>
            </p:extLst>
          </p:nvPr>
        </p:nvGraphicFramePr>
        <p:xfrm>
          <a:off x="3475408" y="10323477"/>
          <a:ext cx="11337184" cy="256032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871592815"/>
                  </a:ext>
                </a:extLst>
              </a:tr>
              <a:tr h="370840">
                <a:tc>
                  <a:txBody>
                    <a:bodyPr/>
                    <a:lstStyle/>
                    <a:p>
                      <a:pPr algn="r"/>
                      <a:r>
                        <a:rPr kumimoji="1" lang="en-US" altLang="ja-JP" dirty="0"/>
                        <a:t>1.5</a:t>
                      </a:r>
                      <a:r>
                        <a:rPr kumimoji="1" lang="ja-JP" altLang="en-US"/>
                        <a:t>億円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1239973184"/>
                  </a:ext>
                </a:extLst>
              </a:tr>
              <a:tr h="370840">
                <a:tc>
                  <a:txBody>
                    <a:bodyPr/>
                    <a:lstStyle/>
                    <a:p>
                      <a:pPr algn="r"/>
                      <a:r>
                        <a:rPr kumimoji="1" lang="en-US" altLang="ja-JP" dirty="0"/>
                        <a:t>2</a:t>
                      </a:r>
                      <a:r>
                        <a:rPr kumimoji="1" lang="ja-JP" altLang="en-US"/>
                        <a:t>億円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993563669"/>
                  </a:ext>
                </a:extLst>
              </a:tr>
            </a:tbl>
          </a:graphicData>
        </a:graphic>
      </p:graphicFrame>
    </p:spTree>
    <p:extLst>
      <p:ext uri="{BB962C8B-B14F-4D97-AF65-F5344CB8AC3E}">
        <p14:creationId xmlns:p14="http://schemas.microsoft.com/office/powerpoint/2010/main" val="12992458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価値の異なる交渉事項を出し合って合意を図る交渉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統合的交渉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お互いの利益の合計は一定ではない</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両者にとって価値が大きくなる交渉事項を用いると両者得をする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保証がつくと</a:t>
                </a:r>
                <a:endParaRPr lang="en-US" altLang="ja-JP" dirty="0"/>
              </a:p>
              <a:p>
                <a:pPr algn="ctr"/>
                <a:r>
                  <a:rPr lang="en-US" altLang="ja-JP" dirty="0"/>
                  <a:t>6000</a:t>
                </a:r>
                <a:r>
                  <a:rPr lang="ja-JP" altLang="en-US"/>
                  <a:t>万円の利益</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保証をつけると</a:t>
            </a:r>
            <a:endParaRPr lang="en-US" altLang="ja-JP" dirty="0"/>
          </a:p>
          <a:p>
            <a:pPr algn="ctr"/>
            <a:r>
              <a:rPr lang="en-US" altLang="ja-JP" dirty="0"/>
              <a:t>1000</a:t>
            </a:r>
            <a:r>
              <a:rPr lang="ja-JP" altLang="en-US"/>
              <a:t>万円の損失</a:t>
            </a:r>
          </a:p>
        </p:txBody>
      </p:sp>
      <p:sp>
        <p:nvSpPr>
          <p:cNvPr id="37" name="角丸四角形 36">
            <a:extLst>
              <a:ext uri="{FF2B5EF4-FFF2-40B4-BE49-F238E27FC236}">
                <a16:creationId xmlns:a16="http://schemas.microsoft.com/office/drawing/2014/main" id="{F66D0CE0-540F-0448-9E27-221EFCCA4A64}"/>
              </a:ext>
            </a:extLst>
          </p:cNvPr>
          <p:cNvSpPr/>
          <p:nvPr/>
        </p:nvSpPr>
        <p:spPr>
          <a:xfrm>
            <a:off x="448599" y="10271894"/>
            <a:ext cx="8709241"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保証をつけて</a:t>
            </a:r>
            <a:r>
              <a:rPr lang="en-US" altLang="ja-JP" dirty="0"/>
              <a:t>3000</a:t>
            </a:r>
            <a:r>
              <a:rPr lang="ja-JP" altLang="en-US"/>
              <a:t>万円値上げした場合</a:t>
            </a:r>
            <a:endParaRPr lang="en-US" altLang="ja-JP" dirty="0"/>
          </a:p>
        </p:txBody>
      </p:sp>
      <p:graphicFrame>
        <p:nvGraphicFramePr>
          <p:cNvPr id="39" name="表 38">
            <a:extLst>
              <a:ext uri="{FF2B5EF4-FFF2-40B4-BE49-F238E27FC236}">
                <a16:creationId xmlns:a16="http://schemas.microsoft.com/office/drawing/2014/main" id="{157A229A-E7CA-ED4B-84D6-D330B5FB3A76}"/>
              </a:ext>
            </a:extLst>
          </p:cNvPr>
          <p:cNvGraphicFramePr>
            <a:graphicFrameLocks noGrp="1"/>
          </p:cNvGraphicFramePr>
          <p:nvPr>
            <p:extLst>
              <p:ext uri="{D42A27DB-BD31-4B8C-83A1-F6EECF244321}">
                <p14:modId xmlns:p14="http://schemas.microsoft.com/office/powerpoint/2010/main" val="1905429039"/>
              </p:ext>
            </p:extLst>
          </p:nvPr>
        </p:nvGraphicFramePr>
        <p:xfrm>
          <a:off x="3475408" y="11661945"/>
          <a:ext cx="11337184" cy="128016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1.3</a:t>
                      </a:r>
                      <a:r>
                        <a:rPr kumimoji="1" lang="ja-JP" altLang="en-US"/>
                        <a:t>億円</a:t>
                      </a:r>
                    </a:p>
                  </a:txBody>
                  <a:tcPr/>
                </a:tc>
                <a:tc>
                  <a:txBody>
                    <a:bodyPr/>
                    <a:lstStyle/>
                    <a:p>
                      <a:pPr algn="r"/>
                      <a:r>
                        <a:rPr kumimoji="1" lang="en-US" altLang="ja-JP" dirty="0"/>
                        <a:t>2000</a:t>
                      </a:r>
                      <a:r>
                        <a:rPr kumimoji="1" lang="ja-JP" altLang="en-US"/>
                        <a:t>万円</a:t>
                      </a:r>
                    </a:p>
                  </a:txBody>
                  <a:tcPr/>
                </a:tc>
                <a:tc>
                  <a:txBody>
                    <a:bodyPr/>
                    <a:lstStyle/>
                    <a:p>
                      <a:pPr algn="r"/>
                      <a:r>
                        <a:rPr kumimoji="1" lang="en-US" altLang="ja-JP" dirty="0"/>
                        <a:t>1.3</a:t>
                      </a:r>
                      <a:r>
                        <a:rPr kumimoji="1" lang="ja-JP" altLang="en-US"/>
                        <a:t>億円</a:t>
                      </a:r>
                    </a:p>
                  </a:txBody>
                  <a:tcPr/>
                </a:tc>
                <a:tc>
                  <a:txBody>
                    <a:bodyPr/>
                    <a:lstStyle/>
                    <a:p>
                      <a:pPr algn="r"/>
                      <a:r>
                        <a:rPr kumimoji="1" lang="en-US" altLang="ja-JP" dirty="0"/>
                        <a:t>1.5</a:t>
                      </a:r>
                      <a:r>
                        <a:rPr kumimoji="1" lang="ja-JP" altLang="en-US"/>
                        <a:t>億円</a:t>
                      </a:r>
                    </a:p>
                  </a:txBody>
                  <a:tcPr/>
                </a:tc>
                <a:extLst>
                  <a:ext uri="{0D108BD9-81ED-4DB2-BD59-A6C34878D82A}">
                    <a16:rowId xmlns:a16="http://schemas.microsoft.com/office/drawing/2014/main" val="3871592815"/>
                  </a:ext>
                </a:extLst>
              </a:tr>
            </a:tbl>
          </a:graphicData>
        </a:graphic>
      </p:graphicFrame>
    </p:spTree>
    <p:extLst>
      <p:ext uri="{BB962C8B-B14F-4D97-AF65-F5344CB8AC3E}">
        <p14:creationId xmlns:p14="http://schemas.microsoft.com/office/powerpoint/2010/main" val="17011295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7319687"/>
            <a:ext cx="8392160" cy="2292139"/>
            <a:chOff x="4866258" y="5234219"/>
            <a:chExt cx="8392160" cy="2292139"/>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90" name="グループ化 89">
              <a:extLst>
                <a:ext uri="{FF2B5EF4-FFF2-40B4-BE49-F238E27FC236}">
                  <a16:creationId xmlns:a16="http://schemas.microsoft.com/office/drawing/2014/main" id="{843ACA08-72A9-2D4E-85E1-BBEC75D3B118}"/>
                </a:ext>
              </a:extLst>
            </p:cNvPr>
            <p:cNvGrpSpPr/>
            <p:nvPr/>
          </p:nvGrpSpPr>
          <p:grpSpPr>
            <a:xfrm>
              <a:off x="11522664"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5</a:t>
            </a:r>
            <a:r>
              <a:rPr lang="ja-JP" altLang="en-US"/>
              <a:t>万円以上で</a:t>
            </a:r>
            <a:endParaRPr lang="en-US" altLang="ja-JP" dirty="0"/>
          </a:p>
          <a:p>
            <a:pPr algn="ctr"/>
            <a:r>
              <a:rPr lang="ja-JP" altLang="en-US"/>
              <a:t>売りたい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10228475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altLang="ja-JP" dirty="0"/>
                  <a:t>X</a:t>
                </a:r>
                <a:r>
                  <a:rPr lang="ja-JP" altLang="en-US"/>
                  <a:t>店では</a:t>
                </a:r>
                <a:r>
                  <a:rPr lang="en-US" altLang="ja-JP" dirty="0"/>
                  <a:t>10</a:t>
                </a:r>
                <a:r>
                  <a:rPr lang="ja-JP" altLang="en-US"/>
                  <a:t>万円</a:t>
                </a:r>
                <a:endParaRPr lang="en-US" altLang="ja-JP" dirty="0"/>
              </a:p>
              <a:p>
                <a:pPr algn="ctr"/>
                <a:r>
                  <a:rPr lang="ja-JP" altLang="en-US"/>
                  <a:t>で買える</a:t>
                </a:r>
                <a:endParaRPr lang="en-US" altLang="ja-JP" dirty="0"/>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9.8</a:t>
            </a:r>
            <a:r>
              <a:rPr lang="ja-JP" altLang="en-US"/>
              <a:t>万円で</a:t>
            </a:r>
            <a:endParaRPr lang="en-US" altLang="ja-JP" dirty="0"/>
          </a:p>
          <a:p>
            <a:pPr algn="ctr"/>
            <a:r>
              <a:rPr lang="ja-JP" altLang="en-US"/>
              <a:t>買わない？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244863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ext uri="{D42A27DB-BD31-4B8C-83A1-F6EECF244321}">
                <p14:modId xmlns:p14="http://schemas.microsoft.com/office/powerpoint/2010/main" val="167497975"/>
              </p:ext>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回のみ交渉を行う場合</a:t>
            </a:r>
            <a:endParaRPr lang="en-US" altLang="ja-JP" dirty="0"/>
          </a:p>
        </p:txBody>
      </p:sp>
    </p:spTree>
    <p:extLst>
      <p:ext uri="{BB962C8B-B14F-4D97-AF65-F5344CB8AC3E}">
        <p14:creationId xmlns:p14="http://schemas.microsoft.com/office/powerpoint/2010/main" val="13272309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2364014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20876637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036138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118903" y="3014181"/>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118903" y="3014181"/>
                <a:ext cx="3371349" cy="1244764"/>
              </a:xfrm>
              <a:prstGeom prst="rect">
                <a:avLst/>
              </a:prstGeom>
              <a:blipFill>
                <a:blip r:embed="rId5"/>
                <a:stretch>
                  <a:fillRect l="-9023" r="-8647" b="-13131"/>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6"/>
                <a:stretch>
                  <a:fillRect l="-1678"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が大きいほど</a:t>
            </a:r>
            <a:r>
              <a:rPr lang="en-US" altLang="ja-JP" dirty="0"/>
              <a:t>p</a:t>
            </a:r>
            <a:r>
              <a:rPr lang="ja-JP" altLang="en-US" dirty="0"/>
              <a:t>値は小さくなる</a:t>
            </a:r>
          </a:p>
        </p:txBody>
      </p:sp>
    </p:spTree>
    <p:extLst>
      <p:ext uri="{BB962C8B-B14F-4D97-AF65-F5344CB8AC3E}">
        <p14:creationId xmlns:p14="http://schemas.microsoft.com/office/powerpoint/2010/main" val="3081573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r>
              <a:rPr lang="en-US" altLang="ja-JP" dirty="0"/>
              <a:t>(</a:t>
            </a:r>
            <a:r>
              <a:rPr lang="ja-JP" altLang="en-US"/>
              <a:t>質的データ</a:t>
            </a:r>
            <a:r>
              <a:rPr lang="en-US" altLang="ja-JP" dirty="0"/>
              <a:t>)</a:t>
            </a:r>
          </a:p>
        </p:txBody>
      </p:sp>
      <mc:AlternateContent xmlns:mc="http://schemas.openxmlformats.org/markup-compatibility/2006" xmlns:a14="http://schemas.microsoft.com/office/drawing/2010/main">
        <mc:Choice Requires="a14">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を求める</a:t>
                </a:r>
                <a:r>
                  <a:rPr lang="ja-JP" altLang="en-US"/>
                  <a:t>　</a:t>
                </a:r>
                <a:r>
                  <a:rPr lang="en-US" altLang="ja-JP" dirty="0"/>
                  <a:t> </a:t>
                </a:r>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endParaRPr lang="ja-JP" altLang="en-US" dirty="0"/>
              </a:p>
            </p:txBody>
          </p:sp>
        </mc:Choice>
        <mc:Fallback xmlns="">
          <p:sp>
            <p:nvSpPr>
              <p:cNvPr id="15" name="テキスト プレースホルダー 29">
                <a:extLst>
                  <a:ext uri="{FF2B5EF4-FFF2-40B4-BE49-F238E27FC236}">
                    <a16:creationId xmlns:a16="http://schemas.microsoft.com/office/drawing/2014/main" id="{EBDED935-8261-6749-B78E-892B57BDE922}"/>
                  </a:ext>
                </a:extLst>
              </p:cNvPr>
              <p:cNvSpPr txBox="1">
                <a:spLocks noRot="1" noChangeAspect="1" noMove="1" noResize="1" noEditPoints="1" noAdjustHandles="1" noChangeArrowheads="1" noChangeShapeType="1" noTextEdit="1"/>
              </p:cNvSpPr>
              <p:nvPr/>
            </p:nvSpPr>
            <p:spPr>
              <a:xfrm>
                <a:off x="1568600" y="3459152"/>
                <a:ext cx="18275484" cy="853994"/>
              </a:xfrm>
              <a:prstGeom prst="rect">
                <a:avLst/>
              </a:prstGeom>
              <a:blipFill>
                <a:blip r:embed="rId3"/>
                <a:stretch>
                  <a:fillRect l="-417" t="-14493"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a:t>
                </a:r>
                <a:endParaRPr lang="ja-JP" altLang="en-US" dirty="0"/>
              </a:p>
            </p:txBody>
          </p:sp>
        </mc:Choice>
        <mc:Fallback xmlns="">
          <p:sp>
            <p:nvSpPr>
              <p:cNvPr id="16" name="テキスト プレースホルダー 30">
                <a:extLst>
                  <a:ext uri="{FF2B5EF4-FFF2-40B4-BE49-F238E27FC236}">
                    <a16:creationId xmlns:a16="http://schemas.microsoft.com/office/drawing/2014/main" id="{CF9CB3BE-4D25-544D-BF6B-6A8CDD76E2D9}"/>
                  </a:ext>
                </a:extLst>
              </p:cNvPr>
              <p:cNvSpPr txBox="1">
                <a:spLocks noRot="1" noChangeAspect="1" noMove="1" noResize="1" noEditPoints="1" noAdjustHandles="1" noChangeArrowheads="1" noChangeShapeType="1" noTextEdit="1"/>
              </p:cNvSpPr>
              <p:nvPr/>
            </p:nvSpPr>
            <p:spPr>
              <a:xfrm>
                <a:off x="571049" y="1583871"/>
                <a:ext cx="17302163" cy="1403350"/>
              </a:xfrm>
              <a:prstGeom prst="rect">
                <a:avLst/>
              </a:prstGeom>
              <a:blipFill>
                <a:blip r:embed="rId4"/>
                <a:stretch>
                  <a:fillRect l="-880" t="-16216"/>
                </a:stretch>
              </a:blipFill>
            </p:spPr>
            <p:txBody>
              <a:bodyPr/>
              <a:lstStyle/>
              <a:p>
                <a:r>
                  <a:rPr lang="ja-JP" altLang="en-US">
                    <a:noFill/>
                  </a:rPr>
                  <a:t> </a:t>
                </a:r>
              </a:p>
            </p:txBody>
          </p:sp>
        </mc:Fallback>
      </mc:AlternateContent>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503220" y="2987677"/>
                <a:ext cx="3371349" cy="148066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nary>
                        <m:naryPr>
                          <m:chr m:val="∑"/>
                          <m:subHide m:val="on"/>
                          <m:supHide m:val="on"/>
                          <m:ctrlPr>
                            <a:rPr kumimoji="1" lang="en-US" altLang="ja-JP" b="0" i="1" smtClean="0">
                              <a:latin typeface="Cambria Math" panose="02040503050406030204" pitchFamily="18" charset="0"/>
                            </a:rPr>
                          </m:ctrlPr>
                        </m:naryPr>
                        <m:sub/>
                        <m:sup/>
                        <m:e>
                          <m:f>
                            <m:fPr>
                              <m:ctrlPr>
                                <a:rPr lang="en-US" altLang="ja-JP" i="1">
                                  <a:latin typeface="Cambria Math" panose="02040503050406030204" pitchFamily="18" charset="0"/>
                                </a:rPr>
                              </m:ctrlPr>
                            </m:fPr>
                            <m:num>
                              <m:sSup>
                                <m:sSupPr>
                                  <m:ctrlPr>
                                    <a:rPr lang="en-US" altLang="ja-JP" b="0" i="1" smtClean="0">
                                      <a:latin typeface="Cambria Math" panose="02040503050406030204" pitchFamily="18" charset="0"/>
                                    </a:rPr>
                                  </m:ctrlPr>
                                </m:sSupPr>
                                <m:e>
                                  <m:d>
                                    <m:dPr>
                                      <m:ctrlPr>
                                        <a:rPr lang="en-US" altLang="ja-JP" b="0" i="1" smtClean="0">
                                          <a:latin typeface="Cambria Math" panose="02040503050406030204" pitchFamily="18" charset="0"/>
                                        </a:rPr>
                                      </m:ctrlPr>
                                    </m:dP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𝑂</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e>
                                  </m:d>
                                </m:e>
                                <m:sup>
                                  <m:r>
                                    <a:rPr lang="en-US" altLang="ja-JP" b="0" i="1" smtClean="0">
                                      <a:latin typeface="Cambria Math" panose="02040503050406030204" pitchFamily="18" charset="0"/>
                                    </a:rPr>
                                    <m:t>2</m:t>
                                  </m:r>
                                </m:sup>
                              </m:sSup>
                            </m:num>
                            <m:den>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den>
                          </m:f>
                        </m:e>
                      </m:nary>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503220" y="2987677"/>
                <a:ext cx="3371349" cy="1480662"/>
              </a:xfrm>
              <a:prstGeom prst="rect">
                <a:avLst/>
              </a:prstGeom>
              <a:blipFill>
                <a:blip r:embed="rId5"/>
                <a:stretch>
                  <a:fillRect l="-35955" t="-127966" b="-181356"/>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値に変換して有意差があるか判断</a:t>
                </a:r>
              </a:p>
            </p:txBody>
          </p:sp>
        </mc:Choice>
        <mc:Fallback xmlns="">
          <p:sp>
            <p:nvSpPr>
              <p:cNvPr id="46" name="テキスト プレースホルダー 29">
                <a:extLst>
                  <a:ext uri="{FF2B5EF4-FFF2-40B4-BE49-F238E27FC236}">
                    <a16:creationId xmlns:a16="http://schemas.microsoft.com/office/drawing/2014/main" id="{AC10C7C1-EB80-41DE-A139-203FA477C1F1}"/>
                  </a:ext>
                </a:extLst>
              </p:cNvPr>
              <p:cNvSpPr txBox="1">
                <a:spLocks noRot="1" noChangeAspect="1" noMove="1" noResize="1" noEditPoints="1" noAdjustHandles="1" noChangeArrowheads="1" noChangeShapeType="1" noTextEdit="1"/>
              </p:cNvSpPr>
              <p:nvPr/>
            </p:nvSpPr>
            <p:spPr>
              <a:xfrm>
                <a:off x="1568600" y="4466845"/>
                <a:ext cx="16135964" cy="853994"/>
              </a:xfrm>
              <a:prstGeom prst="rect">
                <a:avLst/>
              </a:prstGeom>
              <a:blipFill>
                <a:blip r:embed="rId6"/>
                <a:stretch>
                  <a:fillRect l="-472" t="-20588" b="-8824"/>
                </a:stretch>
              </a:blipFill>
            </p:spPr>
            <p:txBody>
              <a:bodyPr/>
              <a:lstStyle/>
              <a:p>
                <a:r>
                  <a:rPr lang="ja-JP" altLang="en-US">
                    <a:noFill/>
                  </a:rPr>
                  <a:t> </a:t>
                </a:r>
              </a:p>
            </p:txBody>
          </p:sp>
        </mc:Fallback>
      </mc:AlternateContent>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7"/>
                <a:stretch>
                  <a:fillRect l="-686"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が大きいほど</a:t>
                </a:r>
                <a:r>
                  <a:rPr lang="en-US" altLang="ja-JP" dirty="0"/>
                  <a:t>p</a:t>
                </a:r>
                <a:r>
                  <a:rPr lang="ja-JP" altLang="en-US" dirty="0"/>
                  <a:t>値は小さくなる</a:t>
                </a:r>
              </a:p>
            </p:txBody>
          </p:sp>
        </mc:Choice>
        <mc:Fallback xmlns="">
          <p:sp>
            <p:nvSpPr>
              <p:cNvPr id="42" name="テキスト プレースホルダー 29">
                <a:extLst>
                  <a:ext uri="{FF2B5EF4-FFF2-40B4-BE49-F238E27FC236}">
                    <a16:creationId xmlns:a16="http://schemas.microsoft.com/office/drawing/2014/main" id="{9214E66C-A091-C440-97FE-23B47FA5A048}"/>
                  </a:ext>
                </a:extLst>
              </p:cNvPr>
              <p:cNvSpPr txBox="1">
                <a:spLocks noRot="1" noChangeAspect="1" noMove="1" noResize="1" noEditPoints="1" noAdjustHandles="1" noChangeArrowheads="1" noChangeShapeType="1" noTextEdit="1"/>
              </p:cNvSpPr>
              <p:nvPr/>
            </p:nvSpPr>
            <p:spPr>
              <a:xfrm>
                <a:off x="1568600" y="6864388"/>
                <a:ext cx="16135964" cy="853994"/>
              </a:xfrm>
              <a:prstGeom prst="rect">
                <a:avLst/>
              </a:prstGeom>
              <a:blipFill>
                <a:blip r:embed="rId8"/>
                <a:stretch>
                  <a:fillRect l="-472" t="-19118" b="-882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404C127F-967E-F645-BF40-22D4BC3ED87E}"/>
                  </a:ext>
                </a:extLst>
              </p:cNvPr>
              <p:cNvSpPr txBox="1"/>
              <p:nvPr/>
            </p:nvSpPr>
            <p:spPr>
              <a:xfrm>
                <a:off x="10814649" y="3283571"/>
                <a:ext cx="4467680" cy="830997"/>
              </a:xfrm>
              <a:prstGeom prst="rect">
                <a:avLst/>
              </a:prstGeom>
              <a:noFill/>
            </p:spPr>
            <p:txBody>
              <a:bodyPr wrap="square" rtlCol="0">
                <a:spAutoFit/>
              </a:bodyPr>
              <a:lstStyle/>
              <a:p>
                <a14:m>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𝑂</m:t>
                        </m:r>
                      </m:e>
                      <m:sub>
                        <m:r>
                          <a:rPr kumimoji="1" lang="en-US" altLang="ja-JP" sz="2400" b="0" i="1" smtClean="0">
                            <a:latin typeface="Cambria Math" panose="02040503050406030204" pitchFamily="18" charset="0"/>
                          </a:rPr>
                          <m:t>𝑖</m:t>
                        </m:r>
                      </m:sub>
                    </m:sSub>
                  </m:oMath>
                </a14:m>
                <a:r>
                  <a:rPr kumimoji="1" lang="ja-JP" altLang="en-US" sz="2400"/>
                  <a:t>：観測値</a:t>
                </a:r>
                <a:endParaRPr kumimoji="1" lang="en-US" altLang="ja-JP" sz="2400" dirty="0"/>
              </a:p>
              <a:p>
                <a14:m>
                  <m:oMath xmlns:m="http://schemas.openxmlformats.org/officeDocument/2006/math">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𝐸</m:t>
                        </m:r>
                      </m:e>
                      <m:sub>
                        <m:r>
                          <a:rPr lang="en-US" altLang="ja-JP" sz="2400" i="1">
                            <a:latin typeface="Cambria Math" panose="02040503050406030204" pitchFamily="18" charset="0"/>
                          </a:rPr>
                          <m:t>𝑖</m:t>
                        </m:r>
                      </m:sub>
                    </m:sSub>
                  </m:oMath>
                </a14:m>
                <a:r>
                  <a:rPr lang="ja-JP" altLang="en-US" sz="2400"/>
                  <a:t>：期待度数</a:t>
                </a:r>
                <a:endParaRPr kumimoji="1" lang="ja-JP" altLang="en-US" sz="2400" dirty="0"/>
              </a:p>
            </p:txBody>
          </p:sp>
        </mc:Choice>
        <mc:Fallback xmlns="">
          <p:sp>
            <p:nvSpPr>
              <p:cNvPr id="35" name="テキスト ボックス 34">
                <a:extLst>
                  <a:ext uri="{FF2B5EF4-FFF2-40B4-BE49-F238E27FC236}">
                    <a16:creationId xmlns:a16="http://schemas.microsoft.com/office/drawing/2014/main" id="{404C127F-967E-F645-BF40-22D4BC3ED87E}"/>
                  </a:ext>
                </a:extLst>
              </p:cNvPr>
              <p:cNvSpPr txBox="1">
                <a:spLocks noRot="1" noChangeAspect="1" noMove="1" noResize="1" noEditPoints="1" noAdjustHandles="1" noChangeArrowheads="1" noChangeShapeType="1" noTextEdit="1"/>
              </p:cNvSpPr>
              <p:nvPr/>
            </p:nvSpPr>
            <p:spPr>
              <a:xfrm>
                <a:off x="10814649" y="3283571"/>
                <a:ext cx="4467680" cy="830997"/>
              </a:xfrm>
              <a:prstGeom prst="rect">
                <a:avLst/>
              </a:prstGeom>
              <a:blipFill>
                <a:blip r:embed="rId9"/>
                <a:stretch>
                  <a:fillRect l="-570" t="-4545" b="-16667"/>
                </a:stretch>
              </a:blipFill>
            </p:spPr>
            <p:txBody>
              <a:bodyPr/>
              <a:lstStyle/>
              <a:p>
                <a:r>
                  <a:rPr lang="ja-JP" altLang="en-US">
                    <a:noFill/>
                  </a:rPr>
                  <a:t> </a:t>
                </a:r>
              </a:p>
            </p:txBody>
          </p:sp>
        </mc:Fallback>
      </mc:AlternateContent>
      <p:grpSp>
        <p:nvGrpSpPr>
          <p:cNvPr id="25" name="グループ化 24">
            <a:extLst>
              <a:ext uri="{FF2B5EF4-FFF2-40B4-BE49-F238E27FC236}">
                <a16:creationId xmlns:a16="http://schemas.microsoft.com/office/drawing/2014/main" id="{92139CA7-2466-7147-A47B-E7DB2DC7F41A}"/>
              </a:ext>
            </a:extLst>
          </p:cNvPr>
          <p:cNvGrpSpPr/>
          <p:nvPr/>
        </p:nvGrpSpPr>
        <p:grpSpPr>
          <a:xfrm>
            <a:off x="473210" y="10209745"/>
            <a:ext cx="16595591" cy="2488427"/>
            <a:chOff x="473210" y="10209745"/>
            <a:chExt cx="16595591" cy="2488427"/>
          </a:xfrm>
        </p:grpSpPr>
        <p:grpSp>
          <p:nvGrpSpPr>
            <p:cNvPr id="24" name="グループ化 23">
              <a:extLst>
                <a:ext uri="{FF2B5EF4-FFF2-40B4-BE49-F238E27FC236}">
                  <a16:creationId xmlns:a16="http://schemas.microsoft.com/office/drawing/2014/main" id="{1FFF0D29-9F7A-7041-AFF2-519DBD0FBFE8}"/>
                </a:ext>
              </a:extLst>
            </p:cNvPr>
            <p:cNvGrpSpPr/>
            <p:nvPr/>
          </p:nvGrpSpPr>
          <p:grpSpPr>
            <a:xfrm>
              <a:off x="473210" y="10209745"/>
              <a:ext cx="16595591" cy="1797943"/>
              <a:chOff x="473210" y="10209745"/>
              <a:chExt cx="16595591" cy="1797943"/>
            </a:xfrm>
          </p:grpSpPr>
          <p:pic>
            <p:nvPicPr>
              <p:cNvPr id="19" name="図 18">
                <a:extLst>
                  <a:ext uri="{FF2B5EF4-FFF2-40B4-BE49-F238E27FC236}">
                    <a16:creationId xmlns:a16="http://schemas.microsoft.com/office/drawing/2014/main" id="{94E0B948-917D-0E4C-937B-7CAAA94DCB69}"/>
                  </a:ext>
                </a:extLst>
              </p:cNvPr>
              <p:cNvPicPr>
                <a:picLocks noChangeAspect="1"/>
              </p:cNvPicPr>
              <p:nvPr/>
            </p:nvPicPr>
            <p:blipFill>
              <a:blip r:embed="rId10"/>
              <a:stretch>
                <a:fillRect/>
              </a:stretch>
            </p:blipFill>
            <p:spPr>
              <a:xfrm>
                <a:off x="473210" y="10209745"/>
                <a:ext cx="8949086" cy="1797943"/>
              </a:xfrm>
              <a:prstGeom prst="rect">
                <a:avLst/>
              </a:prstGeom>
            </p:spPr>
          </p:pic>
          <p:pic>
            <p:nvPicPr>
              <p:cNvPr id="23" name="図 22">
                <a:extLst>
                  <a:ext uri="{FF2B5EF4-FFF2-40B4-BE49-F238E27FC236}">
                    <a16:creationId xmlns:a16="http://schemas.microsoft.com/office/drawing/2014/main" id="{794F4403-B1DA-E244-B3EE-486B6A028B4C}"/>
                  </a:ext>
                </a:extLst>
              </p:cNvPr>
              <p:cNvPicPr>
                <a:picLocks noChangeAspect="1"/>
              </p:cNvPicPr>
              <p:nvPr/>
            </p:nvPicPr>
            <p:blipFill>
              <a:blip r:embed="rId11"/>
              <a:stretch>
                <a:fillRect/>
              </a:stretch>
            </p:blipFill>
            <p:spPr>
              <a:xfrm>
                <a:off x="10508975" y="10463341"/>
                <a:ext cx="6559826" cy="1386688"/>
              </a:xfrm>
              <a:prstGeom prst="rect">
                <a:avLst/>
              </a:prstGeom>
            </p:spPr>
          </p:pic>
        </p:grpSp>
        <p:sp>
          <p:nvSpPr>
            <p:cNvPr id="43" name="テキスト ボックス 42">
              <a:extLst>
                <a:ext uri="{FF2B5EF4-FFF2-40B4-BE49-F238E27FC236}">
                  <a16:creationId xmlns:a16="http://schemas.microsoft.com/office/drawing/2014/main" id="{8310C779-B634-0C45-8A0F-8BA3E6FA879B}"/>
                </a:ext>
              </a:extLst>
            </p:cNvPr>
            <p:cNvSpPr txBox="1"/>
            <p:nvPr/>
          </p:nvSpPr>
          <p:spPr>
            <a:xfrm>
              <a:off x="12230100" y="11990286"/>
              <a:ext cx="3438014" cy="707886"/>
            </a:xfrm>
            <a:prstGeom prst="rect">
              <a:avLst/>
            </a:prstGeom>
            <a:noFill/>
          </p:spPr>
          <p:txBody>
            <a:bodyPr wrap="square" rtlCol="0">
              <a:spAutoFit/>
            </a:bodyPr>
            <a:lstStyle/>
            <a:p>
              <a:pPr algn="ctr"/>
              <a:r>
                <a:rPr kumimoji="1" lang="ja-JP" altLang="en-US" sz="4000"/>
                <a:t>期待度数</a:t>
              </a:r>
              <a:endParaRPr kumimoji="1" lang="ja-JP" altLang="en-US" sz="4000" dirty="0"/>
            </a:p>
          </p:txBody>
        </p:sp>
        <p:sp>
          <p:nvSpPr>
            <p:cNvPr id="47" name="テキスト ボックス 46">
              <a:extLst>
                <a:ext uri="{FF2B5EF4-FFF2-40B4-BE49-F238E27FC236}">
                  <a16:creationId xmlns:a16="http://schemas.microsoft.com/office/drawing/2014/main" id="{3CA6430E-72E8-6543-908D-7609D193E436}"/>
                </a:ext>
              </a:extLst>
            </p:cNvPr>
            <p:cNvSpPr txBox="1"/>
            <p:nvPr/>
          </p:nvSpPr>
          <p:spPr>
            <a:xfrm>
              <a:off x="2868371" y="11990286"/>
              <a:ext cx="3438014" cy="707886"/>
            </a:xfrm>
            <a:prstGeom prst="rect">
              <a:avLst/>
            </a:prstGeom>
            <a:noFill/>
          </p:spPr>
          <p:txBody>
            <a:bodyPr wrap="square" rtlCol="0">
              <a:spAutoFit/>
            </a:bodyPr>
            <a:lstStyle/>
            <a:p>
              <a:pPr algn="ctr"/>
              <a:r>
                <a:rPr lang="ja-JP" altLang="en-US" sz="4000"/>
                <a:t>観測値</a:t>
              </a:r>
              <a:endParaRPr kumimoji="1" lang="ja-JP" altLang="en-US" sz="4000" dirty="0"/>
            </a:p>
          </p:txBody>
        </p:sp>
      </p:grpSp>
    </p:spTree>
    <p:extLst>
      <p:ext uri="{BB962C8B-B14F-4D97-AF65-F5344CB8AC3E}">
        <p14:creationId xmlns:p14="http://schemas.microsoft.com/office/powerpoint/2010/main" val="14834968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独立変数が従属変数に独立に与える効果</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主効果</a:t>
            </a:r>
            <a:endParaRPr lang="ja-JP" altLang="en-US" dirty="0"/>
          </a:p>
        </p:txBody>
      </p:sp>
      <p:grpSp>
        <p:nvGrpSpPr>
          <p:cNvPr id="48" name="グループ化 47">
            <a:extLst>
              <a:ext uri="{FF2B5EF4-FFF2-40B4-BE49-F238E27FC236}">
                <a16:creationId xmlns:a16="http://schemas.microsoft.com/office/drawing/2014/main" id="{D4C0D219-FA0A-D645-BEB3-2BCE6076AAD4}"/>
              </a:ext>
            </a:extLst>
          </p:cNvPr>
          <p:cNvGrpSpPr/>
          <p:nvPr/>
        </p:nvGrpSpPr>
        <p:grpSpPr>
          <a:xfrm>
            <a:off x="289330" y="3549983"/>
            <a:ext cx="2160000" cy="934436"/>
            <a:chOff x="144665" y="525617"/>
            <a:chExt cx="1080000" cy="467218"/>
          </a:xfrm>
        </p:grpSpPr>
        <p:sp>
          <p:nvSpPr>
            <p:cNvPr id="49" name="正方形/長方形 48">
              <a:extLst>
                <a:ext uri="{FF2B5EF4-FFF2-40B4-BE49-F238E27FC236}">
                  <a16:creationId xmlns:a16="http://schemas.microsoft.com/office/drawing/2014/main" id="{65380C86-E1B9-BE40-AC5B-B5ECBE3993A5}"/>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0" name="正方形/長方形 49">
              <a:extLst>
                <a:ext uri="{FF2B5EF4-FFF2-40B4-BE49-F238E27FC236}">
                  <a16:creationId xmlns:a16="http://schemas.microsoft.com/office/drawing/2014/main" id="{E4E517C2-3254-4B49-880E-41F38DDD198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1" name="グループ化 50">
            <a:extLst>
              <a:ext uri="{FF2B5EF4-FFF2-40B4-BE49-F238E27FC236}">
                <a16:creationId xmlns:a16="http://schemas.microsoft.com/office/drawing/2014/main" id="{AD9D5190-C348-B849-B0CC-2AC57F57E0EC}"/>
              </a:ext>
            </a:extLst>
          </p:cNvPr>
          <p:cNvGrpSpPr/>
          <p:nvPr/>
        </p:nvGrpSpPr>
        <p:grpSpPr>
          <a:xfrm>
            <a:off x="617232" y="4694043"/>
            <a:ext cx="539448" cy="487368"/>
            <a:chOff x="400056" y="1061560"/>
            <a:chExt cx="269724" cy="243684"/>
          </a:xfrm>
        </p:grpSpPr>
        <p:sp>
          <p:nvSpPr>
            <p:cNvPr id="52" name="三角形 51">
              <a:extLst>
                <a:ext uri="{FF2B5EF4-FFF2-40B4-BE49-F238E27FC236}">
                  <a16:creationId xmlns:a16="http://schemas.microsoft.com/office/drawing/2014/main" id="{B3420D0B-49EE-A648-9FE7-8E96873B474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78E67C27-0816-184F-9347-8E643E1DBF7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3C1958C2-9EA1-F445-9FAD-4BFA2760C023}"/>
              </a:ext>
            </a:extLst>
          </p:cNvPr>
          <p:cNvSpPr txBox="1">
            <a:spLocks/>
          </p:cNvSpPr>
          <p:nvPr/>
        </p:nvSpPr>
        <p:spPr>
          <a:xfrm>
            <a:off x="1254486" y="4621418"/>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独立変数の組み合わせによる複合効果</a:t>
            </a:r>
            <a:endParaRPr lang="en-US" altLang="ja-JP" dirty="0"/>
          </a:p>
        </p:txBody>
      </p:sp>
      <p:sp>
        <p:nvSpPr>
          <p:cNvPr id="55" name="テキスト プレースホルダー 30">
            <a:extLst>
              <a:ext uri="{FF2B5EF4-FFF2-40B4-BE49-F238E27FC236}">
                <a16:creationId xmlns:a16="http://schemas.microsoft.com/office/drawing/2014/main" id="{0E04D129-17FE-7347-8354-A9307B5AB4E9}"/>
              </a:ext>
            </a:extLst>
          </p:cNvPr>
          <p:cNvSpPr txBox="1">
            <a:spLocks/>
          </p:cNvSpPr>
          <p:nvPr/>
        </p:nvSpPr>
        <p:spPr>
          <a:xfrm>
            <a:off x="571049" y="37205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交互作用</a:t>
            </a:r>
            <a:endParaRPr lang="ja-JP" altLang="en-US" dirty="0"/>
          </a:p>
        </p:txBody>
      </p:sp>
      <p:sp>
        <p:nvSpPr>
          <p:cNvPr id="62" name="テキスト ボックス 61">
            <a:extLst>
              <a:ext uri="{FF2B5EF4-FFF2-40B4-BE49-F238E27FC236}">
                <a16:creationId xmlns:a16="http://schemas.microsoft.com/office/drawing/2014/main" id="{2E043D1D-535E-9D4C-A27C-669D3D496A15}"/>
              </a:ext>
            </a:extLst>
          </p:cNvPr>
          <p:cNvSpPr txBox="1"/>
          <p:nvPr/>
        </p:nvSpPr>
        <p:spPr>
          <a:xfrm>
            <a:off x="1869274"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1"/>
                </a:solidFill>
              </a:rPr>
              <a:t>なし</a:t>
            </a:r>
            <a:endParaRPr kumimoji="1" lang="ja-JP" altLang="en-US" dirty="0">
              <a:solidFill>
                <a:schemeClr val="accent1"/>
              </a:solidFill>
            </a:endParaRPr>
          </a:p>
        </p:txBody>
      </p:sp>
      <p:sp>
        <p:nvSpPr>
          <p:cNvPr id="75" name="テキスト ボックス 74">
            <a:extLst>
              <a:ext uri="{FF2B5EF4-FFF2-40B4-BE49-F238E27FC236}">
                <a16:creationId xmlns:a16="http://schemas.microsoft.com/office/drawing/2014/main" id="{30D3217E-7BBE-CC43-813A-4AFBC9666498}"/>
              </a:ext>
            </a:extLst>
          </p:cNvPr>
          <p:cNvSpPr txBox="1"/>
          <p:nvPr/>
        </p:nvSpPr>
        <p:spPr>
          <a:xfrm>
            <a:off x="10568687"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2"/>
                </a:solidFill>
              </a:rPr>
              <a:t>あり</a:t>
            </a:r>
            <a:endParaRPr kumimoji="1" lang="ja-JP" altLang="en-US" dirty="0">
              <a:solidFill>
                <a:schemeClr val="accent2"/>
              </a:solidFill>
            </a:endParaRPr>
          </a:p>
        </p:txBody>
      </p:sp>
      <p:grpSp>
        <p:nvGrpSpPr>
          <p:cNvPr id="34" name="グループ化 33">
            <a:extLst>
              <a:ext uri="{FF2B5EF4-FFF2-40B4-BE49-F238E27FC236}">
                <a16:creationId xmlns:a16="http://schemas.microsoft.com/office/drawing/2014/main" id="{23D768ED-5167-7042-B3C7-596593CB03B7}"/>
              </a:ext>
            </a:extLst>
          </p:cNvPr>
          <p:cNvGrpSpPr/>
          <p:nvPr/>
        </p:nvGrpSpPr>
        <p:grpSpPr>
          <a:xfrm>
            <a:off x="1254486" y="6030328"/>
            <a:ext cx="7651098" cy="6181859"/>
            <a:chOff x="1254486" y="6030328"/>
            <a:chExt cx="7651098" cy="6181859"/>
          </a:xfrm>
        </p:grpSpPr>
        <p:sp>
          <p:nvSpPr>
            <p:cNvPr id="76" name="テキスト ボックス 75">
              <a:extLst>
                <a:ext uri="{FF2B5EF4-FFF2-40B4-BE49-F238E27FC236}">
                  <a16:creationId xmlns:a16="http://schemas.microsoft.com/office/drawing/2014/main" id="{E9FF5E88-E703-5E40-9999-6911B6D20987}"/>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32" name="グループ化 31">
              <a:extLst>
                <a:ext uri="{FF2B5EF4-FFF2-40B4-BE49-F238E27FC236}">
                  <a16:creationId xmlns:a16="http://schemas.microsoft.com/office/drawing/2014/main" id="{87BCD5D7-F58C-F04E-B718-091538D493F8}"/>
                </a:ext>
              </a:extLst>
            </p:cNvPr>
            <p:cNvGrpSpPr/>
            <p:nvPr/>
          </p:nvGrpSpPr>
          <p:grpSpPr>
            <a:xfrm>
              <a:off x="1254486" y="6030328"/>
              <a:ext cx="7651098" cy="6180079"/>
              <a:chOff x="1254486" y="6030328"/>
              <a:chExt cx="7651098" cy="6180079"/>
            </a:xfrm>
          </p:grpSpPr>
          <p:grpSp>
            <p:nvGrpSpPr>
              <p:cNvPr id="22" name="グループ化 21">
                <a:extLst>
                  <a:ext uri="{FF2B5EF4-FFF2-40B4-BE49-F238E27FC236}">
                    <a16:creationId xmlns:a16="http://schemas.microsoft.com/office/drawing/2014/main" id="{583B5F34-20EE-7843-BA8A-D2CF09D4CD27}"/>
                  </a:ext>
                </a:extLst>
              </p:cNvPr>
              <p:cNvGrpSpPr/>
              <p:nvPr/>
            </p:nvGrpSpPr>
            <p:grpSpPr>
              <a:xfrm>
                <a:off x="1254486" y="6030328"/>
                <a:ext cx="7651098" cy="6180079"/>
                <a:chOff x="1254486" y="6909069"/>
                <a:chExt cx="7651098" cy="6180079"/>
              </a:xfrm>
            </p:grpSpPr>
            <p:cxnSp>
              <p:nvCxnSpPr>
                <p:cNvPr id="18" name="直線コネクタ 17">
                  <a:extLst>
                    <a:ext uri="{FF2B5EF4-FFF2-40B4-BE49-F238E27FC236}">
                      <a16:creationId xmlns:a16="http://schemas.microsoft.com/office/drawing/2014/main" id="{463D9F0A-4E67-1C4B-9670-CE07999905CD}"/>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EE86D145-8E90-B645-9C0A-080D14BAFC5D}"/>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3B011E9A-47EE-8D4D-9B54-741662DC5CD5}"/>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58" name="テキスト ボックス 57">
                  <a:extLst>
                    <a:ext uri="{FF2B5EF4-FFF2-40B4-BE49-F238E27FC236}">
                      <a16:creationId xmlns:a16="http://schemas.microsoft.com/office/drawing/2014/main" id="{BADEFAF0-8F28-EE4B-8CD4-E0942837CE4D}"/>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59" name="直線コネクタ 58">
                  <a:extLst>
                    <a:ext uri="{FF2B5EF4-FFF2-40B4-BE49-F238E27FC236}">
                      <a16:creationId xmlns:a16="http://schemas.microsoft.com/office/drawing/2014/main" id="{956AB50B-9E0F-DB40-8D06-004E12A081C5}"/>
                    </a:ext>
                  </a:extLst>
                </p:cNvPr>
                <p:cNvCxnSpPr>
                  <a:cxnSpLocks/>
                </p:cNvCxnSpPr>
                <p:nvPr/>
              </p:nvCxnSpPr>
              <p:spPr>
                <a:xfrm flipH="1">
                  <a:off x="3172391" y="9599032"/>
                  <a:ext cx="2631677" cy="126366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6926C857-74AE-2749-A2BA-13319022D56B}"/>
                    </a:ext>
                  </a:extLst>
                </p:cNvPr>
                <p:cNvCxnSpPr>
                  <a:cxnSpLocks/>
                </p:cNvCxnSpPr>
                <p:nvPr/>
              </p:nvCxnSpPr>
              <p:spPr>
                <a:xfrm flipH="1">
                  <a:off x="3172391" y="8554502"/>
                  <a:ext cx="2631676" cy="12480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3F399CE1-3BC4-5743-B088-A86F5FF19C24}"/>
                    </a:ext>
                  </a:extLst>
                </p:cNvPr>
                <p:cNvSpPr txBox="1"/>
                <p:nvPr/>
              </p:nvSpPr>
              <p:spPr>
                <a:xfrm>
                  <a:off x="6654248" y="7113710"/>
                  <a:ext cx="2251336" cy="1200329"/>
                </a:xfrm>
                <a:prstGeom prst="rect">
                  <a:avLst/>
                </a:prstGeom>
                <a:noFill/>
              </p:spPr>
              <p:txBody>
                <a:bodyPr wrap="square" rtlCol="0">
                  <a:spAutoFit/>
                </a:bodyPr>
                <a:lstStyle/>
                <a:p>
                  <a:pPr/>
                  <a:r>
                    <a:rPr lang="ja-JP" altLang="en-US">
                      <a:solidFill>
                        <a:schemeClr val="accent2"/>
                      </a:solidFill>
                    </a:rPr>
                    <a:t>オランダ</a:t>
                  </a:r>
                  <a:endParaRPr lang="en-US" altLang="ja-JP" dirty="0">
                    <a:solidFill>
                      <a:schemeClr val="accent2"/>
                    </a:solidFill>
                  </a:endParaRPr>
                </a:p>
                <a:p>
                  <a:pPr/>
                  <a:r>
                    <a:rPr lang="ja-JP" altLang="en-US">
                      <a:solidFill>
                        <a:schemeClr val="accent1"/>
                      </a:solidFill>
                    </a:rPr>
                    <a:t>日本</a:t>
                  </a:r>
                  <a:endParaRPr kumimoji="1" lang="ja-JP" altLang="en-US" dirty="0">
                    <a:solidFill>
                      <a:schemeClr val="accent1"/>
                    </a:solidFill>
                  </a:endParaRPr>
                </a:p>
              </p:txBody>
            </p:sp>
          </p:grpSp>
          <p:cxnSp>
            <p:nvCxnSpPr>
              <p:cNvPr id="77" name="直線コネクタ 76">
                <a:extLst>
                  <a:ext uri="{FF2B5EF4-FFF2-40B4-BE49-F238E27FC236}">
                    <a16:creationId xmlns:a16="http://schemas.microsoft.com/office/drawing/2014/main" id="{D6E49424-983C-4449-AE31-A393AE0C7C34}"/>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5280907-4728-0949-97EF-3D6EFDA6E21B}"/>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grpSp>
        <p:nvGrpSpPr>
          <p:cNvPr id="91" name="グループ化 90">
            <a:extLst>
              <a:ext uri="{FF2B5EF4-FFF2-40B4-BE49-F238E27FC236}">
                <a16:creationId xmlns:a16="http://schemas.microsoft.com/office/drawing/2014/main" id="{7F4FBC10-0CE5-B144-86EC-4D25867E46BA}"/>
              </a:ext>
            </a:extLst>
          </p:cNvPr>
          <p:cNvGrpSpPr/>
          <p:nvPr/>
        </p:nvGrpSpPr>
        <p:grpSpPr>
          <a:xfrm>
            <a:off x="10129664" y="6030328"/>
            <a:ext cx="7435665" cy="6181859"/>
            <a:chOff x="1254486" y="6030328"/>
            <a:chExt cx="7435665" cy="6181859"/>
          </a:xfrm>
        </p:grpSpPr>
        <p:sp>
          <p:nvSpPr>
            <p:cNvPr id="92" name="テキスト ボックス 91">
              <a:extLst>
                <a:ext uri="{FF2B5EF4-FFF2-40B4-BE49-F238E27FC236}">
                  <a16:creationId xmlns:a16="http://schemas.microsoft.com/office/drawing/2014/main" id="{58759C3B-6C2E-6942-B6B9-03906B6E1402}"/>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93" name="グループ化 92">
              <a:extLst>
                <a:ext uri="{FF2B5EF4-FFF2-40B4-BE49-F238E27FC236}">
                  <a16:creationId xmlns:a16="http://schemas.microsoft.com/office/drawing/2014/main" id="{F35B8491-3422-1848-AEA6-6DBA5160EA5A}"/>
                </a:ext>
              </a:extLst>
            </p:cNvPr>
            <p:cNvGrpSpPr/>
            <p:nvPr/>
          </p:nvGrpSpPr>
          <p:grpSpPr>
            <a:xfrm>
              <a:off x="1254486" y="6030328"/>
              <a:ext cx="7435665" cy="6180079"/>
              <a:chOff x="1254486" y="6030328"/>
              <a:chExt cx="7435665" cy="6180079"/>
            </a:xfrm>
          </p:grpSpPr>
          <p:grpSp>
            <p:nvGrpSpPr>
              <p:cNvPr id="94" name="グループ化 93">
                <a:extLst>
                  <a:ext uri="{FF2B5EF4-FFF2-40B4-BE49-F238E27FC236}">
                    <a16:creationId xmlns:a16="http://schemas.microsoft.com/office/drawing/2014/main" id="{1058908E-6A11-A746-88CE-FE83D759917F}"/>
                  </a:ext>
                </a:extLst>
              </p:cNvPr>
              <p:cNvGrpSpPr/>
              <p:nvPr/>
            </p:nvGrpSpPr>
            <p:grpSpPr>
              <a:xfrm>
                <a:off x="1254486" y="6030328"/>
                <a:ext cx="7435665" cy="6180079"/>
                <a:chOff x="1254486" y="6909069"/>
                <a:chExt cx="7435665" cy="6180079"/>
              </a:xfrm>
            </p:grpSpPr>
            <p:cxnSp>
              <p:nvCxnSpPr>
                <p:cNvPr id="97" name="直線コネクタ 96">
                  <a:extLst>
                    <a:ext uri="{FF2B5EF4-FFF2-40B4-BE49-F238E27FC236}">
                      <a16:creationId xmlns:a16="http://schemas.microsoft.com/office/drawing/2014/main" id="{57B98646-201D-DA40-9060-DF58B92B7187}"/>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60C18A5D-B9F0-DE46-9416-7A8D22B8BDA4}"/>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9" name="テキスト ボックス 98">
                  <a:extLst>
                    <a:ext uri="{FF2B5EF4-FFF2-40B4-BE49-F238E27FC236}">
                      <a16:creationId xmlns:a16="http://schemas.microsoft.com/office/drawing/2014/main" id="{E88CD591-370F-C14E-8A3A-025E21E1FA74}"/>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100" name="テキスト ボックス 99">
                  <a:extLst>
                    <a:ext uri="{FF2B5EF4-FFF2-40B4-BE49-F238E27FC236}">
                      <a16:creationId xmlns:a16="http://schemas.microsoft.com/office/drawing/2014/main" id="{46448776-C207-5C4A-8C69-51532F9EF087}"/>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101" name="直線コネクタ 100">
                  <a:extLst>
                    <a:ext uri="{FF2B5EF4-FFF2-40B4-BE49-F238E27FC236}">
                      <a16:creationId xmlns:a16="http://schemas.microsoft.com/office/drawing/2014/main" id="{EEDBB279-98CC-1543-8041-24599D0198B1}"/>
                    </a:ext>
                  </a:extLst>
                </p:cNvPr>
                <p:cNvCxnSpPr>
                  <a:cxnSpLocks/>
                </p:cNvCxnSpPr>
                <p:nvPr/>
              </p:nvCxnSpPr>
              <p:spPr>
                <a:xfrm flipH="1">
                  <a:off x="3172392" y="10185193"/>
                  <a:ext cx="2631675" cy="67750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81DA62A3-251C-BF49-ABD9-7CFEAF525B81}"/>
                    </a:ext>
                  </a:extLst>
                </p:cNvPr>
                <p:cNvCxnSpPr>
                  <a:cxnSpLocks/>
                </p:cNvCxnSpPr>
                <p:nvPr/>
              </p:nvCxnSpPr>
              <p:spPr>
                <a:xfrm flipH="1">
                  <a:off x="3172391" y="7757850"/>
                  <a:ext cx="2631676" cy="239189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E7F7E90B-2518-3342-BF7B-00EF230603DF}"/>
                    </a:ext>
                  </a:extLst>
                </p:cNvPr>
                <p:cNvSpPr txBox="1"/>
                <p:nvPr/>
              </p:nvSpPr>
              <p:spPr>
                <a:xfrm>
                  <a:off x="6654247" y="7113710"/>
                  <a:ext cx="2035904" cy="1200329"/>
                </a:xfrm>
                <a:prstGeom prst="rect">
                  <a:avLst/>
                </a:prstGeom>
                <a:noFill/>
              </p:spPr>
              <p:txBody>
                <a:bodyPr wrap="square" rtlCol="0">
                  <a:spAutoFit/>
                </a:bodyPr>
                <a:lstStyle/>
                <a:p>
                  <a:pPr/>
                  <a:r>
                    <a:rPr lang="ja-JP" altLang="en-US">
                      <a:solidFill>
                        <a:schemeClr val="accent2"/>
                      </a:solidFill>
                    </a:rPr>
                    <a:t>オランダ</a:t>
                  </a:r>
                  <a:endParaRPr lang="en-US" altLang="ja-JP" dirty="0">
                    <a:solidFill>
                      <a:schemeClr val="accent2"/>
                    </a:solidFill>
                  </a:endParaRPr>
                </a:p>
                <a:p>
                  <a:pPr/>
                  <a:r>
                    <a:rPr lang="ja-JP" altLang="en-US">
                      <a:solidFill>
                        <a:schemeClr val="accent1"/>
                      </a:solidFill>
                    </a:rPr>
                    <a:t>日本</a:t>
                  </a:r>
                  <a:endParaRPr kumimoji="1" lang="ja-JP" altLang="en-US" dirty="0">
                    <a:solidFill>
                      <a:schemeClr val="accent1"/>
                    </a:solidFill>
                  </a:endParaRPr>
                </a:p>
              </p:txBody>
            </p:sp>
          </p:grpSp>
          <p:cxnSp>
            <p:nvCxnSpPr>
              <p:cNvPr id="95" name="直線コネクタ 94">
                <a:extLst>
                  <a:ext uri="{FF2B5EF4-FFF2-40B4-BE49-F238E27FC236}">
                    <a16:creationId xmlns:a16="http://schemas.microsoft.com/office/drawing/2014/main" id="{CAE2B569-05F8-9D4C-9510-DE1015FE50DA}"/>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a16:creationId xmlns:a16="http://schemas.microsoft.com/office/drawing/2014/main" id="{16C24A39-7F3A-BB4F-8682-E3668C9A2E0C}"/>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68143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Strategic</m:t>
                    </m:r>
                    <m:r>
                      <a:rPr lang="ja-JP" altLang="en-US"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Free</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1</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81" t="-20588" b="-8824"/>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2)</m:t>
                    </m:r>
                    <m:r>
                      <a:rPr lang="ja-JP" altLang="en-US" i="1"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96</m:t>
                    </m:r>
                    <m:r>
                      <a:rPr lang="ja-JP" altLang="en-US" i="1" dirty="0">
                        <a:solidFill>
                          <a:schemeClr val="tx1"/>
                        </a:solidFill>
                        <a:latin typeface="Cambria Math" panose="02040503050406030204" pitchFamily="18" charset="0"/>
                      </a:rPr>
                      <m:t>名</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111" t="-20588" b="-88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52965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a:xfrm>
            <a:off x="6057900" y="13186238"/>
            <a:ext cx="6172200" cy="730250"/>
          </a:xfrm>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493191150"/>
              </p:ext>
            </p:extLst>
          </p:nvPr>
        </p:nvGraphicFramePr>
        <p:xfrm>
          <a:off x="6336192" y="7101360"/>
          <a:ext cx="8879677" cy="548409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4A652383-205C-AE4C-A040-322FF6694107}"/>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3" name="テキスト ボックス 42">
                <a:extLst>
                  <a:ext uri="{FF2B5EF4-FFF2-40B4-BE49-F238E27FC236}">
                    <a16:creationId xmlns:a16="http://schemas.microsoft.com/office/drawing/2014/main" id="{4A652383-205C-AE4C-A040-322FF6694107}"/>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5"/>
                <a:stretch>
                  <a:fillRect b="-3846"/>
                </a:stretch>
              </a:blipFill>
            </p:spPr>
            <p:txBody>
              <a:bodyPr/>
              <a:lstStyle/>
              <a:p>
                <a:r>
                  <a:rPr lang="ja-JP" altLang="en-US">
                    <a:noFill/>
                  </a:rPr>
                  <a:t> </a:t>
                </a:r>
              </a:p>
            </p:txBody>
          </p:sp>
        </mc:Fallback>
      </mc:AlternateContent>
      <p:cxnSp>
        <p:nvCxnSpPr>
          <p:cNvPr id="18" name="直線コネクタ 17">
            <a:extLst>
              <a:ext uri="{FF2B5EF4-FFF2-40B4-BE49-F238E27FC236}">
                <a16:creationId xmlns:a16="http://schemas.microsoft.com/office/drawing/2014/main" id="{B77C7DEA-7962-674A-878E-039B60C89285}"/>
              </a:ext>
            </a:extLst>
          </p:cNvPr>
          <p:cNvCxnSpPr>
            <a:cxnSpLocks/>
          </p:cNvCxnSpPr>
          <p:nvPr/>
        </p:nvCxnSpPr>
        <p:spPr>
          <a:xfrm rot="16200000">
            <a:off x="5391324" y="9906779"/>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9A52208C-5D0F-6A4F-B724-CAEAB4EE5FA8}"/>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8" name="テキスト ボックス 47">
                <a:extLst>
                  <a:ext uri="{FF2B5EF4-FFF2-40B4-BE49-F238E27FC236}">
                    <a16:creationId xmlns:a16="http://schemas.microsoft.com/office/drawing/2014/main" id="{9A52208C-5D0F-6A4F-B724-CAEAB4EE5FA8}"/>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6"/>
                <a:stretch>
                  <a:fillRect b="-3846"/>
                </a:stretch>
              </a:blipFill>
            </p:spPr>
            <p:txBody>
              <a:bodyPr/>
              <a:lstStyle/>
              <a:p>
                <a:r>
                  <a:rPr lang="ja-JP" altLang="en-US">
                    <a:noFill/>
                  </a:rPr>
                  <a:t> </a:t>
                </a:r>
              </a:p>
            </p:txBody>
          </p:sp>
        </mc:Fallback>
      </mc:AlternateContent>
      <p:cxnSp>
        <p:nvCxnSpPr>
          <p:cNvPr id="49" name="直線コネクタ 48">
            <a:extLst>
              <a:ext uri="{FF2B5EF4-FFF2-40B4-BE49-F238E27FC236}">
                <a16:creationId xmlns:a16="http://schemas.microsoft.com/office/drawing/2014/main" id="{3EB2F0C3-9310-D541-8E05-9AE0D3EFDBC8}"/>
              </a:ext>
            </a:extLst>
          </p:cNvPr>
          <p:cNvCxnSpPr>
            <a:cxnSpLocks/>
          </p:cNvCxnSpPr>
          <p:nvPr/>
        </p:nvCxnSpPr>
        <p:spPr>
          <a:xfrm rot="16200000">
            <a:off x="8311834" y="9910063"/>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50" name="グラフ 49">
            <a:extLst>
              <a:ext uri="{FF2B5EF4-FFF2-40B4-BE49-F238E27FC236}">
                <a16:creationId xmlns:a16="http://schemas.microsoft.com/office/drawing/2014/main" id="{CACDB637-B9F7-494B-B4EC-BE5103220DCB}"/>
              </a:ext>
            </a:extLst>
          </p:cNvPr>
          <p:cNvGraphicFramePr>
            <a:graphicFrameLocks/>
          </p:cNvGraphicFramePr>
          <p:nvPr>
            <p:extLst>
              <p:ext uri="{D42A27DB-BD31-4B8C-83A1-F6EECF244321}">
                <p14:modId xmlns:p14="http://schemas.microsoft.com/office/powerpoint/2010/main" val="3053543545"/>
              </p:ext>
            </p:extLst>
          </p:nvPr>
        </p:nvGraphicFramePr>
        <p:xfrm>
          <a:off x="3402226" y="7049581"/>
          <a:ext cx="8879677" cy="5484095"/>
        </p:xfrm>
        <a:graphic>
          <a:graphicData uri="http://schemas.openxmlformats.org/drawingml/2006/chart">
            <c:chart xmlns:c="http://schemas.openxmlformats.org/drawingml/2006/chart" xmlns:r="http://schemas.openxmlformats.org/officeDocument/2006/relationships" r:id="rId7"/>
          </a:graphicData>
        </a:graphic>
      </p:graphicFrame>
      <p:grpSp>
        <p:nvGrpSpPr>
          <p:cNvPr id="54" name="グループ化 53">
            <a:extLst>
              <a:ext uri="{FF2B5EF4-FFF2-40B4-BE49-F238E27FC236}">
                <a16:creationId xmlns:a16="http://schemas.microsoft.com/office/drawing/2014/main" id="{E22D64F4-356C-2247-B14C-1A728A1C38D0}"/>
              </a:ext>
            </a:extLst>
          </p:cNvPr>
          <p:cNvGrpSpPr/>
          <p:nvPr/>
        </p:nvGrpSpPr>
        <p:grpSpPr>
          <a:xfrm>
            <a:off x="617232" y="2557358"/>
            <a:ext cx="539448" cy="487368"/>
            <a:chOff x="400056" y="1061560"/>
            <a:chExt cx="269724" cy="243684"/>
          </a:xfrm>
        </p:grpSpPr>
        <p:sp>
          <p:nvSpPr>
            <p:cNvPr id="55" name="三角形 54">
              <a:extLst>
                <a:ext uri="{FF2B5EF4-FFF2-40B4-BE49-F238E27FC236}">
                  <a16:creationId xmlns:a16="http://schemas.microsoft.com/office/drawing/2014/main" id="{5EF95EB3-78D1-5547-8CEA-6C55C34AA1D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BC3F52D9-0C5A-224D-83B9-B4D56EA9E03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9" name="テキスト プレースホルダー 27">
            <a:extLst>
              <a:ext uri="{FF2B5EF4-FFF2-40B4-BE49-F238E27FC236}">
                <a16:creationId xmlns:a16="http://schemas.microsoft.com/office/drawing/2014/main" id="{F6AEFAEB-7D97-5742-84ED-94FD7044BBAD}"/>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61" name="三角形 60">
            <a:extLst>
              <a:ext uri="{FF2B5EF4-FFF2-40B4-BE49-F238E27FC236}">
                <a16:creationId xmlns:a16="http://schemas.microsoft.com/office/drawing/2014/main" id="{1B74EBDF-BF47-C840-831D-B8C6D766809E}"/>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FE1E01E7-09E1-CC4A-A075-B83C2E137089}"/>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62" name="テキスト ボックス 61">
                <a:extLst>
                  <a:ext uri="{FF2B5EF4-FFF2-40B4-BE49-F238E27FC236}">
                    <a16:creationId xmlns:a16="http://schemas.microsoft.com/office/drawing/2014/main" id="{FE1E01E7-09E1-CC4A-A075-B83C2E137089}"/>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8"/>
                <a:stretch>
                  <a:fillRect l="-1416" b="-7292"/>
                </a:stretch>
              </a:blipFill>
            </p:spPr>
            <p:txBody>
              <a:bodyPr/>
              <a:lstStyle/>
              <a:p>
                <a:r>
                  <a:rPr lang="ja-JP" altLang="en-US">
                    <a:noFill/>
                  </a:rPr>
                  <a:t> </a:t>
                </a:r>
              </a:p>
            </p:txBody>
          </p:sp>
        </mc:Fallback>
      </mc:AlternateContent>
      <p:sp>
        <p:nvSpPr>
          <p:cNvPr id="63" name="三角形 62">
            <a:extLst>
              <a:ext uri="{FF2B5EF4-FFF2-40B4-BE49-F238E27FC236}">
                <a16:creationId xmlns:a16="http://schemas.microsoft.com/office/drawing/2014/main" id="{DCFD08B2-819C-894A-8BDC-1C77C96893CC}"/>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4" name="テキスト プレースホルダー 29">
                <a:extLst>
                  <a:ext uri="{FF2B5EF4-FFF2-40B4-BE49-F238E27FC236}">
                    <a16:creationId xmlns:a16="http://schemas.microsoft.com/office/drawing/2014/main" id="{8457E5B4-7A56-874B-8BCA-D5E09239AC65}"/>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4" name="テキスト プレースホルダー 29">
                <a:extLst>
                  <a:ext uri="{FF2B5EF4-FFF2-40B4-BE49-F238E27FC236}">
                    <a16:creationId xmlns:a16="http://schemas.microsoft.com/office/drawing/2014/main" id="{8457E5B4-7A56-874B-8BCA-D5E09239AC65}"/>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9"/>
                <a:stretch>
                  <a:fillRect l="-486" t="-20290" b="-7246"/>
                </a:stretch>
              </a:blipFill>
            </p:spPr>
            <p:txBody>
              <a:bodyPr/>
              <a:lstStyle/>
              <a:p>
                <a:r>
                  <a:rPr lang="ja-JP" altLang="en-US">
                    <a:noFill/>
                  </a:rPr>
                  <a:t> </a:t>
                </a:r>
              </a:p>
            </p:txBody>
          </p:sp>
        </mc:Fallback>
      </mc:AlternateContent>
      <p:sp>
        <p:nvSpPr>
          <p:cNvPr id="65" name="三角形 31">
            <a:extLst>
              <a:ext uri="{FF2B5EF4-FFF2-40B4-BE49-F238E27FC236}">
                <a16:creationId xmlns:a16="http://schemas.microsoft.com/office/drawing/2014/main" id="{756990D8-7760-4846-97A8-EB519DBB6DBC}"/>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6" name="テキスト プレースホルダー 29">
                <a:extLst>
                  <a:ext uri="{FF2B5EF4-FFF2-40B4-BE49-F238E27FC236}">
                    <a16:creationId xmlns:a16="http://schemas.microsoft.com/office/drawing/2014/main" id="{E5DE0E1F-A3BF-FC40-9A42-3945F2144AC9}"/>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6" name="テキスト プレースホルダー 29">
                <a:extLst>
                  <a:ext uri="{FF2B5EF4-FFF2-40B4-BE49-F238E27FC236}">
                    <a16:creationId xmlns:a16="http://schemas.microsoft.com/office/drawing/2014/main" id="{E5DE0E1F-A3BF-FC40-9A42-3945F2144AC9}"/>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10"/>
                <a:stretch>
                  <a:fillRect l="-551" t="-20588" b="-8824"/>
                </a:stretch>
              </a:blipFill>
            </p:spPr>
            <p:txBody>
              <a:bodyPr/>
              <a:lstStyle/>
              <a:p>
                <a:r>
                  <a:rPr lang="ja-JP" altLang="en-US">
                    <a:noFill/>
                  </a:rPr>
                  <a:t> </a:t>
                </a:r>
              </a:p>
            </p:txBody>
          </p:sp>
        </mc:Fallback>
      </mc:AlternateContent>
      <p:sp>
        <p:nvSpPr>
          <p:cNvPr id="67" name="三角形 31">
            <a:extLst>
              <a:ext uri="{FF2B5EF4-FFF2-40B4-BE49-F238E27FC236}">
                <a16:creationId xmlns:a16="http://schemas.microsoft.com/office/drawing/2014/main" id="{E8EC6B5A-D9EA-6E43-9CA2-3251596697ED}"/>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8" name="テキスト プレースホルダー 29">
                <a:extLst>
                  <a:ext uri="{FF2B5EF4-FFF2-40B4-BE49-F238E27FC236}">
                    <a16:creationId xmlns:a16="http://schemas.microsoft.com/office/drawing/2014/main" id="{4BDA0C7C-060C-1846-B807-1899A3952CB4}"/>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68" name="テキスト プレースホルダー 29">
                <a:extLst>
                  <a:ext uri="{FF2B5EF4-FFF2-40B4-BE49-F238E27FC236}">
                    <a16:creationId xmlns:a16="http://schemas.microsoft.com/office/drawing/2014/main" id="{4BDA0C7C-060C-1846-B807-1899A3952CB4}"/>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11"/>
                <a:stretch>
                  <a:fillRect l="-551" t="-22059" b="-735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sp>
        <p:nvSpPr>
          <p:cNvPr id="33" name="三角形 32">
            <a:extLst>
              <a:ext uri="{FF2B5EF4-FFF2-40B4-BE49-F238E27FC236}">
                <a16:creationId xmlns:a16="http://schemas.microsoft.com/office/drawing/2014/main" id="{18C29465-CC4C-C045-B53F-872758B0AD69}"/>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F802FB05-D202-E443-ADB7-E9375D06ABAB}"/>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35" name="テキスト ボックス 34">
                <a:extLst>
                  <a:ext uri="{FF2B5EF4-FFF2-40B4-BE49-F238E27FC236}">
                    <a16:creationId xmlns:a16="http://schemas.microsoft.com/office/drawing/2014/main" id="{F802FB05-D202-E443-ADB7-E9375D06ABAB}"/>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4"/>
                <a:stretch>
                  <a:fillRect l="-1416" b="-7292"/>
                </a:stretch>
              </a:blipFill>
            </p:spPr>
            <p:txBody>
              <a:bodyPr/>
              <a:lstStyle/>
              <a:p>
                <a:r>
                  <a:rPr lang="ja-JP" altLang="en-US">
                    <a:noFill/>
                  </a:rPr>
                  <a:t> </a:t>
                </a:r>
              </a:p>
            </p:txBody>
          </p:sp>
        </mc:Fallback>
      </mc:AlternateContent>
      <p:sp>
        <p:nvSpPr>
          <p:cNvPr id="37" name="三角形 36">
            <a:extLst>
              <a:ext uri="{FF2B5EF4-FFF2-40B4-BE49-F238E27FC236}">
                <a16:creationId xmlns:a16="http://schemas.microsoft.com/office/drawing/2014/main" id="{18B5F3DC-8DCC-A846-89BF-F23BE419D684}"/>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8" name="テキスト プレースホルダー 29">
                <a:extLst>
                  <a:ext uri="{FF2B5EF4-FFF2-40B4-BE49-F238E27FC236}">
                    <a16:creationId xmlns:a16="http://schemas.microsoft.com/office/drawing/2014/main" id="{BDEA3BE8-4651-FB49-918D-1019226F0594}"/>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38" name="テキスト プレースホルダー 29">
                <a:extLst>
                  <a:ext uri="{FF2B5EF4-FFF2-40B4-BE49-F238E27FC236}">
                    <a16:creationId xmlns:a16="http://schemas.microsoft.com/office/drawing/2014/main" id="{BDEA3BE8-4651-FB49-918D-1019226F0594}"/>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5"/>
                <a:stretch>
                  <a:fillRect l="-486" t="-20290" b="-7246"/>
                </a:stretch>
              </a:blipFill>
            </p:spPr>
            <p:txBody>
              <a:bodyPr/>
              <a:lstStyle/>
              <a:p>
                <a:r>
                  <a:rPr lang="ja-JP" altLang="en-US">
                    <a:noFill/>
                  </a:rPr>
                  <a:t> </a:t>
                </a:r>
              </a:p>
            </p:txBody>
          </p:sp>
        </mc:Fallback>
      </mc:AlternateContent>
      <p:sp>
        <p:nvSpPr>
          <p:cNvPr id="39" name="三角形 31">
            <a:extLst>
              <a:ext uri="{FF2B5EF4-FFF2-40B4-BE49-F238E27FC236}">
                <a16:creationId xmlns:a16="http://schemas.microsoft.com/office/drawing/2014/main" id="{EB7DC3B4-ECAC-034A-BBCD-BBC58CF44C81}"/>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0C947E9E-1956-E247-95E3-C72B0317C180}"/>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40" name="テキスト プレースホルダー 29">
                <a:extLst>
                  <a:ext uri="{FF2B5EF4-FFF2-40B4-BE49-F238E27FC236}">
                    <a16:creationId xmlns:a16="http://schemas.microsoft.com/office/drawing/2014/main" id="{0C947E9E-1956-E247-95E3-C72B0317C180}"/>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6"/>
                <a:stretch>
                  <a:fillRect l="-551" t="-20588" b="-8824"/>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B072C08D-D772-1041-A16B-40DE43D420C9}"/>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72076AA8-6B44-C24C-A08C-555CB140E215}"/>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42" name="テキスト プレースホルダー 29">
                <a:extLst>
                  <a:ext uri="{FF2B5EF4-FFF2-40B4-BE49-F238E27FC236}">
                    <a16:creationId xmlns:a16="http://schemas.microsoft.com/office/drawing/2014/main" id="{72076AA8-6B44-C24C-A08C-555CB140E215}"/>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7"/>
                <a:stretch>
                  <a:fillRect l="-551" t="-22059" b="-7353"/>
                </a:stretch>
              </a:blipFill>
            </p:spPr>
            <p:txBody>
              <a:bodyPr/>
              <a:lstStyle/>
              <a:p>
                <a:r>
                  <a:rPr lang="ja-JP" altLang="en-US">
                    <a:noFill/>
                  </a:rPr>
                  <a:t> </a:t>
                </a:r>
              </a:p>
            </p:txBody>
          </p:sp>
        </mc:Fallback>
      </mc:AlternateContent>
      <p:graphicFrame>
        <p:nvGraphicFramePr>
          <p:cNvPr id="30" name="グラフ 29">
            <a:extLst>
              <a:ext uri="{FF2B5EF4-FFF2-40B4-BE49-F238E27FC236}">
                <a16:creationId xmlns:a16="http://schemas.microsoft.com/office/drawing/2014/main" id="{9C7B3C59-3294-044D-B97C-102F9E090608}"/>
              </a:ext>
            </a:extLst>
          </p:cNvPr>
          <p:cNvGraphicFramePr>
            <a:graphicFrameLocks/>
          </p:cNvGraphicFramePr>
          <p:nvPr>
            <p:extLst>
              <p:ext uri="{D42A27DB-BD31-4B8C-83A1-F6EECF244321}">
                <p14:modId xmlns:p14="http://schemas.microsoft.com/office/powerpoint/2010/main" val="517656075"/>
              </p:ext>
            </p:extLst>
          </p:nvPr>
        </p:nvGraphicFramePr>
        <p:xfrm>
          <a:off x="492112" y="8926470"/>
          <a:ext cx="14878208" cy="3610447"/>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31" name="グラフ 30">
            <a:extLst>
              <a:ext uri="{FF2B5EF4-FFF2-40B4-BE49-F238E27FC236}">
                <a16:creationId xmlns:a16="http://schemas.microsoft.com/office/drawing/2014/main" id="{8FCEA8F6-C7C0-7B46-9D26-308706338AA4}"/>
              </a:ext>
            </a:extLst>
          </p:cNvPr>
          <p:cNvGraphicFramePr>
            <a:graphicFrameLocks/>
          </p:cNvGraphicFramePr>
          <p:nvPr>
            <p:extLst>
              <p:ext uri="{D42A27DB-BD31-4B8C-83A1-F6EECF244321}">
                <p14:modId xmlns:p14="http://schemas.microsoft.com/office/powerpoint/2010/main" val="2792799119"/>
              </p:ext>
            </p:extLst>
          </p:nvPr>
        </p:nvGraphicFramePr>
        <p:xfrm>
          <a:off x="3487214" y="8926471"/>
          <a:ext cx="14878208" cy="3626722"/>
        </p:xfrm>
        <a:graphic>
          <a:graphicData uri="http://schemas.openxmlformats.org/drawingml/2006/chart">
            <c:chart xmlns:c="http://schemas.openxmlformats.org/drawingml/2006/chart" xmlns:r="http://schemas.openxmlformats.org/officeDocument/2006/relationships" r:id="rId9"/>
          </a:graphicData>
        </a:graphic>
      </p:graphicFrame>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B3A9F792-ED05-E64A-BE5E-8BAFA9BB0746}"/>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5" name="テキスト ボックス 44">
                <a:extLst>
                  <a:ext uri="{FF2B5EF4-FFF2-40B4-BE49-F238E27FC236}">
                    <a16:creationId xmlns:a16="http://schemas.microsoft.com/office/drawing/2014/main" id="{B3A9F792-ED05-E64A-BE5E-8BAFA9BB0746}"/>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10"/>
                <a:stretch>
                  <a:fillRect b="-3846"/>
                </a:stretch>
              </a:blipFill>
            </p:spPr>
            <p:txBody>
              <a:bodyPr/>
              <a:lstStyle/>
              <a:p>
                <a:r>
                  <a:rPr lang="ja-JP" altLang="en-US">
                    <a:noFill/>
                  </a:rPr>
                  <a:t> </a:t>
                </a:r>
              </a:p>
            </p:txBody>
          </p:sp>
        </mc:Fallback>
      </mc:AlternateContent>
      <p:cxnSp>
        <p:nvCxnSpPr>
          <p:cNvPr id="46" name="直線コネクタ 45">
            <a:extLst>
              <a:ext uri="{FF2B5EF4-FFF2-40B4-BE49-F238E27FC236}">
                <a16:creationId xmlns:a16="http://schemas.microsoft.com/office/drawing/2014/main" id="{EA32A148-EEA3-BF41-940C-FE331962EBA3}"/>
              </a:ext>
            </a:extLst>
          </p:cNvPr>
          <p:cNvCxnSpPr>
            <a:cxnSpLocks/>
          </p:cNvCxnSpPr>
          <p:nvPr/>
        </p:nvCxnSpPr>
        <p:spPr>
          <a:xfrm rot="16200000">
            <a:off x="6225888" y="10741343"/>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63CAB8B1-1677-BB42-B0B8-93494206590D}"/>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7" name="テキスト ボックス 46">
                <a:extLst>
                  <a:ext uri="{FF2B5EF4-FFF2-40B4-BE49-F238E27FC236}">
                    <a16:creationId xmlns:a16="http://schemas.microsoft.com/office/drawing/2014/main" id="{63CAB8B1-1677-BB42-B0B8-93494206590D}"/>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11"/>
                <a:stretch>
                  <a:fillRect b="-3846"/>
                </a:stretch>
              </a:blipFill>
            </p:spPr>
            <p:txBody>
              <a:bodyPr/>
              <a:lstStyle/>
              <a:p>
                <a:r>
                  <a:rPr lang="ja-JP" altLang="en-US">
                    <a:noFill/>
                  </a:rPr>
                  <a:t> </a:t>
                </a:r>
              </a:p>
            </p:txBody>
          </p:sp>
        </mc:Fallback>
      </mc:AlternateContent>
      <p:cxnSp>
        <p:nvCxnSpPr>
          <p:cNvPr id="50" name="直線コネクタ 49">
            <a:extLst>
              <a:ext uri="{FF2B5EF4-FFF2-40B4-BE49-F238E27FC236}">
                <a16:creationId xmlns:a16="http://schemas.microsoft.com/office/drawing/2014/main" id="{DCCBF138-4418-1D4E-9293-4381B4FC2B84}"/>
              </a:ext>
            </a:extLst>
          </p:cNvPr>
          <p:cNvCxnSpPr>
            <a:cxnSpLocks/>
          </p:cNvCxnSpPr>
          <p:nvPr/>
        </p:nvCxnSpPr>
        <p:spPr>
          <a:xfrm rot="16200000">
            <a:off x="9146398" y="10744627"/>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01951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2018/6/13</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42</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xmlns:a14="http://schemas.microsoft.com/office/drawing/2010/main">
        <mc:Choice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xmlns="">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xmlns="">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xmlns="">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3348340"/>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は</a:t>
            </a:r>
            <a:r>
              <a:rPr lang="en-US" altLang="ja-JP" dirty="0"/>
              <a:t>Free</a:t>
            </a:r>
            <a:r>
              <a:rPr lang="ja-JP" altLang="en-US" dirty="0"/>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42253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4110109"/>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95494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483967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6464972"/>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5809644"/>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43" name="グループ化 42">
            <a:extLst>
              <a:ext uri="{FF2B5EF4-FFF2-40B4-BE49-F238E27FC236}">
                <a16:creationId xmlns:a16="http://schemas.microsoft.com/office/drawing/2014/main" id="{E5E6B9E5-276F-4DBB-986E-AC7FBD6E9813}"/>
              </a:ext>
            </a:extLst>
          </p:cNvPr>
          <p:cNvGrpSpPr/>
          <p:nvPr/>
        </p:nvGrpSpPr>
        <p:grpSpPr>
          <a:xfrm>
            <a:off x="617232" y="2557358"/>
            <a:ext cx="539448" cy="487368"/>
            <a:chOff x="400056" y="1061560"/>
            <a:chExt cx="269724" cy="243684"/>
          </a:xfrm>
        </p:grpSpPr>
        <p:sp>
          <p:nvSpPr>
            <p:cNvPr id="44" name="三角形 34">
              <a:extLst>
                <a:ext uri="{FF2B5EF4-FFF2-40B4-BE49-F238E27FC236}">
                  <a16:creationId xmlns:a16="http://schemas.microsoft.com/office/drawing/2014/main" id="{F79B1488-7A20-4E9A-9FCE-E24EE10A47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35">
              <a:extLst>
                <a:ext uri="{FF2B5EF4-FFF2-40B4-BE49-F238E27FC236}">
                  <a16:creationId xmlns:a16="http://schemas.microsoft.com/office/drawing/2014/main" id="{CFC5D4D9-38FD-42B5-9A73-8306E4E400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20FD9D84-2B1D-4C22-A57F-7A9651E5742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grpSp>
        <p:nvGrpSpPr>
          <p:cNvPr id="47" name="グループ化 46">
            <a:extLst>
              <a:ext uri="{FF2B5EF4-FFF2-40B4-BE49-F238E27FC236}">
                <a16:creationId xmlns:a16="http://schemas.microsoft.com/office/drawing/2014/main" id="{347E7E98-3512-4086-B1AE-745E8AF3A106}"/>
              </a:ext>
            </a:extLst>
          </p:cNvPr>
          <p:cNvGrpSpPr/>
          <p:nvPr/>
        </p:nvGrpSpPr>
        <p:grpSpPr>
          <a:xfrm>
            <a:off x="617232" y="3408977"/>
            <a:ext cx="539448" cy="487368"/>
            <a:chOff x="400056" y="1061560"/>
            <a:chExt cx="269724" cy="243684"/>
          </a:xfrm>
        </p:grpSpPr>
        <p:sp>
          <p:nvSpPr>
            <p:cNvPr id="48" name="三角形 51">
              <a:extLst>
                <a:ext uri="{FF2B5EF4-FFF2-40B4-BE49-F238E27FC236}">
                  <a16:creationId xmlns:a16="http://schemas.microsoft.com/office/drawing/2014/main" id="{F27AF1F7-22C1-418F-9B8E-EBE58A5D62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52">
              <a:extLst>
                <a:ext uri="{FF2B5EF4-FFF2-40B4-BE49-F238E27FC236}">
                  <a16:creationId xmlns:a16="http://schemas.microsoft.com/office/drawing/2014/main" id="{ECF52FF0-D940-4BBE-964D-F930FF57C4B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9186923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被験者が送信したイベントの数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2566521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4875423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xmlns="">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5"/>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70211"/>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10556</TotalTime>
  <Words>7626</Words>
  <Application>Microsoft Macintosh PowerPoint</Application>
  <PresentationFormat>ユーザー設定</PresentationFormat>
  <Paragraphs>966</Paragraphs>
  <Slides>48</Slides>
  <Notes>46</Notes>
  <HiddenSlides>8</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423</cp:revision>
  <cp:lastPrinted>2018-04-18T08:51:19Z</cp:lastPrinted>
  <dcterms:created xsi:type="dcterms:W3CDTF">2018-04-18T07:57:09Z</dcterms:created>
  <dcterms:modified xsi:type="dcterms:W3CDTF">2018-06-13T06:16:15Z</dcterms:modified>
</cp:coreProperties>
</file>