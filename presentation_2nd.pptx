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notesSlides/notesSlide5.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5" r:id="rId1"/>
  </p:sldMasterIdLst>
  <p:notesMasterIdLst>
    <p:notesMasterId r:id="rId35"/>
  </p:notesMasterIdLst>
  <p:sldIdLst>
    <p:sldId id="256" r:id="rId2"/>
    <p:sldId id="290" r:id="rId3"/>
    <p:sldId id="299" r:id="rId4"/>
    <p:sldId id="300" r:id="rId5"/>
    <p:sldId id="274" r:id="rId6"/>
    <p:sldId id="303" r:id="rId7"/>
    <p:sldId id="302" r:id="rId8"/>
    <p:sldId id="321" r:id="rId9"/>
    <p:sldId id="322" r:id="rId10"/>
    <p:sldId id="323" r:id="rId11"/>
    <p:sldId id="319" r:id="rId12"/>
    <p:sldId id="324" r:id="rId13"/>
    <p:sldId id="306" r:id="rId14"/>
    <p:sldId id="307" r:id="rId15"/>
    <p:sldId id="308" r:id="rId16"/>
    <p:sldId id="309" r:id="rId17"/>
    <p:sldId id="310" r:id="rId18"/>
    <p:sldId id="311" r:id="rId19"/>
    <p:sldId id="312" r:id="rId20"/>
    <p:sldId id="325" r:id="rId21"/>
    <p:sldId id="327" r:id="rId22"/>
    <p:sldId id="313" r:id="rId23"/>
    <p:sldId id="329" r:id="rId24"/>
    <p:sldId id="315" r:id="rId25"/>
    <p:sldId id="328" r:id="rId26"/>
    <p:sldId id="332" r:id="rId27"/>
    <p:sldId id="333" r:id="rId28"/>
    <p:sldId id="297" r:id="rId29"/>
    <p:sldId id="292" r:id="rId30"/>
    <p:sldId id="293" r:id="rId31"/>
    <p:sldId id="267" r:id="rId32"/>
    <p:sldId id="330" r:id="rId33"/>
    <p:sldId id="331" r:id="rId34"/>
  </p:sldIdLst>
  <p:sldSz cx="18288000" cy="13716000"/>
  <p:notesSz cx="6858000" cy="9144000"/>
  <p:defaultTextStyle>
    <a:defPPr>
      <a:defRPr lang="ja-JP"/>
    </a:defPPr>
    <a:lvl1pPr marL="0" algn="l" defTabSz="1828800" rtl="0" eaLnBrk="1" latinLnBrk="0" hangingPunct="1">
      <a:defRPr kumimoji="1" sz="3600" kern="1200">
        <a:solidFill>
          <a:schemeClr val="tx1"/>
        </a:solidFill>
        <a:latin typeface="+mn-lt"/>
        <a:ea typeface="+mn-ea"/>
        <a:cs typeface="+mn-cs"/>
      </a:defRPr>
    </a:lvl1pPr>
    <a:lvl2pPr marL="914400" algn="l" defTabSz="1828800" rtl="0" eaLnBrk="1" latinLnBrk="0" hangingPunct="1">
      <a:defRPr kumimoji="1" sz="3600" kern="1200">
        <a:solidFill>
          <a:schemeClr val="tx1"/>
        </a:solidFill>
        <a:latin typeface="+mn-lt"/>
        <a:ea typeface="+mn-ea"/>
        <a:cs typeface="+mn-cs"/>
      </a:defRPr>
    </a:lvl2pPr>
    <a:lvl3pPr marL="1828800" algn="l" defTabSz="1828800" rtl="0" eaLnBrk="1" latinLnBrk="0" hangingPunct="1">
      <a:defRPr kumimoji="1" sz="3600" kern="1200">
        <a:solidFill>
          <a:schemeClr val="tx1"/>
        </a:solidFill>
        <a:latin typeface="+mn-lt"/>
        <a:ea typeface="+mn-ea"/>
        <a:cs typeface="+mn-cs"/>
      </a:defRPr>
    </a:lvl3pPr>
    <a:lvl4pPr marL="2743200" algn="l" defTabSz="1828800" rtl="0" eaLnBrk="1" latinLnBrk="0" hangingPunct="1">
      <a:defRPr kumimoji="1" sz="3600" kern="1200">
        <a:solidFill>
          <a:schemeClr val="tx1"/>
        </a:solidFill>
        <a:latin typeface="+mn-lt"/>
        <a:ea typeface="+mn-ea"/>
        <a:cs typeface="+mn-cs"/>
      </a:defRPr>
    </a:lvl4pPr>
    <a:lvl5pPr marL="3657600" algn="l" defTabSz="1828800" rtl="0" eaLnBrk="1" latinLnBrk="0" hangingPunct="1">
      <a:defRPr kumimoji="1" sz="3600" kern="1200">
        <a:solidFill>
          <a:schemeClr val="tx1"/>
        </a:solidFill>
        <a:latin typeface="+mn-lt"/>
        <a:ea typeface="+mn-ea"/>
        <a:cs typeface="+mn-cs"/>
      </a:defRPr>
    </a:lvl5pPr>
    <a:lvl6pPr marL="4572000" algn="l" defTabSz="1828800" rtl="0" eaLnBrk="1" latinLnBrk="0" hangingPunct="1">
      <a:defRPr kumimoji="1" sz="3600" kern="1200">
        <a:solidFill>
          <a:schemeClr val="tx1"/>
        </a:solidFill>
        <a:latin typeface="+mn-lt"/>
        <a:ea typeface="+mn-ea"/>
        <a:cs typeface="+mn-cs"/>
      </a:defRPr>
    </a:lvl6pPr>
    <a:lvl7pPr marL="5486400" algn="l" defTabSz="1828800" rtl="0" eaLnBrk="1" latinLnBrk="0" hangingPunct="1">
      <a:defRPr kumimoji="1" sz="3600" kern="1200">
        <a:solidFill>
          <a:schemeClr val="tx1"/>
        </a:solidFill>
        <a:latin typeface="+mn-lt"/>
        <a:ea typeface="+mn-ea"/>
        <a:cs typeface="+mn-cs"/>
      </a:defRPr>
    </a:lvl7pPr>
    <a:lvl8pPr marL="6400800" algn="l" defTabSz="1828800" rtl="0" eaLnBrk="1" latinLnBrk="0" hangingPunct="1">
      <a:defRPr kumimoji="1" sz="3600" kern="1200">
        <a:solidFill>
          <a:schemeClr val="tx1"/>
        </a:solidFill>
        <a:latin typeface="+mn-lt"/>
        <a:ea typeface="+mn-ea"/>
        <a:cs typeface="+mn-cs"/>
      </a:defRPr>
    </a:lvl8pPr>
    <a:lvl9pPr marL="7315200" algn="l" defTabSz="1828800" rtl="0" eaLnBrk="1" latinLnBrk="0" hangingPunct="1">
      <a:defRPr kumimoji="1" sz="3600" kern="1200">
        <a:solidFill>
          <a:schemeClr val="tx1"/>
        </a:solidFill>
        <a:latin typeface="+mn-lt"/>
        <a:ea typeface="+mn-ea"/>
        <a:cs typeface="+mn-cs"/>
      </a:defRPr>
    </a:lvl9pPr>
  </p:defaultTextStyle>
  <p:extLst>
    <p:ext uri="{521415D9-36F7-43E2-AB2F-B90AF26B5E84}">
      <p14:sectionLst xmlns:p14="http://schemas.microsoft.com/office/powerpoint/2010/main">
        <p14:section name="はじめに" id="{3AF8E6CE-7EED-4697-8DC5-FCD53E35D329}">
          <p14:sldIdLst>
            <p14:sldId id="256"/>
            <p14:sldId id="290"/>
            <p14:sldId id="299"/>
          </p14:sldIdLst>
        </p14:section>
        <p14:section name="背景" id="{755D3CFA-B3BC-5F46-B668-2ECF2461FA4C}">
          <p14:sldIdLst>
            <p14:sldId id="300"/>
          </p14:sldIdLst>
        </p14:section>
        <p14:section name="IAGO" id="{E5698FF8-31B6-8343-8D0B-33D2897CECA3}">
          <p14:sldIdLst/>
        </p14:section>
        <p14:section name="実験" id="{CAE7764C-4812-DC4A-BFA1-9E8E74E8F5E0}">
          <p14:sldIdLst>
            <p14:sldId id="274"/>
            <p14:sldId id="303"/>
            <p14:sldId id="302"/>
            <p14:sldId id="321"/>
            <p14:sldId id="322"/>
            <p14:sldId id="323"/>
            <p14:sldId id="319"/>
            <p14:sldId id="324"/>
            <p14:sldId id="306"/>
            <p14:sldId id="307"/>
            <p14:sldId id="308"/>
            <p14:sldId id="309"/>
            <p14:sldId id="310"/>
          </p14:sldIdLst>
        </p14:section>
        <p14:section name="評価" id="{EDA6E36B-EE05-3649-B59D-CCC30A21C2E7}">
          <p14:sldIdLst>
            <p14:sldId id="311"/>
            <p14:sldId id="312"/>
            <p14:sldId id="325"/>
            <p14:sldId id="327"/>
            <p14:sldId id="313"/>
            <p14:sldId id="329"/>
            <p14:sldId id="315"/>
            <p14:sldId id="328"/>
          </p14:sldIdLst>
        </p14:section>
        <p14:section name="まとめ" id="{E43900AF-1714-9448-9CAC-4B22357AC068}">
          <p14:sldIdLst>
            <p14:sldId id="332"/>
          </p14:sldIdLst>
        </p14:section>
        <p14:section name="おわりに" id="{DBEAEF00-314B-2D44-A3AD-FDC616BFC1D0}">
          <p14:sldIdLst>
            <p14:sldId id="333"/>
          </p14:sldIdLst>
        </p14:section>
        <p14:section name="補助スライド" id="{040094EA-41C3-43AC-819E-647F1A036B25}">
          <p14:sldIdLst>
            <p14:sldId id="297"/>
            <p14:sldId id="292"/>
            <p14:sldId id="293"/>
          </p14:sldIdLst>
        </p14:section>
        <p14:section name="非表示" id="{E1D32D9D-ADF8-4F92-AB92-9CF6030857B6}">
          <p14:sldIdLst>
            <p14:sldId id="267"/>
            <p14:sldId id="330"/>
            <p14:sldId id="331"/>
          </p14:sldIdLst>
        </p14:section>
      </p14:sectionLst>
    </p:ext>
    <p:ext uri="{EFAFB233-063F-42B5-8137-9DF3F51BA10A}">
      <p15:sldGuideLst xmlns:p15="http://schemas.microsoft.com/office/powerpoint/2012/main">
        <p15:guide id="1" orient="horz" pos="1621" userDrawn="1">
          <p15:clr>
            <a:srgbClr val="A4A3A4"/>
          </p15:clr>
        </p15:guide>
        <p15:guide id="2" pos="5601" userDrawn="1">
          <p15:clr>
            <a:srgbClr val="A4A3A4"/>
          </p15:clr>
        </p15:guide>
        <p15:guide id="3" pos="385" userDrawn="1">
          <p15:clr>
            <a:srgbClr val="A4A3A4"/>
          </p15:clr>
        </p15:guide>
        <p15:guide id="4" pos="907" userDrawn="1">
          <p15:clr>
            <a:srgbClr val="A4A3A4"/>
          </p15:clr>
        </p15:guide>
        <p15:guide id="5" pos="181" userDrawn="1">
          <p15:clr>
            <a:srgbClr val="A4A3A4"/>
          </p15:clr>
        </p15:guide>
        <p15:guide id="6" orient="horz" pos="486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424242"/>
    <a:srgbClr val="F3F3F3"/>
    <a:srgbClr val="EDEDED"/>
    <a:srgbClr val="B1B1B1"/>
    <a:srgbClr val="EAEAEA"/>
    <a:srgbClr val="E0E0E0"/>
    <a:srgbClr val="F6F6F6"/>
    <a:srgbClr val="47BEB0"/>
    <a:srgbClr val="45BDB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33"/>
    <p:restoredTop sz="94919" autoAdjust="0"/>
  </p:normalViewPr>
  <p:slideViewPr>
    <p:cSldViewPr snapToGrid="0" snapToObjects="1">
      <p:cViewPr varScale="1">
        <p:scale>
          <a:sx n="67" d="100"/>
          <a:sy n="67" d="100"/>
        </p:scale>
        <p:origin x="592" y="200"/>
      </p:cViewPr>
      <p:guideLst>
        <p:guide orient="horz" pos="1621"/>
        <p:guide pos="5601"/>
        <p:guide pos="385"/>
        <p:guide pos="907"/>
        <p:guide pos="181"/>
        <p:guide orient="horz" pos="4864"/>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0"/>
          <c:order val="0"/>
          <c:spPr>
            <a:ln w="38100" cap="rnd">
              <a:solidFill>
                <a:schemeClr val="accent1"/>
              </a:solidFill>
              <a:round/>
            </a:ln>
            <a:effectLst/>
          </c:spPr>
          <c:marker>
            <c:symbol val="none"/>
          </c:marker>
          <c:xVal>
            <c:numRef>
              <c:f>Sheet1!$A$3:$A$83</c:f>
              <c:numCache>
                <c:formatCode>General</c:formatCode>
                <c:ptCount val="81"/>
                <c:pt idx="0">
                  <c:v>-4</c:v>
                </c:pt>
                <c:pt idx="1">
                  <c:v>-3.9</c:v>
                </c:pt>
                <c:pt idx="2">
                  <c:v>-3.8</c:v>
                </c:pt>
                <c:pt idx="3">
                  <c:v>-3.7</c:v>
                </c:pt>
                <c:pt idx="4">
                  <c:v>-3.6</c:v>
                </c:pt>
                <c:pt idx="5">
                  <c:v>-3.5</c:v>
                </c:pt>
                <c:pt idx="6">
                  <c:v>-3.4</c:v>
                </c:pt>
                <c:pt idx="7">
                  <c:v>-3.3</c:v>
                </c:pt>
                <c:pt idx="8">
                  <c:v>-3.2</c:v>
                </c:pt>
                <c:pt idx="9">
                  <c:v>-3.1</c:v>
                </c:pt>
                <c:pt idx="10">
                  <c:v>-3</c:v>
                </c:pt>
                <c:pt idx="11">
                  <c:v>-2.9</c:v>
                </c:pt>
                <c:pt idx="12">
                  <c:v>-2.8</c:v>
                </c:pt>
                <c:pt idx="13">
                  <c:v>-2.7</c:v>
                </c:pt>
                <c:pt idx="14">
                  <c:v>-2.6</c:v>
                </c:pt>
                <c:pt idx="15">
                  <c:v>-2.5</c:v>
                </c:pt>
                <c:pt idx="16">
                  <c:v>-2.4</c:v>
                </c:pt>
                <c:pt idx="17">
                  <c:v>-2.2999999999999998</c:v>
                </c:pt>
                <c:pt idx="18">
                  <c:v>-2.2000000000000002</c:v>
                </c:pt>
                <c:pt idx="19">
                  <c:v>-2.1</c:v>
                </c:pt>
                <c:pt idx="20">
                  <c:v>-2</c:v>
                </c:pt>
                <c:pt idx="21">
                  <c:v>-1.9</c:v>
                </c:pt>
                <c:pt idx="22">
                  <c:v>-1.8</c:v>
                </c:pt>
                <c:pt idx="23">
                  <c:v>-1.7</c:v>
                </c:pt>
                <c:pt idx="24">
                  <c:v>-1.6</c:v>
                </c:pt>
                <c:pt idx="25">
                  <c:v>-1.5</c:v>
                </c:pt>
                <c:pt idx="26">
                  <c:v>-1.4</c:v>
                </c:pt>
                <c:pt idx="27">
                  <c:v>-1.3</c:v>
                </c:pt>
                <c:pt idx="28">
                  <c:v>-1.2</c:v>
                </c:pt>
                <c:pt idx="29">
                  <c:v>-1.1000000000000001</c:v>
                </c:pt>
                <c:pt idx="30">
                  <c:v>-1</c:v>
                </c:pt>
                <c:pt idx="31">
                  <c:v>-0.9</c:v>
                </c:pt>
                <c:pt idx="32">
                  <c:v>-0.8</c:v>
                </c:pt>
                <c:pt idx="33">
                  <c:v>-0.7</c:v>
                </c:pt>
                <c:pt idx="34">
                  <c:v>-0.6</c:v>
                </c:pt>
                <c:pt idx="35">
                  <c:v>-0.5</c:v>
                </c:pt>
                <c:pt idx="36">
                  <c:v>-0.4</c:v>
                </c:pt>
                <c:pt idx="37">
                  <c:v>-0.3</c:v>
                </c:pt>
                <c:pt idx="38">
                  <c:v>-0.2</c:v>
                </c:pt>
                <c:pt idx="39">
                  <c:v>-0.1</c:v>
                </c:pt>
                <c:pt idx="40">
                  <c:v>0</c:v>
                </c:pt>
                <c:pt idx="41">
                  <c:v>9.9999999999999603E-2</c:v>
                </c:pt>
                <c:pt idx="42">
                  <c:v>0.2</c:v>
                </c:pt>
                <c:pt idx="43">
                  <c:v>0.3</c:v>
                </c:pt>
                <c:pt idx="44">
                  <c:v>0.4</c:v>
                </c:pt>
                <c:pt idx="45">
                  <c:v>0.5</c:v>
                </c:pt>
                <c:pt idx="46">
                  <c:v>0.6</c:v>
                </c:pt>
                <c:pt idx="47">
                  <c:v>0.7</c:v>
                </c:pt>
                <c:pt idx="48">
                  <c:v>0.8</c:v>
                </c:pt>
                <c:pt idx="49">
                  <c:v>0.9</c:v>
                </c:pt>
                <c:pt idx="50">
                  <c:v>1</c:v>
                </c:pt>
                <c:pt idx="51">
                  <c:v>1.1000000000000001</c:v>
                </c:pt>
                <c:pt idx="52">
                  <c:v>1.2</c:v>
                </c:pt>
                <c:pt idx="53">
                  <c:v>1.3</c:v>
                </c:pt>
                <c:pt idx="54">
                  <c:v>1.4</c:v>
                </c:pt>
                <c:pt idx="55">
                  <c:v>1.50000000000001</c:v>
                </c:pt>
                <c:pt idx="56">
                  <c:v>1.6</c:v>
                </c:pt>
                <c:pt idx="57">
                  <c:v>1.7</c:v>
                </c:pt>
                <c:pt idx="58">
                  <c:v>1.80000000000001</c:v>
                </c:pt>
                <c:pt idx="59">
                  <c:v>1.9000000000000099</c:v>
                </c:pt>
                <c:pt idx="60">
                  <c:v>2.0000000000000102</c:v>
                </c:pt>
                <c:pt idx="61">
                  <c:v>2.1</c:v>
                </c:pt>
                <c:pt idx="62">
                  <c:v>2.2000000000000099</c:v>
                </c:pt>
                <c:pt idx="63">
                  <c:v>2.30000000000001</c:v>
                </c:pt>
                <c:pt idx="64">
                  <c:v>2.4000000000000101</c:v>
                </c:pt>
                <c:pt idx="65">
                  <c:v>2.5000000000000102</c:v>
                </c:pt>
                <c:pt idx="66">
                  <c:v>2.6000000000000099</c:v>
                </c:pt>
                <c:pt idx="67">
                  <c:v>2.7000000000000099</c:v>
                </c:pt>
                <c:pt idx="68">
                  <c:v>2.80000000000001</c:v>
                </c:pt>
                <c:pt idx="69">
                  <c:v>2.9000000000000101</c:v>
                </c:pt>
                <c:pt idx="70">
                  <c:v>3.0000000000000102</c:v>
                </c:pt>
                <c:pt idx="71">
                  <c:v>3.1000000000000099</c:v>
                </c:pt>
                <c:pt idx="72">
                  <c:v>3.2000000000000099</c:v>
                </c:pt>
                <c:pt idx="73">
                  <c:v>3.30000000000001</c:v>
                </c:pt>
                <c:pt idx="74">
                  <c:v>3.4000000000000101</c:v>
                </c:pt>
                <c:pt idx="75">
                  <c:v>3.5000000000000102</c:v>
                </c:pt>
                <c:pt idx="76">
                  <c:v>3.6000000000000099</c:v>
                </c:pt>
                <c:pt idx="77">
                  <c:v>3.7000000000000099</c:v>
                </c:pt>
                <c:pt idx="78">
                  <c:v>3.80000000000001</c:v>
                </c:pt>
                <c:pt idx="79">
                  <c:v>3.9000000000000101</c:v>
                </c:pt>
                <c:pt idx="80">
                  <c:v>4.0000000000000098</c:v>
                </c:pt>
              </c:numCache>
            </c:numRef>
          </c:xVal>
          <c:yVal>
            <c:numRef>
              <c:f>Sheet1!$B$3:$B$83</c:f>
              <c:numCache>
                <c:formatCode>General</c:formatCode>
                <c:ptCount val="81"/>
                <c:pt idx="0">
                  <c:v>1.3383022576488537E-4</c:v>
                </c:pt>
                <c:pt idx="1">
                  <c:v>1.9865547139277272E-4</c:v>
                </c:pt>
                <c:pt idx="2">
                  <c:v>2.9194692579146027E-4</c:v>
                </c:pt>
                <c:pt idx="3">
                  <c:v>4.2478027055075143E-4</c:v>
                </c:pt>
                <c:pt idx="4">
                  <c:v>6.119019301137719E-4</c:v>
                </c:pt>
                <c:pt idx="5">
                  <c:v>8.7268269504576015E-4</c:v>
                </c:pt>
                <c:pt idx="6">
                  <c:v>1.2322191684730199E-3</c:v>
                </c:pt>
                <c:pt idx="7">
                  <c:v>1.7225689390536812E-3</c:v>
                </c:pt>
                <c:pt idx="8">
                  <c:v>2.3840882014648404E-3</c:v>
                </c:pt>
                <c:pt idx="9">
                  <c:v>3.2668190561999182E-3</c:v>
                </c:pt>
                <c:pt idx="10">
                  <c:v>4.4318484119380075E-3</c:v>
                </c:pt>
                <c:pt idx="11">
                  <c:v>5.9525324197758538E-3</c:v>
                </c:pt>
                <c:pt idx="12">
                  <c:v>7.9154515829799686E-3</c:v>
                </c:pt>
                <c:pt idx="13">
                  <c:v>1.0420934814422592E-2</c:v>
                </c:pt>
                <c:pt idx="14">
                  <c:v>1.3582969233685613E-2</c:v>
                </c:pt>
                <c:pt idx="15">
                  <c:v>1.752830049356854E-2</c:v>
                </c:pt>
                <c:pt idx="16">
                  <c:v>2.2394530294842899E-2</c:v>
                </c:pt>
                <c:pt idx="17">
                  <c:v>2.8327037741601186E-2</c:v>
                </c:pt>
                <c:pt idx="18">
                  <c:v>3.5474592846231424E-2</c:v>
                </c:pt>
                <c:pt idx="19">
                  <c:v>4.3983595980427191E-2</c:v>
                </c:pt>
                <c:pt idx="20">
                  <c:v>5.3990966513188063E-2</c:v>
                </c:pt>
                <c:pt idx="21">
                  <c:v>6.5615814774676595E-2</c:v>
                </c:pt>
                <c:pt idx="22">
                  <c:v>7.8950158300894149E-2</c:v>
                </c:pt>
                <c:pt idx="23">
                  <c:v>9.4049077376886947E-2</c:v>
                </c:pt>
                <c:pt idx="24">
                  <c:v>0.11092083467945554</c:v>
                </c:pt>
                <c:pt idx="25">
                  <c:v>0.12951759566589174</c:v>
                </c:pt>
                <c:pt idx="26">
                  <c:v>0.14972746563574488</c:v>
                </c:pt>
                <c:pt idx="27">
                  <c:v>0.17136859204780736</c:v>
                </c:pt>
                <c:pt idx="28">
                  <c:v>0.19418605498321295</c:v>
                </c:pt>
                <c:pt idx="29">
                  <c:v>0.21785217703255053</c:v>
                </c:pt>
                <c:pt idx="30">
                  <c:v>0.24197072451914337</c:v>
                </c:pt>
                <c:pt idx="31">
                  <c:v>0.26608524989875482</c:v>
                </c:pt>
                <c:pt idx="32">
                  <c:v>0.28969155276148273</c:v>
                </c:pt>
                <c:pt idx="33">
                  <c:v>0.31225393336676127</c:v>
                </c:pt>
                <c:pt idx="34">
                  <c:v>0.33322460289179967</c:v>
                </c:pt>
                <c:pt idx="35">
                  <c:v>0.35206532676429952</c:v>
                </c:pt>
                <c:pt idx="36">
                  <c:v>0.36827014030332333</c:v>
                </c:pt>
                <c:pt idx="37">
                  <c:v>0.38138781546052414</c:v>
                </c:pt>
                <c:pt idx="38">
                  <c:v>0.39104269397545588</c:v>
                </c:pt>
                <c:pt idx="39">
                  <c:v>0.39695254747701181</c:v>
                </c:pt>
                <c:pt idx="40">
                  <c:v>0.3989422804014327</c:v>
                </c:pt>
                <c:pt idx="41">
                  <c:v>0.39695254747701181</c:v>
                </c:pt>
                <c:pt idx="42">
                  <c:v>0.39104269397545588</c:v>
                </c:pt>
                <c:pt idx="43">
                  <c:v>0.38138781546052414</c:v>
                </c:pt>
                <c:pt idx="44">
                  <c:v>0.36827014030332333</c:v>
                </c:pt>
                <c:pt idx="45">
                  <c:v>0.35206532676429952</c:v>
                </c:pt>
                <c:pt idx="46">
                  <c:v>0.33322460289179967</c:v>
                </c:pt>
                <c:pt idx="47">
                  <c:v>0.31225393336676127</c:v>
                </c:pt>
                <c:pt idx="48">
                  <c:v>0.28969155276148273</c:v>
                </c:pt>
                <c:pt idx="49">
                  <c:v>0.26608524989875482</c:v>
                </c:pt>
                <c:pt idx="50">
                  <c:v>0.24197072451914337</c:v>
                </c:pt>
                <c:pt idx="51">
                  <c:v>0.21785217703255053</c:v>
                </c:pt>
                <c:pt idx="52">
                  <c:v>0.19418605498321295</c:v>
                </c:pt>
                <c:pt idx="53">
                  <c:v>0.17136859204780736</c:v>
                </c:pt>
                <c:pt idx="54">
                  <c:v>0.14972746563574488</c:v>
                </c:pt>
                <c:pt idx="55">
                  <c:v>0.1295175956658898</c:v>
                </c:pt>
                <c:pt idx="56">
                  <c:v>0.11092083467945554</c:v>
                </c:pt>
                <c:pt idx="57">
                  <c:v>9.4049077376886947E-2</c:v>
                </c:pt>
                <c:pt idx="58">
                  <c:v>7.8950158300892734E-2</c:v>
                </c:pt>
                <c:pt idx="59">
                  <c:v>6.561581477467536E-2</c:v>
                </c:pt>
                <c:pt idx="60">
                  <c:v>5.3990966513186953E-2</c:v>
                </c:pt>
                <c:pt idx="61">
                  <c:v>4.3983595980427191E-2</c:v>
                </c:pt>
                <c:pt idx="62">
                  <c:v>3.5474592846230668E-2</c:v>
                </c:pt>
                <c:pt idx="63">
                  <c:v>2.8327037741600516E-2</c:v>
                </c:pt>
                <c:pt idx="64">
                  <c:v>2.2394530294842355E-2</c:v>
                </c:pt>
                <c:pt idx="65">
                  <c:v>1.7528300493568086E-2</c:v>
                </c:pt>
                <c:pt idx="66">
                  <c:v>1.3582969233685271E-2</c:v>
                </c:pt>
                <c:pt idx="67">
                  <c:v>1.0420934814422318E-2</c:v>
                </c:pt>
                <c:pt idx="68">
                  <c:v>7.915451582979743E-3</c:v>
                </c:pt>
                <c:pt idx="69">
                  <c:v>5.9525324197756795E-3</c:v>
                </c:pt>
                <c:pt idx="70">
                  <c:v>4.431848411937874E-3</c:v>
                </c:pt>
                <c:pt idx="71">
                  <c:v>3.2668190561998202E-3</c:v>
                </c:pt>
                <c:pt idx="72">
                  <c:v>2.3840882014647662E-3</c:v>
                </c:pt>
                <c:pt idx="73">
                  <c:v>1.7225689390536229E-3</c:v>
                </c:pt>
                <c:pt idx="74">
                  <c:v>1.2322191684729772E-3</c:v>
                </c:pt>
                <c:pt idx="75">
                  <c:v>8.7268269504572915E-4</c:v>
                </c:pt>
                <c:pt idx="76">
                  <c:v>6.1190193011375076E-4</c:v>
                </c:pt>
                <c:pt idx="77">
                  <c:v>4.2478027055073593E-4</c:v>
                </c:pt>
                <c:pt idx="78">
                  <c:v>2.919469257914491E-4</c:v>
                </c:pt>
                <c:pt idx="79">
                  <c:v>1.9865547139276475E-4</c:v>
                </c:pt>
                <c:pt idx="80">
                  <c:v>1.3383022576488014E-4</c:v>
                </c:pt>
              </c:numCache>
            </c:numRef>
          </c:yVal>
          <c:smooth val="1"/>
          <c:extLst>
            <c:ext xmlns:c16="http://schemas.microsoft.com/office/drawing/2014/chart" uri="{C3380CC4-5D6E-409C-BE32-E72D297353CC}">
              <c16:uniqueId val="{00000000-8DDD-46F6-8DBE-2EC70E14E6C9}"/>
            </c:ext>
          </c:extLst>
        </c:ser>
        <c:dLbls>
          <c:showLegendKey val="0"/>
          <c:showVal val="0"/>
          <c:showCatName val="0"/>
          <c:showSerName val="0"/>
          <c:showPercent val="0"/>
          <c:showBubbleSize val="0"/>
        </c:dLbls>
        <c:axId val="547916640"/>
        <c:axId val="547917296"/>
      </c:scatterChart>
      <c:valAx>
        <c:axId val="547916640"/>
        <c:scaling>
          <c:orientation val="minMax"/>
        </c:scaling>
        <c:delete val="1"/>
        <c:axPos val="b"/>
        <c:numFmt formatCode="General" sourceLinked="1"/>
        <c:majorTickMark val="none"/>
        <c:minorTickMark val="none"/>
        <c:tickLblPos val="nextTo"/>
        <c:crossAx val="547917296"/>
        <c:crosses val="autoZero"/>
        <c:crossBetween val="midCat"/>
      </c:valAx>
      <c:valAx>
        <c:axId val="547917296"/>
        <c:scaling>
          <c:orientation val="minMax"/>
        </c:scaling>
        <c:delete val="1"/>
        <c:axPos val="l"/>
        <c:numFmt formatCode="General" sourceLinked="1"/>
        <c:majorTickMark val="none"/>
        <c:minorTickMark val="none"/>
        <c:tickLblPos val="nextTo"/>
        <c:crossAx val="547916640"/>
        <c:crosses val="autoZero"/>
        <c:crossBetween val="midCat"/>
      </c:valAx>
      <c:spPr>
        <a:noFill/>
        <a:ln w="25400">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ja-JP"/>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
          <c:w val="0.96249014930101995"/>
          <c:h val="0.91944217308918796"/>
        </c:manualLayout>
      </c:layout>
      <c:scatterChart>
        <c:scatterStyle val="smoothMarker"/>
        <c:varyColors val="0"/>
        <c:ser>
          <c:idx val="0"/>
          <c:order val="0"/>
          <c:spPr>
            <a:ln w="38100" cap="rnd">
              <a:solidFill>
                <a:schemeClr val="accent1"/>
              </a:solidFill>
              <a:round/>
            </a:ln>
            <a:effectLst/>
          </c:spPr>
          <c:marker>
            <c:symbol val="none"/>
          </c:marker>
          <c:xVal>
            <c:numRef>
              <c:f>Sheet1!$A$3:$A$83</c:f>
              <c:numCache>
                <c:formatCode>General</c:formatCode>
                <c:ptCount val="81"/>
                <c:pt idx="0">
                  <c:v>-4</c:v>
                </c:pt>
                <c:pt idx="1">
                  <c:v>-3.9</c:v>
                </c:pt>
                <c:pt idx="2">
                  <c:v>-3.8</c:v>
                </c:pt>
                <c:pt idx="3">
                  <c:v>-3.7</c:v>
                </c:pt>
                <c:pt idx="4">
                  <c:v>-3.6</c:v>
                </c:pt>
                <c:pt idx="5">
                  <c:v>-3.5</c:v>
                </c:pt>
                <c:pt idx="6">
                  <c:v>-3.4</c:v>
                </c:pt>
                <c:pt idx="7">
                  <c:v>-3.3</c:v>
                </c:pt>
                <c:pt idx="8">
                  <c:v>-3.2</c:v>
                </c:pt>
                <c:pt idx="9">
                  <c:v>-3.1</c:v>
                </c:pt>
                <c:pt idx="10">
                  <c:v>-3</c:v>
                </c:pt>
                <c:pt idx="11">
                  <c:v>-2.9</c:v>
                </c:pt>
                <c:pt idx="12">
                  <c:v>-2.8</c:v>
                </c:pt>
                <c:pt idx="13">
                  <c:v>-2.7</c:v>
                </c:pt>
                <c:pt idx="14">
                  <c:v>-2.6</c:v>
                </c:pt>
                <c:pt idx="15">
                  <c:v>-2.5</c:v>
                </c:pt>
                <c:pt idx="16">
                  <c:v>-2.4</c:v>
                </c:pt>
                <c:pt idx="17">
                  <c:v>-2.2999999999999998</c:v>
                </c:pt>
                <c:pt idx="18">
                  <c:v>-2.2000000000000002</c:v>
                </c:pt>
                <c:pt idx="19">
                  <c:v>-2.1</c:v>
                </c:pt>
                <c:pt idx="20">
                  <c:v>-2</c:v>
                </c:pt>
                <c:pt idx="21">
                  <c:v>-1.9</c:v>
                </c:pt>
                <c:pt idx="22">
                  <c:v>-1.8</c:v>
                </c:pt>
                <c:pt idx="23">
                  <c:v>-1.7</c:v>
                </c:pt>
                <c:pt idx="24">
                  <c:v>-1.6</c:v>
                </c:pt>
                <c:pt idx="25">
                  <c:v>-1.5</c:v>
                </c:pt>
                <c:pt idx="26">
                  <c:v>-1.4</c:v>
                </c:pt>
                <c:pt idx="27">
                  <c:v>-1.3</c:v>
                </c:pt>
                <c:pt idx="28">
                  <c:v>-1.2</c:v>
                </c:pt>
                <c:pt idx="29">
                  <c:v>-1.1000000000000001</c:v>
                </c:pt>
                <c:pt idx="30">
                  <c:v>-1</c:v>
                </c:pt>
                <c:pt idx="31">
                  <c:v>-0.9</c:v>
                </c:pt>
                <c:pt idx="32">
                  <c:v>-0.8</c:v>
                </c:pt>
                <c:pt idx="33">
                  <c:v>-0.7</c:v>
                </c:pt>
                <c:pt idx="34">
                  <c:v>-0.6</c:v>
                </c:pt>
                <c:pt idx="35">
                  <c:v>-0.5</c:v>
                </c:pt>
                <c:pt idx="36">
                  <c:v>-0.4</c:v>
                </c:pt>
                <c:pt idx="37">
                  <c:v>-0.3</c:v>
                </c:pt>
                <c:pt idx="38">
                  <c:v>-0.2</c:v>
                </c:pt>
                <c:pt idx="39">
                  <c:v>-0.1</c:v>
                </c:pt>
                <c:pt idx="40">
                  <c:v>0</c:v>
                </c:pt>
                <c:pt idx="41">
                  <c:v>9.9999999999999603E-2</c:v>
                </c:pt>
                <c:pt idx="42">
                  <c:v>0.2</c:v>
                </c:pt>
                <c:pt idx="43">
                  <c:v>0.3</c:v>
                </c:pt>
                <c:pt idx="44">
                  <c:v>0.4</c:v>
                </c:pt>
                <c:pt idx="45">
                  <c:v>0.5</c:v>
                </c:pt>
                <c:pt idx="46">
                  <c:v>0.6</c:v>
                </c:pt>
                <c:pt idx="47">
                  <c:v>0.7</c:v>
                </c:pt>
                <c:pt idx="48">
                  <c:v>0.8</c:v>
                </c:pt>
                <c:pt idx="49">
                  <c:v>0.9</c:v>
                </c:pt>
                <c:pt idx="50">
                  <c:v>1</c:v>
                </c:pt>
                <c:pt idx="51">
                  <c:v>1.1000000000000001</c:v>
                </c:pt>
                <c:pt idx="52">
                  <c:v>1.2</c:v>
                </c:pt>
                <c:pt idx="53">
                  <c:v>1.3</c:v>
                </c:pt>
                <c:pt idx="54">
                  <c:v>1.4</c:v>
                </c:pt>
                <c:pt idx="55">
                  <c:v>1.50000000000001</c:v>
                </c:pt>
                <c:pt idx="56">
                  <c:v>1.6</c:v>
                </c:pt>
                <c:pt idx="57">
                  <c:v>1.7</c:v>
                </c:pt>
                <c:pt idx="58">
                  <c:v>1.80000000000001</c:v>
                </c:pt>
                <c:pt idx="59">
                  <c:v>1.9000000000000099</c:v>
                </c:pt>
                <c:pt idx="60">
                  <c:v>2.0000000000000102</c:v>
                </c:pt>
                <c:pt idx="61">
                  <c:v>2.1</c:v>
                </c:pt>
                <c:pt idx="62">
                  <c:v>2.2000000000000099</c:v>
                </c:pt>
                <c:pt idx="63">
                  <c:v>2.30000000000001</c:v>
                </c:pt>
                <c:pt idx="64">
                  <c:v>2.4000000000000101</c:v>
                </c:pt>
                <c:pt idx="65">
                  <c:v>2.5000000000000102</c:v>
                </c:pt>
                <c:pt idx="66">
                  <c:v>2.6000000000000099</c:v>
                </c:pt>
                <c:pt idx="67">
                  <c:v>2.7000000000000099</c:v>
                </c:pt>
                <c:pt idx="68">
                  <c:v>2.80000000000001</c:v>
                </c:pt>
                <c:pt idx="69">
                  <c:v>2.9000000000000101</c:v>
                </c:pt>
                <c:pt idx="70">
                  <c:v>3.0000000000000102</c:v>
                </c:pt>
                <c:pt idx="71">
                  <c:v>3.1000000000000099</c:v>
                </c:pt>
                <c:pt idx="72">
                  <c:v>3.2000000000000099</c:v>
                </c:pt>
                <c:pt idx="73">
                  <c:v>3.30000000000001</c:v>
                </c:pt>
                <c:pt idx="74">
                  <c:v>3.4000000000000101</c:v>
                </c:pt>
                <c:pt idx="75">
                  <c:v>3.5000000000000102</c:v>
                </c:pt>
                <c:pt idx="76">
                  <c:v>3.6000000000000099</c:v>
                </c:pt>
                <c:pt idx="77">
                  <c:v>3.7000000000000099</c:v>
                </c:pt>
                <c:pt idx="78">
                  <c:v>3.80000000000001</c:v>
                </c:pt>
                <c:pt idx="79">
                  <c:v>3.9000000000000101</c:v>
                </c:pt>
                <c:pt idx="80">
                  <c:v>4.0000000000000098</c:v>
                </c:pt>
              </c:numCache>
            </c:numRef>
          </c:xVal>
          <c:yVal>
            <c:numRef>
              <c:f>Sheet1!$B$3:$B$83</c:f>
              <c:numCache>
                <c:formatCode>General</c:formatCode>
                <c:ptCount val="81"/>
                <c:pt idx="0">
                  <c:v>1.3383022576488537E-4</c:v>
                </c:pt>
                <c:pt idx="1">
                  <c:v>1.9865547139277272E-4</c:v>
                </c:pt>
                <c:pt idx="2">
                  <c:v>2.9194692579146027E-4</c:v>
                </c:pt>
                <c:pt idx="3">
                  <c:v>4.2478027055075143E-4</c:v>
                </c:pt>
                <c:pt idx="4">
                  <c:v>6.119019301137719E-4</c:v>
                </c:pt>
                <c:pt idx="5">
                  <c:v>8.7268269504576015E-4</c:v>
                </c:pt>
                <c:pt idx="6">
                  <c:v>1.2322191684730199E-3</c:v>
                </c:pt>
                <c:pt idx="7">
                  <c:v>1.7225689390536812E-3</c:v>
                </c:pt>
                <c:pt idx="8">
                  <c:v>2.3840882014648404E-3</c:v>
                </c:pt>
                <c:pt idx="9">
                  <c:v>3.2668190561999182E-3</c:v>
                </c:pt>
                <c:pt idx="10">
                  <c:v>4.4318484119380075E-3</c:v>
                </c:pt>
                <c:pt idx="11">
                  <c:v>5.9525324197758538E-3</c:v>
                </c:pt>
                <c:pt idx="12">
                  <c:v>7.9154515829799686E-3</c:v>
                </c:pt>
                <c:pt idx="13">
                  <c:v>1.0420934814422592E-2</c:v>
                </c:pt>
                <c:pt idx="14">
                  <c:v>1.3582969233685613E-2</c:v>
                </c:pt>
                <c:pt idx="15">
                  <c:v>1.752830049356854E-2</c:v>
                </c:pt>
                <c:pt idx="16">
                  <c:v>2.2394530294842899E-2</c:v>
                </c:pt>
                <c:pt idx="17">
                  <c:v>2.8327037741601186E-2</c:v>
                </c:pt>
                <c:pt idx="18">
                  <c:v>3.5474592846231424E-2</c:v>
                </c:pt>
                <c:pt idx="19">
                  <c:v>4.3983595980427191E-2</c:v>
                </c:pt>
                <c:pt idx="20">
                  <c:v>5.3990966513188063E-2</c:v>
                </c:pt>
                <c:pt idx="21">
                  <c:v>6.5615814774676595E-2</c:v>
                </c:pt>
                <c:pt idx="22">
                  <c:v>7.8950158300894149E-2</c:v>
                </c:pt>
                <c:pt idx="23">
                  <c:v>9.4049077376886947E-2</c:v>
                </c:pt>
                <c:pt idx="24">
                  <c:v>0.11092083467945554</c:v>
                </c:pt>
                <c:pt idx="25">
                  <c:v>0.12951759566589174</c:v>
                </c:pt>
                <c:pt idx="26">
                  <c:v>0.14972746563574488</c:v>
                </c:pt>
                <c:pt idx="27">
                  <c:v>0.17136859204780736</c:v>
                </c:pt>
                <c:pt idx="28">
                  <c:v>0.19418605498321295</c:v>
                </c:pt>
                <c:pt idx="29">
                  <c:v>0.21785217703255053</c:v>
                </c:pt>
                <c:pt idx="30">
                  <c:v>0.24197072451914337</c:v>
                </c:pt>
                <c:pt idx="31">
                  <c:v>0.26608524989875482</c:v>
                </c:pt>
                <c:pt idx="32">
                  <c:v>0.28969155276148273</c:v>
                </c:pt>
                <c:pt idx="33">
                  <c:v>0.31225393336676127</c:v>
                </c:pt>
                <c:pt idx="34">
                  <c:v>0.33322460289179967</c:v>
                </c:pt>
                <c:pt idx="35">
                  <c:v>0.35206532676429952</c:v>
                </c:pt>
                <c:pt idx="36">
                  <c:v>0.36827014030332333</c:v>
                </c:pt>
                <c:pt idx="37">
                  <c:v>0.38138781546052414</c:v>
                </c:pt>
                <c:pt idx="38">
                  <c:v>0.39104269397545588</c:v>
                </c:pt>
                <c:pt idx="39">
                  <c:v>0.39695254747701181</c:v>
                </c:pt>
                <c:pt idx="40">
                  <c:v>0.3989422804014327</c:v>
                </c:pt>
                <c:pt idx="41">
                  <c:v>0.39695254747701181</c:v>
                </c:pt>
                <c:pt idx="42">
                  <c:v>0.39104269397545588</c:v>
                </c:pt>
                <c:pt idx="43">
                  <c:v>0.38138781546052414</c:v>
                </c:pt>
                <c:pt idx="44">
                  <c:v>0.36827014030332333</c:v>
                </c:pt>
                <c:pt idx="45">
                  <c:v>0.35206532676429952</c:v>
                </c:pt>
                <c:pt idx="46">
                  <c:v>0.33322460289179967</c:v>
                </c:pt>
                <c:pt idx="47">
                  <c:v>0.31225393336676127</c:v>
                </c:pt>
                <c:pt idx="48">
                  <c:v>0.28969155276148273</c:v>
                </c:pt>
                <c:pt idx="49">
                  <c:v>0.26608524989875482</c:v>
                </c:pt>
                <c:pt idx="50">
                  <c:v>0.24197072451914337</c:v>
                </c:pt>
                <c:pt idx="51">
                  <c:v>0.21785217703255053</c:v>
                </c:pt>
                <c:pt idx="52">
                  <c:v>0.19418605498321295</c:v>
                </c:pt>
                <c:pt idx="53">
                  <c:v>0.17136859204780736</c:v>
                </c:pt>
                <c:pt idx="54">
                  <c:v>0.14972746563574488</c:v>
                </c:pt>
                <c:pt idx="55">
                  <c:v>0.1295175956658898</c:v>
                </c:pt>
                <c:pt idx="56">
                  <c:v>0.11092083467945554</c:v>
                </c:pt>
                <c:pt idx="57">
                  <c:v>9.4049077376886947E-2</c:v>
                </c:pt>
                <c:pt idx="58">
                  <c:v>7.8950158300892734E-2</c:v>
                </c:pt>
                <c:pt idx="59">
                  <c:v>6.561581477467536E-2</c:v>
                </c:pt>
                <c:pt idx="60">
                  <c:v>5.3990966513186953E-2</c:v>
                </c:pt>
                <c:pt idx="61">
                  <c:v>4.3983595980427191E-2</c:v>
                </c:pt>
                <c:pt idx="62">
                  <c:v>3.5474592846230668E-2</c:v>
                </c:pt>
                <c:pt idx="63">
                  <c:v>2.8327037741600516E-2</c:v>
                </c:pt>
                <c:pt idx="64">
                  <c:v>2.2394530294842355E-2</c:v>
                </c:pt>
                <c:pt idx="65">
                  <c:v>1.7528300493568086E-2</c:v>
                </c:pt>
                <c:pt idx="66">
                  <c:v>1.3582969233685271E-2</c:v>
                </c:pt>
                <c:pt idx="67">
                  <c:v>1.0420934814422318E-2</c:v>
                </c:pt>
                <c:pt idx="68">
                  <c:v>7.915451582979743E-3</c:v>
                </c:pt>
                <c:pt idx="69">
                  <c:v>5.9525324197756795E-3</c:v>
                </c:pt>
                <c:pt idx="70">
                  <c:v>4.431848411937874E-3</c:v>
                </c:pt>
                <c:pt idx="71">
                  <c:v>3.2668190561998202E-3</c:v>
                </c:pt>
                <c:pt idx="72">
                  <c:v>2.3840882014647662E-3</c:v>
                </c:pt>
                <c:pt idx="73">
                  <c:v>1.7225689390536229E-3</c:v>
                </c:pt>
                <c:pt idx="74">
                  <c:v>1.2322191684729772E-3</c:v>
                </c:pt>
                <c:pt idx="75">
                  <c:v>8.7268269504572915E-4</c:v>
                </c:pt>
                <c:pt idx="76">
                  <c:v>6.1190193011375076E-4</c:v>
                </c:pt>
                <c:pt idx="77">
                  <c:v>4.2478027055073593E-4</c:v>
                </c:pt>
                <c:pt idx="78">
                  <c:v>2.919469257914491E-4</c:v>
                </c:pt>
                <c:pt idx="79">
                  <c:v>1.9865547139276475E-4</c:v>
                </c:pt>
                <c:pt idx="80">
                  <c:v>1.3383022576488014E-4</c:v>
                </c:pt>
              </c:numCache>
            </c:numRef>
          </c:yVal>
          <c:smooth val="1"/>
          <c:extLst>
            <c:ext xmlns:c16="http://schemas.microsoft.com/office/drawing/2014/chart" uri="{C3380CC4-5D6E-409C-BE32-E72D297353CC}">
              <c16:uniqueId val="{00000000-8DDD-46F6-8DBE-2EC70E14E6C9}"/>
            </c:ext>
          </c:extLst>
        </c:ser>
        <c:dLbls>
          <c:showLegendKey val="0"/>
          <c:showVal val="0"/>
          <c:showCatName val="0"/>
          <c:showSerName val="0"/>
          <c:showPercent val="0"/>
          <c:showBubbleSize val="0"/>
        </c:dLbls>
        <c:axId val="547916640"/>
        <c:axId val="547917296"/>
      </c:scatterChart>
      <c:valAx>
        <c:axId val="547916640"/>
        <c:scaling>
          <c:orientation val="minMax"/>
        </c:scaling>
        <c:delete val="1"/>
        <c:axPos val="b"/>
        <c:numFmt formatCode="General" sourceLinked="1"/>
        <c:majorTickMark val="none"/>
        <c:minorTickMark val="none"/>
        <c:tickLblPos val="nextTo"/>
        <c:crossAx val="547917296"/>
        <c:crosses val="autoZero"/>
        <c:crossBetween val="midCat"/>
      </c:valAx>
      <c:valAx>
        <c:axId val="547917296"/>
        <c:scaling>
          <c:orientation val="minMax"/>
        </c:scaling>
        <c:delete val="1"/>
        <c:axPos val="l"/>
        <c:numFmt formatCode="General" sourceLinked="1"/>
        <c:majorTickMark val="none"/>
        <c:minorTickMark val="none"/>
        <c:tickLblPos val="nextTo"/>
        <c:crossAx val="547916640"/>
        <c:crosses val="autoZero"/>
        <c:crossBetween val="midCat"/>
      </c:valAx>
      <c:spPr>
        <a:noFill/>
        <a:ln w="25400">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ja-JP"/>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
          <c:w val="0.96249014930101995"/>
          <c:h val="0.91944217308918796"/>
        </c:manualLayout>
      </c:layout>
      <c:scatterChart>
        <c:scatterStyle val="smoothMarker"/>
        <c:varyColors val="0"/>
        <c:ser>
          <c:idx val="0"/>
          <c:order val="0"/>
          <c:spPr>
            <a:ln w="38100" cap="rnd">
              <a:solidFill>
                <a:schemeClr val="accent2"/>
              </a:solidFill>
              <a:round/>
            </a:ln>
            <a:effectLst/>
          </c:spPr>
          <c:marker>
            <c:symbol val="none"/>
          </c:marker>
          <c:xVal>
            <c:numRef>
              <c:f>Sheet1!$A$3:$A$83</c:f>
              <c:numCache>
                <c:formatCode>General</c:formatCode>
                <c:ptCount val="81"/>
                <c:pt idx="0">
                  <c:v>-4</c:v>
                </c:pt>
                <c:pt idx="1">
                  <c:v>-3.9</c:v>
                </c:pt>
                <c:pt idx="2">
                  <c:v>-3.8</c:v>
                </c:pt>
                <c:pt idx="3">
                  <c:v>-3.7</c:v>
                </c:pt>
                <c:pt idx="4">
                  <c:v>-3.6</c:v>
                </c:pt>
                <c:pt idx="5">
                  <c:v>-3.5</c:v>
                </c:pt>
                <c:pt idx="6">
                  <c:v>-3.4</c:v>
                </c:pt>
                <c:pt idx="7">
                  <c:v>-3.3</c:v>
                </c:pt>
                <c:pt idx="8">
                  <c:v>-3.2</c:v>
                </c:pt>
                <c:pt idx="9">
                  <c:v>-3.1</c:v>
                </c:pt>
                <c:pt idx="10">
                  <c:v>-3</c:v>
                </c:pt>
                <c:pt idx="11">
                  <c:v>-2.9</c:v>
                </c:pt>
                <c:pt idx="12">
                  <c:v>-2.8</c:v>
                </c:pt>
                <c:pt idx="13">
                  <c:v>-2.7</c:v>
                </c:pt>
                <c:pt idx="14">
                  <c:v>-2.6</c:v>
                </c:pt>
                <c:pt idx="15">
                  <c:v>-2.5</c:v>
                </c:pt>
                <c:pt idx="16">
                  <c:v>-2.4</c:v>
                </c:pt>
                <c:pt idx="17">
                  <c:v>-2.2999999999999998</c:v>
                </c:pt>
                <c:pt idx="18">
                  <c:v>-2.2000000000000002</c:v>
                </c:pt>
                <c:pt idx="19">
                  <c:v>-2.1</c:v>
                </c:pt>
                <c:pt idx="20">
                  <c:v>-2</c:v>
                </c:pt>
                <c:pt idx="21">
                  <c:v>-1.9</c:v>
                </c:pt>
                <c:pt idx="22">
                  <c:v>-1.8</c:v>
                </c:pt>
                <c:pt idx="23">
                  <c:v>-1.7</c:v>
                </c:pt>
                <c:pt idx="24">
                  <c:v>-1.6</c:v>
                </c:pt>
                <c:pt idx="25">
                  <c:v>-1.5</c:v>
                </c:pt>
                <c:pt idx="26">
                  <c:v>-1.4</c:v>
                </c:pt>
                <c:pt idx="27">
                  <c:v>-1.3</c:v>
                </c:pt>
                <c:pt idx="28">
                  <c:v>-1.2</c:v>
                </c:pt>
                <c:pt idx="29">
                  <c:v>-1.1000000000000001</c:v>
                </c:pt>
                <c:pt idx="30">
                  <c:v>-1</c:v>
                </c:pt>
                <c:pt idx="31">
                  <c:v>-0.9</c:v>
                </c:pt>
                <c:pt idx="32">
                  <c:v>-0.8</c:v>
                </c:pt>
                <c:pt idx="33">
                  <c:v>-0.7</c:v>
                </c:pt>
                <c:pt idx="34">
                  <c:v>-0.6</c:v>
                </c:pt>
                <c:pt idx="35">
                  <c:v>-0.5</c:v>
                </c:pt>
                <c:pt idx="36">
                  <c:v>-0.4</c:v>
                </c:pt>
                <c:pt idx="37">
                  <c:v>-0.3</c:v>
                </c:pt>
                <c:pt idx="38">
                  <c:v>-0.2</c:v>
                </c:pt>
                <c:pt idx="39">
                  <c:v>-0.1</c:v>
                </c:pt>
                <c:pt idx="40">
                  <c:v>0</c:v>
                </c:pt>
                <c:pt idx="41">
                  <c:v>9.9999999999999603E-2</c:v>
                </c:pt>
                <c:pt idx="42">
                  <c:v>0.2</c:v>
                </c:pt>
                <c:pt idx="43">
                  <c:v>0.3</c:v>
                </c:pt>
                <c:pt idx="44">
                  <c:v>0.4</c:v>
                </c:pt>
                <c:pt idx="45">
                  <c:v>0.5</c:v>
                </c:pt>
                <c:pt idx="46">
                  <c:v>0.6</c:v>
                </c:pt>
                <c:pt idx="47">
                  <c:v>0.7</c:v>
                </c:pt>
                <c:pt idx="48">
                  <c:v>0.8</c:v>
                </c:pt>
                <c:pt idx="49">
                  <c:v>0.9</c:v>
                </c:pt>
                <c:pt idx="50">
                  <c:v>1</c:v>
                </c:pt>
                <c:pt idx="51">
                  <c:v>1.1000000000000001</c:v>
                </c:pt>
                <c:pt idx="52">
                  <c:v>1.2</c:v>
                </c:pt>
                <c:pt idx="53">
                  <c:v>1.3</c:v>
                </c:pt>
                <c:pt idx="54">
                  <c:v>1.4</c:v>
                </c:pt>
                <c:pt idx="55">
                  <c:v>1.50000000000001</c:v>
                </c:pt>
                <c:pt idx="56">
                  <c:v>1.6</c:v>
                </c:pt>
                <c:pt idx="57">
                  <c:v>1.7</c:v>
                </c:pt>
                <c:pt idx="58">
                  <c:v>1.80000000000001</c:v>
                </c:pt>
                <c:pt idx="59">
                  <c:v>1.9000000000000099</c:v>
                </c:pt>
                <c:pt idx="60">
                  <c:v>2.0000000000000102</c:v>
                </c:pt>
                <c:pt idx="61">
                  <c:v>2.1</c:v>
                </c:pt>
                <c:pt idx="62">
                  <c:v>2.2000000000000099</c:v>
                </c:pt>
                <c:pt idx="63">
                  <c:v>2.30000000000001</c:v>
                </c:pt>
                <c:pt idx="64">
                  <c:v>2.4000000000000101</c:v>
                </c:pt>
                <c:pt idx="65">
                  <c:v>2.5000000000000102</c:v>
                </c:pt>
                <c:pt idx="66">
                  <c:v>2.6000000000000099</c:v>
                </c:pt>
                <c:pt idx="67">
                  <c:v>2.7000000000000099</c:v>
                </c:pt>
                <c:pt idx="68">
                  <c:v>2.80000000000001</c:v>
                </c:pt>
                <c:pt idx="69">
                  <c:v>2.9000000000000101</c:v>
                </c:pt>
                <c:pt idx="70">
                  <c:v>3.0000000000000102</c:v>
                </c:pt>
                <c:pt idx="71">
                  <c:v>3.1000000000000099</c:v>
                </c:pt>
                <c:pt idx="72">
                  <c:v>3.2000000000000099</c:v>
                </c:pt>
                <c:pt idx="73">
                  <c:v>3.30000000000001</c:v>
                </c:pt>
                <c:pt idx="74">
                  <c:v>3.4000000000000101</c:v>
                </c:pt>
                <c:pt idx="75">
                  <c:v>3.5000000000000102</c:v>
                </c:pt>
                <c:pt idx="76">
                  <c:v>3.6000000000000099</c:v>
                </c:pt>
                <c:pt idx="77">
                  <c:v>3.7000000000000099</c:v>
                </c:pt>
                <c:pt idx="78">
                  <c:v>3.80000000000001</c:v>
                </c:pt>
                <c:pt idx="79">
                  <c:v>3.9000000000000101</c:v>
                </c:pt>
                <c:pt idx="80">
                  <c:v>4.0000000000000098</c:v>
                </c:pt>
              </c:numCache>
            </c:numRef>
          </c:xVal>
          <c:yVal>
            <c:numRef>
              <c:f>Sheet1!$B$3:$B$83</c:f>
              <c:numCache>
                <c:formatCode>General</c:formatCode>
                <c:ptCount val="81"/>
                <c:pt idx="0">
                  <c:v>1.3383022576488537E-4</c:v>
                </c:pt>
                <c:pt idx="1">
                  <c:v>1.9865547139277272E-4</c:v>
                </c:pt>
                <c:pt idx="2">
                  <c:v>2.9194692579146027E-4</c:v>
                </c:pt>
                <c:pt idx="3">
                  <c:v>4.2478027055075143E-4</c:v>
                </c:pt>
                <c:pt idx="4">
                  <c:v>6.119019301137719E-4</c:v>
                </c:pt>
                <c:pt idx="5">
                  <c:v>8.7268269504576015E-4</c:v>
                </c:pt>
                <c:pt idx="6">
                  <c:v>1.2322191684730199E-3</c:v>
                </c:pt>
                <c:pt idx="7">
                  <c:v>1.7225689390536812E-3</c:v>
                </c:pt>
                <c:pt idx="8">
                  <c:v>2.3840882014648404E-3</c:v>
                </c:pt>
                <c:pt idx="9">
                  <c:v>3.2668190561999182E-3</c:v>
                </c:pt>
                <c:pt idx="10">
                  <c:v>4.4318484119380075E-3</c:v>
                </c:pt>
                <c:pt idx="11">
                  <c:v>5.9525324197758538E-3</c:v>
                </c:pt>
                <c:pt idx="12">
                  <c:v>7.9154515829799686E-3</c:v>
                </c:pt>
                <c:pt idx="13">
                  <c:v>1.0420934814422592E-2</c:v>
                </c:pt>
                <c:pt idx="14">
                  <c:v>1.3582969233685613E-2</c:v>
                </c:pt>
                <c:pt idx="15">
                  <c:v>1.752830049356854E-2</c:v>
                </c:pt>
                <c:pt idx="16">
                  <c:v>2.2394530294842899E-2</c:v>
                </c:pt>
                <c:pt idx="17">
                  <c:v>2.8327037741601186E-2</c:v>
                </c:pt>
                <c:pt idx="18">
                  <c:v>3.5474592846231424E-2</c:v>
                </c:pt>
                <c:pt idx="19">
                  <c:v>4.3983595980427191E-2</c:v>
                </c:pt>
                <c:pt idx="20">
                  <c:v>5.3990966513188063E-2</c:v>
                </c:pt>
                <c:pt idx="21">
                  <c:v>6.5615814774676595E-2</c:v>
                </c:pt>
                <c:pt idx="22">
                  <c:v>7.8950158300894149E-2</c:v>
                </c:pt>
                <c:pt idx="23">
                  <c:v>9.4049077376886947E-2</c:v>
                </c:pt>
                <c:pt idx="24">
                  <c:v>0.11092083467945554</c:v>
                </c:pt>
                <c:pt idx="25">
                  <c:v>0.12951759566589174</c:v>
                </c:pt>
                <c:pt idx="26">
                  <c:v>0.14972746563574488</c:v>
                </c:pt>
                <c:pt idx="27">
                  <c:v>0.17136859204780736</c:v>
                </c:pt>
                <c:pt idx="28">
                  <c:v>0.19418605498321295</c:v>
                </c:pt>
                <c:pt idx="29">
                  <c:v>0.21785217703255053</c:v>
                </c:pt>
                <c:pt idx="30">
                  <c:v>0.24197072451914337</c:v>
                </c:pt>
                <c:pt idx="31">
                  <c:v>0.26608524989875482</c:v>
                </c:pt>
                <c:pt idx="32">
                  <c:v>0.28969155276148273</c:v>
                </c:pt>
                <c:pt idx="33">
                  <c:v>0.31225393336676127</c:v>
                </c:pt>
                <c:pt idx="34">
                  <c:v>0.33322460289179967</c:v>
                </c:pt>
                <c:pt idx="35">
                  <c:v>0.35206532676429952</c:v>
                </c:pt>
                <c:pt idx="36">
                  <c:v>0.36827014030332333</c:v>
                </c:pt>
                <c:pt idx="37">
                  <c:v>0.38138781546052414</c:v>
                </c:pt>
                <c:pt idx="38">
                  <c:v>0.39104269397545588</c:v>
                </c:pt>
                <c:pt idx="39">
                  <c:v>0.39695254747701181</c:v>
                </c:pt>
                <c:pt idx="40">
                  <c:v>0.3989422804014327</c:v>
                </c:pt>
                <c:pt idx="41">
                  <c:v>0.39695254747701181</c:v>
                </c:pt>
                <c:pt idx="42">
                  <c:v>0.39104269397545588</c:v>
                </c:pt>
                <c:pt idx="43">
                  <c:v>0.38138781546052414</c:v>
                </c:pt>
                <c:pt idx="44">
                  <c:v>0.36827014030332333</c:v>
                </c:pt>
                <c:pt idx="45">
                  <c:v>0.35206532676429952</c:v>
                </c:pt>
                <c:pt idx="46">
                  <c:v>0.33322460289179967</c:v>
                </c:pt>
                <c:pt idx="47">
                  <c:v>0.31225393336676127</c:v>
                </c:pt>
                <c:pt idx="48">
                  <c:v>0.28969155276148273</c:v>
                </c:pt>
                <c:pt idx="49">
                  <c:v>0.26608524989875482</c:v>
                </c:pt>
                <c:pt idx="50">
                  <c:v>0.24197072451914337</c:v>
                </c:pt>
                <c:pt idx="51">
                  <c:v>0.21785217703255053</c:v>
                </c:pt>
                <c:pt idx="52">
                  <c:v>0.19418605498321295</c:v>
                </c:pt>
                <c:pt idx="53">
                  <c:v>0.17136859204780736</c:v>
                </c:pt>
                <c:pt idx="54">
                  <c:v>0.14972746563574488</c:v>
                </c:pt>
                <c:pt idx="55">
                  <c:v>0.1295175956658898</c:v>
                </c:pt>
                <c:pt idx="56">
                  <c:v>0.11092083467945554</c:v>
                </c:pt>
                <c:pt idx="57">
                  <c:v>9.4049077376886947E-2</c:v>
                </c:pt>
                <c:pt idx="58">
                  <c:v>7.8950158300892734E-2</c:v>
                </c:pt>
                <c:pt idx="59">
                  <c:v>6.561581477467536E-2</c:v>
                </c:pt>
                <c:pt idx="60">
                  <c:v>5.3990966513186953E-2</c:v>
                </c:pt>
                <c:pt idx="61">
                  <c:v>4.3983595980427191E-2</c:v>
                </c:pt>
                <c:pt idx="62">
                  <c:v>3.5474592846230668E-2</c:v>
                </c:pt>
                <c:pt idx="63">
                  <c:v>2.8327037741600516E-2</c:v>
                </c:pt>
                <c:pt idx="64">
                  <c:v>2.2394530294842355E-2</c:v>
                </c:pt>
                <c:pt idx="65">
                  <c:v>1.7528300493568086E-2</c:v>
                </c:pt>
                <c:pt idx="66">
                  <c:v>1.3582969233685271E-2</c:v>
                </c:pt>
                <c:pt idx="67">
                  <c:v>1.0420934814422318E-2</c:v>
                </c:pt>
                <c:pt idx="68">
                  <c:v>7.915451582979743E-3</c:v>
                </c:pt>
                <c:pt idx="69">
                  <c:v>5.9525324197756795E-3</c:v>
                </c:pt>
                <c:pt idx="70">
                  <c:v>4.431848411937874E-3</c:v>
                </c:pt>
                <c:pt idx="71">
                  <c:v>3.2668190561998202E-3</c:v>
                </c:pt>
                <c:pt idx="72">
                  <c:v>2.3840882014647662E-3</c:v>
                </c:pt>
                <c:pt idx="73">
                  <c:v>1.7225689390536229E-3</c:v>
                </c:pt>
                <c:pt idx="74">
                  <c:v>1.2322191684729772E-3</c:v>
                </c:pt>
                <c:pt idx="75">
                  <c:v>8.7268269504572915E-4</c:v>
                </c:pt>
                <c:pt idx="76">
                  <c:v>6.1190193011375076E-4</c:v>
                </c:pt>
                <c:pt idx="77">
                  <c:v>4.2478027055073593E-4</c:v>
                </c:pt>
                <c:pt idx="78">
                  <c:v>2.919469257914491E-4</c:v>
                </c:pt>
                <c:pt idx="79">
                  <c:v>1.9865547139276475E-4</c:v>
                </c:pt>
                <c:pt idx="80">
                  <c:v>1.3383022576488014E-4</c:v>
                </c:pt>
              </c:numCache>
            </c:numRef>
          </c:yVal>
          <c:smooth val="1"/>
          <c:extLst>
            <c:ext xmlns:c16="http://schemas.microsoft.com/office/drawing/2014/chart" uri="{C3380CC4-5D6E-409C-BE32-E72D297353CC}">
              <c16:uniqueId val="{00000000-DC76-43F3-8116-0ECE828DA5B1}"/>
            </c:ext>
          </c:extLst>
        </c:ser>
        <c:dLbls>
          <c:showLegendKey val="0"/>
          <c:showVal val="0"/>
          <c:showCatName val="0"/>
          <c:showSerName val="0"/>
          <c:showPercent val="0"/>
          <c:showBubbleSize val="0"/>
        </c:dLbls>
        <c:axId val="547916640"/>
        <c:axId val="547917296"/>
      </c:scatterChart>
      <c:valAx>
        <c:axId val="547916640"/>
        <c:scaling>
          <c:orientation val="minMax"/>
        </c:scaling>
        <c:delete val="1"/>
        <c:axPos val="b"/>
        <c:numFmt formatCode="General" sourceLinked="1"/>
        <c:majorTickMark val="none"/>
        <c:minorTickMark val="none"/>
        <c:tickLblPos val="nextTo"/>
        <c:crossAx val="547917296"/>
        <c:crosses val="autoZero"/>
        <c:crossBetween val="midCat"/>
      </c:valAx>
      <c:valAx>
        <c:axId val="547917296"/>
        <c:scaling>
          <c:orientation val="minMax"/>
        </c:scaling>
        <c:delete val="1"/>
        <c:axPos val="l"/>
        <c:numFmt formatCode="General" sourceLinked="1"/>
        <c:majorTickMark val="none"/>
        <c:minorTickMark val="none"/>
        <c:tickLblPos val="nextTo"/>
        <c:crossAx val="547916640"/>
        <c:crosses val="autoZero"/>
        <c:crossBetween val="midCat"/>
      </c:valAx>
      <c:spPr>
        <a:noFill/>
        <a:ln w="25400">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0.20003</cdr:x>
      <cdr:y>0.89009</cdr:y>
    </cdr:from>
    <cdr:to>
      <cdr:x>0.28702</cdr:x>
      <cdr:y>0.96275</cdr:y>
    </cdr:to>
    <cdr:sp macro="" textlink="">
      <cdr:nvSpPr>
        <cdr:cNvPr id="6" name="直角三角形 5">
          <a:extLst xmlns:a="http://schemas.openxmlformats.org/drawingml/2006/main">
            <a:ext uri="{FF2B5EF4-FFF2-40B4-BE49-F238E27FC236}">
              <a16:creationId xmlns:a16="http://schemas.microsoft.com/office/drawing/2014/main" id="{74CC60A6-71E9-4C2E-86D8-0DDC539D9E7F}"/>
            </a:ext>
          </a:extLst>
        </cdr:cNvPr>
        <cdr:cNvSpPr/>
      </cdr:nvSpPr>
      <cdr:spPr>
        <a:xfrm xmlns:a="http://schemas.openxmlformats.org/drawingml/2006/main" flipH="1">
          <a:off x="1489936" y="3087119"/>
          <a:ext cx="648000" cy="252000"/>
        </a:xfrm>
        <a:prstGeom xmlns:a="http://schemas.openxmlformats.org/drawingml/2006/main" prst="rtTriangle">
          <a:avLst/>
        </a:prstGeom>
        <a:ln xmlns:a="http://schemas.openxmlformats.org/drawingml/2006/main">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rtlCol="0" anchor="ctr"/>
        <a:lstStyle xmlns:a="http://schemas.openxmlformats.org/drawingml/2006/main"/>
        <a:p xmlns:a="http://schemas.openxmlformats.org/drawingml/2006/main">
          <a:endParaRPr lang="ja-JP"/>
        </a:p>
      </cdr:txBody>
    </cdr:sp>
  </cdr:relSizeAnchor>
  <cdr:relSizeAnchor xmlns:cdr="http://schemas.openxmlformats.org/drawingml/2006/chartDrawing">
    <cdr:from>
      <cdr:x>0.70275</cdr:x>
      <cdr:y>0.8844</cdr:y>
    </cdr:from>
    <cdr:to>
      <cdr:x>0.78975</cdr:x>
      <cdr:y>0.95705</cdr:y>
    </cdr:to>
    <cdr:sp macro="" textlink="">
      <cdr:nvSpPr>
        <cdr:cNvPr id="7" name="直角三角形 6">
          <a:extLst xmlns:a="http://schemas.openxmlformats.org/drawingml/2006/main">
            <a:ext uri="{FF2B5EF4-FFF2-40B4-BE49-F238E27FC236}">
              <a16:creationId xmlns:a16="http://schemas.microsoft.com/office/drawing/2014/main" id="{6A7DB7AC-D6D0-45D7-AA8F-C5E113A83884}"/>
            </a:ext>
          </a:extLst>
        </cdr:cNvPr>
        <cdr:cNvSpPr/>
      </cdr:nvSpPr>
      <cdr:spPr>
        <a:xfrm xmlns:a="http://schemas.openxmlformats.org/drawingml/2006/main">
          <a:off x="5234610" y="3067364"/>
          <a:ext cx="648000" cy="252000"/>
        </a:xfrm>
        <a:prstGeom xmlns:a="http://schemas.openxmlformats.org/drawingml/2006/main" prst="rtTriangle">
          <a:avLst/>
        </a:prstGeom>
        <a:ln xmlns:a="http://schemas.openxmlformats.org/drawingml/2006/main">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rtlCol="0" anchor="ctr"/>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endParaRPr lang="ja-JP"/>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B360EB-EED5-E74A-9E1B-64442734BBCE}" type="datetimeFigureOut">
              <a:rPr kumimoji="1" lang="ja-JP" altLang="en-US" smtClean="0"/>
              <a:t>2018/6/9</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04AD5B-25DE-AE41-9ACA-EFDE3C4BB9CC}" type="slidenum">
              <a:rPr kumimoji="1" lang="ja-JP" altLang="en-US" smtClean="0"/>
              <a:t>‹#›</a:t>
            </a:fld>
            <a:endParaRPr kumimoji="1" lang="ja-JP" altLang="en-US"/>
          </a:p>
        </p:txBody>
      </p:sp>
    </p:spTree>
    <p:extLst>
      <p:ext uri="{BB962C8B-B14F-4D97-AF65-F5344CB8AC3E}">
        <p14:creationId xmlns:p14="http://schemas.microsoft.com/office/powerpoint/2010/main" val="955236816"/>
      </p:ext>
    </p:extLst>
  </p:cSld>
  <p:clrMap bg1="lt1" tx1="dk1" bg2="lt2" tx2="dk2" accent1="accent1" accent2="accent2" accent3="accent3" accent4="accent4" accent5="accent5" accent6="accent6" hlink="hlink" folHlink="folHlink"/>
  <p:notesStyle>
    <a:lvl1pPr marL="0" algn="l" defTabSz="1828800" rtl="0" eaLnBrk="1" latinLnBrk="0" hangingPunct="1">
      <a:defRPr kumimoji="1" sz="2400" kern="1200">
        <a:solidFill>
          <a:schemeClr val="tx1"/>
        </a:solidFill>
        <a:latin typeface="+mn-lt"/>
        <a:ea typeface="+mn-ea"/>
        <a:cs typeface="+mn-cs"/>
      </a:defRPr>
    </a:lvl1pPr>
    <a:lvl2pPr marL="914400" algn="l" defTabSz="1828800" rtl="0" eaLnBrk="1" latinLnBrk="0" hangingPunct="1">
      <a:defRPr kumimoji="1" sz="2400" kern="1200">
        <a:solidFill>
          <a:schemeClr val="tx1"/>
        </a:solidFill>
        <a:latin typeface="+mn-lt"/>
        <a:ea typeface="+mn-ea"/>
        <a:cs typeface="+mn-cs"/>
      </a:defRPr>
    </a:lvl2pPr>
    <a:lvl3pPr marL="1828800" algn="l" defTabSz="1828800" rtl="0" eaLnBrk="1" latinLnBrk="0" hangingPunct="1">
      <a:defRPr kumimoji="1" sz="2400" kern="1200">
        <a:solidFill>
          <a:schemeClr val="tx1"/>
        </a:solidFill>
        <a:latin typeface="+mn-lt"/>
        <a:ea typeface="+mn-ea"/>
        <a:cs typeface="+mn-cs"/>
      </a:defRPr>
    </a:lvl3pPr>
    <a:lvl4pPr marL="2743200" algn="l" defTabSz="1828800" rtl="0" eaLnBrk="1" latinLnBrk="0" hangingPunct="1">
      <a:defRPr kumimoji="1" sz="2400" kern="1200">
        <a:solidFill>
          <a:schemeClr val="tx1"/>
        </a:solidFill>
        <a:latin typeface="+mn-lt"/>
        <a:ea typeface="+mn-ea"/>
        <a:cs typeface="+mn-cs"/>
      </a:defRPr>
    </a:lvl4pPr>
    <a:lvl5pPr marL="3657600" algn="l" defTabSz="1828800" rtl="0" eaLnBrk="1" latinLnBrk="0" hangingPunct="1">
      <a:defRPr kumimoji="1" sz="2400" kern="1200">
        <a:solidFill>
          <a:schemeClr val="tx1"/>
        </a:solidFill>
        <a:latin typeface="+mn-lt"/>
        <a:ea typeface="+mn-ea"/>
        <a:cs typeface="+mn-cs"/>
      </a:defRPr>
    </a:lvl5pPr>
    <a:lvl6pPr marL="4572000" algn="l" defTabSz="1828800" rtl="0" eaLnBrk="1" latinLnBrk="0" hangingPunct="1">
      <a:defRPr kumimoji="1" sz="2400" kern="1200">
        <a:solidFill>
          <a:schemeClr val="tx1"/>
        </a:solidFill>
        <a:latin typeface="+mn-lt"/>
        <a:ea typeface="+mn-ea"/>
        <a:cs typeface="+mn-cs"/>
      </a:defRPr>
    </a:lvl6pPr>
    <a:lvl7pPr marL="5486400" algn="l" defTabSz="1828800" rtl="0" eaLnBrk="1" latinLnBrk="0" hangingPunct="1">
      <a:defRPr kumimoji="1" sz="2400" kern="1200">
        <a:solidFill>
          <a:schemeClr val="tx1"/>
        </a:solidFill>
        <a:latin typeface="+mn-lt"/>
        <a:ea typeface="+mn-ea"/>
        <a:cs typeface="+mn-cs"/>
      </a:defRPr>
    </a:lvl7pPr>
    <a:lvl8pPr marL="6400800" algn="l" defTabSz="1828800" rtl="0" eaLnBrk="1" latinLnBrk="0" hangingPunct="1">
      <a:defRPr kumimoji="1" sz="2400" kern="1200">
        <a:solidFill>
          <a:schemeClr val="tx1"/>
        </a:solidFill>
        <a:latin typeface="+mn-lt"/>
        <a:ea typeface="+mn-ea"/>
        <a:cs typeface="+mn-cs"/>
      </a:defRPr>
    </a:lvl8pPr>
    <a:lvl9pPr marL="7315200" algn="l" defTabSz="1828800" rtl="0" eaLnBrk="1" latinLnBrk="0" hangingPunct="1">
      <a:defRPr kumimoji="1" sz="2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文献購読の研究室内発表と題しまして松下昌悟が発表します．</a:t>
            </a:r>
          </a:p>
        </p:txBody>
      </p:sp>
      <p:sp>
        <p:nvSpPr>
          <p:cNvPr id="4" name="スライド番号プレースホルダー 3"/>
          <p:cNvSpPr>
            <a:spLocks noGrp="1"/>
          </p:cNvSpPr>
          <p:nvPr>
            <p:ph type="sldNum" sz="quarter" idx="10"/>
          </p:nvPr>
        </p:nvSpPr>
        <p:spPr/>
        <p:txBody>
          <a:bodyPr/>
          <a:lstStyle/>
          <a:p>
            <a:fld id="{DF04AD5B-25DE-AE41-9ACA-EFDE3C4BB9CC}" type="slidenum">
              <a:rPr kumimoji="1" lang="ja-JP" altLang="en-US" smtClean="0"/>
              <a:t>1</a:t>
            </a:fld>
            <a:endParaRPr kumimoji="1" lang="ja-JP" altLang="en-US"/>
          </a:p>
        </p:txBody>
      </p:sp>
    </p:spTree>
    <p:extLst>
      <p:ext uri="{BB962C8B-B14F-4D97-AF65-F5344CB8AC3E}">
        <p14:creationId xmlns:p14="http://schemas.microsoft.com/office/powerpoint/2010/main" val="41546258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今回の発表内容はこのようになっております．</a:t>
            </a:r>
          </a:p>
        </p:txBody>
      </p:sp>
      <p:sp>
        <p:nvSpPr>
          <p:cNvPr id="4" name="スライド番号プレースホルダー 3"/>
          <p:cNvSpPr>
            <a:spLocks noGrp="1"/>
          </p:cNvSpPr>
          <p:nvPr>
            <p:ph type="sldNum" sz="quarter" idx="10"/>
          </p:nvPr>
        </p:nvSpPr>
        <p:spPr/>
        <p:txBody>
          <a:bodyPr/>
          <a:lstStyle/>
          <a:p>
            <a:fld id="{DF04AD5B-25DE-AE41-9ACA-EFDE3C4BB9CC}" type="slidenum">
              <a:rPr kumimoji="1" lang="ja-JP" altLang="en-US" smtClean="0"/>
              <a:t>2</a:t>
            </a:fld>
            <a:endParaRPr kumimoji="1" lang="ja-JP" altLang="en-US"/>
          </a:p>
        </p:txBody>
      </p:sp>
    </p:spTree>
    <p:extLst>
      <p:ext uri="{BB962C8B-B14F-4D97-AF65-F5344CB8AC3E}">
        <p14:creationId xmlns:p14="http://schemas.microsoft.com/office/powerpoint/2010/main" val="20079755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群内の偏差平方和の総和</a:t>
            </a:r>
            <a:r>
              <a:rPr lang="en-US" altLang="ja-JP" dirty="0"/>
              <a:t>&lt;&lt;</a:t>
            </a:r>
            <a:r>
              <a:rPr lang="ja-JP" altLang="en-US" dirty="0"/>
              <a:t>全体の偏差平方和であれば有意差あり</a:t>
            </a:r>
            <a:endParaRPr lang="en-US" altLang="ja-JP" dirty="0"/>
          </a:p>
          <a:p>
            <a:r>
              <a:rPr lang="ja-JP" altLang="en-US" dirty="0"/>
              <a:t>要因変動とは群自体の効果による変動すなわち群と群の差のことです．</a:t>
            </a:r>
            <a:endParaRPr lang="en-US" altLang="ja-JP" dirty="0"/>
          </a:p>
          <a:p>
            <a:r>
              <a:rPr lang="ja-JP" altLang="en-US" dirty="0"/>
              <a:t>誤差変動は群の効果を考慮しない場合のデータの誤差による差のことです．</a:t>
            </a:r>
            <a:endParaRPr lang="en-US" altLang="ja-JP" dirty="0"/>
          </a:p>
          <a:p>
            <a:r>
              <a:rPr lang="ja-JP" altLang="en-US" dirty="0"/>
              <a:t>すなわち，データの誤差が小さかったり，群と群との差が大きい場合は</a:t>
            </a:r>
            <a:r>
              <a:rPr lang="en-US" altLang="ja-JP" dirty="0"/>
              <a:t>F</a:t>
            </a:r>
            <a:r>
              <a:rPr lang="ja-JP" altLang="en-US" dirty="0"/>
              <a:t>値が大きくなります</a:t>
            </a:r>
            <a:endParaRPr lang="en-US" altLang="ja-JP" dirty="0"/>
          </a:p>
          <a:p>
            <a:r>
              <a:rPr lang="en-US" altLang="ja-JP" dirty="0"/>
              <a:t>Tukey</a:t>
            </a:r>
            <a:r>
              <a:rPr lang="ja-JP" altLang="en-US" dirty="0"/>
              <a:t>の検定は簡単に言うと</a:t>
            </a:r>
            <a:r>
              <a:rPr lang="en-US" altLang="ja-JP" dirty="0"/>
              <a:t>t</a:t>
            </a:r>
            <a:r>
              <a:rPr lang="ja-JP" altLang="en-US" dirty="0"/>
              <a:t>検定を</a:t>
            </a:r>
            <a:r>
              <a:rPr lang="en-US" altLang="ja-JP" dirty="0"/>
              <a:t>3</a:t>
            </a:r>
            <a:r>
              <a:rPr lang="ja-JP" altLang="en-US" dirty="0"/>
              <a:t>群以上に対応させたものです．</a:t>
            </a:r>
          </a:p>
        </p:txBody>
      </p:sp>
      <p:sp>
        <p:nvSpPr>
          <p:cNvPr id="4" name="スライド番号プレースホルダー 3"/>
          <p:cNvSpPr>
            <a:spLocks noGrp="1"/>
          </p:cNvSpPr>
          <p:nvPr>
            <p:ph type="sldNum" sz="quarter" idx="10"/>
          </p:nvPr>
        </p:nvSpPr>
        <p:spPr/>
        <p:txBody>
          <a:bodyPr/>
          <a:lstStyle/>
          <a:p>
            <a:fld id="{DF04AD5B-25DE-AE41-9ACA-EFDE3C4BB9CC}" type="slidenum">
              <a:rPr kumimoji="1" lang="ja-JP" altLang="en-US" smtClean="0"/>
              <a:t>28</a:t>
            </a:fld>
            <a:endParaRPr kumimoji="1" lang="ja-JP" altLang="en-US"/>
          </a:p>
        </p:txBody>
      </p:sp>
    </p:spTree>
    <p:extLst>
      <p:ext uri="{BB962C8B-B14F-4D97-AF65-F5344CB8AC3E}">
        <p14:creationId xmlns:p14="http://schemas.microsoft.com/office/powerpoint/2010/main" val="15131330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F</a:t>
            </a:r>
            <a:r>
              <a:rPr kumimoji="1" lang="ja-JP" altLang="en-US" dirty="0"/>
              <a:t>検定は先ほど説明した</a:t>
            </a:r>
            <a:r>
              <a:rPr kumimoji="1" lang="en-US" altLang="ja-JP" dirty="0"/>
              <a:t>F</a:t>
            </a:r>
            <a:r>
              <a:rPr kumimoji="1" lang="ja-JP" altLang="en-US" dirty="0"/>
              <a:t>値と同様の考え方で，分子に分散が大きい方の群の分散，分母に分散が小さい方の群の分散を代入して計算する検定法です．これによって分散が等しいかどうか確認します．</a:t>
            </a:r>
            <a:endParaRPr kumimoji="1" lang="en-US" altLang="ja-JP" dirty="0"/>
          </a:p>
          <a:p>
            <a:r>
              <a:rPr kumimoji="1" lang="ja-JP" altLang="en-US" dirty="0"/>
              <a:t>ここでは簡単のため</a:t>
            </a:r>
            <a:r>
              <a:rPr kumimoji="1" lang="en-US" altLang="ja-JP" dirty="0"/>
              <a:t>1</a:t>
            </a:r>
            <a:r>
              <a:rPr kumimoji="1" lang="ja-JP" altLang="en-US" dirty="0"/>
              <a:t>群の</a:t>
            </a:r>
            <a:r>
              <a:rPr kumimoji="1" lang="en-US" altLang="ja-JP" dirty="0"/>
              <a:t>t</a:t>
            </a:r>
            <a:r>
              <a:rPr kumimoji="1" lang="ja-JP" altLang="en-US" dirty="0"/>
              <a:t>検定について説明します．</a:t>
            </a:r>
            <a:r>
              <a:rPr kumimoji="1" lang="en-US" altLang="ja-JP" dirty="0"/>
              <a:t>1</a:t>
            </a:r>
            <a:r>
              <a:rPr kumimoji="1" lang="ja-JP" altLang="en-US" dirty="0"/>
              <a:t>群の場合は群と固定値の平均値に差があるか調べると考えます．</a:t>
            </a:r>
            <a:endParaRPr kumimoji="1" lang="en-US" altLang="ja-JP" dirty="0"/>
          </a:p>
          <a:p>
            <a:r>
              <a:rPr kumimoji="1" lang="ja-JP" altLang="en-US" dirty="0"/>
              <a:t>対応のある</a:t>
            </a:r>
            <a:r>
              <a:rPr kumimoji="1" lang="en-US" altLang="ja-JP" dirty="0"/>
              <a:t>t</a:t>
            </a:r>
            <a:r>
              <a:rPr kumimoji="1" lang="ja-JP" altLang="en-US" dirty="0"/>
              <a:t>検定も１群の</a:t>
            </a:r>
            <a:r>
              <a:rPr kumimoji="1" lang="en-US" altLang="ja-JP" dirty="0"/>
              <a:t>t</a:t>
            </a:r>
            <a:r>
              <a:rPr kumimoji="1" lang="ja-JP" altLang="en-US" dirty="0"/>
              <a:t>検定と同様の考え方で，この式のデータの平均値を対となるデータの差の平均値に変えて</a:t>
            </a:r>
            <a:r>
              <a:rPr kumimoji="1" lang="en-US" altLang="ja-JP" dirty="0"/>
              <a:t>t</a:t>
            </a:r>
            <a:r>
              <a:rPr kumimoji="1" lang="ja-JP" altLang="en-US" dirty="0"/>
              <a:t>値の計算を行います．</a:t>
            </a:r>
            <a:endParaRPr kumimoji="1" lang="en-US" altLang="ja-JP" dirty="0"/>
          </a:p>
          <a:p>
            <a:r>
              <a:rPr kumimoji="1" lang="ja-JP" altLang="en-US" dirty="0"/>
              <a:t>これは対応のある群同士に差があるというのは群の差が</a:t>
            </a:r>
            <a:r>
              <a:rPr kumimoji="1" lang="en-US" altLang="ja-JP" dirty="0"/>
              <a:t>0</a:t>
            </a:r>
            <a:r>
              <a:rPr kumimoji="1" lang="ja-JP" altLang="en-US" dirty="0"/>
              <a:t>かどうかという問題に落とし込めるからです．</a:t>
            </a:r>
            <a:endParaRPr kumimoji="1" lang="en-US" altLang="ja-JP" dirty="0"/>
          </a:p>
          <a:p>
            <a:r>
              <a:rPr kumimoji="1" lang="ja-JP" altLang="en-US" dirty="0"/>
              <a:t>すなわち群の差という１つの群と固定値を比較するという問題と同義です．</a:t>
            </a:r>
            <a:endParaRPr kumimoji="1" lang="en-US" altLang="ja-JP" dirty="0"/>
          </a:p>
        </p:txBody>
      </p:sp>
      <p:sp>
        <p:nvSpPr>
          <p:cNvPr id="4" name="スライド番号プレースホルダー 3"/>
          <p:cNvSpPr>
            <a:spLocks noGrp="1"/>
          </p:cNvSpPr>
          <p:nvPr>
            <p:ph type="sldNum" sz="quarter" idx="10"/>
          </p:nvPr>
        </p:nvSpPr>
        <p:spPr/>
        <p:txBody>
          <a:bodyPr/>
          <a:lstStyle/>
          <a:p>
            <a:fld id="{DF04AD5B-25DE-AE41-9ACA-EFDE3C4BB9CC}" type="slidenum">
              <a:rPr kumimoji="1" lang="ja-JP" altLang="en-US" smtClean="0"/>
              <a:t>29</a:t>
            </a:fld>
            <a:endParaRPr kumimoji="1" lang="ja-JP" altLang="en-US"/>
          </a:p>
        </p:txBody>
      </p:sp>
    </p:spTree>
    <p:extLst>
      <p:ext uri="{BB962C8B-B14F-4D97-AF65-F5344CB8AC3E}">
        <p14:creationId xmlns:p14="http://schemas.microsoft.com/office/powerpoint/2010/main" val="5456160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今回の実験を例とすると，</a:t>
            </a:r>
            <a:endParaRPr kumimoji="1" lang="en-US" altLang="ja-JP"/>
          </a:p>
          <a:p>
            <a:r>
              <a:rPr kumimoji="1" lang="ja-JP" altLang="en-US"/>
              <a:t>参加者</a:t>
            </a:r>
            <a:r>
              <a:rPr kumimoji="1" lang="ja-JP" altLang="en-US" dirty="0"/>
              <a:t>の人数から除外基準で除外された</a:t>
            </a:r>
            <a:r>
              <a:rPr kumimoji="1" lang="en-US" altLang="ja-JP" dirty="0"/>
              <a:t>24</a:t>
            </a:r>
            <a:r>
              <a:rPr kumimoji="1" lang="ja-JP" altLang="en-US" dirty="0"/>
              <a:t>名を引いた</a:t>
            </a:r>
            <a:r>
              <a:rPr kumimoji="1" lang="en-US" altLang="ja-JP" dirty="0"/>
              <a:t>126</a:t>
            </a:r>
            <a:r>
              <a:rPr kumimoji="1" lang="ja-JP" altLang="en-US" dirty="0"/>
              <a:t>からさらにすべてのデータの平均が</a:t>
            </a:r>
            <a:r>
              <a:rPr kumimoji="1" lang="en-US" altLang="ja-JP" dirty="0"/>
              <a:t>1</a:t>
            </a:r>
            <a:r>
              <a:rPr kumimoji="1" lang="ja-JP" altLang="en-US" dirty="0"/>
              <a:t>つ定まっているため１を引くことで</a:t>
            </a:r>
            <a:r>
              <a:rPr kumimoji="1" lang="en-US" altLang="ja-JP" dirty="0"/>
              <a:t>T</a:t>
            </a:r>
            <a:r>
              <a:rPr kumimoji="1" lang="ja-JP" altLang="en-US" dirty="0"/>
              <a:t>検定の自由度は</a:t>
            </a:r>
            <a:r>
              <a:rPr kumimoji="1" lang="en-US" altLang="ja-JP" dirty="0"/>
              <a:t>125</a:t>
            </a:r>
            <a:r>
              <a:rPr kumimoji="1" lang="ja-JP" altLang="en-US" dirty="0"/>
              <a:t>になります．</a:t>
            </a:r>
            <a:endParaRPr kumimoji="1" lang="en-US" altLang="ja-JP" dirty="0"/>
          </a:p>
          <a:p>
            <a:r>
              <a:rPr kumimoji="1" lang="en-US" altLang="ja-JP" dirty="0"/>
              <a:t>F</a:t>
            </a:r>
            <a:r>
              <a:rPr kumimoji="1" lang="ja-JP" altLang="en-US" dirty="0"/>
              <a:t>値の自由度は</a:t>
            </a:r>
            <a:r>
              <a:rPr kumimoji="1" lang="en-US" altLang="ja-JP" dirty="0"/>
              <a:t>2</a:t>
            </a:r>
            <a:r>
              <a:rPr kumimoji="1" lang="ja-JP" altLang="en-US" dirty="0"/>
              <a:t>つあって，要因変動と誤差変動があります．</a:t>
            </a:r>
            <a:endParaRPr kumimoji="1" lang="en-US" altLang="ja-JP" dirty="0"/>
          </a:p>
          <a:p>
            <a:r>
              <a:rPr kumimoji="1" lang="ja-JP" altLang="en-US" dirty="0"/>
              <a:t>要因変動は</a:t>
            </a:r>
            <a:r>
              <a:rPr kumimoji="1" lang="en-US" altLang="ja-JP" dirty="0"/>
              <a:t>3</a:t>
            </a:r>
            <a:r>
              <a:rPr kumimoji="1" lang="ja-JP" altLang="en-US" dirty="0" err="1"/>
              <a:t>つの</a:t>
            </a:r>
            <a:r>
              <a:rPr kumimoji="1" lang="ja-JP" altLang="en-US" dirty="0"/>
              <a:t>群があって，すべてのデータの平均が定まっているので自由度は</a:t>
            </a:r>
            <a:r>
              <a:rPr kumimoji="1" lang="en-US" altLang="ja-JP" dirty="0"/>
              <a:t>2</a:t>
            </a:r>
            <a:r>
              <a:rPr kumimoji="1" lang="ja-JP" altLang="en-US" dirty="0"/>
              <a:t>になります．</a:t>
            </a:r>
            <a:endParaRPr kumimoji="1" lang="en-US" altLang="ja-JP" dirty="0"/>
          </a:p>
          <a:p>
            <a:r>
              <a:rPr kumimoji="1" lang="ja-JP" altLang="en-US" dirty="0"/>
              <a:t>誤差変動は感情と伝達方法が異なる群が</a:t>
            </a:r>
            <a:r>
              <a:rPr kumimoji="1" lang="en-US" altLang="ja-JP" dirty="0"/>
              <a:t>6</a:t>
            </a:r>
            <a:r>
              <a:rPr kumimoji="1" lang="ja-JP" altLang="en-US" dirty="0"/>
              <a:t>つあるので，これを参加者の人数から引いて自由度は</a:t>
            </a:r>
            <a:r>
              <a:rPr kumimoji="1" lang="en-US" altLang="ja-JP" dirty="0"/>
              <a:t>120</a:t>
            </a:r>
            <a:r>
              <a:rPr kumimoji="1" lang="ja-JP" altLang="en-US" dirty="0"/>
              <a:t>になります．</a:t>
            </a:r>
            <a:endParaRPr kumimoji="1" lang="en-US" altLang="ja-JP" dirty="0"/>
          </a:p>
        </p:txBody>
      </p:sp>
      <p:sp>
        <p:nvSpPr>
          <p:cNvPr id="4" name="スライド番号プレースホルダー 3"/>
          <p:cNvSpPr>
            <a:spLocks noGrp="1"/>
          </p:cNvSpPr>
          <p:nvPr>
            <p:ph type="sldNum" sz="quarter" idx="10"/>
          </p:nvPr>
        </p:nvSpPr>
        <p:spPr/>
        <p:txBody>
          <a:bodyPr/>
          <a:lstStyle/>
          <a:p>
            <a:fld id="{DF04AD5B-25DE-AE41-9ACA-EFDE3C4BB9CC}" type="slidenum">
              <a:rPr kumimoji="1" lang="ja-JP" altLang="en-US" smtClean="0"/>
              <a:t>30</a:t>
            </a:fld>
            <a:endParaRPr kumimoji="1" lang="ja-JP" altLang="en-US"/>
          </a:p>
        </p:txBody>
      </p:sp>
    </p:spTree>
    <p:extLst>
      <p:ext uri="{BB962C8B-B14F-4D97-AF65-F5344CB8AC3E}">
        <p14:creationId xmlns:p14="http://schemas.microsoft.com/office/powerpoint/2010/main" val="41318906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DF04AD5B-25DE-AE41-9ACA-EFDE3C4BB9CC}" type="slidenum">
              <a:rPr kumimoji="1" lang="ja-JP" altLang="en-US" smtClean="0"/>
              <a:t>31</a:t>
            </a:fld>
            <a:endParaRPr kumimoji="1" lang="ja-JP" altLang="en-US"/>
          </a:p>
        </p:txBody>
      </p:sp>
    </p:spTree>
    <p:extLst>
      <p:ext uri="{BB962C8B-B14F-4D97-AF65-F5344CB8AC3E}">
        <p14:creationId xmlns:p14="http://schemas.microsoft.com/office/powerpoint/2010/main" val="42210368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4DB48260-19DA-2240-B1D7-219E5D21CDB1}"/>
              </a:ext>
            </a:extLst>
          </p:cNvPr>
          <p:cNvSpPr/>
          <p:nvPr userDrawn="1"/>
        </p:nvSpPr>
        <p:spPr>
          <a:xfrm>
            <a:off x="8984" y="3505120"/>
            <a:ext cx="18288000" cy="671094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kumimoji="1" lang="ja-JP" altLang="en-US" sz="2700"/>
          </a:p>
        </p:txBody>
      </p:sp>
      <p:sp>
        <p:nvSpPr>
          <p:cNvPr id="2" name="Title 1"/>
          <p:cNvSpPr>
            <a:spLocks noGrp="1"/>
          </p:cNvSpPr>
          <p:nvPr>
            <p:ph type="ctrTitle"/>
          </p:nvPr>
        </p:nvSpPr>
        <p:spPr>
          <a:xfrm>
            <a:off x="1371600" y="2244726"/>
            <a:ext cx="15544800" cy="4775200"/>
          </a:xfrm>
        </p:spPr>
        <p:txBody>
          <a:bodyPr anchor="b"/>
          <a:lstStyle>
            <a:lvl1pPr algn="ctr">
              <a:defRPr sz="12000">
                <a:solidFill>
                  <a:schemeClr val="bg2"/>
                </a:solidFill>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2286000" y="7204076"/>
            <a:ext cx="13716000" cy="3311524"/>
          </a:xfrm>
        </p:spPr>
        <p:txBody>
          <a:bodyPr/>
          <a:lstStyle>
            <a:lvl1pPr marL="0" indent="0" algn="ctr">
              <a:buNone/>
              <a:defRPr sz="4800">
                <a:solidFill>
                  <a:schemeClr val="bg2"/>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4920C136-7FFD-4B99-9F10-B0C455E4DCE4}" type="datetime1">
              <a:rPr lang="ja-JP" altLang="en-US" smtClean="0"/>
              <a:t>2018/6/9</a:t>
            </a:fld>
            <a:endParaRPr lang="ja-JP" altLang="en-US"/>
          </a:p>
        </p:txBody>
      </p:sp>
      <p:sp>
        <p:nvSpPr>
          <p:cNvPr id="5" name="Footer Placeholder 4"/>
          <p:cNvSpPr>
            <a:spLocks noGrp="1"/>
          </p:cNvSpPr>
          <p:nvPr>
            <p:ph type="ftr" sz="quarter" idx="11"/>
          </p:nvPr>
        </p:nvSpPr>
        <p:spPr/>
        <p:txBody>
          <a:bodyPr/>
          <a:lstStyle/>
          <a:p>
            <a:r>
              <a:rPr lang="ja-JP" altLang="en-US"/>
              <a:t>文献講読発表</a:t>
            </a:r>
            <a:r>
              <a:rPr lang="en-US" altLang="ja-JP"/>
              <a:t>(2018.05.07)</a:t>
            </a:r>
            <a:endParaRPr lang="ja-JP" altLang="en-US"/>
          </a:p>
        </p:txBody>
      </p:sp>
      <p:sp>
        <p:nvSpPr>
          <p:cNvPr id="6" name="Slide Number Placeholder 5"/>
          <p:cNvSpPr>
            <a:spLocks noGrp="1"/>
          </p:cNvSpPr>
          <p:nvPr>
            <p:ph type="sldNum" sz="quarter" idx="12"/>
          </p:nvPr>
        </p:nvSpPr>
        <p:spPr/>
        <p:txBody>
          <a:bodyPr/>
          <a:lstStyle/>
          <a:p>
            <a:fld id="{89242BC1-393D-1248-985B-18DA624F2964}" type="slidenum">
              <a:rPr lang="ja-JP" altLang="en-US" smtClean="0"/>
              <a:pPr/>
              <a:t>‹#›</a:t>
            </a:fld>
            <a:endParaRPr lang="ja-JP" altLang="en-US"/>
          </a:p>
        </p:txBody>
      </p:sp>
    </p:spTree>
    <p:extLst>
      <p:ext uri="{BB962C8B-B14F-4D97-AF65-F5344CB8AC3E}">
        <p14:creationId xmlns:p14="http://schemas.microsoft.com/office/powerpoint/2010/main" val="751210930"/>
      </p:ext>
    </p:extLst>
  </p:cSld>
  <p:clrMapOvr>
    <a:masterClrMapping/>
  </p:clrMapOvr>
  <p:extLst mod="1">
    <p:ext uri="{DCECCB84-F9BA-43D5-87BE-67443E8EF086}">
      <p15:sldGuideLst xmlns:p15="http://schemas.microsoft.com/office/powerpoint/2012/main">
        <p15:guide id="1" orient="horz" pos="8266" userDrawn="1">
          <p15:clr>
            <a:srgbClr val="FBAE40"/>
          </p15:clr>
        </p15:guide>
        <p15:guide id="2" pos="381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番号付き">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ADF1710-6306-4D7E-9276-861F0F5B15B3}" type="datetime1">
              <a:rPr lang="ja-JP" altLang="en-US" smtClean="0"/>
              <a:t>2018/6/9</a:t>
            </a:fld>
            <a:endParaRPr lang="ja-JP" altLang="en-US"/>
          </a:p>
        </p:txBody>
      </p:sp>
      <p:sp>
        <p:nvSpPr>
          <p:cNvPr id="5" name="Footer Placeholder 4"/>
          <p:cNvSpPr>
            <a:spLocks noGrp="1"/>
          </p:cNvSpPr>
          <p:nvPr>
            <p:ph type="ftr" sz="quarter" idx="11"/>
          </p:nvPr>
        </p:nvSpPr>
        <p:spPr/>
        <p:txBody>
          <a:bodyPr/>
          <a:lstStyle/>
          <a:p>
            <a:r>
              <a:rPr lang="ja-JP" altLang="en-US"/>
              <a:t>文献講読発表</a:t>
            </a:r>
            <a:r>
              <a:rPr lang="en-US" altLang="ja-JP"/>
              <a:t>(2018.05.07)</a:t>
            </a:r>
            <a:endParaRPr lang="ja-JP" altLang="en-US"/>
          </a:p>
        </p:txBody>
      </p:sp>
      <p:sp>
        <p:nvSpPr>
          <p:cNvPr id="6" name="Slide Number Placeholder 5"/>
          <p:cNvSpPr>
            <a:spLocks noGrp="1"/>
          </p:cNvSpPr>
          <p:nvPr>
            <p:ph type="sldNum" sz="quarter" idx="12"/>
          </p:nvPr>
        </p:nvSpPr>
        <p:spPr/>
        <p:txBody>
          <a:bodyPr/>
          <a:lstStyle/>
          <a:p>
            <a:fld id="{89242BC1-393D-1248-985B-18DA624F2964}" type="slidenum">
              <a:rPr lang="ja-JP" altLang="en-US" smtClean="0"/>
              <a:pPr/>
              <a:t>‹#›</a:t>
            </a:fld>
            <a:endParaRPr lang="ja-JP" altLang="en-US"/>
          </a:p>
        </p:txBody>
      </p:sp>
      <p:sp>
        <p:nvSpPr>
          <p:cNvPr id="7" name="円弧 6">
            <a:extLst>
              <a:ext uri="{FF2B5EF4-FFF2-40B4-BE49-F238E27FC236}">
                <a16:creationId xmlns:a16="http://schemas.microsoft.com/office/drawing/2014/main" id="{CBF0D79E-DC97-7244-B970-BA67ACDF9F7B}"/>
              </a:ext>
            </a:extLst>
          </p:cNvPr>
          <p:cNvSpPr/>
          <p:nvPr userDrawn="1"/>
        </p:nvSpPr>
        <p:spPr>
          <a:xfrm rot="5400000">
            <a:off x="-1319547" y="-1502762"/>
            <a:ext cx="2628000" cy="2988000"/>
          </a:xfrm>
          <a:prstGeom prst="arc">
            <a:avLst/>
          </a:prstGeom>
          <a:solidFill>
            <a:schemeClr val="accent1">
              <a:lumMod val="75000"/>
            </a:schemeClr>
          </a:solidFill>
          <a:ln w="38100">
            <a:solidFill>
              <a:schemeClr val="bg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4000"/>
          </a:p>
        </p:txBody>
      </p:sp>
      <p:sp>
        <p:nvSpPr>
          <p:cNvPr id="9" name="テキスト プレースホルダー 8">
            <a:extLst>
              <a:ext uri="{FF2B5EF4-FFF2-40B4-BE49-F238E27FC236}">
                <a16:creationId xmlns:a16="http://schemas.microsoft.com/office/drawing/2014/main" id="{6ADBD5D3-E43E-EB4E-BFAF-EF2E8E601640}"/>
              </a:ext>
            </a:extLst>
          </p:cNvPr>
          <p:cNvSpPr>
            <a:spLocks noGrp="1"/>
          </p:cNvSpPr>
          <p:nvPr>
            <p:ph type="body" sz="quarter" idx="13" hasCustomPrompt="1"/>
          </p:nvPr>
        </p:nvSpPr>
        <p:spPr>
          <a:xfrm>
            <a:off x="-52615" y="-159024"/>
            <a:ext cx="6450012" cy="1420388"/>
          </a:xfrm>
        </p:spPr>
        <p:txBody>
          <a:bodyPr>
            <a:noAutofit/>
          </a:bodyPr>
          <a:lstStyle>
            <a:lvl1pPr marL="0" indent="0">
              <a:buNone/>
              <a:defRPr sz="10500">
                <a:solidFill>
                  <a:schemeClr val="bg2"/>
                </a:solidFill>
              </a:defRPr>
            </a:lvl1pPr>
          </a:lstStyle>
          <a:p>
            <a:pPr lvl="0"/>
            <a:r>
              <a:rPr kumimoji="1" lang="en-US" altLang="ja-JP" dirty="0"/>
              <a:t>No.</a:t>
            </a:r>
          </a:p>
        </p:txBody>
      </p:sp>
      <p:sp>
        <p:nvSpPr>
          <p:cNvPr id="11" name="テキスト プレースホルダー 10">
            <a:extLst>
              <a:ext uri="{FF2B5EF4-FFF2-40B4-BE49-F238E27FC236}">
                <a16:creationId xmlns:a16="http://schemas.microsoft.com/office/drawing/2014/main" id="{D62626F9-B0B3-4E40-A3A6-2578E6811C55}"/>
              </a:ext>
            </a:extLst>
          </p:cNvPr>
          <p:cNvSpPr>
            <a:spLocks noGrp="1"/>
          </p:cNvSpPr>
          <p:nvPr>
            <p:ph type="body" sz="quarter" idx="14" hasCustomPrompt="1"/>
          </p:nvPr>
        </p:nvSpPr>
        <p:spPr>
          <a:xfrm>
            <a:off x="1445162" y="69062"/>
            <a:ext cx="13323887" cy="796352"/>
          </a:xfrm>
        </p:spPr>
        <p:txBody>
          <a:bodyPr>
            <a:noAutofit/>
          </a:bodyPr>
          <a:lstStyle>
            <a:lvl1pPr marL="0" indent="0">
              <a:buNone/>
              <a:defRPr sz="6600">
                <a:solidFill>
                  <a:schemeClr val="bg2"/>
                </a:solidFill>
              </a:defRPr>
            </a:lvl1pPr>
          </a:lstStyle>
          <a:p>
            <a:pPr lvl="0"/>
            <a:r>
              <a:rPr kumimoji="1" lang="ja-JP" altLang="en-US" dirty="0"/>
              <a:t>タイトル</a:t>
            </a:r>
          </a:p>
        </p:txBody>
      </p:sp>
      <p:sp>
        <p:nvSpPr>
          <p:cNvPr id="44" name="円/楕円 43">
            <a:extLst>
              <a:ext uri="{FF2B5EF4-FFF2-40B4-BE49-F238E27FC236}">
                <a16:creationId xmlns:a16="http://schemas.microsoft.com/office/drawing/2014/main" id="{1EF83EC6-99EF-E94B-ADD7-5D20EA9BC096}"/>
              </a:ext>
            </a:extLst>
          </p:cNvPr>
          <p:cNvSpPr/>
          <p:nvPr userDrawn="1"/>
        </p:nvSpPr>
        <p:spPr>
          <a:xfrm>
            <a:off x="789086" y="866722"/>
            <a:ext cx="126000" cy="12600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414499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番号なし">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EE17DCE-E512-4FBB-B3A2-2CE2AF78648A}" type="datetime1">
              <a:rPr lang="ja-JP" altLang="en-US" smtClean="0"/>
              <a:t>2018/6/9</a:t>
            </a:fld>
            <a:endParaRPr lang="ja-JP" altLang="en-US"/>
          </a:p>
        </p:txBody>
      </p:sp>
      <p:sp>
        <p:nvSpPr>
          <p:cNvPr id="5" name="Footer Placeholder 4"/>
          <p:cNvSpPr>
            <a:spLocks noGrp="1"/>
          </p:cNvSpPr>
          <p:nvPr>
            <p:ph type="ftr" sz="quarter" idx="11"/>
          </p:nvPr>
        </p:nvSpPr>
        <p:spPr/>
        <p:txBody>
          <a:bodyPr/>
          <a:lstStyle/>
          <a:p>
            <a:r>
              <a:rPr lang="ja-JP" altLang="en-US"/>
              <a:t>文献講読発表</a:t>
            </a:r>
            <a:r>
              <a:rPr lang="en-US" altLang="ja-JP"/>
              <a:t>(2018.05.07)</a:t>
            </a:r>
            <a:endParaRPr lang="ja-JP" altLang="en-US"/>
          </a:p>
        </p:txBody>
      </p:sp>
      <p:sp>
        <p:nvSpPr>
          <p:cNvPr id="6" name="Slide Number Placeholder 5"/>
          <p:cNvSpPr>
            <a:spLocks noGrp="1"/>
          </p:cNvSpPr>
          <p:nvPr>
            <p:ph type="sldNum" sz="quarter" idx="12"/>
          </p:nvPr>
        </p:nvSpPr>
        <p:spPr/>
        <p:txBody>
          <a:bodyPr/>
          <a:lstStyle/>
          <a:p>
            <a:fld id="{89242BC1-393D-1248-985B-18DA624F2964}" type="slidenum">
              <a:rPr lang="ja-JP" altLang="en-US" smtClean="0"/>
              <a:pPr/>
              <a:t>‹#›</a:t>
            </a:fld>
            <a:endParaRPr lang="ja-JP" altLang="en-US"/>
          </a:p>
        </p:txBody>
      </p:sp>
      <p:sp>
        <p:nvSpPr>
          <p:cNvPr id="11" name="テキスト プレースホルダー 10">
            <a:extLst>
              <a:ext uri="{FF2B5EF4-FFF2-40B4-BE49-F238E27FC236}">
                <a16:creationId xmlns:a16="http://schemas.microsoft.com/office/drawing/2014/main" id="{D62626F9-B0B3-4E40-A3A6-2578E6811C55}"/>
              </a:ext>
            </a:extLst>
          </p:cNvPr>
          <p:cNvSpPr>
            <a:spLocks noGrp="1"/>
          </p:cNvSpPr>
          <p:nvPr>
            <p:ph type="body" sz="quarter" idx="14" hasCustomPrompt="1"/>
          </p:nvPr>
        </p:nvSpPr>
        <p:spPr>
          <a:xfrm>
            <a:off x="-16578" y="69062"/>
            <a:ext cx="13323887" cy="796352"/>
          </a:xfrm>
        </p:spPr>
        <p:txBody>
          <a:bodyPr>
            <a:noAutofit/>
          </a:bodyPr>
          <a:lstStyle>
            <a:lvl1pPr marL="0" indent="0">
              <a:buNone/>
              <a:defRPr sz="6000">
                <a:solidFill>
                  <a:schemeClr val="bg2"/>
                </a:solidFill>
              </a:defRPr>
            </a:lvl1pPr>
          </a:lstStyle>
          <a:p>
            <a:pPr lvl="0"/>
            <a:r>
              <a:rPr kumimoji="1" lang="ja-JP" altLang="en-US"/>
              <a:t>タイトル</a:t>
            </a:r>
          </a:p>
        </p:txBody>
      </p:sp>
    </p:spTree>
    <p:extLst>
      <p:ext uri="{BB962C8B-B14F-4D97-AF65-F5344CB8AC3E}">
        <p14:creationId xmlns:p14="http://schemas.microsoft.com/office/powerpoint/2010/main" val="26195342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コピー用">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BF63A4F-9011-46E5-9BF4-125C0F6D36D1}" type="datetime1">
              <a:rPr kumimoji="1" lang="ja-JP" altLang="en-US" smtClean="0"/>
              <a:t>2018/6/9</a:t>
            </a:fld>
            <a:endParaRPr kumimoji="1" lang="ja-JP" altLang="en-US"/>
          </a:p>
        </p:txBody>
      </p:sp>
      <p:sp>
        <p:nvSpPr>
          <p:cNvPr id="5" name="Footer Placeholder 4"/>
          <p:cNvSpPr>
            <a:spLocks noGrp="1"/>
          </p:cNvSpPr>
          <p:nvPr>
            <p:ph type="ftr" sz="quarter" idx="11"/>
          </p:nvPr>
        </p:nvSpPr>
        <p:spPr/>
        <p:txBody>
          <a:bodyPr/>
          <a:lstStyle/>
          <a:p>
            <a:r>
              <a:rPr kumimoji="1" lang="ja-JP" altLang="en-US"/>
              <a:t>文献講読発表</a:t>
            </a:r>
            <a:r>
              <a:rPr kumimoji="1" lang="en-US" altLang="ja-JP"/>
              <a:t>(2018.05.07)</a:t>
            </a:r>
            <a:endParaRPr kumimoji="1" lang="ja-JP" altLang="en-US"/>
          </a:p>
        </p:txBody>
      </p:sp>
      <p:sp>
        <p:nvSpPr>
          <p:cNvPr id="6" name="Slide Number Placeholder 5"/>
          <p:cNvSpPr>
            <a:spLocks noGrp="1"/>
          </p:cNvSpPr>
          <p:nvPr>
            <p:ph type="sldNum" sz="quarter" idx="12"/>
          </p:nvPr>
        </p:nvSpPr>
        <p:spPr/>
        <p:txBody>
          <a:bodyPr/>
          <a:lstStyle/>
          <a:p>
            <a:fld id="{89242BC1-393D-1248-985B-18DA624F2964}" type="slidenum">
              <a:rPr kumimoji="1" lang="ja-JP" altLang="en-US" smtClean="0"/>
              <a:t>‹#›</a:t>
            </a:fld>
            <a:endParaRPr kumimoji="1" lang="ja-JP" altLang="en-US"/>
          </a:p>
        </p:txBody>
      </p:sp>
      <p:grpSp>
        <p:nvGrpSpPr>
          <p:cNvPr id="42" name="グループ化 41">
            <a:extLst>
              <a:ext uri="{FF2B5EF4-FFF2-40B4-BE49-F238E27FC236}">
                <a16:creationId xmlns:a16="http://schemas.microsoft.com/office/drawing/2014/main" id="{7C64DA23-46D9-984B-B610-6E67459B873E}"/>
              </a:ext>
            </a:extLst>
          </p:cNvPr>
          <p:cNvGrpSpPr/>
          <p:nvPr userDrawn="1"/>
        </p:nvGrpSpPr>
        <p:grpSpPr>
          <a:xfrm>
            <a:off x="289330" y="1413298"/>
            <a:ext cx="2160000" cy="934436"/>
            <a:chOff x="144665" y="525617"/>
            <a:chExt cx="1080000" cy="467218"/>
          </a:xfrm>
        </p:grpSpPr>
        <p:sp>
          <p:nvSpPr>
            <p:cNvPr id="43" name="正方形/長方形 42">
              <a:extLst>
                <a:ext uri="{FF2B5EF4-FFF2-40B4-BE49-F238E27FC236}">
                  <a16:creationId xmlns:a16="http://schemas.microsoft.com/office/drawing/2014/main" id="{D665C4E3-299D-DF48-8BFD-9D032E326C5F}"/>
                </a:ext>
              </a:extLst>
            </p:cNvPr>
            <p:cNvSpPr/>
            <p:nvPr userDrawn="1"/>
          </p:nvSpPr>
          <p:spPr>
            <a:xfrm>
              <a:off x="145524" y="542424"/>
              <a:ext cx="91081" cy="450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sp>
          <p:nvSpPr>
            <p:cNvPr id="44" name="正方形/長方形 43">
              <a:extLst>
                <a:ext uri="{FF2B5EF4-FFF2-40B4-BE49-F238E27FC236}">
                  <a16:creationId xmlns:a16="http://schemas.microsoft.com/office/drawing/2014/main" id="{036DCA53-79EE-E047-9C3D-D1D6BE4D29A3}"/>
                </a:ext>
              </a:extLst>
            </p:cNvPr>
            <p:cNvSpPr/>
            <p:nvPr userDrawn="1"/>
          </p:nvSpPr>
          <p:spPr>
            <a:xfrm>
              <a:off x="144665" y="525617"/>
              <a:ext cx="1080000" cy="161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grpSp>
      <p:grpSp>
        <p:nvGrpSpPr>
          <p:cNvPr id="45" name="グループ化 44">
            <a:extLst>
              <a:ext uri="{FF2B5EF4-FFF2-40B4-BE49-F238E27FC236}">
                <a16:creationId xmlns:a16="http://schemas.microsoft.com/office/drawing/2014/main" id="{2B75F477-C889-2943-A2CA-1622C8EA202B}"/>
              </a:ext>
            </a:extLst>
          </p:cNvPr>
          <p:cNvGrpSpPr/>
          <p:nvPr userDrawn="1"/>
        </p:nvGrpSpPr>
        <p:grpSpPr>
          <a:xfrm>
            <a:off x="617232" y="2555510"/>
            <a:ext cx="539448" cy="487368"/>
            <a:chOff x="400056" y="1061560"/>
            <a:chExt cx="269724" cy="243684"/>
          </a:xfrm>
        </p:grpSpPr>
        <p:sp>
          <p:nvSpPr>
            <p:cNvPr id="46" name="三角形 45">
              <a:extLst>
                <a:ext uri="{FF2B5EF4-FFF2-40B4-BE49-F238E27FC236}">
                  <a16:creationId xmlns:a16="http://schemas.microsoft.com/office/drawing/2014/main" id="{2A685D1C-1FAF-1B40-9357-32E276CD76E9}"/>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47" name="三角形 46">
              <a:extLst>
                <a:ext uri="{FF2B5EF4-FFF2-40B4-BE49-F238E27FC236}">
                  <a16:creationId xmlns:a16="http://schemas.microsoft.com/office/drawing/2014/main" id="{4B27A33D-C837-B14A-83D0-153BF1C23FD2}"/>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48" name="三角形 47">
            <a:extLst>
              <a:ext uri="{FF2B5EF4-FFF2-40B4-BE49-F238E27FC236}">
                <a16:creationId xmlns:a16="http://schemas.microsoft.com/office/drawing/2014/main" id="{BEA7B9D1-FCCE-824A-BFC7-6A498C977FD4}"/>
              </a:ext>
            </a:extLst>
          </p:cNvPr>
          <p:cNvSpPr/>
          <p:nvPr userDrawn="1"/>
        </p:nvSpPr>
        <p:spPr>
          <a:xfrm rot="5400000">
            <a:off x="1076238" y="3359928"/>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49" name="テキスト プレースホルダー 27">
            <a:extLst>
              <a:ext uri="{FF2B5EF4-FFF2-40B4-BE49-F238E27FC236}">
                <a16:creationId xmlns:a16="http://schemas.microsoft.com/office/drawing/2014/main" id="{1BC1998B-2FF5-524F-8768-2B4D222F8EB3}"/>
              </a:ext>
            </a:extLst>
          </p:cNvPr>
          <p:cNvSpPr>
            <a:spLocks noGrp="1"/>
          </p:cNvSpPr>
          <p:nvPr>
            <p:ph type="body" sz="quarter" idx="17" hasCustomPrompt="1"/>
          </p:nvPr>
        </p:nvSpPr>
        <p:spPr>
          <a:xfrm>
            <a:off x="1246886" y="2484733"/>
            <a:ext cx="16632960" cy="997834"/>
          </a:xfrm>
        </p:spPr>
        <p:txBody>
          <a:bodyPr>
            <a:normAutofit/>
          </a:bodyPr>
          <a:lstStyle>
            <a:lvl1pPr marL="0" indent="0">
              <a:buNone/>
              <a:defRPr sz="4800">
                <a:solidFill>
                  <a:srgbClr val="424242"/>
                </a:solidFill>
              </a:defRPr>
            </a:lvl1pPr>
          </a:lstStyle>
          <a:p>
            <a:pPr lvl="0"/>
            <a:r>
              <a:rPr kumimoji="1" lang="ja-JP" altLang="en-US"/>
              <a:t>レベル</a:t>
            </a:r>
            <a:r>
              <a:rPr kumimoji="1" lang="en-US" altLang="ja-JP" dirty="0"/>
              <a:t>2</a:t>
            </a:r>
            <a:endParaRPr kumimoji="1" lang="ja-JP" altLang="en-US"/>
          </a:p>
        </p:txBody>
      </p:sp>
      <p:sp>
        <p:nvSpPr>
          <p:cNvPr id="50" name="テキスト プレースホルダー 29">
            <a:extLst>
              <a:ext uri="{FF2B5EF4-FFF2-40B4-BE49-F238E27FC236}">
                <a16:creationId xmlns:a16="http://schemas.microsoft.com/office/drawing/2014/main" id="{8BEB543B-9F21-374C-8C29-418CED1A87B0}"/>
              </a:ext>
            </a:extLst>
          </p:cNvPr>
          <p:cNvSpPr>
            <a:spLocks noGrp="1"/>
          </p:cNvSpPr>
          <p:nvPr>
            <p:ph type="body" sz="quarter" idx="18" hasCustomPrompt="1"/>
          </p:nvPr>
        </p:nvSpPr>
        <p:spPr>
          <a:xfrm>
            <a:off x="1561000" y="3246502"/>
            <a:ext cx="16135964" cy="853994"/>
          </a:xfrm>
        </p:spPr>
        <p:txBody>
          <a:bodyPr>
            <a:normAutofit/>
          </a:bodyPr>
          <a:lstStyle>
            <a:lvl1pPr marL="0" indent="0">
              <a:buNone/>
              <a:defRPr sz="4000">
                <a:solidFill>
                  <a:srgbClr val="424242"/>
                </a:solidFill>
              </a:defRPr>
            </a:lvl1pPr>
          </a:lstStyle>
          <a:p>
            <a:pPr lvl="0"/>
            <a:r>
              <a:rPr kumimoji="1" lang="ja-JP" altLang="en-US"/>
              <a:t>レベル</a:t>
            </a:r>
            <a:r>
              <a:rPr kumimoji="1" lang="en-US" altLang="ja-JP" dirty="0"/>
              <a:t>3</a:t>
            </a:r>
            <a:endParaRPr kumimoji="1" lang="ja-JP" altLang="en-US"/>
          </a:p>
        </p:txBody>
      </p:sp>
      <p:sp>
        <p:nvSpPr>
          <p:cNvPr id="51" name="テキスト プレースホルダー 30">
            <a:extLst>
              <a:ext uri="{FF2B5EF4-FFF2-40B4-BE49-F238E27FC236}">
                <a16:creationId xmlns:a16="http://schemas.microsoft.com/office/drawing/2014/main" id="{02304497-0A2B-5C45-97ED-E58D120C141A}"/>
              </a:ext>
            </a:extLst>
          </p:cNvPr>
          <p:cNvSpPr>
            <a:spLocks noGrp="1"/>
          </p:cNvSpPr>
          <p:nvPr>
            <p:ph type="body" sz="quarter" idx="19" hasCustomPrompt="1"/>
          </p:nvPr>
        </p:nvSpPr>
        <p:spPr>
          <a:xfrm>
            <a:off x="571049" y="1583871"/>
            <a:ext cx="17302163" cy="1403350"/>
          </a:xfrm>
        </p:spPr>
        <p:txBody>
          <a:bodyPr>
            <a:normAutofit/>
          </a:bodyPr>
          <a:lstStyle>
            <a:lvl1pPr marL="0" indent="0">
              <a:buNone/>
              <a:defRPr sz="6000"/>
            </a:lvl1pPr>
          </a:lstStyle>
          <a:p>
            <a:pPr lvl="0"/>
            <a:r>
              <a:rPr kumimoji="1" lang="ja-JP" altLang="en-US"/>
              <a:t>レベル</a:t>
            </a:r>
            <a:r>
              <a:rPr kumimoji="1" lang="en-US" altLang="ja-JP" dirty="0"/>
              <a:t>1</a:t>
            </a:r>
            <a:endParaRPr kumimoji="1" lang="ja-JP" altLang="en-US"/>
          </a:p>
        </p:txBody>
      </p:sp>
    </p:spTree>
    <p:extLst>
      <p:ext uri="{BB962C8B-B14F-4D97-AF65-F5344CB8AC3E}">
        <p14:creationId xmlns:p14="http://schemas.microsoft.com/office/powerpoint/2010/main" val="36281651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1257300" y="3651250"/>
            <a:ext cx="7772400" cy="8702676"/>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9258300" y="3651250"/>
            <a:ext cx="7772400" cy="8702676"/>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387B5743-A319-49BC-8A6B-2E5E377FE5C8}" type="datetime1">
              <a:rPr kumimoji="1" lang="ja-JP" altLang="en-US" smtClean="0"/>
              <a:t>2018/6/9</a:t>
            </a:fld>
            <a:endParaRPr kumimoji="1" lang="ja-JP" altLang="en-US"/>
          </a:p>
        </p:txBody>
      </p:sp>
      <p:sp>
        <p:nvSpPr>
          <p:cNvPr id="6" name="Footer Placeholder 5"/>
          <p:cNvSpPr>
            <a:spLocks noGrp="1"/>
          </p:cNvSpPr>
          <p:nvPr>
            <p:ph type="ftr" sz="quarter" idx="11"/>
          </p:nvPr>
        </p:nvSpPr>
        <p:spPr/>
        <p:txBody>
          <a:bodyPr/>
          <a:lstStyle/>
          <a:p>
            <a:r>
              <a:rPr kumimoji="1" lang="ja-JP" altLang="en-US"/>
              <a:t>文献講読発表</a:t>
            </a:r>
            <a:r>
              <a:rPr kumimoji="1" lang="en-US" altLang="ja-JP"/>
              <a:t>(2018.05.07)</a:t>
            </a:r>
            <a:endParaRPr kumimoji="1" lang="ja-JP" altLang="en-US"/>
          </a:p>
        </p:txBody>
      </p:sp>
      <p:sp>
        <p:nvSpPr>
          <p:cNvPr id="7" name="Slide Number Placeholder 6"/>
          <p:cNvSpPr>
            <a:spLocks noGrp="1"/>
          </p:cNvSpPr>
          <p:nvPr>
            <p:ph type="sldNum" sz="quarter" idx="12"/>
          </p:nvPr>
        </p:nvSpPr>
        <p:spPr/>
        <p:txBody>
          <a:bodyPr/>
          <a:lstStyle/>
          <a:p>
            <a:fld id="{89242BC1-393D-1248-985B-18DA624F2964}" type="slidenum">
              <a:rPr kumimoji="1" lang="ja-JP" altLang="en-US" smtClean="0"/>
              <a:t>‹#›</a:t>
            </a:fld>
            <a:endParaRPr kumimoji="1" lang="ja-JP" altLang="en-US"/>
          </a:p>
        </p:txBody>
      </p:sp>
    </p:spTree>
    <p:extLst>
      <p:ext uri="{BB962C8B-B14F-4D97-AF65-F5344CB8AC3E}">
        <p14:creationId xmlns:p14="http://schemas.microsoft.com/office/powerpoint/2010/main" val="1328589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1259682" y="730253"/>
            <a:ext cx="15773400" cy="2651126"/>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1259684" y="3362326"/>
            <a:ext cx="7736680" cy="16478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ja-JP" altLang="en-US"/>
              <a:t>マスター テキストの書式設定</a:t>
            </a:r>
          </a:p>
        </p:txBody>
      </p:sp>
      <p:sp>
        <p:nvSpPr>
          <p:cNvPr id="4" name="Content Placeholder 3"/>
          <p:cNvSpPr>
            <a:spLocks noGrp="1"/>
          </p:cNvSpPr>
          <p:nvPr>
            <p:ph sz="half" idx="2"/>
          </p:nvPr>
        </p:nvSpPr>
        <p:spPr>
          <a:xfrm>
            <a:off x="1259684" y="5010150"/>
            <a:ext cx="7736680" cy="7369176"/>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9258301" y="3362326"/>
            <a:ext cx="7774782" cy="16478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ja-JP" altLang="en-US"/>
              <a:t>マスター テキストの書式設定</a:t>
            </a:r>
          </a:p>
        </p:txBody>
      </p:sp>
      <p:sp>
        <p:nvSpPr>
          <p:cNvPr id="6" name="Content Placeholder 5"/>
          <p:cNvSpPr>
            <a:spLocks noGrp="1"/>
          </p:cNvSpPr>
          <p:nvPr>
            <p:ph sz="quarter" idx="4"/>
          </p:nvPr>
        </p:nvSpPr>
        <p:spPr>
          <a:xfrm>
            <a:off x="9258301" y="5010150"/>
            <a:ext cx="7774782" cy="7369176"/>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598F0631-E9D3-47C9-B58A-777BFC0A38C0}" type="datetime1">
              <a:rPr kumimoji="1" lang="ja-JP" altLang="en-US" smtClean="0"/>
              <a:t>2018/6/9</a:t>
            </a:fld>
            <a:endParaRPr kumimoji="1" lang="ja-JP" altLang="en-US"/>
          </a:p>
        </p:txBody>
      </p:sp>
      <p:sp>
        <p:nvSpPr>
          <p:cNvPr id="8" name="Footer Placeholder 7"/>
          <p:cNvSpPr>
            <a:spLocks noGrp="1"/>
          </p:cNvSpPr>
          <p:nvPr>
            <p:ph type="ftr" sz="quarter" idx="11"/>
          </p:nvPr>
        </p:nvSpPr>
        <p:spPr/>
        <p:txBody>
          <a:bodyPr/>
          <a:lstStyle/>
          <a:p>
            <a:r>
              <a:rPr kumimoji="1" lang="ja-JP" altLang="en-US"/>
              <a:t>文献講読発表</a:t>
            </a:r>
            <a:r>
              <a:rPr kumimoji="1" lang="en-US" altLang="ja-JP"/>
              <a:t>(2018.05.07)</a:t>
            </a:r>
            <a:endParaRPr kumimoji="1" lang="ja-JP" altLang="en-US"/>
          </a:p>
        </p:txBody>
      </p:sp>
      <p:sp>
        <p:nvSpPr>
          <p:cNvPr id="9" name="Slide Number Placeholder 8"/>
          <p:cNvSpPr>
            <a:spLocks noGrp="1"/>
          </p:cNvSpPr>
          <p:nvPr>
            <p:ph type="sldNum" sz="quarter" idx="12"/>
          </p:nvPr>
        </p:nvSpPr>
        <p:spPr/>
        <p:txBody>
          <a:bodyPr/>
          <a:lstStyle/>
          <a:p>
            <a:fld id="{89242BC1-393D-1248-985B-18DA624F2964}" type="slidenum">
              <a:rPr kumimoji="1" lang="ja-JP" altLang="en-US" smtClean="0"/>
              <a:t>‹#›</a:t>
            </a:fld>
            <a:endParaRPr kumimoji="1" lang="ja-JP" altLang="en-US"/>
          </a:p>
        </p:txBody>
      </p:sp>
    </p:spTree>
    <p:extLst>
      <p:ext uri="{BB962C8B-B14F-4D97-AF65-F5344CB8AC3E}">
        <p14:creationId xmlns:p14="http://schemas.microsoft.com/office/powerpoint/2010/main" val="1873045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BEDD01EA-B639-4352-B605-7FAB0B612417}" type="datetime1">
              <a:rPr kumimoji="1" lang="ja-JP" altLang="en-US" smtClean="0"/>
              <a:t>2018/6/9</a:t>
            </a:fld>
            <a:endParaRPr kumimoji="1" lang="ja-JP" altLang="en-US"/>
          </a:p>
        </p:txBody>
      </p:sp>
      <p:sp>
        <p:nvSpPr>
          <p:cNvPr id="4" name="Footer Placeholder 3"/>
          <p:cNvSpPr>
            <a:spLocks noGrp="1"/>
          </p:cNvSpPr>
          <p:nvPr>
            <p:ph type="ftr" sz="quarter" idx="11"/>
          </p:nvPr>
        </p:nvSpPr>
        <p:spPr/>
        <p:txBody>
          <a:bodyPr/>
          <a:lstStyle/>
          <a:p>
            <a:r>
              <a:rPr kumimoji="1" lang="ja-JP" altLang="en-US"/>
              <a:t>文献講読発表</a:t>
            </a:r>
            <a:r>
              <a:rPr kumimoji="1" lang="en-US" altLang="ja-JP"/>
              <a:t>(2018.05.07)</a:t>
            </a:r>
            <a:endParaRPr kumimoji="1" lang="ja-JP" altLang="en-US"/>
          </a:p>
        </p:txBody>
      </p:sp>
      <p:sp>
        <p:nvSpPr>
          <p:cNvPr id="5" name="Slide Number Placeholder 4"/>
          <p:cNvSpPr>
            <a:spLocks noGrp="1"/>
          </p:cNvSpPr>
          <p:nvPr>
            <p:ph type="sldNum" sz="quarter" idx="12"/>
          </p:nvPr>
        </p:nvSpPr>
        <p:spPr/>
        <p:txBody>
          <a:bodyPr/>
          <a:lstStyle/>
          <a:p>
            <a:fld id="{89242BC1-393D-1248-985B-18DA624F2964}" type="slidenum">
              <a:rPr kumimoji="1" lang="ja-JP" altLang="en-US" smtClean="0"/>
              <a:t>‹#›</a:t>
            </a:fld>
            <a:endParaRPr kumimoji="1" lang="ja-JP" altLang="en-US"/>
          </a:p>
        </p:txBody>
      </p:sp>
    </p:spTree>
    <p:extLst>
      <p:ext uri="{BB962C8B-B14F-4D97-AF65-F5344CB8AC3E}">
        <p14:creationId xmlns:p14="http://schemas.microsoft.com/office/powerpoint/2010/main" val="31449386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1E5245-5D7C-4BDF-AE54-113FCAD120EA}" type="datetime1">
              <a:rPr kumimoji="1" lang="ja-JP" altLang="en-US" smtClean="0"/>
              <a:t>2018/6/9</a:t>
            </a:fld>
            <a:endParaRPr kumimoji="1" lang="ja-JP" altLang="en-US"/>
          </a:p>
        </p:txBody>
      </p:sp>
      <p:sp>
        <p:nvSpPr>
          <p:cNvPr id="3" name="Footer Placeholder 2"/>
          <p:cNvSpPr>
            <a:spLocks noGrp="1"/>
          </p:cNvSpPr>
          <p:nvPr>
            <p:ph type="ftr" sz="quarter" idx="11"/>
          </p:nvPr>
        </p:nvSpPr>
        <p:spPr/>
        <p:txBody>
          <a:bodyPr/>
          <a:lstStyle/>
          <a:p>
            <a:r>
              <a:rPr kumimoji="1" lang="ja-JP" altLang="en-US"/>
              <a:t>文献講読発表</a:t>
            </a:r>
            <a:r>
              <a:rPr kumimoji="1" lang="en-US" altLang="ja-JP"/>
              <a:t>(2018.05.07)</a:t>
            </a:r>
            <a:endParaRPr kumimoji="1" lang="ja-JP" altLang="en-US"/>
          </a:p>
        </p:txBody>
      </p:sp>
      <p:sp>
        <p:nvSpPr>
          <p:cNvPr id="4" name="Slide Number Placeholder 3"/>
          <p:cNvSpPr>
            <a:spLocks noGrp="1"/>
          </p:cNvSpPr>
          <p:nvPr>
            <p:ph type="sldNum" sz="quarter" idx="12"/>
          </p:nvPr>
        </p:nvSpPr>
        <p:spPr/>
        <p:txBody>
          <a:bodyPr/>
          <a:lstStyle/>
          <a:p>
            <a:fld id="{89242BC1-393D-1248-985B-18DA624F2964}" type="slidenum">
              <a:rPr kumimoji="1" lang="ja-JP" altLang="en-US" smtClean="0"/>
              <a:t>‹#›</a:t>
            </a:fld>
            <a:endParaRPr kumimoji="1" lang="ja-JP" altLang="en-US"/>
          </a:p>
        </p:txBody>
      </p:sp>
    </p:spTree>
    <p:extLst>
      <p:ext uri="{BB962C8B-B14F-4D97-AF65-F5344CB8AC3E}">
        <p14:creationId xmlns:p14="http://schemas.microsoft.com/office/powerpoint/2010/main" val="13016459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コンテンツ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1259682" y="914400"/>
            <a:ext cx="5898356" cy="3200400"/>
          </a:xfrm>
        </p:spPr>
        <p:txBody>
          <a:bodyPr anchor="b"/>
          <a:lstStyle>
            <a:lvl1pPr>
              <a:defRPr sz="6400"/>
            </a:lvl1pPr>
          </a:lstStyle>
          <a:p>
            <a:r>
              <a:rPr lang="ja-JP" altLang="en-US"/>
              <a:t>マスター タイトルの書式設定</a:t>
            </a:r>
            <a:endParaRPr lang="en-US" dirty="0"/>
          </a:p>
        </p:txBody>
      </p:sp>
      <p:sp>
        <p:nvSpPr>
          <p:cNvPr id="3" name="Content Placeholder 2"/>
          <p:cNvSpPr>
            <a:spLocks noGrp="1"/>
          </p:cNvSpPr>
          <p:nvPr>
            <p:ph idx="1"/>
          </p:nvPr>
        </p:nvSpPr>
        <p:spPr>
          <a:xfrm>
            <a:off x="7774782" y="1974853"/>
            <a:ext cx="9258300" cy="9747250"/>
          </a:xfr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1259682" y="4114800"/>
            <a:ext cx="5898356" cy="7623176"/>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6D1BE616-48CE-4A97-9276-F0F53F5F87BD}" type="datetime1">
              <a:rPr kumimoji="1" lang="ja-JP" altLang="en-US" smtClean="0"/>
              <a:t>2018/6/9</a:t>
            </a:fld>
            <a:endParaRPr kumimoji="1" lang="ja-JP" altLang="en-US"/>
          </a:p>
        </p:txBody>
      </p:sp>
      <p:sp>
        <p:nvSpPr>
          <p:cNvPr id="6" name="Footer Placeholder 5"/>
          <p:cNvSpPr>
            <a:spLocks noGrp="1"/>
          </p:cNvSpPr>
          <p:nvPr>
            <p:ph type="ftr" sz="quarter" idx="11"/>
          </p:nvPr>
        </p:nvSpPr>
        <p:spPr/>
        <p:txBody>
          <a:bodyPr/>
          <a:lstStyle/>
          <a:p>
            <a:r>
              <a:rPr kumimoji="1" lang="ja-JP" altLang="en-US"/>
              <a:t>文献講読発表</a:t>
            </a:r>
            <a:r>
              <a:rPr kumimoji="1" lang="en-US" altLang="ja-JP"/>
              <a:t>(2018.05.07)</a:t>
            </a:r>
            <a:endParaRPr kumimoji="1" lang="ja-JP" altLang="en-US"/>
          </a:p>
        </p:txBody>
      </p:sp>
      <p:sp>
        <p:nvSpPr>
          <p:cNvPr id="7" name="Slide Number Placeholder 6"/>
          <p:cNvSpPr>
            <a:spLocks noGrp="1"/>
          </p:cNvSpPr>
          <p:nvPr>
            <p:ph type="sldNum" sz="quarter" idx="12"/>
          </p:nvPr>
        </p:nvSpPr>
        <p:spPr/>
        <p:txBody>
          <a:bodyPr/>
          <a:lstStyle/>
          <a:p>
            <a:fld id="{89242BC1-393D-1248-985B-18DA624F2964}" type="slidenum">
              <a:rPr kumimoji="1" lang="ja-JP" altLang="en-US" smtClean="0"/>
              <a:t>‹#›</a:t>
            </a:fld>
            <a:endParaRPr kumimoji="1" lang="ja-JP" altLang="en-US"/>
          </a:p>
        </p:txBody>
      </p:sp>
    </p:spTree>
    <p:extLst>
      <p:ext uri="{BB962C8B-B14F-4D97-AF65-F5344CB8AC3E}">
        <p14:creationId xmlns:p14="http://schemas.microsoft.com/office/powerpoint/2010/main" val="1228977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図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1259682" y="914400"/>
            <a:ext cx="5898356" cy="3200400"/>
          </a:xfrm>
        </p:spPr>
        <p:txBody>
          <a:bodyPr anchor="b"/>
          <a:lstStyle>
            <a:lvl1pPr>
              <a:defRPr sz="64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7774782" y="1974853"/>
            <a:ext cx="9258300" cy="9747250"/>
          </a:xfrm>
        </p:spPr>
        <p:txBody>
          <a:bodyPr anchor="t"/>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1259682" y="4114800"/>
            <a:ext cx="5898356" cy="7623176"/>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7BCB175B-1B65-4F49-8F2B-96DFC8EC5AA9}" type="datetime1">
              <a:rPr kumimoji="1" lang="ja-JP" altLang="en-US" smtClean="0"/>
              <a:t>2018/6/9</a:t>
            </a:fld>
            <a:endParaRPr kumimoji="1" lang="ja-JP" altLang="en-US"/>
          </a:p>
        </p:txBody>
      </p:sp>
      <p:sp>
        <p:nvSpPr>
          <p:cNvPr id="6" name="Footer Placeholder 5"/>
          <p:cNvSpPr>
            <a:spLocks noGrp="1"/>
          </p:cNvSpPr>
          <p:nvPr>
            <p:ph type="ftr" sz="quarter" idx="11"/>
          </p:nvPr>
        </p:nvSpPr>
        <p:spPr/>
        <p:txBody>
          <a:bodyPr/>
          <a:lstStyle/>
          <a:p>
            <a:r>
              <a:rPr kumimoji="1" lang="ja-JP" altLang="en-US"/>
              <a:t>文献講読発表</a:t>
            </a:r>
            <a:r>
              <a:rPr kumimoji="1" lang="en-US" altLang="ja-JP"/>
              <a:t>(2018.05.07)</a:t>
            </a:r>
            <a:endParaRPr kumimoji="1" lang="ja-JP" altLang="en-US"/>
          </a:p>
        </p:txBody>
      </p:sp>
      <p:sp>
        <p:nvSpPr>
          <p:cNvPr id="7" name="Slide Number Placeholder 6"/>
          <p:cNvSpPr>
            <a:spLocks noGrp="1"/>
          </p:cNvSpPr>
          <p:nvPr>
            <p:ph type="sldNum" sz="quarter" idx="12"/>
          </p:nvPr>
        </p:nvSpPr>
        <p:spPr/>
        <p:txBody>
          <a:bodyPr/>
          <a:lstStyle/>
          <a:p>
            <a:fld id="{89242BC1-393D-1248-985B-18DA624F2964}" type="slidenum">
              <a:rPr kumimoji="1" lang="ja-JP" altLang="en-US" smtClean="0"/>
              <a:t>‹#›</a:t>
            </a:fld>
            <a:endParaRPr kumimoji="1" lang="ja-JP" altLang="en-US"/>
          </a:p>
        </p:txBody>
      </p:sp>
    </p:spTree>
    <p:extLst>
      <p:ext uri="{BB962C8B-B14F-4D97-AF65-F5344CB8AC3E}">
        <p14:creationId xmlns:p14="http://schemas.microsoft.com/office/powerpoint/2010/main" val="28255896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A76C977F-E312-4C26-BA3B-E1C3178424DF}" type="datetime1">
              <a:rPr kumimoji="1" lang="ja-JP" altLang="en-US" smtClean="0"/>
              <a:t>2018/6/9</a:t>
            </a:fld>
            <a:endParaRPr kumimoji="1" lang="ja-JP" altLang="en-US"/>
          </a:p>
        </p:txBody>
      </p:sp>
      <p:sp>
        <p:nvSpPr>
          <p:cNvPr id="5" name="Footer Placeholder 4"/>
          <p:cNvSpPr>
            <a:spLocks noGrp="1"/>
          </p:cNvSpPr>
          <p:nvPr>
            <p:ph type="ftr" sz="quarter" idx="11"/>
          </p:nvPr>
        </p:nvSpPr>
        <p:spPr/>
        <p:txBody>
          <a:bodyPr/>
          <a:lstStyle/>
          <a:p>
            <a:r>
              <a:rPr kumimoji="1" lang="ja-JP" altLang="en-US"/>
              <a:t>文献講読発表</a:t>
            </a:r>
            <a:r>
              <a:rPr kumimoji="1" lang="en-US" altLang="ja-JP"/>
              <a:t>(2018.05.07)</a:t>
            </a:r>
            <a:endParaRPr kumimoji="1" lang="ja-JP" altLang="en-US"/>
          </a:p>
        </p:txBody>
      </p:sp>
      <p:sp>
        <p:nvSpPr>
          <p:cNvPr id="6" name="Slide Number Placeholder 5"/>
          <p:cNvSpPr>
            <a:spLocks noGrp="1"/>
          </p:cNvSpPr>
          <p:nvPr>
            <p:ph type="sldNum" sz="quarter" idx="12"/>
          </p:nvPr>
        </p:nvSpPr>
        <p:spPr/>
        <p:txBody>
          <a:bodyPr/>
          <a:lstStyle/>
          <a:p>
            <a:fld id="{89242BC1-393D-1248-985B-18DA624F2964}" type="slidenum">
              <a:rPr kumimoji="1" lang="ja-JP" altLang="en-US" smtClean="0"/>
              <a:t>‹#›</a:t>
            </a:fld>
            <a:endParaRPr kumimoji="1" lang="ja-JP" altLang="en-US"/>
          </a:p>
        </p:txBody>
      </p:sp>
    </p:spTree>
    <p:extLst>
      <p:ext uri="{BB962C8B-B14F-4D97-AF65-F5344CB8AC3E}">
        <p14:creationId xmlns:p14="http://schemas.microsoft.com/office/powerpoint/2010/main" val="11312116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1" y="730250"/>
            <a:ext cx="3943350" cy="11623676"/>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1257301" y="730250"/>
            <a:ext cx="11601450" cy="11623676"/>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1C3EFCA0-1735-47AB-9DED-FB4B09783554}" type="datetime1">
              <a:rPr kumimoji="1" lang="ja-JP" altLang="en-US" smtClean="0"/>
              <a:t>2018/6/9</a:t>
            </a:fld>
            <a:endParaRPr kumimoji="1" lang="ja-JP" altLang="en-US"/>
          </a:p>
        </p:txBody>
      </p:sp>
      <p:sp>
        <p:nvSpPr>
          <p:cNvPr id="5" name="Footer Placeholder 4"/>
          <p:cNvSpPr>
            <a:spLocks noGrp="1"/>
          </p:cNvSpPr>
          <p:nvPr>
            <p:ph type="ftr" sz="quarter" idx="11"/>
          </p:nvPr>
        </p:nvSpPr>
        <p:spPr/>
        <p:txBody>
          <a:bodyPr/>
          <a:lstStyle/>
          <a:p>
            <a:r>
              <a:rPr kumimoji="1" lang="ja-JP" altLang="en-US"/>
              <a:t>文献講読発表</a:t>
            </a:r>
            <a:r>
              <a:rPr kumimoji="1" lang="en-US" altLang="ja-JP"/>
              <a:t>(2018.05.07)</a:t>
            </a:r>
            <a:endParaRPr kumimoji="1" lang="ja-JP" altLang="en-US"/>
          </a:p>
        </p:txBody>
      </p:sp>
      <p:sp>
        <p:nvSpPr>
          <p:cNvPr id="6" name="Slide Number Placeholder 5"/>
          <p:cNvSpPr>
            <a:spLocks noGrp="1"/>
          </p:cNvSpPr>
          <p:nvPr>
            <p:ph type="sldNum" sz="quarter" idx="12"/>
          </p:nvPr>
        </p:nvSpPr>
        <p:spPr/>
        <p:txBody>
          <a:bodyPr/>
          <a:lstStyle/>
          <a:p>
            <a:fld id="{89242BC1-393D-1248-985B-18DA624F2964}" type="slidenum">
              <a:rPr kumimoji="1" lang="ja-JP" altLang="en-US" smtClean="0"/>
              <a:t>‹#›</a:t>
            </a:fld>
            <a:endParaRPr kumimoji="1" lang="ja-JP" altLang="en-US"/>
          </a:p>
        </p:txBody>
      </p:sp>
    </p:spTree>
    <p:extLst>
      <p:ext uri="{BB962C8B-B14F-4D97-AF65-F5344CB8AC3E}">
        <p14:creationId xmlns:p14="http://schemas.microsoft.com/office/powerpoint/2010/main" val="7242577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lumMod val="95000"/>
          </a:schemeClr>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43D2571E-41D4-D848-BB3B-72FBCA05A8F2}"/>
              </a:ext>
            </a:extLst>
          </p:cNvPr>
          <p:cNvSpPr/>
          <p:nvPr userDrawn="1"/>
        </p:nvSpPr>
        <p:spPr>
          <a:xfrm>
            <a:off x="0" y="13349930"/>
            <a:ext cx="18288000" cy="34962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kumimoji="1" lang="ja-JP" altLang="en-US" sz="2700">
              <a:solidFill>
                <a:schemeClr val="bg2"/>
              </a:solidFill>
            </a:endParaRPr>
          </a:p>
        </p:txBody>
      </p:sp>
      <p:sp>
        <p:nvSpPr>
          <p:cNvPr id="8" name="正方形/長方形 7">
            <a:extLst>
              <a:ext uri="{FF2B5EF4-FFF2-40B4-BE49-F238E27FC236}">
                <a16:creationId xmlns:a16="http://schemas.microsoft.com/office/drawing/2014/main" id="{61B798F2-936C-9A42-9A8A-109E75FBD456}"/>
              </a:ext>
            </a:extLst>
          </p:cNvPr>
          <p:cNvSpPr/>
          <p:nvPr userDrawn="1"/>
        </p:nvSpPr>
        <p:spPr>
          <a:xfrm>
            <a:off x="0" y="-1802"/>
            <a:ext cx="18288000" cy="9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kumimoji="1" lang="ja-JP" altLang="en-US" sz="2700">
              <a:solidFill>
                <a:schemeClr val="bg2"/>
              </a:solidFill>
            </a:endParaRPr>
          </a:p>
        </p:txBody>
      </p:sp>
      <p:sp>
        <p:nvSpPr>
          <p:cNvPr id="2" name="Title Placeholder 1"/>
          <p:cNvSpPr>
            <a:spLocks noGrp="1"/>
          </p:cNvSpPr>
          <p:nvPr>
            <p:ph type="title"/>
          </p:nvPr>
        </p:nvSpPr>
        <p:spPr>
          <a:xfrm>
            <a:off x="1257300" y="730253"/>
            <a:ext cx="15773400" cy="2651126"/>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1257300" y="3651250"/>
            <a:ext cx="15773400" cy="8702676"/>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32658" y="13154933"/>
            <a:ext cx="4114800" cy="730250"/>
          </a:xfrm>
          <a:prstGeom prst="rect">
            <a:avLst/>
          </a:prstGeom>
        </p:spPr>
        <p:txBody>
          <a:bodyPr vert="horz" lIns="91440" tIns="45720" rIns="91440" bIns="45720" rtlCol="0" anchor="ctr"/>
          <a:lstStyle>
            <a:lvl1pPr algn="l">
              <a:defRPr sz="2400">
                <a:solidFill>
                  <a:schemeClr val="bg2"/>
                </a:solidFill>
              </a:defRPr>
            </a:lvl1pPr>
          </a:lstStyle>
          <a:p>
            <a:fld id="{24A5A1A9-107F-451C-8BA4-46179D70E0A7}" type="datetime1">
              <a:rPr lang="ja-JP" altLang="en-US" smtClean="0"/>
              <a:t>2018/6/9</a:t>
            </a:fld>
            <a:endParaRPr lang="ja-JP" altLang="en-US"/>
          </a:p>
        </p:txBody>
      </p:sp>
      <p:sp>
        <p:nvSpPr>
          <p:cNvPr id="5" name="Footer Placeholder 4"/>
          <p:cNvSpPr>
            <a:spLocks noGrp="1"/>
          </p:cNvSpPr>
          <p:nvPr>
            <p:ph type="ftr" sz="quarter" idx="3"/>
          </p:nvPr>
        </p:nvSpPr>
        <p:spPr>
          <a:xfrm>
            <a:off x="6057900" y="13186238"/>
            <a:ext cx="6172200" cy="730250"/>
          </a:xfrm>
          <a:prstGeom prst="rect">
            <a:avLst/>
          </a:prstGeom>
        </p:spPr>
        <p:txBody>
          <a:bodyPr vert="horz" lIns="91440" tIns="45720" rIns="91440" bIns="45720" rtlCol="0" anchor="ctr"/>
          <a:lstStyle>
            <a:lvl1pPr algn="ctr">
              <a:defRPr sz="2400">
                <a:solidFill>
                  <a:schemeClr val="bg2"/>
                </a:solidFill>
                <a:latin typeface="+mn-ea"/>
                <a:ea typeface="+mn-ea"/>
              </a:defRPr>
            </a:lvl1pPr>
          </a:lstStyle>
          <a:p>
            <a:r>
              <a:rPr lang="ja-JP" altLang="en-US"/>
              <a:t>文献講読発表</a:t>
            </a:r>
            <a:r>
              <a:rPr lang="en-US" altLang="ja-JP"/>
              <a:t>(2018.05.07)</a:t>
            </a:r>
            <a:endParaRPr lang="ja-JP" altLang="en-US"/>
          </a:p>
        </p:txBody>
      </p:sp>
      <p:sp>
        <p:nvSpPr>
          <p:cNvPr id="6" name="Slide Number Placeholder 5"/>
          <p:cNvSpPr>
            <a:spLocks noGrp="1"/>
          </p:cNvSpPr>
          <p:nvPr>
            <p:ph type="sldNum" sz="quarter" idx="4"/>
          </p:nvPr>
        </p:nvSpPr>
        <p:spPr>
          <a:xfrm>
            <a:off x="14205862" y="13153581"/>
            <a:ext cx="4114800" cy="730250"/>
          </a:xfrm>
          <a:prstGeom prst="rect">
            <a:avLst/>
          </a:prstGeom>
        </p:spPr>
        <p:txBody>
          <a:bodyPr vert="horz" lIns="91440" tIns="45720" rIns="91440" bIns="45720" rtlCol="0" anchor="ctr"/>
          <a:lstStyle>
            <a:lvl1pPr algn="r">
              <a:defRPr sz="2400">
                <a:solidFill>
                  <a:schemeClr val="bg2"/>
                </a:solidFill>
              </a:defRPr>
            </a:lvl1pPr>
          </a:lstStyle>
          <a:p>
            <a:fld id="{89242BC1-393D-1248-985B-18DA624F2964}" type="slidenum">
              <a:rPr lang="ja-JP" altLang="en-US" smtClean="0"/>
              <a:pPr/>
              <a:t>‹#›</a:t>
            </a:fld>
            <a:endParaRPr lang="ja-JP" altLang="en-US"/>
          </a:p>
        </p:txBody>
      </p:sp>
    </p:spTree>
    <p:extLst>
      <p:ext uri="{BB962C8B-B14F-4D97-AF65-F5344CB8AC3E}">
        <p14:creationId xmlns:p14="http://schemas.microsoft.com/office/powerpoint/2010/main" val="2065557012"/>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88"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hdr="0"/>
  <p:txStyles>
    <p:titleStyle>
      <a:lvl1pPr algn="l" defTabSz="1828800" rtl="0" eaLnBrk="1" latinLnBrk="0" hangingPunct="1">
        <a:lnSpc>
          <a:spcPct val="90000"/>
        </a:lnSpc>
        <a:spcBef>
          <a:spcPct val="0"/>
        </a:spcBef>
        <a:buNone/>
        <a:defRPr kumimoji="1"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kumimoji="1"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p:bodyStyle>
    <p:otherStyle>
      <a:defPPr>
        <a:defRPr lang="en-US"/>
      </a:defPPr>
      <a:lvl1pPr marL="0" algn="l" defTabSz="1828800" rtl="0" eaLnBrk="1" latinLnBrk="0" hangingPunct="1">
        <a:defRPr kumimoji="1" sz="3600" kern="1200">
          <a:solidFill>
            <a:schemeClr val="tx1"/>
          </a:solidFill>
          <a:latin typeface="+mn-lt"/>
          <a:ea typeface="+mn-ea"/>
          <a:cs typeface="+mn-cs"/>
        </a:defRPr>
      </a:lvl1pPr>
      <a:lvl2pPr marL="914400" algn="l" defTabSz="1828800" rtl="0" eaLnBrk="1" latinLnBrk="0" hangingPunct="1">
        <a:defRPr kumimoji="1" sz="3600" kern="1200">
          <a:solidFill>
            <a:schemeClr val="tx1"/>
          </a:solidFill>
          <a:latin typeface="+mn-lt"/>
          <a:ea typeface="+mn-ea"/>
          <a:cs typeface="+mn-cs"/>
        </a:defRPr>
      </a:lvl2pPr>
      <a:lvl3pPr marL="1828800" algn="l" defTabSz="1828800" rtl="0" eaLnBrk="1" latinLnBrk="0" hangingPunct="1">
        <a:defRPr kumimoji="1" sz="3600" kern="1200">
          <a:solidFill>
            <a:schemeClr val="tx1"/>
          </a:solidFill>
          <a:latin typeface="+mn-lt"/>
          <a:ea typeface="+mn-ea"/>
          <a:cs typeface="+mn-cs"/>
        </a:defRPr>
      </a:lvl3pPr>
      <a:lvl4pPr marL="2743200" algn="l" defTabSz="1828800" rtl="0" eaLnBrk="1" latinLnBrk="0" hangingPunct="1">
        <a:defRPr kumimoji="1" sz="3600" kern="1200">
          <a:solidFill>
            <a:schemeClr val="tx1"/>
          </a:solidFill>
          <a:latin typeface="+mn-lt"/>
          <a:ea typeface="+mn-ea"/>
          <a:cs typeface="+mn-cs"/>
        </a:defRPr>
      </a:lvl4pPr>
      <a:lvl5pPr marL="3657600" algn="l" defTabSz="1828800" rtl="0" eaLnBrk="1" latinLnBrk="0" hangingPunct="1">
        <a:defRPr kumimoji="1" sz="3600" kern="1200">
          <a:solidFill>
            <a:schemeClr val="tx1"/>
          </a:solidFill>
          <a:latin typeface="+mn-lt"/>
          <a:ea typeface="+mn-ea"/>
          <a:cs typeface="+mn-cs"/>
        </a:defRPr>
      </a:lvl5pPr>
      <a:lvl6pPr marL="4572000" algn="l" defTabSz="1828800" rtl="0" eaLnBrk="1" latinLnBrk="0" hangingPunct="1">
        <a:defRPr kumimoji="1" sz="3600" kern="1200">
          <a:solidFill>
            <a:schemeClr val="tx1"/>
          </a:solidFill>
          <a:latin typeface="+mn-lt"/>
          <a:ea typeface="+mn-ea"/>
          <a:cs typeface="+mn-cs"/>
        </a:defRPr>
      </a:lvl6pPr>
      <a:lvl7pPr marL="5486400" algn="l" defTabSz="1828800" rtl="0" eaLnBrk="1" latinLnBrk="0" hangingPunct="1">
        <a:defRPr kumimoji="1" sz="3600" kern="1200">
          <a:solidFill>
            <a:schemeClr val="tx1"/>
          </a:solidFill>
          <a:latin typeface="+mn-lt"/>
          <a:ea typeface="+mn-ea"/>
          <a:cs typeface="+mn-cs"/>
        </a:defRPr>
      </a:lvl7pPr>
      <a:lvl8pPr marL="6400800" algn="l" defTabSz="1828800" rtl="0" eaLnBrk="1" latinLnBrk="0" hangingPunct="1">
        <a:defRPr kumimoji="1" sz="3600" kern="1200">
          <a:solidFill>
            <a:schemeClr val="tx1"/>
          </a:solidFill>
          <a:latin typeface="+mn-lt"/>
          <a:ea typeface="+mn-ea"/>
          <a:cs typeface="+mn-cs"/>
        </a:defRPr>
      </a:lvl8pPr>
      <a:lvl9pPr marL="7315200" algn="l" defTabSz="1828800" rtl="0" eaLnBrk="1" latinLnBrk="0" hangingPunct="1">
        <a:defRPr kumimoji="1" sz="36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8289" userDrawn="1">
          <p15:clr>
            <a:srgbClr val="F26B43"/>
          </p15:clr>
        </p15:guide>
        <p15:guide id="2" pos="576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1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1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31.png"/><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8" Type="http://schemas.openxmlformats.org/officeDocument/2006/relationships/chart" Target="../charts/chart1.xml"/><Relationship Id="rId3" Type="http://schemas.openxmlformats.org/officeDocument/2006/relationships/image" Target="../media/image100.png"/><Relationship Id="rId7" Type="http://schemas.openxmlformats.org/officeDocument/2006/relationships/image" Target="../media/image14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30.png"/><Relationship Id="rId5" Type="http://schemas.openxmlformats.org/officeDocument/2006/relationships/image" Target="../media/image120.png"/><Relationship Id="rId4" Type="http://schemas.openxmlformats.org/officeDocument/2006/relationships/image" Target="../media/image110.png"/></Relationships>
</file>

<file path=ppt/slides/_rels/slide30.xml.rels><?xml version="1.0" encoding="UTF-8" standalone="yes"?>
<Relationships xmlns="http://schemas.openxmlformats.org/package/2006/relationships"><Relationship Id="rId8" Type="http://schemas.openxmlformats.org/officeDocument/2006/relationships/image" Target="../media/image180.png"/><Relationship Id="rId3" Type="http://schemas.openxmlformats.org/officeDocument/2006/relationships/chart" Target="../charts/chart2.xml"/><Relationship Id="rId7" Type="http://schemas.openxmlformats.org/officeDocument/2006/relationships/image" Target="../media/image17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60.png"/><Relationship Id="rId5" Type="http://schemas.openxmlformats.org/officeDocument/2006/relationships/image" Target="../media/image150.png"/><Relationship Id="rId4" Type="http://schemas.openxmlformats.org/officeDocument/2006/relationships/chart" Target="../charts/chart3.xml"/><Relationship Id="rId9" Type="http://schemas.openxmlformats.org/officeDocument/2006/relationships/image" Target="../media/image190.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30.png"/><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C8BF32-0C66-1E44-925C-F1A9DBEC01DE}"/>
              </a:ext>
            </a:extLst>
          </p:cNvPr>
          <p:cNvSpPr>
            <a:spLocks noGrp="1"/>
          </p:cNvSpPr>
          <p:nvPr>
            <p:ph type="ctrTitle"/>
          </p:nvPr>
        </p:nvSpPr>
        <p:spPr>
          <a:xfrm>
            <a:off x="-242675" y="2503857"/>
            <a:ext cx="18809208" cy="4775200"/>
          </a:xfrm>
        </p:spPr>
        <p:txBody>
          <a:bodyPr>
            <a:normAutofit/>
          </a:bodyPr>
          <a:lstStyle/>
          <a:p>
            <a:r>
              <a:rPr kumimoji="1" lang="ja-JP" altLang="en-US"/>
              <a:t>文献講読</a:t>
            </a:r>
            <a:br>
              <a:rPr kumimoji="1" lang="en-US" altLang="ja-JP" dirty="0"/>
            </a:br>
            <a:r>
              <a:rPr kumimoji="1" lang="en-US" altLang="ja-JP" sz="5400" dirty="0"/>
              <a:t>(</a:t>
            </a:r>
            <a:r>
              <a:rPr lang="en-US" altLang="ja-JP" sz="5400" b="1" dirty="0"/>
              <a:t>Grumpy &amp; Pinocchio: Answering Human-Agent Negotiation Questions through Realistic Agent Design </a:t>
            </a:r>
            <a:r>
              <a:rPr kumimoji="1" lang="en-US" altLang="ja-JP" sz="5400" dirty="0"/>
              <a:t>)</a:t>
            </a:r>
            <a:endParaRPr kumimoji="1" lang="ja-JP" altLang="en-US" dirty="0"/>
          </a:p>
        </p:txBody>
      </p:sp>
      <p:sp>
        <p:nvSpPr>
          <p:cNvPr id="3" name="サブタイトル 2">
            <a:extLst>
              <a:ext uri="{FF2B5EF4-FFF2-40B4-BE49-F238E27FC236}">
                <a16:creationId xmlns:a16="http://schemas.microsoft.com/office/drawing/2014/main" id="{514C09A7-F9A3-4246-953E-DEDDA0B9D7CB}"/>
              </a:ext>
            </a:extLst>
          </p:cNvPr>
          <p:cNvSpPr>
            <a:spLocks noGrp="1"/>
          </p:cNvSpPr>
          <p:nvPr>
            <p:ph type="subTitle" idx="1"/>
          </p:nvPr>
        </p:nvSpPr>
        <p:spPr>
          <a:xfrm>
            <a:off x="2286000" y="8118485"/>
            <a:ext cx="13716000" cy="3311524"/>
          </a:xfrm>
        </p:spPr>
        <p:txBody>
          <a:bodyPr/>
          <a:lstStyle/>
          <a:p>
            <a:r>
              <a:rPr lang="ja-JP" altLang="en-US"/>
              <a:t>東京農工大学  情報工学科 </a:t>
            </a:r>
            <a:r>
              <a:rPr lang="en-US" altLang="ja-JP" dirty="0"/>
              <a:t> 4</a:t>
            </a:r>
            <a:r>
              <a:rPr lang="ja-JP" altLang="en-US"/>
              <a:t>年  藤田桂英研究室</a:t>
            </a:r>
            <a:endParaRPr lang="en-US" altLang="ja-JP" dirty="0"/>
          </a:p>
          <a:p>
            <a:r>
              <a:rPr lang="en-US" altLang="ja-JP" dirty="0"/>
              <a:t>17268508 </a:t>
            </a:r>
            <a:r>
              <a:rPr lang="ja-JP" altLang="en-US"/>
              <a:t> 松下昌悟</a:t>
            </a:r>
            <a:endParaRPr kumimoji="1" lang="ja-JP" altLang="en-US"/>
          </a:p>
        </p:txBody>
      </p:sp>
      <p:sp>
        <p:nvSpPr>
          <p:cNvPr id="7" name="日付プレースホルダー 6">
            <a:extLst>
              <a:ext uri="{FF2B5EF4-FFF2-40B4-BE49-F238E27FC236}">
                <a16:creationId xmlns:a16="http://schemas.microsoft.com/office/drawing/2014/main" id="{8F711B5A-02FA-904E-8709-C7DBEEC3C601}"/>
              </a:ext>
            </a:extLst>
          </p:cNvPr>
          <p:cNvSpPr>
            <a:spLocks noGrp="1"/>
          </p:cNvSpPr>
          <p:nvPr>
            <p:ph type="dt" sz="half" idx="10"/>
          </p:nvPr>
        </p:nvSpPr>
        <p:spPr/>
        <p:txBody>
          <a:bodyPr/>
          <a:lstStyle/>
          <a:p>
            <a:fld id="{7170581A-8A83-4BF1-B362-C67C103D747C}" type="datetime1">
              <a:rPr lang="ja-JP" altLang="en-US" smtClean="0"/>
              <a:t>2018/6/9</a:t>
            </a:fld>
            <a:endParaRPr lang="ja-JP" altLang="en-US"/>
          </a:p>
        </p:txBody>
      </p:sp>
      <p:sp>
        <p:nvSpPr>
          <p:cNvPr id="8" name="フッター プレースホルダー 7">
            <a:extLst>
              <a:ext uri="{FF2B5EF4-FFF2-40B4-BE49-F238E27FC236}">
                <a16:creationId xmlns:a16="http://schemas.microsoft.com/office/drawing/2014/main" id="{6702093A-5EED-FE40-9D94-B21C99E12CFF}"/>
              </a:ext>
            </a:extLst>
          </p:cNvPr>
          <p:cNvSpPr>
            <a:spLocks noGrp="1"/>
          </p:cNvSpPr>
          <p:nvPr>
            <p:ph type="ftr" sz="quarter" idx="11"/>
          </p:nvPr>
        </p:nvSpPr>
        <p:spPr/>
        <p:txBody>
          <a:bodyPr/>
          <a:lstStyle/>
          <a:p>
            <a:r>
              <a:rPr lang="ja-JP" altLang="en-US"/>
              <a:t>文献講読発表</a:t>
            </a:r>
            <a:r>
              <a:rPr lang="en-US" altLang="ja-JP"/>
              <a:t>(2018.05.07)</a:t>
            </a:r>
            <a:endParaRPr lang="ja-JP" altLang="en-US"/>
          </a:p>
        </p:txBody>
      </p:sp>
      <p:sp>
        <p:nvSpPr>
          <p:cNvPr id="9" name="スライド番号プレースホルダー 8">
            <a:extLst>
              <a:ext uri="{FF2B5EF4-FFF2-40B4-BE49-F238E27FC236}">
                <a16:creationId xmlns:a16="http://schemas.microsoft.com/office/drawing/2014/main" id="{202F569F-A4A1-AC4F-AF16-B68230E74BEF}"/>
              </a:ext>
            </a:extLst>
          </p:cNvPr>
          <p:cNvSpPr>
            <a:spLocks noGrp="1"/>
          </p:cNvSpPr>
          <p:nvPr>
            <p:ph type="sldNum" sz="quarter" idx="12"/>
          </p:nvPr>
        </p:nvSpPr>
        <p:spPr/>
        <p:txBody>
          <a:bodyPr/>
          <a:lstStyle/>
          <a:p>
            <a:fld id="{89242BC1-393D-1248-985B-18DA624F2964}" type="slidenum">
              <a:rPr lang="ja-JP" altLang="en-US" smtClean="0"/>
              <a:pPr/>
              <a:t>1</a:t>
            </a:fld>
            <a:endParaRPr lang="ja-JP" altLang="en-US"/>
          </a:p>
        </p:txBody>
      </p:sp>
    </p:spTree>
    <p:extLst>
      <p:ext uri="{BB962C8B-B14F-4D97-AF65-F5344CB8AC3E}">
        <p14:creationId xmlns:p14="http://schemas.microsoft.com/office/powerpoint/2010/main" val="20881560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C1CFCC5C-9745-494D-B159-85BEAFCE28EC}"/>
              </a:ext>
            </a:extLst>
          </p:cNvPr>
          <p:cNvSpPr>
            <a:spLocks noGrp="1"/>
          </p:cNvSpPr>
          <p:nvPr>
            <p:ph type="dt" sz="half" idx="10"/>
          </p:nvPr>
        </p:nvSpPr>
        <p:spPr/>
        <p:txBody>
          <a:bodyPr/>
          <a:lstStyle/>
          <a:p>
            <a:fld id="{5ADF1710-6306-4D7E-9276-861F0F5B15B3}" type="datetime1">
              <a:rPr lang="ja-JP" altLang="en-US" smtClean="0"/>
              <a:t>2018/6/9</a:t>
            </a:fld>
            <a:endParaRPr lang="ja-JP" altLang="en-US"/>
          </a:p>
        </p:txBody>
      </p:sp>
      <p:sp>
        <p:nvSpPr>
          <p:cNvPr id="3" name="フッター プレースホルダー 2">
            <a:extLst>
              <a:ext uri="{FF2B5EF4-FFF2-40B4-BE49-F238E27FC236}">
                <a16:creationId xmlns:a16="http://schemas.microsoft.com/office/drawing/2014/main" id="{7614E227-246A-4614-860C-DB563A904974}"/>
              </a:ext>
            </a:extLst>
          </p:cNvPr>
          <p:cNvSpPr>
            <a:spLocks noGrp="1"/>
          </p:cNvSpPr>
          <p:nvPr>
            <p:ph type="ftr" sz="quarter" idx="11"/>
          </p:nvPr>
        </p:nvSpPr>
        <p:spPr/>
        <p:txBody>
          <a:bodyPr/>
          <a:lstStyle/>
          <a:p>
            <a:r>
              <a:rPr lang="ja-JP" altLang="en-US"/>
              <a:t>文献講読発表</a:t>
            </a:r>
            <a:r>
              <a:rPr lang="en-US" altLang="ja-JP"/>
              <a:t>(2018.05.07)</a:t>
            </a:r>
            <a:endParaRPr lang="ja-JP" altLang="en-US"/>
          </a:p>
        </p:txBody>
      </p:sp>
      <p:sp>
        <p:nvSpPr>
          <p:cNvPr id="4" name="スライド番号プレースホルダー 3">
            <a:extLst>
              <a:ext uri="{FF2B5EF4-FFF2-40B4-BE49-F238E27FC236}">
                <a16:creationId xmlns:a16="http://schemas.microsoft.com/office/drawing/2014/main" id="{E77A887D-F659-4F57-B569-049452BA7082}"/>
              </a:ext>
            </a:extLst>
          </p:cNvPr>
          <p:cNvSpPr>
            <a:spLocks noGrp="1"/>
          </p:cNvSpPr>
          <p:nvPr>
            <p:ph type="sldNum" sz="quarter" idx="12"/>
          </p:nvPr>
        </p:nvSpPr>
        <p:spPr/>
        <p:txBody>
          <a:bodyPr/>
          <a:lstStyle/>
          <a:p>
            <a:fld id="{89242BC1-393D-1248-985B-18DA624F2964}" type="slidenum">
              <a:rPr lang="ja-JP" altLang="en-US" smtClean="0"/>
              <a:pPr/>
              <a:t>2</a:t>
            </a:fld>
            <a:endParaRPr lang="ja-JP" altLang="en-US"/>
          </a:p>
        </p:txBody>
      </p:sp>
      <p:sp>
        <p:nvSpPr>
          <p:cNvPr id="5" name="テキスト プレースホルダー 4">
            <a:extLst>
              <a:ext uri="{FF2B5EF4-FFF2-40B4-BE49-F238E27FC236}">
                <a16:creationId xmlns:a16="http://schemas.microsoft.com/office/drawing/2014/main" id="{F93804D2-1D10-403E-B6A5-39777CEF3973}"/>
              </a:ext>
            </a:extLst>
          </p:cNvPr>
          <p:cNvSpPr>
            <a:spLocks noGrp="1"/>
          </p:cNvSpPr>
          <p:nvPr>
            <p:ph type="body" sz="quarter" idx="13"/>
          </p:nvPr>
        </p:nvSpPr>
        <p:spPr/>
        <p:txBody>
          <a:bodyPr/>
          <a:lstStyle/>
          <a:p>
            <a:r>
              <a:rPr kumimoji="1" lang="en-US" altLang="ja-JP" dirty="0"/>
              <a:t>0</a:t>
            </a:r>
            <a:endParaRPr kumimoji="1" lang="ja-JP" altLang="en-US" dirty="0"/>
          </a:p>
        </p:txBody>
      </p:sp>
      <p:sp>
        <p:nvSpPr>
          <p:cNvPr id="6" name="テキスト プレースホルダー 5">
            <a:extLst>
              <a:ext uri="{FF2B5EF4-FFF2-40B4-BE49-F238E27FC236}">
                <a16:creationId xmlns:a16="http://schemas.microsoft.com/office/drawing/2014/main" id="{27F5D563-4CCD-444C-8C40-533A72C9BE8A}"/>
              </a:ext>
            </a:extLst>
          </p:cNvPr>
          <p:cNvSpPr>
            <a:spLocks noGrp="1"/>
          </p:cNvSpPr>
          <p:nvPr>
            <p:ph type="body" sz="quarter" idx="14"/>
          </p:nvPr>
        </p:nvSpPr>
        <p:spPr/>
        <p:txBody>
          <a:bodyPr/>
          <a:lstStyle/>
          <a:p>
            <a:r>
              <a:rPr kumimoji="1" lang="ja-JP" altLang="en-US" dirty="0"/>
              <a:t>目次</a:t>
            </a:r>
          </a:p>
        </p:txBody>
      </p:sp>
      <p:grpSp>
        <p:nvGrpSpPr>
          <p:cNvPr id="7" name="グループ化 6">
            <a:extLst>
              <a:ext uri="{FF2B5EF4-FFF2-40B4-BE49-F238E27FC236}">
                <a16:creationId xmlns:a16="http://schemas.microsoft.com/office/drawing/2014/main" id="{948B2F3D-2A47-4C7D-921A-EDEBA3060D6E}"/>
              </a:ext>
            </a:extLst>
          </p:cNvPr>
          <p:cNvGrpSpPr/>
          <p:nvPr/>
        </p:nvGrpSpPr>
        <p:grpSpPr>
          <a:xfrm>
            <a:off x="617232" y="1494104"/>
            <a:ext cx="539448" cy="487368"/>
            <a:chOff x="400056" y="1061560"/>
            <a:chExt cx="269724" cy="243684"/>
          </a:xfrm>
        </p:grpSpPr>
        <p:sp>
          <p:nvSpPr>
            <p:cNvPr id="8" name="三角形 10">
              <a:extLst>
                <a:ext uri="{FF2B5EF4-FFF2-40B4-BE49-F238E27FC236}">
                  <a16:creationId xmlns:a16="http://schemas.microsoft.com/office/drawing/2014/main" id="{20407D7E-E84B-498A-8187-14EA2675A703}"/>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9" name="三角形 11">
              <a:extLst>
                <a:ext uri="{FF2B5EF4-FFF2-40B4-BE49-F238E27FC236}">
                  <a16:creationId xmlns:a16="http://schemas.microsoft.com/office/drawing/2014/main" id="{F7027CF7-FB8A-4059-A39A-24B429D188DE}"/>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10" name="三角形 12">
            <a:extLst>
              <a:ext uri="{FF2B5EF4-FFF2-40B4-BE49-F238E27FC236}">
                <a16:creationId xmlns:a16="http://schemas.microsoft.com/office/drawing/2014/main" id="{913E158E-993A-4C0D-B53A-67B444E43783}"/>
              </a:ext>
            </a:extLst>
          </p:cNvPr>
          <p:cNvSpPr/>
          <p:nvPr/>
        </p:nvSpPr>
        <p:spPr>
          <a:xfrm rot="5400000">
            <a:off x="1076238" y="2298522"/>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11" name="テキスト プレースホルダー 27">
            <a:extLst>
              <a:ext uri="{FF2B5EF4-FFF2-40B4-BE49-F238E27FC236}">
                <a16:creationId xmlns:a16="http://schemas.microsoft.com/office/drawing/2014/main" id="{8C043863-6013-4896-AB8B-E82FDAB2F430}"/>
              </a:ext>
            </a:extLst>
          </p:cNvPr>
          <p:cNvSpPr txBox="1">
            <a:spLocks/>
          </p:cNvSpPr>
          <p:nvPr/>
        </p:nvSpPr>
        <p:spPr>
          <a:xfrm>
            <a:off x="1254486" y="1421479"/>
            <a:ext cx="16632960" cy="99783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dirty="0">
                <a:solidFill>
                  <a:schemeClr val="tx1"/>
                </a:solidFill>
              </a:rPr>
              <a:t>はじめに</a:t>
            </a:r>
          </a:p>
        </p:txBody>
      </p:sp>
      <p:sp>
        <p:nvSpPr>
          <p:cNvPr id="12" name="テキスト プレースホルダー 29">
            <a:extLst>
              <a:ext uri="{FF2B5EF4-FFF2-40B4-BE49-F238E27FC236}">
                <a16:creationId xmlns:a16="http://schemas.microsoft.com/office/drawing/2014/main" id="{0022F4D8-0115-4AE5-8ABC-9E4F09D9E9D4}"/>
              </a:ext>
            </a:extLst>
          </p:cNvPr>
          <p:cNvSpPr txBox="1">
            <a:spLocks/>
          </p:cNvSpPr>
          <p:nvPr/>
        </p:nvSpPr>
        <p:spPr>
          <a:xfrm>
            <a:off x="1568600" y="2183248"/>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dirty="0"/>
              <a:t>背景</a:t>
            </a:r>
          </a:p>
        </p:txBody>
      </p:sp>
      <p:sp>
        <p:nvSpPr>
          <p:cNvPr id="13" name="三角形 12">
            <a:extLst>
              <a:ext uri="{FF2B5EF4-FFF2-40B4-BE49-F238E27FC236}">
                <a16:creationId xmlns:a16="http://schemas.microsoft.com/office/drawing/2014/main" id="{9DB7ADFA-4600-4AFE-84B2-FE8DB3C377EB}"/>
              </a:ext>
            </a:extLst>
          </p:cNvPr>
          <p:cNvSpPr/>
          <p:nvPr/>
        </p:nvSpPr>
        <p:spPr>
          <a:xfrm rot="5400000">
            <a:off x="1076238" y="3005254"/>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14" name="テキスト プレースホルダー 29">
            <a:extLst>
              <a:ext uri="{FF2B5EF4-FFF2-40B4-BE49-F238E27FC236}">
                <a16:creationId xmlns:a16="http://schemas.microsoft.com/office/drawing/2014/main" id="{C8688FD1-4ED2-4A85-854F-E5A384566C64}"/>
              </a:ext>
            </a:extLst>
          </p:cNvPr>
          <p:cNvSpPr txBox="1">
            <a:spLocks/>
          </p:cNvSpPr>
          <p:nvPr/>
        </p:nvSpPr>
        <p:spPr>
          <a:xfrm>
            <a:off x="1568600" y="2889980"/>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dirty="0"/>
              <a:t>目的</a:t>
            </a:r>
          </a:p>
        </p:txBody>
      </p:sp>
      <p:sp>
        <p:nvSpPr>
          <p:cNvPr id="15" name="三角形 12">
            <a:extLst>
              <a:ext uri="{FF2B5EF4-FFF2-40B4-BE49-F238E27FC236}">
                <a16:creationId xmlns:a16="http://schemas.microsoft.com/office/drawing/2014/main" id="{173C51D2-7C30-44FD-A9B8-597EE12F0EB6}"/>
              </a:ext>
            </a:extLst>
          </p:cNvPr>
          <p:cNvSpPr/>
          <p:nvPr/>
        </p:nvSpPr>
        <p:spPr>
          <a:xfrm rot="5400000">
            <a:off x="1076238" y="3746818"/>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16" name="テキスト プレースホルダー 29">
            <a:extLst>
              <a:ext uri="{FF2B5EF4-FFF2-40B4-BE49-F238E27FC236}">
                <a16:creationId xmlns:a16="http://schemas.microsoft.com/office/drawing/2014/main" id="{FB04F56F-18A0-4DA3-994E-92690676A6DA}"/>
              </a:ext>
            </a:extLst>
          </p:cNvPr>
          <p:cNvSpPr txBox="1">
            <a:spLocks/>
          </p:cNvSpPr>
          <p:nvPr/>
        </p:nvSpPr>
        <p:spPr>
          <a:xfrm>
            <a:off x="1568600" y="3631544"/>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dirty="0"/>
              <a:t>関連研究</a:t>
            </a:r>
          </a:p>
        </p:txBody>
      </p:sp>
      <p:grpSp>
        <p:nvGrpSpPr>
          <p:cNvPr id="17" name="グループ化 16">
            <a:extLst>
              <a:ext uri="{FF2B5EF4-FFF2-40B4-BE49-F238E27FC236}">
                <a16:creationId xmlns:a16="http://schemas.microsoft.com/office/drawing/2014/main" id="{3FDC3068-B0AC-49E5-A68A-E395AA20AEA0}"/>
              </a:ext>
            </a:extLst>
          </p:cNvPr>
          <p:cNvGrpSpPr/>
          <p:nvPr/>
        </p:nvGrpSpPr>
        <p:grpSpPr>
          <a:xfrm>
            <a:off x="617232" y="4407333"/>
            <a:ext cx="539448" cy="487368"/>
            <a:chOff x="400056" y="1061560"/>
            <a:chExt cx="269724" cy="243684"/>
          </a:xfrm>
        </p:grpSpPr>
        <p:sp>
          <p:nvSpPr>
            <p:cNvPr id="18" name="三角形 10">
              <a:extLst>
                <a:ext uri="{FF2B5EF4-FFF2-40B4-BE49-F238E27FC236}">
                  <a16:creationId xmlns:a16="http://schemas.microsoft.com/office/drawing/2014/main" id="{89E9C7A0-0D9C-48AD-A522-C5CE85127DF1}"/>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19" name="三角形 11">
              <a:extLst>
                <a:ext uri="{FF2B5EF4-FFF2-40B4-BE49-F238E27FC236}">
                  <a16:creationId xmlns:a16="http://schemas.microsoft.com/office/drawing/2014/main" id="{45DA7295-527E-4B86-AA20-7E5D005B8ADC}"/>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20" name="テキスト プレースホルダー 27">
            <a:extLst>
              <a:ext uri="{FF2B5EF4-FFF2-40B4-BE49-F238E27FC236}">
                <a16:creationId xmlns:a16="http://schemas.microsoft.com/office/drawing/2014/main" id="{F579DAAD-4E76-4234-9B26-847BFFF5376C}"/>
              </a:ext>
            </a:extLst>
          </p:cNvPr>
          <p:cNvSpPr txBox="1">
            <a:spLocks/>
          </p:cNvSpPr>
          <p:nvPr/>
        </p:nvSpPr>
        <p:spPr>
          <a:xfrm>
            <a:off x="1254486" y="4334708"/>
            <a:ext cx="16632960" cy="99783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dirty="0">
                <a:solidFill>
                  <a:schemeClr val="tx1"/>
                </a:solidFill>
              </a:rPr>
              <a:t>実験概要</a:t>
            </a:r>
          </a:p>
        </p:txBody>
      </p:sp>
      <p:sp>
        <p:nvSpPr>
          <p:cNvPr id="21" name="三角形 12">
            <a:extLst>
              <a:ext uri="{FF2B5EF4-FFF2-40B4-BE49-F238E27FC236}">
                <a16:creationId xmlns:a16="http://schemas.microsoft.com/office/drawing/2014/main" id="{131CA47D-9FDB-4834-8D49-BF8BDD3F98A5}"/>
              </a:ext>
            </a:extLst>
          </p:cNvPr>
          <p:cNvSpPr/>
          <p:nvPr/>
        </p:nvSpPr>
        <p:spPr>
          <a:xfrm rot="5400000">
            <a:off x="1076238" y="5274868"/>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22" name="テキスト プレースホルダー 29">
            <a:extLst>
              <a:ext uri="{FF2B5EF4-FFF2-40B4-BE49-F238E27FC236}">
                <a16:creationId xmlns:a16="http://schemas.microsoft.com/office/drawing/2014/main" id="{819D5B2A-1FFF-4B1E-8926-A25B7C3C9D2A}"/>
              </a:ext>
            </a:extLst>
          </p:cNvPr>
          <p:cNvSpPr txBox="1">
            <a:spLocks/>
          </p:cNvSpPr>
          <p:nvPr/>
        </p:nvSpPr>
        <p:spPr>
          <a:xfrm>
            <a:off x="1568600" y="5159594"/>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dirty="0"/>
              <a:t>交渉タスク</a:t>
            </a:r>
          </a:p>
        </p:txBody>
      </p:sp>
      <p:sp>
        <p:nvSpPr>
          <p:cNvPr id="23" name="三角形 12">
            <a:extLst>
              <a:ext uri="{FF2B5EF4-FFF2-40B4-BE49-F238E27FC236}">
                <a16:creationId xmlns:a16="http://schemas.microsoft.com/office/drawing/2014/main" id="{58AAB898-428C-4C2B-BE55-9527AE84ECE9}"/>
              </a:ext>
            </a:extLst>
          </p:cNvPr>
          <p:cNvSpPr/>
          <p:nvPr/>
        </p:nvSpPr>
        <p:spPr>
          <a:xfrm rot="5400000">
            <a:off x="1076238" y="6022509"/>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24" name="テキスト プレースホルダー 29">
            <a:extLst>
              <a:ext uri="{FF2B5EF4-FFF2-40B4-BE49-F238E27FC236}">
                <a16:creationId xmlns:a16="http://schemas.microsoft.com/office/drawing/2014/main" id="{EDE5EB5D-0C41-44C2-8642-C80BF49EC8F8}"/>
              </a:ext>
            </a:extLst>
          </p:cNvPr>
          <p:cNvSpPr txBox="1">
            <a:spLocks/>
          </p:cNvSpPr>
          <p:nvPr/>
        </p:nvSpPr>
        <p:spPr>
          <a:xfrm>
            <a:off x="1568600" y="5907235"/>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dirty="0"/>
              <a:t>参加者へのインセンティブ</a:t>
            </a:r>
          </a:p>
        </p:txBody>
      </p:sp>
      <p:sp>
        <p:nvSpPr>
          <p:cNvPr id="25" name="三角形 12">
            <a:extLst>
              <a:ext uri="{FF2B5EF4-FFF2-40B4-BE49-F238E27FC236}">
                <a16:creationId xmlns:a16="http://schemas.microsoft.com/office/drawing/2014/main" id="{8B76B00A-3EAB-4ACD-9683-111B8ED27FD2}"/>
              </a:ext>
            </a:extLst>
          </p:cNvPr>
          <p:cNvSpPr/>
          <p:nvPr/>
        </p:nvSpPr>
        <p:spPr>
          <a:xfrm rot="5400000">
            <a:off x="1076238" y="6798234"/>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26" name="テキスト プレースホルダー 29">
            <a:extLst>
              <a:ext uri="{FF2B5EF4-FFF2-40B4-BE49-F238E27FC236}">
                <a16:creationId xmlns:a16="http://schemas.microsoft.com/office/drawing/2014/main" id="{B09AFE31-FCF4-474F-8FAD-E296F0DE41C7}"/>
              </a:ext>
            </a:extLst>
          </p:cNvPr>
          <p:cNvSpPr txBox="1">
            <a:spLocks/>
          </p:cNvSpPr>
          <p:nvPr/>
        </p:nvSpPr>
        <p:spPr>
          <a:xfrm>
            <a:off x="1568600" y="6682960"/>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dirty="0"/>
              <a:t>条件</a:t>
            </a:r>
          </a:p>
        </p:txBody>
      </p:sp>
      <p:sp>
        <p:nvSpPr>
          <p:cNvPr id="27" name="三角形 12">
            <a:extLst>
              <a:ext uri="{FF2B5EF4-FFF2-40B4-BE49-F238E27FC236}">
                <a16:creationId xmlns:a16="http://schemas.microsoft.com/office/drawing/2014/main" id="{A95D0549-C4F7-4157-B834-E845A92AFFA3}"/>
              </a:ext>
            </a:extLst>
          </p:cNvPr>
          <p:cNvSpPr/>
          <p:nvPr/>
        </p:nvSpPr>
        <p:spPr>
          <a:xfrm rot="5400000">
            <a:off x="1076238" y="7545875"/>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28" name="テキスト プレースホルダー 29">
            <a:extLst>
              <a:ext uri="{FF2B5EF4-FFF2-40B4-BE49-F238E27FC236}">
                <a16:creationId xmlns:a16="http://schemas.microsoft.com/office/drawing/2014/main" id="{5BEBDC8D-D180-4766-BC6F-01705A2DF918}"/>
              </a:ext>
            </a:extLst>
          </p:cNvPr>
          <p:cNvSpPr txBox="1">
            <a:spLocks/>
          </p:cNvSpPr>
          <p:nvPr/>
        </p:nvSpPr>
        <p:spPr>
          <a:xfrm>
            <a:off x="1568600" y="7430601"/>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dirty="0"/>
              <a:t>感情の伝達</a:t>
            </a:r>
          </a:p>
        </p:txBody>
      </p:sp>
      <p:sp>
        <p:nvSpPr>
          <p:cNvPr id="29" name="三角形 12">
            <a:extLst>
              <a:ext uri="{FF2B5EF4-FFF2-40B4-BE49-F238E27FC236}">
                <a16:creationId xmlns:a16="http://schemas.microsoft.com/office/drawing/2014/main" id="{EAC0FAF6-1092-4C33-A6A1-ED980B1DCFC9}"/>
              </a:ext>
            </a:extLst>
          </p:cNvPr>
          <p:cNvSpPr/>
          <p:nvPr/>
        </p:nvSpPr>
        <p:spPr>
          <a:xfrm rot="5400000">
            <a:off x="1076238" y="8316344"/>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30" name="テキスト プレースホルダー 29">
            <a:extLst>
              <a:ext uri="{FF2B5EF4-FFF2-40B4-BE49-F238E27FC236}">
                <a16:creationId xmlns:a16="http://schemas.microsoft.com/office/drawing/2014/main" id="{D9006773-DCD6-47B0-AAF1-D6483631A7FF}"/>
              </a:ext>
            </a:extLst>
          </p:cNvPr>
          <p:cNvSpPr txBox="1">
            <a:spLocks/>
          </p:cNvSpPr>
          <p:nvPr/>
        </p:nvSpPr>
        <p:spPr>
          <a:xfrm>
            <a:off x="1568600" y="8201070"/>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dirty="0"/>
              <a:t>評価方法</a:t>
            </a:r>
          </a:p>
        </p:txBody>
      </p:sp>
      <p:sp>
        <p:nvSpPr>
          <p:cNvPr id="31" name="三角形 12">
            <a:extLst>
              <a:ext uri="{FF2B5EF4-FFF2-40B4-BE49-F238E27FC236}">
                <a16:creationId xmlns:a16="http://schemas.microsoft.com/office/drawing/2014/main" id="{651AD531-5829-42EC-B512-708E31DC6775}"/>
              </a:ext>
            </a:extLst>
          </p:cNvPr>
          <p:cNvSpPr/>
          <p:nvPr/>
        </p:nvSpPr>
        <p:spPr>
          <a:xfrm rot="5400000">
            <a:off x="1076238" y="9107532"/>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32" name="テキスト プレースホルダー 29">
            <a:extLst>
              <a:ext uri="{FF2B5EF4-FFF2-40B4-BE49-F238E27FC236}">
                <a16:creationId xmlns:a16="http://schemas.microsoft.com/office/drawing/2014/main" id="{EED075D8-2D53-40ED-8686-AB03E4672ABC}"/>
              </a:ext>
            </a:extLst>
          </p:cNvPr>
          <p:cNvSpPr txBox="1">
            <a:spLocks/>
          </p:cNvSpPr>
          <p:nvPr/>
        </p:nvSpPr>
        <p:spPr>
          <a:xfrm>
            <a:off x="1568600" y="8992258"/>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dirty="0"/>
              <a:t>ソフトウェア</a:t>
            </a:r>
          </a:p>
        </p:txBody>
      </p:sp>
      <p:sp>
        <p:nvSpPr>
          <p:cNvPr id="33" name="三角形 12">
            <a:extLst>
              <a:ext uri="{FF2B5EF4-FFF2-40B4-BE49-F238E27FC236}">
                <a16:creationId xmlns:a16="http://schemas.microsoft.com/office/drawing/2014/main" id="{8698F976-D3C2-46F1-AFBF-EE76F563DF04}"/>
              </a:ext>
            </a:extLst>
          </p:cNvPr>
          <p:cNvSpPr/>
          <p:nvPr/>
        </p:nvSpPr>
        <p:spPr>
          <a:xfrm rot="5400000">
            <a:off x="1076238" y="9911317"/>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34" name="テキスト プレースホルダー 29">
            <a:extLst>
              <a:ext uri="{FF2B5EF4-FFF2-40B4-BE49-F238E27FC236}">
                <a16:creationId xmlns:a16="http://schemas.microsoft.com/office/drawing/2014/main" id="{2CD5CB62-4098-4A7A-A402-045901E10C3D}"/>
              </a:ext>
            </a:extLst>
          </p:cNvPr>
          <p:cNvSpPr txBox="1">
            <a:spLocks/>
          </p:cNvSpPr>
          <p:nvPr/>
        </p:nvSpPr>
        <p:spPr>
          <a:xfrm>
            <a:off x="1568600" y="9796043"/>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dirty="0"/>
              <a:t>チュートリアル</a:t>
            </a:r>
          </a:p>
        </p:txBody>
      </p:sp>
      <p:sp>
        <p:nvSpPr>
          <p:cNvPr id="35" name="三角形 12">
            <a:extLst>
              <a:ext uri="{FF2B5EF4-FFF2-40B4-BE49-F238E27FC236}">
                <a16:creationId xmlns:a16="http://schemas.microsoft.com/office/drawing/2014/main" id="{B362934F-6ADD-4491-97E7-FEE8A47AE841}"/>
              </a:ext>
            </a:extLst>
          </p:cNvPr>
          <p:cNvSpPr/>
          <p:nvPr/>
        </p:nvSpPr>
        <p:spPr>
          <a:xfrm rot="5400000">
            <a:off x="1076238" y="10719764"/>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36" name="テキスト プレースホルダー 29">
            <a:extLst>
              <a:ext uri="{FF2B5EF4-FFF2-40B4-BE49-F238E27FC236}">
                <a16:creationId xmlns:a16="http://schemas.microsoft.com/office/drawing/2014/main" id="{106935A4-6436-44C2-8774-85E4562E8127}"/>
              </a:ext>
            </a:extLst>
          </p:cNvPr>
          <p:cNvSpPr txBox="1">
            <a:spLocks/>
          </p:cNvSpPr>
          <p:nvPr/>
        </p:nvSpPr>
        <p:spPr>
          <a:xfrm>
            <a:off x="1568600" y="10604490"/>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dirty="0"/>
              <a:t>実験の参加者</a:t>
            </a:r>
          </a:p>
        </p:txBody>
      </p:sp>
      <p:grpSp>
        <p:nvGrpSpPr>
          <p:cNvPr id="44" name="グループ化 43">
            <a:extLst>
              <a:ext uri="{FF2B5EF4-FFF2-40B4-BE49-F238E27FC236}">
                <a16:creationId xmlns:a16="http://schemas.microsoft.com/office/drawing/2014/main" id="{C6C1B1E9-BDFC-4708-9FB1-3D18597D0627}"/>
              </a:ext>
            </a:extLst>
          </p:cNvPr>
          <p:cNvGrpSpPr/>
          <p:nvPr/>
        </p:nvGrpSpPr>
        <p:grpSpPr>
          <a:xfrm>
            <a:off x="9573390" y="1495024"/>
            <a:ext cx="539448" cy="487368"/>
            <a:chOff x="400056" y="1061560"/>
            <a:chExt cx="269724" cy="243684"/>
          </a:xfrm>
        </p:grpSpPr>
        <p:sp>
          <p:nvSpPr>
            <p:cNvPr id="45" name="三角形 10">
              <a:extLst>
                <a:ext uri="{FF2B5EF4-FFF2-40B4-BE49-F238E27FC236}">
                  <a16:creationId xmlns:a16="http://schemas.microsoft.com/office/drawing/2014/main" id="{E6BD6CC8-0E3A-47E2-93E2-E78D2401F5A9}"/>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46" name="三角形 11">
              <a:extLst>
                <a:ext uri="{FF2B5EF4-FFF2-40B4-BE49-F238E27FC236}">
                  <a16:creationId xmlns:a16="http://schemas.microsoft.com/office/drawing/2014/main" id="{5E051751-ADD4-42B6-89F8-39C8813679B8}"/>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47" name="三角形 12">
            <a:extLst>
              <a:ext uri="{FF2B5EF4-FFF2-40B4-BE49-F238E27FC236}">
                <a16:creationId xmlns:a16="http://schemas.microsoft.com/office/drawing/2014/main" id="{7B297521-91AB-41EB-B4D4-1CD49FC25A52}"/>
              </a:ext>
            </a:extLst>
          </p:cNvPr>
          <p:cNvSpPr/>
          <p:nvPr/>
        </p:nvSpPr>
        <p:spPr>
          <a:xfrm rot="5400000">
            <a:off x="10032396" y="2299442"/>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48" name="テキスト プレースホルダー 27">
            <a:extLst>
              <a:ext uri="{FF2B5EF4-FFF2-40B4-BE49-F238E27FC236}">
                <a16:creationId xmlns:a16="http://schemas.microsoft.com/office/drawing/2014/main" id="{5240BE88-4E8A-4260-88F0-1E27D83563E3}"/>
              </a:ext>
            </a:extLst>
          </p:cNvPr>
          <p:cNvSpPr txBox="1">
            <a:spLocks/>
          </p:cNvSpPr>
          <p:nvPr/>
        </p:nvSpPr>
        <p:spPr>
          <a:xfrm>
            <a:off x="10210644" y="1422399"/>
            <a:ext cx="7460124" cy="99783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dirty="0">
                <a:solidFill>
                  <a:schemeClr val="tx1"/>
                </a:solidFill>
              </a:rPr>
              <a:t>実験結果</a:t>
            </a:r>
          </a:p>
        </p:txBody>
      </p:sp>
      <p:sp>
        <p:nvSpPr>
          <p:cNvPr id="49" name="テキスト プレースホルダー 29">
            <a:extLst>
              <a:ext uri="{FF2B5EF4-FFF2-40B4-BE49-F238E27FC236}">
                <a16:creationId xmlns:a16="http://schemas.microsoft.com/office/drawing/2014/main" id="{D913988D-523E-4123-B280-FE55427BE29B}"/>
              </a:ext>
            </a:extLst>
          </p:cNvPr>
          <p:cNvSpPr txBox="1">
            <a:spLocks/>
          </p:cNvSpPr>
          <p:nvPr/>
        </p:nvSpPr>
        <p:spPr>
          <a:xfrm>
            <a:off x="10524758" y="2184168"/>
            <a:ext cx="6859790"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dirty="0"/>
              <a:t>マニピュレーションチェック</a:t>
            </a:r>
          </a:p>
        </p:txBody>
      </p:sp>
      <p:sp>
        <p:nvSpPr>
          <p:cNvPr id="50" name="三角形 12">
            <a:extLst>
              <a:ext uri="{FF2B5EF4-FFF2-40B4-BE49-F238E27FC236}">
                <a16:creationId xmlns:a16="http://schemas.microsoft.com/office/drawing/2014/main" id="{C84B159B-6263-4CE8-BB9D-A339E1D16C14}"/>
              </a:ext>
            </a:extLst>
          </p:cNvPr>
          <p:cNvSpPr/>
          <p:nvPr/>
        </p:nvSpPr>
        <p:spPr>
          <a:xfrm rot="5400000">
            <a:off x="10032396" y="3006174"/>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51" name="テキスト プレースホルダー 29">
            <a:extLst>
              <a:ext uri="{FF2B5EF4-FFF2-40B4-BE49-F238E27FC236}">
                <a16:creationId xmlns:a16="http://schemas.microsoft.com/office/drawing/2014/main" id="{BA8F774B-F3DD-460B-AC93-ED3C12D4303F}"/>
              </a:ext>
            </a:extLst>
          </p:cNvPr>
          <p:cNvSpPr txBox="1">
            <a:spLocks/>
          </p:cNvSpPr>
          <p:nvPr/>
        </p:nvSpPr>
        <p:spPr>
          <a:xfrm>
            <a:off x="10524758" y="2890900"/>
            <a:ext cx="6859790"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demand</a:t>
            </a:r>
            <a:r>
              <a:rPr lang="ja-JP" altLang="en-US" dirty="0"/>
              <a:t> </a:t>
            </a:r>
            <a:r>
              <a:rPr lang="en-US" altLang="ja-JP" dirty="0"/>
              <a:t>difference</a:t>
            </a:r>
            <a:endParaRPr lang="ja-JP" altLang="en-US" dirty="0"/>
          </a:p>
        </p:txBody>
      </p:sp>
      <p:grpSp>
        <p:nvGrpSpPr>
          <p:cNvPr id="52" name="グループ化 51">
            <a:extLst>
              <a:ext uri="{FF2B5EF4-FFF2-40B4-BE49-F238E27FC236}">
                <a16:creationId xmlns:a16="http://schemas.microsoft.com/office/drawing/2014/main" id="{DB665E1D-14DB-413E-9CFC-7D9FA8E84A15}"/>
              </a:ext>
            </a:extLst>
          </p:cNvPr>
          <p:cNvGrpSpPr/>
          <p:nvPr/>
        </p:nvGrpSpPr>
        <p:grpSpPr>
          <a:xfrm>
            <a:off x="9573390" y="3730652"/>
            <a:ext cx="539448" cy="487368"/>
            <a:chOff x="400056" y="1061560"/>
            <a:chExt cx="269724" cy="243684"/>
          </a:xfrm>
        </p:grpSpPr>
        <p:sp>
          <p:nvSpPr>
            <p:cNvPr id="53" name="三角形 10">
              <a:extLst>
                <a:ext uri="{FF2B5EF4-FFF2-40B4-BE49-F238E27FC236}">
                  <a16:creationId xmlns:a16="http://schemas.microsoft.com/office/drawing/2014/main" id="{47D1CD17-F4A8-41F8-95D3-76EBCB0DCAB4}"/>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54" name="三角形 11">
              <a:extLst>
                <a:ext uri="{FF2B5EF4-FFF2-40B4-BE49-F238E27FC236}">
                  <a16:creationId xmlns:a16="http://schemas.microsoft.com/office/drawing/2014/main" id="{01C46499-7644-4A4B-8FC3-73B98BD21557}"/>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55" name="三角形 12">
            <a:extLst>
              <a:ext uri="{FF2B5EF4-FFF2-40B4-BE49-F238E27FC236}">
                <a16:creationId xmlns:a16="http://schemas.microsoft.com/office/drawing/2014/main" id="{F5FB5532-8038-4106-A9E0-423B60EF0B47}"/>
              </a:ext>
            </a:extLst>
          </p:cNvPr>
          <p:cNvSpPr/>
          <p:nvPr/>
        </p:nvSpPr>
        <p:spPr>
          <a:xfrm rot="5400000">
            <a:off x="10032396" y="4535070"/>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56" name="テキスト プレースホルダー 27">
            <a:extLst>
              <a:ext uri="{FF2B5EF4-FFF2-40B4-BE49-F238E27FC236}">
                <a16:creationId xmlns:a16="http://schemas.microsoft.com/office/drawing/2014/main" id="{AB1ABC4C-E7ED-49AD-A5E3-8B1AEC6C5659}"/>
              </a:ext>
            </a:extLst>
          </p:cNvPr>
          <p:cNvSpPr txBox="1">
            <a:spLocks/>
          </p:cNvSpPr>
          <p:nvPr/>
        </p:nvSpPr>
        <p:spPr>
          <a:xfrm>
            <a:off x="10210644" y="3658027"/>
            <a:ext cx="7460124" cy="99783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dirty="0">
                <a:solidFill>
                  <a:schemeClr val="tx1"/>
                </a:solidFill>
              </a:rPr>
              <a:t>考察</a:t>
            </a:r>
          </a:p>
        </p:txBody>
      </p:sp>
      <p:sp>
        <p:nvSpPr>
          <p:cNvPr id="57" name="テキスト プレースホルダー 29">
            <a:extLst>
              <a:ext uri="{FF2B5EF4-FFF2-40B4-BE49-F238E27FC236}">
                <a16:creationId xmlns:a16="http://schemas.microsoft.com/office/drawing/2014/main" id="{E28424A9-F9EB-4004-A78B-2F9B82B0AB7B}"/>
              </a:ext>
            </a:extLst>
          </p:cNvPr>
          <p:cNvSpPr txBox="1">
            <a:spLocks/>
          </p:cNvSpPr>
          <p:nvPr/>
        </p:nvSpPr>
        <p:spPr>
          <a:xfrm>
            <a:off x="10524758" y="4419796"/>
            <a:ext cx="6859790"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dirty="0"/>
              <a:t>マニピュレーションチェック</a:t>
            </a:r>
          </a:p>
        </p:txBody>
      </p:sp>
      <p:sp>
        <p:nvSpPr>
          <p:cNvPr id="58" name="三角形 12">
            <a:extLst>
              <a:ext uri="{FF2B5EF4-FFF2-40B4-BE49-F238E27FC236}">
                <a16:creationId xmlns:a16="http://schemas.microsoft.com/office/drawing/2014/main" id="{A0421127-E9DE-4A69-9564-049926D6281F}"/>
              </a:ext>
            </a:extLst>
          </p:cNvPr>
          <p:cNvSpPr/>
          <p:nvPr/>
        </p:nvSpPr>
        <p:spPr>
          <a:xfrm rot="5400000">
            <a:off x="10032396" y="5241802"/>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59" name="テキスト プレースホルダー 29">
            <a:extLst>
              <a:ext uri="{FF2B5EF4-FFF2-40B4-BE49-F238E27FC236}">
                <a16:creationId xmlns:a16="http://schemas.microsoft.com/office/drawing/2014/main" id="{A378DDF3-3B02-4C62-8561-FD976440A60F}"/>
              </a:ext>
            </a:extLst>
          </p:cNvPr>
          <p:cNvSpPr txBox="1">
            <a:spLocks/>
          </p:cNvSpPr>
          <p:nvPr/>
        </p:nvSpPr>
        <p:spPr>
          <a:xfrm>
            <a:off x="10524758" y="5126528"/>
            <a:ext cx="6859790"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dirty="0"/>
              <a:t>今後の展望</a:t>
            </a:r>
          </a:p>
        </p:txBody>
      </p:sp>
      <p:grpSp>
        <p:nvGrpSpPr>
          <p:cNvPr id="60" name="グループ化 59">
            <a:extLst>
              <a:ext uri="{FF2B5EF4-FFF2-40B4-BE49-F238E27FC236}">
                <a16:creationId xmlns:a16="http://schemas.microsoft.com/office/drawing/2014/main" id="{BF95E14C-FBAD-4578-A568-D8F99F23EA12}"/>
              </a:ext>
            </a:extLst>
          </p:cNvPr>
          <p:cNvGrpSpPr/>
          <p:nvPr/>
        </p:nvGrpSpPr>
        <p:grpSpPr>
          <a:xfrm>
            <a:off x="9573390" y="5902620"/>
            <a:ext cx="539448" cy="487368"/>
            <a:chOff x="400056" y="1061560"/>
            <a:chExt cx="269724" cy="243684"/>
          </a:xfrm>
        </p:grpSpPr>
        <p:sp>
          <p:nvSpPr>
            <p:cNvPr id="61" name="三角形 10">
              <a:extLst>
                <a:ext uri="{FF2B5EF4-FFF2-40B4-BE49-F238E27FC236}">
                  <a16:creationId xmlns:a16="http://schemas.microsoft.com/office/drawing/2014/main" id="{A007E2AE-7F7B-4B67-BC8F-1B15AF6AE805}"/>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62" name="三角形 11">
              <a:extLst>
                <a:ext uri="{FF2B5EF4-FFF2-40B4-BE49-F238E27FC236}">
                  <a16:creationId xmlns:a16="http://schemas.microsoft.com/office/drawing/2014/main" id="{8F037408-1EA9-46E7-A2E4-53B04BD0F13E}"/>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63" name="テキスト プレースホルダー 27">
            <a:extLst>
              <a:ext uri="{FF2B5EF4-FFF2-40B4-BE49-F238E27FC236}">
                <a16:creationId xmlns:a16="http://schemas.microsoft.com/office/drawing/2014/main" id="{38B919F6-BF0B-43B0-AC16-1E2AA7319106}"/>
              </a:ext>
            </a:extLst>
          </p:cNvPr>
          <p:cNvSpPr txBox="1">
            <a:spLocks/>
          </p:cNvSpPr>
          <p:nvPr/>
        </p:nvSpPr>
        <p:spPr>
          <a:xfrm>
            <a:off x="10210644" y="5829995"/>
            <a:ext cx="7460124" cy="99783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dirty="0">
                <a:solidFill>
                  <a:schemeClr val="tx1"/>
                </a:solidFill>
              </a:rPr>
              <a:t>おわりに</a:t>
            </a:r>
          </a:p>
        </p:txBody>
      </p:sp>
    </p:spTree>
    <p:extLst>
      <p:ext uri="{BB962C8B-B14F-4D97-AF65-F5344CB8AC3E}">
        <p14:creationId xmlns:p14="http://schemas.microsoft.com/office/powerpoint/2010/main" val="9477326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550559B4-7B5A-C449-B390-10E0D7CE4B04}"/>
              </a:ext>
            </a:extLst>
          </p:cNvPr>
          <p:cNvSpPr>
            <a:spLocks noGrp="1"/>
          </p:cNvSpPr>
          <p:nvPr>
            <p:ph type="dt" sz="half" idx="10"/>
          </p:nvPr>
        </p:nvSpPr>
        <p:spPr/>
        <p:txBody>
          <a:bodyPr/>
          <a:lstStyle/>
          <a:p>
            <a:fld id="{5ADF1710-6306-4D7E-9276-861F0F5B15B3}" type="datetime1">
              <a:rPr lang="ja-JP" altLang="en-US" smtClean="0"/>
              <a:t>2018/6/9</a:t>
            </a:fld>
            <a:endParaRPr lang="ja-JP" altLang="en-US"/>
          </a:p>
        </p:txBody>
      </p:sp>
      <p:sp>
        <p:nvSpPr>
          <p:cNvPr id="3" name="フッター プレースホルダー 2">
            <a:extLst>
              <a:ext uri="{FF2B5EF4-FFF2-40B4-BE49-F238E27FC236}">
                <a16:creationId xmlns:a16="http://schemas.microsoft.com/office/drawing/2014/main" id="{34B734A0-EFF8-614D-83FD-C2DC9B90A17C}"/>
              </a:ext>
            </a:extLst>
          </p:cNvPr>
          <p:cNvSpPr>
            <a:spLocks noGrp="1"/>
          </p:cNvSpPr>
          <p:nvPr>
            <p:ph type="ftr" sz="quarter" idx="11"/>
          </p:nvPr>
        </p:nvSpPr>
        <p:spPr/>
        <p:txBody>
          <a:bodyPr/>
          <a:lstStyle/>
          <a:p>
            <a:r>
              <a:rPr lang="ja-JP" altLang="en-US"/>
              <a:t>文献講読発表</a:t>
            </a:r>
            <a:r>
              <a:rPr lang="en-US" altLang="ja-JP"/>
              <a:t>(2018.05.07)</a:t>
            </a:r>
            <a:endParaRPr lang="ja-JP" altLang="en-US"/>
          </a:p>
        </p:txBody>
      </p:sp>
      <p:sp>
        <p:nvSpPr>
          <p:cNvPr id="4" name="スライド番号プレースホルダー 3">
            <a:extLst>
              <a:ext uri="{FF2B5EF4-FFF2-40B4-BE49-F238E27FC236}">
                <a16:creationId xmlns:a16="http://schemas.microsoft.com/office/drawing/2014/main" id="{44ED8047-BA8A-E742-9357-37262CCB8098}"/>
              </a:ext>
            </a:extLst>
          </p:cNvPr>
          <p:cNvSpPr>
            <a:spLocks noGrp="1"/>
          </p:cNvSpPr>
          <p:nvPr>
            <p:ph type="sldNum" sz="quarter" idx="12"/>
          </p:nvPr>
        </p:nvSpPr>
        <p:spPr/>
        <p:txBody>
          <a:bodyPr/>
          <a:lstStyle/>
          <a:p>
            <a:fld id="{89242BC1-393D-1248-985B-18DA624F2964}" type="slidenum">
              <a:rPr lang="ja-JP" altLang="en-US" smtClean="0"/>
              <a:pPr/>
              <a:t>3</a:t>
            </a:fld>
            <a:endParaRPr lang="ja-JP" altLang="en-US"/>
          </a:p>
        </p:txBody>
      </p:sp>
      <p:sp>
        <p:nvSpPr>
          <p:cNvPr id="5" name="テキスト プレースホルダー 4">
            <a:extLst>
              <a:ext uri="{FF2B5EF4-FFF2-40B4-BE49-F238E27FC236}">
                <a16:creationId xmlns:a16="http://schemas.microsoft.com/office/drawing/2014/main" id="{6D6E8D34-1D13-2140-8139-56B931FC3EAE}"/>
              </a:ext>
            </a:extLst>
          </p:cNvPr>
          <p:cNvSpPr>
            <a:spLocks noGrp="1"/>
          </p:cNvSpPr>
          <p:nvPr>
            <p:ph type="body" sz="quarter" idx="13"/>
          </p:nvPr>
        </p:nvSpPr>
        <p:spPr/>
        <p:txBody>
          <a:bodyPr/>
          <a:lstStyle/>
          <a:p>
            <a:r>
              <a:rPr kumimoji="1" lang="en-US" altLang="ja-JP" dirty="0"/>
              <a:t>0</a:t>
            </a:r>
            <a:endParaRPr kumimoji="1" lang="ja-JP" altLang="en-US"/>
          </a:p>
        </p:txBody>
      </p:sp>
      <p:sp>
        <p:nvSpPr>
          <p:cNvPr id="6" name="テキスト プレースホルダー 5">
            <a:extLst>
              <a:ext uri="{FF2B5EF4-FFF2-40B4-BE49-F238E27FC236}">
                <a16:creationId xmlns:a16="http://schemas.microsoft.com/office/drawing/2014/main" id="{D0CC148C-7764-1047-8DF4-F7EAC83DCF3C}"/>
              </a:ext>
            </a:extLst>
          </p:cNvPr>
          <p:cNvSpPr>
            <a:spLocks noGrp="1"/>
          </p:cNvSpPr>
          <p:nvPr>
            <p:ph type="body" sz="quarter" idx="14"/>
          </p:nvPr>
        </p:nvSpPr>
        <p:spPr/>
        <p:txBody>
          <a:bodyPr/>
          <a:lstStyle/>
          <a:p>
            <a:r>
              <a:rPr kumimoji="1" lang="ja-JP" altLang="en-US"/>
              <a:t>文献情報</a:t>
            </a:r>
          </a:p>
        </p:txBody>
      </p:sp>
      <p:grpSp>
        <p:nvGrpSpPr>
          <p:cNvPr id="7" name="グループ化 6">
            <a:extLst>
              <a:ext uri="{FF2B5EF4-FFF2-40B4-BE49-F238E27FC236}">
                <a16:creationId xmlns:a16="http://schemas.microsoft.com/office/drawing/2014/main" id="{EA9772E9-18CB-DD4F-BA5E-34D7460A36B0}"/>
              </a:ext>
            </a:extLst>
          </p:cNvPr>
          <p:cNvGrpSpPr/>
          <p:nvPr/>
        </p:nvGrpSpPr>
        <p:grpSpPr>
          <a:xfrm>
            <a:off x="289330" y="1413298"/>
            <a:ext cx="2160000" cy="934436"/>
            <a:chOff x="144665" y="525617"/>
            <a:chExt cx="1080000" cy="467218"/>
          </a:xfrm>
        </p:grpSpPr>
        <p:sp>
          <p:nvSpPr>
            <p:cNvPr id="8" name="正方形/長方形 7">
              <a:extLst>
                <a:ext uri="{FF2B5EF4-FFF2-40B4-BE49-F238E27FC236}">
                  <a16:creationId xmlns:a16="http://schemas.microsoft.com/office/drawing/2014/main" id="{067B7938-DCF1-0F49-894A-AFC732E64D4B}"/>
                </a:ext>
              </a:extLst>
            </p:cNvPr>
            <p:cNvSpPr/>
            <p:nvPr userDrawn="1"/>
          </p:nvSpPr>
          <p:spPr>
            <a:xfrm>
              <a:off x="145524" y="542424"/>
              <a:ext cx="91081" cy="450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sp>
          <p:nvSpPr>
            <p:cNvPr id="9" name="正方形/長方形 8">
              <a:extLst>
                <a:ext uri="{FF2B5EF4-FFF2-40B4-BE49-F238E27FC236}">
                  <a16:creationId xmlns:a16="http://schemas.microsoft.com/office/drawing/2014/main" id="{63B21146-BD0D-AE4D-BB59-0645DE6487D9}"/>
                </a:ext>
              </a:extLst>
            </p:cNvPr>
            <p:cNvSpPr/>
            <p:nvPr userDrawn="1"/>
          </p:nvSpPr>
          <p:spPr>
            <a:xfrm>
              <a:off x="144665" y="525617"/>
              <a:ext cx="1080000" cy="161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grpSp>
      <p:grpSp>
        <p:nvGrpSpPr>
          <p:cNvPr id="10" name="グループ化 9">
            <a:extLst>
              <a:ext uri="{FF2B5EF4-FFF2-40B4-BE49-F238E27FC236}">
                <a16:creationId xmlns:a16="http://schemas.microsoft.com/office/drawing/2014/main" id="{B6937535-D013-DF48-A225-2C4D1D3CA91E}"/>
              </a:ext>
            </a:extLst>
          </p:cNvPr>
          <p:cNvGrpSpPr/>
          <p:nvPr/>
        </p:nvGrpSpPr>
        <p:grpSpPr>
          <a:xfrm>
            <a:off x="617232" y="2557358"/>
            <a:ext cx="539448" cy="487368"/>
            <a:chOff x="400056" y="1061560"/>
            <a:chExt cx="269724" cy="243684"/>
          </a:xfrm>
        </p:grpSpPr>
        <p:sp>
          <p:nvSpPr>
            <p:cNvPr id="11" name="三角形 10">
              <a:extLst>
                <a:ext uri="{FF2B5EF4-FFF2-40B4-BE49-F238E27FC236}">
                  <a16:creationId xmlns:a16="http://schemas.microsoft.com/office/drawing/2014/main" id="{4916FEA8-67FC-7D4B-8CF8-A3540E790054}"/>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12" name="三角形 11">
              <a:extLst>
                <a:ext uri="{FF2B5EF4-FFF2-40B4-BE49-F238E27FC236}">
                  <a16:creationId xmlns:a16="http://schemas.microsoft.com/office/drawing/2014/main" id="{77912CF4-4BC3-D74D-BFFA-187AB10FB04E}"/>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13" name="テキスト プレースホルダー 30">
            <a:extLst>
              <a:ext uri="{FF2B5EF4-FFF2-40B4-BE49-F238E27FC236}">
                <a16:creationId xmlns:a16="http://schemas.microsoft.com/office/drawing/2014/main" id="{00225D3B-BEE6-7940-BDD9-77C4652785DD}"/>
              </a:ext>
            </a:extLst>
          </p:cNvPr>
          <p:cNvSpPr txBox="1">
            <a:spLocks/>
          </p:cNvSpPr>
          <p:nvPr/>
        </p:nvSpPr>
        <p:spPr>
          <a:xfrm>
            <a:off x="571049" y="1583871"/>
            <a:ext cx="17302163" cy="1403350"/>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60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タイトル</a:t>
            </a:r>
          </a:p>
        </p:txBody>
      </p:sp>
      <p:sp>
        <p:nvSpPr>
          <p:cNvPr id="14" name="テキスト プレースホルダー 27">
            <a:extLst>
              <a:ext uri="{FF2B5EF4-FFF2-40B4-BE49-F238E27FC236}">
                <a16:creationId xmlns:a16="http://schemas.microsoft.com/office/drawing/2014/main" id="{217A887D-79AD-A748-AFA3-8B76C19F77B5}"/>
              </a:ext>
            </a:extLst>
          </p:cNvPr>
          <p:cNvSpPr txBox="1">
            <a:spLocks/>
          </p:cNvSpPr>
          <p:nvPr/>
        </p:nvSpPr>
        <p:spPr>
          <a:xfrm>
            <a:off x="1254486" y="2484733"/>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Grumpy &amp; Pinocchio: Answering Human-Agent Negotiation </a:t>
            </a:r>
          </a:p>
          <a:p>
            <a:r>
              <a:rPr lang="en-US" altLang="ja-JP" dirty="0"/>
              <a:t>Questions through Realistic Agent Design </a:t>
            </a:r>
          </a:p>
        </p:txBody>
      </p:sp>
      <p:grpSp>
        <p:nvGrpSpPr>
          <p:cNvPr id="15" name="グループ化 14">
            <a:extLst>
              <a:ext uri="{FF2B5EF4-FFF2-40B4-BE49-F238E27FC236}">
                <a16:creationId xmlns:a16="http://schemas.microsoft.com/office/drawing/2014/main" id="{F9E4D695-F8D2-E643-98C4-3C266F61ECEA}"/>
              </a:ext>
            </a:extLst>
          </p:cNvPr>
          <p:cNvGrpSpPr/>
          <p:nvPr/>
        </p:nvGrpSpPr>
        <p:grpSpPr>
          <a:xfrm>
            <a:off x="289330" y="4656431"/>
            <a:ext cx="2160000" cy="934436"/>
            <a:chOff x="144665" y="525617"/>
            <a:chExt cx="1080000" cy="467218"/>
          </a:xfrm>
        </p:grpSpPr>
        <p:sp>
          <p:nvSpPr>
            <p:cNvPr id="16" name="正方形/長方形 15">
              <a:extLst>
                <a:ext uri="{FF2B5EF4-FFF2-40B4-BE49-F238E27FC236}">
                  <a16:creationId xmlns:a16="http://schemas.microsoft.com/office/drawing/2014/main" id="{BE3FB6EE-61A6-AE41-A8D2-2201CAE3D94D}"/>
                </a:ext>
              </a:extLst>
            </p:cNvPr>
            <p:cNvSpPr/>
            <p:nvPr userDrawn="1"/>
          </p:nvSpPr>
          <p:spPr>
            <a:xfrm>
              <a:off x="145524" y="542424"/>
              <a:ext cx="91081" cy="450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sp>
          <p:nvSpPr>
            <p:cNvPr id="17" name="正方形/長方形 16">
              <a:extLst>
                <a:ext uri="{FF2B5EF4-FFF2-40B4-BE49-F238E27FC236}">
                  <a16:creationId xmlns:a16="http://schemas.microsoft.com/office/drawing/2014/main" id="{06416749-E0D0-2041-A641-BE24859180BD}"/>
                </a:ext>
              </a:extLst>
            </p:cNvPr>
            <p:cNvSpPr/>
            <p:nvPr userDrawn="1"/>
          </p:nvSpPr>
          <p:spPr>
            <a:xfrm>
              <a:off x="144665" y="525617"/>
              <a:ext cx="1080000" cy="161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grpSp>
      <p:grpSp>
        <p:nvGrpSpPr>
          <p:cNvPr id="18" name="グループ化 17">
            <a:extLst>
              <a:ext uri="{FF2B5EF4-FFF2-40B4-BE49-F238E27FC236}">
                <a16:creationId xmlns:a16="http://schemas.microsoft.com/office/drawing/2014/main" id="{A64283E6-2BEE-0B49-B2FA-3FDE8B822F94}"/>
              </a:ext>
            </a:extLst>
          </p:cNvPr>
          <p:cNvGrpSpPr/>
          <p:nvPr/>
        </p:nvGrpSpPr>
        <p:grpSpPr>
          <a:xfrm>
            <a:off x="617232" y="5800491"/>
            <a:ext cx="539448" cy="487368"/>
            <a:chOff x="400056" y="1061560"/>
            <a:chExt cx="269724" cy="243684"/>
          </a:xfrm>
        </p:grpSpPr>
        <p:sp>
          <p:nvSpPr>
            <p:cNvPr id="19" name="三角形 18">
              <a:extLst>
                <a:ext uri="{FF2B5EF4-FFF2-40B4-BE49-F238E27FC236}">
                  <a16:creationId xmlns:a16="http://schemas.microsoft.com/office/drawing/2014/main" id="{CA26EDA4-2FED-334C-AD33-81E17DC57B90}"/>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20" name="三角形 19">
              <a:extLst>
                <a:ext uri="{FF2B5EF4-FFF2-40B4-BE49-F238E27FC236}">
                  <a16:creationId xmlns:a16="http://schemas.microsoft.com/office/drawing/2014/main" id="{C4F459DE-6BDD-9A40-8049-2363A9B3E659}"/>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21" name="テキスト プレースホルダー 30">
            <a:extLst>
              <a:ext uri="{FF2B5EF4-FFF2-40B4-BE49-F238E27FC236}">
                <a16:creationId xmlns:a16="http://schemas.microsoft.com/office/drawing/2014/main" id="{1CD6C744-527D-D048-8CE5-13A077D003FD}"/>
              </a:ext>
            </a:extLst>
          </p:cNvPr>
          <p:cNvSpPr txBox="1">
            <a:spLocks/>
          </p:cNvSpPr>
          <p:nvPr/>
        </p:nvSpPr>
        <p:spPr>
          <a:xfrm>
            <a:off x="571049" y="4827004"/>
            <a:ext cx="17302163" cy="1403350"/>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60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著者</a:t>
            </a:r>
          </a:p>
        </p:txBody>
      </p:sp>
      <p:sp>
        <p:nvSpPr>
          <p:cNvPr id="22" name="テキスト プレースホルダー 27">
            <a:extLst>
              <a:ext uri="{FF2B5EF4-FFF2-40B4-BE49-F238E27FC236}">
                <a16:creationId xmlns:a16="http://schemas.microsoft.com/office/drawing/2014/main" id="{D8B318C3-F374-3748-A918-9D28936A66F2}"/>
              </a:ext>
            </a:extLst>
          </p:cNvPr>
          <p:cNvSpPr txBox="1">
            <a:spLocks/>
          </p:cNvSpPr>
          <p:nvPr/>
        </p:nvSpPr>
        <p:spPr>
          <a:xfrm>
            <a:off x="1254486" y="5727866"/>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 altLang="ja-JP" dirty="0"/>
              <a:t>Johnathan Mell </a:t>
            </a:r>
            <a:r>
              <a:rPr lang="ja-JP" altLang="en-US"/>
              <a:t>，</a:t>
            </a:r>
            <a:r>
              <a:rPr lang="en" altLang="ja-JP" dirty="0"/>
              <a:t>Jonathan </a:t>
            </a:r>
            <a:r>
              <a:rPr lang="en" altLang="ja-JP" dirty="0" err="1"/>
              <a:t>Gratch</a:t>
            </a:r>
            <a:r>
              <a:rPr lang="en" altLang="ja-JP" dirty="0"/>
              <a:t>  </a:t>
            </a:r>
          </a:p>
        </p:txBody>
      </p:sp>
      <p:grpSp>
        <p:nvGrpSpPr>
          <p:cNvPr id="23" name="グループ化 22">
            <a:extLst>
              <a:ext uri="{FF2B5EF4-FFF2-40B4-BE49-F238E27FC236}">
                <a16:creationId xmlns:a16="http://schemas.microsoft.com/office/drawing/2014/main" id="{29ABE773-EE2B-A643-8963-170995A10204}"/>
              </a:ext>
            </a:extLst>
          </p:cNvPr>
          <p:cNvGrpSpPr/>
          <p:nvPr/>
        </p:nvGrpSpPr>
        <p:grpSpPr>
          <a:xfrm>
            <a:off x="289330" y="6881583"/>
            <a:ext cx="2160000" cy="934436"/>
            <a:chOff x="144665" y="525617"/>
            <a:chExt cx="1080000" cy="467218"/>
          </a:xfrm>
        </p:grpSpPr>
        <p:sp>
          <p:nvSpPr>
            <p:cNvPr id="24" name="正方形/長方形 23">
              <a:extLst>
                <a:ext uri="{FF2B5EF4-FFF2-40B4-BE49-F238E27FC236}">
                  <a16:creationId xmlns:a16="http://schemas.microsoft.com/office/drawing/2014/main" id="{EC536AD0-2560-E948-9871-6345739A3CA3}"/>
                </a:ext>
              </a:extLst>
            </p:cNvPr>
            <p:cNvSpPr/>
            <p:nvPr userDrawn="1"/>
          </p:nvSpPr>
          <p:spPr>
            <a:xfrm>
              <a:off x="145524" y="542424"/>
              <a:ext cx="91081" cy="450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sp>
          <p:nvSpPr>
            <p:cNvPr id="25" name="正方形/長方形 24">
              <a:extLst>
                <a:ext uri="{FF2B5EF4-FFF2-40B4-BE49-F238E27FC236}">
                  <a16:creationId xmlns:a16="http://schemas.microsoft.com/office/drawing/2014/main" id="{3DEB03DD-24E5-9645-BF69-1A3786A5097E}"/>
                </a:ext>
              </a:extLst>
            </p:cNvPr>
            <p:cNvSpPr/>
            <p:nvPr userDrawn="1"/>
          </p:nvSpPr>
          <p:spPr>
            <a:xfrm>
              <a:off x="144665" y="525617"/>
              <a:ext cx="1080000" cy="161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grpSp>
      <p:grpSp>
        <p:nvGrpSpPr>
          <p:cNvPr id="26" name="グループ化 25">
            <a:extLst>
              <a:ext uri="{FF2B5EF4-FFF2-40B4-BE49-F238E27FC236}">
                <a16:creationId xmlns:a16="http://schemas.microsoft.com/office/drawing/2014/main" id="{97999A0C-2B98-2A47-8F2E-76A461F34280}"/>
              </a:ext>
            </a:extLst>
          </p:cNvPr>
          <p:cNvGrpSpPr/>
          <p:nvPr/>
        </p:nvGrpSpPr>
        <p:grpSpPr>
          <a:xfrm>
            <a:off x="617232" y="8025643"/>
            <a:ext cx="539448" cy="487368"/>
            <a:chOff x="400056" y="1061560"/>
            <a:chExt cx="269724" cy="243684"/>
          </a:xfrm>
        </p:grpSpPr>
        <p:sp>
          <p:nvSpPr>
            <p:cNvPr id="27" name="三角形 26">
              <a:extLst>
                <a:ext uri="{FF2B5EF4-FFF2-40B4-BE49-F238E27FC236}">
                  <a16:creationId xmlns:a16="http://schemas.microsoft.com/office/drawing/2014/main" id="{6C070C1A-837E-FA42-8FC4-04E882F89E68}"/>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28" name="三角形 27">
              <a:extLst>
                <a:ext uri="{FF2B5EF4-FFF2-40B4-BE49-F238E27FC236}">
                  <a16:creationId xmlns:a16="http://schemas.microsoft.com/office/drawing/2014/main" id="{FBC3C6C1-1205-884E-B062-3DD5CAB62161}"/>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29" name="テキスト プレースホルダー 30">
            <a:extLst>
              <a:ext uri="{FF2B5EF4-FFF2-40B4-BE49-F238E27FC236}">
                <a16:creationId xmlns:a16="http://schemas.microsoft.com/office/drawing/2014/main" id="{6B58FF44-4470-124B-99F6-9B37ADD858D5}"/>
              </a:ext>
            </a:extLst>
          </p:cNvPr>
          <p:cNvSpPr txBox="1">
            <a:spLocks/>
          </p:cNvSpPr>
          <p:nvPr/>
        </p:nvSpPr>
        <p:spPr>
          <a:xfrm>
            <a:off x="571049" y="7052156"/>
            <a:ext cx="17302163" cy="1403350"/>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60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出典</a:t>
            </a:r>
          </a:p>
        </p:txBody>
      </p:sp>
      <p:sp>
        <p:nvSpPr>
          <p:cNvPr id="30" name="テキスト プレースホルダー 27">
            <a:extLst>
              <a:ext uri="{FF2B5EF4-FFF2-40B4-BE49-F238E27FC236}">
                <a16:creationId xmlns:a16="http://schemas.microsoft.com/office/drawing/2014/main" id="{94A4FDD3-7A19-C643-AE99-5008501BA03B}"/>
              </a:ext>
            </a:extLst>
          </p:cNvPr>
          <p:cNvSpPr txBox="1">
            <a:spLocks/>
          </p:cNvSpPr>
          <p:nvPr/>
        </p:nvSpPr>
        <p:spPr>
          <a:xfrm>
            <a:off x="1254486" y="7953018"/>
            <a:ext cx="17551674" cy="1721508"/>
          </a:xfrm>
          <a:prstGeom prst="rect">
            <a:avLst/>
          </a:prstGeom>
        </p:spPr>
        <p:txBody>
          <a:bodyPr>
            <a:normAutofit fontScale="92500"/>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 altLang="ja-JP" dirty="0"/>
              <a:t>Proceedings of the 16th International Conference on Autonomous Agents and Multiagent Systems (AAMAS 2017), Pages 401-409 </a:t>
            </a:r>
          </a:p>
        </p:txBody>
      </p:sp>
    </p:spTree>
    <p:extLst>
      <p:ext uri="{BB962C8B-B14F-4D97-AF65-F5344CB8AC3E}">
        <p14:creationId xmlns:p14="http://schemas.microsoft.com/office/powerpoint/2010/main" val="31266364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605D53DC-67F3-EB44-9371-AF7325D08CFD}"/>
              </a:ext>
            </a:extLst>
          </p:cNvPr>
          <p:cNvSpPr>
            <a:spLocks noGrp="1"/>
          </p:cNvSpPr>
          <p:nvPr>
            <p:ph type="dt" sz="half" idx="10"/>
          </p:nvPr>
        </p:nvSpPr>
        <p:spPr/>
        <p:txBody>
          <a:bodyPr/>
          <a:lstStyle/>
          <a:p>
            <a:fld id="{5ADF1710-6306-4D7E-9276-861F0F5B15B3}" type="datetime1">
              <a:rPr lang="ja-JP" altLang="en-US" smtClean="0"/>
              <a:t>2018/6/9</a:t>
            </a:fld>
            <a:endParaRPr lang="ja-JP" altLang="en-US"/>
          </a:p>
        </p:txBody>
      </p:sp>
      <p:sp>
        <p:nvSpPr>
          <p:cNvPr id="3" name="フッター プレースホルダー 2">
            <a:extLst>
              <a:ext uri="{FF2B5EF4-FFF2-40B4-BE49-F238E27FC236}">
                <a16:creationId xmlns:a16="http://schemas.microsoft.com/office/drawing/2014/main" id="{7228F00B-AC43-9945-8E15-D45FA29DD6BC}"/>
              </a:ext>
            </a:extLst>
          </p:cNvPr>
          <p:cNvSpPr>
            <a:spLocks noGrp="1"/>
          </p:cNvSpPr>
          <p:nvPr>
            <p:ph type="ftr" sz="quarter" idx="11"/>
          </p:nvPr>
        </p:nvSpPr>
        <p:spPr/>
        <p:txBody>
          <a:bodyPr/>
          <a:lstStyle/>
          <a:p>
            <a:r>
              <a:rPr lang="ja-JP" altLang="en-US"/>
              <a:t>文献講読発表</a:t>
            </a:r>
            <a:r>
              <a:rPr lang="en-US" altLang="ja-JP"/>
              <a:t>(2018.05.07)</a:t>
            </a:r>
            <a:endParaRPr lang="ja-JP" altLang="en-US"/>
          </a:p>
        </p:txBody>
      </p:sp>
      <p:sp>
        <p:nvSpPr>
          <p:cNvPr id="4" name="スライド番号プレースホルダー 3">
            <a:extLst>
              <a:ext uri="{FF2B5EF4-FFF2-40B4-BE49-F238E27FC236}">
                <a16:creationId xmlns:a16="http://schemas.microsoft.com/office/drawing/2014/main" id="{24ABD01E-6BCA-7145-9535-1289073CA56D}"/>
              </a:ext>
            </a:extLst>
          </p:cNvPr>
          <p:cNvSpPr>
            <a:spLocks noGrp="1"/>
          </p:cNvSpPr>
          <p:nvPr>
            <p:ph type="sldNum" sz="quarter" idx="12"/>
          </p:nvPr>
        </p:nvSpPr>
        <p:spPr/>
        <p:txBody>
          <a:bodyPr/>
          <a:lstStyle/>
          <a:p>
            <a:fld id="{89242BC1-393D-1248-985B-18DA624F2964}" type="slidenum">
              <a:rPr lang="ja-JP" altLang="en-US" smtClean="0"/>
              <a:pPr/>
              <a:t>4</a:t>
            </a:fld>
            <a:endParaRPr lang="ja-JP" altLang="en-US"/>
          </a:p>
        </p:txBody>
      </p:sp>
      <p:sp>
        <p:nvSpPr>
          <p:cNvPr id="5" name="テキスト プレースホルダー 4">
            <a:extLst>
              <a:ext uri="{FF2B5EF4-FFF2-40B4-BE49-F238E27FC236}">
                <a16:creationId xmlns:a16="http://schemas.microsoft.com/office/drawing/2014/main" id="{87199048-E1F7-644B-9F04-E0B815B229AF}"/>
              </a:ext>
            </a:extLst>
          </p:cNvPr>
          <p:cNvSpPr>
            <a:spLocks noGrp="1"/>
          </p:cNvSpPr>
          <p:nvPr>
            <p:ph type="body" sz="quarter" idx="13"/>
          </p:nvPr>
        </p:nvSpPr>
        <p:spPr/>
        <p:txBody>
          <a:bodyPr/>
          <a:lstStyle/>
          <a:p>
            <a:r>
              <a:rPr kumimoji="1" lang="en-US" altLang="ja-JP" dirty="0"/>
              <a:t>1</a:t>
            </a:r>
            <a:endParaRPr kumimoji="1" lang="ja-JP" altLang="en-US"/>
          </a:p>
        </p:txBody>
      </p:sp>
      <p:sp>
        <p:nvSpPr>
          <p:cNvPr id="6" name="テキスト プレースホルダー 5">
            <a:extLst>
              <a:ext uri="{FF2B5EF4-FFF2-40B4-BE49-F238E27FC236}">
                <a16:creationId xmlns:a16="http://schemas.microsoft.com/office/drawing/2014/main" id="{E6FEB1FA-B8D4-574F-A8F9-6EC1B66606CD}"/>
              </a:ext>
            </a:extLst>
          </p:cNvPr>
          <p:cNvSpPr>
            <a:spLocks noGrp="1"/>
          </p:cNvSpPr>
          <p:nvPr>
            <p:ph type="body" sz="quarter" idx="14"/>
          </p:nvPr>
        </p:nvSpPr>
        <p:spPr/>
        <p:txBody>
          <a:bodyPr/>
          <a:lstStyle/>
          <a:p>
            <a:r>
              <a:rPr kumimoji="1" lang="ja-JP" altLang="en-US"/>
              <a:t>はじめに</a:t>
            </a:r>
          </a:p>
        </p:txBody>
      </p:sp>
    </p:spTree>
    <p:extLst>
      <p:ext uri="{BB962C8B-B14F-4D97-AF65-F5344CB8AC3E}">
        <p14:creationId xmlns:p14="http://schemas.microsoft.com/office/powerpoint/2010/main" val="42694403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3520CDD-7107-D140-A1A0-69D0D69B10F3}"/>
              </a:ext>
            </a:extLst>
          </p:cNvPr>
          <p:cNvSpPr>
            <a:spLocks noGrp="1"/>
          </p:cNvSpPr>
          <p:nvPr>
            <p:ph type="dt" sz="half" idx="10"/>
          </p:nvPr>
        </p:nvSpPr>
        <p:spPr/>
        <p:txBody>
          <a:bodyPr/>
          <a:lstStyle/>
          <a:p>
            <a:fld id="{35974365-84F6-754A-A339-DA79FFD42E98}" type="datetime1">
              <a:rPr lang="ja-JP" altLang="en-US" smtClean="0"/>
              <a:t>2018/6/9</a:t>
            </a:fld>
            <a:endParaRPr lang="ja-JP" altLang="en-US"/>
          </a:p>
        </p:txBody>
      </p:sp>
      <p:sp>
        <p:nvSpPr>
          <p:cNvPr id="3" name="フッター プレースホルダー 2">
            <a:extLst>
              <a:ext uri="{FF2B5EF4-FFF2-40B4-BE49-F238E27FC236}">
                <a16:creationId xmlns:a16="http://schemas.microsoft.com/office/drawing/2014/main" id="{6EEFBA0C-3454-8D4D-87CE-5BA9ED8AFBE5}"/>
              </a:ext>
            </a:extLst>
          </p:cNvPr>
          <p:cNvSpPr>
            <a:spLocks noGrp="1"/>
          </p:cNvSpPr>
          <p:nvPr>
            <p:ph type="ftr" sz="quarter" idx="11"/>
          </p:nvPr>
        </p:nvSpPr>
        <p:spPr/>
        <p:txBody>
          <a:bodyPr/>
          <a:lstStyle/>
          <a:p>
            <a:r>
              <a:rPr lang="ja-JP" altLang="en-US"/>
              <a:t>進捗報告</a:t>
            </a:r>
            <a:r>
              <a:rPr lang="en-US" altLang="ja-JP"/>
              <a:t>(2018.06.06)</a:t>
            </a:r>
            <a:endParaRPr lang="ja-JP" altLang="en-US"/>
          </a:p>
        </p:txBody>
      </p:sp>
      <p:sp>
        <p:nvSpPr>
          <p:cNvPr id="4" name="スライド番号プレースホルダー 3">
            <a:extLst>
              <a:ext uri="{FF2B5EF4-FFF2-40B4-BE49-F238E27FC236}">
                <a16:creationId xmlns:a16="http://schemas.microsoft.com/office/drawing/2014/main" id="{5D405AD0-9091-A94B-BA67-32995AD15B35}"/>
              </a:ext>
            </a:extLst>
          </p:cNvPr>
          <p:cNvSpPr>
            <a:spLocks noGrp="1"/>
          </p:cNvSpPr>
          <p:nvPr>
            <p:ph type="sldNum" sz="quarter" idx="12"/>
          </p:nvPr>
        </p:nvSpPr>
        <p:spPr/>
        <p:txBody>
          <a:bodyPr/>
          <a:lstStyle/>
          <a:p>
            <a:fld id="{89242BC1-393D-1248-985B-18DA624F2964}" type="slidenum">
              <a:rPr lang="ja-JP" altLang="en-US" smtClean="0"/>
              <a:pPr/>
              <a:t>5</a:t>
            </a:fld>
            <a:endParaRPr lang="ja-JP" altLang="en-US"/>
          </a:p>
        </p:txBody>
      </p:sp>
      <p:sp>
        <p:nvSpPr>
          <p:cNvPr id="5" name="テキスト プレースホルダー 4">
            <a:extLst>
              <a:ext uri="{FF2B5EF4-FFF2-40B4-BE49-F238E27FC236}">
                <a16:creationId xmlns:a16="http://schemas.microsoft.com/office/drawing/2014/main" id="{26DD2A8D-F804-D546-B77D-9693A67C3E0B}"/>
              </a:ext>
            </a:extLst>
          </p:cNvPr>
          <p:cNvSpPr>
            <a:spLocks noGrp="1"/>
          </p:cNvSpPr>
          <p:nvPr>
            <p:ph type="body" sz="quarter" idx="14"/>
          </p:nvPr>
        </p:nvSpPr>
        <p:spPr/>
        <p:txBody>
          <a:bodyPr/>
          <a:lstStyle/>
          <a:p>
            <a:r>
              <a:rPr kumimoji="1" lang="ja-JP" altLang="en-US"/>
              <a:t>実験</a:t>
            </a:r>
          </a:p>
        </p:txBody>
      </p:sp>
      <p:sp>
        <p:nvSpPr>
          <p:cNvPr id="6" name="テキスト プレースホルダー 5">
            <a:extLst>
              <a:ext uri="{FF2B5EF4-FFF2-40B4-BE49-F238E27FC236}">
                <a16:creationId xmlns:a16="http://schemas.microsoft.com/office/drawing/2014/main" id="{18F5D246-4675-9D44-B96B-BEDD6F01EDA7}"/>
              </a:ext>
            </a:extLst>
          </p:cNvPr>
          <p:cNvSpPr>
            <a:spLocks noGrp="1"/>
          </p:cNvSpPr>
          <p:nvPr>
            <p:ph type="body" sz="quarter" idx="13"/>
          </p:nvPr>
        </p:nvSpPr>
        <p:spPr/>
        <p:txBody>
          <a:bodyPr/>
          <a:lstStyle/>
          <a:p>
            <a:r>
              <a:rPr lang="en-US" altLang="ja-JP" dirty="0"/>
              <a:t>2</a:t>
            </a:r>
            <a:endParaRPr kumimoji="1" lang="ja-JP" altLang="en-US"/>
          </a:p>
        </p:txBody>
      </p:sp>
      <p:grpSp>
        <p:nvGrpSpPr>
          <p:cNvPr id="31" name="グループ化 30">
            <a:extLst>
              <a:ext uri="{FF2B5EF4-FFF2-40B4-BE49-F238E27FC236}">
                <a16:creationId xmlns:a16="http://schemas.microsoft.com/office/drawing/2014/main" id="{FD81DDC5-24B5-F24B-8DCA-6543CEE8DC81}"/>
              </a:ext>
            </a:extLst>
          </p:cNvPr>
          <p:cNvGrpSpPr/>
          <p:nvPr/>
        </p:nvGrpSpPr>
        <p:grpSpPr>
          <a:xfrm>
            <a:off x="289330" y="1413298"/>
            <a:ext cx="2160000" cy="934436"/>
            <a:chOff x="144665" y="525617"/>
            <a:chExt cx="1080000" cy="467218"/>
          </a:xfrm>
        </p:grpSpPr>
        <p:sp>
          <p:nvSpPr>
            <p:cNvPr id="32" name="正方形/長方形 31">
              <a:extLst>
                <a:ext uri="{FF2B5EF4-FFF2-40B4-BE49-F238E27FC236}">
                  <a16:creationId xmlns:a16="http://schemas.microsoft.com/office/drawing/2014/main" id="{073638CC-28A2-E943-AD34-548A0C227633}"/>
                </a:ext>
              </a:extLst>
            </p:cNvPr>
            <p:cNvSpPr/>
            <p:nvPr userDrawn="1"/>
          </p:nvSpPr>
          <p:spPr>
            <a:xfrm>
              <a:off x="145524" y="542424"/>
              <a:ext cx="91081" cy="450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sp>
          <p:nvSpPr>
            <p:cNvPr id="33" name="正方形/長方形 32">
              <a:extLst>
                <a:ext uri="{FF2B5EF4-FFF2-40B4-BE49-F238E27FC236}">
                  <a16:creationId xmlns:a16="http://schemas.microsoft.com/office/drawing/2014/main" id="{89C51296-914D-A74C-889D-A570C54F6A57}"/>
                </a:ext>
              </a:extLst>
            </p:cNvPr>
            <p:cNvSpPr/>
            <p:nvPr userDrawn="1"/>
          </p:nvSpPr>
          <p:spPr>
            <a:xfrm>
              <a:off x="144665" y="525617"/>
              <a:ext cx="1080000" cy="161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grpSp>
      <p:grpSp>
        <p:nvGrpSpPr>
          <p:cNvPr id="34" name="グループ化 33">
            <a:extLst>
              <a:ext uri="{FF2B5EF4-FFF2-40B4-BE49-F238E27FC236}">
                <a16:creationId xmlns:a16="http://schemas.microsoft.com/office/drawing/2014/main" id="{FC0C993D-26F8-9648-8C42-6E3A827F97DE}"/>
              </a:ext>
            </a:extLst>
          </p:cNvPr>
          <p:cNvGrpSpPr/>
          <p:nvPr/>
        </p:nvGrpSpPr>
        <p:grpSpPr>
          <a:xfrm>
            <a:off x="617232" y="2557358"/>
            <a:ext cx="539448" cy="487368"/>
            <a:chOff x="400056" y="1061560"/>
            <a:chExt cx="269724" cy="243684"/>
          </a:xfrm>
        </p:grpSpPr>
        <p:sp>
          <p:nvSpPr>
            <p:cNvPr id="35" name="三角形 34">
              <a:extLst>
                <a:ext uri="{FF2B5EF4-FFF2-40B4-BE49-F238E27FC236}">
                  <a16:creationId xmlns:a16="http://schemas.microsoft.com/office/drawing/2014/main" id="{21EC1BB2-1EA3-DB45-83ED-42197AA1F0E3}"/>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36" name="三角形 35">
              <a:extLst>
                <a:ext uri="{FF2B5EF4-FFF2-40B4-BE49-F238E27FC236}">
                  <a16:creationId xmlns:a16="http://schemas.microsoft.com/office/drawing/2014/main" id="{92822503-D36D-7644-A490-99EB8A1079E7}"/>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37" name="テキスト プレースホルダー 30">
            <a:extLst>
              <a:ext uri="{FF2B5EF4-FFF2-40B4-BE49-F238E27FC236}">
                <a16:creationId xmlns:a16="http://schemas.microsoft.com/office/drawing/2014/main" id="{A73B3907-668E-1A41-B5F4-6D46EA930E91}"/>
              </a:ext>
            </a:extLst>
          </p:cNvPr>
          <p:cNvSpPr txBox="1">
            <a:spLocks/>
          </p:cNvSpPr>
          <p:nvPr/>
        </p:nvSpPr>
        <p:spPr>
          <a:xfrm>
            <a:off x="571049" y="1583871"/>
            <a:ext cx="17302163" cy="1403350"/>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60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目的</a:t>
            </a:r>
          </a:p>
        </p:txBody>
      </p:sp>
      <p:sp>
        <p:nvSpPr>
          <p:cNvPr id="38" name="テキスト プレースホルダー 27">
            <a:extLst>
              <a:ext uri="{FF2B5EF4-FFF2-40B4-BE49-F238E27FC236}">
                <a16:creationId xmlns:a16="http://schemas.microsoft.com/office/drawing/2014/main" id="{52FC6201-0015-374A-A9F7-4FCF0162EFE8}"/>
              </a:ext>
            </a:extLst>
          </p:cNvPr>
          <p:cNvSpPr txBox="1">
            <a:spLocks/>
          </p:cNvSpPr>
          <p:nvPr/>
        </p:nvSpPr>
        <p:spPr>
          <a:xfrm>
            <a:off x="1254486" y="2484733"/>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人間同士の交渉で生じる効果について調査</a:t>
            </a:r>
            <a:endParaRPr lang="en-US" altLang="ja-JP" dirty="0"/>
          </a:p>
        </p:txBody>
      </p:sp>
      <p:sp>
        <p:nvSpPr>
          <p:cNvPr id="57" name="三角形 56">
            <a:extLst>
              <a:ext uri="{FF2B5EF4-FFF2-40B4-BE49-F238E27FC236}">
                <a16:creationId xmlns:a16="http://schemas.microsoft.com/office/drawing/2014/main" id="{7F703886-4132-A74D-B009-F1827BE6F3C7}"/>
              </a:ext>
            </a:extLst>
          </p:cNvPr>
          <p:cNvSpPr/>
          <p:nvPr/>
        </p:nvSpPr>
        <p:spPr>
          <a:xfrm rot="5400000">
            <a:off x="1076238" y="3361776"/>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58" name="テキスト プレースホルダー 29">
            <a:extLst>
              <a:ext uri="{FF2B5EF4-FFF2-40B4-BE49-F238E27FC236}">
                <a16:creationId xmlns:a16="http://schemas.microsoft.com/office/drawing/2014/main" id="{E23E8662-C802-5F46-BB63-19816491BB27}"/>
              </a:ext>
            </a:extLst>
          </p:cNvPr>
          <p:cNvSpPr txBox="1">
            <a:spLocks/>
          </p:cNvSpPr>
          <p:nvPr/>
        </p:nvSpPr>
        <p:spPr>
          <a:xfrm>
            <a:off x="1457090" y="3246502"/>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Q1</a:t>
            </a:r>
            <a:r>
              <a:rPr lang="ja-JP" altLang="en-US"/>
              <a:t>：選好を明らかにするための戦略は人間の行動に影響を及ぼすか？</a:t>
            </a:r>
          </a:p>
        </p:txBody>
      </p:sp>
      <p:graphicFrame>
        <p:nvGraphicFramePr>
          <p:cNvPr id="11" name="表 10">
            <a:extLst>
              <a:ext uri="{FF2B5EF4-FFF2-40B4-BE49-F238E27FC236}">
                <a16:creationId xmlns:a16="http://schemas.microsoft.com/office/drawing/2014/main" id="{6E373CB3-2B2C-EF40-BE10-962D76FB06CB}"/>
              </a:ext>
            </a:extLst>
          </p:cNvPr>
          <p:cNvGraphicFramePr>
            <a:graphicFrameLocks noGrp="1"/>
          </p:cNvGraphicFramePr>
          <p:nvPr>
            <p:extLst/>
          </p:nvPr>
        </p:nvGraphicFramePr>
        <p:xfrm>
          <a:off x="5942504" y="10220928"/>
          <a:ext cx="6402992" cy="1920240"/>
        </p:xfrm>
        <a:graphic>
          <a:graphicData uri="http://schemas.openxmlformats.org/drawingml/2006/table">
            <a:tbl>
              <a:tblPr firstRow="1" firstCol="1" bandRow="1">
                <a:tableStyleId>{5C22544A-7EE6-4342-B048-85BDC9FD1C3A}</a:tableStyleId>
              </a:tblPr>
              <a:tblGrid>
                <a:gridCol w="1506992">
                  <a:extLst>
                    <a:ext uri="{9D8B030D-6E8A-4147-A177-3AD203B41FA5}">
                      <a16:colId xmlns:a16="http://schemas.microsoft.com/office/drawing/2014/main" val="1849738667"/>
                    </a:ext>
                  </a:extLst>
                </a:gridCol>
                <a:gridCol w="2448000">
                  <a:extLst>
                    <a:ext uri="{9D8B030D-6E8A-4147-A177-3AD203B41FA5}">
                      <a16:colId xmlns:a16="http://schemas.microsoft.com/office/drawing/2014/main" val="4083354713"/>
                    </a:ext>
                  </a:extLst>
                </a:gridCol>
                <a:gridCol w="2448000">
                  <a:extLst>
                    <a:ext uri="{9D8B030D-6E8A-4147-A177-3AD203B41FA5}">
                      <a16:colId xmlns:a16="http://schemas.microsoft.com/office/drawing/2014/main" val="4185519488"/>
                    </a:ext>
                  </a:extLst>
                </a:gridCol>
              </a:tblGrid>
              <a:tr h="370840">
                <a:tc>
                  <a:txBody>
                    <a:bodyPr/>
                    <a:lstStyle/>
                    <a:p>
                      <a:endParaRPr kumimoji="1" lang="ja-JP" altLang="en-US"/>
                    </a:p>
                  </a:txBody>
                  <a:tcPr/>
                </a:tc>
                <a:tc>
                  <a:txBody>
                    <a:bodyPr/>
                    <a:lstStyle/>
                    <a:p>
                      <a:r>
                        <a:rPr kumimoji="1" lang="en-US" altLang="ja-JP" dirty="0"/>
                        <a:t>Strategic</a:t>
                      </a:r>
                      <a:endParaRPr kumimoji="1" lang="ja-JP" altLang="en-US"/>
                    </a:p>
                  </a:txBody>
                  <a:tcPr/>
                </a:tc>
                <a:tc>
                  <a:txBody>
                    <a:bodyPr/>
                    <a:lstStyle/>
                    <a:p>
                      <a:r>
                        <a:rPr kumimoji="1" lang="en-US" altLang="ja-JP" dirty="0"/>
                        <a:t>Free</a:t>
                      </a:r>
                      <a:endParaRPr kumimoji="1" lang="ja-JP" altLang="en-US"/>
                    </a:p>
                  </a:txBody>
                  <a:tcPr/>
                </a:tc>
                <a:extLst>
                  <a:ext uri="{0D108BD9-81ED-4DB2-BD59-A6C34878D82A}">
                    <a16:rowId xmlns:a16="http://schemas.microsoft.com/office/drawing/2014/main" val="2469104469"/>
                  </a:ext>
                </a:extLst>
              </a:tr>
              <a:tr h="370840">
                <a:tc>
                  <a:txBody>
                    <a:bodyPr/>
                    <a:lstStyle/>
                    <a:p>
                      <a:r>
                        <a:rPr kumimoji="1" lang="en-US" altLang="ja-JP" dirty="0"/>
                        <a:t>Nice</a:t>
                      </a:r>
                      <a:endParaRPr kumimoji="1" lang="ja-JP" altLang="en-US"/>
                    </a:p>
                  </a:txBody>
                  <a:tcPr/>
                </a:tc>
                <a:tc>
                  <a:txBody>
                    <a:bodyPr/>
                    <a:lstStyle/>
                    <a:p>
                      <a:r>
                        <a:rPr kumimoji="1" lang="en-US" altLang="ja-JP" dirty="0"/>
                        <a:t>Merlin</a:t>
                      </a:r>
                      <a:endParaRPr kumimoji="1" lang="ja-JP" altLang="en-US"/>
                    </a:p>
                  </a:txBody>
                  <a:tcPr/>
                </a:tc>
                <a:tc>
                  <a:txBody>
                    <a:bodyPr/>
                    <a:lstStyle/>
                    <a:p>
                      <a:r>
                        <a:rPr kumimoji="1" lang="en-US" altLang="ja-JP" dirty="0"/>
                        <a:t>Pinocchio</a:t>
                      </a:r>
                      <a:endParaRPr kumimoji="1" lang="ja-JP" altLang="en-US"/>
                    </a:p>
                  </a:txBody>
                  <a:tcPr/>
                </a:tc>
                <a:extLst>
                  <a:ext uri="{0D108BD9-81ED-4DB2-BD59-A6C34878D82A}">
                    <a16:rowId xmlns:a16="http://schemas.microsoft.com/office/drawing/2014/main" val="666517701"/>
                  </a:ext>
                </a:extLst>
              </a:tr>
              <a:tr h="370840">
                <a:tc>
                  <a:txBody>
                    <a:bodyPr/>
                    <a:lstStyle/>
                    <a:p>
                      <a:r>
                        <a:rPr kumimoji="1" lang="en-US" altLang="ja-JP" dirty="0"/>
                        <a:t>Nasty</a:t>
                      </a:r>
                      <a:endParaRPr kumimoji="1" lang="ja-JP" altLang="en-US"/>
                    </a:p>
                  </a:txBody>
                  <a:tcPr/>
                </a:tc>
                <a:tc>
                  <a:txBody>
                    <a:bodyPr/>
                    <a:lstStyle/>
                    <a:p>
                      <a:r>
                        <a:rPr kumimoji="1" lang="en-US" altLang="ja-JP" dirty="0"/>
                        <a:t>Rumple</a:t>
                      </a:r>
                      <a:endParaRPr kumimoji="1" lang="ja-JP" altLang="en-US"/>
                    </a:p>
                  </a:txBody>
                  <a:tcPr/>
                </a:tc>
                <a:tc>
                  <a:txBody>
                    <a:bodyPr/>
                    <a:lstStyle/>
                    <a:p>
                      <a:r>
                        <a:rPr kumimoji="1" lang="en-US" altLang="ja-JP" dirty="0"/>
                        <a:t>Grumpy</a:t>
                      </a:r>
                      <a:endParaRPr kumimoji="1" lang="ja-JP" altLang="en-US"/>
                    </a:p>
                  </a:txBody>
                  <a:tcPr/>
                </a:tc>
                <a:extLst>
                  <a:ext uri="{0D108BD9-81ED-4DB2-BD59-A6C34878D82A}">
                    <a16:rowId xmlns:a16="http://schemas.microsoft.com/office/drawing/2014/main" val="3045131851"/>
                  </a:ext>
                </a:extLst>
              </a:tr>
            </a:tbl>
          </a:graphicData>
        </a:graphic>
      </p:graphicFrame>
      <p:sp>
        <p:nvSpPr>
          <p:cNvPr id="41" name="角丸四角形吹き出し 40">
            <a:extLst>
              <a:ext uri="{FF2B5EF4-FFF2-40B4-BE49-F238E27FC236}">
                <a16:creationId xmlns:a16="http://schemas.microsoft.com/office/drawing/2014/main" id="{78F29628-574B-584C-95E8-BCC49AB896BE}"/>
              </a:ext>
            </a:extLst>
          </p:cNvPr>
          <p:cNvSpPr/>
          <p:nvPr/>
        </p:nvSpPr>
        <p:spPr>
          <a:xfrm>
            <a:off x="9525072" y="8207321"/>
            <a:ext cx="4190928" cy="1442523"/>
          </a:xfrm>
          <a:prstGeom prst="wedgeRoundRectCallout">
            <a:avLst>
              <a:gd name="adj1" fmla="val -42507"/>
              <a:gd name="adj2" fmla="val 80970"/>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a:t>人間からの質問に対する対応</a:t>
            </a:r>
            <a:endParaRPr kumimoji="1" lang="en-US" altLang="ja-JP" dirty="0"/>
          </a:p>
        </p:txBody>
      </p:sp>
      <p:sp>
        <p:nvSpPr>
          <p:cNvPr id="43" name="角丸四角形吹き出し 42">
            <a:extLst>
              <a:ext uri="{FF2B5EF4-FFF2-40B4-BE49-F238E27FC236}">
                <a16:creationId xmlns:a16="http://schemas.microsoft.com/office/drawing/2014/main" id="{9C5CDFF6-B4AF-8643-AC52-227E8D512948}"/>
              </a:ext>
            </a:extLst>
          </p:cNvPr>
          <p:cNvSpPr/>
          <p:nvPr/>
        </p:nvSpPr>
        <p:spPr>
          <a:xfrm>
            <a:off x="1457090" y="10394264"/>
            <a:ext cx="3639733" cy="1442523"/>
          </a:xfrm>
          <a:prstGeom prst="wedgeRoundRectCallout">
            <a:avLst>
              <a:gd name="adj1" fmla="val 64444"/>
              <a:gd name="adj2" fmla="val 36598"/>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a:t>感情の出し方</a:t>
            </a:r>
            <a:endParaRPr kumimoji="1" lang="en-US" altLang="ja-JP" dirty="0"/>
          </a:p>
        </p:txBody>
      </p:sp>
      <p:sp>
        <p:nvSpPr>
          <p:cNvPr id="23" name="三角形 22">
            <a:extLst>
              <a:ext uri="{FF2B5EF4-FFF2-40B4-BE49-F238E27FC236}">
                <a16:creationId xmlns:a16="http://schemas.microsoft.com/office/drawing/2014/main" id="{71DA17BD-74F3-FE4A-96F4-94A9E3AA34CD}"/>
              </a:ext>
            </a:extLst>
          </p:cNvPr>
          <p:cNvSpPr/>
          <p:nvPr/>
        </p:nvSpPr>
        <p:spPr>
          <a:xfrm rot="5400000">
            <a:off x="1076238" y="4091341"/>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24" name="テキスト プレースホルダー 29">
            <a:extLst>
              <a:ext uri="{FF2B5EF4-FFF2-40B4-BE49-F238E27FC236}">
                <a16:creationId xmlns:a16="http://schemas.microsoft.com/office/drawing/2014/main" id="{F88BF725-1068-9F4A-9259-18950880151C}"/>
              </a:ext>
            </a:extLst>
          </p:cNvPr>
          <p:cNvSpPr txBox="1">
            <a:spLocks/>
          </p:cNvSpPr>
          <p:nvPr/>
        </p:nvSpPr>
        <p:spPr>
          <a:xfrm>
            <a:off x="1457090" y="3976067"/>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Q2</a:t>
            </a:r>
            <a:r>
              <a:rPr lang="ja-JP" altLang="en-US"/>
              <a:t>：選好を明らかにするための戦略は統合的交渉に影響を与えるか？</a:t>
            </a:r>
          </a:p>
        </p:txBody>
      </p:sp>
      <p:sp>
        <p:nvSpPr>
          <p:cNvPr id="26" name="三角形 25">
            <a:extLst>
              <a:ext uri="{FF2B5EF4-FFF2-40B4-BE49-F238E27FC236}">
                <a16:creationId xmlns:a16="http://schemas.microsoft.com/office/drawing/2014/main" id="{09C71C8C-E299-4C44-AEC0-7E2553B12794}"/>
              </a:ext>
            </a:extLst>
          </p:cNvPr>
          <p:cNvSpPr/>
          <p:nvPr/>
        </p:nvSpPr>
        <p:spPr>
          <a:xfrm rot="5400000">
            <a:off x="1064310" y="4818997"/>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27" name="テキスト プレースホルダー 29">
            <a:extLst>
              <a:ext uri="{FF2B5EF4-FFF2-40B4-BE49-F238E27FC236}">
                <a16:creationId xmlns:a16="http://schemas.microsoft.com/office/drawing/2014/main" id="{60889405-9F38-6B4A-A3E0-E372A4D1BBEE}"/>
              </a:ext>
            </a:extLst>
          </p:cNvPr>
          <p:cNvSpPr txBox="1">
            <a:spLocks/>
          </p:cNvSpPr>
          <p:nvPr/>
        </p:nvSpPr>
        <p:spPr>
          <a:xfrm>
            <a:off x="1445162" y="4703723"/>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Q3</a:t>
            </a:r>
            <a:r>
              <a:rPr lang="ja-JP" altLang="en-US"/>
              <a:t>：積極的な行動は相手を譲歩させるのか？</a:t>
            </a:r>
          </a:p>
        </p:txBody>
      </p:sp>
      <p:grpSp>
        <p:nvGrpSpPr>
          <p:cNvPr id="28" name="グループ化 27">
            <a:extLst>
              <a:ext uri="{FF2B5EF4-FFF2-40B4-BE49-F238E27FC236}">
                <a16:creationId xmlns:a16="http://schemas.microsoft.com/office/drawing/2014/main" id="{0C2D99A1-A391-B34D-B51D-2646448B5EE0}"/>
              </a:ext>
            </a:extLst>
          </p:cNvPr>
          <p:cNvGrpSpPr/>
          <p:nvPr/>
        </p:nvGrpSpPr>
        <p:grpSpPr>
          <a:xfrm>
            <a:off x="617232" y="5532687"/>
            <a:ext cx="539448" cy="487368"/>
            <a:chOff x="400056" y="1061560"/>
            <a:chExt cx="269724" cy="243684"/>
          </a:xfrm>
        </p:grpSpPr>
        <p:sp>
          <p:nvSpPr>
            <p:cNvPr id="29" name="三角形 28">
              <a:extLst>
                <a:ext uri="{FF2B5EF4-FFF2-40B4-BE49-F238E27FC236}">
                  <a16:creationId xmlns:a16="http://schemas.microsoft.com/office/drawing/2014/main" id="{71EBF793-5064-E34A-9387-1426F995A3B3}"/>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30" name="三角形 29">
              <a:extLst>
                <a:ext uri="{FF2B5EF4-FFF2-40B4-BE49-F238E27FC236}">
                  <a16:creationId xmlns:a16="http://schemas.microsoft.com/office/drawing/2014/main" id="{5D106750-2C77-6545-AB79-4AEB07AD03A4}"/>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39" name="テキスト プレースホルダー 27">
            <a:extLst>
              <a:ext uri="{FF2B5EF4-FFF2-40B4-BE49-F238E27FC236}">
                <a16:creationId xmlns:a16="http://schemas.microsoft.com/office/drawing/2014/main" id="{E90FC0FA-6B43-C040-A5F9-B0941E894243}"/>
              </a:ext>
            </a:extLst>
          </p:cNvPr>
          <p:cNvSpPr txBox="1">
            <a:spLocks/>
          </p:cNvSpPr>
          <p:nvPr/>
        </p:nvSpPr>
        <p:spPr>
          <a:xfrm>
            <a:off x="1254486" y="5460062"/>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IAGO</a:t>
            </a:r>
            <a:r>
              <a:rPr lang="ja-JP" altLang="en-US"/>
              <a:t>がプラットフォームとして機能することを実証</a:t>
            </a:r>
            <a:endParaRPr lang="en-US" altLang="ja-JP" dirty="0"/>
          </a:p>
        </p:txBody>
      </p:sp>
    </p:spTree>
    <p:extLst>
      <p:ext uri="{BB962C8B-B14F-4D97-AF65-F5344CB8AC3E}">
        <p14:creationId xmlns:p14="http://schemas.microsoft.com/office/powerpoint/2010/main" val="29687668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3520CDD-7107-D140-A1A0-69D0D69B10F3}"/>
              </a:ext>
            </a:extLst>
          </p:cNvPr>
          <p:cNvSpPr>
            <a:spLocks noGrp="1"/>
          </p:cNvSpPr>
          <p:nvPr>
            <p:ph type="dt" sz="half" idx="10"/>
          </p:nvPr>
        </p:nvSpPr>
        <p:spPr/>
        <p:txBody>
          <a:bodyPr/>
          <a:lstStyle/>
          <a:p>
            <a:fld id="{35974365-84F6-754A-A339-DA79FFD42E98}" type="datetime1">
              <a:rPr lang="ja-JP" altLang="en-US" smtClean="0"/>
              <a:t>2018/6/9</a:t>
            </a:fld>
            <a:endParaRPr lang="ja-JP" altLang="en-US"/>
          </a:p>
        </p:txBody>
      </p:sp>
      <p:sp>
        <p:nvSpPr>
          <p:cNvPr id="3" name="フッター プレースホルダー 2">
            <a:extLst>
              <a:ext uri="{FF2B5EF4-FFF2-40B4-BE49-F238E27FC236}">
                <a16:creationId xmlns:a16="http://schemas.microsoft.com/office/drawing/2014/main" id="{6EEFBA0C-3454-8D4D-87CE-5BA9ED8AFBE5}"/>
              </a:ext>
            </a:extLst>
          </p:cNvPr>
          <p:cNvSpPr>
            <a:spLocks noGrp="1"/>
          </p:cNvSpPr>
          <p:nvPr>
            <p:ph type="ftr" sz="quarter" idx="11"/>
          </p:nvPr>
        </p:nvSpPr>
        <p:spPr/>
        <p:txBody>
          <a:bodyPr/>
          <a:lstStyle/>
          <a:p>
            <a:r>
              <a:rPr lang="ja-JP" altLang="en-US"/>
              <a:t>進捗報告</a:t>
            </a:r>
            <a:r>
              <a:rPr lang="en-US" altLang="ja-JP"/>
              <a:t>(2018.06.06)</a:t>
            </a:r>
            <a:endParaRPr lang="ja-JP" altLang="en-US"/>
          </a:p>
        </p:txBody>
      </p:sp>
      <p:sp>
        <p:nvSpPr>
          <p:cNvPr id="4" name="スライド番号プレースホルダー 3">
            <a:extLst>
              <a:ext uri="{FF2B5EF4-FFF2-40B4-BE49-F238E27FC236}">
                <a16:creationId xmlns:a16="http://schemas.microsoft.com/office/drawing/2014/main" id="{5D405AD0-9091-A94B-BA67-32995AD15B35}"/>
              </a:ext>
            </a:extLst>
          </p:cNvPr>
          <p:cNvSpPr>
            <a:spLocks noGrp="1"/>
          </p:cNvSpPr>
          <p:nvPr>
            <p:ph type="sldNum" sz="quarter" idx="12"/>
          </p:nvPr>
        </p:nvSpPr>
        <p:spPr/>
        <p:txBody>
          <a:bodyPr/>
          <a:lstStyle/>
          <a:p>
            <a:fld id="{89242BC1-393D-1248-985B-18DA624F2964}" type="slidenum">
              <a:rPr lang="ja-JP" altLang="en-US" smtClean="0"/>
              <a:pPr/>
              <a:t>6</a:t>
            </a:fld>
            <a:endParaRPr lang="ja-JP" altLang="en-US"/>
          </a:p>
        </p:txBody>
      </p:sp>
      <p:sp>
        <p:nvSpPr>
          <p:cNvPr id="5" name="テキスト プレースホルダー 4">
            <a:extLst>
              <a:ext uri="{FF2B5EF4-FFF2-40B4-BE49-F238E27FC236}">
                <a16:creationId xmlns:a16="http://schemas.microsoft.com/office/drawing/2014/main" id="{26DD2A8D-F804-D546-B77D-9693A67C3E0B}"/>
              </a:ext>
            </a:extLst>
          </p:cNvPr>
          <p:cNvSpPr>
            <a:spLocks noGrp="1"/>
          </p:cNvSpPr>
          <p:nvPr>
            <p:ph type="body" sz="quarter" idx="14"/>
          </p:nvPr>
        </p:nvSpPr>
        <p:spPr/>
        <p:txBody>
          <a:bodyPr/>
          <a:lstStyle/>
          <a:p>
            <a:r>
              <a:rPr kumimoji="1" lang="ja-JP" altLang="en-US"/>
              <a:t>実験</a:t>
            </a:r>
          </a:p>
        </p:txBody>
      </p:sp>
      <p:sp>
        <p:nvSpPr>
          <p:cNvPr id="6" name="テキスト プレースホルダー 5">
            <a:extLst>
              <a:ext uri="{FF2B5EF4-FFF2-40B4-BE49-F238E27FC236}">
                <a16:creationId xmlns:a16="http://schemas.microsoft.com/office/drawing/2014/main" id="{18F5D246-4675-9D44-B96B-BEDD6F01EDA7}"/>
              </a:ext>
            </a:extLst>
          </p:cNvPr>
          <p:cNvSpPr>
            <a:spLocks noGrp="1"/>
          </p:cNvSpPr>
          <p:nvPr>
            <p:ph type="body" sz="quarter" idx="13"/>
          </p:nvPr>
        </p:nvSpPr>
        <p:spPr/>
        <p:txBody>
          <a:bodyPr/>
          <a:lstStyle/>
          <a:p>
            <a:r>
              <a:rPr lang="en-US" altLang="ja-JP" dirty="0"/>
              <a:t>2</a:t>
            </a:r>
            <a:endParaRPr kumimoji="1" lang="ja-JP" altLang="en-US"/>
          </a:p>
        </p:txBody>
      </p:sp>
      <p:grpSp>
        <p:nvGrpSpPr>
          <p:cNvPr id="31" name="グループ化 30">
            <a:extLst>
              <a:ext uri="{FF2B5EF4-FFF2-40B4-BE49-F238E27FC236}">
                <a16:creationId xmlns:a16="http://schemas.microsoft.com/office/drawing/2014/main" id="{FD81DDC5-24B5-F24B-8DCA-6543CEE8DC81}"/>
              </a:ext>
            </a:extLst>
          </p:cNvPr>
          <p:cNvGrpSpPr/>
          <p:nvPr/>
        </p:nvGrpSpPr>
        <p:grpSpPr>
          <a:xfrm>
            <a:off x="289330" y="1413298"/>
            <a:ext cx="2160000" cy="934436"/>
            <a:chOff x="144665" y="525617"/>
            <a:chExt cx="1080000" cy="467218"/>
          </a:xfrm>
        </p:grpSpPr>
        <p:sp>
          <p:nvSpPr>
            <p:cNvPr id="32" name="正方形/長方形 31">
              <a:extLst>
                <a:ext uri="{FF2B5EF4-FFF2-40B4-BE49-F238E27FC236}">
                  <a16:creationId xmlns:a16="http://schemas.microsoft.com/office/drawing/2014/main" id="{073638CC-28A2-E943-AD34-548A0C227633}"/>
                </a:ext>
              </a:extLst>
            </p:cNvPr>
            <p:cNvSpPr/>
            <p:nvPr userDrawn="1"/>
          </p:nvSpPr>
          <p:spPr>
            <a:xfrm>
              <a:off x="145524" y="542424"/>
              <a:ext cx="91081" cy="450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sp>
          <p:nvSpPr>
            <p:cNvPr id="33" name="正方形/長方形 32">
              <a:extLst>
                <a:ext uri="{FF2B5EF4-FFF2-40B4-BE49-F238E27FC236}">
                  <a16:creationId xmlns:a16="http://schemas.microsoft.com/office/drawing/2014/main" id="{89C51296-914D-A74C-889D-A570C54F6A57}"/>
                </a:ext>
              </a:extLst>
            </p:cNvPr>
            <p:cNvSpPr/>
            <p:nvPr userDrawn="1"/>
          </p:nvSpPr>
          <p:spPr>
            <a:xfrm>
              <a:off x="144665" y="525617"/>
              <a:ext cx="1080000" cy="161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grpSp>
      <p:grpSp>
        <p:nvGrpSpPr>
          <p:cNvPr id="34" name="グループ化 33">
            <a:extLst>
              <a:ext uri="{FF2B5EF4-FFF2-40B4-BE49-F238E27FC236}">
                <a16:creationId xmlns:a16="http://schemas.microsoft.com/office/drawing/2014/main" id="{FC0C993D-26F8-9648-8C42-6E3A827F97DE}"/>
              </a:ext>
            </a:extLst>
          </p:cNvPr>
          <p:cNvGrpSpPr/>
          <p:nvPr/>
        </p:nvGrpSpPr>
        <p:grpSpPr>
          <a:xfrm>
            <a:off x="617232" y="2557358"/>
            <a:ext cx="539448" cy="487368"/>
            <a:chOff x="400056" y="1061560"/>
            <a:chExt cx="269724" cy="243684"/>
          </a:xfrm>
        </p:grpSpPr>
        <p:sp>
          <p:nvSpPr>
            <p:cNvPr id="35" name="三角形 34">
              <a:extLst>
                <a:ext uri="{FF2B5EF4-FFF2-40B4-BE49-F238E27FC236}">
                  <a16:creationId xmlns:a16="http://schemas.microsoft.com/office/drawing/2014/main" id="{21EC1BB2-1EA3-DB45-83ED-42197AA1F0E3}"/>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36" name="三角形 35">
              <a:extLst>
                <a:ext uri="{FF2B5EF4-FFF2-40B4-BE49-F238E27FC236}">
                  <a16:creationId xmlns:a16="http://schemas.microsoft.com/office/drawing/2014/main" id="{92822503-D36D-7644-A490-99EB8A1079E7}"/>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37" name="テキスト プレースホルダー 30">
            <a:extLst>
              <a:ext uri="{FF2B5EF4-FFF2-40B4-BE49-F238E27FC236}">
                <a16:creationId xmlns:a16="http://schemas.microsoft.com/office/drawing/2014/main" id="{A73B3907-668E-1A41-B5F4-6D46EA930E91}"/>
              </a:ext>
            </a:extLst>
          </p:cNvPr>
          <p:cNvSpPr txBox="1">
            <a:spLocks/>
          </p:cNvSpPr>
          <p:nvPr/>
        </p:nvSpPr>
        <p:spPr>
          <a:xfrm>
            <a:off x="571049" y="1583871"/>
            <a:ext cx="17302163" cy="1403350"/>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60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目的</a:t>
            </a:r>
          </a:p>
        </p:txBody>
      </p:sp>
      <p:sp>
        <p:nvSpPr>
          <p:cNvPr id="38" name="テキスト プレースホルダー 27">
            <a:extLst>
              <a:ext uri="{FF2B5EF4-FFF2-40B4-BE49-F238E27FC236}">
                <a16:creationId xmlns:a16="http://schemas.microsoft.com/office/drawing/2014/main" id="{52FC6201-0015-374A-A9F7-4FCF0162EFE8}"/>
              </a:ext>
            </a:extLst>
          </p:cNvPr>
          <p:cNvSpPr txBox="1">
            <a:spLocks/>
          </p:cNvSpPr>
          <p:nvPr/>
        </p:nvSpPr>
        <p:spPr>
          <a:xfrm>
            <a:off x="1254486" y="2484733"/>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人間同士の交渉で生じる効果について調査</a:t>
            </a:r>
            <a:endParaRPr lang="en-US" altLang="ja-JP" dirty="0"/>
          </a:p>
        </p:txBody>
      </p:sp>
      <p:sp>
        <p:nvSpPr>
          <p:cNvPr id="57" name="三角形 56">
            <a:extLst>
              <a:ext uri="{FF2B5EF4-FFF2-40B4-BE49-F238E27FC236}">
                <a16:creationId xmlns:a16="http://schemas.microsoft.com/office/drawing/2014/main" id="{7F703886-4132-A74D-B009-F1827BE6F3C7}"/>
              </a:ext>
            </a:extLst>
          </p:cNvPr>
          <p:cNvSpPr/>
          <p:nvPr/>
        </p:nvSpPr>
        <p:spPr>
          <a:xfrm rot="5400000">
            <a:off x="1076238" y="3361776"/>
            <a:ext cx="480900" cy="320016"/>
          </a:xfrm>
          <a:prstGeom prst="triangl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23" name="三角形 22">
            <a:extLst>
              <a:ext uri="{FF2B5EF4-FFF2-40B4-BE49-F238E27FC236}">
                <a16:creationId xmlns:a16="http://schemas.microsoft.com/office/drawing/2014/main" id="{71DA17BD-74F3-FE4A-96F4-94A9E3AA34CD}"/>
              </a:ext>
            </a:extLst>
          </p:cNvPr>
          <p:cNvSpPr/>
          <p:nvPr/>
        </p:nvSpPr>
        <p:spPr>
          <a:xfrm rot="5400000">
            <a:off x="1076238" y="4091341"/>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26" name="三角形 25">
            <a:extLst>
              <a:ext uri="{FF2B5EF4-FFF2-40B4-BE49-F238E27FC236}">
                <a16:creationId xmlns:a16="http://schemas.microsoft.com/office/drawing/2014/main" id="{09C71C8C-E299-4C44-AEC0-7E2553B12794}"/>
              </a:ext>
            </a:extLst>
          </p:cNvPr>
          <p:cNvSpPr/>
          <p:nvPr/>
        </p:nvSpPr>
        <p:spPr>
          <a:xfrm rot="5400000">
            <a:off x="1064310" y="4818997"/>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nvGrpSpPr>
          <p:cNvPr id="28" name="グループ化 27">
            <a:extLst>
              <a:ext uri="{FF2B5EF4-FFF2-40B4-BE49-F238E27FC236}">
                <a16:creationId xmlns:a16="http://schemas.microsoft.com/office/drawing/2014/main" id="{0C2D99A1-A391-B34D-B51D-2646448B5EE0}"/>
              </a:ext>
            </a:extLst>
          </p:cNvPr>
          <p:cNvGrpSpPr/>
          <p:nvPr/>
        </p:nvGrpSpPr>
        <p:grpSpPr>
          <a:xfrm>
            <a:off x="617232" y="5532687"/>
            <a:ext cx="539448" cy="487368"/>
            <a:chOff x="400056" y="1061560"/>
            <a:chExt cx="269724" cy="243684"/>
          </a:xfrm>
        </p:grpSpPr>
        <p:sp>
          <p:nvSpPr>
            <p:cNvPr id="29" name="三角形 28">
              <a:extLst>
                <a:ext uri="{FF2B5EF4-FFF2-40B4-BE49-F238E27FC236}">
                  <a16:creationId xmlns:a16="http://schemas.microsoft.com/office/drawing/2014/main" id="{71EBF793-5064-E34A-9387-1426F995A3B3}"/>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30" name="三角形 29">
              <a:extLst>
                <a:ext uri="{FF2B5EF4-FFF2-40B4-BE49-F238E27FC236}">
                  <a16:creationId xmlns:a16="http://schemas.microsoft.com/office/drawing/2014/main" id="{5D106750-2C77-6545-AB79-4AEB07AD03A4}"/>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39" name="テキスト プレースホルダー 27">
            <a:extLst>
              <a:ext uri="{FF2B5EF4-FFF2-40B4-BE49-F238E27FC236}">
                <a16:creationId xmlns:a16="http://schemas.microsoft.com/office/drawing/2014/main" id="{E90FC0FA-6B43-C040-A5F9-B0941E894243}"/>
              </a:ext>
            </a:extLst>
          </p:cNvPr>
          <p:cNvSpPr txBox="1">
            <a:spLocks/>
          </p:cNvSpPr>
          <p:nvPr/>
        </p:nvSpPr>
        <p:spPr>
          <a:xfrm>
            <a:off x="1254486" y="5460062"/>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IAGO</a:t>
            </a:r>
            <a:r>
              <a:rPr lang="ja-JP" altLang="en-US"/>
              <a:t>がプラットフォームとして機能することを実証</a:t>
            </a:r>
            <a:endParaRPr lang="en-US" altLang="ja-JP" dirty="0"/>
          </a:p>
        </p:txBody>
      </p:sp>
      <p:grpSp>
        <p:nvGrpSpPr>
          <p:cNvPr id="67" name="グループ化 66">
            <a:extLst>
              <a:ext uri="{FF2B5EF4-FFF2-40B4-BE49-F238E27FC236}">
                <a16:creationId xmlns:a16="http://schemas.microsoft.com/office/drawing/2014/main" id="{A0B0B948-B195-AC4D-B168-98866B40158E}"/>
              </a:ext>
            </a:extLst>
          </p:cNvPr>
          <p:cNvGrpSpPr/>
          <p:nvPr/>
        </p:nvGrpSpPr>
        <p:grpSpPr>
          <a:xfrm>
            <a:off x="3216825" y="7319687"/>
            <a:ext cx="11854350" cy="5984041"/>
            <a:chOff x="3216825" y="7319687"/>
            <a:chExt cx="11854350" cy="5984041"/>
          </a:xfrm>
        </p:grpSpPr>
        <p:grpSp>
          <p:nvGrpSpPr>
            <p:cNvPr id="68" name="グループ化 67">
              <a:extLst>
                <a:ext uri="{FF2B5EF4-FFF2-40B4-BE49-F238E27FC236}">
                  <a16:creationId xmlns:a16="http://schemas.microsoft.com/office/drawing/2014/main" id="{6270B360-E0B4-4547-AB11-5A79E4712EF7}"/>
                </a:ext>
              </a:extLst>
            </p:cNvPr>
            <p:cNvGrpSpPr/>
            <p:nvPr/>
          </p:nvGrpSpPr>
          <p:grpSpPr>
            <a:xfrm>
              <a:off x="3216825" y="10402558"/>
              <a:ext cx="11854350" cy="2901170"/>
              <a:chOff x="2226339" y="9389213"/>
              <a:chExt cx="11854350" cy="2901170"/>
            </a:xfrm>
          </p:grpSpPr>
          <p:sp>
            <p:nvSpPr>
              <p:cNvPr id="78" name="テキスト ボックス 77">
                <a:extLst>
                  <a:ext uri="{FF2B5EF4-FFF2-40B4-BE49-F238E27FC236}">
                    <a16:creationId xmlns:a16="http://schemas.microsoft.com/office/drawing/2014/main" id="{39DE7876-2053-874D-8520-D3E961A49E11}"/>
                  </a:ext>
                </a:extLst>
              </p:cNvPr>
              <p:cNvSpPr txBox="1"/>
              <p:nvPr/>
            </p:nvSpPr>
            <p:spPr>
              <a:xfrm>
                <a:off x="5900499" y="11644052"/>
                <a:ext cx="4506031" cy="646331"/>
              </a:xfrm>
              <a:prstGeom prst="rect">
                <a:avLst/>
              </a:prstGeom>
              <a:noFill/>
            </p:spPr>
            <p:txBody>
              <a:bodyPr wrap="square" rtlCol="0">
                <a:spAutoFit/>
              </a:bodyPr>
              <a:lstStyle/>
              <a:p>
                <a:pPr algn="ctr"/>
                <a:r>
                  <a:rPr lang="ja-JP" altLang="en-US"/>
                  <a:t>交渉内容</a:t>
                </a:r>
                <a:endParaRPr kumimoji="1" lang="ja-JP" altLang="en-US"/>
              </a:p>
            </p:txBody>
          </p:sp>
          <p:grpSp>
            <p:nvGrpSpPr>
              <p:cNvPr id="79" name="グループ化 78">
                <a:extLst>
                  <a:ext uri="{FF2B5EF4-FFF2-40B4-BE49-F238E27FC236}">
                    <a16:creationId xmlns:a16="http://schemas.microsoft.com/office/drawing/2014/main" id="{F5F8DBED-C05C-A640-97DB-00C0BF9AD9ED}"/>
                  </a:ext>
                </a:extLst>
              </p:cNvPr>
              <p:cNvGrpSpPr/>
              <p:nvPr/>
            </p:nvGrpSpPr>
            <p:grpSpPr>
              <a:xfrm>
                <a:off x="2226339" y="9389213"/>
                <a:ext cx="11854350" cy="2010101"/>
                <a:chOff x="3821592" y="9287685"/>
                <a:chExt cx="11854350" cy="2010101"/>
              </a:xfrm>
            </p:grpSpPr>
            <p:pic>
              <p:nvPicPr>
                <p:cNvPr id="80" name="グラフィックス 79" descr="Pasta">
                  <a:extLst>
                    <a:ext uri="{FF2B5EF4-FFF2-40B4-BE49-F238E27FC236}">
                      <a16:creationId xmlns:a16="http://schemas.microsoft.com/office/drawing/2014/main" id="{99CC76F2-BB8D-7740-BB98-34724E09CEA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18892" y="9287685"/>
                  <a:ext cx="1956819" cy="1956819"/>
                </a:xfrm>
                <a:prstGeom prst="rect">
                  <a:avLst/>
                </a:prstGeom>
              </p:spPr>
            </p:pic>
            <p:pic>
              <p:nvPicPr>
                <p:cNvPr id="81" name="グラフィックス 80" descr="Pizza">
                  <a:extLst>
                    <a:ext uri="{FF2B5EF4-FFF2-40B4-BE49-F238E27FC236}">
                      <a16:creationId xmlns:a16="http://schemas.microsoft.com/office/drawing/2014/main" id="{CD107B53-F2B5-B247-83F5-4A00C16AFA0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120242" y="9340967"/>
                  <a:ext cx="1956819" cy="1956819"/>
                </a:xfrm>
                <a:prstGeom prst="rect">
                  <a:avLst/>
                </a:prstGeom>
              </p:spPr>
            </p:pic>
            <p:pic>
              <p:nvPicPr>
                <p:cNvPr id="82" name="グラフィックス 81" descr="CakeSlice">
                  <a:extLst>
                    <a:ext uri="{FF2B5EF4-FFF2-40B4-BE49-F238E27FC236}">
                      <a16:creationId xmlns:a16="http://schemas.microsoft.com/office/drawing/2014/main" id="{9A7FAEFB-F4AF-9343-ADC3-9F9640750A1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821592" y="9334846"/>
                  <a:ext cx="1956819" cy="1956819"/>
                </a:xfrm>
                <a:prstGeom prst="rect">
                  <a:avLst/>
                </a:prstGeom>
              </p:spPr>
            </p:pic>
            <p:pic>
              <p:nvPicPr>
                <p:cNvPr id="83" name="グラフィックス 82" descr="Donut">
                  <a:extLst>
                    <a:ext uri="{FF2B5EF4-FFF2-40B4-BE49-F238E27FC236}">
                      <a16:creationId xmlns:a16="http://schemas.microsoft.com/office/drawing/2014/main" id="{2E0B2D88-C671-A640-94CC-C7232546148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3717542" y="9333265"/>
                  <a:ext cx="1958400" cy="1958400"/>
                </a:xfrm>
                <a:prstGeom prst="rect">
                  <a:avLst/>
                </a:prstGeom>
              </p:spPr>
            </p:pic>
          </p:grpSp>
        </p:grpSp>
        <p:grpSp>
          <p:nvGrpSpPr>
            <p:cNvPr id="69" name="グループ化 68">
              <a:extLst>
                <a:ext uri="{FF2B5EF4-FFF2-40B4-BE49-F238E27FC236}">
                  <a16:creationId xmlns:a16="http://schemas.microsoft.com/office/drawing/2014/main" id="{872B814F-AF8D-8646-8385-25D03A70E86C}"/>
                </a:ext>
              </a:extLst>
            </p:cNvPr>
            <p:cNvGrpSpPr/>
            <p:nvPr/>
          </p:nvGrpSpPr>
          <p:grpSpPr>
            <a:xfrm>
              <a:off x="4892225" y="7319687"/>
              <a:ext cx="8392160" cy="2292139"/>
              <a:chOff x="4892225" y="7319687"/>
              <a:chExt cx="8392160" cy="2292139"/>
            </a:xfrm>
          </p:grpSpPr>
          <p:grpSp>
            <p:nvGrpSpPr>
              <p:cNvPr id="70" name="グループ化 69">
                <a:extLst>
                  <a:ext uri="{FF2B5EF4-FFF2-40B4-BE49-F238E27FC236}">
                    <a16:creationId xmlns:a16="http://schemas.microsoft.com/office/drawing/2014/main" id="{767AE811-29C3-4E40-A519-572E28E52ABD}"/>
                  </a:ext>
                </a:extLst>
              </p:cNvPr>
              <p:cNvGrpSpPr/>
              <p:nvPr/>
            </p:nvGrpSpPr>
            <p:grpSpPr>
              <a:xfrm>
                <a:off x="7393547" y="7319687"/>
                <a:ext cx="5890838" cy="2243000"/>
                <a:chOff x="7393547" y="7319687"/>
                <a:chExt cx="5890838" cy="2243000"/>
              </a:xfrm>
            </p:grpSpPr>
            <p:sp>
              <p:nvSpPr>
                <p:cNvPr id="74" name="右矢印 73">
                  <a:extLst>
                    <a:ext uri="{FF2B5EF4-FFF2-40B4-BE49-F238E27FC236}">
                      <a16:creationId xmlns:a16="http://schemas.microsoft.com/office/drawing/2014/main" id="{D58494FF-FA7C-AE4C-9FCE-CFC76C71AE8B}"/>
                    </a:ext>
                  </a:extLst>
                </p:cNvPr>
                <p:cNvSpPr/>
                <p:nvPr/>
              </p:nvSpPr>
              <p:spPr>
                <a:xfrm>
                  <a:off x="7393547" y="8672370"/>
                  <a:ext cx="3429000" cy="371475"/>
                </a:xfrm>
                <a:prstGeom prst="rightArrow">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sp>
              <p:nvSpPr>
                <p:cNvPr id="75" name="スマイル 74">
                  <a:extLst>
                    <a:ext uri="{FF2B5EF4-FFF2-40B4-BE49-F238E27FC236}">
                      <a16:creationId xmlns:a16="http://schemas.microsoft.com/office/drawing/2014/main" id="{D2EEE5BE-9FEE-CD4D-BDCC-6867178058F1}"/>
                    </a:ext>
                  </a:extLst>
                </p:cNvPr>
                <p:cNvSpPr/>
                <p:nvPr/>
              </p:nvSpPr>
              <p:spPr>
                <a:xfrm>
                  <a:off x="11627601" y="8055251"/>
                  <a:ext cx="1656784" cy="1507436"/>
                </a:xfrm>
                <a:prstGeom prst="smileyFac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6" name="テキスト ボックス 75">
                  <a:extLst>
                    <a:ext uri="{FF2B5EF4-FFF2-40B4-BE49-F238E27FC236}">
                      <a16:creationId xmlns:a16="http://schemas.microsoft.com/office/drawing/2014/main" id="{6DABBA91-6C25-2B47-BFEF-FA23EB3FA687}"/>
                    </a:ext>
                  </a:extLst>
                </p:cNvPr>
                <p:cNvSpPr txBox="1"/>
                <p:nvPr/>
              </p:nvSpPr>
              <p:spPr>
                <a:xfrm>
                  <a:off x="11548631" y="7319687"/>
                  <a:ext cx="1735754" cy="646331"/>
                </a:xfrm>
                <a:prstGeom prst="rect">
                  <a:avLst/>
                </a:prstGeom>
                <a:noFill/>
              </p:spPr>
              <p:txBody>
                <a:bodyPr wrap="square" rtlCol="0">
                  <a:spAutoFit/>
                </a:bodyPr>
                <a:lstStyle/>
                <a:p>
                  <a:pPr algn="ctr"/>
                  <a:r>
                    <a:rPr lang="en-US" altLang="ja-JP" dirty="0"/>
                    <a:t>human</a:t>
                  </a:r>
                  <a:endParaRPr kumimoji="1" lang="ja-JP" altLang="en-US"/>
                </a:p>
              </p:txBody>
            </p:sp>
          </p:grpSp>
          <p:sp>
            <p:nvSpPr>
              <p:cNvPr id="71" name="スマイル 70">
                <a:extLst>
                  <a:ext uri="{FF2B5EF4-FFF2-40B4-BE49-F238E27FC236}">
                    <a16:creationId xmlns:a16="http://schemas.microsoft.com/office/drawing/2014/main" id="{2EC0D37C-B956-BD4C-96BD-FAB37D8CCF01}"/>
                  </a:ext>
                </a:extLst>
              </p:cNvPr>
              <p:cNvSpPr/>
              <p:nvPr/>
            </p:nvSpPr>
            <p:spPr>
              <a:xfrm>
                <a:off x="4931710" y="8104390"/>
                <a:ext cx="1656784" cy="1507436"/>
              </a:xfrm>
              <a:prstGeom prst="smileyFac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テキスト ボックス 71">
                <a:extLst>
                  <a:ext uri="{FF2B5EF4-FFF2-40B4-BE49-F238E27FC236}">
                    <a16:creationId xmlns:a16="http://schemas.microsoft.com/office/drawing/2014/main" id="{B73E9CF9-95EC-FC4D-BED2-D96653921001}"/>
                  </a:ext>
                </a:extLst>
              </p:cNvPr>
              <p:cNvSpPr txBox="1"/>
              <p:nvPr/>
            </p:nvSpPr>
            <p:spPr>
              <a:xfrm>
                <a:off x="4892225" y="7434944"/>
                <a:ext cx="1735754" cy="646331"/>
              </a:xfrm>
              <a:prstGeom prst="rect">
                <a:avLst/>
              </a:prstGeom>
              <a:noFill/>
            </p:spPr>
            <p:txBody>
              <a:bodyPr wrap="square" rtlCol="0">
                <a:spAutoFit/>
              </a:bodyPr>
              <a:lstStyle/>
              <a:p>
                <a:pPr algn="ctr"/>
                <a:r>
                  <a:rPr kumimoji="1" lang="en-US" altLang="ja-JP" dirty="0"/>
                  <a:t>agent</a:t>
                </a:r>
                <a:endParaRPr kumimoji="1" lang="ja-JP" altLang="en-US"/>
              </a:p>
            </p:txBody>
          </p:sp>
        </p:grpSp>
      </p:grpSp>
      <p:sp>
        <p:nvSpPr>
          <p:cNvPr id="84" name="テキスト プレースホルダー 29">
            <a:extLst>
              <a:ext uri="{FF2B5EF4-FFF2-40B4-BE49-F238E27FC236}">
                <a16:creationId xmlns:a16="http://schemas.microsoft.com/office/drawing/2014/main" id="{19F75963-FBE9-F84B-AC0C-EEE55E628B97}"/>
              </a:ext>
            </a:extLst>
          </p:cNvPr>
          <p:cNvSpPr txBox="1">
            <a:spLocks/>
          </p:cNvSpPr>
          <p:nvPr/>
        </p:nvSpPr>
        <p:spPr>
          <a:xfrm>
            <a:off x="1457090" y="3246502"/>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Q1</a:t>
            </a:r>
            <a:r>
              <a:rPr lang="ja-JP" altLang="en-US"/>
              <a:t>：選好を明らかにするための戦略は人間の行動に影響を及ぼすか？</a:t>
            </a:r>
          </a:p>
        </p:txBody>
      </p:sp>
      <p:sp>
        <p:nvSpPr>
          <p:cNvPr id="85" name="テキスト プレースホルダー 29">
            <a:extLst>
              <a:ext uri="{FF2B5EF4-FFF2-40B4-BE49-F238E27FC236}">
                <a16:creationId xmlns:a16="http://schemas.microsoft.com/office/drawing/2014/main" id="{20CE951B-7F66-7D4D-9538-B8EC240262A8}"/>
              </a:ext>
            </a:extLst>
          </p:cNvPr>
          <p:cNvSpPr txBox="1">
            <a:spLocks/>
          </p:cNvSpPr>
          <p:nvPr/>
        </p:nvSpPr>
        <p:spPr>
          <a:xfrm>
            <a:off x="1457090" y="3976067"/>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Q2</a:t>
            </a:r>
            <a:r>
              <a:rPr lang="ja-JP" altLang="en-US"/>
              <a:t>：選好を明らかにするための戦略は統合的交渉に影響を与えるか？</a:t>
            </a:r>
          </a:p>
        </p:txBody>
      </p:sp>
      <p:sp>
        <p:nvSpPr>
          <p:cNvPr id="86" name="テキスト プレースホルダー 29">
            <a:extLst>
              <a:ext uri="{FF2B5EF4-FFF2-40B4-BE49-F238E27FC236}">
                <a16:creationId xmlns:a16="http://schemas.microsoft.com/office/drawing/2014/main" id="{4F135535-5A3C-C24D-BFFF-4F1F217E4BBB}"/>
              </a:ext>
            </a:extLst>
          </p:cNvPr>
          <p:cNvSpPr txBox="1">
            <a:spLocks/>
          </p:cNvSpPr>
          <p:nvPr/>
        </p:nvSpPr>
        <p:spPr>
          <a:xfrm>
            <a:off x="1445162" y="4703723"/>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Q3</a:t>
            </a:r>
            <a:r>
              <a:rPr lang="ja-JP" altLang="en-US"/>
              <a:t>：積極的な行動は相手を譲歩させるのか？</a:t>
            </a:r>
          </a:p>
        </p:txBody>
      </p:sp>
      <p:sp>
        <p:nvSpPr>
          <p:cNvPr id="87" name="テキスト ボックス 86">
            <a:extLst>
              <a:ext uri="{FF2B5EF4-FFF2-40B4-BE49-F238E27FC236}">
                <a16:creationId xmlns:a16="http://schemas.microsoft.com/office/drawing/2014/main" id="{9CB7A75D-B2EA-B24C-A053-DDC492E2D1F7}"/>
              </a:ext>
            </a:extLst>
          </p:cNvPr>
          <p:cNvSpPr txBox="1"/>
          <p:nvPr/>
        </p:nvSpPr>
        <p:spPr>
          <a:xfrm>
            <a:off x="4682520" y="6921590"/>
            <a:ext cx="2155164" cy="646331"/>
          </a:xfrm>
          <a:prstGeom prst="rect">
            <a:avLst/>
          </a:prstGeom>
          <a:noFill/>
        </p:spPr>
        <p:txBody>
          <a:bodyPr wrap="square" rtlCol="0">
            <a:spAutoFit/>
          </a:bodyPr>
          <a:lstStyle/>
          <a:p>
            <a:pPr algn="ctr"/>
            <a:r>
              <a:rPr lang="en-US" altLang="ja-JP" dirty="0"/>
              <a:t>S</a:t>
            </a:r>
            <a:r>
              <a:rPr kumimoji="1" lang="en-US" altLang="ja-JP" dirty="0"/>
              <a:t>trategic</a:t>
            </a:r>
            <a:endParaRPr kumimoji="1" lang="ja-JP" altLang="en-US"/>
          </a:p>
        </p:txBody>
      </p:sp>
      <p:sp>
        <p:nvSpPr>
          <p:cNvPr id="88" name="角丸四角形吹き出し 87">
            <a:extLst>
              <a:ext uri="{FF2B5EF4-FFF2-40B4-BE49-F238E27FC236}">
                <a16:creationId xmlns:a16="http://schemas.microsoft.com/office/drawing/2014/main" id="{2FA856A0-BE84-DB47-AE01-BE93B1037E75}"/>
              </a:ext>
            </a:extLst>
          </p:cNvPr>
          <p:cNvSpPr/>
          <p:nvPr/>
        </p:nvSpPr>
        <p:spPr>
          <a:xfrm>
            <a:off x="1010561" y="6523495"/>
            <a:ext cx="3639733" cy="1442523"/>
          </a:xfrm>
          <a:prstGeom prst="wedgeRoundRectCallout">
            <a:avLst>
              <a:gd name="adj1" fmla="val 44418"/>
              <a:gd name="adj2" fmla="val 78434"/>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a:t>あなたは</a:t>
            </a:r>
            <a:endParaRPr lang="en-US" altLang="ja-JP" dirty="0"/>
          </a:p>
          <a:p>
            <a:pPr algn="ctr"/>
            <a:r>
              <a:rPr lang="ja-JP" altLang="en-US"/>
              <a:t>何が好きなの？</a:t>
            </a:r>
          </a:p>
        </p:txBody>
      </p:sp>
    </p:spTree>
    <p:extLst>
      <p:ext uri="{BB962C8B-B14F-4D97-AF65-F5344CB8AC3E}">
        <p14:creationId xmlns:p14="http://schemas.microsoft.com/office/powerpoint/2010/main" val="2031478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3520CDD-7107-D140-A1A0-69D0D69B10F3}"/>
              </a:ext>
            </a:extLst>
          </p:cNvPr>
          <p:cNvSpPr>
            <a:spLocks noGrp="1"/>
          </p:cNvSpPr>
          <p:nvPr>
            <p:ph type="dt" sz="half" idx="10"/>
          </p:nvPr>
        </p:nvSpPr>
        <p:spPr/>
        <p:txBody>
          <a:bodyPr/>
          <a:lstStyle/>
          <a:p>
            <a:fld id="{35974365-84F6-754A-A339-DA79FFD42E98}" type="datetime1">
              <a:rPr lang="ja-JP" altLang="en-US" smtClean="0"/>
              <a:t>2018/6/9</a:t>
            </a:fld>
            <a:endParaRPr lang="ja-JP" altLang="en-US"/>
          </a:p>
        </p:txBody>
      </p:sp>
      <p:sp>
        <p:nvSpPr>
          <p:cNvPr id="3" name="フッター プレースホルダー 2">
            <a:extLst>
              <a:ext uri="{FF2B5EF4-FFF2-40B4-BE49-F238E27FC236}">
                <a16:creationId xmlns:a16="http://schemas.microsoft.com/office/drawing/2014/main" id="{6EEFBA0C-3454-8D4D-87CE-5BA9ED8AFBE5}"/>
              </a:ext>
            </a:extLst>
          </p:cNvPr>
          <p:cNvSpPr>
            <a:spLocks noGrp="1"/>
          </p:cNvSpPr>
          <p:nvPr>
            <p:ph type="ftr" sz="quarter" idx="11"/>
          </p:nvPr>
        </p:nvSpPr>
        <p:spPr/>
        <p:txBody>
          <a:bodyPr/>
          <a:lstStyle/>
          <a:p>
            <a:r>
              <a:rPr lang="ja-JP" altLang="en-US"/>
              <a:t>進捗報告</a:t>
            </a:r>
            <a:r>
              <a:rPr lang="en-US" altLang="ja-JP"/>
              <a:t>(2018.06.06)</a:t>
            </a:r>
            <a:endParaRPr lang="ja-JP" altLang="en-US"/>
          </a:p>
        </p:txBody>
      </p:sp>
      <p:sp>
        <p:nvSpPr>
          <p:cNvPr id="4" name="スライド番号プレースホルダー 3">
            <a:extLst>
              <a:ext uri="{FF2B5EF4-FFF2-40B4-BE49-F238E27FC236}">
                <a16:creationId xmlns:a16="http://schemas.microsoft.com/office/drawing/2014/main" id="{5D405AD0-9091-A94B-BA67-32995AD15B35}"/>
              </a:ext>
            </a:extLst>
          </p:cNvPr>
          <p:cNvSpPr>
            <a:spLocks noGrp="1"/>
          </p:cNvSpPr>
          <p:nvPr>
            <p:ph type="sldNum" sz="quarter" idx="12"/>
          </p:nvPr>
        </p:nvSpPr>
        <p:spPr/>
        <p:txBody>
          <a:bodyPr/>
          <a:lstStyle/>
          <a:p>
            <a:fld id="{89242BC1-393D-1248-985B-18DA624F2964}" type="slidenum">
              <a:rPr lang="ja-JP" altLang="en-US" smtClean="0"/>
              <a:pPr/>
              <a:t>7</a:t>
            </a:fld>
            <a:endParaRPr lang="ja-JP" altLang="en-US"/>
          </a:p>
        </p:txBody>
      </p:sp>
      <p:sp>
        <p:nvSpPr>
          <p:cNvPr id="5" name="テキスト プレースホルダー 4">
            <a:extLst>
              <a:ext uri="{FF2B5EF4-FFF2-40B4-BE49-F238E27FC236}">
                <a16:creationId xmlns:a16="http://schemas.microsoft.com/office/drawing/2014/main" id="{26DD2A8D-F804-D546-B77D-9693A67C3E0B}"/>
              </a:ext>
            </a:extLst>
          </p:cNvPr>
          <p:cNvSpPr>
            <a:spLocks noGrp="1"/>
          </p:cNvSpPr>
          <p:nvPr>
            <p:ph type="body" sz="quarter" idx="14"/>
          </p:nvPr>
        </p:nvSpPr>
        <p:spPr/>
        <p:txBody>
          <a:bodyPr/>
          <a:lstStyle/>
          <a:p>
            <a:r>
              <a:rPr kumimoji="1" lang="ja-JP" altLang="en-US"/>
              <a:t>実験</a:t>
            </a:r>
          </a:p>
        </p:txBody>
      </p:sp>
      <p:sp>
        <p:nvSpPr>
          <p:cNvPr id="6" name="テキスト プレースホルダー 5">
            <a:extLst>
              <a:ext uri="{FF2B5EF4-FFF2-40B4-BE49-F238E27FC236}">
                <a16:creationId xmlns:a16="http://schemas.microsoft.com/office/drawing/2014/main" id="{18F5D246-4675-9D44-B96B-BEDD6F01EDA7}"/>
              </a:ext>
            </a:extLst>
          </p:cNvPr>
          <p:cNvSpPr>
            <a:spLocks noGrp="1"/>
          </p:cNvSpPr>
          <p:nvPr>
            <p:ph type="body" sz="quarter" idx="13"/>
          </p:nvPr>
        </p:nvSpPr>
        <p:spPr/>
        <p:txBody>
          <a:bodyPr/>
          <a:lstStyle/>
          <a:p>
            <a:r>
              <a:rPr lang="en-US" altLang="ja-JP" dirty="0"/>
              <a:t>2</a:t>
            </a:r>
            <a:endParaRPr kumimoji="1" lang="ja-JP" altLang="en-US"/>
          </a:p>
        </p:txBody>
      </p:sp>
      <p:grpSp>
        <p:nvGrpSpPr>
          <p:cNvPr id="31" name="グループ化 30">
            <a:extLst>
              <a:ext uri="{FF2B5EF4-FFF2-40B4-BE49-F238E27FC236}">
                <a16:creationId xmlns:a16="http://schemas.microsoft.com/office/drawing/2014/main" id="{FD81DDC5-24B5-F24B-8DCA-6543CEE8DC81}"/>
              </a:ext>
            </a:extLst>
          </p:cNvPr>
          <p:cNvGrpSpPr/>
          <p:nvPr/>
        </p:nvGrpSpPr>
        <p:grpSpPr>
          <a:xfrm>
            <a:off x="289330" y="1413298"/>
            <a:ext cx="2160000" cy="934436"/>
            <a:chOff x="144665" y="525617"/>
            <a:chExt cx="1080000" cy="467218"/>
          </a:xfrm>
        </p:grpSpPr>
        <p:sp>
          <p:nvSpPr>
            <p:cNvPr id="32" name="正方形/長方形 31">
              <a:extLst>
                <a:ext uri="{FF2B5EF4-FFF2-40B4-BE49-F238E27FC236}">
                  <a16:creationId xmlns:a16="http://schemas.microsoft.com/office/drawing/2014/main" id="{073638CC-28A2-E943-AD34-548A0C227633}"/>
                </a:ext>
              </a:extLst>
            </p:cNvPr>
            <p:cNvSpPr/>
            <p:nvPr userDrawn="1"/>
          </p:nvSpPr>
          <p:spPr>
            <a:xfrm>
              <a:off x="145524" y="542424"/>
              <a:ext cx="91081" cy="450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sp>
          <p:nvSpPr>
            <p:cNvPr id="33" name="正方形/長方形 32">
              <a:extLst>
                <a:ext uri="{FF2B5EF4-FFF2-40B4-BE49-F238E27FC236}">
                  <a16:creationId xmlns:a16="http://schemas.microsoft.com/office/drawing/2014/main" id="{89C51296-914D-A74C-889D-A570C54F6A57}"/>
                </a:ext>
              </a:extLst>
            </p:cNvPr>
            <p:cNvSpPr/>
            <p:nvPr userDrawn="1"/>
          </p:nvSpPr>
          <p:spPr>
            <a:xfrm>
              <a:off x="144665" y="525617"/>
              <a:ext cx="1080000" cy="161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grpSp>
      <p:grpSp>
        <p:nvGrpSpPr>
          <p:cNvPr id="34" name="グループ化 33">
            <a:extLst>
              <a:ext uri="{FF2B5EF4-FFF2-40B4-BE49-F238E27FC236}">
                <a16:creationId xmlns:a16="http://schemas.microsoft.com/office/drawing/2014/main" id="{FC0C993D-26F8-9648-8C42-6E3A827F97DE}"/>
              </a:ext>
            </a:extLst>
          </p:cNvPr>
          <p:cNvGrpSpPr/>
          <p:nvPr/>
        </p:nvGrpSpPr>
        <p:grpSpPr>
          <a:xfrm>
            <a:off x="617232" y="2557358"/>
            <a:ext cx="539448" cy="487368"/>
            <a:chOff x="400056" y="1061560"/>
            <a:chExt cx="269724" cy="243684"/>
          </a:xfrm>
        </p:grpSpPr>
        <p:sp>
          <p:nvSpPr>
            <p:cNvPr id="35" name="三角形 34">
              <a:extLst>
                <a:ext uri="{FF2B5EF4-FFF2-40B4-BE49-F238E27FC236}">
                  <a16:creationId xmlns:a16="http://schemas.microsoft.com/office/drawing/2014/main" id="{21EC1BB2-1EA3-DB45-83ED-42197AA1F0E3}"/>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36" name="三角形 35">
              <a:extLst>
                <a:ext uri="{FF2B5EF4-FFF2-40B4-BE49-F238E27FC236}">
                  <a16:creationId xmlns:a16="http://schemas.microsoft.com/office/drawing/2014/main" id="{92822503-D36D-7644-A490-99EB8A1079E7}"/>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37" name="テキスト プレースホルダー 30">
            <a:extLst>
              <a:ext uri="{FF2B5EF4-FFF2-40B4-BE49-F238E27FC236}">
                <a16:creationId xmlns:a16="http://schemas.microsoft.com/office/drawing/2014/main" id="{A73B3907-668E-1A41-B5F4-6D46EA930E91}"/>
              </a:ext>
            </a:extLst>
          </p:cNvPr>
          <p:cNvSpPr txBox="1">
            <a:spLocks/>
          </p:cNvSpPr>
          <p:nvPr/>
        </p:nvSpPr>
        <p:spPr>
          <a:xfrm>
            <a:off x="571049" y="1583871"/>
            <a:ext cx="17302163" cy="1403350"/>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60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目的</a:t>
            </a:r>
          </a:p>
        </p:txBody>
      </p:sp>
      <p:sp>
        <p:nvSpPr>
          <p:cNvPr id="38" name="テキスト プレースホルダー 27">
            <a:extLst>
              <a:ext uri="{FF2B5EF4-FFF2-40B4-BE49-F238E27FC236}">
                <a16:creationId xmlns:a16="http://schemas.microsoft.com/office/drawing/2014/main" id="{52FC6201-0015-374A-A9F7-4FCF0162EFE8}"/>
              </a:ext>
            </a:extLst>
          </p:cNvPr>
          <p:cNvSpPr txBox="1">
            <a:spLocks/>
          </p:cNvSpPr>
          <p:nvPr/>
        </p:nvSpPr>
        <p:spPr>
          <a:xfrm>
            <a:off x="1254486" y="2484733"/>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人間同士の交渉で生じる効果について調査</a:t>
            </a:r>
            <a:endParaRPr lang="en-US" altLang="ja-JP" dirty="0"/>
          </a:p>
        </p:txBody>
      </p:sp>
      <p:sp>
        <p:nvSpPr>
          <p:cNvPr id="57" name="三角形 56">
            <a:extLst>
              <a:ext uri="{FF2B5EF4-FFF2-40B4-BE49-F238E27FC236}">
                <a16:creationId xmlns:a16="http://schemas.microsoft.com/office/drawing/2014/main" id="{7F703886-4132-A74D-B009-F1827BE6F3C7}"/>
              </a:ext>
            </a:extLst>
          </p:cNvPr>
          <p:cNvSpPr/>
          <p:nvPr/>
        </p:nvSpPr>
        <p:spPr>
          <a:xfrm rot="5400000">
            <a:off x="1076238" y="3361776"/>
            <a:ext cx="480900" cy="320016"/>
          </a:xfrm>
          <a:prstGeom prst="triangl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23" name="三角形 22">
            <a:extLst>
              <a:ext uri="{FF2B5EF4-FFF2-40B4-BE49-F238E27FC236}">
                <a16:creationId xmlns:a16="http://schemas.microsoft.com/office/drawing/2014/main" id="{71DA17BD-74F3-FE4A-96F4-94A9E3AA34CD}"/>
              </a:ext>
            </a:extLst>
          </p:cNvPr>
          <p:cNvSpPr/>
          <p:nvPr/>
        </p:nvSpPr>
        <p:spPr>
          <a:xfrm rot="5400000">
            <a:off x="1076238" y="4091341"/>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26" name="三角形 25">
            <a:extLst>
              <a:ext uri="{FF2B5EF4-FFF2-40B4-BE49-F238E27FC236}">
                <a16:creationId xmlns:a16="http://schemas.microsoft.com/office/drawing/2014/main" id="{09C71C8C-E299-4C44-AEC0-7E2553B12794}"/>
              </a:ext>
            </a:extLst>
          </p:cNvPr>
          <p:cNvSpPr/>
          <p:nvPr/>
        </p:nvSpPr>
        <p:spPr>
          <a:xfrm rot="5400000">
            <a:off x="1064310" y="4818997"/>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nvGrpSpPr>
          <p:cNvPr id="28" name="グループ化 27">
            <a:extLst>
              <a:ext uri="{FF2B5EF4-FFF2-40B4-BE49-F238E27FC236}">
                <a16:creationId xmlns:a16="http://schemas.microsoft.com/office/drawing/2014/main" id="{0C2D99A1-A391-B34D-B51D-2646448B5EE0}"/>
              </a:ext>
            </a:extLst>
          </p:cNvPr>
          <p:cNvGrpSpPr/>
          <p:nvPr/>
        </p:nvGrpSpPr>
        <p:grpSpPr>
          <a:xfrm>
            <a:off x="617232" y="5532687"/>
            <a:ext cx="539448" cy="487368"/>
            <a:chOff x="400056" y="1061560"/>
            <a:chExt cx="269724" cy="243684"/>
          </a:xfrm>
        </p:grpSpPr>
        <p:sp>
          <p:nvSpPr>
            <p:cNvPr id="29" name="三角形 28">
              <a:extLst>
                <a:ext uri="{FF2B5EF4-FFF2-40B4-BE49-F238E27FC236}">
                  <a16:creationId xmlns:a16="http://schemas.microsoft.com/office/drawing/2014/main" id="{71EBF793-5064-E34A-9387-1426F995A3B3}"/>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30" name="三角形 29">
              <a:extLst>
                <a:ext uri="{FF2B5EF4-FFF2-40B4-BE49-F238E27FC236}">
                  <a16:creationId xmlns:a16="http://schemas.microsoft.com/office/drawing/2014/main" id="{5D106750-2C77-6545-AB79-4AEB07AD03A4}"/>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39" name="テキスト プレースホルダー 27">
            <a:extLst>
              <a:ext uri="{FF2B5EF4-FFF2-40B4-BE49-F238E27FC236}">
                <a16:creationId xmlns:a16="http://schemas.microsoft.com/office/drawing/2014/main" id="{E90FC0FA-6B43-C040-A5F9-B0941E894243}"/>
              </a:ext>
            </a:extLst>
          </p:cNvPr>
          <p:cNvSpPr txBox="1">
            <a:spLocks/>
          </p:cNvSpPr>
          <p:nvPr/>
        </p:nvSpPr>
        <p:spPr>
          <a:xfrm>
            <a:off x="1254486" y="5460062"/>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IAGO</a:t>
            </a:r>
            <a:r>
              <a:rPr lang="ja-JP" altLang="en-US"/>
              <a:t>がプラットフォームとして機能することを実証</a:t>
            </a:r>
            <a:endParaRPr lang="en-US" altLang="ja-JP" dirty="0"/>
          </a:p>
        </p:txBody>
      </p:sp>
      <p:grpSp>
        <p:nvGrpSpPr>
          <p:cNvPr id="10" name="グループ化 9">
            <a:extLst>
              <a:ext uri="{FF2B5EF4-FFF2-40B4-BE49-F238E27FC236}">
                <a16:creationId xmlns:a16="http://schemas.microsoft.com/office/drawing/2014/main" id="{F091F937-1A64-DD4F-AB54-AAA0B5CC7107}"/>
              </a:ext>
            </a:extLst>
          </p:cNvPr>
          <p:cNvGrpSpPr/>
          <p:nvPr/>
        </p:nvGrpSpPr>
        <p:grpSpPr>
          <a:xfrm>
            <a:off x="3216825" y="6523494"/>
            <a:ext cx="13771859" cy="6780234"/>
            <a:chOff x="3216825" y="6523494"/>
            <a:chExt cx="13771859" cy="6780234"/>
          </a:xfrm>
        </p:grpSpPr>
        <p:grpSp>
          <p:nvGrpSpPr>
            <p:cNvPr id="42" name="グループ化 41">
              <a:extLst>
                <a:ext uri="{FF2B5EF4-FFF2-40B4-BE49-F238E27FC236}">
                  <a16:creationId xmlns:a16="http://schemas.microsoft.com/office/drawing/2014/main" id="{7A5AD580-7131-D041-B8E4-17B27DF3D69B}"/>
                </a:ext>
              </a:extLst>
            </p:cNvPr>
            <p:cNvGrpSpPr/>
            <p:nvPr/>
          </p:nvGrpSpPr>
          <p:grpSpPr>
            <a:xfrm>
              <a:off x="3216825" y="10402558"/>
              <a:ext cx="11854350" cy="2901170"/>
              <a:chOff x="2226339" y="9389213"/>
              <a:chExt cx="11854350" cy="2901170"/>
            </a:xfrm>
          </p:grpSpPr>
          <p:sp>
            <p:nvSpPr>
              <p:cNvPr id="60" name="テキスト ボックス 59">
                <a:extLst>
                  <a:ext uri="{FF2B5EF4-FFF2-40B4-BE49-F238E27FC236}">
                    <a16:creationId xmlns:a16="http://schemas.microsoft.com/office/drawing/2014/main" id="{678385E7-AEA7-1545-BC28-12A84E30494D}"/>
                  </a:ext>
                </a:extLst>
              </p:cNvPr>
              <p:cNvSpPr txBox="1"/>
              <p:nvPr/>
            </p:nvSpPr>
            <p:spPr>
              <a:xfrm>
                <a:off x="5900499" y="11644052"/>
                <a:ext cx="4506031" cy="646331"/>
              </a:xfrm>
              <a:prstGeom prst="rect">
                <a:avLst/>
              </a:prstGeom>
              <a:noFill/>
            </p:spPr>
            <p:txBody>
              <a:bodyPr wrap="square" rtlCol="0">
                <a:spAutoFit/>
              </a:bodyPr>
              <a:lstStyle/>
              <a:p>
                <a:pPr algn="ctr"/>
                <a:r>
                  <a:rPr lang="ja-JP" altLang="en-US"/>
                  <a:t>交渉内容</a:t>
                </a:r>
                <a:endParaRPr kumimoji="1" lang="ja-JP" altLang="en-US"/>
              </a:p>
            </p:txBody>
          </p:sp>
          <p:grpSp>
            <p:nvGrpSpPr>
              <p:cNvPr id="61" name="グループ化 60">
                <a:extLst>
                  <a:ext uri="{FF2B5EF4-FFF2-40B4-BE49-F238E27FC236}">
                    <a16:creationId xmlns:a16="http://schemas.microsoft.com/office/drawing/2014/main" id="{B1257BC7-A9A4-0145-B7E3-80AA4250BF53}"/>
                  </a:ext>
                </a:extLst>
              </p:cNvPr>
              <p:cNvGrpSpPr/>
              <p:nvPr/>
            </p:nvGrpSpPr>
            <p:grpSpPr>
              <a:xfrm>
                <a:off x="2226339" y="9389213"/>
                <a:ext cx="11854350" cy="2010101"/>
                <a:chOff x="3821592" y="9287685"/>
                <a:chExt cx="11854350" cy="2010101"/>
              </a:xfrm>
            </p:grpSpPr>
            <p:pic>
              <p:nvPicPr>
                <p:cNvPr id="62" name="グラフィックス 61" descr="Pasta">
                  <a:extLst>
                    <a:ext uri="{FF2B5EF4-FFF2-40B4-BE49-F238E27FC236}">
                      <a16:creationId xmlns:a16="http://schemas.microsoft.com/office/drawing/2014/main" id="{ED4D337F-9799-B745-B30C-8159E7F46B7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18892" y="9287685"/>
                  <a:ext cx="1956819" cy="1956819"/>
                </a:xfrm>
                <a:prstGeom prst="rect">
                  <a:avLst/>
                </a:prstGeom>
              </p:spPr>
            </p:pic>
            <p:pic>
              <p:nvPicPr>
                <p:cNvPr id="63" name="グラフィックス 62" descr="Pizza">
                  <a:extLst>
                    <a:ext uri="{FF2B5EF4-FFF2-40B4-BE49-F238E27FC236}">
                      <a16:creationId xmlns:a16="http://schemas.microsoft.com/office/drawing/2014/main" id="{CA5DE0F4-4516-D64E-AD45-516F7361A4A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120242" y="9340967"/>
                  <a:ext cx="1956819" cy="1956819"/>
                </a:xfrm>
                <a:prstGeom prst="rect">
                  <a:avLst/>
                </a:prstGeom>
              </p:spPr>
            </p:pic>
            <p:pic>
              <p:nvPicPr>
                <p:cNvPr id="64" name="グラフィックス 63" descr="CakeSlice">
                  <a:extLst>
                    <a:ext uri="{FF2B5EF4-FFF2-40B4-BE49-F238E27FC236}">
                      <a16:creationId xmlns:a16="http://schemas.microsoft.com/office/drawing/2014/main" id="{25798C40-7A38-9840-8342-7F71004DCAF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821592" y="9334846"/>
                  <a:ext cx="1956819" cy="1956819"/>
                </a:xfrm>
                <a:prstGeom prst="rect">
                  <a:avLst/>
                </a:prstGeom>
              </p:spPr>
            </p:pic>
            <p:pic>
              <p:nvPicPr>
                <p:cNvPr id="65" name="グラフィックス 64" descr="Donut">
                  <a:extLst>
                    <a:ext uri="{FF2B5EF4-FFF2-40B4-BE49-F238E27FC236}">
                      <a16:creationId xmlns:a16="http://schemas.microsoft.com/office/drawing/2014/main" id="{BE88A548-551D-8F42-AD5D-3876BBCA010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3717542" y="9333265"/>
                  <a:ext cx="1958400" cy="1958400"/>
                </a:xfrm>
                <a:prstGeom prst="rect">
                  <a:avLst/>
                </a:prstGeom>
              </p:spPr>
            </p:pic>
          </p:grpSp>
        </p:grpSp>
        <p:grpSp>
          <p:nvGrpSpPr>
            <p:cNvPr id="9" name="グループ化 8">
              <a:extLst>
                <a:ext uri="{FF2B5EF4-FFF2-40B4-BE49-F238E27FC236}">
                  <a16:creationId xmlns:a16="http://schemas.microsoft.com/office/drawing/2014/main" id="{5B999764-C39B-4C48-B4AB-727CD2B0264E}"/>
                </a:ext>
              </a:extLst>
            </p:cNvPr>
            <p:cNvGrpSpPr/>
            <p:nvPr/>
          </p:nvGrpSpPr>
          <p:grpSpPr>
            <a:xfrm>
              <a:off x="4892225" y="6523494"/>
              <a:ext cx="12096459" cy="3088332"/>
              <a:chOff x="4892225" y="6523494"/>
              <a:chExt cx="12096459" cy="3088332"/>
            </a:xfrm>
          </p:grpSpPr>
          <p:grpSp>
            <p:nvGrpSpPr>
              <p:cNvPr id="7" name="グループ化 6">
                <a:extLst>
                  <a:ext uri="{FF2B5EF4-FFF2-40B4-BE49-F238E27FC236}">
                    <a16:creationId xmlns:a16="http://schemas.microsoft.com/office/drawing/2014/main" id="{1C5BD32F-189A-A64F-ACFA-F39C61042C94}"/>
                  </a:ext>
                </a:extLst>
              </p:cNvPr>
              <p:cNvGrpSpPr/>
              <p:nvPr/>
            </p:nvGrpSpPr>
            <p:grpSpPr>
              <a:xfrm>
                <a:off x="7393547" y="6523494"/>
                <a:ext cx="9595137" cy="3039193"/>
                <a:chOff x="7393547" y="6523494"/>
                <a:chExt cx="9595137" cy="3039193"/>
              </a:xfrm>
            </p:grpSpPr>
            <p:sp>
              <p:nvSpPr>
                <p:cNvPr id="56" name="右矢印 55">
                  <a:extLst>
                    <a:ext uri="{FF2B5EF4-FFF2-40B4-BE49-F238E27FC236}">
                      <a16:creationId xmlns:a16="http://schemas.microsoft.com/office/drawing/2014/main" id="{D3D6865F-741F-8540-9761-8CA1ECAEAA13}"/>
                    </a:ext>
                  </a:extLst>
                </p:cNvPr>
                <p:cNvSpPr/>
                <p:nvPr/>
              </p:nvSpPr>
              <p:spPr>
                <a:xfrm flipH="1">
                  <a:off x="7393547" y="8672370"/>
                  <a:ext cx="3429000" cy="371475"/>
                </a:xfrm>
                <a:prstGeom prst="rightArrow">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sp>
              <p:nvSpPr>
                <p:cNvPr id="66" name="スマイル 65">
                  <a:extLst>
                    <a:ext uri="{FF2B5EF4-FFF2-40B4-BE49-F238E27FC236}">
                      <a16:creationId xmlns:a16="http://schemas.microsoft.com/office/drawing/2014/main" id="{E75371D3-810A-654E-BE5F-2FB5F90DB80F}"/>
                    </a:ext>
                  </a:extLst>
                </p:cNvPr>
                <p:cNvSpPr/>
                <p:nvPr/>
              </p:nvSpPr>
              <p:spPr>
                <a:xfrm>
                  <a:off x="11627601" y="8055251"/>
                  <a:ext cx="1656784" cy="1507436"/>
                </a:xfrm>
                <a:prstGeom prst="smileyFac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テキスト ボックス 66">
                  <a:extLst>
                    <a:ext uri="{FF2B5EF4-FFF2-40B4-BE49-F238E27FC236}">
                      <a16:creationId xmlns:a16="http://schemas.microsoft.com/office/drawing/2014/main" id="{A8EC4849-5007-8C45-BCE4-C17920D02E4C}"/>
                    </a:ext>
                  </a:extLst>
                </p:cNvPr>
                <p:cNvSpPr txBox="1"/>
                <p:nvPr/>
              </p:nvSpPr>
              <p:spPr>
                <a:xfrm>
                  <a:off x="11548631" y="7319687"/>
                  <a:ext cx="1735754" cy="646331"/>
                </a:xfrm>
                <a:prstGeom prst="rect">
                  <a:avLst/>
                </a:prstGeom>
                <a:noFill/>
              </p:spPr>
              <p:txBody>
                <a:bodyPr wrap="square" rtlCol="0">
                  <a:spAutoFit/>
                </a:bodyPr>
                <a:lstStyle/>
                <a:p>
                  <a:pPr algn="ctr"/>
                  <a:r>
                    <a:rPr lang="en-US" altLang="ja-JP" dirty="0"/>
                    <a:t>human</a:t>
                  </a:r>
                  <a:endParaRPr kumimoji="1" lang="ja-JP" altLang="en-US"/>
                </a:p>
              </p:txBody>
            </p:sp>
            <p:sp>
              <p:nvSpPr>
                <p:cNvPr id="68" name="角丸四角形吹き出し 67">
                  <a:extLst>
                    <a:ext uri="{FF2B5EF4-FFF2-40B4-BE49-F238E27FC236}">
                      <a16:creationId xmlns:a16="http://schemas.microsoft.com/office/drawing/2014/main" id="{017C82AB-BBA2-B044-BF3A-1CC5E1BD18DE}"/>
                    </a:ext>
                  </a:extLst>
                </p:cNvPr>
                <p:cNvSpPr/>
                <p:nvPr/>
              </p:nvSpPr>
              <p:spPr>
                <a:xfrm>
                  <a:off x="13348951" y="6523494"/>
                  <a:ext cx="3639733" cy="1442523"/>
                </a:xfrm>
                <a:prstGeom prst="wedgeRoundRectCallout">
                  <a:avLst>
                    <a:gd name="adj1" fmla="val -42507"/>
                    <a:gd name="adj2" fmla="val 80970"/>
                    <a:gd name="adj3" fmla="val 16667"/>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ja-JP" altLang="en-US"/>
                    <a:t>ピザより</a:t>
                  </a:r>
                  <a:endParaRPr kumimoji="1" lang="en-US" altLang="ja-JP" dirty="0"/>
                </a:p>
                <a:p>
                  <a:pPr algn="ctr"/>
                  <a:r>
                    <a:rPr kumimoji="1" lang="ja-JP" altLang="en-US"/>
                    <a:t>パスタが好き</a:t>
                  </a:r>
                </a:p>
              </p:txBody>
            </p:sp>
          </p:grpSp>
          <p:sp>
            <p:nvSpPr>
              <p:cNvPr id="69" name="スマイル 68">
                <a:extLst>
                  <a:ext uri="{FF2B5EF4-FFF2-40B4-BE49-F238E27FC236}">
                    <a16:creationId xmlns:a16="http://schemas.microsoft.com/office/drawing/2014/main" id="{589C5BC9-5B99-9E40-BA79-D3906C3B7EEE}"/>
                  </a:ext>
                </a:extLst>
              </p:cNvPr>
              <p:cNvSpPr/>
              <p:nvPr/>
            </p:nvSpPr>
            <p:spPr>
              <a:xfrm>
                <a:off x="4931710" y="8104390"/>
                <a:ext cx="1656784" cy="1507436"/>
              </a:xfrm>
              <a:prstGeom prst="smileyFac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テキスト ボックス 69">
                <a:extLst>
                  <a:ext uri="{FF2B5EF4-FFF2-40B4-BE49-F238E27FC236}">
                    <a16:creationId xmlns:a16="http://schemas.microsoft.com/office/drawing/2014/main" id="{DE47CB1D-2B10-E340-A44F-9C3D61F62B29}"/>
                  </a:ext>
                </a:extLst>
              </p:cNvPr>
              <p:cNvSpPr txBox="1"/>
              <p:nvPr/>
            </p:nvSpPr>
            <p:spPr>
              <a:xfrm>
                <a:off x="4892225" y="7434944"/>
                <a:ext cx="1735754" cy="646331"/>
              </a:xfrm>
              <a:prstGeom prst="rect">
                <a:avLst/>
              </a:prstGeom>
              <a:noFill/>
            </p:spPr>
            <p:txBody>
              <a:bodyPr wrap="square" rtlCol="0">
                <a:spAutoFit/>
              </a:bodyPr>
              <a:lstStyle/>
              <a:p>
                <a:pPr algn="ctr"/>
                <a:r>
                  <a:rPr kumimoji="1" lang="en-US" altLang="ja-JP" dirty="0"/>
                  <a:t>agent</a:t>
                </a:r>
                <a:endParaRPr kumimoji="1" lang="ja-JP" altLang="en-US"/>
              </a:p>
            </p:txBody>
          </p:sp>
        </p:grpSp>
      </p:grpSp>
      <p:sp>
        <p:nvSpPr>
          <p:cNvPr id="72" name="テキスト プレースホルダー 29">
            <a:extLst>
              <a:ext uri="{FF2B5EF4-FFF2-40B4-BE49-F238E27FC236}">
                <a16:creationId xmlns:a16="http://schemas.microsoft.com/office/drawing/2014/main" id="{403746BA-F4FD-B64E-A356-E5F6E22664BE}"/>
              </a:ext>
            </a:extLst>
          </p:cNvPr>
          <p:cNvSpPr txBox="1">
            <a:spLocks/>
          </p:cNvSpPr>
          <p:nvPr/>
        </p:nvSpPr>
        <p:spPr>
          <a:xfrm>
            <a:off x="1457090" y="3246502"/>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Q1</a:t>
            </a:r>
            <a:r>
              <a:rPr lang="ja-JP" altLang="en-US"/>
              <a:t>：選好を明らかにするための戦略は人間の行動に影響を及ぼすか？</a:t>
            </a:r>
          </a:p>
        </p:txBody>
      </p:sp>
      <p:sp>
        <p:nvSpPr>
          <p:cNvPr id="73" name="テキスト プレースホルダー 29">
            <a:extLst>
              <a:ext uri="{FF2B5EF4-FFF2-40B4-BE49-F238E27FC236}">
                <a16:creationId xmlns:a16="http://schemas.microsoft.com/office/drawing/2014/main" id="{A8A832F9-EC6E-874C-8344-0EF97A5E6BB0}"/>
              </a:ext>
            </a:extLst>
          </p:cNvPr>
          <p:cNvSpPr txBox="1">
            <a:spLocks/>
          </p:cNvSpPr>
          <p:nvPr/>
        </p:nvSpPr>
        <p:spPr>
          <a:xfrm>
            <a:off x="1457090" y="3976067"/>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Q2</a:t>
            </a:r>
            <a:r>
              <a:rPr lang="ja-JP" altLang="en-US"/>
              <a:t>：選好を明らかにするための戦略は統合的交渉に影響を与えるか？</a:t>
            </a:r>
          </a:p>
        </p:txBody>
      </p:sp>
      <p:sp>
        <p:nvSpPr>
          <p:cNvPr id="74" name="テキスト プレースホルダー 29">
            <a:extLst>
              <a:ext uri="{FF2B5EF4-FFF2-40B4-BE49-F238E27FC236}">
                <a16:creationId xmlns:a16="http://schemas.microsoft.com/office/drawing/2014/main" id="{FD06A781-A10D-DB44-8281-C3832AADDB68}"/>
              </a:ext>
            </a:extLst>
          </p:cNvPr>
          <p:cNvSpPr txBox="1">
            <a:spLocks/>
          </p:cNvSpPr>
          <p:nvPr/>
        </p:nvSpPr>
        <p:spPr>
          <a:xfrm>
            <a:off x="1445162" y="4703723"/>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Q3</a:t>
            </a:r>
            <a:r>
              <a:rPr lang="ja-JP" altLang="en-US"/>
              <a:t>：積極的な行動は相手を譲歩させるのか？</a:t>
            </a:r>
          </a:p>
        </p:txBody>
      </p:sp>
      <p:sp>
        <p:nvSpPr>
          <p:cNvPr id="75" name="テキスト ボックス 74">
            <a:extLst>
              <a:ext uri="{FF2B5EF4-FFF2-40B4-BE49-F238E27FC236}">
                <a16:creationId xmlns:a16="http://schemas.microsoft.com/office/drawing/2014/main" id="{17CF17AF-8C09-5844-A919-91944E172382}"/>
              </a:ext>
            </a:extLst>
          </p:cNvPr>
          <p:cNvSpPr txBox="1"/>
          <p:nvPr/>
        </p:nvSpPr>
        <p:spPr>
          <a:xfrm>
            <a:off x="4682520" y="6921590"/>
            <a:ext cx="2155164" cy="646331"/>
          </a:xfrm>
          <a:prstGeom prst="rect">
            <a:avLst/>
          </a:prstGeom>
          <a:noFill/>
        </p:spPr>
        <p:txBody>
          <a:bodyPr wrap="square" rtlCol="0">
            <a:spAutoFit/>
          </a:bodyPr>
          <a:lstStyle/>
          <a:p>
            <a:pPr algn="ctr"/>
            <a:r>
              <a:rPr lang="en-US" altLang="ja-JP" dirty="0"/>
              <a:t>S</a:t>
            </a:r>
            <a:r>
              <a:rPr kumimoji="1" lang="en-US" altLang="ja-JP" dirty="0"/>
              <a:t>trategic</a:t>
            </a:r>
            <a:endParaRPr kumimoji="1" lang="ja-JP" altLang="en-US"/>
          </a:p>
        </p:txBody>
      </p:sp>
    </p:spTree>
    <p:extLst>
      <p:ext uri="{BB962C8B-B14F-4D97-AF65-F5344CB8AC3E}">
        <p14:creationId xmlns:p14="http://schemas.microsoft.com/office/powerpoint/2010/main" val="2499947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3520CDD-7107-D140-A1A0-69D0D69B10F3}"/>
              </a:ext>
            </a:extLst>
          </p:cNvPr>
          <p:cNvSpPr>
            <a:spLocks noGrp="1"/>
          </p:cNvSpPr>
          <p:nvPr>
            <p:ph type="dt" sz="half" idx="10"/>
          </p:nvPr>
        </p:nvSpPr>
        <p:spPr/>
        <p:txBody>
          <a:bodyPr/>
          <a:lstStyle/>
          <a:p>
            <a:fld id="{35974365-84F6-754A-A339-DA79FFD42E98}" type="datetime1">
              <a:rPr lang="ja-JP" altLang="en-US" smtClean="0"/>
              <a:t>2018/6/9</a:t>
            </a:fld>
            <a:endParaRPr lang="ja-JP" altLang="en-US"/>
          </a:p>
        </p:txBody>
      </p:sp>
      <p:sp>
        <p:nvSpPr>
          <p:cNvPr id="3" name="フッター プレースホルダー 2">
            <a:extLst>
              <a:ext uri="{FF2B5EF4-FFF2-40B4-BE49-F238E27FC236}">
                <a16:creationId xmlns:a16="http://schemas.microsoft.com/office/drawing/2014/main" id="{6EEFBA0C-3454-8D4D-87CE-5BA9ED8AFBE5}"/>
              </a:ext>
            </a:extLst>
          </p:cNvPr>
          <p:cNvSpPr>
            <a:spLocks noGrp="1"/>
          </p:cNvSpPr>
          <p:nvPr>
            <p:ph type="ftr" sz="quarter" idx="11"/>
          </p:nvPr>
        </p:nvSpPr>
        <p:spPr/>
        <p:txBody>
          <a:bodyPr/>
          <a:lstStyle/>
          <a:p>
            <a:r>
              <a:rPr lang="ja-JP" altLang="en-US"/>
              <a:t>進捗報告</a:t>
            </a:r>
            <a:r>
              <a:rPr lang="en-US" altLang="ja-JP"/>
              <a:t>(2018.06.06)</a:t>
            </a:r>
            <a:endParaRPr lang="ja-JP" altLang="en-US"/>
          </a:p>
        </p:txBody>
      </p:sp>
      <p:sp>
        <p:nvSpPr>
          <p:cNvPr id="4" name="スライド番号プレースホルダー 3">
            <a:extLst>
              <a:ext uri="{FF2B5EF4-FFF2-40B4-BE49-F238E27FC236}">
                <a16:creationId xmlns:a16="http://schemas.microsoft.com/office/drawing/2014/main" id="{5D405AD0-9091-A94B-BA67-32995AD15B35}"/>
              </a:ext>
            </a:extLst>
          </p:cNvPr>
          <p:cNvSpPr>
            <a:spLocks noGrp="1"/>
          </p:cNvSpPr>
          <p:nvPr>
            <p:ph type="sldNum" sz="quarter" idx="12"/>
          </p:nvPr>
        </p:nvSpPr>
        <p:spPr/>
        <p:txBody>
          <a:bodyPr/>
          <a:lstStyle/>
          <a:p>
            <a:fld id="{89242BC1-393D-1248-985B-18DA624F2964}" type="slidenum">
              <a:rPr lang="ja-JP" altLang="en-US" smtClean="0"/>
              <a:pPr/>
              <a:t>8</a:t>
            </a:fld>
            <a:endParaRPr lang="ja-JP" altLang="en-US"/>
          </a:p>
        </p:txBody>
      </p:sp>
      <p:sp>
        <p:nvSpPr>
          <p:cNvPr id="5" name="テキスト プレースホルダー 4">
            <a:extLst>
              <a:ext uri="{FF2B5EF4-FFF2-40B4-BE49-F238E27FC236}">
                <a16:creationId xmlns:a16="http://schemas.microsoft.com/office/drawing/2014/main" id="{26DD2A8D-F804-D546-B77D-9693A67C3E0B}"/>
              </a:ext>
            </a:extLst>
          </p:cNvPr>
          <p:cNvSpPr>
            <a:spLocks noGrp="1"/>
          </p:cNvSpPr>
          <p:nvPr>
            <p:ph type="body" sz="quarter" idx="14"/>
          </p:nvPr>
        </p:nvSpPr>
        <p:spPr/>
        <p:txBody>
          <a:bodyPr/>
          <a:lstStyle/>
          <a:p>
            <a:r>
              <a:rPr kumimoji="1" lang="ja-JP" altLang="en-US"/>
              <a:t>実験</a:t>
            </a:r>
          </a:p>
        </p:txBody>
      </p:sp>
      <p:sp>
        <p:nvSpPr>
          <p:cNvPr id="6" name="テキスト プレースホルダー 5">
            <a:extLst>
              <a:ext uri="{FF2B5EF4-FFF2-40B4-BE49-F238E27FC236}">
                <a16:creationId xmlns:a16="http://schemas.microsoft.com/office/drawing/2014/main" id="{18F5D246-4675-9D44-B96B-BEDD6F01EDA7}"/>
              </a:ext>
            </a:extLst>
          </p:cNvPr>
          <p:cNvSpPr>
            <a:spLocks noGrp="1"/>
          </p:cNvSpPr>
          <p:nvPr>
            <p:ph type="body" sz="quarter" idx="13"/>
          </p:nvPr>
        </p:nvSpPr>
        <p:spPr/>
        <p:txBody>
          <a:bodyPr/>
          <a:lstStyle/>
          <a:p>
            <a:r>
              <a:rPr lang="en-US" altLang="ja-JP" dirty="0"/>
              <a:t>2</a:t>
            </a:r>
            <a:endParaRPr kumimoji="1" lang="ja-JP" altLang="en-US"/>
          </a:p>
        </p:txBody>
      </p:sp>
      <p:grpSp>
        <p:nvGrpSpPr>
          <p:cNvPr id="31" name="グループ化 30">
            <a:extLst>
              <a:ext uri="{FF2B5EF4-FFF2-40B4-BE49-F238E27FC236}">
                <a16:creationId xmlns:a16="http://schemas.microsoft.com/office/drawing/2014/main" id="{FD81DDC5-24B5-F24B-8DCA-6543CEE8DC81}"/>
              </a:ext>
            </a:extLst>
          </p:cNvPr>
          <p:cNvGrpSpPr/>
          <p:nvPr/>
        </p:nvGrpSpPr>
        <p:grpSpPr>
          <a:xfrm>
            <a:off x="289330" y="1413298"/>
            <a:ext cx="2160000" cy="934436"/>
            <a:chOff x="144665" y="525617"/>
            <a:chExt cx="1080000" cy="467218"/>
          </a:xfrm>
        </p:grpSpPr>
        <p:sp>
          <p:nvSpPr>
            <p:cNvPr id="32" name="正方形/長方形 31">
              <a:extLst>
                <a:ext uri="{FF2B5EF4-FFF2-40B4-BE49-F238E27FC236}">
                  <a16:creationId xmlns:a16="http://schemas.microsoft.com/office/drawing/2014/main" id="{073638CC-28A2-E943-AD34-548A0C227633}"/>
                </a:ext>
              </a:extLst>
            </p:cNvPr>
            <p:cNvSpPr/>
            <p:nvPr userDrawn="1"/>
          </p:nvSpPr>
          <p:spPr>
            <a:xfrm>
              <a:off x="145524" y="542424"/>
              <a:ext cx="91081" cy="450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sp>
          <p:nvSpPr>
            <p:cNvPr id="33" name="正方形/長方形 32">
              <a:extLst>
                <a:ext uri="{FF2B5EF4-FFF2-40B4-BE49-F238E27FC236}">
                  <a16:creationId xmlns:a16="http://schemas.microsoft.com/office/drawing/2014/main" id="{89C51296-914D-A74C-889D-A570C54F6A57}"/>
                </a:ext>
              </a:extLst>
            </p:cNvPr>
            <p:cNvSpPr/>
            <p:nvPr userDrawn="1"/>
          </p:nvSpPr>
          <p:spPr>
            <a:xfrm>
              <a:off x="144665" y="525617"/>
              <a:ext cx="1080000" cy="161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grpSp>
      <p:grpSp>
        <p:nvGrpSpPr>
          <p:cNvPr id="34" name="グループ化 33">
            <a:extLst>
              <a:ext uri="{FF2B5EF4-FFF2-40B4-BE49-F238E27FC236}">
                <a16:creationId xmlns:a16="http://schemas.microsoft.com/office/drawing/2014/main" id="{FC0C993D-26F8-9648-8C42-6E3A827F97DE}"/>
              </a:ext>
            </a:extLst>
          </p:cNvPr>
          <p:cNvGrpSpPr/>
          <p:nvPr/>
        </p:nvGrpSpPr>
        <p:grpSpPr>
          <a:xfrm>
            <a:off x="617232" y="2557358"/>
            <a:ext cx="539448" cy="487368"/>
            <a:chOff x="400056" y="1061560"/>
            <a:chExt cx="269724" cy="243684"/>
          </a:xfrm>
        </p:grpSpPr>
        <p:sp>
          <p:nvSpPr>
            <p:cNvPr id="35" name="三角形 34">
              <a:extLst>
                <a:ext uri="{FF2B5EF4-FFF2-40B4-BE49-F238E27FC236}">
                  <a16:creationId xmlns:a16="http://schemas.microsoft.com/office/drawing/2014/main" id="{21EC1BB2-1EA3-DB45-83ED-42197AA1F0E3}"/>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36" name="三角形 35">
              <a:extLst>
                <a:ext uri="{FF2B5EF4-FFF2-40B4-BE49-F238E27FC236}">
                  <a16:creationId xmlns:a16="http://schemas.microsoft.com/office/drawing/2014/main" id="{92822503-D36D-7644-A490-99EB8A1079E7}"/>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37" name="テキスト プレースホルダー 30">
            <a:extLst>
              <a:ext uri="{FF2B5EF4-FFF2-40B4-BE49-F238E27FC236}">
                <a16:creationId xmlns:a16="http://schemas.microsoft.com/office/drawing/2014/main" id="{A73B3907-668E-1A41-B5F4-6D46EA930E91}"/>
              </a:ext>
            </a:extLst>
          </p:cNvPr>
          <p:cNvSpPr txBox="1">
            <a:spLocks/>
          </p:cNvSpPr>
          <p:nvPr/>
        </p:nvSpPr>
        <p:spPr>
          <a:xfrm>
            <a:off x="571049" y="1583871"/>
            <a:ext cx="17302163" cy="1403350"/>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60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目的</a:t>
            </a:r>
          </a:p>
        </p:txBody>
      </p:sp>
      <p:sp>
        <p:nvSpPr>
          <p:cNvPr id="38" name="テキスト プレースホルダー 27">
            <a:extLst>
              <a:ext uri="{FF2B5EF4-FFF2-40B4-BE49-F238E27FC236}">
                <a16:creationId xmlns:a16="http://schemas.microsoft.com/office/drawing/2014/main" id="{52FC6201-0015-374A-A9F7-4FCF0162EFE8}"/>
              </a:ext>
            </a:extLst>
          </p:cNvPr>
          <p:cNvSpPr txBox="1">
            <a:spLocks/>
          </p:cNvSpPr>
          <p:nvPr/>
        </p:nvSpPr>
        <p:spPr>
          <a:xfrm>
            <a:off x="1254486" y="2484733"/>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人間同士の交渉で生じる効果について調査</a:t>
            </a:r>
            <a:endParaRPr lang="en-US" altLang="ja-JP" dirty="0"/>
          </a:p>
        </p:txBody>
      </p:sp>
      <p:sp>
        <p:nvSpPr>
          <p:cNvPr id="57" name="三角形 56">
            <a:extLst>
              <a:ext uri="{FF2B5EF4-FFF2-40B4-BE49-F238E27FC236}">
                <a16:creationId xmlns:a16="http://schemas.microsoft.com/office/drawing/2014/main" id="{7F703886-4132-A74D-B009-F1827BE6F3C7}"/>
              </a:ext>
            </a:extLst>
          </p:cNvPr>
          <p:cNvSpPr/>
          <p:nvPr/>
        </p:nvSpPr>
        <p:spPr>
          <a:xfrm rot="5400000">
            <a:off x="1076238" y="3361776"/>
            <a:ext cx="480900" cy="320016"/>
          </a:xfrm>
          <a:prstGeom prst="triangl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23" name="三角形 22">
            <a:extLst>
              <a:ext uri="{FF2B5EF4-FFF2-40B4-BE49-F238E27FC236}">
                <a16:creationId xmlns:a16="http://schemas.microsoft.com/office/drawing/2014/main" id="{71DA17BD-74F3-FE4A-96F4-94A9E3AA34CD}"/>
              </a:ext>
            </a:extLst>
          </p:cNvPr>
          <p:cNvSpPr/>
          <p:nvPr/>
        </p:nvSpPr>
        <p:spPr>
          <a:xfrm rot="5400000">
            <a:off x="1076238" y="4091341"/>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26" name="三角形 25">
            <a:extLst>
              <a:ext uri="{FF2B5EF4-FFF2-40B4-BE49-F238E27FC236}">
                <a16:creationId xmlns:a16="http://schemas.microsoft.com/office/drawing/2014/main" id="{09C71C8C-E299-4C44-AEC0-7E2553B12794}"/>
              </a:ext>
            </a:extLst>
          </p:cNvPr>
          <p:cNvSpPr/>
          <p:nvPr/>
        </p:nvSpPr>
        <p:spPr>
          <a:xfrm rot="5400000">
            <a:off x="1064310" y="4818997"/>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nvGrpSpPr>
          <p:cNvPr id="28" name="グループ化 27">
            <a:extLst>
              <a:ext uri="{FF2B5EF4-FFF2-40B4-BE49-F238E27FC236}">
                <a16:creationId xmlns:a16="http://schemas.microsoft.com/office/drawing/2014/main" id="{0C2D99A1-A391-B34D-B51D-2646448B5EE0}"/>
              </a:ext>
            </a:extLst>
          </p:cNvPr>
          <p:cNvGrpSpPr/>
          <p:nvPr/>
        </p:nvGrpSpPr>
        <p:grpSpPr>
          <a:xfrm>
            <a:off x="617232" y="5532687"/>
            <a:ext cx="539448" cy="487368"/>
            <a:chOff x="400056" y="1061560"/>
            <a:chExt cx="269724" cy="243684"/>
          </a:xfrm>
        </p:grpSpPr>
        <p:sp>
          <p:nvSpPr>
            <p:cNvPr id="29" name="三角形 28">
              <a:extLst>
                <a:ext uri="{FF2B5EF4-FFF2-40B4-BE49-F238E27FC236}">
                  <a16:creationId xmlns:a16="http://schemas.microsoft.com/office/drawing/2014/main" id="{71EBF793-5064-E34A-9387-1426F995A3B3}"/>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30" name="三角形 29">
              <a:extLst>
                <a:ext uri="{FF2B5EF4-FFF2-40B4-BE49-F238E27FC236}">
                  <a16:creationId xmlns:a16="http://schemas.microsoft.com/office/drawing/2014/main" id="{5D106750-2C77-6545-AB79-4AEB07AD03A4}"/>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39" name="テキスト プレースホルダー 27">
            <a:extLst>
              <a:ext uri="{FF2B5EF4-FFF2-40B4-BE49-F238E27FC236}">
                <a16:creationId xmlns:a16="http://schemas.microsoft.com/office/drawing/2014/main" id="{E90FC0FA-6B43-C040-A5F9-B0941E894243}"/>
              </a:ext>
            </a:extLst>
          </p:cNvPr>
          <p:cNvSpPr txBox="1">
            <a:spLocks/>
          </p:cNvSpPr>
          <p:nvPr/>
        </p:nvSpPr>
        <p:spPr>
          <a:xfrm>
            <a:off x="1254486" y="5460062"/>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IAGO</a:t>
            </a:r>
            <a:r>
              <a:rPr lang="ja-JP" altLang="en-US"/>
              <a:t>がプラットフォームとして機能することを実証</a:t>
            </a:r>
            <a:endParaRPr lang="en-US" altLang="ja-JP" dirty="0"/>
          </a:p>
        </p:txBody>
      </p:sp>
      <p:grpSp>
        <p:nvGrpSpPr>
          <p:cNvPr id="67" name="グループ化 66">
            <a:extLst>
              <a:ext uri="{FF2B5EF4-FFF2-40B4-BE49-F238E27FC236}">
                <a16:creationId xmlns:a16="http://schemas.microsoft.com/office/drawing/2014/main" id="{A0B0B948-B195-AC4D-B168-98866B40158E}"/>
              </a:ext>
            </a:extLst>
          </p:cNvPr>
          <p:cNvGrpSpPr/>
          <p:nvPr/>
        </p:nvGrpSpPr>
        <p:grpSpPr>
          <a:xfrm>
            <a:off x="3216825" y="7319687"/>
            <a:ext cx="11854350" cy="5984041"/>
            <a:chOff x="3216825" y="7319687"/>
            <a:chExt cx="11854350" cy="5984041"/>
          </a:xfrm>
        </p:grpSpPr>
        <p:grpSp>
          <p:nvGrpSpPr>
            <p:cNvPr id="68" name="グループ化 67">
              <a:extLst>
                <a:ext uri="{FF2B5EF4-FFF2-40B4-BE49-F238E27FC236}">
                  <a16:creationId xmlns:a16="http://schemas.microsoft.com/office/drawing/2014/main" id="{6270B360-E0B4-4547-AB11-5A79E4712EF7}"/>
                </a:ext>
              </a:extLst>
            </p:cNvPr>
            <p:cNvGrpSpPr/>
            <p:nvPr/>
          </p:nvGrpSpPr>
          <p:grpSpPr>
            <a:xfrm>
              <a:off x="3216825" y="10402558"/>
              <a:ext cx="11854350" cy="2901170"/>
              <a:chOff x="2226339" y="9389213"/>
              <a:chExt cx="11854350" cy="2901170"/>
            </a:xfrm>
          </p:grpSpPr>
          <p:sp>
            <p:nvSpPr>
              <p:cNvPr id="78" name="テキスト ボックス 77">
                <a:extLst>
                  <a:ext uri="{FF2B5EF4-FFF2-40B4-BE49-F238E27FC236}">
                    <a16:creationId xmlns:a16="http://schemas.microsoft.com/office/drawing/2014/main" id="{39DE7876-2053-874D-8520-D3E961A49E11}"/>
                  </a:ext>
                </a:extLst>
              </p:cNvPr>
              <p:cNvSpPr txBox="1"/>
              <p:nvPr/>
            </p:nvSpPr>
            <p:spPr>
              <a:xfrm>
                <a:off x="5900499" y="11644052"/>
                <a:ext cx="4506031" cy="646331"/>
              </a:xfrm>
              <a:prstGeom prst="rect">
                <a:avLst/>
              </a:prstGeom>
              <a:noFill/>
            </p:spPr>
            <p:txBody>
              <a:bodyPr wrap="square" rtlCol="0">
                <a:spAutoFit/>
              </a:bodyPr>
              <a:lstStyle/>
              <a:p>
                <a:pPr algn="ctr"/>
                <a:r>
                  <a:rPr lang="ja-JP" altLang="en-US"/>
                  <a:t>交渉内容</a:t>
                </a:r>
                <a:endParaRPr kumimoji="1" lang="ja-JP" altLang="en-US"/>
              </a:p>
            </p:txBody>
          </p:sp>
          <p:grpSp>
            <p:nvGrpSpPr>
              <p:cNvPr id="79" name="グループ化 78">
                <a:extLst>
                  <a:ext uri="{FF2B5EF4-FFF2-40B4-BE49-F238E27FC236}">
                    <a16:creationId xmlns:a16="http://schemas.microsoft.com/office/drawing/2014/main" id="{F5F8DBED-C05C-A640-97DB-00C0BF9AD9ED}"/>
                  </a:ext>
                </a:extLst>
              </p:cNvPr>
              <p:cNvGrpSpPr/>
              <p:nvPr/>
            </p:nvGrpSpPr>
            <p:grpSpPr>
              <a:xfrm>
                <a:off x="2226339" y="9389213"/>
                <a:ext cx="11854350" cy="2010101"/>
                <a:chOff x="3821592" y="9287685"/>
                <a:chExt cx="11854350" cy="2010101"/>
              </a:xfrm>
            </p:grpSpPr>
            <p:pic>
              <p:nvPicPr>
                <p:cNvPr id="80" name="グラフィックス 79" descr="Pasta">
                  <a:extLst>
                    <a:ext uri="{FF2B5EF4-FFF2-40B4-BE49-F238E27FC236}">
                      <a16:creationId xmlns:a16="http://schemas.microsoft.com/office/drawing/2014/main" id="{99CC76F2-BB8D-7740-BB98-34724E09CEA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18892" y="9287685"/>
                  <a:ext cx="1956819" cy="1956819"/>
                </a:xfrm>
                <a:prstGeom prst="rect">
                  <a:avLst/>
                </a:prstGeom>
              </p:spPr>
            </p:pic>
            <p:pic>
              <p:nvPicPr>
                <p:cNvPr id="81" name="グラフィックス 80" descr="Pizza">
                  <a:extLst>
                    <a:ext uri="{FF2B5EF4-FFF2-40B4-BE49-F238E27FC236}">
                      <a16:creationId xmlns:a16="http://schemas.microsoft.com/office/drawing/2014/main" id="{CD107B53-F2B5-B247-83F5-4A00C16AFA0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120242" y="9340967"/>
                  <a:ext cx="1956819" cy="1956819"/>
                </a:xfrm>
                <a:prstGeom prst="rect">
                  <a:avLst/>
                </a:prstGeom>
              </p:spPr>
            </p:pic>
            <p:pic>
              <p:nvPicPr>
                <p:cNvPr id="82" name="グラフィックス 81" descr="CakeSlice">
                  <a:extLst>
                    <a:ext uri="{FF2B5EF4-FFF2-40B4-BE49-F238E27FC236}">
                      <a16:creationId xmlns:a16="http://schemas.microsoft.com/office/drawing/2014/main" id="{9A7FAEFB-F4AF-9343-ADC3-9F9640750A1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821592" y="9334846"/>
                  <a:ext cx="1956819" cy="1956819"/>
                </a:xfrm>
                <a:prstGeom prst="rect">
                  <a:avLst/>
                </a:prstGeom>
              </p:spPr>
            </p:pic>
            <p:pic>
              <p:nvPicPr>
                <p:cNvPr id="83" name="グラフィックス 82" descr="Donut">
                  <a:extLst>
                    <a:ext uri="{FF2B5EF4-FFF2-40B4-BE49-F238E27FC236}">
                      <a16:creationId xmlns:a16="http://schemas.microsoft.com/office/drawing/2014/main" id="{2E0B2D88-C671-A640-94CC-C7232546148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3717542" y="9333265"/>
                  <a:ext cx="1958400" cy="1958400"/>
                </a:xfrm>
                <a:prstGeom prst="rect">
                  <a:avLst/>
                </a:prstGeom>
              </p:spPr>
            </p:pic>
          </p:grpSp>
        </p:grpSp>
        <p:grpSp>
          <p:nvGrpSpPr>
            <p:cNvPr id="69" name="グループ化 68">
              <a:extLst>
                <a:ext uri="{FF2B5EF4-FFF2-40B4-BE49-F238E27FC236}">
                  <a16:creationId xmlns:a16="http://schemas.microsoft.com/office/drawing/2014/main" id="{872B814F-AF8D-8646-8385-25D03A70E86C}"/>
                </a:ext>
              </a:extLst>
            </p:cNvPr>
            <p:cNvGrpSpPr/>
            <p:nvPr/>
          </p:nvGrpSpPr>
          <p:grpSpPr>
            <a:xfrm>
              <a:off x="4892225" y="7319687"/>
              <a:ext cx="8392160" cy="2292139"/>
              <a:chOff x="4892225" y="7319687"/>
              <a:chExt cx="8392160" cy="2292139"/>
            </a:xfrm>
          </p:grpSpPr>
          <p:grpSp>
            <p:nvGrpSpPr>
              <p:cNvPr id="70" name="グループ化 69">
                <a:extLst>
                  <a:ext uri="{FF2B5EF4-FFF2-40B4-BE49-F238E27FC236}">
                    <a16:creationId xmlns:a16="http://schemas.microsoft.com/office/drawing/2014/main" id="{767AE811-29C3-4E40-A519-572E28E52ABD}"/>
                  </a:ext>
                </a:extLst>
              </p:cNvPr>
              <p:cNvGrpSpPr/>
              <p:nvPr/>
            </p:nvGrpSpPr>
            <p:grpSpPr>
              <a:xfrm>
                <a:off x="7393547" y="7319687"/>
                <a:ext cx="5890838" cy="2243000"/>
                <a:chOff x="7393547" y="7319687"/>
                <a:chExt cx="5890838" cy="2243000"/>
              </a:xfrm>
            </p:grpSpPr>
            <p:sp>
              <p:nvSpPr>
                <p:cNvPr id="74" name="右矢印 73">
                  <a:extLst>
                    <a:ext uri="{FF2B5EF4-FFF2-40B4-BE49-F238E27FC236}">
                      <a16:creationId xmlns:a16="http://schemas.microsoft.com/office/drawing/2014/main" id="{D58494FF-FA7C-AE4C-9FCE-CFC76C71AE8B}"/>
                    </a:ext>
                  </a:extLst>
                </p:cNvPr>
                <p:cNvSpPr/>
                <p:nvPr/>
              </p:nvSpPr>
              <p:spPr>
                <a:xfrm>
                  <a:off x="7393547" y="8672370"/>
                  <a:ext cx="3429000" cy="371475"/>
                </a:xfrm>
                <a:prstGeom prst="rightArrow">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sp>
              <p:nvSpPr>
                <p:cNvPr id="75" name="スマイル 74">
                  <a:extLst>
                    <a:ext uri="{FF2B5EF4-FFF2-40B4-BE49-F238E27FC236}">
                      <a16:creationId xmlns:a16="http://schemas.microsoft.com/office/drawing/2014/main" id="{D2EEE5BE-9FEE-CD4D-BDCC-6867178058F1}"/>
                    </a:ext>
                  </a:extLst>
                </p:cNvPr>
                <p:cNvSpPr/>
                <p:nvPr/>
              </p:nvSpPr>
              <p:spPr>
                <a:xfrm>
                  <a:off x="11627601" y="8055251"/>
                  <a:ext cx="1656784" cy="1507436"/>
                </a:xfrm>
                <a:prstGeom prst="smileyFac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6" name="テキスト ボックス 75">
                  <a:extLst>
                    <a:ext uri="{FF2B5EF4-FFF2-40B4-BE49-F238E27FC236}">
                      <a16:creationId xmlns:a16="http://schemas.microsoft.com/office/drawing/2014/main" id="{6DABBA91-6C25-2B47-BFEF-FA23EB3FA687}"/>
                    </a:ext>
                  </a:extLst>
                </p:cNvPr>
                <p:cNvSpPr txBox="1"/>
                <p:nvPr/>
              </p:nvSpPr>
              <p:spPr>
                <a:xfrm>
                  <a:off x="11548631" y="7319687"/>
                  <a:ext cx="1735754" cy="646331"/>
                </a:xfrm>
                <a:prstGeom prst="rect">
                  <a:avLst/>
                </a:prstGeom>
                <a:noFill/>
              </p:spPr>
              <p:txBody>
                <a:bodyPr wrap="square" rtlCol="0">
                  <a:spAutoFit/>
                </a:bodyPr>
                <a:lstStyle/>
                <a:p>
                  <a:pPr algn="ctr"/>
                  <a:r>
                    <a:rPr lang="en-US" altLang="ja-JP" dirty="0"/>
                    <a:t>human</a:t>
                  </a:r>
                  <a:endParaRPr kumimoji="1" lang="ja-JP" altLang="en-US"/>
                </a:p>
              </p:txBody>
            </p:sp>
          </p:grpSp>
          <p:sp>
            <p:nvSpPr>
              <p:cNvPr id="71" name="スマイル 70">
                <a:extLst>
                  <a:ext uri="{FF2B5EF4-FFF2-40B4-BE49-F238E27FC236}">
                    <a16:creationId xmlns:a16="http://schemas.microsoft.com/office/drawing/2014/main" id="{2EC0D37C-B956-BD4C-96BD-FAB37D8CCF01}"/>
                  </a:ext>
                </a:extLst>
              </p:cNvPr>
              <p:cNvSpPr/>
              <p:nvPr/>
            </p:nvSpPr>
            <p:spPr>
              <a:xfrm>
                <a:off x="4931710" y="8104390"/>
                <a:ext cx="1656784" cy="1507436"/>
              </a:xfrm>
              <a:prstGeom prst="smileyFac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テキスト ボックス 71">
                <a:extLst>
                  <a:ext uri="{FF2B5EF4-FFF2-40B4-BE49-F238E27FC236}">
                    <a16:creationId xmlns:a16="http://schemas.microsoft.com/office/drawing/2014/main" id="{B73E9CF9-95EC-FC4D-BED2-D96653921001}"/>
                  </a:ext>
                </a:extLst>
              </p:cNvPr>
              <p:cNvSpPr txBox="1"/>
              <p:nvPr/>
            </p:nvSpPr>
            <p:spPr>
              <a:xfrm>
                <a:off x="4892225" y="7434944"/>
                <a:ext cx="1735754" cy="646331"/>
              </a:xfrm>
              <a:prstGeom prst="rect">
                <a:avLst/>
              </a:prstGeom>
              <a:noFill/>
            </p:spPr>
            <p:txBody>
              <a:bodyPr wrap="square" rtlCol="0">
                <a:spAutoFit/>
              </a:bodyPr>
              <a:lstStyle/>
              <a:p>
                <a:pPr algn="ctr"/>
                <a:r>
                  <a:rPr kumimoji="1" lang="en-US" altLang="ja-JP" dirty="0"/>
                  <a:t>agent</a:t>
                </a:r>
                <a:endParaRPr kumimoji="1" lang="ja-JP" altLang="en-US"/>
              </a:p>
            </p:txBody>
          </p:sp>
        </p:grpSp>
      </p:grpSp>
      <p:sp>
        <p:nvSpPr>
          <p:cNvPr id="84" name="テキスト プレースホルダー 29">
            <a:extLst>
              <a:ext uri="{FF2B5EF4-FFF2-40B4-BE49-F238E27FC236}">
                <a16:creationId xmlns:a16="http://schemas.microsoft.com/office/drawing/2014/main" id="{19F75963-FBE9-F84B-AC0C-EEE55E628B97}"/>
              </a:ext>
            </a:extLst>
          </p:cNvPr>
          <p:cNvSpPr txBox="1">
            <a:spLocks/>
          </p:cNvSpPr>
          <p:nvPr/>
        </p:nvSpPr>
        <p:spPr>
          <a:xfrm>
            <a:off x="1457090" y="3246502"/>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Q1</a:t>
            </a:r>
            <a:r>
              <a:rPr lang="ja-JP" altLang="en-US"/>
              <a:t>：選好を明らかにするための戦略は人間の行動に影響を及ぼすか？</a:t>
            </a:r>
          </a:p>
        </p:txBody>
      </p:sp>
      <p:sp>
        <p:nvSpPr>
          <p:cNvPr id="85" name="テキスト プレースホルダー 29">
            <a:extLst>
              <a:ext uri="{FF2B5EF4-FFF2-40B4-BE49-F238E27FC236}">
                <a16:creationId xmlns:a16="http://schemas.microsoft.com/office/drawing/2014/main" id="{20CE951B-7F66-7D4D-9538-B8EC240262A8}"/>
              </a:ext>
            </a:extLst>
          </p:cNvPr>
          <p:cNvSpPr txBox="1">
            <a:spLocks/>
          </p:cNvSpPr>
          <p:nvPr/>
        </p:nvSpPr>
        <p:spPr>
          <a:xfrm>
            <a:off x="1457090" y="3976067"/>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Q2</a:t>
            </a:r>
            <a:r>
              <a:rPr lang="ja-JP" altLang="en-US"/>
              <a:t>：選好を明らかにするための戦略は統合的交渉に影響を与えるか？</a:t>
            </a:r>
          </a:p>
        </p:txBody>
      </p:sp>
      <p:sp>
        <p:nvSpPr>
          <p:cNvPr id="86" name="テキスト プレースホルダー 29">
            <a:extLst>
              <a:ext uri="{FF2B5EF4-FFF2-40B4-BE49-F238E27FC236}">
                <a16:creationId xmlns:a16="http://schemas.microsoft.com/office/drawing/2014/main" id="{4F135535-5A3C-C24D-BFFF-4F1F217E4BBB}"/>
              </a:ext>
            </a:extLst>
          </p:cNvPr>
          <p:cNvSpPr txBox="1">
            <a:spLocks/>
          </p:cNvSpPr>
          <p:nvPr/>
        </p:nvSpPr>
        <p:spPr>
          <a:xfrm>
            <a:off x="1445162" y="4703723"/>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Q3</a:t>
            </a:r>
            <a:r>
              <a:rPr lang="ja-JP" altLang="en-US"/>
              <a:t>：積極的な行動は相手を譲歩させるのか？</a:t>
            </a:r>
          </a:p>
        </p:txBody>
      </p:sp>
      <p:sp>
        <p:nvSpPr>
          <p:cNvPr id="41" name="テキスト ボックス 40">
            <a:extLst>
              <a:ext uri="{FF2B5EF4-FFF2-40B4-BE49-F238E27FC236}">
                <a16:creationId xmlns:a16="http://schemas.microsoft.com/office/drawing/2014/main" id="{F613CE05-0AE6-7842-8A7E-E90DD8622F74}"/>
              </a:ext>
            </a:extLst>
          </p:cNvPr>
          <p:cNvSpPr txBox="1"/>
          <p:nvPr/>
        </p:nvSpPr>
        <p:spPr>
          <a:xfrm>
            <a:off x="4682520" y="6921590"/>
            <a:ext cx="2155164" cy="646331"/>
          </a:xfrm>
          <a:prstGeom prst="rect">
            <a:avLst/>
          </a:prstGeom>
          <a:noFill/>
        </p:spPr>
        <p:txBody>
          <a:bodyPr wrap="square" rtlCol="0">
            <a:spAutoFit/>
          </a:bodyPr>
          <a:lstStyle/>
          <a:p>
            <a:pPr algn="ctr"/>
            <a:r>
              <a:rPr lang="en-US" altLang="ja-JP" dirty="0"/>
              <a:t>S</a:t>
            </a:r>
            <a:r>
              <a:rPr kumimoji="1" lang="en-US" altLang="ja-JP" dirty="0"/>
              <a:t>trategic</a:t>
            </a:r>
            <a:endParaRPr kumimoji="1" lang="ja-JP" altLang="en-US"/>
          </a:p>
        </p:txBody>
      </p:sp>
      <p:sp>
        <p:nvSpPr>
          <p:cNvPr id="42" name="角丸四角形吹き出し 41">
            <a:extLst>
              <a:ext uri="{FF2B5EF4-FFF2-40B4-BE49-F238E27FC236}">
                <a16:creationId xmlns:a16="http://schemas.microsoft.com/office/drawing/2014/main" id="{2CC83B68-D0CE-DC4A-895B-94E1A075E0C4}"/>
              </a:ext>
            </a:extLst>
          </p:cNvPr>
          <p:cNvSpPr/>
          <p:nvPr/>
        </p:nvSpPr>
        <p:spPr>
          <a:xfrm>
            <a:off x="1010561" y="6523495"/>
            <a:ext cx="3639733" cy="1442523"/>
          </a:xfrm>
          <a:prstGeom prst="wedgeRoundRectCallout">
            <a:avLst>
              <a:gd name="adj1" fmla="val 44418"/>
              <a:gd name="adj2" fmla="val 78434"/>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a:t>パスタより</a:t>
            </a:r>
            <a:endParaRPr kumimoji="1" lang="en-US" altLang="ja-JP" dirty="0"/>
          </a:p>
          <a:p>
            <a:pPr algn="ctr"/>
            <a:r>
              <a:rPr lang="ja-JP" altLang="en-US"/>
              <a:t>ピザが好き</a:t>
            </a:r>
            <a:endParaRPr kumimoji="1" lang="ja-JP" altLang="en-US"/>
          </a:p>
        </p:txBody>
      </p:sp>
    </p:spTree>
    <p:extLst>
      <p:ext uri="{BB962C8B-B14F-4D97-AF65-F5344CB8AC3E}">
        <p14:creationId xmlns:p14="http://schemas.microsoft.com/office/powerpoint/2010/main" val="3806332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3520CDD-7107-D140-A1A0-69D0D69B10F3}"/>
              </a:ext>
            </a:extLst>
          </p:cNvPr>
          <p:cNvSpPr>
            <a:spLocks noGrp="1"/>
          </p:cNvSpPr>
          <p:nvPr>
            <p:ph type="dt" sz="half" idx="10"/>
          </p:nvPr>
        </p:nvSpPr>
        <p:spPr/>
        <p:txBody>
          <a:bodyPr/>
          <a:lstStyle/>
          <a:p>
            <a:fld id="{35974365-84F6-754A-A339-DA79FFD42E98}" type="datetime1">
              <a:rPr lang="ja-JP" altLang="en-US" smtClean="0"/>
              <a:t>2018/6/9</a:t>
            </a:fld>
            <a:endParaRPr lang="ja-JP" altLang="en-US"/>
          </a:p>
        </p:txBody>
      </p:sp>
      <p:sp>
        <p:nvSpPr>
          <p:cNvPr id="3" name="フッター プレースホルダー 2">
            <a:extLst>
              <a:ext uri="{FF2B5EF4-FFF2-40B4-BE49-F238E27FC236}">
                <a16:creationId xmlns:a16="http://schemas.microsoft.com/office/drawing/2014/main" id="{6EEFBA0C-3454-8D4D-87CE-5BA9ED8AFBE5}"/>
              </a:ext>
            </a:extLst>
          </p:cNvPr>
          <p:cNvSpPr>
            <a:spLocks noGrp="1"/>
          </p:cNvSpPr>
          <p:nvPr>
            <p:ph type="ftr" sz="quarter" idx="11"/>
          </p:nvPr>
        </p:nvSpPr>
        <p:spPr/>
        <p:txBody>
          <a:bodyPr/>
          <a:lstStyle/>
          <a:p>
            <a:r>
              <a:rPr lang="ja-JP" altLang="en-US"/>
              <a:t>進捗報告</a:t>
            </a:r>
            <a:r>
              <a:rPr lang="en-US" altLang="ja-JP"/>
              <a:t>(2018.06.06)</a:t>
            </a:r>
            <a:endParaRPr lang="ja-JP" altLang="en-US"/>
          </a:p>
        </p:txBody>
      </p:sp>
      <p:sp>
        <p:nvSpPr>
          <p:cNvPr id="4" name="スライド番号プレースホルダー 3">
            <a:extLst>
              <a:ext uri="{FF2B5EF4-FFF2-40B4-BE49-F238E27FC236}">
                <a16:creationId xmlns:a16="http://schemas.microsoft.com/office/drawing/2014/main" id="{5D405AD0-9091-A94B-BA67-32995AD15B35}"/>
              </a:ext>
            </a:extLst>
          </p:cNvPr>
          <p:cNvSpPr>
            <a:spLocks noGrp="1"/>
          </p:cNvSpPr>
          <p:nvPr>
            <p:ph type="sldNum" sz="quarter" idx="12"/>
          </p:nvPr>
        </p:nvSpPr>
        <p:spPr/>
        <p:txBody>
          <a:bodyPr/>
          <a:lstStyle/>
          <a:p>
            <a:fld id="{89242BC1-393D-1248-985B-18DA624F2964}" type="slidenum">
              <a:rPr lang="ja-JP" altLang="en-US" smtClean="0"/>
              <a:pPr/>
              <a:t>9</a:t>
            </a:fld>
            <a:endParaRPr lang="ja-JP" altLang="en-US"/>
          </a:p>
        </p:txBody>
      </p:sp>
      <p:sp>
        <p:nvSpPr>
          <p:cNvPr id="5" name="テキスト プレースホルダー 4">
            <a:extLst>
              <a:ext uri="{FF2B5EF4-FFF2-40B4-BE49-F238E27FC236}">
                <a16:creationId xmlns:a16="http://schemas.microsoft.com/office/drawing/2014/main" id="{26DD2A8D-F804-D546-B77D-9693A67C3E0B}"/>
              </a:ext>
            </a:extLst>
          </p:cNvPr>
          <p:cNvSpPr>
            <a:spLocks noGrp="1"/>
          </p:cNvSpPr>
          <p:nvPr>
            <p:ph type="body" sz="quarter" idx="14"/>
          </p:nvPr>
        </p:nvSpPr>
        <p:spPr/>
        <p:txBody>
          <a:bodyPr/>
          <a:lstStyle/>
          <a:p>
            <a:r>
              <a:rPr kumimoji="1" lang="ja-JP" altLang="en-US"/>
              <a:t>実験</a:t>
            </a:r>
          </a:p>
        </p:txBody>
      </p:sp>
      <p:sp>
        <p:nvSpPr>
          <p:cNvPr id="6" name="テキスト プレースホルダー 5">
            <a:extLst>
              <a:ext uri="{FF2B5EF4-FFF2-40B4-BE49-F238E27FC236}">
                <a16:creationId xmlns:a16="http://schemas.microsoft.com/office/drawing/2014/main" id="{18F5D246-4675-9D44-B96B-BEDD6F01EDA7}"/>
              </a:ext>
            </a:extLst>
          </p:cNvPr>
          <p:cNvSpPr>
            <a:spLocks noGrp="1"/>
          </p:cNvSpPr>
          <p:nvPr>
            <p:ph type="body" sz="quarter" idx="13"/>
          </p:nvPr>
        </p:nvSpPr>
        <p:spPr/>
        <p:txBody>
          <a:bodyPr/>
          <a:lstStyle/>
          <a:p>
            <a:r>
              <a:rPr lang="en-US" altLang="ja-JP" dirty="0"/>
              <a:t>2</a:t>
            </a:r>
            <a:endParaRPr kumimoji="1" lang="ja-JP" altLang="en-US"/>
          </a:p>
        </p:txBody>
      </p:sp>
      <p:grpSp>
        <p:nvGrpSpPr>
          <p:cNvPr id="31" name="グループ化 30">
            <a:extLst>
              <a:ext uri="{FF2B5EF4-FFF2-40B4-BE49-F238E27FC236}">
                <a16:creationId xmlns:a16="http://schemas.microsoft.com/office/drawing/2014/main" id="{FD81DDC5-24B5-F24B-8DCA-6543CEE8DC81}"/>
              </a:ext>
            </a:extLst>
          </p:cNvPr>
          <p:cNvGrpSpPr/>
          <p:nvPr/>
        </p:nvGrpSpPr>
        <p:grpSpPr>
          <a:xfrm>
            <a:off x="289330" y="1413298"/>
            <a:ext cx="2160000" cy="934436"/>
            <a:chOff x="144665" y="525617"/>
            <a:chExt cx="1080000" cy="467218"/>
          </a:xfrm>
        </p:grpSpPr>
        <p:sp>
          <p:nvSpPr>
            <p:cNvPr id="32" name="正方形/長方形 31">
              <a:extLst>
                <a:ext uri="{FF2B5EF4-FFF2-40B4-BE49-F238E27FC236}">
                  <a16:creationId xmlns:a16="http://schemas.microsoft.com/office/drawing/2014/main" id="{073638CC-28A2-E943-AD34-548A0C227633}"/>
                </a:ext>
              </a:extLst>
            </p:cNvPr>
            <p:cNvSpPr/>
            <p:nvPr userDrawn="1"/>
          </p:nvSpPr>
          <p:spPr>
            <a:xfrm>
              <a:off x="145524" y="542424"/>
              <a:ext cx="91081" cy="450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sp>
          <p:nvSpPr>
            <p:cNvPr id="33" name="正方形/長方形 32">
              <a:extLst>
                <a:ext uri="{FF2B5EF4-FFF2-40B4-BE49-F238E27FC236}">
                  <a16:creationId xmlns:a16="http://schemas.microsoft.com/office/drawing/2014/main" id="{89C51296-914D-A74C-889D-A570C54F6A57}"/>
                </a:ext>
              </a:extLst>
            </p:cNvPr>
            <p:cNvSpPr/>
            <p:nvPr userDrawn="1"/>
          </p:nvSpPr>
          <p:spPr>
            <a:xfrm>
              <a:off x="144665" y="525617"/>
              <a:ext cx="1080000" cy="161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grpSp>
      <p:grpSp>
        <p:nvGrpSpPr>
          <p:cNvPr id="34" name="グループ化 33">
            <a:extLst>
              <a:ext uri="{FF2B5EF4-FFF2-40B4-BE49-F238E27FC236}">
                <a16:creationId xmlns:a16="http://schemas.microsoft.com/office/drawing/2014/main" id="{FC0C993D-26F8-9648-8C42-6E3A827F97DE}"/>
              </a:ext>
            </a:extLst>
          </p:cNvPr>
          <p:cNvGrpSpPr/>
          <p:nvPr/>
        </p:nvGrpSpPr>
        <p:grpSpPr>
          <a:xfrm>
            <a:off x="617232" y="2557358"/>
            <a:ext cx="539448" cy="487368"/>
            <a:chOff x="400056" y="1061560"/>
            <a:chExt cx="269724" cy="243684"/>
          </a:xfrm>
        </p:grpSpPr>
        <p:sp>
          <p:nvSpPr>
            <p:cNvPr id="35" name="三角形 34">
              <a:extLst>
                <a:ext uri="{FF2B5EF4-FFF2-40B4-BE49-F238E27FC236}">
                  <a16:creationId xmlns:a16="http://schemas.microsoft.com/office/drawing/2014/main" id="{21EC1BB2-1EA3-DB45-83ED-42197AA1F0E3}"/>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36" name="三角形 35">
              <a:extLst>
                <a:ext uri="{FF2B5EF4-FFF2-40B4-BE49-F238E27FC236}">
                  <a16:creationId xmlns:a16="http://schemas.microsoft.com/office/drawing/2014/main" id="{92822503-D36D-7644-A490-99EB8A1079E7}"/>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37" name="テキスト プレースホルダー 30">
            <a:extLst>
              <a:ext uri="{FF2B5EF4-FFF2-40B4-BE49-F238E27FC236}">
                <a16:creationId xmlns:a16="http://schemas.microsoft.com/office/drawing/2014/main" id="{A73B3907-668E-1A41-B5F4-6D46EA930E91}"/>
              </a:ext>
            </a:extLst>
          </p:cNvPr>
          <p:cNvSpPr txBox="1">
            <a:spLocks/>
          </p:cNvSpPr>
          <p:nvPr/>
        </p:nvSpPr>
        <p:spPr>
          <a:xfrm>
            <a:off x="571049" y="1583871"/>
            <a:ext cx="17302163" cy="1403350"/>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60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目的</a:t>
            </a:r>
          </a:p>
        </p:txBody>
      </p:sp>
      <p:sp>
        <p:nvSpPr>
          <p:cNvPr id="38" name="テキスト プレースホルダー 27">
            <a:extLst>
              <a:ext uri="{FF2B5EF4-FFF2-40B4-BE49-F238E27FC236}">
                <a16:creationId xmlns:a16="http://schemas.microsoft.com/office/drawing/2014/main" id="{52FC6201-0015-374A-A9F7-4FCF0162EFE8}"/>
              </a:ext>
            </a:extLst>
          </p:cNvPr>
          <p:cNvSpPr txBox="1">
            <a:spLocks/>
          </p:cNvSpPr>
          <p:nvPr/>
        </p:nvSpPr>
        <p:spPr>
          <a:xfrm>
            <a:off x="1254486" y="2484733"/>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人間同士の交渉で生じる効果について調査</a:t>
            </a:r>
            <a:endParaRPr lang="en-US" altLang="ja-JP" dirty="0"/>
          </a:p>
        </p:txBody>
      </p:sp>
      <p:sp>
        <p:nvSpPr>
          <p:cNvPr id="57" name="三角形 56">
            <a:extLst>
              <a:ext uri="{FF2B5EF4-FFF2-40B4-BE49-F238E27FC236}">
                <a16:creationId xmlns:a16="http://schemas.microsoft.com/office/drawing/2014/main" id="{7F703886-4132-A74D-B009-F1827BE6F3C7}"/>
              </a:ext>
            </a:extLst>
          </p:cNvPr>
          <p:cNvSpPr/>
          <p:nvPr/>
        </p:nvSpPr>
        <p:spPr>
          <a:xfrm rot="5400000">
            <a:off x="1076238" y="3361776"/>
            <a:ext cx="480900" cy="320016"/>
          </a:xfrm>
          <a:prstGeom prst="triangl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23" name="三角形 22">
            <a:extLst>
              <a:ext uri="{FF2B5EF4-FFF2-40B4-BE49-F238E27FC236}">
                <a16:creationId xmlns:a16="http://schemas.microsoft.com/office/drawing/2014/main" id="{71DA17BD-74F3-FE4A-96F4-94A9E3AA34CD}"/>
              </a:ext>
            </a:extLst>
          </p:cNvPr>
          <p:cNvSpPr/>
          <p:nvPr/>
        </p:nvSpPr>
        <p:spPr>
          <a:xfrm rot="5400000">
            <a:off x="1076238" y="4091341"/>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26" name="三角形 25">
            <a:extLst>
              <a:ext uri="{FF2B5EF4-FFF2-40B4-BE49-F238E27FC236}">
                <a16:creationId xmlns:a16="http://schemas.microsoft.com/office/drawing/2014/main" id="{09C71C8C-E299-4C44-AEC0-7E2553B12794}"/>
              </a:ext>
            </a:extLst>
          </p:cNvPr>
          <p:cNvSpPr/>
          <p:nvPr/>
        </p:nvSpPr>
        <p:spPr>
          <a:xfrm rot="5400000">
            <a:off x="1064310" y="4818997"/>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nvGrpSpPr>
          <p:cNvPr id="28" name="グループ化 27">
            <a:extLst>
              <a:ext uri="{FF2B5EF4-FFF2-40B4-BE49-F238E27FC236}">
                <a16:creationId xmlns:a16="http://schemas.microsoft.com/office/drawing/2014/main" id="{0C2D99A1-A391-B34D-B51D-2646448B5EE0}"/>
              </a:ext>
            </a:extLst>
          </p:cNvPr>
          <p:cNvGrpSpPr/>
          <p:nvPr/>
        </p:nvGrpSpPr>
        <p:grpSpPr>
          <a:xfrm>
            <a:off x="617232" y="5532687"/>
            <a:ext cx="539448" cy="487368"/>
            <a:chOff x="400056" y="1061560"/>
            <a:chExt cx="269724" cy="243684"/>
          </a:xfrm>
        </p:grpSpPr>
        <p:sp>
          <p:nvSpPr>
            <p:cNvPr id="29" name="三角形 28">
              <a:extLst>
                <a:ext uri="{FF2B5EF4-FFF2-40B4-BE49-F238E27FC236}">
                  <a16:creationId xmlns:a16="http://schemas.microsoft.com/office/drawing/2014/main" id="{71EBF793-5064-E34A-9387-1426F995A3B3}"/>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30" name="三角形 29">
              <a:extLst>
                <a:ext uri="{FF2B5EF4-FFF2-40B4-BE49-F238E27FC236}">
                  <a16:creationId xmlns:a16="http://schemas.microsoft.com/office/drawing/2014/main" id="{5D106750-2C77-6545-AB79-4AEB07AD03A4}"/>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39" name="テキスト プレースホルダー 27">
            <a:extLst>
              <a:ext uri="{FF2B5EF4-FFF2-40B4-BE49-F238E27FC236}">
                <a16:creationId xmlns:a16="http://schemas.microsoft.com/office/drawing/2014/main" id="{E90FC0FA-6B43-C040-A5F9-B0941E894243}"/>
              </a:ext>
            </a:extLst>
          </p:cNvPr>
          <p:cNvSpPr txBox="1">
            <a:spLocks/>
          </p:cNvSpPr>
          <p:nvPr/>
        </p:nvSpPr>
        <p:spPr>
          <a:xfrm>
            <a:off x="1254486" y="5460062"/>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IAGO</a:t>
            </a:r>
            <a:r>
              <a:rPr lang="ja-JP" altLang="en-US"/>
              <a:t>がプラットフォームとして機能することを実証</a:t>
            </a:r>
            <a:endParaRPr lang="en-US" altLang="ja-JP" dirty="0"/>
          </a:p>
        </p:txBody>
      </p:sp>
      <p:grpSp>
        <p:nvGrpSpPr>
          <p:cNvPr id="10" name="グループ化 9">
            <a:extLst>
              <a:ext uri="{FF2B5EF4-FFF2-40B4-BE49-F238E27FC236}">
                <a16:creationId xmlns:a16="http://schemas.microsoft.com/office/drawing/2014/main" id="{F091F937-1A64-DD4F-AB54-AAA0B5CC7107}"/>
              </a:ext>
            </a:extLst>
          </p:cNvPr>
          <p:cNvGrpSpPr/>
          <p:nvPr/>
        </p:nvGrpSpPr>
        <p:grpSpPr>
          <a:xfrm>
            <a:off x="3216825" y="6523494"/>
            <a:ext cx="13771859" cy="6780234"/>
            <a:chOff x="3216825" y="6523494"/>
            <a:chExt cx="13771859" cy="6780234"/>
          </a:xfrm>
        </p:grpSpPr>
        <p:grpSp>
          <p:nvGrpSpPr>
            <p:cNvPr id="42" name="グループ化 41">
              <a:extLst>
                <a:ext uri="{FF2B5EF4-FFF2-40B4-BE49-F238E27FC236}">
                  <a16:creationId xmlns:a16="http://schemas.microsoft.com/office/drawing/2014/main" id="{7A5AD580-7131-D041-B8E4-17B27DF3D69B}"/>
                </a:ext>
              </a:extLst>
            </p:cNvPr>
            <p:cNvGrpSpPr/>
            <p:nvPr/>
          </p:nvGrpSpPr>
          <p:grpSpPr>
            <a:xfrm>
              <a:off x="3216825" y="10402558"/>
              <a:ext cx="11854350" cy="2901170"/>
              <a:chOff x="2226339" y="9389213"/>
              <a:chExt cx="11854350" cy="2901170"/>
            </a:xfrm>
          </p:grpSpPr>
          <p:sp>
            <p:nvSpPr>
              <p:cNvPr id="60" name="テキスト ボックス 59">
                <a:extLst>
                  <a:ext uri="{FF2B5EF4-FFF2-40B4-BE49-F238E27FC236}">
                    <a16:creationId xmlns:a16="http://schemas.microsoft.com/office/drawing/2014/main" id="{678385E7-AEA7-1545-BC28-12A84E30494D}"/>
                  </a:ext>
                </a:extLst>
              </p:cNvPr>
              <p:cNvSpPr txBox="1"/>
              <p:nvPr/>
            </p:nvSpPr>
            <p:spPr>
              <a:xfrm>
                <a:off x="5900499" y="11644052"/>
                <a:ext cx="4506031" cy="646331"/>
              </a:xfrm>
              <a:prstGeom prst="rect">
                <a:avLst/>
              </a:prstGeom>
              <a:noFill/>
            </p:spPr>
            <p:txBody>
              <a:bodyPr wrap="square" rtlCol="0">
                <a:spAutoFit/>
              </a:bodyPr>
              <a:lstStyle/>
              <a:p>
                <a:pPr algn="ctr"/>
                <a:r>
                  <a:rPr lang="ja-JP" altLang="en-US"/>
                  <a:t>交渉内容</a:t>
                </a:r>
                <a:endParaRPr kumimoji="1" lang="ja-JP" altLang="en-US"/>
              </a:p>
            </p:txBody>
          </p:sp>
          <p:grpSp>
            <p:nvGrpSpPr>
              <p:cNvPr id="61" name="グループ化 60">
                <a:extLst>
                  <a:ext uri="{FF2B5EF4-FFF2-40B4-BE49-F238E27FC236}">
                    <a16:creationId xmlns:a16="http://schemas.microsoft.com/office/drawing/2014/main" id="{B1257BC7-A9A4-0145-B7E3-80AA4250BF53}"/>
                  </a:ext>
                </a:extLst>
              </p:cNvPr>
              <p:cNvGrpSpPr/>
              <p:nvPr/>
            </p:nvGrpSpPr>
            <p:grpSpPr>
              <a:xfrm>
                <a:off x="2226339" y="9389213"/>
                <a:ext cx="11854350" cy="2010101"/>
                <a:chOff x="3821592" y="9287685"/>
                <a:chExt cx="11854350" cy="2010101"/>
              </a:xfrm>
            </p:grpSpPr>
            <p:pic>
              <p:nvPicPr>
                <p:cNvPr id="62" name="グラフィックス 61" descr="Pasta">
                  <a:extLst>
                    <a:ext uri="{FF2B5EF4-FFF2-40B4-BE49-F238E27FC236}">
                      <a16:creationId xmlns:a16="http://schemas.microsoft.com/office/drawing/2014/main" id="{ED4D337F-9799-B745-B30C-8159E7F46B7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18892" y="9287685"/>
                  <a:ext cx="1956819" cy="1956819"/>
                </a:xfrm>
                <a:prstGeom prst="rect">
                  <a:avLst/>
                </a:prstGeom>
              </p:spPr>
            </p:pic>
            <p:pic>
              <p:nvPicPr>
                <p:cNvPr id="63" name="グラフィックス 62" descr="Pizza">
                  <a:extLst>
                    <a:ext uri="{FF2B5EF4-FFF2-40B4-BE49-F238E27FC236}">
                      <a16:creationId xmlns:a16="http://schemas.microsoft.com/office/drawing/2014/main" id="{CA5DE0F4-4516-D64E-AD45-516F7361A4A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120242" y="9340967"/>
                  <a:ext cx="1956819" cy="1956819"/>
                </a:xfrm>
                <a:prstGeom prst="rect">
                  <a:avLst/>
                </a:prstGeom>
              </p:spPr>
            </p:pic>
            <p:pic>
              <p:nvPicPr>
                <p:cNvPr id="64" name="グラフィックス 63" descr="CakeSlice">
                  <a:extLst>
                    <a:ext uri="{FF2B5EF4-FFF2-40B4-BE49-F238E27FC236}">
                      <a16:creationId xmlns:a16="http://schemas.microsoft.com/office/drawing/2014/main" id="{25798C40-7A38-9840-8342-7F71004DCAF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821592" y="9334846"/>
                  <a:ext cx="1956819" cy="1956819"/>
                </a:xfrm>
                <a:prstGeom prst="rect">
                  <a:avLst/>
                </a:prstGeom>
              </p:spPr>
            </p:pic>
            <p:pic>
              <p:nvPicPr>
                <p:cNvPr id="65" name="グラフィックス 64" descr="Donut">
                  <a:extLst>
                    <a:ext uri="{FF2B5EF4-FFF2-40B4-BE49-F238E27FC236}">
                      <a16:creationId xmlns:a16="http://schemas.microsoft.com/office/drawing/2014/main" id="{BE88A548-551D-8F42-AD5D-3876BBCA010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3717542" y="9333265"/>
                  <a:ext cx="1958400" cy="1958400"/>
                </a:xfrm>
                <a:prstGeom prst="rect">
                  <a:avLst/>
                </a:prstGeom>
              </p:spPr>
            </p:pic>
          </p:grpSp>
        </p:grpSp>
        <p:grpSp>
          <p:nvGrpSpPr>
            <p:cNvPr id="9" name="グループ化 8">
              <a:extLst>
                <a:ext uri="{FF2B5EF4-FFF2-40B4-BE49-F238E27FC236}">
                  <a16:creationId xmlns:a16="http://schemas.microsoft.com/office/drawing/2014/main" id="{5B999764-C39B-4C48-B4AB-727CD2B0264E}"/>
                </a:ext>
              </a:extLst>
            </p:cNvPr>
            <p:cNvGrpSpPr/>
            <p:nvPr/>
          </p:nvGrpSpPr>
          <p:grpSpPr>
            <a:xfrm>
              <a:off x="4892225" y="6523494"/>
              <a:ext cx="12096459" cy="3088332"/>
              <a:chOff x="4892225" y="6523494"/>
              <a:chExt cx="12096459" cy="3088332"/>
            </a:xfrm>
          </p:grpSpPr>
          <p:grpSp>
            <p:nvGrpSpPr>
              <p:cNvPr id="7" name="グループ化 6">
                <a:extLst>
                  <a:ext uri="{FF2B5EF4-FFF2-40B4-BE49-F238E27FC236}">
                    <a16:creationId xmlns:a16="http://schemas.microsoft.com/office/drawing/2014/main" id="{1C5BD32F-189A-A64F-ACFA-F39C61042C94}"/>
                  </a:ext>
                </a:extLst>
              </p:cNvPr>
              <p:cNvGrpSpPr/>
              <p:nvPr/>
            </p:nvGrpSpPr>
            <p:grpSpPr>
              <a:xfrm>
                <a:off x="7393547" y="6523494"/>
                <a:ext cx="9595137" cy="3039193"/>
                <a:chOff x="7393547" y="6523494"/>
                <a:chExt cx="9595137" cy="3039193"/>
              </a:xfrm>
            </p:grpSpPr>
            <p:sp>
              <p:nvSpPr>
                <p:cNvPr id="56" name="右矢印 55">
                  <a:extLst>
                    <a:ext uri="{FF2B5EF4-FFF2-40B4-BE49-F238E27FC236}">
                      <a16:creationId xmlns:a16="http://schemas.microsoft.com/office/drawing/2014/main" id="{D3D6865F-741F-8540-9761-8CA1ECAEAA13}"/>
                    </a:ext>
                  </a:extLst>
                </p:cNvPr>
                <p:cNvSpPr/>
                <p:nvPr/>
              </p:nvSpPr>
              <p:spPr>
                <a:xfrm flipH="1">
                  <a:off x="7393547" y="8672370"/>
                  <a:ext cx="3429000" cy="371475"/>
                </a:xfrm>
                <a:prstGeom prst="rightArrow">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sp>
              <p:nvSpPr>
                <p:cNvPr id="66" name="スマイル 65">
                  <a:extLst>
                    <a:ext uri="{FF2B5EF4-FFF2-40B4-BE49-F238E27FC236}">
                      <a16:creationId xmlns:a16="http://schemas.microsoft.com/office/drawing/2014/main" id="{E75371D3-810A-654E-BE5F-2FB5F90DB80F}"/>
                    </a:ext>
                  </a:extLst>
                </p:cNvPr>
                <p:cNvSpPr/>
                <p:nvPr/>
              </p:nvSpPr>
              <p:spPr>
                <a:xfrm>
                  <a:off x="11627601" y="8055251"/>
                  <a:ext cx="1656784" cy="1507436"/>
                </a:xfrm>
                <a:prstGeom prst="smileyFac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テキスト ボックス 66">
                  <a:extLst>
                    <a:ext uri="{FF2B5EF4-FFF2-40B4-BE49-F238E27FC236}">
                      <a16:creationId xmlns:a16="http://schemas.microsoft.com/office/drawing/2014/main" id="{A8EC4849-5007-8C45-BCE4-C17920D02E4C}"/>
                    </a:ext>
                  </a:extLst>
                </p:cNvPr>
                <p:cNvSpPr txBox="1"/>
                <p:nvPr/>
              </p:nvSpPr>
              <p:spPr>
                <a:xfrm>
                  <a:off x="11548631" y="7319687"/>
                  <a:ext cx="1735754" cy="646331"/>
                </a:xfrm>
                <a:prstGeom prst="rect">
                  <a:avLst/>
                </a:prstGeom>
                <a:noFill/>
              </p:spPr>
              <p:txBody>
                <a:bodyPr wrap="square" rtlCol="0">
                  <a:spAutoFit/>
                </a:bodyPr>
                <a:lstStyle/>
                <a:p>
                  <a:pPr algn="ctr"/>
                  <a:r>
                    <a:rPr lang="en-US" altLang="ja-JP" dirty="0"/>
                    <a:t>human</a:t>
                  </a:r>
                  <a:endParaRPr kumimoji="1" lang="ja-JP" altLang="en-US"/>
                </a:p>
              </p:txBody>
            </p:sp>
            <p:sp>
              <p:nvSpPr>
                <p:cNvPr id="68" name="角丸四角形吹き出し 67">
                  <a:extLst>
                    <a:ext uri="{FF2B5EF4-FFF2-40B4-BE49-F238E27FC236}">
                      <a16:creationId xmlns:a16="http://schemas.microsoft.com/office/drawing/2014/main" id="{017C82AB-BBA2-B044-BF3A-1CC5E1BD18DE}"/>
                    </a:ext>
                  </a:extLst>
                </p:cNvPr>
                <p:cNvSpPr/>
                <p:nvPr/>
              </p:nvSpPr>
              <p:spPr>
                <a:xfrm>
                  <a:off x="13348951" y="6523494"/>
                  <a:ext cx="3639733" cy="1442523"/>
                </a:xfrm>
                <a:prstGeom prst="wedgeRoundRectCallout">
                  <a:avLst>
                    <a:gd name="adj1" fmla="val -42507"/>
                    <a:gd name="adj2" fmla="val 80970"/>
                    <a:gd name="adj3" fmla="val 16667"/>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ja-JP" altLang="en-US"/>
                    <a:t>この中で一番</a:t>
                  </a:r>
                  <a:endParaRPr lang="en-US" altLang="ja-JP" dirty="0"/>
                </a:p>
                <a:p>
                  <a:pPr algn="ctr"/>
                  <a:r>
                    <a:rPr lang="ja-JP" altLang="en-US"/>
                    <a:t>好きなのは？</a:t>
                  </a:r>
                  <a:endParaRPr kumimoji="1" lang="ja-JP" altLang="en-US"/>
                </a:p>
              </p:txBody>
            </p:sp>
          </p:grpSp>
          <p:sp>
            <p:nvSpPr>
              <p:cNvPr id="69" name="スマイル 68">
                <a:extLst>
                  <a:ext uri="{FF2B5EF4-FFF2-40B4-BE49-F238E27FC236}">
                    <a16:creationId xmlns:a16="http://schemas.microsoft.com/office/drawing/2014/main" id="{589C5BC9-5B99-9E40-BA79-D3906C3B7EEE}"/>
                  </a:ext>
                </a:extLst>
              </p:cNvPr>
              <p:cNvSpPr/>
              <p:nvPr/>
            </p:nvSpPr>
            <p:spPr>
              <a:xfrm>
                <a:off x="4931710" y="8104390"/>
                <a:ext cx="1656784" cy="1507436"/>
              </a:xfrm>
              <a:prstGeom prst="smileyFac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テキスト ボックス 69">
                <a:extLst>
                  <a:ext uri="{FF2B5EF4-FFF2-40B4-BE49-F238E27FC236}">
                    <a16:creationId xmlns:a16="http://schemas.microsoft.com/office/drawing/2014/main" id="{DE47CB1D-2B10-E340-A44F-9C3D61F62B29}"/>
                  </a:ext>
                </a:extLst>
              </p:cNvPr>
              <p:cNvSpPr txBox="1"/>
              <p:nvPr/>
            </p:nvSpPr>
            <p:spPr>
              <a:xfrm>
                <a:off x="4892225" y="7434944"/>
                <a:ext cx="1735754" cy="646331"/>
              </a:xfrm>
              <a:prstGeom prst="rect">
                <a:avLst/>
              </a:prstGeom>
              <a:noFill/>
            </p:spPr>
            <p:txBody>
              <a:bodyPr wrap="square" rtlCol="0">
                <a:spAutoFit/>
              </a:bodyPr>
              <a:lstStyle/>
              <a:p>
                <a:pPr algn="ctr"/>
                <a:r>
                  <a:rPr kumimoji="1" lang="en-US" altLang="ja-JP" dirty="0"/>
                  <a:t>agent</a:t>
                </a:r>
                <a:endParaRPr kumimoji="1" lang="ja-JP" altLang="en-US"/>
              </a:p>
            </p:txBody>
          </p:sp>
        </p:grpSp>
      </p:grpSp>
      <p:sp>
        <p:nvSpPr>
          <p:cNvPr id="72" name="テキスト プレースホルダー 29">
            <a:extLst>
              <a:ext uri="{FF2B5EF4-FFF2-40B4-BE49-F238E27FC236}">
                <a16:creationId xmlns:a16="http://schemas.microsoft.com/office/drawing/2014/main" id="{403746BA-F4FD-B64E-A356-E5F6E22664BE}"/>
              </a:ext>
            </a:extLst>
          </p:cNvPr>
          <p:cNvSpPr txBox="1">
            <a:spLocks/>
          </p:cNvSpPr>
          <p:nvPr/>
        </p:nvSpPr>
        <p:spPr>
          <a:xfrm>
            <a:off x="1457090" y="3246502"/>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Q1</a:t>
            </a:r>
            <a:r>
              <a:rPr lang="ja-JP" altLang="en-US"/>
              <a:t>：選好を明らかにするための戦略は人間の行動に影響を及ぼすか？</a:t>
            </a:r>
          </a:p>
        </p:txBody>
      </p:sp>
      <p:sp>
        <p:nvSpPr>
          <p:cNvPr id="73" name="テキスト プレースホルダー 29">
            <a:extLst>
              <a:ext uri="{FF2B5EF4-FFF2-40B4-BE49-F238E27FC236}">
                <a16:creationId xmlns:a16="http://schemas.microsoft.com/office/drawing/2014/main" id="{A8A832F9-EC6E-874C-8344-0EF97A5E6BB0}"/>
              </a:ext>
            </a:extLst>
          </p:cNvPr>
          <p:cNvSpPr txBox="1">
            <a:spLocks/>
          </p:cNvSpPr>
          <p:nvPr/>
        </p:nvSpPr>
        <p:spPr>
          <a:xfrm>
            <a:off x="1457090" y="3976067"/>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Q2</a:t>
            </a:r>
            <a:r>
              <a:rPr lang="ja-JP" altLang="en-US"/>
              <a:t>：選好を明らかにするための戦略は統合的交渉に影響を与えるか？</a:t>
            </a:r>
          </a:p>
        </p:txBody>
      </p:sp>
      <p:sp>
        <p:nvSpPr>
          <p:cNvPr id="74" name="テキスト プレースホルダー 29">
            <a:extLst>
              <a:ext uri="{FF2B5EF4-FFF2-40B4-BE49-F238E27FC236}">
                <a16:creationId xmlns:a16="http://schemas.microsoft.com/office/drawing/2014/main" id="{FD06A781-A10D-DB44-8281-C3832AADDB68}"/>
              </a:ext>
            </a:extLst>
          </p:cNvPr>
          <p:cNvSpPr txBox="1">
            <a:spLocks/>
          </p:cNvSpPr>
          <p:nvPr/>
        </p:nvSpPr>
        <p:spPr>
          <a:xfrm>
            <a:off x="1445162" y="4703723"/>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Q3</a:t>
            </a:r>
            <a:r>
              <a:rPr lang="ja-JP" altLang="en-US"/>
              <a:t>：積極的な行動は相手を譲歩させるのか？</a:t>
            </a:r>
          </a:p>
        </p:txBody>
      </p:sp>
      <p:sp>
        <p:nvSpPr>
          <p:cNvPr id="75" name="テキスト ボックス 74">
            <a:extLst>
              <a:ext uri="{FF2B5EF4-FFF2-40B4-BE49-F238E27FC236}">
                <a16:creationId xmlns:a16="http://schemas.microsoft.com/office/drawing/2014/main" id="{17CF17AF-8C09-5844-A919-91944E172382}"/>
              </a:ext>
            </a:extLst>
          </p:cNvPr>
          <p:cNvSpPr txBox="1"/>
          <p:nvPr/>
        </p:nvSpPr>
        <p:spPr>
          <a:xfrm>
            <a:off x="4682520" y="6921590"/>
            <a:ext cx="2155164" cy="646331"/>
          </a:xfrm>
          <a:prstGeom prst="rect">
            <a:avLst/>
          </a:prstGeom>
          <a:noFill/>
        </p:spPr>
        <p:txBody>
          <a:bodyPr wrap="square" rtlCol="0">
            <a:spAutoFit/>
          </a:bodyPr>
          <a:lstStyle/>
          <a:p>
            <a:pPr algn="ctr"/>
            <a:r>
              <a:rPr kumimoji="1" lang="en-US" altLang="ja-JP" dirty="0"/>
              <a:t>Free</a:t>
            </a:r>
            <a:endParaRPr kumimoji="1" lang="ja-JP" altLang="en-US"/>
          </a:p>
        </p:txBody>
      </p:sp>
    </p:spTree>
    <p:extLst>
      <p:ext uri="{BB962C8B-B14F-4D97-AF65-F5344CB8AC3E}">
        <p14:creationId xmlns:p14="http://schemas.microsoft.com/office/powerpoint/2010/main" val="30815729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3520CDD-7107-D140-A1A0-69D0D69B10F3}"/>
              </a:ext>
            </a:extLst>
          </p:cNvPr>
          <p:cNvSpPr>
            <a:spLocks noGrp="1"/>
          </p:cNvSpPr>
          <p:nvPr>
            <p:ph type="dt" sz="half" idx="10"/>
          </p:nvPr>
        </p:nvSpPr>
        <p:spPr/>
        <p:txBody>
          <a:bodyPr/>
          <a:lstStyle/>
          <a:p>
            <a:fld id="{35974365-84F6-754A-A339-DA79FFD42E98}" type="datetime1">
              <a:rPr lang="ja-JP" altLang="en-US" smtClean="0"/>
              <a:t>2018/6/9</a:t>
            </a:fld>
            <a:endParaRPr lang="ja-JP" altLang="en-US"/>
          </a:p>
        </p:txBody>
      </p:sp>
      <p:sp>
        <p:nvSpPr>
          <p:cNvPr id="3" name="フッター プレースホルダー 2">
            <a:extLst>
              <a:ext uri="{FF2B5EF4-FFF2-40B4-BE49-F238E27FC236}">
                <a16:creationId xmlns:a16="http://schemas.microsoft.com/office/drawing/2014/main" id="{6EEFBA0C-3454-8D4D-87CE-5BA9ED8AFBE5}"/>
              </a:ext>
            </a:extLst>
          </p:cNvPr>
          <p:cNvSpPr>
            <a:spLocks noGrp="1"/>
          </p:cNvSpPr>
          <p:nvPr>
            <p:ph type="ftr" sz="quarter" idx="11"/>
          </p:nvPr>
        </p:nvSpPr>
        <p:spPr/>
        <p:txBody>
          <a:bodyPr/>
          <a:lstStyle/>
          <a:p>
            <a:r>
              <a:rPr lang="ja-JP" altLang="en-US"/>
              <a:t>進捗報告</a:t>
            </a:r>
            <a:r>
              <a:rPr lang="en-US" altLang="ja-JP"/>
              <a:t>(2018.06.06)</a:t>
            </a:r>
            <a:endParaRPr lang="ja-JP" altLang="en-US"/>
          </a:p>
        </p:txBody>
      </p:sp>
      <p:sp>
        <p:nvSpPr>
          <p:cNvPr id="4" name="スライド番号プレースホルダー 3">
            <a:extLst>
              <a:ext uri="{FF2B5EF4-FFF2-40B4-BE49-F238E27FC236}">
                <a16:creationId xmlns:a16="http://schemas.microsoft.com/office/drawing/2014/main" id="{5D405AD0-9091-A94B-BA67-32995AD15B35}"/>
              </a:ext>
            </a:extLst>
          </p:cNvPr>
          <p:cNvSpPr>
            <a:spLocks noGrp="1"/>
          </p:cNvSpPr>
          <p:nvPr>
            <p:ph type="sldNum" sz="quarter" idx="12"/>
          </p:nvPr>
        </p:nvSpPr>
        <p:spPr/>
        <p:txBody>
          <a:bodyPr/>
          <a:lstStyle/>
          <a:p>
            <a:fld id="{89242BC1-393D-1248-985B-18DA624F2964}" type="slidenum">
              <a:rPr lang="ja-JP" altLang="en-US" smtClean="0"/>
              <a:pPr/>
              <a:t>10</a:t>
            </a:fld>
            <a:endParaRPr lang="ja-JP" altLang="en-US"/>
          </a:p>
        </p:txBody>
      </p:sp>
      <p:sp>
        <p:nvSpPr>
          <p:cNvPr id="5" name="テキスト プレースホルダー 4">
            <a:extLst>
              <a:ext uri="{FF2B5EF4-FFF2-40B4-BE49-F238E27FC236}">
                <a16:creationId xmlns:a16="http://schemas.microsoft.com/office/drawing/2014/main" id="{26DD2A8D-F804-D546-B77D-9693A67C3E0B}"/>
              </a:ext>
            </a:extLst>
          </p:cNvPr>
          <p:cNvSpPr>
            <a:spLocks noGrp="1"/>
          </p:cNvSpPr>
          <p:nvPr>
            <p:ph type="body" sz="quarter" idx="14"/>
          </p:nvPr>
        </p:nvSpPr>
        <p:spPr/>
        <p:txBody>
          <a:bodyPr/>
          <a:lstStyle/>
          <a:p>
            <a:r>
              <a:rPr kumimoji="1" lang="ja-JP" altLang="en-US"/>
              <a:t>実験</a:t>
            </a:r>
          </a:p>
        </p:txBody>
      </p:sp>
      <p:sp>
        <p:nvSpPr>
          <p:cNvPr id="6" name="テキスト プレースホルダー 5">
            <a:extLst>
              <a:ext uri="{FF2B5EF4-FFF2-40B4-BE49-F238E27FC236}">
                <a16:creationId xmlns:a16="http://schemas.microsoft.com/office/drawing/2014/main" id="{18F5D246-4675-9D44-B96B-BEDD6F01EDA7}"/>
              </a:ext>
            </a:extLst>
          </p:cNvPr>
          <p:cNvSpPr>
            <a:spLocks noGrp="1"/>
          </p:cNvSpPr>
          <p:nvPr>
            <p:ph type="body" sz="quarter" idx="13"/>
          </p:nvPr>
        </p:nvSpPr>
        <p:spPr/>
        <p:txBody>
          <a:bodyPr/>
          <a:lstStyle/>
          <a:p>
            <a:r>
              <a:rPr lang="en-US" altLang="ja-JP" dirty="0"/>
              <a:t>2</a:t>
            </a:r>
            <a:endParaRPr kumimoji="1" lang="ja-JP" altLang="en-US"/>
          </a:p>
        </p:txBody>
      </p:sp>
      <p:grpSp>
        <p:nvGrpSpPr>
          <p:cNvPr id="31" name="グループ化 30">
            <a:extLst>
              <a:ext uri="{FF2B5EF4-FFF2-40B4-BE49-F238E27FC236}">
                <a16:creationId xmlns:a16="http://schemas.microsoft.com/office/drawing/2014/main" id="{FD81DDC5-24B5-F24B-8DCA-6543CEE8DC81}"/>
              </a:ext>
            </a:extLst>
          </p:cNvPr>
          <p:cNvGrpSpPr/>
          <p:nvPr/>
        </p:nvGrpSpPr>
        <p:grpSpPr>
          <a:xfrm>
            <a:off x="289330" y="1413298"/>
            <a:ext cx="2160000" cy="934436"/>
            <a:chOff x="144665" y="525617"/>
            <a:chExt cx="1080000" cy="467218"/>
          </a:xfrm>
        </p:grpSpPr>
        <p:sp>
          <p:nvSpPr>
            <p:cNvPr id="32" name="正方形/長方形 31">
              <a:extLst>
                <a:ext uri="{FF2B5EF4-FFF2-40B4-BE49-F238E27FC236}">
                  <a16:creationId xmlns:a16="http://schemas.microsoft.com/office/drawing/2014/main" id="{073638CC-28A2-E943-AD34-548A0C227633}"/>
                </a:ext>
              </a:extLst>
            </p:cNvPr>
            <p:cNvSpPr/>
            <p:nvPr userDrawn="1"/>
          </p:nvSpPr>
          <p:spPr>
            <a:xfrm>
              <a:off x="145524" y="542424"/>
              <a:ext cx="91081" cy="450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sp>
          <p:nvSpPr>
            <p:cNvPr id="33" name="正方形/長方形 32">
              <a:extLst>
                <a:ext uri="{FF2B5EF4-FFF2-40B4-BE49-F238E27FC236}">
                  <a16:creationId xmlns:a16="http://schemas.microsoft.com/office/drawing/2014/main" id="{89C51296-914D-A74C-889D-A570C54F6A57}"/>
                </a:ext>
              </a:extLst>
            </p:cNvPr>
            <p:cNvSpPr/>
            <p:nvPr userDrawn="1"/>
          </p:nvSpPr>
          <p:spPr>
            <a:xfrm>
              <a:off x="144665" y="525617"/>
              <a:ext cx="1080000" cy="161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grpSp>
      <p:grpSp>
        <p:nvGrpSpPr>
          <p:cNvPr id="34" name="グループ化 33">
            <a:extLst>
              <a:ext uri="{FF2B5EF4-FFF2-40B4-BE49-F238E27FC236}">
                <a16:creationId xmlns:a16="http://schemas.microsoft.com/office/drawing/2014/main" id="{FC0C993D-26F8-9648-8C42-6E3A827F97DE}"/>
              </a:ext>
            </a:extLst>
          </p:cNvPr>
          <p:cNvGrpSpPr/>
          <p:nvPr/>
        </p:nvGrpSpPr>
        <p:grpSpPr>
          <a:xfrm>
            <a:off x="617232" y="2557358"/>
            <a:ext cx="539448" cy="487368"/>
            <a:chOff x="400056" y="1061560"/>
            <a:chExt cx="269724" cy="243684"/>
          </a:xfrm>
        </p:grpSpPr>
        <p:sp>
          <p:nvSpPr>
            <p:cNvPr id="35" name="三角形 34">
              <a:extLst>
                <a:ext uri="{FF2B5EF4-FFF2-40B4-BE49-F238E27FC236}">
                  <a16:creationId xmlns:a16="http://schemas.microsoft.com/office/drawing/2014/main" id="{21EC1BB2-1EA3-DB45-83ED-42197AA1F0E3}"/>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36" name="三角形 35">
              <a:extLst>
                <a:ext uri="{FF2B5EF4-FFF2-40B4-BE49-F238E27FC236}">
                  <a16:creationId xmlns:a16="http://schemas.microsoft.com/office/drawing/2014/main" id="{92822503-D36D-7644-A490-99EB8A1079E7}"/>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37" name="テキスト プレースホルダー 30">
            <a:extLst>
              <a:ext uri="{FF2B5EF4-FFF2-40B4-BE49-F238E27FC236}">
                <a16:creationId xmlns:a16="http://schemas.microsoft.com/office/drawing/2014/main" id="{A73B3907-668E-1A41-B5F4-6D46EA930E91}"/>
              </a:ext>
            </a:extLst>
          </p:cNvPr>
          <p:cNvSpPr txBox="1">
            <a:spLocks/>
          </p:cNvSpPr>
          <p:nvPr/>
        </p:nvSpPr>
        <p:spPr>
          <a:xfrm>
            <a:off x="571049" y="1583871"/>
            <a:ext cx="17302163" cy="1403350"/>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60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目的</a:t>
            </a:r>
          </a:p>
        </p:txBody>
      </p:sp>
      <p:sp>
        <p:nvSpPr>
          <p:cNvPr id="38" name="テキスト プレースホルダー 27">
            <a:extLst>
              <a:ext uri="{FF2B5EF4-FFF2-40B4-BE49-F238E27FC236}">
                <a16:creationId xmlns:a16="http://schemas.microsoft.com/office/drawing/2014/main" id="{52FC6201-0015-374A-A9F7-4FCF0162EFE8}"/>
              </a:ext>
            </a:extLst>
          </p:cNvPr>
          <p:cNvSpPr txBox="1">
            <a:spLocks/>
          </p:cNvSpPr>
          <p:nvPr/>
        </p:nvSpPr>
        <p:spPr>
          <a:xfrm>
            <a:off x="1254486" y="2484733"/>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人間同士の交渉で生じる効果について調査</a:t>
            </a:r>
            <a:endParaRPr lang="en-US" altLang="ja-JP" dirty="0"/>
          </a:p>
        </p:txBody>
      </p:sp>
      <p:sp>
        <p:nvSpPr>
          <p:cNvPr id="57" name="三角形 56">
            <a:extLst>
              <a:ext uri="{FF2B5EF4-FFF2-40B4-BE49-F238E27FC236}">
                <a16:creationId xmlns:a16="http://schemas.microsoft.com/office/drawing/2014/main" id="{7F703886-4132-A74D-B009-F1827BE6F3C7}"/>
              </a:ext>
            </a:extLst>
          </p:cNvPr>
          <p:cNvSpPr/>
          <p:nvPr/>
        </p:nvSpPr>
        <p:spPr>
          <a:xfrm rot="5400000">
            <a:off x="1076238" y="3361776"/>
            <a:ext cx="480900" cy="320016"/>
          </a:xfrm>
          <a:prstGeom prst="triangl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23" name="三角形 22">
            <a:extLst>
              <a:ext uri="{FF2B5EF4-FFF2-40B4-BE49-F238E27FC236}">
                <a16:creationId xmlns:a16="http://schemas.microsoft.com/office/drawing/2014/main" id="{71DA17BD-74F3-FE4A-96F4-94A9E3AA34CD}"/>
              </a:ext>
            </a:extLst>
          </p:cNvPr>
          <p:cNvSpPr/>
          <p:nvPr/>
        </p:nvSpPr>
        <p:spPr>
          <a:xfrm rot="5400000">
            <a:off x="1076238" y="4091341"/>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26" name="三角形 25">
            <a:extLst>
              <a:ext uri="{FF2B5EF4-FFF2-40B4-BE49-F238E27FC236}">
                <a16:creationId xmlns:a16="http://schemas.microsoft.com/office/drawing/2014/main" id="{09C71C8C-E299-4C44-AEC0-7E2553B12794}"/>
              </a:ext>
            </a:extLst>
          </p:cNvPr>
          <p:cNvSpPr/>
          <p:nvPr/>
        </p:nvSpPr>
        <p:spPr>
          <a:xfrm rot="5400000">
            <a:off x="1064310" y="4818997"/>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nvGrpSpPr>
          <p:cNvPr id="28" name="グループ化 27">
            <a:extLst>
              <a:ext uri="{FF2B5EF4-FFF2-40B4-BE49-F238E27FC236}">
                <a16:creationId xmlns:a16="http://schemas.microsoft.com/office/drawing/2014/main" id="{0C2D99A1-A391-B34D-B51D-2646448B5EE0}"/>
              </a:ext>
            </a:extLst>
          </p:cNvPr>
          <p:cNvGrpSpPr/>
          <p:nvPr/>
        </p:nvGrpSpPr>
        <p:grpSpPr>
          <a:xfrm>
            <a:off x="617232" y="5532687"/>
            <a:ext cx="539448" cy="487368"/>
            <a:chOff x="400056" y="1061560"/>
            <a:chExt cx="269724" cy="243684"/>
          </a:xfrm>
        </p:grpSpPr>
        <p:sp>
          <p:nvSpPr>
            <p:cNvPr id="29" name="三角形 28">
              <a:extLst>
                <a:ext uri="{FF2B5EF4-FFF2-40B4-BE49-F238E27FC236}">
                  <a16:creationId xmlns:a16="http://schemas.microsoft.com/office/drawing/2014/main" id="{71EBF793-5064-E34A-9387-1426F995A3B3}"/>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30" name="三角形 29">
              <a:extLst>
                <a:ext uri="{FF2B5EF4-FFF2-40B4-BE49-F238E27FC236}">
                  <a16:creationId xmlns:a16="http://schemas.microsoft.com/office/drawing/2014/main" id="{5D106750-2C77-6545-AB79-4AEB07AD03A4}"/>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39" name="テキスト プレースホルダー 27">
            <a:extLst>
              <a:ext uri="{FF2B5EF4-FFF2-40B4-BE49-F238E27FC236}">
                <a16:creationId xmlns:a16="http://schemas.microsoft.com/office/drawing/2014/main" id="{E90FC0FA-6B43-C040-A5F9-B0941E894243}"/>
              </a:ext>
            </a:extLst>
          </p:cNvPr>
          <p:cNvSpPr txBox="1">
            <a:spLocks/>
          </p:cNvSpPr>
          <p:nvPr/>
        </p:nvSpPr>
        <p:spPr>
          <a:xfrm>
            <a:off x="1254486" y="5460062"/>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IAGO</a:t>
            </a:r>
            <a:r>
              <a:rPr lang="ja-JP" altLang="en-US"/>
              <a:t>がプラットフォームとして機能することを実証</a:t>
            </a:r>
            <a:endParaRPr lang="en-US" altLang="ja-JP" dirty="0"/>
          </a:p>
        </p:txBody>
      </p:sp>
      <p:grpSp>
        <p:nvGrpSpPr>
          <p:cNvPr id="10" name="グループ化 9">
            <a:extLst>
              <a:ext uri="{FF2B5EF4-FFF2-40B4-BE49-F238E27FC236}">
                <a16:creationId xmlns:a16="http://schemas.microsoft.com/office/drawing/2014/main" id="{F091F937-1A64-DD4F-AB54-AAA0B5CC7107}"/>
              </a:ext>
            </a:extLst>
          </p:cNvPr>
          <p:cNvGrpSpPr/>
          <p:nvPr/>
        </p:nvGrpSpPr>
        <p:grpSpPr>
          <a:xfrm>
            <a:off x="3216825" y="7319687"/>
            <a:ext cx="11854350" cy="5984041"/>
            <a:chOff x="3216825" y="7319687"/>
            <a:chExt cx="11854350" cy="5984041"/>
          </a:xfrm>
        </p:grpSpPr>
        <p:grpSp>
          <p:nvGrpSpPr>
            <p:cNvPr id="42" name="グループ化 41">
              <a:extLst>
                <a:ext uri="{FF2B5EF4-FFF2-40B4-BE49-F238E27FC236}">
                  <a16:creationId xmlns:a16="http://schemas.microsoft.com/office/drawing/2014/main" id="{7A5AD580-7131-D041-B8E4-17B27DF3D69B}"/>
                </a:ext>
              </a:extLst>
            </p:cNvPr>
            <p:cNvGrpSpPr/>
            <p:nvPr/>
          </p:nvGrpSpPr>
          <p:grpSpPr>
            <a:xfrm>
              <a:off x="3216825" y="10402558"/>
              <a:ext cx="11854350" cy="2901170"/>
              <a:chOff x="2226339" y="9389213"/>
              <a:chExt cx="11854350" cy="2901170"/>
            </a:xfrm>
          </p:grpSpPr>
          <p:sp>
            <p:nvSpPr>
              <p:cNvPr id="60" name="テキスト ボックス 59">
                <a:extLst>
                  <a:ext uri="{FF2B5EF4-FFF2-40B4-BE49-F238E27FC236}">
                    <a16:creationId xmlns:a16="http://schemas.microsoft.com/office/drawing/2014/main" id="{678385E7-AEA7-1545-BC28-12A84E30494D}"/>
                  </a:ext>
                </a:extLst>
              </p:cNvPr>
              <p:cNvSpPr txBox="1"/>
              <p:nvPr/>
            </p:nvSpPr>
            <p:spPr>
              <a:xfrm>
                <a:off x="5900499" y="11644052"/>
                <a:ext cx="4506031" cy="646331"/>
              </a:xfrm>
              <a:prstGeom prst="rect">
                <a:avLst/>
              </a:prstGeom>
              <a:noFill/>
            </p:spPr>
            <p:txBody>
              <a:bodyPr wrap="square" rtlCol="0">
                <a:spAutoFit/>
              </a:bodyPr>
              <a:lstStyle/>
              <a:p>
                <a:pPr algn="ctr"/>
                <a:r>
                  <a:rPr lang="ja-JP" altLang="en-US"/>
                  <a:t>交渉内容</a:t>
                </a:r>
                <a:endParaRPr kumimoji="1" lang="ja-JP" altLang="en-US"/>
              </a:p>
            </p:txBody>
          </p:sp>
          <p:grpSp>
            <p:nvGrpSpPr>
              <p:cNvPr id="61" name="グループ化 60">
                <a:extLst>
                  <a:ext uri="{FF2B5EF4-FFF2-40B4-BE49-F238E27FC236}">
                    <a16:creationId xmlns:a16="http://schemas.microsoft.com/office/drawing/2014/main" id="{B1257BC7-A9A4-0145-B7E3-80AA4250BF53}"/>
                  </a:ext>
                </a:extLst>
              </p:cNvPr>
              <p:cNvGrpSpPr/>
              <p:nvPr/>
            </p:nvGrpSpPr>
            <p:grpSpPr>
              <a:xfrm>
                <a:off x="2226339" y="9389213"/>
                <a:ext cx="11854350" cy="2010101"/>
                <a:chOff x="3821592" y="9287685"/>
                <a:chExt cx="11854350" cy="2010101"/>
              </a:xfrm>
            </p:grpSpPr>
            <p:pic>
              <p:nvPicPr>
                <p:cNvPr id="62" name="グラフィックス 61" descr="Pasta">
                  <a:extLst>
                    <a:ext uri="{FF2B5EF4-FFF2-40B4-BE49-F238E27FC236}">
                      <a16:creationId xmlns:a16="http://schemas.microsoft.com/office/drawing/2014/main" id="{ED4D337F-9799-B745-B30C-8159E7F46B7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18892" y="9287685"/>
                  <a:ext cx="1956819" cy="1956819"/>
                </a:xfrm>
                <a:prstGeom prst="rect">
                  <a:avLst/>
                </a:prstGeom>
              </p:spPr>
            </p:pic>
            <p:pic>
              <p:nvPicPr>
                <p:cNvPr id="63" name="グラフィックス 62" descr="Pizza">
                  <a:extLst>
                    <a:ext uri="{FF2B5EF4-FFF2-40B4-BE49-F238E27FC236}">
                      <a16:creationId xmlns:a16="http://schemas.microsoft.com/office/drawing/2014/main" id="{CA5DE0F4-4516-D64E-AD45-516F7361A4A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120242" y="9340967"/>
                  <a:ext cx="1956819" cy="1956819"/>
                </a:xfrm>
                <a:prstGeom prst="rect">
                  <a:avLst/>
                </a:prstGeom>
              </p:spPr>
            </p:pic>
            <p:pic>
              <p:nvPicPr>
                <p:cNvPr id="64" name="グラフィックス 63" descr="CakeSlice">
                  <a:extLst>
                    <a:ext uri="{FF2B5EF4-FFF2-40B4-BE49-F238E27FC236}">
                      <a16:creationId xmlns:a16="http://schemas.microsoft.com/office/drawing/2014/main" id="{25798C40-7A38-9840-8342-7F71004DCAF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821592" y="9334846"/>
                  <a:ext cx="1956819" cy="1956819"/>
                </a:xfrm>
                <a:prstGeom prst="rect">
                  <a:avLst/>
                </a:prstGeom>
              </p:spPr>
            </p:pic>
            <p:pic>
              <p:nvPicPr>
                <p:cNvPr id="65" name="グラフィックス 64" descr="Donut">
                  <a:extLst>
                    <a:ext uri="{FF2B5EF4-FFF2-40B4-BE49-F238E27FC236}">
                      <a16:creationId xmlns:a16="http://schemas.microsoft.com/office/drawing/2014/main" id="{BE88A548-551D-8F42-AD5D-3876BBCA010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3717542" y="9333265"/>
                  <a:ext cx="1958400" cy="1958400"/>
                </a:xfrm>
                <a:prstGeom prst="rect">
                  <a:avLst/>
                </a:prstGeom>
              </p:spPr>
            </p:pic>
          </p:grpSp>
        </p:grpSp>
        <p:grpSp>
          <p:nvGrpSpPr>
            <p:cNvPr id="9" name="グループ化 8">
              <a:extLst>
                <a:ext uri="{FF2B5EF4-FFF2-40B4-BE49-F238E27FC236}">
                  <a16:creationId xmlns:a16="http://schemas.microsoft.com/office/drawing/2014/main" id="{5B999764-C39B-4C48-B4AB-727CD2B0264E}"/>
                </a:ext>
              </a:extLst>
            </p:cNvPr>
            <p:cNvGrpSpPr/>
            <p:nvPr/>
          </p:nvGrpSpPr>
          <p:grpSpPr>
            <a:xfrm>
              <a:off x="4892225" y="7319687"/>
              <a:ext cx="8392160" cy="2292139"/>
              <a:chOff x="4892225" y="7319687"/>
              <a:chExt cx="8392160" cy="2292139"/>
            </a:xfrm>
          </p:grpSpPr>
          <p:grpSp>
            <p:nvGrpSpPr>
              <p:cNvPr id="7" name="グループ化 6">
                <a:extLst>
                  <a:ext uri="{FF2B5EF4-FFF2-40B4-BE49-F238E27FC236}">
                    <a16:creationId xmlns:a16="http://schemas.microsoft.com/office/drawing/2014/main" id="{1C5BD32F-189A-A64F-ACFA-F39C61042C94}"/>
                  </a:ext>
                </a:extLst>
              </p:cNvPr>
              <p:cNvGrpSpPr/>
              <p:nvPr/>
            </p:nvGrpSpPr>
            <p:grpSpPr>
              <a:xfrm>
                <a:off x="7393547" y="7319687"/>
                <a:ext cx="5890838" cy="2243000"/>
                <a:chOff x="7393547" y="7319687"/>
                <a:chExt cx="5890838" cy="2243000"/>
              </a:xfrm>
            </p:grpSpPr>
            <p:sp>
              <p:nvSpPr>
                <p:cNvPr id="56" name="右矢印 55">
                  <a:extLst>
                    <a:ext uri="{FF2B5EF4-FFF2-40B4-BE49-F238E27FC236}">
                      <a16:creationId xmlns:a16="http://schemas.microsoft.com/office/drawing/2014/main" id="{D3D6865F-741F-8540-9761-8CA1ECAEAA13}"/>
                    </a:ext>
                  </a:extLst>
                </p:cNvPr>
                <p:cNvSpPr/>
                <p:nvPr/>
              </p:nvSpPr>
              <p:spPr>
                <a:xfrm>
                  <a:off x="7393547" y="8672370"/>
                  <a:ext cx="3429000" cy="371475"/>
                </a:xfrm>
                <a:prstGeom prst="rightArrow">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sp>
              <p:nvSpPr>
                <p:cNvPr id="66" name="スマイル 65">
                  <a:extLst>
                    <a:ext uri="{FF2B5EF4-FFF2-40B4-BE49-F238E27FC236}">
                      <a16:creationId xmlns:a16="http://schemas.microsoft.com/office/drawing/2014/main" id="{E75371D3-810A-654E-BE5F-2FB5F90DB80F}"/>
                    </a:ext>
                  </a:extLst>
                </p:cNvPr>
                <p:cNvSpPr/>
                <p:nvPr/>
              </p:nvSpPr>
              <p:spPr>
                <a:xfrm>
                  <a:off x="11627601" y="8055251"/>
                  <a:ext cx="1656784" cy="1507436"/>
                </a:xfrm>
                <a:prstGeom prst="smileyFac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テキスト ボックス 66">
                  <a:extLst>
                    <a:ext uri="{FF2B5EF4-FFF2-40B4-BE49-F238E27FC236}">
                      <a16:creationId xmlns:a16="http://schemas.microsoft.com/office/drawing/2014/main" id="{A8EC4849-5007-8C45-BCE4-C17920D02E4C}"/>
                    </a:ext>
                  </a:extLst>
                </p:cNvPr>
                <p:cNvSpPr txBox="1"/>
                <p:nvPr/>
              </p:nvSpPr>
              <p:spPr>
                <a:xfrm>
                  <a:off x="11548631" y="7319687"/>
                  <a:ext cx="1735754" cy="646331"/>
                </a:xfrm>
                <a:prstGeom prst="rect">
                  <a:avLst/>
                </a:prstGeom>
                <a:noFill/>
              </p:spPr>
              <p:txBody>
                <a:bodyPr wrap="square" rtlCol="0">
                  <a:spAutoFit/>
                </a:bodyPr>
                <a:lstStyle/>
                <a:p>
                  <a:pPr algn="ctr"/>
                  <a:r>
                    <a:rPr lang="en-US" altLang="ja-JP" dirty="0"/>
                    <a:t>human</a:t>
                  </a:r>
                  <a:endParaRPr kumimoji="1" lang="ja-JP" altLang="en-US"/>
                </a:p>
              </p:txBody>
            </p:sp>
          </p:grpSp>
          <p:sp>
            <p:nvSpPr>
              <p:cNvPr id="69" name="スマイル 68">
                <a:extLst>
                  <a:ext uri="{FF2B5EF4-FFF2-40B4-BE49-F238E27FC236}">
                    <a16:creationId xmlns:a16="http://schemas.microsoft.com/office/drawing/2014/main" id="{589C5BC9-5B99-9E40-BA79-D3906C3B7EEE}"/>
                  </a:ext>
                </a:extLst>
              </p:cNvPr>
              <p:cNvSpPr/>
              <p:nvPr/>
            </p:nvSpPr>
            <p:spPr>
              <a:xfrm>
                <a:off x="4931710" y="8104390"/>
                <a:ext cx="1656784" cy="1507436"/>
              </a:xfrm>
              <a:prstGeom prst="smileyFac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テキスト ボックス 69">
                <a:extLst>
                  <a:ext uri="{FF2B5EF4-FFF2-40B4-BE49-F238E27FC236}">
                    <a16:creationId xmlns:a16="http://schemas.microsoft.com/office/drawing/2014/main" id="{DE47CB1D-2B10-E340-A44F-9C3D61F62B29}"/>
                  </a:ext>
                </a:extLst>
              </p:cNvPr>
              <p:cNvSpPr txBox="1"/>
              <p:nvPr/>
            </p:nvSpPr>
            <p:spPr>
              <a:xfrm>
                <a:off x="4892225" y="7434944"/>
                <a:ext cx="1735754" cy="646331"/>
              </a:xfrm>
              <a:prstGeom prst="rect">
                <a:avLst/>
              </a:prstGeom>
              <a:noFill/>
            </p:spPr>
            <p:txBody>
              <a:bodyPr wrap="square" rtlCol="0">
                <a:spAutoFit/>
              </a:bodyPr>
              <a:lstStyle/>
              <a:p>
                <a:pPr algn="ctr"/>
                <a:r>
                  <a:rPr kumimoji="1" lang="en-US" altLang="ja-JP" dirty="0"/>
                  <a:t>agent</a:t>
                </a:r>
                <a:endParaRPr kumimoji="1" lang="ja-JP" altLang="en-US"/>
              </a:p>
            </p:txBody>
          </p:sp>
        </p:grpSp>
      </p:grpSp>
      <p:sp>
        <p:nvSpPr>
          <p:cNvPr id="72" name="テキスト プレースホルダー 29">
            <a:extLst>
              <a:ext uri="{FF2B5EF4-FFF2-40B4-BE49-F238E27FC236}">
                <a16:creationId xmlns:a16="http://schemas.microsoft.com/office/drawing/2014/main" id="{403746BA-F4FD-B64E-A356-E5F6E22664BE}"/>
              </a:ext>
            </a:extLst>
          </p:cNvPr>
          <p:cNvSpPr txBox="1">
            <a:spLocks/>
          </p:cNvSpPr>
          <p:nvPr/>
        </p:nvSpPr>
        <p:spPr>
          <a:xfrm>
            <a:off x="1457090" y="3246502"/>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Q1</a:t>
            </a:r>
            <a:r>
              <a:rPr lang="ja-JP" altLang="en-US"/>
              <a:t>：選好を明らかにするための戦略は人間の行動に影響を及ぼすか？</a:t>
            </a:r>
          </a:p>
        </p:txBody>
      </p:sp>
      <p:sp>
        <p:nvSpPr>
          <p:cNvPr id="73" name="テキスト プレースホルダー 29">
            <a:extLst>
              <a:ext uri="{FF2B5EF4-FFF2-40B4-BE49-F238E27FC236}">
                <a16:creationId xmlns:a16="http://schemas.microsoft.com/office/drawing/2014/main" id="{A8A832F9-EC6E-874C-8344-0EF97A5E6BB0}"/>
              </a:ext>
            </a:extLst>
          </p:cNvPr>
          <p:cNvSpPr txBox="1">
            <a:spLocks/>
          </p:cNvSpPr>
          <p:nvPr/>
        </p:nvSpPr>
        <p:spPr>
          <a:xfrm>
            <a:off x="1457090" y="3976067"/>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Q2</a:t>
            </a:r>
            <a:r>
              <a:rPr lang="ja-JP" altLang="en-US"/>
              <a:t>：選好を明らかにするための戦略は統合的交渉に影響を与えるか？</a:t>
            </a:r>
          </a:p>
        </p:txBody>
      </p:sp>
      <p:sp>
        <p:nvSpPr>
          <p:cNvPr id="74" name="テキスト プレースホルダー 29">
            <a:extLst>
              <a:ext uri="{FF2B5EF4-FFF2-40B4-BE49-F238E27FC236}">
                <a16:creationId xmlns:a16="http://schemas.microsoft.com/office/drawing/2014/main" id="{FD06A781-A10D-DB44-8281-C3832AADDB68}"/>
              </a:ext>
            </a:extLst>
          </p:cNvPr>
          <p:cNvSpPr txBox="1">
            <a:spLocks/>
          </p:cNvSpPr>
          <p:nvPr/>
        </p:nvSpPr>
        <p:spPr>
          <a:xfrm>
            <a:off x="1445162" y="4703723"/>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Q3</a:t>
            </a:r>
            <a:r>
              <a:rPr lang="ja-JP" altLang="en-US"/>
              <a:t>：積極的な行動は相手を譲歩させるのか？</a:t>
            </a:r>
          </a:p>
        </p:txBody>
      </p:sp>
      <p:sp>
        <p:nvSpPr>
          <p:cNvPr id="75" name="テキスト ボックス 74">
            <a:extLst>
              <a:ext uri="{FF2B5EF4-FFF2-40B4-BE49-F238E27FC236}">
                <a16:creationId xmlns:a16="http://schemas.microsoft.com/office/drawing/2014/main" id="{17CF17AF-8C09-5844-A919-91944E172382}"/>
              </a:ext>
            </a:extLst>
          </p:cNvPr>
          <p:cNvSpPr txBox="1"/>
          <p:nvPr/>
        </p:nvSpPr>
        <p:spPr>
          <a:xfrm>
            <a:off x="4682520" y="6921590"/>
            <a:ext cx="2155164" cy="646331"/>
          </a:xfrm>
          <a:prstGeom prst="rect">
            <a:avLst/>
          </a:prstGeom>
          <a:noFill/>
        </p:spPr>
        <p:txBody>
          <a:bodyPr wrap="square" rtlCol="0">
            <a:spAutoFit/>
          </a:bodyPr>
          <a:lstStyle/>
          <a:p>
            <a:pPr algn="ctr"/>
            <a:r>
              <a:rPr kumimoji="1" lang="en-US" altLang="ja-JP" dirty="0"/>
              <a:t>Free</a:t>
            </a:r>
            <a:endParaRPr kumimoji="1" lang="ja-JP" altLang="en-US"/>
          </a:p>
        </p:txBody>
      </p:sp>
      <p:sp>
        <p:nvSpPr>
          <p:cNvPr id="76" name="角丸四角形吹き出し 75">
            <a:extLst>
              <a:ext uri="{FF2B5EF4-FFF2-40B4-BE49-F238E27FC236}">
                <a16:creationId xmlns:a16="http://schemas.microsoft.com/office/drawing/2014/main" id="{82EE7CCB-E7DF-BD46-9418-8211094636FF}"/>
              </a:ext>
            </a:extLst>
          </p:cNvPr>
          <p:cNvSpPr/>
          <p:nvPr/>
        </p:nvSpPr>
        <p:spPr>
          <a:xfrm>
            <a:off x="1010561" y="6523495"/>
            <a:ext cx="3639733" cy="1442523"/>
          </a:xfrm>
          <a:prstGeom prst="wedgeRoundRectCallout">
            <a:avLst>
              <a:gd name="adj1" fmla="val 44418"/>
              <a:gd name="adj2" fmla="val 78434"/>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a:t>ドーナツです</a:t>
            </a:r>
          </a:p>
        </p:txBody>
      </p:sp>
    </p:spTree>
    <p:extLst>
      <p:ext uri="{BB962C8B-B14F-4D97-AF65-F5344CB8AC3E}">
        <p14:creationId xmlns:p14="http://schemas.microsoft.com/office/powerpoint/2010/main" val="11045670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3520CDD-7107-D140-A1A0-69D0D69B10F3}"/>
              </a:ext>
            </a:extLst>
          </p:cNvPr>
          <p:cNvSpPr>
            <a:spLocks noGrp="1"/>
          </p:cNvSpPr>
          <p:nvPr>
            <p:ph type="dt" sz="half" idx="10"/>
          </p:nvPr>
        </p:nvSpPr>
        <p:spPr/>
        <p:txBody>
          <a:bodyPr/>
          <a:lstStyle/>
          <a:p>
            <a:fld id="{35974365-84F6-754A-A339-DA79FFD42E98}" type="datetime1">
              <a:rPr lang="ja-JP" altLang="en-US" smtClean="0"/>
              <a:t>2018/6/9</a:t>
            </a:fld>
            <a:endParaRPr lang="ja-JP" altLang="en-US"/>
          </a:p>
        </p:txBody>
      </p:sp>
      <p:sp>
        <p:nvSpPr>
          <p:cNvPr id="3" name="フッター プレースホルダー 2">
            <a:extLst>
              <a:ext uri="{FF2B5EF4-FFF2-40B4-BE49-F238E27FC236}">
                <a16:creationId xmlns:a16="http://schemas.microsoft.com/office/drawing/2014/main" id="{6EEFBA0C-3454-8D4D-87CE-5BA9ED8AFBE5}"/>
              </a:ext>
            </a:extLst>
          </p:cNvPr>
          <p:cNvSpPr>
            <a:spLocks noGrp="1"/>
          </p:cNvSpPr>
          <p:nvPr>
            <p:ph type="ftr" sz="quarter" idx="11"/>
          </p:nvPr>
        </p:nvSpPr>
        <p:spPr/>
        <p:txBody>
          <a:bodyPr/>
          <a:lstStyle/>
          <a:p>
            <a:r>
              <a:rPr lang="ja-JP" altLang="en-US"/>
              <a:t>進捗報告</a:t>
            </a:r>
            <a:r>
              <a:rPr lang="en-US" altLang="ja-JP"/>
              <a:t>(2018.06.06)</a:t>
            </a:r>
            <a:endParaRPr lang="ja-JP" altLang="en-US"/>
          </a:p>
        </p:txBody>
      </p:sp>
      <p:sp>
        <p:nvSpPr>
          <p:cNvPr id="4" name="スライド番号プレースホルダー 3">
            <a:extLst>
              <a:ext uri="{FF2B5EF4-FFF2-40B4-BE49-F238E27FC236}">
                <a16:creationId xmlns:a16="http://schemas.microsoft.com/office/drawing/2014/main" id="{5D405AD0-9091-A94B-BA67-32995AD15B35}"/>
              </a:ext>
            </a:extLst>
          </p:cNvPr>
          <p:cNvSpPr>
            <a:spLocks noGrp="1"/>
          </p:cNvSpPr>
          <p:nvPr>
            <p:ph type="sldNum" sz="quarter" idx="12"/>
          </p:nvPr>
        </p:nvSpPr>
        <p:spPr/>
        <p:txBody>
          <a:bodyPr/>
          <a:lstStyle/>
          <a:p>
            <a:fld id="{89242BC1-393D-1248-985B-18DA624F2964}" type="slidenum">
              <a:rPr lang="ja-JP" altLang="en-US" smtClean="0"/>
              <a:pPr/>
              <a:t>11</a:t>
            </a:fld>
            <a:endParaRPr lang="ja-JP" altLang="en-US"/>
          </a:p>
        </p:txBody>
      </p:sp>
      <p:sp>
        <p:nvSpPr>
          <p:cNvPr id="5" name="テキスト プレースホルダー 4">
            <a:extLst>
              <a:ext uri="{FF2B5EF4-FFF2-40B4-BE49-F238E27FC236}">
                <a16:creationId xmlns:a16="http://schemas.microsoft.com/office/drawing/2014/main" id="{26DD2A8D-F804-D546-B77D-9693A67C3E0B}"/>
              </a:ext>
            </a:extLst>
          </p:cNvPr>
          <p:cNvSpPr>
            <a:spLocks noGrp="1"/>
          </p:cNvSpPr>
          <p:nvPr>
            <p:ph type="body" sz="quarter" idx="14"/>
          </p:nvPr>
        </p:nvSpPr>
        <p:spPr/>
        <p:txBody>
          <a:bodyPr/>
          <a:lstStyle/>
          <a:p>
            <a:r>
              <a:rPr kumimoji="1" lang="ja-JP" altLang="en-US"/>
              <a:t>実験</a:t>
            </a:r>
          </a:p>
        </p:txBody>
      </p:sp>
      <p:sp>
        <p:nvSpPr>
          <p:cNvPr id="6" name="テキスト プレースホルダー 5">
            <a:extLst>
              <a:ext uri="{FF2B5EF4-FFF2-40B4-BE49-F238E27FC236}">
                <a16:creationId xmlns:a16="http://schemas.microsoft.com/office/drawing/2014/main" id="{18F5D246-4675-9D44-B96B-BEDD6F01EDA7}"/>
              </a:ext>
            </a:extLst>
          </p:cNvPr>
          <p:cNvSpPr>
            <a:spLocks noGrp="1"/>
          </p:cNvSpPr>
          <p:nvPr>
            <p:ph type="body" sz="quarter" idx="13"/>
          </p:nvPr>
        </p:nvSpPr>
        <p:spPr/>
        <p:txBody>
          <a:bodyPr/>
          <a:lstStyle/>
          <a:p>
            <a:r>
              <a:rPr lang="en-US" altLang="ja-JP" dirty="0"/>
              <a:t>2</a:t>
            </a:r>
            <a:endParaRPr kumimoji="1" lang="ja-JP" altLang="en-US"/>
          </a:p>
        </p:txBody>
      </p:sp>
      <p:grpSp>
        <p:nvGrpSpPr>
          <p:cNvPr id="31" name="グループ化 30">
            <a:extLst>
              <a:ext uri="{FF2B5EF4-FFF2-40B4-BE49-F238E27FC236}">
                <a16:creationId xmlns:a16="http://schemas.microsoft.com/office/drawing/2014/main" id="{FD81DDC5-24B5-F24B-8DCA-6543CEE8DC81}"/>
              </a:ext>
            </a:extLst>
          </p:cNvPr>
          <p:cNvGrpSpPr/>
          <p:nvPr/>
        </p:nvGrpSpPr>
        <p:grpSpPr>
          <a:xfrm>
            <a:off x="289330" y="1413298"/>
            <a:ext cx="2160000" cy="934436"/>
            <a:chOff x="144665" y="525617"/>
            <a:chExt cx="1080000" cy="467218"/>
          </a:xfrm>
        </p:grpSpPr>
        <p:sp>
          <p:nvSpPr>
            <p:cNvPr id="32" name="正方形/長方形 31">
              <a:extLst>
                <a:ext uri="{FF2B5EF4-FFF2-40B4-BE49-F238E27FC236}">
                  <a16:creationId xmlns:a16="http://schemas.microsoft.com/office/drawing/2014/main" id="{073638CC-28A2-E943-AD34-548A0C227633}"/>
                </a:ext>
              </a:extLst>
            </p:cNvPr>
            <p:cNvSpPr/>
            <p:nvPr userDrawn="1"/>
          </p:nvSpPr>
          <p:spPr>
            <a:xfrm>
              <a:off x="145524" y="542424"/>
              <a:ext cx="91081" cy="450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sp>
          <p:nvSpPr>
            <p:cNvPr id="33" name="正方形/長方形 32">
              <a:extLst>
                <a:ext uri="{FF2B5EF4-FFF2-40B4-BE49-F238E27FC236}">
                  <a16:creationId xmlns:a16="http://schemas.microsoft.com/office/drawing/2014/main" id="{89C51296-914D-A74C-889D-A570C54F6A57}"/>
                </a:ext>
              </a:extLst>
            </p:cNvPr>
            <p:cNvSpPr/>
            <p:nvPr userDrawn="1"/>
          </p:nvSpPr>
          <p:spPr>
            <a:xfrm>
              <a:off x="144665" y="525617"/>
              <a:ext cx="1080000" cy="161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grpSp>
      <p:grpSp>
        <p:nvGrpSpPr>
          <p:cNvPr id="34" name="グループ化 33">
            <a:extLst>
              <a:ext uri="{FF2B5EF4-FFF2-40B4-BE49-F238E27FC236}">
                <a16:creationId xmlns:a16="http://schemas.microsoft.com/office/drawing/2014/main" id="{FC0C993D-26F8-9648-8C42-6E3A827F97DE}"/>
              </a:ext>
            </a:extLst>
          </p:cNvPr>
          <p:cNvGrpSpPr/>
          <p:nvPr/>
        </p:nvGrpSpPr>
        <p:grpSpPr>
          <a:xfrm>
            <a:off x="617232" y="2557358"/>
            <a:ext cx="539448" cy="487368"/>
            <a:chOff x="400056" y="1061560"/>
            <a:chExt cx="269724" cy="243684"/>
          </a:xfrm>
        </p:grpSpPr>
        <p:sp>
          <p:nvSpPr>
            <p:cNvPr id="35" name="三角形 34">
              <a:extLst>
                <a:ext uri="{FF2B5EF4-FFF2-40B4-BE49-F238E27FC236}">
                  <a16:creationId xmlns:a16="http://schemas.microsoft.com/office/drawing/2014/main" id="{21EC1BB2-1EA3-DB45-83ED-42197AA1F0E3}"/>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36" name="三角形 35">
              <a:extLst>
                <a:ext uri="{FF2B5EF4-FFF2-40B4-BE49-F238E27FC236}">
                  <a16:creationId xmlns:a16="http://schemas.microsoft.com/office/drawing/2014/main" id="{92822503-D36D-7644-A490-99EB8A1079E7}"/>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37" name="テキスト プレースホルダー 30">
            <a:extLst>
              <a:ext uri="{FF2B5EF4-FFF2-40B4-BE49-F238E27FC236}">
                <a16:creationId xmlns:a16="http://schemas.microsoft.com/office/drawing/2014/main" id="{A73B3907-668E-1A41-B5F4-6D46EA930E91}"/>
              </a:ext>
            </a:extLst>
          </p:cNvPr>
          <p:cNvSpPr txBox="1">
            <a:spLocks/>
          </p:cNvSpPr>
          <p:nvPr/>
        </p:nvSpPr>
        <p:spPr>
          <a:xfrm>
            <a:off x="571049" y="1583871"/>
            <a:ext cx="17302163" cy="1403350"/>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60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目的</a:t>
            </a:r>
          </a:p>
        </p:txBody>
      </p:sp>
      <p:sp>
        <p:nvSpPr>
          <p:cNvPr id="38" name="テキスト プレースホルダー 27">
            <a:extLst>
              <a:ext uri="{FF2B5EF4-FFF2-40B4-BE49-F238E27FC236}">
                <a16:creationId xmlns:a16="http://schemas.microsoft.com/office/drawing/2014/main" id="{52FC6201-0015-374A-A9F7-4FCF0162EFE8}"/>
              </a:ext>
            </a:extLst>
          </p:cNvPr>
          <p:cNvSpPr txBox="1">
            <a:spLocks/>
          </p:cNvSpPr>
          <p:nvPr/>
        </p:nvSpPr>
        <p:spPr>
          <a:xfrm>
            <a:off x="1254486" y="2484733"/>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人間同士の交渉で生じる効果について調査</a:t>
            </a:r>
            <a:endParaRPr lang="en-US" altLang="ja-JP" dirty="0"/>
          </a:p>
        </p:txBody>
      </p:sp>
      <p:sp>
        <p:nvSpPr>
          <p:cNvPr id="57" name="三角形 56">
            <a:extLst>
              <a:ext uri="{FF2B5EF4-FFF2-40B4-BE49-F238E27FC236}">
                <a16:creationId xmlns:a16="http://schemas.microsoft.com/office/drawing/2014/main" id="{7F703886-4132-A74D-B009-F1827BE6F3C7}"/>
              </a:ext>
            </a:extLst>
          </p:cNvPr>
          <p:cNvSpPr/>
          <p:nvPr/>
        </p:nvSpPr>
        <p:spPr>
          <a:xfrm rot="5400000">
            <a:off x="1076238" y="3361776"/>
            <a:ext cx="480900" cy="320016"/>
          </a:xfrm>
          <a:prstGeom prst="triangl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23" name="三角形 22">
            <a:extLst>
              <a:ext uri="{FF2B5EF4-FFF2-40B4-BE49-F238E27FC236}">
                <a16:creationId xmlns:a16="http://schemas.microsoft.com/office/drawing/2014/main" id="{71DA17BD-74F3-FE4A-96F4-94A9E3AA34CD}"/>
              </a:ext>
            </a:extLst>
          </p:cNvPr>
          <p:cNvSpPr/>
          <p:nvPr/>
        </p:nvSpPr>
        <p:spPr>
          <a:xfrm rot="5400000">
            <a:off x="1076238" y="4091341"/>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26" name="三角形 25">
            <a:extLst>
              <a:ext uri="{FF2B5EF4-FFF2-40B4-BE49-F238E27FC236}">
                <a16:creationId xmlns:a16="http://schemas.microsoft.com/office/drawing/2014/main" id="{09C71C8C-E299-4C44-AEC0-7E2553B12794}"/>
              </a:ext>
            </a:extLst>
          </p:cNvPr>
          <p:cNvSpPr/>
          <p:nvPr/>
        </p:nvSpPr>
        <p:spPr>
          <a:xfrm rot="5400000">
            <a:off x="1064310" y="4818997"/>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nvGrpSpPr>
          <p:cNvPr id="28" name="グループ化 27">
            <a:extLst>
              <a:ext uri="{FF2B5EF4-FFF2-40B4-BE49-F238E27FC236}">
                <a16:creationId xmlns:a16="http://schemas.microsoft.com/office/drawing/2014/main" id="{0C2D99A1-A391-B34D-B51D-2646448B5EE0}"/>
              </a:ext>
            </a:extLst>
          </p:cNvPr>
          <p:cNvGrpSpPr/>
          <p:nvPr/>
        </p:nvGrpSpPr>
        <p:grpSpPr>
          <a:xfrm>
            <a:off x="617232" y="5532687"/>
            <a:ext cx="539448" cy="487368"/>
            <a:chOff x="400056" y="1061560"/>
            <a:chExt cx="269724" cy="243684"/>
          </a:xfrm>
        </p:grpSpPr>
        <p:sp>
          <p:nvSpPr>
            <p:cNvPr id="29" name="三角形 28">
              <a:extLst>
                <a:ext uri="{FF2B5EF4-FFF2-40B4-BE49-F238E27FC236}">
                  <a16:creationId xmlns:a16="http://schemas.microsoft.com/office/drawing/2014/main" id="{71EBF793-5064-E34A-9387-1426F995A3B3}"/>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30" name="三角形 29">
              <a:extLst>
                <a:ext uri="{FF2B5EF4-FFF2-40B4-BE49-F238E27FC236}">
                  <a16:creationId xmlns:a16="http://schemas.microsoft.com/office/drawing/2014/main" id="{5D106750-2C77-6545-AB79-4AEB07AD03A4}"/>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39" name="テキスト プレースホルダー 27">
            <a:extLst>
              <a:ext uri="{FF2B5EF4-FFF2-40B4-BE49-F238E27FC236}">
                <a16:creationId xmlns:a16="http://schemas.microsoft.com/office/drawing/2014/main" id="{E90FC0FA-6B43-C040-A5F9-B0941E894243}"/>
              </a:ext>
            </a:extLst>
          </p:cNvPr>
          <p:cNvSpPr txBox="1">
            <a:spLocks/>
          </p:cNvSpPr>
          <p:nvPr/>
        </p:nvSpPr>
        <p:spPr>
          <a:xfrm>
            <a:off x="1254486" y="5460062"/>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IAGO</a:t>
            </a:r>
            <a:r>
              <a:rPr lang="ja-JP" altLang="en-US"/>
              <a:t>がプラットフォームとして機能することを実証</a:t>
            </a:r>
            <a:endParaRPr lang="en-US" altLang="ja-JP" dirty="0"/>
          </a:p>
        </p:txBody>
      </p:sp>
      <p:grpSp>
        <p:nvGrpSpPr>
          <p:cNvPr id="67" name="グループ化 66">
            <a:extLst>
              <a:ext uri="{FF2B5EF4-FFF2-40B4-BE49-F238E27FC236}">
                <a16:creationId xmlns:a16="http://schemas.microsoft.com/office/drawing/2014/main" id="{A0B0B948-B195-AC4D-B168-98866B40158E}"/>
              </a:ext>
            </a:extLst>
          </p:cNvPr>
          <p:cNvGrpSpPr/>
          <p:nvPr/>
        </p:nvGrpSpPr>
        <p:grpSpPr>
          <a:xfrm>
            <a:off x="3216825" y="7319687"/>
            <a:ext cx="11854350" cy="5984041"/>
            <a:chOff x="3216825" y="7319687"/>
            <a:chExt cx="11854350" cy="5984041"/>
          </a:xfrm>
        </p:grpSpPr>
        <p:grpSp>
          <p:nvGrpSpPr>
            <p:cNvPr id="68" name="グループ化 67">
              <a:extLst>
                <a:ext uri="{FF2B5EF4-FFF2-40B4-BE49-F238E27FC236}">
                  <a16:creationId xmlns:a16="http://schemas.microsoft.com/office/drawing/2014/main" id="{6270B360-E0B4-4547-AB11-5A79E4712EF7}"/>
                </a:ext>
              </a:extLst>
            </p:cNvPr>
            <p:cNvGrpSpPr/>
            <p:nvPr/>
          </p:nvGrpSpPr>
          <p:grpSpPr>
            <a:xfrm>
              <a:off x="3216825" y="10402558"/>
              <a:ext cx="11854350" cy="2901170"/>
              <a:chOff x="2226339" y="9389213"/>
              <a:chExt cx="11854350" cy="2901170"/>
            </a:xfrm>
          </p:grpSpPr>
          <p:sp>
            <p:nvSpPr>
              <p:cNvPr id="78" name="テキスト ボックス 77">
                <a:extLst>
                  <a:ext uri="{FF2B5EF4-FFF2-40B4-BE49-F238E27FC236}">
                    <a16:creationId xmlns:a16="http://schemas.microsoft.com/office/drawing/2014/main" id="{39DE7876-2053-874D-8520-D3E961A49E11}"/>
                  </a:ext>
                </a:extLst>
              </p:cNvPr>
              <p:cNvSpPr txBox="1"/>
              <p:nvPr/>
            </p:nvSpPr>
            <p:spPr>
              <a:xfrm>
                <a:off x="5900499" y="11644052"/>
                <a:ext cx="4506031" cy="646331"/>
              </a:xfrm>
              <a:prstGeom prst="rect">
                <a:avLst/>
              </a:prstGeom>
              <a:noFill/>
            </p:spPr>
            <p:txBody>
              <a:bodyPr wrap="square" rtlCol="0">
                <a:spAutoFit/>
              </a:bodyPr>
              <a:lstStyle/>
              <a:p>
                <a:pPr algn="ctr"/>
                <a:r>
                  <a:rPr lang="ja-JP" altLang="en-US"/>
                  <a:t>交渉内容</a:t>
                </a:r>
                <a:endParaRPr kumimoji="1" lang="ja-JP" altLang="en-US"/>
              </a:p>
            </p:txBody>
          </p:sp>
          <p:grpSp>
            <p:nvGrpSpPr>
              <p:cNvPr id="79" name="グループ化 78">
                <a:extLst>
                  <a:ext uri="{FF2B5EF4-FFF2-40B4-BE49-F238E27FC236}">
                    <a16:creationId xmlns:a16="http://schemas.microsoft.com/office/drawing/2014/main" id="{F5F8DBED-C05C-A640-97DB-00C0BF9AD9ED}"/>
                  </a:ext>
                </a:extLst>
              </p:cNvPr>
              <p:cNvGrpSpPr/>
              <p:nvPr/>
            </p:nvGrpSpPr>
            <p:grpSpPr>
              <a:xfrm>
                <a:off x="2226339" y="9389213"/>
                <a:ext cx="11854350" cy="2010101"/>
                <a:chOff x="3821592" y="9287685"/>
                <a:chExt cx="11854350" cy="2010101"/>
              </a:xfrm>
            </p:grpSpPr>
            <p:pic>
              <p:nvPicPr>
                <p:cNvPr id="80" name="グラフィックス 79" descr="Pasta">
                  <a:extLst>
                    <a:ext uri="{FF2B5EF4-FFF2-40B4-BE49-F238E27FC236}">
                      <a16:creationId xmlns:a16="http://schemas.microsoft.com/office/drawing/2014/main" id="{99CC76F2-BB8D-7740-BB98-34724E09CEA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18892" y="9287685"/>
                  <a:ext cx="1956819" cy="1956819"/>
                </a:xfrm>
                <a:prstGeom prst="rect">
                  <a:avLst/>
                </a:prstGeom>
              </p:spPr>
            </p:pic>
            <p:pic>
              <p:nvPicPr>
                <p:cNvPr id="81" name="グラフィックス 80" descr="Pizza">
                  <a:extLst>
                    <a:ext uri="{FF2B5EF4-FFF2-40B4-BE49-F238E27FC236}">
                      <a16:creationId xmlns:a16="http://schemas.microsoft.com/office/drawing/2014/main" id="{CD107B53-F2B5-B247-83F5-4A00C16AFA0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120242" y="9340967"/>
                  <a:ext cx="1956819" cy="1956819"/>
                </a:xfrm>
                <a:prstGeom prst="rect">
                  <a:avLst/>
                </a:prstGeom>
              </p:spPr>
            </p:pic>
            <p:pic>
              <p:nvPicPr>
                <p:cNvPr id="82" name="グラフィックス 81" descr="CakeSlice">
                  <a:extLst>
                    <a:ext uri="{FF2B5EF4-FFF2-40B4-BE49-F238E27FC236}">
                      <a16:creationId xmlns:a16="http://schemas.microsoft.com/office/drawing/2014/main" id="{9A7FAEFB-F4AF-9343-ADC3-9F9640750A1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821592" y="9334846"/>
                  <a:ext cx="1956819" cy="1956819"/>
                </a:xfrm>
                <a:prstGeom prst="rect">
                  <a:avLst/>
                </a:prstGeom>
              </p:spPr>
            </p:pic>
            <p:pic>
              <p:nvPicPr>
                <p:cNvPr id="83" name="グラフィックス 82" descr="Donut">
                  <a:extLst>
                    <a:ext uri="{FF2B5EF4-FFF2-40B4-BE49-F238E27FC236}">
                      <a16:creationId xmlns:a16="http://schemas.microsoft.com/office/drawing/2014/main" id="{2E0B2D88-C671-A640-94CC-C7232546148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3717542" y="9333265"/>
                  <a:ext cx="1958400" cy="1958400"/>
                </a:xfrm>
                <a:prstGeom prst="rect">
                  <a:avLst/>
                </a:prstGeom>
              </p:spPr>
            </p:pic>
          </p:grpSp>
        </p:grpSp>
        <p:grpSp>
          <p:nvGrpSpPr>
            <p:cNvPr id="69" name="グループ化 68">
              <a:extLst>
                <a:ext uri="{FF2B5EF4-FFF2-40B4-BE49-F238E27FC236}">
                  <a16:creationId xmlns:a16="http://schemas.microsoft.com/office/drawing/2014/main" id="{872B814F-AF8D-8646-8385-25D03A70E86C}"/>
                </a:ext>
              </a:extLst>
            </p:cNvPr>
            <p:cNvGrpSpPr/>
            <p:nvPr/>
          </p:nvGrpSpPr>
          <p:grpSpPr>
            <a:xfrm>
              <a:off x="4892225" y="7319687"/>
              <a:ext cx="8392160" cy="2292139"/>
              <a:chOff x="4892225" y="7319687"/>
              <a:chExt cx="8392160" cy="2292139"/>
            </a:xfrm>
          </p:grpSpPr>
          <p:grpSp>
            <p:nvGrpSpPr>
              <p:cNvPr id="70" name="グループ化 69">
                <a:extLst>
                  <a:ext uri="{FF2B5EF4-FFF2-40B4-BE49-F238E27FC236}">
                    <a16:creationId xmlns:a16="http://schemas.microsoft.com/office/drawing/2014/main" id="{767AE811-29C3-4E40-A519-572E28E52ABD}"/>
                  </a:ext>
                </a:extLst>
              </p:cNvPr>
              <p:cNvGrpSpPr/>
              <p:nvPr/>
            </p:nvGrpSpPr>
            <p:grpSpPr>
              <a:xfrm>
                <a:off x="7393547" y="7319687"/>
                <a:ext cx="5890838" cy="2243000"/>
                <a:chOff x="7393547" y="7319687"/>
                <a:chExt cx="5890838" cy="2243000"/>
              </a:xfrm>
            </p:grpSpPr>
            <p:sp>
              <p:nvSpPr>
                <p:cNvPr id="74" name="右矢印 73">
                  <a:extLst>
                    <a:ext uri="{FF2B5EF4-FFF2-40B4-BE49-F238E27FC236}">
                      <a16:creationId xmlns:a16="http://schemas.microsoft.com/office/drawing/2014/main" id="{D58494FF-FA7C-AE4C-9FCE-CFC76C71AE8B}"/>
                    </a:ext>
                  </a:extLst>
                </p:cNvPr>
                <p:cNvSpPr/>
                <p:nvPr/>
              </p:nvSpPr>
              <p:spPr>
                <a:xfrm>
                  <a:off x="7393547" y="8672370"/>
                  <a:ext cx="3429000" cy="371475"/>
                </a:xfrm>
                <a:prstGeom prst="rightArrow">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sp>
              <p:nvSpPr>
                <p:cNvPr id="75" name="スマイル 74">
                  <a:extLst>
                    <a:ext uri="{FF2B5EF4-FFF2-40B4-BE49-F238E27FC236}">
                      <a16:creationId xmlns:a16="http://schemas.microsoft.com/office/drawing/2014/main" id="{D2EEE5BE-9FEE-CD4D-BDCC-6867178058F1}"/>
                    </a:ext>
                  </a:extLst>
                </p:cNvPr>
                <p:cNvSpPr/>
                <p:nvPr/>
              </p:nvSpPr>
              <p:spPr>
                <a:xfrm>
                  <a:off x="11627601" y="8055251"/>
                  <a:ext cx="1656784" cy="1507436"/>
                </a:xfrm>
                <a:prstGeom prst="smileyFac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6" name="テキスト ボックス 75">
                  <a:extLst>
                    <a:ext uri="{FF2B5EF4-FFF2-40B4-BE49-F238E27FC236}">
                      <a16:creationId xmlns:a16="http://schemas.microsoft.com/office/drawing/2014/main" id="{6DABBA91-6C25-2B47-BFEF-FA23EB3FA687}"/>
                    </a:ext>
                  </a:extLst>
                </p:cNvPr>
                <p:cNvSpPr txBox="1"/>
                <p:nvPr/>
              </p:nvSpPr>
              <p:spPr>
                <a:xfrm>
                  <a:off x="11548631" y="7319687"/>
                  <a:ext cx="1735754" cy="646331"/>
                </a:xfrm>
                <a:prstGeom prst="rect">
                  <a:avLst/>
                </a:prstGeom>
                <a:noFill/>
              </p:spPr>
              <p:txBody>
                <a:bodyPr wrap="square" rtlCol="0">
                  <a:spAutoFit/>
                </a:bodyPr>
                <a:lstStyle/>
                <a:p>
                  <a:pPr algn="ctr"/>
                  <a:r>
                    <a:rPr lang="en-US" altLang="ja-JP" dirty="0"/>
                    <a:t>human</a:t>
                  </a:r>
                  <a:endParaRPr kumimoji="1" lang="ja-JP" altLang="en-US"/>
                </a:p>
              </p:txBody>
            </p:sp>
          </p:grpSp>
          <p:sp>
            <p:nvSpPr>
              <p:cNvPr id="71" name="スマイル 70">
                <a:extLst>
                  <a:ext uri="{FF2B5EF4-FFF2-40B4-BE49-F238E27FC236}">
                    <a16:creationId xmlns:a16="http://schemas.microsoft.com/office/drawing/2014/main" id="{2EC0D37C-B956-BD4C-96BD-FAB37D8CCF01}"/>
                  </a:ext>
                </a:extLst>
              </p:cNvPr>
              <p:cNvSpPr/>
              <p:nvPr/>
            </p:nvSpPr>
            <p:spPr>
              <a:xfrm>
                <a:off x="4931710" y="8104390"/>
                <a:ext cx="1656784" cy="1507436"/>
              </a:xfrm>
              <a:prstGeom prst="smileyFac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テキスト ボックス 71">
                <a:extLst>
                  <a:ext uri="{FF2B5EF4-FFF2-40B4-BE49-F238E27FC236}">
                    <a16:creationId xmlns:a16="http://schemas.microsoft.com/office/drawing/2014/main" id="{B73E9CF9-95EC-FC4D-BED2-D96653921001}"/>
                  </a:ext>
                </a:extLst>
              </p:cNvPr>
              <p:cNvSpPr txBox="1"/>
              <p:nvPr/>
            </p:nvSpPr>
            <p:spPr>
              <a:xfrm>
                <a:off x="4892225" y="7434944"/>
                <a:ext cx="1735754" cy="646331"/>
              </a:xfrm>
              <a:prstGeom prst="rect">
                <a:avLst/>
              </a:prstGeom>
              <a:noFill/>
            </p:spPr>
            <p:txBody>
              <a:bodyPr wrap="square" rtlCol="0">
                <a:spAutoFit/>
              </a:bodyPr>
              <a:lstStyle/>
              <a:p>
                <a:pPr algn="ctr"/>
                <a:r>
                  <a:rPr kumimoji="1" lang="en-US" altLang="ja-JP" dirty="0"/>
                  <a:t>agent</a:t>
                </a:r>
                <a:endParaRPr kumimoji="1" lang="ja-JP" altLang="en-US"/>
              </a:p>
            </p:txBody>
          </p:sp>
        </p:grpSp>
      </p:grpSp>
      <p:sp>
        <p:nvSpPr>
          <p:cNvPr id="84" name="テキスト プレースホルダー 29">
            <a:extLst>
              <a:ext uri="{FF2B5EF4-FFF2-40B4-BE49-F238E27FC236}">
                <a16:creationId xmlns:a16="http://schemas.microsoft.com/office/drawing/2014/main" id="{19F75963-FBE9-F84B-AC0C-EEE55E628B97}"/>
              </a:ext>
            </a:extLst>
          </p:cNvPr>
          <p:cNvSpPr txBox="1">
            <a:spLocks/>
          </p:cNvSpPr>
          <p:nvPr/>
        </p:nvSpPr>
        <p:spPr>
          <a:xfrm>
            <a:off x="1457090" y="3246502"/>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Q1</a:t>
            </a:r>
            <a:r>
              <a:rPr lang="ja-JP" altLang="en-US"/>
              <a:t>：選好を明らかにするための戦略は人間の行動に影響を及ぼすか？</a:t>
            </a:r>
          </a:p>
        </p:txBody>
      </p:sp>
      <p:sp>
        <p:nvSpPr>
          <p:cNvPr id="85" name="テキスト プレースホルダー 29">
            <a:extLst>
              <a:ext uri="{FF2B5EF4-FFF2-40B4-BE49-F238E27FC236}">
                <a16:creationId xmlns:a16="http://schemas.microsoft.com/office/drawing/2014/main" id="{20CE951B-7F66-7D4D-9538-B8EC240262A8}"/>
              </a:ext>
            </a:extLst>
          </p:cNvPr>
          <p:cNvSpPr txBox="1">
            <a:spLocks/>
          </p:cNvSpPr>
          <p:nvPr/>
        </p:nvSpPr>
        <p:spPr>
          <a:xfrm>
            <a:off x="1457090" y="3976067"/>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Q2</a:t>
            </a:r>
            <a:r>
              <a:rPr lang="ja-JP" altLang="en-US"/>
              <a:t>：選好を明らかにするための戦略は統合的交渉に影響を与えるか？</a:t>
            </a:r>
          </a:p>
        </p:txBody>
      </p:sp>
      <p:sp>
        <p:nvSpPr>
          <p:cNvPr id="86" name="テキスト プレースホルダー 29">
            <a:extLst>
              <a:ext uri="{FF2B5EF4-FFF2-40B4-BE49-F238E27FC236}">
                <a16:creationId xmlns:a16="http://schemas.microsoft.com/office/drawing/2014/main" id="{4F135535-5A3C-C24D-BFFF-4F1F217E4BBB}"/>
              </a:ext>
            </a:extLst>
          </p:cNvPr>
          <p:cNvSpPr txBox="1">
            <a:spLocks/>
          </p:cNvSpPr>
          <p:nvPr/>
        </p:nvSpPr>
        <p:spPr>
          <a:xfrm>
            <a:off x="1445162" y="4703723"/>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Q3</a:t>
            </a:r>
            <a:r>
              <a:rPr lang="ja-JP" altLang="en-US"/>
              <a:t>：積極的な行動は相手を譲歩させるのか？</a:t>
            </a:r>
          </a:p>
        </p:txBody>
      </p:sp>
      <p:sp>
        <p:nvSpPr>
          <p:cNvPr id="41" name="角丸四角形吹き出し 40">
            <a:extLst>
              <a:ext uri="{FF2B5EF4-FFF2-40B4-BE49-F238E27FC236}">
                <a16:creationId xmlns:a16="http://schemas.microsoft.com/office/drawing/2014/main" id="{B616B707-3BE7-114D-93EA-40C19AF11525}"/>
              </a:ext>
            </a:extLst>
          </p:cNvPr>
          <p:cNvSpPr/>
          <p:nvPr/>
        </p:nvSpPr>
        <p:spPr>
          <a:xfrm>
            <a:off x="1010561" y="6523495"/>
            <a:ext cx="3639733" cy="1442523"/>
          </a:xfrm>
          <a:prstGeom prst="wedgeRoundRectCallout">
            <a:avLst>
              <a:gd name="adj1" fmla="val 44418"/>
              <a:gd name="adj2" fmla="val 78434"/>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a:t>あなたは</a:t>
            </a:r>
            <a:endParaRPr lang="en-US" altLang="ja-JP" dirty="0"/>
          </a:p>
          <a:p>
            <a:pPr algn="ctr"/>
            <a:r>
              <a:rPr lang="ja-JP" altLang="en-US"/>
              <a:t>何が好きなの？</a:t>
            </a:r>
          </a:p>
        </p:txBody>
      </p:sp>
      <p:sp>
        <p:nvSpPr>
          <p:cNvPr id="42" name="テキスト ボックス 41">
            <a:extLst>
              <a:ext uri="{FF2B5EF4-FFF2-40B4-BE49-F238E27FC236}">
                <a16:creationId xmlns:a16="http://schemas.microsoft.com/office/drawing/2014/main" id="{2F0586CC-A384-0841-B70B-1F7940B17540}"/>
              </a:ext>
            </a:extLst>
          </p:cNvPr>
          <p:cNvSpPr txBox="1"/>
          <p:nvPr/>
        </p:nvSpPr>
        <p:spPr>
          <a:xfrm>
            <a:off x="4682520" y="6921590"/>
            <a:ext cx="2155164" cy="646331"/>
          </a:xfrm>
          <a:prstGeom prst="rect">
            <a:avLst/>
          </a:prstGeom>
          <a:noFill/>
        </p:spPr>
        <p:txBody>
          <a:bodyPr wrap="square" rtlCol="0">
            <a:spAutoFit/>
          </a:bodyPr>
          <a:lstStyle/>
          <a:p>
            <a:pPr algn="ctr"/>
            <a:r>
              <a:rPr kumimoji="1" lang="en-US" altLang="ja-JP" dirty="0"/>
              <a:t>Nice</a:t>
            </a:r>
            <a:endParaRPr kumimoji="1" lang="ja-JP" altLang="en-US"/>
          </a:p>
        </p:txBody>
      </p:sp>
    </p:spTree>
    <p:extLst>
      <p:ext uri="{BB962C8B-B14F-4D97-AF65-F5344CB8AC3E}">
        <p14:creationId xmlns:p14="http://schemas.microsoft.com/office/powerpoint/2010/main" val="1149291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3520CDD-7107-D140-A1A0-69D0D69B10F3}"/>
              </a:ext>
            </a:extLst>
          </p:cNvPr>
          <p:cNvSpPr>
            <a:spLocks noGrp="1"/>
          </p:cNvSpPr>
          <p:nvPr>
            <p:ph type="dt" sz="half" idx="10"/>
          </p:nvPr>
        </p:nvSpPr>
        <p:spPr/>
        <p:txBody>
          <a:bodyPr/>
          <a:lstStyle/>
          <a:p>
            <a:fld id="{35974365-84F6-754A-A339-DA79FFD42E98}" type="datetime1">
              <a:rPr lang="ja-JP" altLang="en-US" smtClean="0"/>
              <a:t>2018/6/9</a:t>
            </a:fld>
            <a:endParaRPr lang="ja-JP" altLang="en-US"/>
          </a:p>
        </p:txBody>
      </p:sp>
      <p:sp>
        <p:nvSpPr>
          <p:cNvPr id="3" name="フッター プレースホルダー 2">
            <a:extLst>
              <a:ext uri="{FF2B5EF4-FFF2-40B4-BE49-F238E27FC236}">
                <a16:creationId xmlns:a16="http://schemas.microsoft.com/office/drawing/2014/main" id="{6EEFBA0C-3454-8D4D-87CE-5BA9ED8AFBE5}"/>
              </a:ext>
            </a:extLst>
          </p:cNvPr>
          <p:cNvSpPr>
            <a:spLocks noGrp="1"/>
          </p:cNvSpPr>
          <p:nvPr>
            <p:ph type="ftr" sz="quarter" idx="11"/>
          </p:nvPr>
        </p:nvSpPr>
        <p:spPr/>
        <p:txBody>
          <a:bodyPr/>
          <a:lstStyle/>
          <a:p>
            <a:r>
              <a:rPr lang="ja-JP" altLang="en-US"/>
              <a:t>進捗報告</a:t>
            </a:r>
            <a:r>
              <a:rPr lang="en-US" altLang="ja-JP"/>
              <a:t>(2018.06.06)</a:t>
            </a:r>
            <a:endParaRPr lang="ja-JP" altLang="en-US"/>
          </a:p>
        </p:txBody>
      </p:sp>
      <p:sp>
        <p:nvSpPr>
          <p:cNvPr id="4" name="スライド番号プレースホルダー 3">
            <a:extLst>
              <a:ext uri="{FF2B5EF4-FFF2-40B4-BE49-F238E27FC236}">
                <a16:creationId xmlns:a16="http://schemas.microsoft.com/office/drawing/2014/main" id="{5D405AD0-9091-A94B-BA67-32995AD15B35}"/>
              </a:ext>
            </a:extLst>
          </p:cNvPr>
          <p:cNvSpPr>
            <a:spLocks noGrp="1"/>
          </p:cNvSpPr>
          <p:nvPr>
            <p:ph type="sldNum" sz="quarter" idx="12"/>
          </p:nvPr>
        </p:nvSpPr>
        <p:spPr/>
        <p:txBody>
          <a:bodyPr/>
          <a:lstStyle/>
          <a:p>
            <a:fld id="{89242BC1-393D-1248-985B-18DA624F2964}" type="slidenum">
              <a:rPr lang="ja-JP" altLang="en-US" smtClean="0"/>
              <a:pPr/>
              <a:t>12</a:t>
            </a:fld>
            <a:endParaRPr lang="ja-JP" altLang="en-US"/>
          </a:p>
        </p:txBody>
      </p:sp>
      <p:sp>
        <p:nvSpPr>
          <p:cNvPr id="5" name="テキスト プレースホルダー 4">
            <a:extLst>
              <a:ext uri="{FF2B5EF4-FFF2-40B4-BE49-F238E27FC236}">
                <a16:creationId xmlns:a16="http://schemas.microsoft.com/office/drawing/2014/main" id="{26DD2A8D-F804-D546-B77D-9693A67C3E0B}"/>
              </a:ext>
            </a:extLst>
          </p:cNvPr>
          <p:cNvSpPr>
            <a:spLocks noGrp="1"/>
          </p:cNvSpPr>
          <p:nvPr>
            <p:ph type="body" sz="quarter" idx="14"/>
          </p:nvPr>
        </p:nvSpPr>
        <p:spPr/>
        <p:txBody>
          <a:bodyPr/>
          <a:lstStyle/>
          <a:p>
            <a:r>
              <a:rPr kumimoji="1" lang="ja-JP" altLang="en-US"/>
              <a:t>実験</a:t>
            </a:r>
          </a:p>
        </p:txBody>
      </p:sp>
      <p:sp>
        <p:nvSpPr>
          <p:cNvPr id="6" name="テキスト プレースホルダー 5">
            <a:extLst>
              <a:ext uri="{FF2B5EF4-FFF2-40B4-BE49-F238E27FC236}">
                <a16:creationId xmlns:a16="http://schemas.microsoft.com/office/drawing/2014/main" id="{18F5D246-4675-9D44-B96B-BEDD6F01EDA7}"/>
              </a:ext>
            </a:extLst>
          </p:cNvPr>
          <p:cNvSpPr>
            <a:spLocks noGrp="1"/>
          </p:cNvSpPr>
          <p:nvPr>
            <p:ph type="body" sz="quarter" idx="13"/>
          </p:nvPr>
        </p:nvSpPr>
        <p:spPr/>
        <p:txBody>
          <a:bodyPr/>
          <a:lstStyle/>
          <a:p>
            <a:r>
              <a:rPr lang="en-US" altLang="ja-JP" dirty="0"/>
              <a:t>2</a:t>
            </a:r>
            <a:endParaRPr kumimoji="1" lang="ja-JP" altLang="en-US"/>
          </a:p>
        </p:txBody>
      </p:sp>
      <p:grpSp>
        <p:nvGrpSpPr>
          <p:cNvPr id="31" name="グループ化 30">
            <a:extLst>
              <a:ext uri="{FF2B5EF4-FFF2-40B4-BE49-F238E27FC236}">
                <a16:creationId xmlns:a16="http://schemas.microsoft.com/office/drawing/2014/main" id="{FD81DDC5-24B5-F24B-8DCA-6543CEE8DC81}"/>
              </a:ext>
            </a:extLst>
          </p:cNvPr>
          <p:cNvGrpSpPr/>
          <p:nvPr/>
        </p:nvGrpSpPr>
        <p:grpSpPr>
          <a:xfrm>
            <a:off x="289330" y="1413298"/>
            <a:ext cx="2160000" cy="934436"/>
            <a:chOff x="144665" y="525617"/>
            <a:chExt cx="1080000" cy="467218"/>
          </a:xfrm>
        </p:grpSpPr>
        <p:sp>
          <p:nvSpPr>
            <p:cNvPr id="32" name="正方形/長方形 31">
              <a:extLst>
                <a:ext uri="{FF2B5EF4-FFF2-40B4-BE49-F238E27FC236}">
                  <a16:creationId xmlns:a16="http://schemas.microsoft.com/office/drawing/2014/main" id="{073638CC-28A2-E943-AD34-548A0C227633}"/>
                </a:ext>
              </a:extLst>
            </p:cNvPr>
            <p:cNvSpPr/>
            <p:nvPr userDrawn="1"/>
          </p:nvSpPr>
          <p:spPr>
            <a:xfrm>
              <a:off x="145524" y="542424"/>
              <a:ext cx="91081" cy="450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sp>
          <p:nvSpPr>
            <p:cNvPr id="33" name="正方形/長方形 32">
              <a:extLst>
                <a:ext uri="{FF2B5EF4-FFF2-40B4-BE49-F238E27FC236}">
                  <a16:creationId xmlns:a16="http://schemas.microsoft.com/office/drawing/2014/main" id="{89C51296-914D-A74C-889D-A570C54F6A57}"/>
                </a:ext>
              </a:extLst>
            </p:cNvPr>
            <p:cNvSpPr/>
            <p:nvPr userDrawn="1"/>
          </p:nvSpPr>
          <p:spPr>
            <a:xfrm>
              <a:off x="144665" y="525617"/>
              <a:ext cx="1080000" cy="161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grpSp>
      <p:grpSp>
        <p:nvGrpSpPr>
          <p:cNvPr id="34" name="グループ化 33">
            <a:extLst>
              <a:ext uri="{FF2B5EF4-FFF2-40B4-BE49-F238E27FC236}">
                <a16:creationId xmlns:a16="http://schemas.microsoft.com/office/drawing/2014/main" id="{FC0C993D-26F8-9648-8C42-6E3A827F97DE}"/>
              </a:ext>
            </a:extLst>
          </p:cNvPr>
          <p:cNvGrpSpPr/>
          <p:nvPr/>
        </p:nvGrpSpPr>
        <p:grpSpPr>
          <a:xfrm>
            <a:off x="617232" y="2557358"/>
            <a:ext cx="539448" cy="487368"/>
            <a:chOff x="400056" y="1061560"/>
            <a:chExt cx="269724" cy="243684"/>
          </a:xfrm>
        </p:grpSpPr>
        <p:sp>
          <p:nvSpPr>
            <p:cNvPr id="35" name="三角形 34">
              <a:extLst>
                <a:ext uri="{FF2B5EF4-FFF2-40B4-BE49-F238E27FC236}">
                  <a16:creationId xmlns:a16="http://schemas.microsoft.com/office/drawing/2014/main" id="{21EC1BB2-1EA3-DB45-83ED-42197AA1F0E3}"/>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36" name="三角形 35">
              <a:extLst>
                <a:ext uri="{FF2B5EF4-FFF2-40B4-BE49-F238E27FC236}">
                  <a16:creationId xmlns:a16="http://schemas.microsoft.com/office/drawing/2014/main" id="{92822503-D36D-7644-A490-99EB8A1079E7}"/>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37" name="テキスト プレースホルダー 30">
            <a:extLst>
              <a:ext uri="{FF2B5EF4-FFF2-40B4-BE49-F238E27FC236}">
                <a16:creationId xmlns:a16="http://schemas.microsoft.com/office/drawing/2014/main" id="{A73B3907-668E-1A41-B5F4-6D46EA930E91}"/>
              </a:ext>
            </a:extLst>
          </p:cNvPr>
          <p:cNvSpPr txBox="1">
            <a:spLocks/>
          </p:cNvSpPr>
          <p:nvPr/>
        </p:nvSpPr>
        <p:spPr>
          <a:xfrm>
            <a:off x="571049" y="1583871"/>
            <a:ext cx="17302163" cy="1403350"/>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60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目的</a:t>
            </a:r>
          </a:p>
        </p:txBody>
      </p:sp>
      <p:sp>
        <p:nvSpPr>
          <p:cNvPr id="38" name="テキスト プレースホルダー 27">
            <a:extLst>
              <a:ext uri="{FF2B5EF4-FFF2-40B4-BE49-F238E27FC236}">
                <a16:creationId xmlns:a16="http://schemas.microsoft.com/office/drawing/2014/main" id="{52FC6201-0015-374A-A9F7-4FCF0162EFE8}"/>
              </a:ext>
            </a:extLst>
          </p:cNvPr>
          <p:cNvSpPr txBox="1">
            <a:spLocks/>
          </p:cNvSpPr>
          <p:nvPr/>
        </p:nvSpPr>
        <p:spPr>
          <a:xfrm>
            <a:off x="1254486" y="2484733"/>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人間同士の交渉で生じる効果について調査</a:t>
            </a:r>
            <a:endParaRPr lang="en-US" altLang="ja-JP" dirty="0"/>
          </a:p>
        </p:txBody>
      </p:sp>
      <p:sp>
        <p:nvSpPr>
          <p:cNvPr id="57" name="三角形 56">
            <a:extLst>
              <a:ext uri="{FF2B5EF4-FFF2-40B4-BE49-F238E27FC236}">
                <a16:creationId xmlns:a16="http://schemas.microsoft.com/office/drawing/2014/main" id="{7F703886-4132-A74D-B009-F1827BE6F3C7}"/>
              </a:ext>
            </a:extLst>
          </p:cNvPr>
          <p:cNvSpPr/>
          <p:nvPr/>
        </p:nvSpPr>
        <p:spPr>
          <a:xfrm rot="5400000">
            <a:off x="1076238" y="3361776"/>
            <a:ext cx="480900" cy="320016"/>
          </a:xfrm>
          <a:prstGeom prst="triangl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23" name="三角形 22">
            <a:extLst>
              <a:ext uri="{FF2B5EF4-FFF2-40B4-BE49-F238E27FC236}">
                <a16:creationId xmlns:a16="http://schemas.microsoft.com/office/drawing/2014/main" id="{71DA17BD-74F3-FE4A-96F4-94A9E3AA34CD}"/>
              </a:ext>
            </a:extLst>
          </p:cNvPr>
          <p:cNvSpPr/>
          <p:nvPr/>
        </p:nvSpPr>
        <p:spPr>
          <a:xfrm rot="5400000">
            <a:off x="1076238" y="4091341"/>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26" name="三角形 25">
            <a:extLst>
              <a:ext uri="{FF2B5EF4-FFF2-40B4-BE49-F238E27FC236}">
                <a16:creationId xmlns:a16="http://schemas.microsoft.com/office/drawing/2014/main" id="{09C71C8C-E299-4C44-AEC0-7E2553B12794}"/>
              </a:ext>
            </a:extLst>
          </p:cNvPr>
          <p:cNvSpPr/>
          <p:nvPr/>
        </p:nvSpPr>
        <p:spPr>
          <a:xfrm rot="5400000">
            <a:off x="1064310" y="4818997"/>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nvGrpSpPr>
          <p:cNvPr id="28" name="グループ化 27">
            <a:extLst>
              <a:ext uri="{FF2B5EF4-FFF2-40B4-BE49-F238E27FC236}">
                <a16:creationId xmlns:a16="http://schemas.microsoft.com/office/drawing/2014/main" id="{0C2D99A1-A391-B34D-B51D-2646448B5EE0}"/>
              </a:ext>
            </a:extLst>
          </p:cNvPr>
          <p:cNvGrpSpPr/>
          <p:nvPr/>
        </p:nvGrpSpPr>
        <p:grpSpPr>
          <a:xfrm>
            <a:off x="617232" y="5532687"/>
            <a:ext cx="539448" cy="487368"/>
            <a:chOff x="400056" y="1061560"/>
            <a:chExt cx="269724" cy="243684"/>
          </a:xfrm>
        </p:grpSpPr>
        <p:sp>
          <p:nvSpPr>
            <p:cNvPr id="29" name="三角形 28">
              <a:extLst>
                <a:ext uri="{FF2B5EF4-FFF2-40B4-BE49-F238E27FC236}">
                  <a16:creationId xmlns:a16="http://schemas.microsoft.com/office/drawing/2014/main" id="{71EBF793-5064-E34A-9387-1426F995A3B3}"/>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30" name="三角形 29">
              <a:extLst>
                <a:ext uri="{FF2B5EF4-FFF2-40B4-BE49-F238E27FC236}">
                  <a16:creationId xmlns:a16="http://schemas.microsoft.com/office/drawing/2014/main" id="{5D106750-2C77-6545-AB79-4AEB07AD03A4}"/>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39" name="テキスト プレースホルダー 27">
            <a:extLst>
              <a:ext uri="{FF2B5EF4-FFF2-40B4-BE49-F238E27FC236}">
                <a16:creationId xmlns:a16="http://schemas.microsoft.com/office/drawing/2014/main" id="{E90FC0FA-6B43-C040-A5F9-B0941E894243}"/>
              </a:ext>
            </a:extLst>
          </p:cNvPr>
          <p:cNvSpPr txBox="1">
            <a:spLocks/>
          </p:cNvSpPr>
          <p:nvPr/>
        </p:nvSpPr>
        <p:spPr>
          <a:xfrm>
            <a:off x="1254486" y="5460062"/>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IAGO</a:t>
            </a:r>
            <a:r>
              <a:rPr lang="ja-JP" altLang="en-US"/>
              <a:t>がプラットフォームとして機能することを実証</a:t>
            </a:r>
            <a:endParaRPr lang="en-US" altLang="ja-JP" dirty="0"/>
          </a:p>
        </p:txBody>
      </p:sp>
      <p:grpSp>
        <p:nvGrpSpPr>
          <p:cNvPr id="67" name="グループ化 66">
            <a:extLst>
              <a:ext uri="{FF2B5EF4-FFF2-40B4-BE49-F238E27FC236}">
                <a16:creationId xmlns:a16="http://schemas.microsoft.com/office/drawing/2014/main" id="{A0B0B948-B195-AC4D-B168-98866B40158E}"/>
              </a:ext>
            </a:extLst>
          </p:cNvPr>
          <p:cNvGrpSpPr/>
          <p:nvPr/>
        </p:nvGrpSpPr>
        <p:grpSpPr>
          <a:xfrm>
            <a:off x="3216825" y="7319687"/>
            <a:ext cx="11854350" cy="5984041"/>
            <a:chOff x="3216825" y="7319687"/>
            <a:chExt cx="11854350" cy="5984041"/>
          </a:xfrm>
        </p:grpSpPr>
        <p:grpSp>
          <p:nvGrpSpPr>
            <p:cNvPr id="68" name="グループ化 67">
              <a:extLst>
                <a:ext uri="{FF2B5EF4-FFF2-40B4-BE49-F238E27FC236}">
                  <a16:creationId xmlns:a16="http://schemas.microsoft.com/office/drawing/2014/main" id="{6270B360-E0B4-4547-AB11-5A79E4712EF7}"/>
                </a:ext>
              </a:extLst>
            </p:cNvPr>
            <p:cNvGrpSpPr/>
            <p:nvPr/>
          </p:nvGrpSpPr>
          <p:grpSpPr>
            <a:xfrm>
              <a:off x="3216825" y="10402558"/>
              <a:ext cx="11854350" cy="2901170"/>
              <a:chOff x="2226339" y="9389213"/>
              <a:chExt cx="11854350" cy="2901170"/>
            </a:xfrm>
          </p:grpSpPr>
          <p:sp>
            <p:nvSpPr>
              <p:cNvPr id="78" name="テキスト ボックス 77">
                <a:extLst>
                  <a:ext uri="{FF2B5EF4-FFF2-40B4-BE49-F238E27FC236}">
                    <a16:creationId xmlns:a16="http://schemas.microsoft.com/office/drawing/2014/main" id="{39DE7876-2053-874D-8520-D3E961A49E11}"/>
                  </a:ext>
                </a:extLst>
              </p:cNvPr>
              <p:cNvSpPr txBox="1"/>
              <p:nvPr/>
            </p:nvSpPr>
            <p:spPr>
              <a:xfrm>
                <a:off x="5900499" y="11644052"/>
                <a:ext cx="4506031" cy="646331"/>
              </a:xfrm>
              <a:prstGeom prst="rect">
                <a:avLst/>
              </a:prstGeom>
              <a:noFill/>
            </p:spPr>
            <p:txBody>
              <a:bodyPr wrap="square" rtlCol="0">
                <a:spAutoFit/>
              </a:bodyPr>
              <a:lstStyle/>
              <a:p>
                <a:pPr algn="ctr"/>
                <a:r>
                  <a:rPr lang="ja-JP" altLang="en-US"/>
                  <a:t>交渉内容</a:t>
                </a:r>
                <a:endParaRPr kumimoji="1" lang="ja-JP" altLang="en-US"/>
              </a:p>
            </p:txBody>
          </p:sp>
          <p:grpSp>
            <p:nvGrpSpPr>
              <p:cNvPr id="79" name="グループ化 78">
                <a:extLst>
                  <a:ext uri="{FF2B5EF4-FFF2-40B4-BE49-F238E27FC236}">
                    <a16:creationId xmlns:a16="http://schemas.microsoft.com/office/drawing/2014/main" id="{F5F8DBED-C05C-A640-97DB-00C0BF9AD9ED}"/>
                  </a:ext>
                </a:extLst>
              </p:cNvPr>
              <p:cNvGrpSpPr/>
              <p:nvPr/>
            </p:nvGrpSpPr>
            <p:grpSpPr>
              <a:xfrm>
                <a:off x="2226339" y="9389213"/>
                <a:ext cx="11854350" cy="2010101"/>
                <a:chOff x="3821592" y="9287685"/>
                <a:chExt cx="11854350" cy="2010101"/>
              </a:xfrm>
            </p:grpSpPr>
            <p:pic>
              <p:nvPicPr>
                <p:cNvPr id="80" name="グラフィックス 79" descr="Pasta">
                  <a:extLst>
                    <a:ext uri="{FF2B5EF4-FFF2-40B4-BE49-F238E27FC236}">
                      <a16:creationId xmlns:a16="http://schemas.microsoft.com/office/drawing/2014/main" id="{99CC76F2-BB8D-7740-BB98-34724E09CEA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18892" y="9287685"/>
                  <a:ext cx="1956819" cy="1956819"/>
                </a:xfrm>
                <a:prstGeom prst="rect">
                  <a:avLst/>
                </a:prstGeom>
              </p:spPr>
            </p:pic>
            <p:pic>
              <p:nvPicPr>
                <p:cNvPr id="81" name="グラフィックス 80" descr="Pizza">
                  <a:extLst>
                    <a:ext uri="{FF2B5EF4-FFF2-40B4-BE49-F238E27FC236}">
                      <a16:creationId xmlns:a16="http://schemas.microsoft.com/office/drawing/2014/main" id="{CD107B53-F2B5-B247-83F5-4A00C16AFA0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120242" y="9340967"/>
                  <a:ext cx="1956819" cy="1956819"/>
                </a:xfrm>
                <a:prstGeom prst="rect">
                  <a:avLst/>
                </a:prstGeom>
              </p:spPr>
            </p:pic>
            <p:pic>
              <p:nvPicPr>
                <p:cNvPr id="82" name="グラフィックス 81" descr="CakeSlice">
                  <a:extLst>
                    <a:ext uri="{FF2B5EF4-FFF2-40B4-BE49-F238E27FC236}">
                      <a16:creationId xmlns:a16="http://schemas.microsoft.com/office/drawing/2014/main" id="{9A7FAEFB-F4AF-9343-ADC3-9F9640750A1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821592" y="9334846"/>
                  <a:ext cx="1956819" cy="1956819"/>
                </a:xfrm>
                <a:prstGeom prst="rect">
                  <a:avLst/>
                </a:prstGeom>
              </p:spPr>
            </p:pic>
            <p:pic>
              <p:nvPicPr>
                <p:cNvPr id="83" name="グラフィックス 82" descr="Donut">
                  <a:extLst>
                    <a:ext uri="{FF2B5EF4-FFF2-40B4-BE49-F238E27FC236}">
                      <a16:creationId xmlns:a16="http://schemas.microsoft.com/office/drawing/2014/main" id="{2E0B2D88-C671-A640-94CC-C7232546148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3717542" y="9333265"/>
                  <a:ext cx="1958400" cy="1958400"/>
                </a:xfrm>
                <a:prstGeom prst="rect">
                  <a:avLst/>
                </a:prstGeom>
              </p:spPr>
            </p:pic>
          </p:grpSp>
        </p:grpSp>
        <p:grpSp>
          <p:nvGrpSpPr>
            <p:cNvPr id="69" name="グループ化 68">
              <a:extLst>
                <a:ext uri="{FF2B5EF4-FFF2-40B4-BE49-F238E27FC236}">
                  <a16:creationId xmlns:a16="http://schemas.microsoft.com/office/drawing/2014/main" id="{872B814F-AF8D-8646-8385-25D03A70E86C}"/>
                </a:ext>
              </a:extLst>
            </p:cNvPr>
            <p:cNvGrpSpPr/>
            <p:nvPr/>
          </p:nvGrpSpPr>
          <p:grpSpPr>
            <a:xfrm>
              <a:off x="4892225" y="7319687"/>
              <a:ext cx="8392160" cy="2292139"/>
              <a:chOff x="4892225" y="7319687"/>
              <a:chExt cx="8392160" cy="2292139"/>
            </a:xfrm>
          </p:grpSpPr>
          <p:grpSp>
            <p:nvGrpSpPr>
              <p:cNvPr id="70" name="グループ化 69">
                <a:extLst>
                  <a:ext uri="{FF2B5EF4-FFF2-40B4-BE49-F238E27FC236}">
                    <a16:creationId xmlns:a16="http://schemas.microsoft.com/office/drawing/2014/main" id="{767AE811-29C3-4E40-A519-572E28E52ABD}"/>
                  </a:ext>
                </a:extLst>
              </p:cNvPr>
              <p:cNvGrpSpPr/>
              <p:nvPr/>
            </p:nvGrpSpPr>
            <p:grpSpPr>
              <a:xfrm>
                <a:off x="7393547" y="7319687"/>
                <a:ext cx="5890838" cy="2243000"/>
                <a:chOff x="7393547" y="7319687"/>
                <a:chExt cx="5890838" cy="2243000"/>
              </a:xfrm>
            </p:grpSpPr>
            <p:sp>
              <p:nvSpPr>
                <p:cNvPr id="74" name="右矢印 73">
                  <a:extLst>
                    <a:ext uri="{FF2B5EF4-FFF2-40B4-BE49-F238E27FC236}">
                      <a16:creationId xmlns:a16="http://schemas.microsoft.com/office/drawing/2014/main" id="{D58494FF-FA7C-AE4C-9FCE-CFC76C71AE8B}"/>
                    </a:ext>
                  </a:extLst>
                </p:cNvPr>
                <p:cNvSpPr/>
                <p:nvPr/>
              </p:nvSpPr>
              <p:spPr>
                <a:xfrm>
                  <a:off x="7393547" y="8672370"/>
                  <a:ext cx="3429000" cy="371475"/>
                </a:xfrm>
                <a:prstGeom prst="rightArrow">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sp>
              <p:nvSpPr>
                <p:cNvPr id="75" name="スマイル 74">
                  <a:extLst>
                    <a:ext uri="{FF2B5EF4-FFF2-40B4-BE49-F238E27FC236}">
                      <a16:creationId xmlns:a16="http://schemas.microsoft.com/office/drawing/2014/main" id="{D2EEE5BE-9FEE-CD4D-BDCC-6867178058F1}"/>
                    </a:ext>
                  </a:extLst>
                </p:cNvPr>
                <p:cNvSpPr/>
                <p:nvPr/>
              </p:nvSpPr>
              <p:spPr>
                <a:xfrm>
                  <a:off x="11627601" y="8055251"/>
                  <a:ext cx="1656784" cy="1507436"/>
                </a:xfrm>
                <a:prstGeom prst="smileyFac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6" name="テキスト ボックス 75">
                  <a:extLst>
                    <a:ext uri="{FF2B5EF4-FFF2-40B4-BE49-F238E27FC236}">
                      <a16:creationId xmlns:a16="http://schemas.microsoft.com/office/drawing/2014/main" id="{6DABBA91-6C25-2B47-BFEF-FA23EB3FA687}"/>
                    </a:ext>
                  </a:extLst>
                </p:cNvPr>
                <p:cNvSpPr txBox="1"/>
                <p:nvPr/>
              </p:nvSpPr>
              <p:spPr>
                <a:xfrm>
                  <a:off x="11548631" y="7319687"/>
                  <a:ext cx="1735754" cy="646331"/>
                </a:xfrm>
                <a:prstGeom prst="rect">
                  <a:avLst/>
                </a:prstGeom>
                <a:noFill/>
              </p:spPr>
              <p:txBody>
                <a:bodyPr wrap="square" rtlCol="0">
                  <a:spAutoFit/>
                </a:bodyPr>
                <a:lstStyle/>
                <a:p>
                  <a:pPr algn="ctr"/>
                  <a:r>
                    <a:rPr lang="en-US" altLang="ja-JP" dirty="0"/>
                    <a:t>human</a:t>
                  </a:r>
                  <a:endParaRPr kumimoji="1" lang="ja-JP" altLang="en-US"/>
                </a:p>
              </p:txBody>
            </p:sp>
          </p:grpSp>
          <p:sp>
            <p:nvSpPr>
              <p:cNvPr id="71" name="スマイル 70">
                <a:extLst>
                  <a:ext uri="{FF2B5EF4-FFF2-40B4-BE49-F238E27FC236}">
                    <a16:creationId xmlns:a16="http://schemas.microsoft.com/office/drawing/2014/main" id="{2EC0D37C-B956-BD4C-96BD-FAB37D8CCF01}"/>
                  </a:ext>
                </a:extLst>
              </p:cNvPr>
              <p:cNvSpPr/>
              <p:nvPr/>
            </p:nvSpPr>
            <p:spPr>
              <a:xfrm>
                <a:off x="4931710" y="8104390"/>
                <a:ext cx="1656784" cy="1507436"/>
              </a:xfrm>
              <a:prstGeom prst="smileyFace">
                <a:avLst>
                  <a:gd name="adj" fmla="val 396"/>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テキスト ボックス 71">
                <a:extLst>
                  <a:ext uri="{FF2B5EF4-FFF2-40B4-BE49-F238E27FC236}">
                    <a16:creationId xmlns:a16="http://schemas.microsoft.com/office/drawing/2014/main" id="{B73E9CF9-95EC-FC4D-BED2-D96653921001}"/>
                  </a:ext>
                </a:extLst>
              </p:cNvPr>
              <p:cNvSpPr txBox="1"/>
              <p:nvPr/>
            </p:nvSpPr>
            <p:spPr>
              <a:xfrm>
                <a:off x="4892225" y="7434944"/>
                <a:ext cx="1735754" cy="646331"/>
              </a:xfrm>
              <a:prstGeom prst="rect">
                <a:avLst/>
              </a:prstGeom>
              <a:noFill/>
            </p:spPr>
            <p:txBody>
              <a:bodyPr wrap="square" rtlCol="0">
                <a:spAutoFit/>
              </a:bodyPr>
              <a:lstStyle/>
              <a:p>
                <a:pPr algn="ctr"/>
                <a:r>
                  <a:rPr kumimoji="1" lang="en-US" altLang="ja-JP" dirty="0"/>
                  <a:t>agent</a:t>
                </a:r>
                <a:endParaRPr kumimoji="1" lang="ja-JP" altLang="en-US"/>
              </a:p>
            </p:txBody>
          </p:sp>
        </p:grpSp>
      </p:grpSp>
      <p:sp>
        <p:nvSpPr>
          <p:cNvPr id="84" name="テキスト プレースホルダー 29">
            <a:extLst>
              <a:ext uri="{FF2B5EF4-FFF2-40B4-BE49-F238E27FC236}">
                <a16:creationId xmlns:a16="http://schemas.microsoft.com/office/drawing/2014/main" id="{19F75963-FBE9-F84B-AC0C-EEE55E628B97}"/>
              </a:ext>
            </a:extLst>
          </p:cNvPr>
          <p:cNvSpPr txBox="1">
            <a:spLocks/>
          </p:cNvSpPr>
          <p:nvPr/>
        </p:nvSpPr>
        <p:spPr>
          <a:xfrm>
            <a:off x="1457090" y="3246502"/>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Q1</a:t>
            </a:r>
            <a:r>
              <a:rPr lang="ja-JP" altLang="en-US"/>
              <a:t>：選好を明らかにするための戦略は人間の行動に影響を及ぼすか？</a:t>
            </a:r>
          </a:p>
        </p:txBody>
      </p:sp>
      <p:sp>
        <p:nvSpPr>
          <p:cNvPr id="85" name="テキスト プレースホルダー 29">
            <a:extLst>
              <a:ext uri="{FF2B5EF4-FFF2-40B4-BE49-F238E27FC236}">
                <a16:creationId xmlns:a16="http://schemas.microsoft.com/office/drawing/2014/main" id="{20CE951B-7F66-7D4D-9538-B8EC240262A8}"/>
              </a:ext>
            </a:extLst>
          </p:cNvPr>
          <p:cNvSpPr txBox="1">
            <a:spLocks/>
          </p:cNvSpPr>
          <p:nvPr/>
        </p:nvSpPr>
        <p:spPr>
          <a:xfrm>
            <a:off x="1457090" y="3976067"/>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Q2</a:t>
            </a:r>
            <a:r>
              <a:rPr lang="ja-JP" altLang="en-US"/>
              <a:t>：選好を明らかにするための戦略は統合的交渉に影響を与えるか？</a:t>
            </a:r>
          </a:p>
        </p:txBody>
      </p:sp>
      <p:sp>
        <p:nvSpPr>
          <p:cNvPr id="86" name="テキスト プレースホルダー 29">
            <a:extLst>
              <a:ext uri="{FF2B5EF4-FFF2-40B4-BE49-F238E27FC236}">
                <a16:creationId xmlns:a16="http://schemas.microsoft.com/office/drawing/2014/main" id="{4F135535-5A3C-C24D-BFFF-4F1F217E4BBB}"/>
              </a:ext>
            </a:extLst>
          </p:cNvPr>
          <p:cNvSpPr txBox="1">
            <a:spLocks/>
          </p:cNvSpPr>
          <p:nvPr/>
        </p:nvSpPr>
        <p:spPr>
          <a:xfrm>
            <a:off x="1445162" y="4703723"/>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Q3</a:t>
            </a:r>
            <a:r>
              <a:rPr lang="ja-JP" altLang="en-US"/>
              <a:t>：積極的な行動は相手を譲歩させるのか？</a:t>
            </a:r>
          </a:p>
        </p:txBody>
      </p:sp>
      <p:sp>
        <p:nvSpPr>
          <p:cNvPr id="41" name="角丸四角形吹き出し 40">
            <a:extLst>
              <a:ext uri="{FF2B5EF4-FFF2-40B4-BE49-F238E27FC236}">
                <a16:creationId xmlns:a16="http://schemas.microsoft.com/office/drawing/2014/main" id="{B616B707-3BE7-114D-93EA-40C19AF11525}"/>
              </a:ext>
            </a:extLst>
          </p:cNvPr>
          <p:cNvSpPr/>
          <p:nvPr/>
        </p:nvSpPr>
        <p:spPr>
          <a:xfrm>
            <a:off x="1010561" y="6523495"/>
            <a:ext cx="3639733" cy="1442523"/>
          </a:xfrm>
          <a:prstGeom prst="wedgeRoundRectCallout">
            <a:avLst>
              <a:gd name="adj1" fmla="val 44418"/>
              <a:gd name="adj2" fmla="val 78434"/>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a:t>お前</a:t>
            </a:r>
            <a:endParaRPr lang="en-US" altLang="ja-JP" dirty="0"/>
          </a:p>
          <a:p>
            <a:pPr algn="ctr"/>
            <a:r>
              <a:rPr lang="ja-JP" altLang="en-US"/>
              <a:t>何が好き？</a:t>
            </a:r>
          </a:p>
        </p:txBody>
      </p:sp>
      <p:sp>
        <p:nvSpPr>
          <p:cNvPr id="42" name="テキスト ボックス 41">
            <a:extLst>
              <a:ext uri="{FF2B5EF4-FFF2-40B4-BE49-F238E27FC236}">
                <a16:creationId xmlns:a16="http://schemas.microsoft.com/office/drawing/2014/main" id="{2F0586CC-A384-0841-B70B-1F7940B17540}"/>
              </a:ext>
            </a:extLst>
          </p:cNvPr>
          <p:cNvSpPr txBox="1"/>
          <p:nvPr/>
        </p:nvSpPr>
        <p:spPr>
          <a:xfrm>
            <a:off x="4682520" y="6921590"/>
            <a:ext cx="2155164" cy="646331"/>
          </a:xfrm>
          <a:prstGeom prst="rect">
            <a:avLst/>
          </a:prstGeom>
          <a:noFill/>
        </p:spPr>
        <p:txBody>
          <a:bodyPr wrap="square" rtlCol="0">
            <a:spAutoFit/>
          </a:bodyPr>
          <a:lstStyle/>
          <a:p>
            <a:pPr algn="ctr"/>
            <a:r>
              <a:rPr kumimoji="1" lang="en-US" altLang="ja-JP" dirty="0"/>
              <a:t>Nasty</a:t>
            </a:r>
            <a:endParaRPr kumimoji="1" lang="ja-JP" altLang="en-US"/>
          </a:p>
        </p:txBody>
      </p:sp>
    </p:spTree>
    <p:extLst>
      <p:ext uri="{BB962C8B-B14F-4D97-AF65-F5344CB8AC3E}">
        <p14:creationId xmlns:p14="http://schemas.microsoft.com/office/powerpoint/2010/main" val="2843386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3520CDD-7107-D140-A1A0-69D0D69B10F3}"/>
              </a:ext>
            </a:extLst>
          </p:cNvPr>
          <p:cNvSpPr>
            <a:spLocks noGrp="1"/>
          </p:cNvSpPr>
          <p:nvPr>
            <p:ph type="dt" sz="half" idx="10"/>
          </p:nvPr>
        </p:nvSpPr>
        <p:spPr/>
        <p:txBody>
          <a:bodyPr/>
          <a:lstStyle/>
          <a:p>
            <a:fld id="{35974365-84F6-754A-A339-DA79FFD42E98}" type="datetime1">
              <a:rPr lang="ja-JP" altLang="en-US" smtClean="0"/>
              <a:t>2018/6/9</a:t>
            </a:fld>
            <a:endParaRPr lang="ja-JP" altLang="en-US"/>
          </a:p>
        </p:txBody>
      </p:sp>
      <p:sp>
        <p:nvSpPr>
          <p:cNvPr id="3" name="フッター プレースホルダー 2">
            <a:extLst>
              <a:ext uri="{FF2B5EF4-FFF2-40B4-BE49-F238E27FC236}">
                <a16:creationId xmlns:a16="http://schemas.microsoft.com/office/drawing/2014/main" id="{6EEFBA0C-3454-8D4D-87CE-5BA9ED8AFBE5}"/>
              </a:ext>
            </a:extLst>
          </p:cNvPr>
          <p:cNvSpPr>
            <a:spLocks noGrp="1"/>
          </p:cNvSpPr>
          <p:nvPr>
            <p:ph type="ftr" sz="quarter" idx="11"/>
          </p:nvPr>
        </p:nvSpPr>
        <p:spPr/>
        <p:txBody>
          <a:bodyPr/>
          <a:lstStyle/>
          <a:p>
            <a:r>
              <a:rPr lang="ja-JP" altLang="en-US"/>
              <a:t>進捗報告</a:t>
            </a:r>
            <a:r>
              <a:rPr lang="en-US" altLang="ja-JP"/>
              <a:t>(2018.06.06)</a:t>
            </a:r>
            <a:endParaRPr lang="ja-JP" altLang="en-US"/>
          </a:p>
        </p:txBody>
      </p:sp>
      <p:sp>
        <p:nvSpPr>
          <p:cNvPr id="4" name="スライド番号プレースホルダー 3">
            <a:extLst>
              <a:ext uri="{FF2B5EF4-FFF2-40B4-BE49-F238E27FC236}">
                <a16:creationId xmlns:a16="http://schemas.microsoft.com/office/drawing/2014/main" id="{5D405AD0-9091-A94B-BA67-32995AD15B35}"/>
              </a:ext>
            </a:extLst>
          </p:cNvPr>
          <p:cNvSpPr>
            <a:spLocks noGrp="1"/>
          </p:cNvSpPr>
          <p:nvPr>
            <p:ph type="sldNum" sz="quarter" idx="12"/>
          </p:nvPr>
        </p:nvSpPr>
        <p:spPr/>
        <p:txBody>
          <a:bodyPr/>
          <a:lstStyle/>
          <a:p>
            <a:fld id="{89242BC1-393D-1248-985B-18DA624F2964}" type="slidenum">
              <a:rPr lang="ja-JP" altLang="en-US" smtClean="0"/>
              <a:pPr/>
              <a:t>13</a:t>
            </a:fld>
            <a:endParaRPr lang="ja-JP" altLang="en-US"/>
          </a:p>
        </p:txBody>
      </p:sp>
      <p:sp>
        <p:nvSpPr>
          <p:cNvPr id="5" name="テキスト プレースホルダー 4">
            <a:extLst>
              <a:ext uri="{FF2B5EF4-FFF2-40B4-BE49-F238E27FC236}">
                <a16:creationId xmlns:a16="http://schemas.microsoft.com/office/drawing/2014/main" id="{26DD2A8D-F804-D546-B77D-9693A67C3E0B}"/>
              </a:ext>
            </a:extLst>
          </p:cNvPr>
          <p:cNvSpPr>
            <a:spLocks noGrp="1"/>
          </p:cNvSpPr>
          <p:nvPr>
            <p:ph type="body" sz="quarter" idx="14"/>
          </p:nvPr>
        </p:nvSpPr>
        <p:spPr/>
        <p:txBody>
          <a:bodyPr/>
          <a:lstStyle/>
          <a:p>
            <a:r>
              <a:rPr kumimoji="1" lang="ja-JP" altLang="en-US"/>
              <a:t>実験</a:t>
            </a:r>
          </a:p>
        </p:txBody>
      </p:sp>
      <p:sp>
        <p:nvSpPr>
          <p:cNvPr id="6" name="テキスト プレースホルダー 5">
            <a:extLst>
              <a:ext uri="{FF2B5EF4-FFF2-40B4-BE49-F238E27FC236}">
                <a16:creationId xmlns:a16="http://schemas.microsoft.com/office/drawing/2014/main" id="{18F5D246-4675-9D44-B96B-BEDD6F01EDA7}"/>
              </a:ext>
            </a:extLst>
          </p:cNvPr>
          <p:cNvSpPr>
            <a:spLocks noGrp="1"/>
          </p:cNvSpPr>
          <p:nvPr>
            <p:ph type="body" sz="quarter" idx="13"/>
          </p:nvPr>
        </p:nvSpPr>
        <p:spPr/>
        <p:txBody>
          <a:bodyPr/>
          <a:lstStyle/>
          <a:p>
            <a:r>
              <a:rPr lang="en-US" altLang="ja-JP" dirty="0"/>
              <a:t>2</a:t>
            </a:r>
            <a:endParaRPr kumimoji="1" lang="ja-JP" altLang="en-US"/>
          </a:p>
        </p:txBody>
      </p:sp>
      <p:grpSp>
        <p:nvGrpSpPr>
          <p:cNvPr id="31" name="グループ化 30">
            <a:extLst>
              <a:ext uri="{FF2B5EF4-FFF2-40B4-BE49-F238E27FC236}">
                <a16:creationId xmlns:a16="http://schemas.microsoft.com/office/drawing/2014/main" id="{FD81DDC5-24B5-F24B-8DCA-6543CEE8DC81}"/>
              </a:ext>
            </a:extLst>
          </p:cNvPr>
          <p:cNvGrpSpPr/>
          <p:nvPr/>
        </p:nvGrpSpPr>
        <p:grpSpPr>
          <a:xfrm>
            <a:off x="289330" y="1413298"/>
            <a:ext cx="2160000" cy="934436"/>
            <a:chOff x="144665" y="525617"/>
            <a:chExt cx="1080000" cy="467218"/>
          </a:xfrm>
        </p:grpSpPr>
        <p:sp>
          <p:nvSpPr>
            <p:cNvPr id="32" name="正方形/長方形 31">
              <a:extLst>
                <a:ext uri="{FF2B5EF4-FFF2-40B4-BE49-F238E27FC236}">
                  <a16:creationId xmlns:a16="http://schemas.microsoft.com/office/drawing/2014/main" id="{073638CC-28A2-E943-AD34-548A0C227633}"/>
                </a:ext>
              </a:extLst>
            </p:cNvPr>
            <p:cNvSpPr/>
            <p:nvPr userDrawn="1"/>
          </p:nvSpPr>
          <p:spPr>
            <a:xfrm>
              <a:off x="145524" y="542424"/>
              <a:ext cx="91081" cy="450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sp>
          <p:nvSpPr>
            <p:cNvPr id="33" name="正方形/長方形 32">
              <a:extLst>
                <a:ext uri="{FF2B5EF4-FFF2-40B4-BE49-F238E27FC236}">
                  <a16:creationId xmlns:a16="http://schemas.microsoft.com/office/drawing/2014/main" id="{89C51296-914D-A74C-889D-A570C54F6A57}"/>
                </a:ext>
              </a:extLst>
            </p:cNvPr>
            <p:cNvSpPr/>
            <p:nvPr userDrawn="1"/>
          </p:nvSpPr>
          <p:spPr>
            <a:xfrm>
              <a:off x="144665" y="525617"/>
              <a:ext cx="1080000" cy="161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grpSp>
      <p:grpSp>
        <p:nvGrpSpPr>
          <p:cNvPr id="34" name="グループ化 33">
            <a:extLst>
              <a:ext uri="{FF2B5EF4-FFF2-40B4-BE49-F238E27FC236}">
                <a16:creationId xmlns:a16="http://schemas.microsoft.com/office/drawing/2014/main" id="{FC0C993D-26F8-9648-8C42-6E3A827F97DE}"/>
              </a:ext>
            </a:extLst>
          </p:cNvPr>
          <p:cNvGrpSpPr/>
          <p:nvPr/>
        </p:nvGrpSpPr>
        <p:grpSpPr>
          <a:xfrm>
            <a:off x="617232" y="2557358"/>
            <a:ext cx="539448" cy="487368"/>
            <a:chOff x="400056" y="1061560"/>
            <a:chExt cx="269724" cy="243684"/>
          </a:xfrm>
        </p:grpSpPr>
        <p:sp>
          <p:nvSpPr>
            <p:cNvPr id="35" name="三角形 34">
              <a:extLst>
                <a:ext uri="{FF2B5EF4-FFF2-40B4-BE49-F238E27FC236}">
                  <a16:creationId xmlns:a16="http://schemas.microsoft.com/office/drawing/2014/main" id="{21EC1BB2-1EA3-DB45-83ED-42197AA1F0E3}"/>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36" name="三角形 35">
              <a:extLst>
                <a:ext uri="{FF2B5EF4-FFF2-40B4-BE49-F238E27FC236}">
                  <a16:creationId xmlns:a16="http://schemas.microsoft.com/office/drawing/2014/main" id="{92822503-D36D-7644-A490-99EB8A1079E7}"/>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37" name="テキスト プレースホルダー 30">
            <a:extLst>
              <a:ext uri="{FF2B5EF4-FFF2-40B4-BE49-F238E27FC236}">
                <a16:creationId xmlns:a16="http://schemas.microsoft.com/office/drawing/2014/main" id="{A73B3907-668E-1A41-B5F4-6D46EA930E91}"/>
              </a:ext>
            </a:extLst>
          </p:cNvPr>
          <p:cNvSpPr txBox="1">
            <a:spLocks/>
          </p:cNvSpPr>
          <p:nvPr/>
        </p:nvSpPr>
        <p:spPr>
          <a:xfrm>
            <a:off x="571049" y="1583871"/>
            <a:ext cx="17302163" cy="1403350"/>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60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目的</a:t>
            </a:r>
          </a:p>
        </p:txBody>
      </p:sp>
      <p:sp>
        <p:nvSpPr>
          <p:cNvPr id="38" name="テキスト プレースホルダー 27">
            <a:extLst>
              <a:ext uri="{FF2B5EF4-FFF2-40B4-BE49-F238E27FC236}">
                <a16:creationId xmlns:a16="http://schemas.microsoft.com/office/drawing/2014/main" id="{52FC6201-0015-374A-A9F7-4FCF0162EFE8}"/>
              </a:ext>
            </a:extLst>
          </p:cNvPr>
          <p:cNvSpPr txBox="1">
            <a:spLocks/>
          </p:cNvSpPr>
          <p:nvPr/>
        </p:nvSpPr>
        <p:spPr>
          <a:xfrm>
            <a:off x="1254486" y="2484733"/>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人間同士の交渉で生じる効果について調査</a:t>
            </a:r>
            <a:endParaRPr lang="en-US" altLang="ja-JP" dirty="0"/>
          </a:p>
        </p:txBody>
      </p:sp>
      <p:sp>
        <p:nvSpPr>
          <p:cNvPr id="57" name="三角形 56">
            <a:extLst>
              <a:ext uri="{FF2B5EF4-FFF2-40B4-BE49-F238E27FC236}">
                <a16:creationId xmlns:a16="http://schemas.microsoft.com/office/drawing/2014/main" id="{7F703886-4132-A74D-B009-F1827BE6F3C7}"/>
              </a:ext>
            </a:extLst>
          </p:cNvPr>
          <p:cNvSpPr/>
          <p:nvPr/>
        </p:nvSpPr>
        <p:spPr>
          <a:xfrm rot="5400000">
            <a:off x="1076238" y="3361776"/>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23" name="三角形 22">
            <a:extLst>
              <a:ext uri="{FF2B5EF4-FFF2-40B4-BE49-F238E27FC236}">
                <a16:creationId xmlns:a16="http://schemas.microsoft.com/office/drawing/2014/main" id="{71DA17BD-74F3-FE4A-96F4-94A9E3AA34CD}"/>
              </a:ext>
            </a:extLst>
          </p:cNvPr>
          <p:cNvSpPr/>
          <p:nvPr/>
        </p:nvSpPr>
        <p:spPr>
          <a:xfrm rot="5400000">
            <a:off x="1076238" y="4091341"/>
            <a:ext cx="480900" cy="320016"/>
          </a:xfrm>
          <a:prstGeom prst="triangl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26" name="三角形 25">
            <a:extLst>
              <a:ext uri="{FF2B5EF4-FFF2-40B4-BE49-F238E27FC236}">
                <a16:creationId xmlns:a16="http://schemas.microsoft.com/office/drawing/2014/main" id="{09C71C8C-E299-4C44-AEC0-7E2553B12794}"/>
              </a:ext>
            </a:extLst>
          </p:cNvPr>
          <p:cNvSpPr/>
          <p:nvPr/>
        </p:nvSpPr>
        <p:spPr>
          <a:xfrm rot="5400000">
            <a:off x="1064310" y="4818997"/>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nvGrpSpPr>
          <p:cNvPr id="28" name="グループ化 27">
            <a:extLst>
              <a:ext uri="{FF2B5EF4-FFF2-40B4-BE49-F238E27FC236}">
                <a16:creationId xmlns:a16="http://schemas.microsoft.com/office/drawing/2014/main" id="{0C2D99A1-A391-B34D-B51D-2646448B5EE0}"/>
              </a:ext>
            </a:extLst>
          </p:cNvPr>
          <p:cNvGrpSpPr/>
          <p:nvPr/>
        </p:nvGrpSpPr>
        <p:grpSpPr>
          <a:xfrm>
            <a:off x="617232" y="5532687"/>
            <a:ext cx="539448" cy="487368"/>
            <a:chOff x="400056" y="1061560"/>
            <a:chExt cx="269724" cy="243684"/>
          </a:xfrm>
        </p:grpSpPr>
        <p:sp>
          <p:nvSpPr>
            <p:cNvPr id="29" name="三角形 28">
              <a:extLst>
                <a:ext uri="{FF2B5EF4-FFF2-40B4-BE49-F238E27FC236}">
                  <a16:creationId xmlns:a16="http://schemas.microsoft.com/office/drawing/2014/main" id="{71EBF793-5064-E34A-9387-1426F995A3B3}"/>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30" name="三角形 29">
              <a:extLst>
                <a:ext uri="{FF2B5EF4-FFF2-40B4-BE49-F238E27FC236}">
                  <a16:creationId xmlns:a16="http://schemas.microsoft.com/office/drawing/2014/main" id="{5D106750-2C77-6545-AB79-4AEB07AD03A4}"/>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39" name="テキスト プレースホルダー 27">
            <a:extLst>
              <a:ext uri="{FF2B5EF4-FFF2-40B4-BE49-F238E27FC236}">
                <a16:creationId xmlns:a16="http://schemas.microsoft.com/office/drawing/2014/main" id="{E90FC0FA-6B43-C040-A5F9-B0941E894243}"/>
              </a:ext>
            </a:extLst>
          </p:cNvPr>
          <p:cNvSpPr txBox="1">
            <a:spLocks/>
          </p:cNvSpPr>
          <p:nvPr/>
        </p:nvSpPr>
        <p:spPr>
          <a:xfrm>
            <a:off x="1254486" y="5460062"/>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IAGO</a:t>
            </a:r>
            <a:r>
              <a:rPr lang="ja-JP" altLang="en-US"/>
              <a:t>がプラットフォームとして機能することを実証</a:t>
            </a:r>
            <a:endParaRPr lang="en-US" altLang="ja-JP" dirty="0"/>
          </a:p>
        </p:txBody>
      </p:sp>
      <p:grpSp>
        <p:nvGrpSpPr>
          <p:cNvPr id="7" name="グループ化 6">
            <a:extLst>
              <a:ext uri="{FF2B5EF4-FFF2-40B4-BE49-F238E27FC236}">
                <a16:creationId xmlns:a16="http://schemas.microsoft.com/office/drawing/2014/main" id="{75E8F2AC-299C-CF4F-9C16-907113D2A111}"/>
              </a:ext>
            </a:extLst>
          </p:cNvPr>
          <p:cNvGrpSpPr/>
          <p:nvPr/>
        </p:nvGrpSpPr>
        <p:grpSpPr>
          <a:xfrm>
            <a:off x="3216825" y="6523494"/>
            <a:ext cx="13771859" cy="6780234"/>
            <a:chOff x="3216825" y="6523494"/>
            <a:chExt cx="13771859" cy="6780234"/>
          </a:xfrm>
        </p:grpSpPr>
        <p:grpSp>
          <p:nvGrpSpPr>
            <p:cNvPr id="42" name="グループ化 41">
              <a:extLst>
                <a:ext uri="{FF2B5EF4-FFF2-40B4-BE49-F238E27FC236}">
                  <a16:creationId xmlns:a16="http://schemas.microsoft.com/office/drawing/2014/main" id="{7A5AD580-7131-D041-B8E4-17B27DF3D69B}"/>
                </a:ext>
              </a:extLst>
            </p:cNvPr>
            <p:cNvGrpSpPr/>
            <p:nvPr/>
          </p:nvGrpSpPr>
          <p:grpSpPr>
            <a:xfrm>
              <a:off x="3216825" y="10402558"/>
              <a:ext cx="11854350" cy="2901170"/>
              <a:chOff x="2226339" y="9389213"/>
              <a:chExt cx="11854350" cy="2901170"/>
            </a:xfrm>
          </p:grpSpPr>
          <p:sp>
            <p:nvSpPr>
              <p:cNvPr id="60" name="テキスト ボックス 59">
                <a:extLst>
                  <a:ext uri="{FF2B5EF4-FFF2-40B4-BE49-F238E27FC236}">
                    <a16:creationId xmlns:a16="http://schemas.microsoft.com/office/drawing/2014/main" id="{678385E7-AEA7-1545-BC28-12A84E30494D}"/>
                  </a:ext>
                </a:extLst>
              </p:cNvPr>
              <p:cNvSpPr txBox="1"/>
              <p:nvPr/>
            </p:nvSpPr>
            <p:spPr>
              <a:xfrm>
                <a:off x="5900499" y="11644052"/>
                <a:ext cx="4506031" cy="646331"/>
              </a:xfrm>
              <a:prstGeom prst="rect">
                <a:avLst/>
              </a:prstGeom>
              <a:noFill/>
            </p:spPr>
            <p:txBody>
              <a:bodyPr wrap="square" rtlCol="0">
                <a:spAutoFit/>
              </a:bodyPr>
              <a:lstStyle/>
              <a:p>
                <a:pPr algn="ctr"/>
                <a:r>
                  <a:rPr lang="ja-JP" altLang="en-US"/>
                  <a:t>交渉内容</a:t>
                </a:r>
                <a:endParaRPr kumimoji="1" lang="ja-JP" altLang="en-US"/>
              </a:p>
            </p:txBody>
          </p:sp>
          <p:grpSp>
            <p:nvGrpSpPr>
              <p:cNvPr id="61" name="グループ化 60">
                <a:extLst>
                  <a:ext uri="{FF2B5EF4-FFF2-40B4-BE49-F238E27FC236}">
                    <a16:creationId xmlns:a16="http://schemas.microsoft.com/office/drawing/2014/main" id="{B1257BC7-A9A4-0145-B7E3-80AA4250BF53}"/>
                  </a:ext>
                </a:extLst>
              </p:cNvPr>
              <p:cNvGrpSpPr/>
              <p:nvPr/>
            </p:nvGrpSpPr>
            <p:grpSpPr>
              <a:xfrm>
                <a:off x="2226339" y="9389213"/>
                <a:ext cx="11854350" cy="2010101"/>
                <a:chOff x="3821592" y="9287685"/>
                <a:chExt cx="11854350" cy="2010101"/>
              </a:xfrm>
            </p:grpSpPr>
            <p:pic>
              <p:nvPicPr>
                <p:cNvPr id="62" name="グラフィックス 61" descr="Pasta">
                  <a:extLst>
                    <a:ext uri="{FF2B5EF4-FFF2-40B4-BE49-F238E27FC236}">
                      <a16:creationId xmlns:a16="http://schemas.microsoft.com/office/drawing/2014/main" id="{ED4D337F-9799-B745-B30C-8159E7F46B7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18892" y="9287685"/>
                  <a:ext cx="1956819" cy="1956819"/>
                </a:xfrm>
                <a:prstGeom prst="rect">
                  <a:avLst/>
                </a:prstGeom>
              </p:spPr>
            </p:pic>
            <p:pic>
              <p:nvPicPr>
                <p:cNvPr id="63" name="グラフィックス 62" descr="Pizza">
                  <a:extLst>
                    <a:ext uri="{FF2B5EF4-FFF2-40B4-BE49-F238E27FC236}">
                      <a16:creationId xmlns:a16="http://schemas.microsoft.com/office/drawing/2014/main" id="{CA5DE0F4-4516-D64E-AD45-516F7361A4A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120242" y="9340967"/>
                  <a:ext cx="1956819" cy="1956819"/>
                </a:xfrm>
                <a:prstGeom prst="rect">
                  <a:avLst/>
                </a:prstGeom>
              </p:spPr>
            </p:pic>
            <p:pic>
              <p:nvPicPr>
                <p:cNvPr id="64" name="グラフィックス 63" descr="CakeSlice">
                  <a:extLst>
                    <a:ext uri="{FF2B5EF4-FFF2-40B4-BE49-F238E27FC236}">
                      <a16:creationId xmlns:a16="http://schemas.microsoft.com/office/drawing/2014/main" id="{25798C40-7A38-9840-8342-7F71004DCAF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821592" y="9334846"/>
                  <a:ext cx="1956819" cy="1956819"/>
                </a:xfrm>
                <a:prstGeom prst="rect">
                  <a:avLst/>
                </a:prstGeom>
              </p:spPr>
            </p:pic>
            <p:pic>
              <p:nvPicPr>
                <p:cNvPr id="65" name="グラフィックス 64" descr="Donut">
                  <a:extLst>
                    <a:ext uri="{FF2B5EF4-FFF2-40B4-BE49-F238E27FC236}">
                      <a16:creationId xmlns:a16="http://schemas.microsoft.com/office/drawing/2014/main" id="{BE88A548-551D-8F42-AD5D-3876BBCA010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3717542" y="9333265"/>
                  <a:ext cx="1958400" cy="1958400"/>
                </a:xfrm>
                <a:prstGeom prst="rect">
                  <a:avLst/>
                </a:prstGeom>
              </p:spPr>
            </p:pic>
          </p:grpSp>
        </p:grpSp>
        <p:grpSp>
          <p:nvGrpSpPr>
            <p:cNvPr id="44" name="グループ化 43">
              <a:extLst>
                <a:ext uri="{FF2B5EF4-FFF2-40B4-BE49-F238E27FC236}">
                  <a16:creationId xmlns:a16="http://schemas.microsoft.com/office/drawing/2014/main" id="{3D6F7A07-BF75-FB42-BC3D-34DE82EA2479}"/>
                </a:ext>
              </a:extLst>
            </p:cNvPr>
            <p:cNvGrpSpPr/>
            <p:nvPr/>
          </p:nvGrpSpPr>
          <p:grpSpPr>
            <a:xfrm>
              <a:off x="4892225" y="6523494"/>
              <a:ext cx="12096459" cy="3088332"/>
              <a:chOff x="4866258" y="4438026"/>
              <a:chExt cx="12096459" cy="3088332"/>
            </a:xfrm>
          </p:grpSpPr>
          <p:grpSp>
            <p:nvGrpSpPr>
              <p:cNvPr id="52" name="グループ化 51">
                <a:extLst>
                  <a:ext uri="{FF2B5EF4-FFF2-40B4-BE49-F238E27FC236}">
                    <a16:creationId xmlns:a16="http://schemas.microsoft.com/office/drawing/2014/main" id="{E062E578-FD9F-AF46-B678-354A1AC7E6AA}"/>
                  </a:ext>
                </a:extLst>
              </p:cNvPr>
              <p:cNvGrpSpPr/>
              <p:nvPr/>
            </p:nvGrpSpPr>
            <p:grpSpPr>
              <a:xfrm>
                <a:off x="4866258" y="5349476"/>
                <a:ext cx="1735754" cy="2176882"/>
                <a:chOff x="4299330" y="5349476"/>
                <a:chExt cx="1735754" cy="2176882"/>
              </a:xfrm>
            </p:grpSpPr>
            <p:sp>
              <p:nvSpPr>
                <p:cNvPr id="54" name="スマイル 53">
                  <a:extLst>
                    <a:ext uri="{FF2B5EF4-FFF2-40B4-BE49-F238E27FC236}">
                      <a16:creationId xmlns:a16="http://schemas.microsoft.com/office/drawing/2014/main" id="{390955EF-B855-224E-A4A6-592F43EE4A6A}"/>
                    </a:ext>
                  </a:extLst>
                </p:cNvPr>
                <p:cNvSpPr/>
                <p:nvPr/>
              </p:nvSpPr>
              <p:spPr>
                <a:xfrm>
                  <a:off x="4338815" y="6018922"/>
                  <a:ext cx="1656784" cy="1507436"/>
                </a:xfrm>
                <a:prstGeom prst="smileyFac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テキスト ボックス 54">
                  <a:extLst>
                    <a:ext uri="{FF2B5EF4-FFF2-40B4-BE49-F238E27FC236}">
                      <a16:creationId xmlns:a16="http://schemas.microsoft.com/office/drawing/2014/main" id="{9AD2A773-514F-794B-A583-6FF3F02618CD}"/>
                    </a:ext>
                  </a:extLst>
                </p:cNvPr>
                <p:cNvSpPr txBox="1"/>
                <p:nvPr/>
              </p:nvSpPr>
              <p:spPr>
                <a:xfrm>
                  <a:off x="4299330" y="5349476"/>
                  <a:ext cx="1735754" cy="646331"/>
                </a:xfrm>
                <a:prstGeom prst="rect">
                  <a:avLst/>
                </a:prstGeom>
                <a:noFill/>
              </p:spPr>
              <p:txBody>
                <a:bodyPr wrap="square" rtlCol="0">
                  <a:spAutoFit/>
                </a:bodyPr>
                <a:lstStyle/>
                <a:p>
                  <a:pPr algn="ctr"/>
                  <a:r>
                    <a:rPr kumimoji="1" lang="en-US" altLang="ja-JP" dirty="0"/>
                    <a:t>agent</a:t>
                  </a:r>
                  <a:endParaRPr kumimoji="1" lang="ja-JP" altLang="en-US"/>
                </a:p>
              </p:txBody>
            </p:sp>
          </p:grpSp>
          <p:grpSp>
            <p:nvGrpSpPr>
              <p:cNvPr id="47" name="グループ化 46">
                <a:extLst>
                  <a:ext uri="{FF2B5EF4-FFF2-40B4-BE49-F238E27FC236}">
                    <a16:creationId xmlns:a16="http://schemas.microsoft.com/office/drawing/2014/main" id="{0E5FEC29-0237-9A46-B867-0622D7FF7A2C}"/>
                  </a:ext>
                </a:extLst>
              </p:cNvPr>
              <p:cNvGrpSpPr/>
              <p:nvPr/>
            </p:nvGrpSpPr>
            <p:grpSpPr>
              <a:xfrm>
                <a:off x="11522664" y="4438026"/>
                <a:ext cx="5440053" cy="3039193"/>
                <a:chOff x="12053016" y="4438026"/>
                <a:chExt cx="5440053" cy="3039193"/>
              </a:xfrm>
            </p:grpSpPr>
            <p:grpSp>
              <p:nvGrpSpPr>
                <p:cNvPr id="48" name="グループ化 47">
                  <a:extLst>
                    <a:ext uri="{FF2B5EF4-FFF2-40B4-BE49-F238E27FC236}">
                      <a16:creationId xmlns:a16="http://schemas.microsoft.com/office/drawing/2014/main" id="{35B623F4-6B74-1747-810F-D94794252AC4}"/>
                    </a:ext>
                  </a:extLst>
                </p:cNvPr>
                <p:cNvGrpSpPr/>
                <p:nvPr/>
              </p:nvGrpSpPr>
              <p:grpSpPr>
                <a:xfrm>
                  <a:off x="12053016" y="5234219"/>
                  <a:ext cx="1735754" cy="2243000"/>
                  <a:chOff x="12053016" y="5234219"/>
                  <a:chExt cx="1735754" cy="2243000"/>
                </a:xfrm>
              </p:grpSpPr>
              <p:sp>
                <p:nvSpPr>
                  <p:cNvPr id="50" name="スマイル 49">
                    <a:extLst>
                      <a:ext uri="{FF2B5EF4-FFF2-40B4-BE49-F238E27FC236}">
                        <a16:creationId xmlns:a16="http://schemas.microsoft.com/office/drawing/2014/main" id="{1F5AC04A-388A-5F41-8CE3-B324C99FD797}"/>
                      </a:ext>
                    </a:extLst>
                  </p:cNvPr>
                  <p:cNvSpPr/>
                  <p:nvPr/>
                </p:nvSpPr>
                <p:spPr>
                  <a:xfrm>
                    <a:off x="12131986" y="5969783"/>
                    <a:ext cx="1656784" cy="1507436"/>
                  </a:xfrm>
                  <a:prstGeom prst="smileyFac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テキスト ボックス 50">
                    <a:extLst>
                      <a:ext uri="{FF2B5EF4-FFF2-40B4-BE49-F238E27FC236}">
                        <a16:creationId xmlns:a16="http://schemas.microsoft.com/office/drawing/2014/main" id="{6C65396B-AB70-F54E-9CF2-7A18EB4021F3}"/>
                      </a:ext>
                    </a:extLst>
                  </p:cNvPr>
                  <p:cNvSpPr txBox="1"/>
                  <p:nvPr/>
                </p:nvSpPr>
                <p:spPr>
                  <a:xfrm>
                    <a:off x="12053016" y="5234219"/>
                    <a:ext cx="1735754" cy="646331"/>
                  </a:xfrm>
                  <a:prstGeom prst="rect">
                    <a:avLst/>
                  </a:prstGeom>
                  <a:noFill/>
                </p:spPr>
                <p:txBody>
                  <a:bodyPr wrap="square" rtlCol="0">
                    <a:spAutoFit/>
                  </a:bodyPr>
                  <a:lstStyle/>
                  <a:p>
                    <a:pPr algn="ctr"/>
                    <a:r>
                      <a:rPr lang="en-US" altLang="ja-JP" dirty="0"/>
                      <a:t>human</a:t>
                    </a:r>
                    <a:endParaRPr kumimoji="1" lang="ja-JP" altLang="en-US"/>
                  </a:p>
                </p:txBody>
              </p:sp>
            </p:grpSp>
            <p:sp>
              <p:nvSpPr>
                <p:cNvPr id="49" name="角丸四角形吹き出し 48">
                  <a:extLst>
                    <a:ext uri="{FF2B5EF4-FFF2-40B4-BE49-F238E27FC236}">
                      <a16:creationId xmlns:a16="http://schemas.microsoft.com/office/drawing/2014/main" id="{9EF9F06C-09B8-D240-BD2D-645F66DF5127}"/>
                    </a:ext>
                  </a:extLst>
                </p:cNvPr>
                <p:cNvSpPr/>
                <p:nvPr/>
              </p:nvSpPr>
              <p:spPr>
                <a:xfrm>
                  <a:off x="13853336" y="4438026"/>
                  <a:ext cx="3639733" cy="1442523"/>
                </a:xfrm>
                <a:prstGeom prst="wedgeRoundRectCallout">
                  <a:avLst>
                    <a:gd name="adj1" fmla="val -42507"/>
                    <a:gd name="adj2" fmla="val 80970"/>
                    <a:gd name="adj3" fmla="val 16667"/>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ja-JP" altLang="en-US"/>
                    <a:t>パスタが</a:t>
                  </a:r>
                  <a:endParaRPr kumimoji="1" lang="en-US" altLang="ja-JP" dirty="0"/>
                </a:p>
                <a:p>
                  <a:pPr algn="ctr"/>
                  <a:r>
                    <a:rPr lang="ja-JP" altLang="en-US"/>
                    <a:t>一番</a:t>
                  </a:r>
                  <a:r>
                    <a:rPr kumimoji="1" lang="ja-JP" altLang="en-US"/>
                    <a:t>好き</a:t>
                  </a:r>
                </a:p>
              </p:txBody>
            </p:sp>
          </p:grpSp>
        </p:grpSp>
        <p:sp>
          <p:nvSpPr>
            <p:cNvPr id="66" name="右矢印 65">
              <a:extLst>
                <a:ext uri="{FF2B5EF4-FFF2-40B4-BE49-F238E27FC236}">
                  <a16:creationId xmlns:a16="http://schemas.microsoft.com/office/drawing/2014/main" id="{54DFFDC2-BCFA-E848-8B4F-482737B6C230}"/>
                </a:ext>
              </a:extLst>
            </p:cNvPr>
            <p:cNvSpPr/>
            <p:nvPr/>
          </p:nvSpPr>
          <p:spPr>
            <a:xfrm rot="17437685">
              <a:off x="4553593" y="9929091"/>
              <a:ext cx="746251" cy="371476"/>
            </a:xfrm>
            <a:prstGeom prst="rightArrow">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sp>
          <p:nvSpPr>
            <p:cNvPr id="68" name="右矢印 67">
              <a:extLst>
                <a:ext uri="{FF2B5EF4-FFF2-40B4-BE49-F238E27FC236}">
                  <a16:creationId xmlns:a16="http://schemas.microsoft.com/office/drawing/2014/main" id="{4B0164DA-096D-8B4E-8D19-C66C9AFDD02D}"/>
                </a:ext>
              </a:extLst>
            </p:cNvPr>
            <p:cNvSpPr/>
            <p:nvPr/>
          </p:nvSpPr>
          <p:spPr>
            <a:xfrm rot="17437685">
              <a:off x="11237851" y="9931700"/>
              <a:ext cx="746251" cy="371476"/>
            </a:xfrm>
            <a:prstGeom prst="rightArrow">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grpSp>
      <p:sp>
        <p:nvSpPr>
          <p:cNvPr id="70" name="テキスト プレースホルダー 29">
            <a:extLst>
              <a:ext uri="{FF2B5EF4-FFF2-40B4-BE49-F238E27FC236}">
                <a16:creationId xmlns:a16="http://schemas.microsoft.com/office/drawing/2014/main" id="{920797D9-67D0-3D47-A32C-5F22EAB8074F}"/>
              </a:ext>
            </a:extLst>
          </p:cNvPr>
          <p:cNvSpPr txBox="1">
            <a:spLocks/>
          </p:cNvSpPr>
          <p:nvPr/>
        </p:nvSpPr>
        <p:spPr>
          <a:xfrm>
            <a:off x="1457090" y="3246502"/>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Q1</a:t>
            </a:r>
            <a:r>
              <a:rPr lang="ja-JP" altLang="en-US"/>
              <a:t>：選好を明らかにするための戦略は人間の行動に影響を及ぼすか？</a:t>
            </a:r>
          </a:p>
        </p:txBody>
      </p:sp>
      <p:sp>
        <p:nvSpPr>
          <p:cNvPr id="71" name="テキスト プレースホルダー 29">
            <a:extLst>
              <a:ext uri="{FF2B5EF4-FFF2-40B4-BE49-F238E27FC236}">
                <a16:creationId xmlns:a16="http://schemas.microsoft.com/office/drawing/2014/main" id="{3C828A68-AC70-5F46-B916-48009F240354}"/>
              </a:ext>
            </a:extLst>
          </p:cNvPr>
          <p:cNvSpPr txBox="1">
            <a:spLocks/>
          </p:cNvSpPr>
          <p:nvPr/>
        </p:nvSpPr>
        <p:spPr>
          <a:xfrm>
            <a:off x="1457090" y="3976067"/>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Q2</a:t>
            </a:r>
            <a:r>
              <a:rPr lang="ja-JP" altLang="en-US"/>
              <a:t>：選好を明らかにするための戦略は統合的交渉に影響を与えるか？</a:t>
            </a:r>
          </a:p>
        </p:txBody>
      </p:sp>
      <p:sp>
        <p:nvSpPr>
          <p:cNvPr id="72" name="テキスト プレースホルダー 29">
            <a:extLst>
              <a:ext uri="{FF2B5EF4-FFF2-40B4-BE49-F238E27FC236}">
                <a16:creationId xmlns:a16="http://schemas.microsoft.com/office/drawing/2014/main" id="{21F68C42-F73E-254D-A83E-29BA0C1C06BA}"/>
              </a:ext>
            </a:extLst>
          </p:cNvPr>
          <p:cNvSpPr txBox="1">
            <a:spLocks/>
          </p:cNvSpPr>
          <p:nvPr/>
        </p:nvSpPr>
        <p:spPr>
          <a:xfrm>
            <a:off x="1445162" y="4703723"/>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Q3</a:t>
            </a:r>
            <a:r>
              <a:rPr lang="ja-JP" altLang="en-US"/>
              <a:t>：積極的な行動は相手を譲歩させるのか？</a:t>
            </a:r>
          </a:p>
        </p:txBody>
      </p:sp>
      <p:sp>
        <p:nvSpPr>
          <p:cNvPr id="73" name="角丸四角形吹き出し 72">
            <a:extLst>
              <a:ext uri="{FF2B5EF4-FFF2-40B4-BE49-F238E27FC236}">
                <a16:creationId xmlns:a16="http://schemas.microsoft.com/office/drawing/2014/main" id="{47D75432-6C71-B645-AC85-34C7BBCD2D87}"/>
              </a:ext>
            </a:extLst>
          </p:cNvPr>
          <p:cNvSpPr/>
          <p:nvPr/>
        </p:nvSpPr>
        <p:spPr>
          <a:xfrm>
            <a:off x="1010561" y="6523495"/>
            <a:ext cx="3639733" cy="1442523"/>
          </a:xfrm>
          <a:prstGeom prst="wedgeRoundRectCallout">
            <a:avLst>
              <a:gd name="adj1" fmla="val 44418"/>
              <a:gd name="adj2" fmla="val 78434"/>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a:t>ケーキが</a:t>
            </a:r>
            <a:endParaRPr lang="en-US" altLang="ja-JP" dirty="0"/>
          </a:p>
          <a:p>
            <a:pPr algn="ctr"/>
            <a:r>
              <a:rPr lang="ja-JP" altLang="en-US"/>
              <a:t>一番好き</a:t>
            </a:r>
          </a:p>
        </p:txBody>
      </p:sp>
      <p:sp>
        <p:nvSpPr>
          <p:cNvPr id="74" name="テキスト ボックス 73">
            <a:extLst>
              <a:ext uri="{FF2B5EF4-FFF2-40B4-BE49-F238E27FC236}">
                <a16:creationId xmlns:a16="http://schemas.microsoft.com/office/drawing/2014/main" id="{5800728C-D2C4-2642-9AD7-042767F86896}"/>
              </a:ext>
            </a:extLst>
          </p:cNvPr>
          <p:cNvSpPr txBox="1"/>
          <p:nvPr/>
        </p:nvSpPr>
        <p:spPr>
          <a:xfrm>
            <a:off x="4682520" y="6921590"/>
            <a:ext cx="2155164" cy="646331"/>
          </a:xfrm>
          <a:prstGeom prst="rect">
            <a:avLst/>
          </a:prstGeom>
          <a:noFill/>
        </p:spPr>
        <p:txBody>
          <a:bodyPr wrap="square" rtlCol="0">
            <a:spAutoFit/>
          </a:bodyPr>
          <a:lstStyle/>
          <a:p>
            <a:pPr algn="ctr"/>
            <a:r>
              <a:rPr kumimoji="1" lang="en-US" altLang="ja-JP" dirty="0"/>
              <a:t>Free</a:t>
            </a:r>
            <a:endParaRPr kumimoji="1" lang="ja-JP" altLang="en-US"/>
          </a:p>
        </p:txBody>
      </p:sp>
      <p:sp>
        <p:nvSpPr>
          <p:cNvPr id="75" name="右矢印 74">
            <a:extLst>
              <a:ext uri="{FF2B5EF4-FFF2-40B4-BE49-F238E27FC236}">
                <a16:creationId xmlns:a16="http://schemas.microsoft.com/office/drawing/2014/main" id="{B34C0DE4-CF29-ED46-9173-0FE6DF39C862}"/>
              </a:ext>
            </a:extLst>
          </p:cNvPr>
          <p:cNvSpPr/>
          <p:nvPr/>
        </p:nvSpPr>
        <p:spPr>
          <a:xfrm>
            <a:off x="7393547" y="8351530"/>
            <a:ext cx="3429000" cy="371475"/>
          </a:xfrm>
          <a:prstGeom prst="rightArrow">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sp>
        <p:nvSpPr>
          <p:cNvPr id="76" name="右矢印 75">
            <a:extLst>
              <a:ext uri="{FF2B5EF4-FFF2-40B4-BE49-F238E27FC236}">
                <a16:creationId xmlns:a16="http://schemas.microsoft.com/office/drawing/2014/main" id="{BF573361-2351-474F-BC9E-7883D0525AEC}"/>
              </a:ext>
            </a:extLst>
          </p:cNvPr>
          <p:cNvSpPr/>
          <p:nvPr/>
        </p:nvSpPr>
        <p:spPr>
          <a:xfrm flipH="1">
            <a:off x="7417611" y="8937064"/>
            <a:ext cx="3429000" cy="371475"/>
          </a:xfrm>
          <a:prstGeom prst="rightArrow">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2386920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3520CDD-7107-D140-A1A0-69D0D69B10F3}"/>
              </a:ext>
            </a:extLst>
          </p:cNvPr>
          <p:cNvSpPr>
            <a:spLocks noGrp="1"/>
          </p:cNvSpPr>
          <p:nvPr>
            <p:ph type="dt" sz="half" idx="10"/>
          </p:nvPr>
        </p:nvSpPr>
        <p:spPr/>
        <p:txBody>
          <a:bodyPr/>
          <a:lstStyle/>
          <a:p>
            <a:fld id="{35974365-84F6-754A-A339-DA79FFD42E98}" type="datetime1">
              <a:rPr lang="ja-JP" altLang="en-US" smtClean="0"/>
              <a:t>2018/6/9</a:t>
            </a:fld>
            <a:endParaRPr lang="ja-JP" altLang="en-US"/>
          </a:p>
        </p:txBody>
      </p:sp>
      <p:sp>
        <p:nvSpPr>
          <p:cNvPr id="3" name="フッター プレースホルダー 2">
            <a:extLst>
              <a:ext uri="{FF2B5EF4-FFF2-40B4-BE49-F238E27FC236}">
                <a16:creationId xmlns:a16="http://schemas.microsoft.com/office/drawing/2014/main" id="{6EEFBA0C-3454-8D4D-87CE-5BA9ED8AFBE5}"/>
              </a:ext>
            </a:extLst>
          </p:cNvPr>
          <p:cNvSpPr>
            <a:spLocks noGrp="1"/>
          </p:cNvSpPr>
          <p:nvPr>
            <p:ph type="ftr" sz="quarter" idx="11"/>
          </p:nvPr>
        </p:nvSpPr>
        <p:spPr/>
        <p:txBody>
          <a:bodyPr/>
          <a:lstStyle/>
          <a:p>
            <a:r>
              <a:rPr lang="ja-JP" altLang="en-US"/>
              <a:t>進捗報告</a:t>
            </a:r>
            <a:r>
              <a:rPr lang="en-US" altLang="ja-JP"/>
              <a:t>(2018.06.06)</a:t>
            </a:r>
            <a:endParaRPr lang="ja-JP" altLang="en-US"/>
          </a:p>
        </p:txBody>
      </p:sp>
      <p:sp>
        <p:nvSpPr>
          <p:cNvPr id="4" name="スライド番号プレースホルダー 3">
            <a:extLst>
              <a:ext uri="{FF2B5EF4-FFF2-40B4-BE49-F238E27FC236}">
                <a16:creationId xmlns:a16="http://schemas.microsoft.com/office/drawing/2014/main" id="{5D405AD0-9091-A94B-BA67-32995AD15B35}"/>
              </a:ext>
            </a:extLst>
          </p:cNvPr>
          <p:cNvSpPr>
            <a:spLocks noGrp="1"/>
          </p:cNvSpPr>
          <p:nvPr>
            <p:ph type="sldNum" sz="quarter" idx="12"/>
          </p:nvPr>
        </p:nvSpPr>
        <p:spPr/>
        <p:txBody>
          <a:bodyPr/>
          <a:lstStyle/>
          <a:p>
            <a:fld id="{89242BC1-393D-1248-985B-18DA624F2964}" type="slidenum">
              <a:rPr lang="ja-JP" altLang="en-US" smtClean="0"/>
              <a:pPr/>
              <a:t>14</a:t>
            </a:fld>
            <a:endParaRPr lang="ja-JP" altLang="en-US"/>
          </a:p>
        </p:txBody>
      </p:sp>
      <p:sp>
        <p:nvSpPr>
          <p:cNvPr id="5" name="テキスト プレースホルダー 4">
            <a:extLst>
              <a:ext uri="{FF2B5EF4-FFF2-40B4-BE49-F238E27FC236}">
                <a16:creationId xmlns:a16="http://schemas.microsoft.com/office/drawing/2014/main" id="{26DD2A8D-F804-D546-B77D-9693A67C3E0B}"/>
              </a:ext>
            </a:extLst>
          </p:cNvPr>
          <p:cNvSpPr>
            <a:spLocks noGrp="1"/>
          </p:cNvSpPr>
          <p:nvPr>
            <p:ph type="body" sz="quarter" idx="14"/>
          </p:nvPr>
        </p:nvSpPr>
        <p:spPr/>
        <p:txBody>
          <a:bodyPr/>
          <a:lstStyle/>
          <a:p>
            <a:r>
              <a:rPr kumimoji="1" lang="ja-JP" altLang="en-US"/>
              <a:t>実験</a:t>
            </a:r>
          </a:p>
        </p:txBody>
      </p:sp>
      <p:sp>
        <p:nvSpPr>
          <p:cNvPr id="6" name="テキスト プレースホルダー 5">
            <a:extLst>
              <a:ext uri="{FF2B5EF4-FFF2-40B4-BE49-F238E27FC236}">
                <a16:creationId xmlns:a16="http://schemas.microsoft.com/office/drawing/2014/main" id="{18F5D246-4675-9D44-B96B-BEDD6F01EDA7}"/>
              </a:ext>
            </a:extLst>
          </p:cNvPr>
          <p:cNvSpPr>
            <a:spLocks noGrp="1"/>
          </p:cNvSpPr>
          <p:nvPr>
            <p:ph type="body" sz="quarter" idx="13"/>
          </p:nvPr>
        </p:nvSpPr>
        <p:spPr/>
        <p:txBody>
          <a:bodyPr/>
          <a:lstStyle/>
          <a:p>
            <a:r>
              <a:rPr lang="en-US" altLang="ja-JP" dirty="0"/>
              <a:t>2</a:t>
            </a:r>
            <a:endParaRPr kumimoji="1" lang="ja-JP" altLang="en-US"/>
          </a:p>
        </p:txBody>
      </p:sp>
      <p:grpSp>
        <p:nvGrpSpPr>
          <p:cNvPr id="31" name="グループ化 30">
            <a:extLst>
              <a:ext uri="{FF2B5EF4-FFF2-40B4-BE49-F238E27FC236}">
                <a16:creationId xmlns:a16="http://schemas.microsoft.com/office/drawing/2014/main" id="{FD81DDC5-24B5-F24B-8DCA-6543CEE8DC81}"/>
              </a:ext>
            </a:extLst>
          </p:cNvPr>
          <p:cNvGrpSpPr/>
          <p:nvPr/>
        </p:nvGrpSpPr>
        <p:grpSpPr>
          <a:xfrm>
            <a:off x="289330" y="1413298"/>
            <a:ext cx="2160000" cy="934436"/>
            <a:chOff x="144665" y="525617"/>
            <a:chExt cx="1080000" cy="467218"/>
          </a:xfrm>
        </p:grpSpPr>
        <p:sp>
          <p:nvSpPr>
            <p:cNvPr id="32" name="正方形/長方形 31">
              <a:extLst>
                <a:ext uri="{FF2B5EF4-FFF2-40B4-BE49-F238E27FC236}">
                  <a16:creationId xmlns:a16="http://schemas.microsoft.com/office/drawing/2014/main" id="{073638CC-28A2-E943-AD34-548A0C227633}"/>
                </a:ext>
              </a:extLst>
            </p:cNvPr>
            <p:cNvSpPr/>
            <p:nvPr userDrawn="1"/>
          </p:nvSpPr>
          <p:spPr>
            <a:xfrm>
              <a:off x="145524" y="542424"/>
              <a:ext cx="91081" cy="450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sp>
          <p:nvSpPr>
            <p:cNvPr id="33" name="正方形/長方形 32">
              <a:extLst>
                <a:ext uri="{FF2B5EF4-FFF2-40B4-BE49-F238E27FC236}">
                  <a16:creationId xmlns:a16="http://schemas.microsoft.com/office/drawing/2014/main" id="{89C51296-914D-A74C-889D-A570C54F6A57}"/>
                </a:ext>
              </a:extLst>
            </p:cNvPr>
            <p:cNvSpPr/>
            <p:nvPr userDrawn="1"/>
          </p:nvSpPr>
          <p:spPr>
            <a:xfrm>
              <a:off x="144665" y="525617"/>
              <a:ext cx="1080000" cy="161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grpSp>
      <p:grpSp>
        <p:nvGrpSpPr>
          <p:cNvPr id="34" name="グループ化 33">
            <a:extLst>
              <a:ext uri="{FF2B5EF4-FFF2-40B4-BE49-F238E27FC236}">
                <a16:creationId xmlns:a16="http://schemas.microsoft.com/office/drawing/2014/main" id="{FC0C993D-26F8-9648-8C42-6E3A827F97DE}"/>
              </a:ext>
            </a:extLst>
          </p:cNvPr>
          <p:cNvGrpSpPr/>
          <p:nvPr/>
        </p:nvGrpSpPr>
        <p:grpSpPr>
          <a:xfrm>
            <a:off x="617232" y="2557358"/>
            <a:ext cx="539448" cy="487368"/>
            <a:chOff x="400056" y="1061560"/>
            <a:chExt cx="269724" cy="243684"/>
          </a:xfrm>
        </p:grpSpPr>
        <p:sp>
          <p:nvSpPr>
            <p:cNvPr id="35" name="三角形 34">
              <a:extLst>
                <a:ext uri="{FF2B5EF4-FFF2-40B4-BE49-F238E27FC236}">
                  <a16:creationId xmlns:a16="http://schemas.microsoft.com/office/drawing/2014/main" id="{21EC1BB2-1EA3-DB45-83ED-42197AA1F0E3}"/>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36" name="三角形 35">
              <a:extLst>
                <a:ext uri="{FF2B5EF4-FFF2-40B4-BE49-F238E27FC236}">
                  <a16:creationId xmlns:a16="http://schemas.microsoft.com/office/drawing/2014/main" id="{92822503-D36D-7644-A490-99EB8A1079E7}"/>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37" name="テキスト プレースホルダー 30">
            <a:extLst>
              <a:ext uri="{FF2B5EF4-FFF2-40B4-BE49-F238E27FC236}">
                <a16:creationId xmlns:a16="http://schemas.microsoft.com/office/drawing/2014/main" id="{A73B3907-668E-1A41-B5F4-6D46EA930E91}"/>
              </a:ext>
            </a:extLst>
          </p:cNvPr>
          <p:cNvSpPr txBox="1">
            <a:spLocks/>
          </p:cNvSpPr>
          <p:nvPr/>
        </p:nvSpPr>
        <p:spPr>
          <a:xfrm>
            <a:off x="571049" y="1583871"/>
            <a:ext cx="17302163" cy="1403350"/>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60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目的</a:t>
            </a:r>
          </a:p>
        </p:txBody>
      </p:sp>
      <p:sp>
        <p:nvSpPr>
          <p:cNvPr id="38" name="テキスト プレースホルダー 27">
            <a:extLst>
              <a:ext uri="{FF2B5EF4-FFF2-40B4-BE49-F238E27FC236}">
                <a16:creationId xmlns:a16="http://schemas.microsoft.com/office/drawing/2014/main" id="{52FC6201-0015-374A-A9F7-4FCF0162EFE8}"/>
              </a:ext>
            </a:extLst>
          </p:cNvPr>
          <p:cNvSpPr txBox="1">
            <a:spLocks/>
          </p:cNvSpPr>
          <p:nvPr/>
        </p:nvSpPr>
        <p:spPr>
          <a:xfrm>
            <a:off x="1254486" y="2484733"/>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人間同士の交渉で生じる効果について調査</a:t>
            </a:r>
            <a:endParaRPr lang="en-US" altLang="ja-JP" dirty="0"/>
          </a:p>
        </p:txBody>
      </p:sp>
      <p:sp>
        <p:nvSpPr>
          <p:cNvPr id="57" name="三角形 56">
            <a:extLst>
              <a:ext uri="{FF2B5EF4-FFF2-40B4-BE49-F238E27FC236}">
                <a16:creationId xmlns:a16="http://schemas.microsoft.com/office/drawing/2014/main" id="{7F703886-4132-A74D-B009-F1827BE6F3C7}"/>
              </a:ext>
            </a:extLst>
          </p:cNvPr>
          <p:cNvSpPr/>
          <p:nvPr/>
        </p:nvSpPr>
        <p:spPr>
          <a:xfrm rot="5400000">
            <a:off x="1076238" y="3361776"/>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23" name="三角形 22">
            <a:extLst>
              <a:ext uri="{FF2B5EF4-FFF2-40B4-BE49-F238E27FC236}">
                <a16:creationId xmlns:a16="http://schemas.microsoft.com/office/drawing/2014/main" id="{71DA17BD-74F3-FE4A-96F4-94A9E3AA34CD}"/>
              </a:ext>
            </a:extLst>
          </p:cNvPr>
          <p:cNvSpPr/>
          <p:nvPr/>
        </p:nvSpPr>
        <p:spPr>
          <a:xfrm rot="5400000">
            <a:off x="1076238" y="4091341"/>
            <a:ext cx="480900" cy="320016"/>
          </a:xfrm>
          <a:prstGeom prst="triangl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26" name="三角形 25">
            <a:extLst>
              <a:ext uri="{FF2B5EF4-FFF2-40B4-BE49-F238E27FC236}">
                <a16:creationId xmlns:a16="http://schemas.microsoft.com/office/drawing/2014/main" id="{09C71C8C-E299-4C44-AEC0-7E2553B12794}"/>
              </a:ext>
            </a:extLst>
          </p:cNvPr>
          <p:cNvSpPr/>
          <p:nvPr/>
        </p:nvSpPr>
        <p:spPr>
          <a:xfrm rot="5400000">
            <a:off x="1064310" y="4818997"/>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nvGrpSpPr>
          <p:cNvPr id="28" name="グループ化 27">
            <a:extLst>
              <a:ext uri="{FF2B5EF4-FFF2-40B4-BE49-F238E27FC236}">
                <a16:creationId xmlns:a16="http://schemas.microsoft.com/office/drawing/2014/main" id="{0C2D99A1-A391-B34D-B51D-2646448B5EE0}"/>
              </a:ext>
            </a:extLst>
          </p:cNvPr>
          <p:cNvGrpSpPr/>
          <p:nvPr/>
        </p:nvGrpSpPr>
        <p:grpSpPr>
          <a:xfrm>
            <a:off x="617232" y="5532687"/>
            <a:ext cx="539448" cy="487368"/>
            <a:chOff x="400056" y="1061560"/>
            <a:chExt cx="269724" cy="243684"/>
          </a:xfrm>
        </p:grpSpPr>
        <p:sp>
          <p:nvSpPr>
            <p:cNvPr id="29" name="三角形 28">
              <a:extLst>
                <a:ext uri="{FF2B5EF4-FFF2-40B4-BE49-F238E27FC236}">
                  <a16:creationId xmlns:a16="http://schemas.microsoft.com/office/drawing/2014/main" id="{71EBF793-5064-E34A-9387-1426F995A3B3}"/>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30" name="三角形 29">
              <a:extLst>
                <a:ext uri="{FF2B5EF4-FFF2-40B4-BE49-F238E27FC236}">
                  <a16:creationId xmlns:a16="http://schemas.microsoft.com/office/drawing/2014/main" id="{5D106750-2C77-6545-AB79-4AEB07AD03A4}"/>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39" name="テキスト プレースホルダー 27">
            <a:extLst>
              <a:ext uri="{FF2B5EF4-FFF2-40B4-BE49-F238E27FC236}">
                <a16:creationId xmlns:a16="http://schemas.microsoft.com/office/drawing/2014/main" id="{E90FC0FA-6B43-C040-A5F9-B0941E894243}"/>
              </a:ext>
            </a:extLst>
          </p:cNvPr>
          <p:cNvSpPr txBox="1">
            <a:spLocks/>
          </p:cNvSpPr>
          <p:nvPr/>
        </p:nvSpPr>
        <p:spPr>
          <a:xfrm>
            <a:off x="1254486" y="5460062"/>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IAGO</a:t>
            </a:r>
            <a:r>
              <a:rPr lang="ja-JP" altLang="en-US"/>
              <a:t>がプラットフォームとして機能することを実証</a:t>
            </a:r>
            <a:endParaRPr lang="en-US" altLang="ja-JP" dirty="0"/>
          </a:p>
        </p:txBody>
      </p:sp>
      <p:grpSp>
        <p:nvGrpSpPr>
          <p:cNvPr id="7" name="グループ化 6">
            <a:extLst>
              <a:ext uri="{FF2B5EF4-FFF2-40B4-BE49-F238E27FC236}">
                <a16:creationId xmlns:a16="http://schemas.microsoft.com/office/drawing/2014/main" id="{7BCF6B4B-FAC5-0D48-8062-C29BB28E23F9}"/>
              </a:ext>
            </a:extLst>
          </p:cNvPr>
          <p:cNvGrpSpPr/>
          <p:nvPr/>
        </p:nvGrpSpPr>
        <p:grpSpPr>
          <a:xfrm>
            <a:off x="3216825" y="6523494"/>
            <a:ext cx="13771859" cy="6780234"/>
            <a:chOff x="3216825" y="6523494"/>
            <a:chExt cx="13771859" cy="6780234"/>
          </a:xfrm>
        </p:grpSpPr>
        <p:grpSp>
          <p:nvGrpSpPr>
            <p:cNvPr id="42" name="グループ化 41">
              <a:extLst>
                <a:ext uri="{FF2B5EF4-FFF2-40B4-BE49-F238E27FC236}">
                  <a16:creationId xmlns:a16="http://schemas.microsoft.com/office/drawing/2014/main" id="{7A5AD580-7131-D041-B8E4-17B27DF3D69B}"/>
                </a:ext>
              </a:extLst>
            </p:cNvPr>
            <p:cNvGrpSpPr/>
            <p:nvPr/>
          </p:nvGrpSpPr>
          <p:grpSpPr>
            <a:xfrm>
              <a:off x="3216825" y="10402558"/>
              <a:ext cx="11854350" cy="2901170"/>
              <a:chOff x="2226339" y="9389213"/>
              <a:chExt cx="11854350" cy="2901170"/>
            </a:xfrm>
          </p:grpSpPr>
          <p:sp>
            <p:nvSpPr>
              <p:cNvPr id="60" name="テキスト ボックス 59">
                <a:extLst>
                  <a:ext uri="{FF2B5EF4-FFF2-40B4-BE49-F238E27FC236}">
                    <a16:creationId xmlns:a16="http://schemas.microsoft.com/office/drawing/2014/main" id="{678385E7-AEA7-1545-BC28-12A84E30494D}"/>
                  </a:ext>
                </a:extLst>
              </p:cNvPr>
              <p:cNvSpPr txBox="1"/>
              <p:nvPr/>
            </p:nvSpPr>
            <p:spPr>
              <a:xfrm>
                <a:off x="5900499" y="11644052"/>
                <a:ext cx="4506031" cy="646331"/>
              </a:xfrm>
              <a:prstGeom prst="rect">
                <a:avLst/>
              </a:prstGeom>
              <a:noFill/>
            </p:spPr>
            <p:txBody>
              <a:bodyPr wrap="square" rtlCol="0">
                <a:spAutoFit/>
              </a:bodyPr>
              <a:lstStyle/>
              <a:p>
                <a:pPr algn="ctr"/>
                <a:r>
                  <a:rPr lang="ja-JP" altLang="en-US"/>
                  <a:t>交渉内容</a:t>
                </a:r>
                <a:endParaRPr kumimoji="1" lang="ja-JP" altLang="en-US"/>
              </a:p>
            </p:txBody>
          </p:sp>
          <p:grpSp>
            <p:nvGrpSpPr>
              <p:cNvPr id="61" name="グループ化 60">
                <a:extLst>
                  <a:ext uri="{FF2B5EF4-FFF2-40B4-BE49-F238E27FC236}">
                    <a16:creationId xmlns:a16="http://schemas.microsoft.com/office/drawing/2014/main" id="{B1257BC7-A9A4-0145-B7E3-80AA4250BF53}"/>
                  </a:ext>
                </a:extLst>
              </p:cNvPr>
              <p:cNvGrpSpPr/>
              <p:nvPr/>
            </p:nvGrpSpPr>
            <p:grpSpPr>
              <a:xfrm>
                <a:off x="2226339" y="9389213"/>
                <a:ext cx="11854350" cy="2010101"/>
                <a:chOff x="3821592" y="9287685"/>
                <a:chExt cx="11854350" cy="2010101"/>
              </a:xfrm>
            </p:grpSpPr>
            <p:pic>
              <p:nvPicPr>
                <p:cNvPr id="62" name="グラフィックス 61" descr="Pasta">
                  <a:extLst>
                    <a:ext uri="{FF2B5EF4-FFF2-40B4-BE49-F238E27FC236}">
                      <a16:creationId xmlns:a16="http://schemas.microsoft.com/office/drawing/2014/main" id="{ED4D337F-9799-B745-B30C-8159E7F46B7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18892" y="9287685"/>
                  <a:ext cx="1956819" cy="1956819"/>
                </a:xfrm>
                <a:prstGeom prst="rect">
                  <a:avLst/>
                </a:prstGeom>
              </p:spPr>
            </p:pic>
            <p:pic>
              <p:nvPicPr>
                <p:cNvPr id="63" name="グラフィックス 62" descr="Pizza">
                  <a:extLst>
                    <a:ext uri="{FF2B5EF4-FFF2-40B4-BE49-F238E27FC236}">
                      <a16:creationId xmlns:a16="http://schemas.microsoft.com/office/drawing/2014/main" id="{CA5DE0F4-4516-D64E-AD45-516F7361A4A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120242" y="9340967"/>
                  <a:ext cx="1956819" cy="1956819"/>
                </a:xfrm>
                <a:prstGeom prst="rect">
                  <a:avLst/>
                </a:prstGeom>
              </p:spPr>
            </p:pic>
            <p:pic>
              <p:nvPicPr>
                <p:cNvPr id="64" name="グラフィックス 63" descr="CakeSlice">
                  <a:extLst>
                    <a:ext uri="{FF2B5EF4-FFF2-40B4-BE49-F238E27FC236}">
                      <a16:creationId xmlns:a16="http://schemas.microsoft.com/office/drawing/2014/main" id="{25798C40-7A38-9840-8342-7F71004DCAF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821592" y="9334846"/>
                  <a:ext cx="1956819" cy="1956819"/>
                </a:xfrm>
                <a:prstGeom prst="rect">
                  <a:avLst/>
                </a:prstGeom>
              </p:spPr>
            </p:pic>
            <p:pic>
              <p:nvPicPr>
                <p:cNvPr id="65" name="グラフィックス 64" descr="Donut">
                  <a:extLst>
                    <a:ext uri="{FF2B5EF4-FFF2-40B4-BE49-F238E27FC236}">
                      <a16:creationId xmlns:a16="http://schemas.microsoft.com/office/drawing/2014/main" id="{BE88A548-551D-8F42-AD5D-3876BBCA010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3717542" y="9333265"/>
                  <a:ext cx="1958400" cy="1958400"/>
                </a:xfrm>
                <a:prstGeom prst="rect">
                  <a:avLst/>
                </a:prstGeom>
              </p:spPr>
            </p:pic>
          </p:grpSp>
        </p:grpSp>
        <p:grpSp>
          <p:nvGrpSpPr>
            <p:cNvPr id="44" name="グループ化 43">
              <a:extLst>
                <a:ext uri="{FF2B5EF4-FFF2-40B4-BE49-F238E27FC236}">
                  <a16:creationId xmlns:a16="http://schemas.microsoft.com/office/drawing/2014/main" id="{3D6F7A07-BF75-FB42-BC3D-34DE82EA2479}"/>
                </a:ext>
              </a:extLst>
            </p:cNvPr>
            <p:cNvGrpSpPr/>
            <p:nvPr/>
          </p:nvGrpSpPr>
          <p:grpSpPr>
            <a:xfrm>
              <a:off x="4892225" y="6523494"/>
              <a:ext cx="12096459" cy="3088332"/>
              <a:chOff x="4866258" y="4438026"/>
              <a:chExt cx="12096459" cy="3088332"/>
            </a:xfrm>
          </p:grpSpPr>
          <p:grpSp>
            <p:nvGrpSpPr>
              <p:cNvPr id="52" name="グループ化 51">
                <a:extLst>
                  <a:ext uri="{FF2B5EF4-FFF2-40B4-BE49-F238E27FC236}">
                    <a16:creationId xmlns:a16="http://schemas.microsoft.com/office/drawing/2014/main" id="{E062E578-FD9F-AF46-B678-354A1AC7E6AA}"/>
                  </a:ext>
                </a:extLst>
              </p:cNvPr>
              <p:cNvGrpSpPr/>
              <p:nvPr/>
            </p:nvGrpSpPr>
            <p:grpSpPr>
              <a:xfrm>
                <a:off x="4866258" y="5349476"/>
                <a:ext cx="1735754" cy="2176882"/>
                <a:chOff x="4299330" y="5349476"/>
                <a:chExt cx="1735754" cy="2176882"/>
              </a:xfrm>
            </p:grpSpPr>
            <p:sp>
              <p:nvSpPr>
                <p:cNvPr id="54" name="スマイル 53">
                  <a:extLst>
                    <a:ext uri="{FF2B5EF4-FFF2-40B4-BE49-F238E27FC236}">
                      <a16:creationId xmlns:a16="http://schemas.microsoft.com/office/drawing/2014/main" id="{390955EF-B855-224E-A4A6-592F43EE4A6A}"/>
                    </a:ext>
                  </a:extLst>
                </p:cNvPr>
                <p:cNvSpPr/>
                <p:nvPr/>
              </p:nvSpPr>
              <p:spPr>
                <a:xfrm>
                  <a:off x="4338815" y="6018922"/>
                  <a:ext cx="1656784" cy="1507436"/>
                </a:xfrm>
                <a:prstGeom prst="smileyFac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テキスト ボックス 54">
                  <a:extLst>
                    <a:ext uri="{FF2B5EF4-FFF2-40B4-BE49-F238E27FC236}">
                      <a16:creationId xmlns:a16="http://schemas.microsoft.com/office/drawing/2014/main" id="{9AD2A773-514F-794B-A583-6FF3F02618CD}"/>
                    </a:ext>
                  </a:extLst>
                </p:cNvPr>
                <p:cNvSpPr txBox="1"/>
                <p:nvPr/>
              </p:nvSpPr>
              <p:spPr>
                <a:xfrm>
                  <a:off x="4299330" y="5349476"/>
                  <a:ext cx="1735754" cy="646331"/>
                </a:xfrm>
                <a:prstGeom prst="rect">
                  <a:avLst/>
                </a:prstGeom>
                <a:noFill/>
              </p:spPr>
              <p:txBody>
                <a:bodyPr wrap="square" rtlCol="0">
                  <a:spAutoFit/>
                </a:bodyPr>
                <a:lstStyle/>
                <a:p>
                  <a:pPr algn="ctr"/>
                  <a:r>
                    <a:rPr kumimoji="1" lang="en-US" altLang="ja-JP" dirty="0"/>
                    <a:t>agent</a:t>
                  </a:r>
                  <a:endParaRPr kumimoji="1" lang="ja-JP" altLang="en-US"/>
                </a:p>
              </p:txBody>
            </p:sp>
          </p:grpSp>
          <p:grpSp>
            <p:nvGrpSpPr>
              <p:cNvPr id="47" name="グループ化 46">
                <a:extLst>
                  <a:ext uri="{FF2B5EF4-FFF2-40B4-BE49-F238E27FC236}">
                    <a16:creationId xmlns:a16="http://schemas.microsoft.com/office/drawing/2014/main" id="{0E5FEC29-0237-9A46-B867-0622D7FF7A2C}"/>
                  </a:ext>
                </a:extLst>
              </p:cNvPr>
              <p:cNvGrpSpPr/>
              <p:nvPr/>
            </p:nvGrpSpPr>
            <p:grpSpPr>
              <a:xfrm>
                <a:off x="11522664" y="4438026"/>
                <a:ext cx="5440053" cy="3039193"/>
                <a:chOff x="12053016" y="4438026"/>
                <a:chExt cx="5440053" cy="3039193"/>
              </a:xfrm>
            </p:grpSpPr>
            <p:grpSp>
              <p:nvGrpSpPr>
                <p:cNvPr id="48" name="グループ化 47">
                  <a:extLst>
                    <a:ext uri="{FF2B5EF4-FFF2-40B4-BE49-F238E27FC236}">
                      <a16:creationId xmlns:a16="http://schemas.microsoft.com/office/drawing/2014/main" id="{35B623F4-6B74-1747-810F-D94794252AC4}"/>
                    </a:ext>
                  </a:extLst>
                </p:cNvPr>
                <p:cNvGrpSpPr/>
                <p:nvPr/>
              </p:nvGrpSpPr>
              <p:grpSpPr>
                <a:xfrm>
                  <a:off x="12053016" y="5234219"/>
                  <a:ext cx="1735754" cy="2243000"/>
                  <a:chOff x="12053016" y="5234219"/>
                  <a:chExt cx="1735754" cy="2243000"/>
                </a:xfrm>
              </p:grpSpPr>
              <p:sp>
                <p:nvSpPr>
                  <p:cNvPr id="50" name="スマイル 49">
                    <a:extLst>
                      <a:ext uri="{FF2B5EF4-FFF2-40B4-BE49-F238E27FC236}">
                        <a16:creationId xmlns:a16="http://schemas.microsoft.com/office/drawing/2014/main" id="{1F5AC04A-388A-5F41-8CE3-B324C99FD797}"/>
                      </a:ext>
                    </a:extLst>
                  </p:cNvPr>
                  <p:cNvSpPr/>
                  <p:nvPr/>
                </p:nvSpPr>
                <p:spPr>
                  <a:xfrm>
                    <a:off x="12131986" y="5969783"/>
                    <a:ext cx="1656784" cy="1507436"/>
                  </a:xfrm>
                  <a:prstGeom prst="smileyFac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テキスト ボックス 50">
                    <a:extLst>
                      <a:ext uri="{FF2B5EF4-FFF2-40B4-BE49-F238E27FC236}">
                        <a16:creationId xmlns:a16="http://schemas.microsoft.com/office/drawing/2014/main" id="{6C65396B-AB70-F54E-9CF2-7A18EB4021F3}"/>
                      </a:ext>
                    </a:extLst>
                  </p:cNvPr>
                  <p:cNvSpPr txBox="1"/>
                  <p:nvPr/>
                </p:nvSpPr>
                <p:spPr>
                  <a:xfrm>
                    <a:off x="12053016" y="5234219"/>
                    <a:ext cx="1735754" cy="646331"/>
                  </a:xfrm>
                  <a:prstGeom prst="rect">
                    <a:avLst/>
                  </a:prstGeom>
                  <a:noFill/>
                </p:spPr>
                <p:txBody>
                  <a:bodyPr wrap="square" rtlCol="0">
                    <a:spAutoFit/>
                  </a:bodyPr>
                  <a:lstStyle/>
                  <a:p>
                    <a:pPr algn="ctr"/>
                    <a:r>
                      <a:rPr lang="en-US" altLang="ja-JP" dirty="0"/>
                      <a:t>human</a:t>
                    </a:r>
                    <a:endParaRPr kumimoji="1" lang="ja-JP" altLang="en-US"/>
                  </a:p>
                </p:txBody>
              </p:sp>
            </p:grpSp>
            <p:sp>
              <p:nvSpPr>
                <p:cNvPr id="49" name="角丸四角形吹き出し 48">
                  <a:extLst>
                    <a:ext uri="{FF2B5EF4-FFF2-40B4-BE49-F238E27FC236}">
                      <a16:creationId xmlns:a16="http://schemas.microsoft.com/office/drawing/2014/main" id="{9EF9F06C-09B8-D240-BD2D-645F66DF5127}"/>
                    </a:ext>
                  </a:extLst>
                </p:cNvPr>
                <p:cNvSpPr/>
                <p:nvPr/>
              </p:nvSpPr>
              <p:spPr>
                <a:xfrm>
                  <a:off x="13853336" y="4438026"/>
                  <a:ext cx="3639733" cy="1442523"/>
                </a:xfrm>
                <a:prstGeom prst="wedgeRoundRectCallout">
                  <a:avLst>
                    <a:gd name="adj1" fmla="val -42507"/>
                    <a:gd name="adj2" fmla="val 80970"/>
                    <a:gd name="adj3" fmla="val 16667"/>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ja-JP" altLang="en-US"/>
                    <a:t>ピザより</a:t>
                  </a:r>
                  <a:endParaRPr kumimoji="1" lang="en-US" altLang="ja-JP" dirty="0"/>
                </a:p>
                <a:p>
                  <a:pPr algn="ctr"/>
                  <a:r>
                    <a:rPr kumimoji="1" lang="ja-JP" altLang="en-US"/>
                    <a:t>ドーナツが好き</a:t>
                  </a:r>
                </a:p>
              </p:txBody>
            </p:sp>
          </p:grpSp>
        </p:grpSp>
        <p:sp>
          <p:nvSpPr>
            <p:cNvPr id="66" name="右矢印 65">
              <a:extLst>
                <a:ext uri="{FF2B5EF4-FFF2-40B4-BE49-F238E27FC236}">
                  <a16:creationId xmlns:a16="http://schemas.microsoft.com/office/drawing/2014/main" id="{54DFFDC2-BCFA-E848-8B4F-482737B6C230}"/>
                </a:ext>
              </a:extLst>
            </p:cNvPr>
            <p:cNvSpPr/>
            <p:nvPr/>
          </p:nvSpPr>
          <p:spPr>
            <a:xfrm rot="17437685">
              <a:off x="4553593" y="9929091"/>
              <a:ext cx="746251" cy="371476"/>
            </a:xfrm>
            <a:prstGeom prst="rightArrow">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sp>
          <p:nvSpPr>
            <p:cNvPr id="67" name="右矢印 66">
              <a:extLst>
                <a:ext uri="{FF2B5EF4-FFF2-40B4-BE49-F238E27FC236}">
                  <a16:creationId xmlns:a16="http://schemas.microsoft.com/office/drawing/2014/main" id="{9B6EB49B-929A-2143-80F3-A5186EADA105}"/>
                </a:ext>
              </a:extLst>
            </p:cNvPr>
            <p:cNvSpPr/>
            <p:nvPr/>
          </p:nvSpPr>
          <p:spPr>
            <a:xfrm rot="4162315" flipH="1">
              <a:off x="6215361" y="9936365"/>
              <a:ext cx="746251" cy="371476"/>
            </a:xfrm>
            <a:prstGeom prst="rightArrow">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sp>
          <p:nvSpPr>
            <p:cNvPr id="68" name="右矢印 67">
              <a:extLst>
                <a:ext uri="{FF2B5EF4-FFF2-40B4-BE49-F238E27FC236}">
                  <a16:creationId xmlns:a16="http://schemas.microsoft.com/office/drawing/2014/main" id="{4B0164DA-096D-8B4E-8D19-C66C9AFDD02D}"/>
                </a:ext>
              </a:extLst>
            </p:cNvPr>
            <p:cNvSpPr/>
            <p:nvPr/>
          </p:nvSpPr>
          <p:spPr>
            <a:xfrm rot="17437685">
              <a:off x="11237851" y="9931700"/>
              <a:ext cx="746251" cy="371476"/>
            </a:xfrm>
            <a:prstGeom prst="rightArrow">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sp>
          <p:nvSpPr>
            <p:cNvPr id="69" name="右矢印 68">
              <a:extLst>
                <a:ext uri="{FF2B5EF4-FFF2-40B4-BE49-F238E27FC236}">
                  <a16:creationId xmlns:a16="http://schemas.microsoft.com/office/drawing/2014/main" id="{E376EE9B-DFE0-ED4F-8D6B-8D92AC204AC6}"/>
                </a:ext>
              </a:extLst>
            </p:cNvPr>
            <p:cNvSpPr/>
            <p:nvPr/>
          </p:nvSpPr>
          <p:spPr>
            <a:xfrm rot="4162315" flipH="1">
              <a:off x="12899619" y="9938974"/>
              <a:ext cx="746251" cy="371476"/>
            </a:xfrm>
            <a:prstGeom prst="rightArrow">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grpSp>
      <p:sp>
        <p:nvSpPr>
          <p:cNvPr id="56" name="テキスト プレースホルダー 29">
            <a:extLst>
              <a:ext uri="{FF2B5EF4-FFF2-40B4-BE49-F238E27FC236}">
                <a16:creationId xmlns:a16="http://schemas.microsoft.com/office/drawing/2014/main" id="{831D258A-B0AB-8343-BE8F-043C44F331F2}"/>
              </a:ext>
            </a:extLst>
          </p:cNvPr>
          <p:cNvSpPr txBox="1">
            <a:spLocks/>
          </p:cNvSpPr>
          <p:nvPr/>
        </p:nvSpPr>
        <p:spPr>
          <a:xfrm>
            <a:off x="1457090" y="3246502"/>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Q1</a:t>
            </a:r>
            <a:r>
              <a:rPr lang="ja-JP" altLang="en-US"/>
              <a:t>：選好を明らかにするための戦略は人間の行動に影響を及ぼすか？</a:t>
            </a:r>
          </a:p>
        </p:txBody>
      </p:sp>
      <p:sp>
        <p:nvSpPr>
          <p:cNvPr id="59" name="テキスト プレースホルダー 29">
            <a:extLst>
              <a:ext uri="{FF2B5EF4-FFF2-40B4-BE49-F238E27FC236}">
                <a16:creationId xmlns:a16="http://schemas.microsoft.com/office/drawing/2014/main" id="{6F2751EC-F9DA-9549-BB75-F74DDC096810}"/>
              </a:ext>
            </a:extLst>
          </p:cNvPr>
          <p:cNvSpPr txBox="1">
            <a:spLocks/>
          </p:cNvSpPr>
          <p:nvPr/>
        </p:nvSpPr>
        <p:spPr>
          <a:xfrm>
            <a:off x="1457090" y="3976067"/>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Q2</a:t>
            </a:r>
            <a:r>
              <a:rPr lang="ja-JP" altLang="en-US"/>
              <a:t>：選好を明らかにするための戦略は統合的交渉に影響を与えるか？</a:t>
            </a:r>
          </a:p>
        </p:txBody>
      </p:sp>
      <p:sp>
        <p:nvSpPr>
          <p:cNvPr id="70" name="テキスト プレースホルダー 29">
            <a:extLst>
              <a:ext uri="{FF2B5EF4-FFF2-40B4-BE49-F238E27FC236}">
                <a16:creationId xmlns:a16="http://schemas.microsoft.com/office/drawing/2014/main" id="{C95566C4-408F-A744-8936-BF0DED8ADB4F}"/>
              </a:ext>
            </a:extLst>
          </p:cNvPr>
          <p:cNvSpPr txBox="1">
            <a:spLocks/>
          </p:cNvSpPr>
          <p:nvPr/>
        </p:nvSpPr>
        <p:spPr>
          <a:xfrm>
            <a:off x="1445162" y="4703723"/>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Q3</a:t>
            </a:r>
            <a:r>
              <a:rPr lang="ja-JP" altLang="en-US"/>
              <a:t>：積極的な行動は相手を譲歩させるのか？</a:t>
            </a:r>
          </a:p>
        </p:txBody>
      </p:sp>
      <p:sp>
        <p:nvSpPr>
          <p:cNvPr id="71" name="角丸四角形吹き出し 70">
            <a:extLst>
              <a:ext uri="{FF2B5EF4-FFF2-40B4-BE49-F238E27FC236}">
                <a16:creationId xmlns:a16="http://schemas.microsoft.com/office/drawing/2014/main" id="{2FEEEF84-39A0-E948-9831-B970CD2D5951}"/>
              </a:ext>
            </a:extLst>
          </p:cNvPr>
          <p:cNvSpPr/>
          <p:nvPr/>
        </p:nvSpPr>
        <p:spPr>
          <a:xfrm>
            <a:off x="1010561" y="6523495"/>
            <a:ext cx="3639733" cy="1442523"/>
          </a:xfrm>
          <a:prstGeom prst="wedgeRoundRectCallout">
            <a:avLst>
              <a:gd name="adj1" fmla="val 44418"/>
              <a:gd name="adj2" fmla="val 78434"/>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a:t>ドーナツより</a:t>
            </a:r>
            <a:endParaRPr lang="en-US" altLang="ja-JP" dirty="0"/>
          </a:p>
          <a:p>
            <a:pPr algn="ctr"/>
            <a:r>
              <a:rPr lang="ja-JP" altLang="en-US"/>
              <a:t>ピザが好き</a:t>
            </a:r>
          </a:p>
        </p:txBody>
      </p:sp>
      <p:sp>
        <p:nvSpPr>
          <p:cNvPr id="72" name="テキスト ボックス 71">
            <a:extLst>
              <a:ext uri="{FF2B5EF4-FFF2-40B4-BE49-F238E27FC236}">
                <a16:creationId xmlns:a16="http://schemas.microsoft.com/office/drawing/2014/main" id="{E272B516-57A1-3948-B24E-036BFC358399}"/>
              </a:ext>
            </a:extLst>
          </p:cNvPr>
          <p:cNvSpPr txBox="1"/>
          <p:nvPr/>
        </p:nvSpPr>
        <p:spPr>
          <a:xfrm>
            <a:off x="4682520" y="6921590"/>
            <a:ext cx="2155164" cy="646331"/>
          </a:xfrm>
          <a:prstGeom prst="rect">
            <a:avLst/>
          </a:prstGeom>
          <a:noFill/>
        </p:spPr>
        <p:txBody>
          <a:bodyPr wrap="square" rtlCol="0">
            <a:spAutoFit/>
          </a:bodyPr>
          <a:lstStyle/>
          <a:p>
            <a:pPr algn="ctr"/>
            <a:r>
              <a:rPr kumimoji="1" lang="en-US" altLang="ja-JP" dirty="0"/>
              <a:t>Free</a:t>
            </a:r>
            <a:endParaRPr kumimoji="1" lang="ja-JP" altLang="en-US"/>
          </a:p>
        </p:txBody>
      </p:sp>
      <p:sp>
        <p:nvSpPr>
          <p:cNvPr id="73" name="右矢印 72">
            <a:extLst>
              <a:ext uri="{FF2B5EF4-FFF2-40B4-BE49-F238E27FC236}">
                <a16:creationId xmlns:a16="http://schemas.microsoft.com/office/drawing/2014/main" id="{D21F08F5-59FE-854C-BB35-EE45BD8806D6}"/>
              </a:ext>
            </a:extLst>
          </p:cNvPr>
          <p:cNvSpPr/>
          <p:nvPr/>
        </p:nvSpPr>
        <p:spPr>
          <a:xfrm>
            <a:off x="7393547" y="8351530"/>
            <a:ext cx="3429000" cy="371475"/>
          </a:xfrm>
          <a:prstGeom prst="rightArrow">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sp>
        <p:nvSpPr>
          <p:cNvPr id="74" name="右矢印 73">
            <a:extLst>
              <a:ext uri="{FF2B5EF4-FFF2-40B4-BE49-F238E27FC236}">
                <a16:creationId xmlns:a16="http://schemas.microsoft.com/office/drawing/2014/main" id="{C35266EC-779B-6942-9B8F-9FAF2E1D955C}"/>
              </a:ext>
            </a:extLst>
          </p:cNvPr>
          <p:cNvSpPr/>
          <p:nvPr/>
        </p:nvSpPr>
        <p:spPr>
          <a:xfrm flipH="1">
            <a:off x="7417611" y="8937064"/>
            <a:ext cx="3429000" cy="371475"/>
          </a:xfrm>
          <a:prstGeom prst="rightArrow">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0616807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3520CDD-7107-D140-A1A0-69D0D69B10F3}"/>
              </a:ext>
            </a:extLst>
          </p:cNvPr>
          <p:cNvSpPr>
            <a:spLocks noGrp="1"/>
          </p:cNvSpPr>
          <p:nvPr>
            <p:ph type="dt" sz="half" idx="10"/>
          </p:nvPr>
        </p:nvSpPr>
        <p:spPr/>
        <p:txBody>
          <a:bodyPr/>
          <a:lstStyle/>
          <a:p>
            <a:fld id="{35974365-84F6-754A-A339-DA79FFD42E98}" type="datetime1">
              <a:rPr lang="ja-JP" altLang="en-US" smtClean="0"/>
              <a:t>2018/6/9</a:t>
            </a:fld>
            <a:endParaRPr lang="ja-JP" altLang="en-US"/>
          </a:p>
        </p:txBody>
      </p:sp>
      <p:sp>
        <p:nvSpPr>
          <p:cNvPr id="3" name="フッター プレースホルダー 2">
            <a:extLst>
              <a:ext uri="{FF2B5EF4-FFF2-40B4-BE49-F238E27FC236}">
                <a16:creationId xmlns:a16="http://schemas.microsoft.com/office/drawing/2014/main" id="{6EEFBA0C-3454-8D4D-87CE-5BA9ED8AFBE5}"/>
              </a:ext>
            </a:extLst>
          </p:cNvPr>
          <p:cNvSpPr>
            <a:spLocks noGrp="1"/>
          </p:cNvSpPr>
          <p:nvPr>
            <p:ph type="ftr" sz="quarter" idx="11"/>
          </p:nvPr>
        </p:nvSpPr>
        <p:spPr/>
        <p:txBody>
          <a:bodyPr/>
          <a:lstStyle/>
          <a:p>
            <a:r>
              <a:rPr lang="ja-JP" altLang="en-US"/>
              <a:t>進捗報告</a:t>
            </a:r>
            <a:r>
              <a:rPr lang="en-US" altLang="ja-JP"/>
              <a:t>(2018.06.06)</a:t>
            </a:r>
            <a:endParaRPr lang="ja-JP" altLang="en-US"/>
          </a:p>
        </p:txBody>
      </p:sp>
      <p:sp>
        <p:nvSpPr>
          <p:cNvPr id="4" name="スライド番号プレースホルダー 3">
            <a:extLst>
              <a:ext uri="{FF2B5EF4-FFF2-40B4-BE49-F238E27FC236}">
                <a16:creationId xmlns:a16="http://schemas.microsoft.com/office/drawing/2014/main" id="{5D405AD0-9091-A94B-BA67-32995AD15B35}"/>
              </a:ext>
            </a:extLst>
          </p:cNvPr>
          <p:cNvSpPr>
            <a:spLocks noGrp="1"/>
          </p:cNvSpPr>
          <p:nvPr>
            <p:ph type="sldNum" sz="quarter" idx="12"/>
          </p:nvPr>
        </p:nvSpPr>
        <p:spPr/>
        <p:txBody>
          <a:bodyPr/>
          <a:lstStyle/>
          <a:p>
            <a:fld id="{89242BC1-393D-1248-985B-18DA624F2964}" type="slidenum">
              <a:rPr lang="ja-JP" altLang="en-US" smtClean="0"/>
              <a:pPr/>
              <a:t>15</a:t>
            </a:fld>
            <a:endParaRPr lang="ja-JP" altLang="en-US"/>
          </a:p>
        </p:txBody>
      </p:sp>
      <p:sp>
        <p:nvSpPr>
          <p:cNvPr id="5" name="テキスト プレースホルダー 4">
            <a:extLst>
              <a:ext uri="{FF2B5EF4-FFF2-40B4-BE49-F238E27FC236}">
                <a16:creationId xmlns:a16="http://schemas.microsoft.com/office/drawing/2014/main" id="{26DD2A8D-F804-D546-B77D-9693A67C3E0B}"/>
              </a:ext>
            </a:extLst>
          </p:cNvPr>
          <p:cNvSpPr>
            <a:spLocks noGrp="1"/>
          </p:cNvSpPr>
          <p:nvPr>
            <p:ph type="body" sz="quarter" idx="14"/>
          </p:nvPr>
        </p:nvSpPr>
        <p:spPr/>
        <p:txBody>
          <a:bodyPr/>
          <a:lstStyle/>
          <a:p>
            <a:r>
              <a:rPr kumimoji="1" lang="ja-JP" altLang="en-US"/>
              <a:t>実験</a:t>
            </a:r>
          </a:p>
        </p:txBody>
      </p:sp>
      <p:sp>
        <p:nvSpPr>
          <p:cNvPr id="6" name="テキスト プレースホルダー 5">
            <a:extLst>
              <a:ext uri="{FF2B5EF4-FFF2-40B4-BE49-F238E27FC236}">
                <a16:creationId xmlns:a16="http://schemas.microsoft.com/office/drawing/2014/main" id="{18F5D246-4675-9D44-B96B-BEDD6F01EDA7}"/>
              </a:ext>
            </a:extLst>
          </p:cNvPr>
          <p:cNvSpPr>
            <a:spLocks noGrp="1"/>
          </p:cNvSpPr>
          <p:nvPr>
            <p:ph type="body" sz="quarter" idx="13"/>
          </p:nvPr>
        </p:nvSpPr>
        <p:spPr/>
        <p:txBody>
          <a:bodyPr/>
          <a:lstStyle/>
          <a:p>
            <a:r>
              <a:rPr lang="en-US" altLang="ja-JP" dirty="0"/>
              <a:t>2</a:t>
            </a:r>
            <a:endParaRPr kumimoji="1" lang="ja-JP" altLang="en-US"/>
          </a:p>
        </p:txBody>
      </p:sp>
      <p:grpSp>
        <p:nvGrpSpPr>
          <p:cNvPr id="31" name="グループ化 30">
            <a:extLst>
              <a:ext uri="{FF2B5EF4-FFF2-40B4-BE49-F238E27FC236}">
                <a16:creationId xmlns:a16="http://schemas.microsoft.com/office/drawing/2014/main" id="{FD81DDC5-24B5-F24B-8DCA-6543CEE8DC81}"/>
              </a:ext>
            </a:extLst>
          </p:cNvPr>
          <p:cNvGrpSpPr/>
          <p:nvPr/>
        </p:nvGrpSpPr>
        <p:grpSpPr>
          <a:xfrm>
            <a:off x="289330" y="1413298"/>
            <a:ext cx="2160000" cy="934436"/>
            <a:chOff x="144665" y="525617"/>
            <a:chExt cx="1080000" cy="467218"/>
          </a:xfrm>
        </p:grpSpPr>
        <p:sp>
          <p:nvSpPr>
            <p:cNvPr id="32" name="正方形/長方形 31">
              <a:extLst>
                <a:ext uri="{FF2B5EF4-FFF2-40B4-BE49-F238E27FC236}">
                  <a16:creationId xmlns:a16="http://schemas.microsoft.com/office/drawing/2014/main" id="{073638CC-28A2-E943-AD34-548A0C227633}"/>
                </a:ext>
              </a:extLst>
            </p:cNvPr>
            <p:cNvSpPr/>
            <p:nvPr userDrawn="1"/>
          </p:nvSpPr>
          <p:spPr>
            <a:xfrm>
              <a:off x="145524" y="542424"/>
              <a:ext cx="91081" cy="450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sp>
          <p:nvSpPr>
            <p:cNvPr id="33" name="正方形/長方形 32">
              <a:extLst>
                <a:ext uri="{FF2B5EF4-FFF2-40B4-BE49-F238E27FC236}">
                  <a16:creationId xmlns:a16="http://schemas.microsoft.com/office/drawing/2014/main" id="{89C51296-914D-A74C-889D-A570C54F6A57}"/>
                </a:ext>
              </a:extLst>
            </p:cNvPr>
            <p:cNvSpPr/>
            <p:nvPr userDrawn="1"/>
          </p:nvSpPr>
          <p:spPr>
            <a:xfrm>
              <a:off x="144665" y="525617"/>
              <a:ext cx="1080000" cy="161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grpSp>
      <p:grpSp>
        <p:nvGrpSpPr>
          <p:cNvPr id="34" name="グループ化 33">
            <a:extLst>
              <a:ext uri="{FF2B5EF4-FFF2-40B4-BE49-F238E27FC236}">
                <a16:creationId xmlns:a16="http://schemas.microsoft.com/office/drawing/2014/main" id="{FC0C993D-26F8-9648-8C42-6E3A827F97DE}"/>
              </a:ext>
            </a:extLst>
          </p:cNvPr>
          <p:cNvGrpSpPr/>
          <p:nvPr/>
        </p:nvGrpSpPr>
        <p:grpSpPr>
          <a:xfrm>
            <a:off x="617232" y="2557358"/>
            <a:ext cx="539448" cy="487368"/>
            <a:chOff x="400056" y="1061560"/>
            <a:chExt cx="269724" cy="243684"/>
          </a:xfrm>
        </p:grpSpPr>
        <p:sp>
          <p:nvSpPr>
            <p:cNvPr id="35" name="三角形 34">
              <a:extLst>
                <a:ext uri="{FF2B5EF4-FFF2-40B4-BE49-F238E27FC236}">
                  <a16:creationId xmlns:a16="http://schemas.microsoft.com/office/drawing/2014/main" id="{21EC1BB2-1EA3-DB45-83ED-42197AA1F0E3}"/>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36" name="三角形 35">
              <a:extLst>
                <a:ext uri="{FF2B5EF4-FFF2-40B4-BE49-F238E27FC236}">
                  <a16:creationId xmlns:a16="http://schemas.microsoft.com/office/drawing/2014/main" id="{92822503-D36D-7644-A490-99EB8A1079E7}"/>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37" name="テキスト プレースホルダー 30">
            <a:extLst>
              <a:ext uri="{FF2B5EF4-FFF2-40B4-BE49-F238E27FC236}">
                <a16:creationId xmlns:a16="http://schemas.microsoft.com/office/drawing/2014/main" id="{A73B3907-668E-1A41-B5F4-6D46EA930E91}"/>
              </a:ext>
            </a:extLst>
          </p:cNvPr>
          <p:cNvSpPr txBox="1">
            <a:spLocks/>
          </p:cNvSpPr>
          <p:nvPr/>
        </p:nvSpPr>
        <p:spPr>
          <a:xfrm>
            <a:off x="571049" y="1583871"/>
            <a:ext cx="17302163" cy="1403350"/>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60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目的</a:t>
            </a:r>
          </a:p>
        </p:txBody>
      </p:sp>
      <p:sp>
        <p:nvSpPr>
          <p:cNvPr id="38" name="テキスト プレースホルダー 27">
            <a:extLst>
              <a:ext uri="{FF2B5EF4-FFF2-40B4-BE49-F238E27FC236}">
                <a16:creationId xmlns:a16="http://schemas.microsoft.com/office/drawing/2014/main" id="{52FC6201-0015-374A-A9F7-4FCF0162EFE8}"/>
              </a:ext>
            </a:extLst>
          </p:cNvPr>
          <p:cNvSpPr txBox="1">
            <a:spLocks/>
          </p:cNvSpPr>
          <p:nvPr/>
        </p:nvSpPr>
        <p:spPr>
          <a:xfrm>
            <a:off x="1254486" y="2484733"/>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人間同士の交渉で生じる効果について調査</a:t>
            </a:r>
            <a:endParaRPr lang="en-US" altLang="ja-JP" dirty="0"/>
          </a:p>
        </p:txBody>
      </p:sp>
      <p:sp>
        <p:nvSpPr>
          <p:cNvPr id="57" name="三角形 56">
            <a:extLst>
              <a:ext uri="{FF2B5EF4-FFF2-40B4-BE49-F238E27FC236}">
                <a16:creationId xmlns:a16="http://schemas.microsoft.com/office/drawing/2014/main" id="{7F703886-4132-A74D-B009-F1827BE6F3C7}"/>
              </a:ext>
            </a:extLst>
          </p:cNvPr>
          <p:cNvSpPr/>
          <p:nvPr/>
        </p:nvSpPr>
        <p:spPr>
          <a:xfrm rot="5400000">
            <a:off x="1076238" y="3361776"/>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23" name="三角形 22">
            <a:extLst>
              <a:ext uri="{FF2B5EF4-FFF2-40B4-BE49-F238E27FC236}">
                <a16:creationId xmlns:a16="http://schemas.microsoft.com/office/drawing/2014/main" id="{71DA17BD-74F3-FE4A-96F4-94A9E3AA34CD}"/>
              </a:ext>
            </a:extLst>
          </p:cNvPr>
          <p:cNvSpPr/>
          <p:nvPr/>
        </p:nvSpPr>
        <p:spPr>
          <a:xfrm rot="5400000">
            <a:off x="1076238" y="4091341"/>
            <a:ext cx="480900" cy="320016"/>
          </a:xfrm>
          <a:prstGeom prst="triangl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26" name="三角形 25">
            <a:extLst>
              <a:ext uri="{FF2B5EF4-FFF2-40B4-BE49-F238E27FC236}">
                <a16:creationId xmlns:a16="http://schemas.microsoft.com/office/drawing/2014/main" id="{09C71C8C-E299-4C44-AEC0-7E2553B12794}"/>
              </a:ext>
            </a:extLst>
          </p:cNvPr>
          <p:cNvSpPr/>
          <p:nvPr/>
        </p:nvSpPr>
        <p:spPr>
          <a:xfrm rot="5400000">
            <a:off x="1064310" y="4818997"/>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nvGrpSpPr>
          <p:cNvPr id="28" name="グループ化 27">
            <a:extLst>
              <a:ext uri="{FF2B5EF4-FFF2-40B4-BE49-F238E27FC236}">
                <a16:creationId xmlns:a16="http://schemas.microsoft.com/office/drawing/2014/main" id="{0C2D99A1-A391-B34D-B51D-2646448B5EE0}"/>
              </a:ext>
            </a:extLst>
          </p:cNvPr>
          <p:cNvGrpSpPr/>
          <p:nvPr/>
        </p:nvGrpSpPr>
        <p:grpSpPr>
          <a:xfrm>
            <a:off x="617232" y="5532687"/>
            <a:ext cx="539448" cy="487368"/>
            <a:chOff x="400056" y="1061560"/>
            <a:chExt cx="269724" cy="243684"/>
          </a:xfrm>
        </p:grpSpPr>
        <p:sp>
          <p:nvSpPr>
            <p:cNvPr id="29" name="三角形 28">
              <a:extLst>
                <a:ext uri="{FF2B5EF4-FFF2-40B4-BE49-F238E27FC236}">
                  <a16:creationId xmlns:a16="http://schemas.microsoft.com/office/drawing/2014/main" id="{71EBF793-5064-E34A-9387-1426F995A3B3}"/>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30" name="三角形 29">
              <a:extLst>
                <a:ext uri="{FF2B5EF4-FFF2-40B4-BE49-F238E27FC236}">
                  <a16:creationId xmlns:a16="http://schemas.microsoft.com/office/drawing/2014/main" id="{5D106750-2C77-6545-AB79-4AEB07AD03A4}"/>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39" name="テキスト プレースホルダー 27">
            <a:extLst>
              <a:ext uri="{FF2B5EF4-FFF2-40B4-BE49-F238E27FC236}">
                <a16:creationId xmlns:a16="http://schemas.microsoft.com/office/drawing/2014/main" id="{E90FC0FA-6B43-C040-A5F9-B0941E894243}"/>
              </a:ext>
            </a:extLst>
          </p:cNvPr>
          <p:cNvSpPr txBox="1">
            <a:spLocks/>
          </p:cNvSpPr>
          <p:nvPr/>
        </p:nvSpPr>
        <p:spPr>
          <a:xfrm>
            <a:off x="1254486" y="5460062"/>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IAGO</a:t>
            </a:r>
            <a:r>
              <a:rPr lang="ja-JP" altLang="en-US"/>
              <a:t>がプラットフォームとして機能することを実証</a:t>
            </a:r>
            <a:endParaRPr lang="en-US" altLang="ja-JP" dirty="0"/>
          </a:p>
        </p:txBody>
      </p:sp>
      <p:grpSp>
        <p:nvGrpSpPr>
          <p:cNvPr id="7" name="グループ化 6">
            <a:extLst>
              <a:ext uri="{FF2B5EF4-FFF2-40B4-BE49-F238E27FC236}">
                <a16:creationId xmlns:a16="http://schemas.microsoft.com/office/drawing/2014/main" id="{75E8F2AC-299C-CF4F-9C16-907113D2A111}"/>
              </a:ext>
            </a:extLst>
          </p:cNvPr>
          <p:cNvGrpSpPr/>
          <p:nvPr/>
        </p:nvGrpSpPr>
        <p:grpSpPr>
          <a:xfrm>
            <a:off x="3216825" y="7319687"/>
            <a:ext cx="11854350" cy="5984041"/>
            <a:chOff x="3216825" y="7319687"/>
            <a:chExt cx="11854350" cy="5984041"/>
          </a:xfrm>
        </p:grpSpPr>
        <p:grpSp>
          <p:nvGrpSpPr>
            <p:cNvPr id="42" name="グループ化 41">
              <a:extLst>
                <a:ext uri="{FF2B5EF4-FFF2-40B4-BE49-F238E27FC236}">
                  <a16:creationId xmlns:a16="http://schemas.microsoft.com/office/drawing/2014/main" id="{7A5AD580-7131-D041-B8E4-17B27DF3D69B}"/>
                </a:ext>
              </a:extLst>
            </p:cNvPr>
            <p:cNvGrpSpPr/>
            <p:nvPr/>
          </p:nvGrpSpPr>
          <p:grpSpPr>
            <a:xfrm>
              <a:off x="3216825" y="10402558"/>
              <a:ext cx="11854350" cy="2901170"/>
              <a:chOff x="2226339" y="9389213"/>
              <a:chExt cx="11854350" cy="2901170"/>
            </a:xfrm>
          </p:grpSpPr>
          <p:sp>
            <p:nvSpPr>
              <p:cNvPr id="60" name="テキスト ボックス 59">
                <a:extLst>
                  <a:ext uri="{FF2B5EF4-FFF2-40B4-BE49-F238E27FC236}">
                    <a16:creationId xmlns:a16="http://schemas.microsoft.com/office/drawing/2014/main" id="{678385E7-AEA7-1545-BC28-12A84E30494D}"/>
                  </a:ext>
                </a:extLst>
              </p:cNvPr>
              <p:cNvSpPr txBox="1"/>
              <p:nvPr/>
            </p:nvSpPr>
            <p:spPr>
              <a:xfrm>
                <a:off x="5900499" y="11644052"/>
                <a:ext cx="4506031" cy="646331"/>
              </a:xfrm>
              <a:prstGeom prst="rect">
                <a:avLst/>
              </a:prstGeom>
              <a:noFill/>
            </p:spPr>
            <p:txBody>
              <a:bodyPr wrap="square" rtlCol="0">
                <a:spAutoFit/>
              </a:bodyPr>
              <a:lstStyle/>
              <a:p>
                <a:pPr algn="ctr"/>
                <a:r>
                  <a:rPr lang="ja-JP" altLang="en-US"/>
                  <a:t>交渉内容</a:t>
                </a:r>
                <a:endParaRPr kumimoji="1" lang="ja-JP" altLang="en-US"/>
              </a:p>
            </p:txBody>
          </p:sp>
          <p:grpSp>
            <p:nvGrpSpPr>
              <p:cNvPr id="61" name="グループ化 60">
                <a:extLst>
                  <a:ext uri="{FF2B5EF4-FFF2-40B4-BE49-F238E27FC236}">
                    <a16:creationId xmlns:a16="http://schemas.microsoft.com/office/drawing/2014/main" id="{B1257BC7-A9A4-0145-B7E3-80AA4250BF53}"/>
                  </a:ext>
                </a:extLst>
              </p:cNvPr>
              <p:cNvGrpSpPr/>
              <p:nvPr/>
            </p:nvGrpSpPr>
            <p:grpSpPr>
              <a:xfrm>
                <a:off x="2226339" y="9389213"/>
                <a:ext cx="11854350" cy="2010101"/>
                <a:chOff x="3821592" y="9287685"/>
                <a:chExt cx="11854350" cy="2010101"/>
              </a:xfrm>
            </p:grpSpPr>
            <p:pic>
              <p:nvPicPr>
                <p:cNvPr id="62" name="グラフィックス 61" descr="Pasta">
                  <a:extLst>
                    <a:ext uri="{FF2B5EF4-FFF2-40B4-BE49-F238E27FC236}">
                      <a16:creationId xmlns:a16="http://schemas.microsoft.com/office/drawing/2014/main" id="{ED4D337F-9799-B745-B30C-8159E7F46B7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18892" y="9287685"/>
                  <a:ext cx="1956819" cy="1956819"/>
                </a:xfrm>
                <a:prstGeom prst="rect">
                  <a:avLst/>
                </a:prstGeom>
              </p:spPr>
            </p:pic>
            <p:pic>
              <p:nvPicPr>
                <p:cNvPr id="63" name="グラフィックス 62" descr="Pizza">
                  <a:extLst>
                    <a:ext uri="{FF2B5EF4-FFF2-40B4-BE49-F238E27FC236}">
                      <a16:creationId xmlns:a16="http://schemas.microsoft.com/office/drawing/2014/main" id="{CA5DE0F4-4516-D64E-AD45-516F7361A4A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120242" y="9340967"/>
                  <a:ext cx="1956819" cy="1956819"/>
                </a:xfrm>
                <a:prstGeom prst="rect">
                  <a:avLst/>
                </a:prstGeom>
              </p:spPr>
            </p:pic>
            <p:pic>
              <p:nvPicPr>
                <p:cNvPr id="64" name="グラフィックス 63" descr="CakeSlice">
                  <a:extLst>
                    <a:ext uri="{FF2B5EF4-FFF2-40B4-BE49-F238E27FC236}">
                      <a16:creationId xmlns:a16="http://schemas.microsoft.com/office/drawing/2014/main" id="{25798C40-7A38-9840-8342-7F71004DCAF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821592" y="9334846"/>
                  <a:ext cx="1956819" cy="1956819"/>
                </a:xfrm>
                <a:prstGeom prst="rect">
                  <a:avLst/>
                </a:prstGeom>
              </p:spPr>
            </p:pic>
            <p:pic>
              <p:nvPicPr>
                <p:cNvPr id="65" name="グラフィックス 64" descr="Donut">
                  <a:extLst>
                    <a:ext uri="{FF2B5EF4-FFF2-40B4-BE49-F238E27FC236}">
                      <a16:creationId xmlns:a16="http://schemas.microsoft.com/office/drawing/2014/main" id="{BE88A548-551D-8F42-AD5D-3876BBCA010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3717542" y="9333265"/>
                  <a:ext cx="1958400" cy="1958400"/>
                </a:xfrm>
                <a:prstGeom prst="rect">
                  <a:avLst/>
                </a:prstGeom>
              </p:spPr>
            </p:pic>
          </p:grpSp>
        </p:grpSp>
        <p:grpSp>
          <p:nvGrpSpPr>
            <p:cNvPr id="44" name="グループ化 43">
              <a:extLst>
                <a:ext uri="{FF2B5EF4-FFF2-40B4-BE49-F238E27FC236}">
                  <a16:creationId xmlns:a16="http://schemas.microsoft.com/office/drawing/2014/main" id="{3D6F7A07-BF75-FB42-BC3D-34DE82EA2479}"/>
                </a:ext>
              </a:extLst>
            </p:cNvPr>
            <p:cNvGrpSpPr/>
            <p:nvPr/>
          </p:nvGrpSpPr>
          <p:grpSpPr>
            <a:xfrm>
              <a:off x="4892225" y="7319687"/>
              <a:ext cx="8392160" cy="2292139"/>
              <a:chOff x="4866258" y="5234219"/>
              <a:chExt cx="8392160" cy="2292139"/>
            </a:xfrm>
          </p:grpSpPr>
          <p:grpSp>
            <p:nvGrpSpPr>
              <p:cNvPr id="52" name="グループ化 51">
                <a:extLst>
                  <a:ext uri="{FF2B5EF4-FFF2-40B4-BE49-F238E27FC236}">
                    <a16:creationId xmlns:a16="http://schemas.microsoft.com/office/drawing/2014/main" id="{E062E578-FD9F-AF46-B678-354A1AC7E6AA}"/>
                  </a:ext>
                </a:extLst>
              </p:cNvPr>
              <p:cNvGrpSpPr/>
              <p:nvPr/>
            </p:nvGrpSpPr>
            <p:grpSpPr>
              <a:xfrm>
                <a:off x="4866258" y="5349476"/>
                <a:ext cx="1735754" cy="2176882"/>
                <a:chOff x="4299330" y="5349476"/>
                <a:chExt cx="1735754" cy="2176882"/>
              </a:xfrm>
            </p:grpSpPr>
            <p:sp>
              <p:nvSpPr>
                <p:cNvPr id="54" name="スマイル 53">
                  <a:extLst>
                    <a:ext uri="{FF2B5EF4-FFF2-40B4-BE49-F238E27FC236}">
                      <a16:creationId xmlns:a16="http://schemas.microsoft.com/office/drawing/2014/main" id="{390955EF-B855-224E-A4A6-592F43EE4A6A}"/>
                    </a:ext>
                  </a:extLst>
                </p:cNvPr>
                <p:cNvSpPr/>
                <p:nvPr/>
              </p:nvSpPr>
              <p:spPr>
                <a:xfrm>
                  <a:off x="4338815" y="6018922"/>
                  <a:ext cx="1656784" cy="1507436"/>
                </a:xfrm>
                <a:prstGeom prst="smileyFace">
                  <a:avLst>
                    <a:gd name="adj" fmla="val -4653"/>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テキスト ボックス 54">
                  <a:extLst>
                    <a:ext uri="{FF2B5EF4-FFF2-40B4-BE49-F238E27FC236}">
                      <a16:creationId xmlns:a16="http://schemas.microsoft.com/office/drawing/2014/main" id="{9AD2A773-514F-794B-A583-6FF3F02618CD}"/>
                    </a:ext>
                  </a:extLst>
                </p:cNvPr>
                <p:cNvSpPr txBox="1"/>
                <p:nvPr/>
              </p:nvSpPr>
              <p:spPr>
                <a:xfrm>
                  <a:off x="4299330" y="5349476"/>
                  <a:ext cx="1735754" cy="646331"/>
                </a:xfrm>
                <a:prstGeom prst="rect">
                  <a:avLst/>
                </a:prstGeom>
                <a:noFill/>
              </p:spPr>
              <p:txBody>
                <a:bodyPr wrap="square" rtlCol="0">
                  <a:spAutoFit/>
                </a:bodyPr>
                <a:lstStyle/>
                <a:p>
                  <a:pPr algn="ctr"/>
                  <a:r>
                    <a:rPr kumimoji="1" lang="en-US" altLang="ja-JP" dirty="0"/>
                    <a:t>agent</a:t>
                  </a:r>
                  <a:endParaRPr kumimoji="1" lang="ja-JP" altLang="en-US"/>
                </a:p>
              </p:txBody>
            </p:sp>
          </p:grpSp>
          <p:grpSp>
            <p:nvGrpSpPr>
              <p:cNvPr id="48" name="グループ化 47">
                <a:extLst>
                  <a:ext uri="{FF2B5EF4-FFF2-40B4-BE49-F238E27FC236}">
                    <a16:creationId xmlns:a16="http://schemas.microsoft.com/office/drawing/2014/main" id="{35B623F4-6B74-1747-810F-D94794252AC4}"/>
                  </a:ext>
                </a:extLst>
              </p:cNvPr>
              <p:cNvGrpSpPr/>
              <p:nvPr/>
            </p:nvGrpSpPr>
            <p:grpSpPr>
              <a:xfrm>
                <a:off x="11522664" y="5234219"/>
                <a:ext cx="1735754" cy="2243000"/>
                <a:chOff x="12053016" y="5234219"/>
                <a:chExt cx="1735754" cy="2243000"/>
              </a:xfrm>
            </p:grpSpPr>
            <p:sp>
              <p:nvSpPr>
                <p:cNvPr id="50" name="スマイル 49">
                  <a:extLst>
                    <a:ext uri="{FF2B5EF4-FFF2-40B4-BE49-F238E27FC236}">
                      <a16:creationId xmlns:a16="http://schemas.microsoft.com/office/drawing/2014/main" id="{1F5AC04A-388A-5F41-8CE3-B324C99FD797}"/>
                    </a:ext>
                  </a:extLst>
                </p:cNvPr>
                <p:cNvSpPr/>
                <p:nvPr/>
              </p:nvSpPr>
              <p:spPr>
                <a:xfrm>
                  <a:off x="12131986" y="5969783"/>
                  <a:ext cx="1656784" cy="1507436"/>
                </a:xfrm>
                <a:prstGeom prst="smileyFace">
                  <a:avLst>
                    <a:gd name="adj" fmla="val -4653"/>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テキスト ボックス 50">
                  <a:extLst>
                    <a:ext uri="{FF2B5EF4-FFF2-40B4-BE49-F238E27FC236}">
                      <a16:creationId xmlns:a16="http://schemas.microsoft.com/office/drawing/2014/main" id="{6C65396B-AB70-F54E-9CF2-7A18EB4021F3}"/>
                    </a:ext>
                  </a:extLst>
                </p:cNvPr>
                <p:cNvSpPr txBox="1"/>
                <p:nvPr/>
              </p:nvSpPr>
              <p:spPr>
                <a:xfrm>
                  <a:off x="12053016" y="5234219"/>
                  <a:ext cx="1735754" cy="646331"/>
                </a:xfrm>
                <a:prstGeom prst="rect">
                  <a:avLst/>
                </a:prstGeom>
                <a:noFill/>
              </p:spPr>
              <p:txBody>
                <a:bodyPr wrap="square" rtlCol="0">
                  <a:spAutoFit/>
                </a:bodyPr>
                <a:lstStyle/>
                <a:p>
                  <a:pPr algn="ctr"/>
                  <a:r>
                    <a:rPr lang="en-US" altLang="ja-JP" dirty="0"/>
                    <a:t>human</a:t>
                  </a:r>
                  <a:endParaRPr kumimoji="1" lang="ja-JP" altLang="en-US"/>
                </a:p>
              </p:txBody>
            </p:sp>
          </p:grpSp>
        </p:grpSp>
        <p:sp>
          <p:nvSpPr>
            <p:cNvPr id="66" name="右矢印 65">
              <a:extLst>
                <a:ext uri="{FF2B5EF4-FFF2-40B4-BE49-F238E27FC236}">
                  <a16:creationId xmlns:a16="http://schemas.microsoft.com/office/drawing/2014/main" id="{54DFFDC2-BCFA-E848-8B4F-482737B6C230}"/>
                </a:ext>
              </a:extLst>
            </p:cNvPr>
            <p:cNvSpPr/>
            <p:nvPr/>
          </p:nvSpPr>
          <p:spPr>
            <a:xfrm rot="17437685">
              <a:off x="4553593" y="9929091"/>
              <a:ext cx="746251" cy="371476"/>
            </a:xfrm>
            <a:prstGeom prst="rightArrow">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sp>
          <p:nvSpPr>
            <p:cNvPr id="68" name="右矢印 67">
              <a:extLst>
                <a:ext uri="{FF2B5EF4-FFF2-40B4-BE49-F238E27FC236}">
                  <a16:creationId xmlns:a16="http://schemas.microsoft.com/office/drawing/2014/main" id="{4B0164DA-096D-8B4E-8D19-C66C9AFDD02D}"/>
                </a:ext>
              </a:extLst>
            </p:cNvPr>
            <p:cNvSpPr/>
            <p:nvPr/>
          </p:nvSpPr>
          <p:spPr>
            <a:xfrm rot="17437685">
              <a:off x="11237851" y="9931700"/>
              <a:ext cx="746251" cy="371476"/>
            </a:xfrm>
            <a:prstGeom prst="rightArrow">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grpSp>
      <p:sp>
        <p:nvSpPr>
          <p:cNvPr id="67" name="右矢印 66">
            <a:extLst>
              <a:ext uri="{FF2B5EF4-FFF2-40B4-BE49-F238E27FC236}">
                <a16:creationId xmlns:a16="http://schemas.microsoft.com/office/drawing/2014/main" id="{B770DD3B-ACF7-BC4F-9CE8-67D837C4377C}"/>
              </a:ext>
            </a:extLst>
          </p:cNvPr>
          <p:cNvSpPr/>
          <p:nvPr/>
        </p:nvSpPr>
        <p:spPr>
          <a:xfrm rot="20300887">
            <a:off x="8221799" y="9708008"/>
            <a:ext cx="3117277" cy="371476"/>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テキスト プレースホルダー 29">
            <a:extLst>
              <a:ext uri="{FF2B5EF4-FFF2-40B4-BE49-F238E27FC236}">
                <a16:creationId xmlns:a16="http://schemas.microsoft.com/office/drawing/2014/main" id="{89234110-1A1A-0847-B09B-0062FE3066F1}"/>
              </a:ext>
            </a:extLst>
          </p:cNvPr>
          <p:cNvSpPr txBox="1">
            <a:spLocks/>
          </p:cNvSpPr>
          <p:nvPr/>
        </p:nvSpPr>
        <p:spPr>
          <a:xfrm>
            <a:off x="1457090" y="3246502"/>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Q1</a:t>
            </a:r>
            <a:r>
              <a:rPr lang="ja-JP" altLang="en-US"/>
              <a:t>：選好を明らかにするための戦略は人間の行動に影響を及ぼすか？</a:t>
            </a:r>
          </a:p>
        </p:txBody>
      </p:sp>
      <p:sp>
        <p:nvSpPr>
          <p:cNvPr id="70" name="テキスト プレースホルダー 29">
            <a:extLst>
              <a:ext uri="{FF2B5EF4-FFF2-40B4-BE49-F238E27FC236}">
                <a16:creationId xmlns:a16="http://schemas.microsoft.com/office/drawing/2014/main" id="{F9FEABA2-15C2-D74E-9657-A3B413C63495}"/>
              </a:ext>
            </a:extLst>
          </p:cNvPr>
          <p:cNvSpPr txBox="1">
            <a:spLocks/>
          </p:cNvSpPr>
          <p:nvPr/>
        </p:nvSpPr>
        <p:spPr>
          <a:xfrm>
            <a:off x="1457090" y="3976067"/>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Q2</a:t>
            </a:r>
            <a:r>
              <a:rPr lang="ja-JP" altLang="en-US"/>
              <a:t>：選好を明らかにするための戦略は統合的交渉に影響を与えるか？</a:t>
            </a:r>
          </a:p>
        </p:txBody>
      </p:sp>
      <p:sp>
        <p:nvSpPr>
          <p:cNvPr id="71" name="テキスト プレースホルダー 29">
            <a:extLst>
              <a:ext uri="{FF2B5EF4-FFF2-40B4-BE49-F238E27FC236}">
                <a16:creationId xmlns:a16="http://schemas.microsoft.com/office/drawing/2014/main" id="{05E1375B-A102-E34F-AADE-04FBBC4C52B3}"/>
              </a:ext>
            </a:extLst>
          </p:cNvPr>
          <p:cNvSpPr txBox="1">
            <a:spLocks/>
          </p:cNvSpPr>
          <p:nvPr/>
        </p:nvSpPr>
        <p:spPr>
          <a:xfrm>
            <a:off x="1445162" y="4703723"/>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Q3</a:t>
            </a:r>
            <a:r>
              <a:rPr lang="ja-JP" altLang="en-US"/>
              <a:t>：積極的な行動は相手を譲歩させるのか？</a:t>
            </a:r>
          </a:p>
        </p:txBody>
      </p:sp>
      <p:sp>
        <p:nvSpPr>
          <p:cNvPr id="72" name="テキスト ボックス 71">
            <a:extLst>
              <a:ext uri="{FF2B5EF4-FFF2-40B4-BE49-F238E27FC236}">
                <a16:creationId xmlns:a16="http://schemas.microsoft.com/office/drawing/2014/main" id="{BA02D70E-6EFD-D043-B9B8-69F420D62E47}"/>
              </a:ext>
            </a:extLst>
          </p:cNvPr>
          <p:cNvSpPr txBox="1"/>
          <p:nvPr/>
        </p:nvSpPr>
        <p:spPr>
          <a:xfrm>
            <a:off x="4682520" y="6921590"/>
            <a:ext cx="2155164" cy="646331"/>
          </a:xfrm>
          <a:prstGeom prst="rect">
            <a:avLst/>
          </a:prstGeom>
          <a:noFill/>
        </p:spPr>
        <p:txBody>
          <a:bodyPr wrap="square" rtlCol="0">
            <a:spAutoFit/>
          </a:bodyPr>
          <a:lstStyle/>
          <a:p>
            <a:pPr algn="ctr"/>
            <a:r>
              <a:rPr lang="en-US" altLang="ja-JP" dirty="0"/>
              <a:t>S</a:t>
            </a:r>
            <a:r>
              <a:rPr kumimoji="1" lang="en-US" altLang="ja-JP" dirty="0"/>
              <a:t>trategic</a:t>
            </a:r>
            <a:endParaRPr kumimoji="1" lang="ja-JP" altLang="en-US"/>
          </a:p>
        </p:txBody>
      </p:sp>
      <p:sp>
        <p:nvSpPr>
          <p:cNvPr id="77" name="角丸四角形吹き出し 76">
            <a:extLst>
              <a:ext uri="{FF2B5EF4-FFF2-40B4-BE49-F238E27FC236}">
                <a16:creationId xmlns:a16="http://schemas.microsoft.com/office/drawing/2014/main" id="{2B1BC254-E1B6-214C-8960-A31F1690285F}"/>
              </a:ext>
            </a:extLst>
          </p:cNvPr>
          <p:cNvSpPr/>
          <p:nvPr/>
        </p:nvSpPr>
        <p:spPr>
          <a:xfrm>
            <a:off x="13348951" y="6523494"/>
            <a:ext cx="3639733" cy="1442523"/>
          </a:xfrm>
          <a:prstGeom prst="wedgeRoundRectCallout">
            <a:avLst>
              <a:gd name="adj1" fmla="val -42507"/>
              <a:gd name="adj2" fmla="val 80970"/>
              <a:gd name="adj3" fmla="val 16667"/>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ja-JP" altLang="en-US"/>
              <a:t>ピザより</a:t>
            </a:r>
            <a:endParaRPr kumimoji="1" lang="en-US" altLang="ja-JP" dirty="0"/>
          </a:p>
          <a:p>
            <a:pPr algn="ctr"/>
            <a:r>
              <a:rPr kumimoji="1" lang="ja-JP" altLang="en-US"/>
              <a:t>ドーナツが好き</a:t>
            </a:r>
          </a:p>
        </p:txBody>
      </p:sp>
      <p:sp>
        <p:nvSpPr>
          <p:cNvPr id="78" name="角丸四角形吹き出し 77">
            <a:extLst>
              <a:ext uri="{FF2B5EF4-FFF2-40B4-BE49-F238E27FC236}">
                <a16:creationId xmlns:a16="http://schemas.microsoft.com/office/drawing/2014/main" id="{22C9FD4E-0881-F84D-91CA-5D593C303372}"/>
              </a:ext>
            </a:extLst>
          </p:cNvPr>
          <p:cNvSpPr/>
          <p:nvPr/>
        </p:nvSpPr>
        <p:spPr>
          <a:xfrm>
            <a:off x="1010561" y="6523495"/>
            <a:ext cx="3639733" cy="1442523"/>
          </a:xfrm>
          <a:prstGeom prst="wedgeRoundRectCallout">
            <a:avLst>
              <a:gd name="adj1" fmla="val 44418"/>
              <a:gd name="adj2" fmla="val 78434"/>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a:t>ドーナツより</a:t>
            </a:r>
            <a:endParaRPr lang="en-US" altLang="ja-JP" dirty="0"/>
          </a:p>
          <a:p>
            <a:pPr algn="ctr"/>
            <a:r>
              <a:rPr lang="ja-JP" altLang="en-US"/>
              <a:t>ピザが好き</a:t>
            </a:r>
          </a:p>
        </p:txBody>
      </p:sp>
      <p:sp>
        <p:nvSpPr>
          <p:cNvPr id="79" name="右矢印 78">
            <a:extLst>
              <a:ext uri="{FF2B5EF4-FFF2-40B4-BE49-F238E27FC236}">
                <a16:creationId xmlns:a16="http://schemas.microsoft.com/office/drawing/2014/main" id="{9A4243AF-53DE-954C-9CCC-BB9CE09331C3}"/>
              </a:ext>
            </a:extLst>
          </p:cNvPr>
          <p:cNvSpPr/>
          <p:nvPr/>
        </p:nvSpPr>
        <p:spPr>
          <a:xfrm rot="784289" flipH="1">
            <a:off x="7058733" y="9873008"/>
            <a:ext cx="6074694" cy="371476"/>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4258514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3520CDD-7107-D140-A1A0-69D0D69B10F3}"/>
              </a:ext>
            </a:extLst>
          </p:cNvPr>
          <p:cNvSpPr>
            <a:spLocks noGrp="1"/>
          </p:cNvSpPr>
          <p:nvPr>
            <p:ph type="dt" sz="half" idx="10"/>
          </p:nvPr>
        </p:nvSpPr>
        <p:spPr/>
        <p:txBody>
          <a:bodyPr/>
          <a:lstStyle/>
          <a:p>
            <a:fld id="{35974365-84F6-754A-A339-DA79FFD42E98}" type="datetime1">
              <a:rPr lang="ja-JP" altLang="en-US" smtClean="0"/>
              <a:t>2018/6/9</a:t>
            </a:fld>
            <a:endParaRPr lang="ja-JP" altLang="en-US"/>
          </a:p>
        </p:txBody>
      </p:sp>
      <p:sp>
        <p:nvSpPr>
          <p:cNvPr id="3" name="フッター プレースホルダー 2">
            <a:extLst>
              <a:ext uri="{FF2B5EF4-FFF2-40B4-BE49-F238E27FC236}">
                <a16:creationId xmlns:a16="http://schemas.microsoft.com/office/drawing/2014/main" id="{6EEFBA0C-3454-8D4D-87CE-5BA9ED8AFBE5}"/>
              </a:ext>
            </a:extLst>
          </p:cNvPr>
          <p:cNvSpPr>
            <a:spLocks noGrp="1"/>
          </p:cNvSpPr>
          <p:nvPr>
            <p:ph type="ftr" sz="quarter" idx="11"/>
          </p:nvPr>
        </p:nvSpPr>
        <p:spPr/>
        <p:txBody>
          <a:bodyPr/>
          <a:lstStyle/>
          <a:p>
            <a:r>
              <a:rPr lang="ja-JP" altLang="en-US"/>
              <a:t>進捗報告</a:t>
            </a:r>
            <a:r>
              <a:rPr lang="en-US" altLang="ja-JP"/>
              <a:t>(2018.06.06)</a:t>
            </a:r>
            <a:endParaRPr lang="ja-JP" altLang="en-US"/>
          </a:p>
        </p:txBody>
      </p:sp>
      <p:sp>
        <p:nvSpPr>
          <p:cNvPr id="4" name="スライド番号プレースホルダー 3">
            <a:extLst>
              <a:ext uri="{FF2B5EF4-FFF2-40B4-BE49-F238E27FC236}">
                <a16:creationId xmlns:a16="http://schemas.microsoft.com/office/drawing/2014/main" id="{5D405AD0-9091-A94B-BA67-32995AD15B35}"/>
              </a:ext>
            </a:extLst>
          </p:cNvPr>
          <p:cNvSpPr>
            <a:spLocks noGrp="1"/>
          </p:cNvSpPr>
          <p:nvPr>
            <p:ph type="sldNum" sz="quarter" idx="12"/>
          </p:nvPr>
        </p:nvSpPr>
        <p:spPr/>
        <p:txBody>
          <a:bodyPr/>
          <a:lstStyle/>
          <a:p>
            <a:fld id="{89242BC1-393D-1248-985B-18DA624F2964}" type="slidenum">
              <a:rPr lang="ja-JP" altLang="en-US" smtClean="0"/>
              <a:pPr/>
              <a:t>16</a:t>
            </a:fld>
            <a:endParaRPr lang="ja-JP" altLang="en-US"/>
          </a:p>
        </p:txBody>
      </p:sp>
      <p:sp>
        <p:nvSpPr>
          <p:cNvPr id="5" name="テキスト プレースホルダー 4">
            <a:extLst>
              <a:ext uri="{FF2B5EF4-FFF2-40B4-BE49-F238E27FC236}">
                <a16:creationId xmlns:a16="http://schemas.microsoft.com/office/drawing/2014/main" id="{26DD2A8D-F804-D546-B77D-9693A67C3E0B}"/>
              </a:ext>
            </a:extLst>
          </p:cNvPr>
          <p:cNvSpPr>
            <a:spLocks noGrp="1"/>
          </p:cNvSpPr>
          <p:nvPr>
            <p:ph type="body" sz="quarter" idx="14"/>
          </p:nvPr>
        </p:nvSpPr>
        <p:spPr/>
        <p:txBody>
          <a:bodyPr/>
          <a:lstStyle/>
          <a:p>
            <a:r>
              <a:rPr kumimoji="1" lang="ja-JP" altLang="en-US"/>
              <a:t>実験</a:t>
            </a:r>
          </a:p>
        </p:txBody>
      </p:sp>
      <p:sp>
        <p:nvSpPr>
          <p:cNvPr id="6" name="テキスト プレースホルダー 5">
            <a:extLst>
              <a:ext uri="{FF2B5EF4-FFF2-40B4-BE49-F238E27FC236}">
                <a16:creationId xmlns:a16="http://schemas.microsoft.com/office/drawing/2014/main" id="{18F5D246-4675-9D44-B96B-BEDD6F01EDA7}"/>
              </a:ext>
            </a:extLst>
          </p:cNvPr>
          <p:cNvSpPr>
            <a:spLocks noGrp="1"/>
          </p:cNvSpPr>
          <p:nvPr>
            <p:ph type="body" sz="quarter" idx="13"/>
          </p:nvPr>
        </p:nvSpPr>
        <p:spPr/>
        <p:txBody>
          <a:bodyPr/>
          <a:lstStyle/>
          <a:p>
            <a:r>
              <a:rPr lang="en-US" altLang="ja-JP" dirty="0"/>
              <a:t>2</a:t>
            </a:r>
            <a:endParaRPr kumimoji="1" lang="ja-JP" altLang="en-US"/>
          </a:p>
        </p:txBody>
      </p:sp>
      <p:grpSp>
        <p:nvGrpSpPr>
          <p:cNvPr id="31" name="グループ化 30">
            <a:extLst>
              <a:ext uri="{FF2B5EF4-FFF2-40B4-BE49-F238E27FC236}">
                <a16:creationId xmlns:a16="http://schemas.microsoft.com/office/drawing/2014/main" id="{FD81DDC5-24B5-F24B-8DCA-6543CEE8DC81}"/>
              </a:ext>
            </a:extLst>
          </p:cNvPr>
          <p:cNvGrpSpPr/>
          <p:nvPr/>
        </p:nvGrpSpPr>
        <p:grpSpPr>
          <a:xfrm>
            <a:off x="289330" y="1413298"/>
            <a:ext cx="2160000" cy="934436"/>
            <a:chOff x="144665" y="525617"/>
            <a:chExt cx="1080000" cy="467218"/>
          </a:xfrm>
        </p:grpSpPr>
        <p:sp>
          <p:nvSpPr>
            <p:cNvPr id="32" name="正方形/長方形 31">
              <a:extLst>
                <a:ext uri="{FF2B5EF4-FFF2-40B4-BE49-F238E27FC236}">
                  <a16:creationId xmlns:a16="http://schemas.microsoft.com/office/drawing/2014/main" id="{073638CC-28A2-E943-AD34-548A0C227633}"/>
                </a:ext>
              </a:extLst>
            </p:cNvPr>
            <p:cNvSpPr/>
            <p:nvPr userDrawn="1"/>
          </p:nvSpPr>
          <p:spPr>
            <a:xfrm>
              <a:off x="145524" y="542424"/>
              <a:ext cx="91081" cy="450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sp>
          <p:nvSpPr>
            <p:cNvPr id="33" name="正方形/長方形 32">
              <a:extLst>
                <a:ext uri="{FF2B5EF4-FFF2-40B4-BE49-F238E27FC236}">
                  <a16:creationId xmlns:a16="http://schemas.microsoft.com/office/drawing/2014/main" id="{89C51296-914D-A74C-889D-A570C54F6A57}"/>
                </a:ext>
              </a:extLst>
            </p:cNvPr>
            <p:cNvSpPr/>
            <p:nvPr userDrawn="1"/>
          </p:nvSpPr>
          <p:spPr>
            <a:xfrm>
              <a:off x="144665" y="525617"/>
              <a:ext cx="1080000" cy="161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grpSp>
      <p:grpSp>
        <p:nvGrpSpPr>
          <p:cNvPr id="34" name="グループ化 33">
            <a:extLst>
              <a:ext uri="{FF2B5EF4-FFF2-40B4-BE49-F238E27FC236}">
                <a16:creationId xmlns:a16="http://schemas.microsoft.com/office/drawing/2014/main" id="{FC0C993D-26F8-9648-8C42-6E3A827F97DE}"/>
              </a:ext>
            </a:extLst>
          </p:cNvPr>
          <p:cNvGrpSpPr/>
          <p:nvPr/>
        </p:nvGrpSpPr>
        <p:grpSpPr>
          <a:xfrm>
            <a:off x="617232" y="2557358"/>
            <a:ext cx="539448" cy="487368"/>
            <a:chOff x="400056" y="1061560"/>
            <a:chExt cx="269724" cy="243684"/>
          </a:xfrm>
        </p:grpSpPr>
        <p:sp>
          <p:nvSpPr>
            <p:cNvPr id="35" name="三角形 34">
              <a:extLst>
                <a:ext uri="{FF2B5EF4-FFF2-40B4-BE49-F238E27FC236}">
                  <a16:creationId xmlns:a16="http://schemas.microsoft.com/office/drawing/2014/main" id="{21EC1BB2-1EA3-DB45-83ED-42197AA1F0E3}"/>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36" name="三角形 35">
              <a:extLst>
                <a:ext uri="{FF2B5EF4-FFF2-40B4-BE49-F238E27FC236}">
                  <a16:creationId xmlns:a16="http://schemas.microsoft.com/office/drawing/2014/main" id="{92822503-D36D-7644-A490-99EB8A1079E7}"/>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37" name="テキスト プレースホルダー 30">
            <a:extLst>
              <a:ext uri="{FF2B5EF4-FFF2-40B4-BE49-F238E27FC236}">
                <a16:creationId xmlns:a16="http://schemas.microsoft.com/office/drawing/2014/main" id="{A73B3907-668E-1A41-B5F4-6D46EA930E91}"/>
              </a:ext>
            </a:extLst>
          </p:cNvPr>
          <p:cNvSpPr txBox="1">
            <a:spLocks/>
          </p:cNvSpPr>
          <p:nvPr/>
        </p:nvSpPr>
        <p:spPr>
          <a:xfrm>
            <a:off x="571049" y="1583871"/>
            <a:ext cx="17302163" cy="1403350"/>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60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目的</a:t>
            </a:r>
          </a:p>
        </p:txBody>
      </p:sp>
      <p:sp>
        <p:nvSpPr>
          <p:cNvPr id="38" name="テキスト プレースホルダー 27">
            <a:extLst>
              <a:ext uri="{FF2B5EF4-FFF2-40B4-BE49-F238E27FC236}">
                <a16:creationId xmlns:a16="http://schemas.microsoft.com/office/drawing/2014/main" id="{52FC6201-0015-374A-A9F7-4FCF0162EFE8}"/>
              </a:ext>
            </a:extLst>
          </p:cNvPr>
          <p:cNvSpPr txBox="1">
            <a:spLocks/>
          </p:cNvSpPr>
          <p:nvPr/>
        </p:nvSpPr>
        <p:spPr>
          <a:xfrm>
            <a:off x="1254486" y="2484733"/>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人間同士の交渉で生じる効果について調査</a:t>
            </a:r>
            <a:endParaRPr lang="en-US" altLang="ja-JP" dirty="0"/>
          </a:p>
        </p:txBody>
      </p:sp>
      <p:sp>
        <p:nvSpPr>
          <p:cNvPr id="57" name="三角形 56">
            <a:extLst>
              <a:ext uri="{FF2B5EF4-FFF2-40B4-BE49-F238E27FC236}">
                <a16:creationId xmlns:a16="http://schemas.microsoft.com/office/drawing/2014/main" id="{7F703886-4132-A74D-B009-F1827BE6F3C7}"/>
              </a:ext>
            </a:extLst>
          </p:cNvPr>
          <p:cNvSpPr/>
          <p:nvPr/>
        </p:nvSpPr>
        <p:spPr>
          <a:xfrm rot="5400000">
            <a:off x="1076238" y="3361776"/>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23" name="三角形 22">
            <a:extLst>
              <a:ext uri="{FF2B5EF4-FFF2-40B4-BE49-F238E27FC236}">
                <a16:creationId xmlns:a16="http://schemas.microsoft.com/office/drawing/2014/main" id="{71DA17BD-74F3-FE4A-96F4-94A9E3AA34CD}"/>
              </a:ext>
            </a:extLst>
          </p:cNvPr>
          <p:cNvSpPr/>
          <p:nvPr/>
        </p:nvSpPr>
        <p:spPr>
          <a:xfrm rot="5400000">
            <a:off x="1076238" y="4091341"/>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26" name="三角形 25">
            <a:extLst>
              <a:ext uri="{FF2B5EF4-FFF2-40B4-BE49-F238E27FC236}">
                <a16:creationId xmlns:a16="http://schemas.microsoft.com/office/drawing/2014/main" id="{09C71C8C-E299-4C44-AEC0-7E2553B12794}"/>
              </a:ext>
            </a:extLst>
          </p:cNvPr>
          <p:cNvSpPr/>
          <p:nvPr/>
        </p:nvSpPr>
        <p:spPr>
          <a:xfrm rot="5400000">
            <a:off x="1064310" y="4818997"/>
            <a:ext cx="480900" cy="320016"/>
          </a:xfrm>
          <a:prstGeom prst="triangl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nvGrpSpPr>
          <p:cNvPr id="28" name="グループ化 27">
            <a:extLst>
              <a:ext uri="{FF2B5EF4-FFF2-40B4-BE49-F238E27FC236}">
                <a16:creationId xmlns:a16="http://schemas.microsoft.com/office/drawing/2014/main" id="{0C2D99A1-A391-B34D-B51D-2646448B5EE0}"/>
              </a:ext>
            </a:extLst>
          </p:cNvPr>
          <p:cNvGrpSpPr/>
          <p:nvPr/>
        </p:nvGrpSpPr>
        <p:grpSpPr>
          <a:xfrm>
            <a:off x="617232" y="5532687"/>
            <a:ext cx="539448" cy="487368"/>
            <a:chOff x="400056" y="1061560"/>
            <a:chExt cx="269724" cy="243684"/>
          </a:xfrm>
        </p:grpSpPr>
        <p:sp>
          <p:nvSpPr>
            <p:cNvPr id="29" name="三角形 28">
              <a:extLst>
                <a:ext uri="{FF2B5EF4-FFF2-40B4-BE49-F238E27FC236}">
                  <a16:creationId xmlns:a16="http://schemas.microsoft.com/office/drawing/2014/main" id="{71EBF793-5064-E34A-9387-1426F995A3B3}"/>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30" name="三角形 29">
              <a:extLst>
                <a:ext uri="{FF2B5EF4-FFF2-40B4-BE49-F238E27FC236}">
                  <a16:creationId xmlns:a16="http://schemas.microsoft.com/office/drawing/2014/main" id="{5D106750-2C77-6545-AB79-4AEB07AD03A4}"/>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39" name="テキスト プレースホルダー 27">
            <a:extLst>
              <a:ext uri="{FF2B5EF4-FFF2-40B4-BE49-F238E27FC236}">
                <a16:creationId xmlns:a16="http://schemas.microsoft.com/office/drawing/2014/main" id="{E90FC0FA-6B43-C040-A5F9-B0941E894243}"/>
              </a:ext>
            </a:extLst>
          </p:cNvPr>
          <p:cNvSpPr txBox="1">
            <a:spLocks/>
          </p:cNvSpPr>
          <p:nvPr/>
        </p:nvSpPr>
        <p:spPr>
          <a:xfrm>
            <a:off x="1254486" y="5460062"/>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IAGO</a:t>
            </a:r>
            <a:r>
              <a:rPr lang="ja-JP" altLang="en-US"/>
              <a:t>がプラットフォームとして機能することを実証</a:t>
            </a:r>
            <a:endParaRPr lang="en-US" altLang="ja-JP" dirty="0"/>
          </a:p>
        </p:txBody>
      </p:sp>
      <p:grpSp>
        <p:nvGrpSpPr>
          <p:cNvPr id="7" name="グループ化 6">
            <a:extLst>
              <a:ext uri="{FF2B5EF4-FFF2-40B4-BE49-F238E27FC236}">
                <a16:creationId xmlns:a16="http://schemas.microsoft.com/office/drawing/2014/main" id="{75E8F2AC-299C-CF4F-9C16-907113D2A111}"/>
              </a:ext>
            </a:extLst>
          </p:cNvPr>
          <p:cNvGrpSpPr/>
          <p:nvPr/>
        </p:nvGrpSpPr>
        <p:grpSpPr>
          <a:xfrm>
            <a:off x="3216825" y="6523494"/>
            <a:ext cx="13771859" cy="6780234"/>
            <a:chOff x="3216825" y="6523494"/>
            <a:chExt cx="13771859" cy="6780234"/>
          </a:xfrm>
        </p:grpSpPr>
        <p:grpSp>
          <p:nvGrpSpPr>
            <p:cNvPr id="42" name="グループ化 41">
              <a:extLst>
                <a:ext uri="{FF2B5EF4-FFF2-40B4-BE49-F238E27FC236}">
                  <a16:creationId xmlns:a16="http://schemas.microsoft.com/office/drawing/2014/main" id="{7A5AD580-7131-D041-B8E4-17B27DF3D69B}"/>
                </a:ext>
              </a:extLst>
            </p:cNvPr>
            <p:cNvGrpSpPr/>
            <p:nvPr/>
          </p:nvGrpSpPr>
          <p:grpSpPr>
            <a:xfrm>
              <a:off x="3216825" y="10402558"/>
              <a:ext cx="11854350" cy="2901170"/>
              <a:chOff x="2226339" y="9389213"/>
              <a:chExt cx="11854350" cy="2901170"/>
            </a:xfrm>
          </p:grpSpPr>
          <p:sp>
            <p:nvSpPr>
              <p:cNvPr id="60" name="テキスト ボックス 59">
                <a:extLst>
                  <a:ext uri="{FF2B5EF4-FFF2-40B4-BE49-F238E27FC236}">
                    <a16:creationId xmlns:a16="http://schemas.microsoft.com/office/drawing/2014/main" id="{678385E7-AEA7-1545-BC28-12A84E30494D}"/>
                  </a:ext>
                </a:extLst>
              </p:cNvPr>
              <p:cNvSpPr txBox="1"/>
              <p:nvPr/>
            </p:nvSpPr>
            <p:spPr>
              <a:xfrm>
                <a:off x="5900499" y="11644052"/>
                <a:ext cx="4506031" cy="646331"/>
              </a:xfrm>
              <a:prstGeom prst="rect">
                <a:avLst/>
              </a:prstGeom>
              <a:noFill/>
            </p:spPr>
            <p:txBody>
              <a:bodyPr wrap="square" rtlCol="0">
                <a:spAutoFit/>
              </a:bodyPr>
              <a:lstStyle/>
              <a:p>
                <a:pPr algn="ctr"/>
                <a:r>
                  <a:rPr lang="ja-JP" altLang="en-US"/>
                  <a:t>交渉内容</a:t>
                </a:r>
                <a:endParaRPr kumimoji="1" lang="ja-JP" altLang="en-US"/>
              </a:p>
            </p:txBody>
          </p:sp>
          <p:grpSp>
            <p:nvGrpSpPr>
              <p:cNvPr id="61" name="グループ化 60">
                <a:extLst>
                  <a:ext uri="{FF2B5EF4-FFF2-40B4-BE49-F238E27FC236}">
                    <a16:creationId xmlns:a16="http://schemas.microsoft.com/office/drawing/2014/main" id="{B1257BC7-A9A4-0145-B7E3-80AA4250BF53}"/>
                  </a:ext>
                </a:extLst>
              </p:cNvPr>
              <p:cNvGrpSpPr/>
              <p:nvPr/>
            </p:nvGrpSpPr>
            <p:grpSpPr>
              <a:xfrm>
                <a:off x="2226339" y="9389213"/>
                <a:ext cx="11854350" cy="2010101"/>
                <a:chOff x="3821592" y="9287685"/>
                <a:chExt cx="11854350" cy="2010101"/>
              </a:xfrm>
            </p:grpSpPr>
            <p:pic>
              <p:nvPicPr>
                <p:cNvPr id="62" name="グラフィックス 61" descr="Pasta">
                  <a:extLst>
                    <a:ext uri="{FF2B5EF4-FFF2-40B4-BE49-F238E27FC236}">
                      <a16:creationId xmlns:a16="http://schemas.microsoft.com/office/drawing/2014/main" id="{ED4D337F-9799-B745-B30C-8159E7F46B7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18892" y="9287685"/>
                  <a:ext cx="1956819" cy="1956819"/>
                </a:xfrm>
                <a:prstGeom prst="rect">
                  <a:avLst/>
                </a:prstGeom>
              </p:spPr>
            </p:pic>
            <p:pic>
              <p:nvPicPr>
                <p:cNvPr id="63" name="グラフィックス 62" descr="Pizza">
                  <a:extLst>
                    <a:ext uri="{FF2B5EF4-FFF2-40B4-BE49-F238E27FC236}">
                      <a16:creationId xmlns:a16="http://schemas.microsoft.com/office/drawing/2014/main" id="{CA5DE0F4-4516-D64E-AD45-516F7361A4A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120242" y="9340967"/>
                  <a:ext cx="1956819" cy="1956819"/>
                </a:xfrm>
                <a:prstGeom prst="rect">
                  <a:avLst/>
                </a:prstGeom>
              </p:spPr>
            </p:pic>
            <p:pic>
              <p:nvPicPr>
                <p:cNvPr id="64" name="グラフィックス 63" descr="CakeSlice">
                  <a:extLst>
                    <a:ext uri="{FF2B5EF4-FFF2-40B4-BE49-F238E27FC236}">
                      <a16:creationId xmlns:a16="http://schemas.microsoft.com/office/drawing/2014/main" id="{25798C40-7A38-9840-8342-7F71004DCAF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821592" y="9334846"/>
                  <a:ext cx="1956819" cy="1956819"/>
                </a:xfrm>
                <a:prstGeom prst="rect">
                  <a:avLst/>
                </a:prstGeom>
              </p:spPr>
            </p:pic>
            <p:pic>
              <p:nvPicPr>
                <p:cNvPr id="65" name="グラフィックス 64" descr="Donut">
                  <a:extLst>
                    <a:ext uri="{FF2B5EF4-FFF2-40B4-BE49-F238E27FC236}">
                      <a16:creationId xmlns:a16="http://schemas.microsoft.com/office/drawing/2014/main" id="{BE88A548-551D-8F42-AD5D-3876BBCA010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3717542" y="9333265"/>
                  <a:ext cx="1958400" cy="1958400"/>
                </a:xfrm>
                <a:prstGeom prst="rect">
                  <a:avLst/>
                </a:prstGeom>
              </p:spPr>
            </p:pic>
          </p:grpSp>
        </p:grpSp>
        <p:grpSp>
          <p:nvGrpSpPr>
            <p:cNvPr id="44" name="グループ化 43">
              <a:extLst>
                <a:ext uri="{FF2B5EF4-FFF2-40B4-BE49-F238E27FC236}">
                  <a16:creationId xmlns:a16="http://schemas.microsoft.com/office/drawing/2014/main" id="{3D6F7A07-BF75-FB42-BC3D-34DE82EA2479}"/>
                </a:ext>
              </a:extLst>
            </p:cNvPr>
            <p:cNvGrpSpPr/>
            <p:nvPr/>
          </p:nvGrpSpPr>
          <p:grpSpPr>
            <a:xfrm>
              <a:off x="4892225" y="6523494"/>
              <a:ext cx="12096459" cy="3088332"/>
              <a:chOff x="4866258" y="4438026"/>
              <a:chExt cx="12096459" cy="3088332"/>
            </a:xfrm>
          </p:grpSpPr>
          <p:grpSp>
            <p:nvGrpSpPr>
              <p:cNvPr id="52" name="グループ化 51">
                <a:extLst>
                  <a:ext uri="{FF2B5EF4-FFF2-40B4-BE49-F238E27FC236}">
                    <a16:creationId xmlns:a16="http://schemas.microsoft.com/office/drawing/2014/main" id="{E062E578-FD9F-AF46-B678-354A1AC7E6AA}"/>
                  </a:ext>
                </a:extLst>
              </p:cNvPr>
              <p:cNvGrpSpPr/>
              <p:nvPr/>
            </p:nvGrpSpPr>
            <p:grpSpPr>
              <a:xfrm>
                <a:off x="4866258" y="5349476"/>
                <a:ext cx="1735754" cy="2176882"/>
                <a:chOff x="4299330" y="5349476"/>
                <a:chExt cx="1735754" cy="2176882"/>
              </a:xfrm>
            </p:grpSpPr>
            <p:sp>
              <p:nvSpPr>
                <p:cNvPr id="54" name="スマイル 53">
                  <a:extLst>
                    <a:ext uri="{FF2B5EF4-FFF2-40B4-BE49-F238E27FC236}">
                      <a16:creationId xmlns:a16="http://schemas.microsoft.com/office/drawing/2014/main" id="{390955EF-B855-224E-A4A6-592F43EE4A6A}"/>
                    </a:ext>
                  </a:extLst>
                </p:cNvPr>
                <p:cNvSpPr/>
                <p:nvPr/>
              </p:nvSpPr>
              <p:spPr>
                <a:xfrm>
                  <a:off x="4338815" y="6018922"/>
                  <a:ext cx="1656784" cy="1507436"/>
                </a:xfrm>
                <a:prstGeom prst="smileyFac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テキスト ボックス 54">
                  <a:extLst>
                    <a:ext uri="{FF2B5EF4-FFF2-40B4-BE49-F238E27FC236}">
                      <a16:creationId xmlns:a16="http://schemas.microsoft.com/office/drawing/2014/main" id="{9AD2A773-514F-794B-A583-6FF3F02618CD}"/>
                    </a:ext>
                  </a:extLst>
                </p:cNvPr>
                <p:cNvSpPr txBox="1"/>
                <p:nvPr/>
              </p:nvSpPr>
              <p:spPr>
                <a:xfrm>
                  <a:off x="4299330" y="5349476"/>
                  <a:ext cx="1735754" cy="646331"/>
                </a:xfrm>
                <a:prstGeom prst="rect">
                  <a:avLst/>
                </a:prstGeom>
                <a:noFill/>
              </p:spPr>
              <p:txBody>
                <a:bodyPr wrap="square" rtlCol="0">
                  <a:spAutoFit/>
                </a:bodyPr>
                <a:lstStyle/>
                <a:p>
                  <a:pPr algn="ctr"/>
                  <a:r>
                    <a:rPr kumimoji="1" lang="en-US" altLang="ja-JP" dirty="0"/>
                    <a:t>agent</a:t>
                  </a:r>
                  <a:endParaRPr kumimoji="1" lang="ja-JP" altLang="en-US"/>
                </a:p>
              </p:txBody>
            </p:sp>
          </p:grpSp>
          <p:grpSp>
            <p:nvGrpSpPr>
              <p:cNvPr id="47" name="グループ化 46">
                <a:extLst>
                  <a:ext uri="{FF2B5EF4-FFF2-40B4-BE49-F238E27FC236}">
                    <a16:creationId xmlns:a16="http://schemas.microsoft.com/office/drawing/2014/main" id="{0E5FEC29-0237-9A46-B867-0622D7FF7A2C}"/>
                  </a:ext>
                </a:extLst>
              </p:cNvPr>
              <p:cNvGrpSpPr/>
              <p:nvPr/>
            </p:nvGrpSpPr>
            <p:grpSpPr>
              <a:xfrm>
                <a:off x="11522664" y="4438026"/>
                <a:ext cx="5440053" cy="3039193"/>
                <a:chOff x="12053016" y="4438026"/>
                <a:chExt cx="5440053" cy="3039193"/>
              </a:xfrm>
            </p:grpSpPr>
            <p:grpSp>
              <p:nvGrpSpPr>
                <p:cNvPr id="48" name="グループ化 47">
                  <a:extLst>
                    <a:ext uri="{FF2B5EF4-FFF2-40B4-BE49-F238E27FC236}">
                      <a16:creationId xmlns:a16="http://schemas.microsoft.com/office/drawing/2014/main" id="{35B623F4-6B74-1747-810F-D94794252AC4}"/>
                    </a:ext>
                  </a:extLst>
                </p:cNvPr>
                <p:cNvGrpSpPr/>
                <p:nvPr/>
              </p:nvGrpSpPr>
              <p:grpSpPr>
                <a:xfrm>
                  <a:off x="12053016" y="5234219"/>
                  <a:ext cx="1735754" cy="2243000"/>
                  <a:chOff x="12053016" y="5234219"/>
                  <a:chExt cx="1735754" cy="2243000"/>
                </a:xfrm>
              </p:grpSpPr>
              <p:sp>
                <p:nvSpPr>
                  <p:cNvPr id="50" name="スマイル 49">
                    <a:extLst>
                      <a:ext uri="{FF2B5EF4-FFF2-40B4-BE49-F238E27FC236}">
                        <a16:creationId xmlns:a16="http://schemas.microsoft.com/office/drawing/2014/main" id="{1F5AC04A-388A-5F41-8CE3-B324C99FD797}"/>
                      </a:ext>
                    </a:extLst>
                  </p:cNvPr>
                  <p:cNvSpPr/>
                  <p:nvPr/>
                </p:nvSpPr>
                <p:spPr>
                  <a:xfrm>
                    <a:off x="12131986" y="5969783"/>
                    <a:ext cx="1656784" cy="1507436"/>
                  </a:xfrm>
                  <a:prstGeom prst="smileyFace">
                    <a:avLst>
                      <a:gd name="adj" fmla="val -4653"/>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テキスト ボックス 50">
                    <a:extLst>
                      <a:ext uri="{FF2B5EF4-FFF2-40B4-BE49-F238E27FC236}">
                        <a16:creationId xmlns:a16="http://schemas.microsoft.com/office/drawing/2014/main" id="{6C65396B-AB70-F54E-9CF2-7A18EB4021F3}"/>
                      </a:ext>
                    </a:extLst>
                  </p:cNvPr>
                  <p:cNvSpPr txBox="1"/>
                  <p:nvPr/>
                </p:nvSpPr>
                <p:spPr>
                  <a:xfrm>
                    <a:off x="12053016" y="5234219"/>
                    <a:ext cx="1735754" cy="646331"/>
                  </a:xfrm>
                  <a:prstGeom prst="rect">
                    <a:avLst/>
                  </a:prstGeom>
                  <a:noFill/>
                </p:spPr>
                <p:txBody>
                  <a:bodyPr wrap="square" rtlCol="0">
                    <a:spAutoFit/>
                  </a:bodyPr>
                  <a:lstStyle/>
                  <a:p>
                    <a:pPr algn="ctr"/>
                    <a:r>
                      <a:rPr lang="en-US" altLang="ja-JP" dirty="0"/>
                      <a:t>human</a:t>
                    </a:r>
                    <a:endParaRPr kumimoji="1" lang="ja-JP" altLang="en-US"/>
                  </a:p>
                </p:txBody>
              </p:sp>
            </p:grpSp>
            <p:sp>
              <p:nvSpPr>
                <p:cNvPr id="49" name="角丸四角形吹き出し 48">
                  <a:extLst>
                    <a:ext uri="{FF2B5EF4-FFF2-40B4-BE49-F238E27FC236}">
                      <a16:creationId xmlns:a16="http://schemas.microsoft.com/office/drawing/2014/main" id="{9EF9F06C-09B8-D240-BD2D-645F66DF5127}"/>
                    </a:ext>
                  </a:extLst>
                </p:cNvPr>
                <p:cNvSpPr/>
                <p:nvPr/>
              </p:nvSpPr>
              <p:spPr>
                <a:xfrm>
                  <a:off x="13853336" y="4438026"/>
                  <a:ext cx="3639733" cy="1442523"/>
                </a:xfrm>
                <a:prstGeom prst="wedgeRoundRectCallout">
                  <a:avLst>
                    <a:gd name="adj1" fmla="val -42507"/>
                    <a:gd name="adj2" fmla="val 80970"/>
                    <a:gd name="adj3" fmla="val 16667"/>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ja-JP" altLang="en-US"/>
                    <a:t>パスタが</a:t>
                  </a:r>
                  <a:endParaRPr kumimoji="1" lang="en-US" altLang="ja-JP" dirty="0"/>
                </a:p>
                <a:p>
                  <a:pPr algn="ctr"/>
                  <a:r>
                    <a:rPr lang="ja-JP" altLang="en-US"/>
                    <a:t>一番</a:t>
                  </a:r>
                  <a:r>
                    <a:rPr kumimoji="1" lang="ja-JP" altLang="en-US"/>
                    <a:t>好き</a:t>
                  </a:r>
                </a:p>
              </p:txBody>
            </p:sp>
          </p:grpSp>
        </p:grpSp>
      </p:grpSp>
      <p:sp>
        <p:nvSpPr>
          <p:cNvPr id="56" name="右矢印 55">
            <a:extLst>
              <a:ext uri="{FF2B5EF4-FFF2-40B4-BE49-F238E27FC236}">
                <a16:creationId xmlns:a16="http://schemas.microsoft.com/office/drawing/2014/main" id="{5B59D436-C3FA-314C-92D7-79A3104BB9FE}"/>
              </a:ext>
            </a:extLst>
          </p:cNvPr>
          <p:cNvSpPr/>
          <p:nvPr/>
        </p:nvSpPr>
        <p:spPr>
          <a:xfrm rot="1345402" flipH="1">
            <a:off x="6960044" y="9952401"/>
            <a:ext cx="3117277" cy="371476"/>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テキスト プレースホルダー 29">
            <a:extLst>
              <a:ext uri="{FF2B5EF4-FFF2-40B4-BE49-F238E27FC236}">
                <a16:creationId xmlns:a16="http://schemas.microsoft.com/office/drawing/2014/main" id="{C8DBA6EC-5B8A-4F4B-BC10-59AFC66B2525}"/>
              </a:ext>
            </a:extLst>
          </p:cNvPr>
          <p:cNvSpPr txBox="1">
            <a:spLocks/>
          </p:cNvSpPr>
          <p:nvPr/>
        </p:nvSpPr>
        <p:spPr>
          <a:xfrm>
            <a:off x="1457090" y="3246502"/>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Q1</a:t>
            </a:r>
            <a:r>
              <a:rPr lang="ja-JP" altLang="en-US"/>
              <a:t>：選好を明らかにするための戦略は人間の行動に影響を及ぼすか？</a:t>
            </a:r>
          </a:p>
        </p:txBody>
      </p:sp>
      <p:sp>
        <p:nvSpPr>
          <p:cNvPr id="67" name="テキスト プレースホルダー 29">
            <a:extLst>
              <a:ext uri="{FF2B5EF4-FFF2-40B4-BE49-F238E27FC236}">
                <a16:creationId xmlns:a16="http://schemas.microsoft.com/office/drawing/2014/main" id="{1AF1BB3A-1AF3-B548-A357-1C1A6DC698D7}"/>
              </a:ext>
            </a:extLst>
          </p:cNvPr>
          <p:cNvSpPr txBox="1">
            <a:spLocks/>
          </p:cNvSpPr>
          <p:nvPr/>
        </p:nvSpPr>
        <p:spPr>
          <a:xfrm>
            <a:off x="1457090" y="3976067"/>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Q2</a:t>
            </a:r>
            <a:r>
              <a:rPr lang="ja-JP" altLang="en-US"/>
              <a:t>：選好を明らかにするための戦略は統合的交渉に影響を与えるか？</a:t>
            </a:r>
          </a:p>
        </p:txBody>
      </p:sp>
      <p:sp>
        <p:nvSpPr>
          <p:cNvPr id="69" name="テキスト プレースホルダー 29">
            <a:extLst>
              <a:ext uri="{FF2B5EF4-FFF2-40B4-BE49-F238E27FC236}">
                <a16:creationId xmlns:a16="http://schemas.microsoft.com/office/drawing/2014/main" id="{BD769421-0C15-0540-A6B5-E3D9BE400D52}"/>
              </a:ext>
            </a:extLst>
          </p:cNvPr>
          <p:cNvSpPr txBox="1">
            <a:spLocks/>
          </p:cNvSpPr>
          <p:nvPr/>
        </p:nvSpPr>
        <p:spPr>
          <a:xfrm>
            <a:off x="1445162" y="4703723"/>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Q3</a:t>
            </a:r>
            <a:r>
              <a:rPr lang="ja-JP" altLang="en-US"/>
              <a:t>：積極的な行動は相手を譲歩させるのか？</a:t>
            </a:r>
          </a:p>
        </p:txBody>
      </p:sp>
      <p:sp>
        <p:nvSpPr>
          <p:cNvPr id="70" name="角丸四角形吹き出し 69">
            <a:extLst>
              <a:ext uri="{FF2B5EF4-FFF2-40B4-BE49-F238E27FC236}">
                <a16:creationId xmlns:a16="http://schemas.microsoft.com/office/drawing/2014/main" id="{134A6445-69DA-7F4B-ABCD-57D80A1108B5}"/>
              </a:ext>
            </a:extLst>
          </p:cNvPr>
          <p:cNvSpPr/>
          <p:nvPr/>
        </p:nvSpPr>
        <p:spPr>
          <a:xfrm>
            <a:off x="1010561" y="6523495"/>
            <a:ext cx="3639733" cy="1442523"/>
          </a:xfrm>
          <a:prstGeom prst="wedgeRoundRectCallout">
            <a:avLst>
              <a:gd name="adj1" fmla="val 44418"/>
              <a:gd name="adj2" fmla="val 78434"/>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a:t>どうしても</a:t>
            </a:r>
            <a:endParaRPr lang="en-US" altLang="ja-JP" dirty="0"/>
          </a:p>
          <a:p>
            <a:pPr algn="ctr"/>
            <a:r>
              <a:rPr lang="ja-JP" altLang="en-US"/>
              <a:t>パスタが欲しい</a:t>
            </a:r>
          </a:p>
        </p:txBody>
      </p:sp>
      <p:sp>
        <p:nvSpPr>
          <p:cNvPr id="71" name="テキスト ボックス 70">
            <a:extLst>
              <a:ext uri="{FF2B5EF4-FFF2-40B4-BE49-F238E27FC236}">
                <a16:creationId xmlns:a16="http://schemas.microsoft.com/office/drawing/2014/main" id="{48F7608B-F96A-FB4B-A921-AAA2CA945F2A}"/>
              </a:ext>
            </a:extLst>
          </p:cNvPr>
          <p:cNvSpPr txBox="1"/>
          <p:nvPr/>
        </p:nvSpPr>
        <p:spPr>
          <a:xfrm>
            <a:off x="4682520" y="6921590"/>
            <a:ext cx="2155164" cy="646331"/>
          </a:xfrm>
          <a:prstGeom prst="rect">
            <a:avLst/>
          </a:prstGeom>
          <a:noFill/>
        </p:spPr>
        <p:txBody>
          <a:bodyPr wrap="square" rtlCol="0">
            <a:spAutoFit/>
          </a:bodyPr>
          <a:lstStyle/>
          <a:p>
            <a:pPr algn="ctr"/>
            <a:r>
              <a:rPr kumimoji="1" lang="en-US" altLang="ja-JP" dirty="0"/>
              <a:t>Nasty</a:t>
            </a:r>
            <a:endParaRPr kumimoji="1" lang="ja-JP" altLang="en-US"/>
          </a:p>
        </p:txBody>
      </p:sp>
    </p:spTree>
    <p:extLst>
      <p:ext uri="{BB962C8B-B14F-4D97-AF65-F5344CB8AC3E}">
        <p14:creationId xmlns:p14="http://schemas.microsoft.com/office/powerpoint/2010/main" val="39212232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3520CDD-7107-D140-A1A0-69D0D69B10F3}"/>
              </a:ext>
            </a:extLst>
          </p:cNvPr>
          <p:cNvSpPr>
            <a:spLocks noGrp="1"/>
          </p:cNvSpPr>
          <p:nvPr>
            <p:ph type="dt" sz="half" idx="10"/>
          </p:nvPr>
        </p:nvSpPr>
        <p:spPr/>
        <p:txBody>
          <a:bodyPr/>
          <a:lstStyle/>
          <a:p>
            <a:fld id="{35974365-84F6-754A-A339-DA79FFD42E98}" type="datetime1">
              <a:rPr lang="ja-JP" altLang="en-US" smtClean="0"/>
              <a:t>2018/6/9</a:t>
            </a:fld>
            <a:endParaRPr lang="ja-JP" altLang="en-US"/>
          </a:p>
        </p:txBody>
      </p:sp>
      <p:sp>
        <p:nvSpPr>
          <p:cNvPr id="3" name="フッター プレースホルダー 2">
            <a:extLst>
              <a:ext uri="{FF2B5EF4-FFF2-40B4-BE49-F238E27FC236}">
                <a16:creationId xmlns:a16="http://schemas.microsoft.com/office/drawing/2014/main" id="{6EEFBA0C-3454-8D4D-87CE-5BA9ED8AFBE5}"/>
              </a:ext>
            </a:extLst>
          </p:cNvPr>
          <p:cNvSpPr>
            <a:spLocks noGrp="1"/>
          </p:cNvSpPr>
          <p:nvPr>
            <p:ph type="ftr" sz="quarter" idx="11"/>
          </p:nvPr>
        </p:nvSpPr>
        <p:spPr/>
        <p:txBody>
          <a:bodyPr/>
          <a:lstStyle/>
          <a:p>
            <a:r>
              <a:rPr lang="ja-JP" altLang="en-US"/>
              <a:t>進捗報告</a:t>
            </a:r>
            <a:r>
              <a:rPr lang="en-US" altLang="ja-JP"/>
              <a:t>(2018.06.06)</a:t>
            </a:r>
            <a:endParaRPr lang="ja-JP" altLang="en-US"/>
          </a:p>
        </p:txBody>
      </p:sp>
      <p:sp>
        <p:nvSpPr>
          <p:cNvPr id="4" name="スライド番号プレースホルダー 3">
            <a:extLst>
              <a:ext uri="{FF2B5EF4-FFF2-40B4-BE49-F238E27FC236}">
                <a16:creationId xmlns:a16="http://schemas.microsoft.com/office/drawing/2014/main" id="{5D405AD0-9091-A94B-BA67-32995AD15B35}"/>
              </a:ext>
            </a:extLst>
          </p:cNvPr>
          <p:cNvSpPr>
            <a:spLocks noGrp="1"/>
          </p:cNvSpPr>
          <p:nvPr>
            <p:ph type="sldNum" sz="quarter" idx="12"/>
          </p:nvPr>
        </p:nvSpPr>
        <p:spPr/>
        <p:txBody>
          <a:bodyPr/>
          <a:lstStyle/>
          <a:p>
            <a:fld id="{89242BC1-393D-1248-985B-18DA624F2964}" type="slidenum">
              <a:rPr lang="ja-JP" altLang="en-US" smtClean="0"/>
              <a:pPr/>
              <a:t>17</a:t>
            </a:fld>
            <a:endParaRPr lang="ja-JP" altLang="en-US"/>
          </a:p>
        </p:txBody>
      </p:sp>
      <p:sp>
        <p:nvSpPr>
          <p:cNvPr id="5" name="テキスト プレースホルダー 4">
            <a:extLst>
              <a:ext uri="{FF2B5EF4-FFF2-40B4-BE49-F238E27FC236}">
                <a16:creationId xmlns:a16="http://schemas.microsoft.com/office/drawing/2014/main" id="{26DD2A8D-F804-D546-B77D-9693A67C3E0B}"/>
              </a:ext>
            </a:extLst>
          </p:cNvPr>
          <p:cNvSpPr>
            <a:spLocks noGrp="1"/>
          </p:cNvSpPr>
          <p:nvPr>
            <p:ph type="body" sz="quarter" idx="14"/>
          </p:nvPr>
        </p:nvSpPr>
        <p:spPr/>
        <p:txBody>
          <a:bodyPr/>
          <a:lstStyle/>
          <a:p>
            <a:r>
              <a:rPr kumimoji="1" lang="ja-JP" altLang="en-US"/>
              <a:t>実験</a:t>
            </a:r>
          </a:p>
        </p:txBody>
      </p:sp>
      <p:sp>
        <p:nvSpPr>
          <p:cNvPr id="6" name="テキスト プレースホルダー 5">
            <a:extLst>
              <a:ext uri="{FF2B5EF4-FFF2-40B4-BE49-F238E27FC236}">
                <a16:creationId xmlns:a16="http://schemas.microsoft.com/office/drawing/2014/main" id="{18F5D246-4675-9D44-B96B-BEDD6F01EDA7}"/>
              </a:ext>
            </a:extLst>
          </p:cNvPr>
          <p:cNvSpPr>
            <a:spLocks noGrp="1"/>
          </p:cNvSpPr>
          <p:nvPr>
            <p:ph type="body" sz="quarter" idx="13"/>
          </p:nvPr>
        </p:nvSpPr>
        <p:spPr/>
        <p:txBody>
          <a:bodyPr/>
          <a:lstStyle/>
          <a:p>
            <a:r>
              <a:rPr lang="en-US" altLang="ja-JP" dirty="0"/>
              <a:t>2</a:t>
            </a:r>
            <a:endParaRPr kumimoji="1" lang="ja-JP" altLang="en-US"/>
          </a:p>
        </p:txBody>
      </p:sp>
      <p:grpSp>
        <p:nvGrpSpPr>
          <p:cNvPr id="31" name="グループ化 30">
            <a:extLst>
              <a:ext uri="{FF2B5EF4-FFF2-40B4-BE49-F238E27FC236}">
                <a16:creationId xmlns:a16="http://schemas.microsoft.com/office/drawing/2014/main" id="{FD81DDC5-24B5-F24B-8DCA-6543CEE8DC81}"/>
              </a:ext>
            </a:extLst>
          </p:cNvPr>
          <p:cNvGrpSpPr/>
          <p:nvPr/>
        </p:nvGrpSpPr>
        <p:grpSpPr>
          <a:xfrm>
            <a:off x="289330" y="1413298"/>
            <a:ext cx="2160000" cy="934436"/>
            <a:chOff x="144665" y="525617"/>
            <a:chExt cx="1080000" cy="467218"/>
          </a:xfrm>
        </p:grpSpPr>
        <p:sp>
          <p:nvSpPr>
            <p:cNvPr id="32" name="正方形/長方形 31">
              <a:extLst>
                <a:ext uri="{FF2B5EF4-FFF2-40B4-BE49-F238E27FC236}">
                  <a16:creationId xmlns:a16="http://schemas.microsoft.com/office/drawing/2014/main" id="{073638CC-28A2-E943-AD34-548A0C227633}"/>
                </a:ext>
              </a:extLst>
            </p:cNvPr>
            <p:cNvSpPr/>
            <p:nvPr userDrawn="1"/>
          </p:nvSpPr>
          <p:spPr>
            <a:xfrm>
              <a:off x="145524" y="542424"/>
              <a:ext cx="91081" cy="450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sp>
          <p:nvSpPr>
            <p:cNvPr id="33" name="正方形/長方形 32">
              <a:extLst>
                <a:ext uri="{FF2B5EF4-FFF2-40B4-BE49-F238E27FC236}">
                  <a16:creationId xmlns:a16="http://schemas.microsoft.com/office/drawing/2014/main" id="{89C51296-914D-A74C-889D-A570C54F6A57}"/>
                </a:ext>
              </a:extLst>
            </p:cNvPr>
            <p:cNvSpPr/>
            <p:nvPr userDrawn="1"/>
          </p:nvSpPr>
          <p:spPr>
            <a:xfrm>
              <a:off x="144665" y="525617"/>
              <a:ext cx="1080000" cy="161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grpSp>
      <p:grpSp>
        <p:nvGrpSpPr>
          <p:cNvPr id="34" name="グループ化 33">
            <a:extLst>
              <a:ext uri="{FF2B5EF4-FFF2-40B4-BE49-F238E27FC236}">
                <a16:creationId xmlns:a16="http://schemas.microsoft.com/office/drawing/2014/main" id="{FC0C993D-26F8-9648-8C42-6E3A827F97DE}"/>
              </a:ext>
            </a:extLst>
          </p:cNvPr>
          <p:cNvGrpSpPr/>
          <p:nvPr/>
        </p:nvGrpSpPr>
        <p:grpSpPr>
          <a:xfrm>
            <a:off x="617232" y="2557358"/>
            <a:ext cx="539448" cy="487368"/>
            <a:chOff x="400056" y="1061560"/>
            <a:chExt cx="269724" cy="243684"/>
          </a:xfrm>
        </p:grpSpPr>
        <p:sp>
          <p:nvSpPr>
            <p:cNvPr id="35" name="三角形 34">
              <a:extLst>
                <a:ext uri="{FF2B5EF4-FFF2-40B4-BE49-F238E27FC236}">
                  <a16:creationId xmlns:a16="http://schemas.microsoft.com/office/drawing/2014/main" id="{21EC1BB2-1EA3-DB45-83ED-42197AA1F0E3}"/>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36" name="三角形 35">
              <a:extLst>
                <a:ext uri="{FF2B5EF4-FFF2-40B4-BE49-F238E27FC236}">
                  <a16:creationId xmlns:a16="http://schemas.microsoft.com/office/drawing/2014/main" id="{92822503-D36D-7644-A490-99EB8A1079E7}"/>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37" name="テキスト プレースホルダー 30">
            <a:extLst>
              <a:ext uri="{FF2B5EF4-FFF2-40B4-BE49-F238E27FC236}">
                <a16:creationId xmlns:a16="http://schemas.microsoft.com/office/drawing/2014/main" id="{A73B3907-668E-1A41-B5F4-6D46EA930E91}"/>
              </a:ext>
            </a:extLst>
          </p:cNvPr>
          <p:cNvSpPr txBox="1">
            <a:spLocks/>
          </p:cNvSpPr>
          <p:nvPr/>
        </p:nvSpPr>
        <p:spPr>
          <a:xfrm>
            <a:off x="571049" y="1583871"/>
            <a:ext cx="17302163" cy="1403350"/>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60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実験方法</a:t>
            </a:r>
          </a:p>
        </p:txBody>
      </p:sp>
      <p:sp>
        <p:nvSpPr>
          <p:cNvPr id="38" name="テキスト プレースホルダー 27">
            <a:extLst>
              <a:ext uri="{FF2B5EF4-FFF2-40B4-BE49-F238E27FC236}">
                <a16:creationId xmlns:a16="http://schemas.microsoft.com/office/drawing/2014/main" id="{52FC6201-0015-374A-A9F7-4FCF0162EFE8}"/>
              </a:ext>
            </a:extLst>
          </p:cNvPr>
          <p:cNvSpPr txBox="1">
            <a:spLocks/>
          </p:cNvSpPr>
          <p:nvPr/>
        </p:nvSpPr>
        <p:spPr>
          <a:xfrm>
            <a:off x="1254486" y="2484733"/>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実験に関するチュートリアルを読む</a:t>
            </a:r>
            <a:endParaRPr lang="en-US" altLang="ja-JP" dirty="0"/>
          </a:p>
        </p:txBody>
      </p:sp>
      <p:grpSp>
        <p:nvGrpSpPr>
          <p:cNvPr id="28" name="グループ化 27">
            <a:extLst>
              <a:ext uri="{FF2B5EF4-FFF2-40B4-BE49-F238E27FC236}">
                <a16:creationId xmlns:a16="http://schemas.microsoft.com/office/drawing/2014/main" id="{0C2D99A1-A391-B34D-B51D-2646448B5EE0}"/>
              </a:ext>
            </a:extLst>
          </p:cNvPr>
          <p:cNvGrpSpPr/>
          <p:nvPr/>
        </p:nvGrpSpPr>
        <p:grpSpPr>
          <a:xfrm>
            <a:off x="617232" y="3408977"/>
            <a:ext cx="539448" cy="487368"/>
            <a:chOff x="400056" y="1061560"/>
            <a:chExt cx="269724" cy="243684"/>
          </a:xfrm>
        </p:grpSpPr>
        <p:sp>
          <p:nvSpPr>
            <p:cNvPr id="29" name="三角形 28">
              <a:extLst>
                <a:ext uri="{FF2B5EF4-FFF2-40B4-BE49-F238E27FC236}">
                  <a16:creationId xmlns:a16="http://schemas.microsoft.com/office/drawing/2014/main" id="{71EBF793-5064-E34A-9387-1426F995A3B3}"/>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30" name="三角形 29">
              <a:extLst>
                <a:ext uri="{FF2B5EF4-FFF2-40B4-BE49-F238E27FC236}">
                  <a16:creationId xmlns:a16="http://schemas.microsoft.com/office/drawing/2014/main" id="{5D106750-2C77-6545-AB79-4AEB07AD03A4}"/>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39" name="テキスト プレースホルダー 27">
            <a:extLst>
              <a:ext uri="{FF2B5EF4-FFF2-40B4-BE49-F238E27FC236}">
                <a16:creationId xmlns:a16="http://schemas.microsoft.com/office/drawing/2014/main" id="{E90FC0FA-6B43-C040-A5F9-B0941E894243}"/>
              </a:ext>
            </a:extLst>
          </p:cNvPr>
          <p:cNvSpPr txBox="1">
            <a:spLocks/>
          </p:cNvSpPr>
          <p:nvPr/>
        </p:nvSpPr>
        <p:spPr>
          <a:xfrm>
            <a:off x="1254486" y="3336352"/>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交渉の仕方を理解したか確認</a:t>
            </a:r>
            <a:endParaRPr lang="en-US" altLang="ja-JP" dirty="0"/>
          </a:p>
        </p:txBody>
      </p:sp>
      <p:grpSp>
        <p:nvGrpSpPr>
          <p:cNvPr id="59" name="グループ化 58">
            <a:extLst>
              <a:ext uri="{FF2B5EF4-FFF2-40B4-BE49-F238E27FC236}">
                <a16:creationId xmlns:a16="http://schemas.microsoft.com/office/drawing/2014/main" id="{DF8A36AD-5836-A949-969B-3510C31E8635}"/>
              </a:ext>
            </a:extLst>
          </p:cNvPr>
          <p:cNvGrpSpPr/>
          <p:nvPr/>
        </p:nvGrpSpPr>
        <p:grpSpPr>
          <a:xfrm>
            <a:off x="617232" y="4318974"/>
            <a:ext cx="539448" cy="487368"/>
            <a:chOff x="400056" y="1061560"/>
            <a:chExt cx="269724" cy="243684"/>
          </a:xfrm>
        </p:grpSpPr>
        <p:sp>
          <p:nvSpPr>
            <p:cNvPr id="66" name="三角形 65">
              <a:extLst>
                <a:ext uri="{FF2B5EF4-FFF2-40B4-BE49-F238E27FC236}">
                  <a16:creationId xmlns:a16="http://schemas.microsoft.com/office/drawing/2014/main" id="{BABAD8D6-A9B7-D841-AB0B-97617C1DD5D8}"/>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67" name="三角形 66">
              <a:extLst>
                <a:ext uri="{FF2B5EF4-FFF2-40B4-BE49-F238E27FC236}">
                  <a16:creationId xmlns:a16="http://schemas.microsoft.com/office/drawing/2014/main" id="{571901B6-8460-5144-A973-557A2883CB17}"/>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68" name="テキスト プレースホルダー 27">
            <a:extLst>
              <a:ext uri="{FF2B5EF4-FFF2-40B4-BE49-F238E27FC236}">
                <a16:creationId xmlns:a16="http://schemas.microsoft.com/office/drawing/2014/main" id="{6239CF5E-1568-8D45-AC49-9DD4CEAA2286}"/>
              </a:ext>
            </a:extLst>
          </p:cNvPr>
          <p:cNvSpPr txBox="1">
            <a:spLocks/>
          </p:cNvSpPr>
          <p:nvPr/>
        </p:nvSpPr>
        <p:spPr>
          <a:xfrm>
            <a:off x="1254486" y="4246349"/>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4</a:t>
            </a:r>
            <a:r>
              <a:rPr lang="ja-JP" altLang="en-US"/>
              <a:t>つのエージェントのうちランダムに</a:t>
            </a:r>
            <a:r>
              <a:rPr lang="en-US" altLang="ja-JP" dirty="0"/>
              <a:t>1</a:t>
            </a:r>
            <a:r>
              <a:rPr lang="ja-JP" altLang="en-US"/>
              <a:t>つを割り当てる</a:t>
            </a:r>
            <a:endParaRPr lang="en-US" altLang="ja-JP" dirty="0"/>
          </a:p>
        </p:txBody>
      </p:sp>
      <p:grpSp>
        <p:nvGrpSpPr>
          <p:cNvPr id="69" name="グループ化 68">
            <a:extLst>
              <a:ext uri="{FF2B5EF4-FFF2-40B4-BE49-F238E27FC236}">
                <a16:creationId xmlns:a16="http://schemas.microsoft.com/office/drawing/2014/main" id="{DBA9D50B-A088-6F44-9B47-34964A9D77BA}"/>
              </a:ext>
            </a:extLst>
          </p:cNvPr>
          <p:cNvGrpSpPr/>
          <p:nvPr/>
        </p:nvGrpSpPr>
        <p:grpSpPr>
          <a:xfrm>
            <a:off x="617232" y="5219836"/>
            <a:ext cx="539448" cy="487368"/>
            <a:chOff x="400056" y="1061560"/>
            <a:chExt cx="269724" cy="243684"/>
          </a:xfrm>
        </p:grpSpPr>
        <p:sp>
          <p:nvSpPr>
            <p:cNvPr id="70" name="三角形 69">
              <a:extLst>
                <a:ext uri="{FF2B5EF4-FFF2-40B4-BE49-F238E27FC236}">
                  <a16:creationId xmlns:a16="http://schemas.microsoft.com/office/drawing/2014/main" id="{7A5C93D8-0C41-1840-94A6-39F0D9990F88}"/>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71" name="三角形 70">
              <a:extLst>
                <a:ext uri="{FF2B5EF4-FFF2-40B4-BE49-F238E27FC236}">
                  <a16:creationId xmlns:a16="http://schemas.microsoft.com/office/drawing/2014/main" id="{85D77BB3-4F9D-E84B-9B19-D16333645346}"/>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72" name="テキスト プレースホルダー 27">
            <a:extLst>
              <a:ext uri="{FF2B5EF4-FFF2-40B4-BE49-F238E27FC236}">
                <a16:creationId xmlns:a16="http://schemas.microsoft.com/office/drawing/2014/main" id="{5D7BBC1D-C9F9-0646-88C7-4FF420616C33}"/>
              </a:ext>
            </a:extLst>
          </p:cNvPr>
          <p:cNvSpPr txBox="1">
            <a:spLocks/>
          </p:cNvSpPr>
          <p:nvPr/>
        </p:nvSpPr>
        <p:spPr>
          <a:xfrm>
            <a:off x="1254486" y="5147211"/>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被験者とエージェントが交渉を実施</a:t>
            </a:r>
            <a:endParaRPr lang="en-US" altLang="ja-JP" dirty="0"/>
          </a:p>
        </p:txBody>
      </p:sp>
      <p:sp>
        <p:nvSpPr>
          <p:cNvPr id="104" name="角丸四角形吹き出し 103">
            <a:extLst>
              <a:ext uri="{FF2B5EF4-FFF2-40B4-BE49-F238E27FC236}">
                <a16:creationId xmlns:a16="http://schemas.microsoft.com/office/drawing/2014/main" id="{FE7DB32D-1958-FE48-BF91-4857427784B7}"/>
              </a:ext>
            </a:extLst>
          </p:cNvPr>
          <p:cNvSpPr/>
          <p:nvPr/>
        </p:nvSpPr>
        <p:spPr>
          <a:xfrm>
            <a:off x="1254486" y="7119738"/>
            <a:ext cx="8033059" cy="2034116"/>
          </a:xfrm>
          <a:prstGeom prst="wedgeRoundRectCallout">
            <a:avLst>
              <a:gd name="adj1" fmla="val 33975"/>
              <a:gd name="adj2" fmla="val 81078"/>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t>10</a:t>
            </a:r>
            <a:r>
              <a:rPr lang="ja-JP" altLang="en-US"/>
              <a:t>分経過</a:t>
            </a:r>
            <a:r>
              <a:rPr lang="en-US" altLang="ja-JP" dirty="0"/>
              <a:t> or </a:t>
            </a:r>
            <a:r>
              <a:rPr lang="ja-JP" altLang="en-US"/>
              <a:t>両者が</a:t>
            </a:r>
            <a:r>
              <a:rPr lang="en-US" altLang="ja-JP" dirty="0"/>
              <a:t>Formal Accept</a:t>
            </a:r>
          </a:p>
          <a:p>
            <a:pPr algn="ctr"/>
            <a:r>
              <a:rPr lang="ja-JP" altLang="en-US"/>
              <a:t>した時点で交渉が終了</a:t>
            </a:r>
            <a:endParaRPr lang="en-US" altLang="ja-JP" dirty="0"/>
          </a:p>
        </p:txBody>
      </p:sp>
      <p:grpSp>
        <p:nvGrpSpPr>
          <p:cNvPr id="9" name="グループ化 8">
            <a:extLst>
              <a:ext uri="{FF2B5EF4-FFF2-40B4-BE49-F238E27FC236}">
                <a16:creationId xmlns:a16="http://schemas.microsoft.com/office/drawing/2014/main" id="{3AB28AB3-0C9C-F847-B002-1AACC5CC4E63}"/>
              </a:ext>
            </a:extLst>
          </p:cNvPr>
          <p:cNvGrpSpPr/>
          <p:nvPr/>
        </p:nvGrpSpPr>
        <p:grpSpPr>
          <a:xfrm>
            <a:off x="4947920" y="9595226"/>
            <a:ext cx="8392160" cy="2673310"/>
            <a:chOff x="4947920" y="9595226"/>
            <a:chExt cx="8392160" cy="2673310"/>
          </a:xfrm>
        </p:grpSpPr>
        <p:grpSp>
          <p:nvGrpSpPr>
            <p:cNvPr id="8" name="グループ化 7">
              <a:extLst>
                <a:ext uri="{FF2B5EF4-FFF2-40B4-BE49-F238E27FC236}">
                  <a16:creationId xmlns:a16="http://schemas.microsoft.com/office/drawing/2014/main" id="{AECC32A7-3A08-3744-8D07-E6987153BEC9}"/>
                </a:ext>
              </a:extLst>
            </p:cNvPr>
            <p:cNvGrpSpPr/>
            <p:nvPr/>
          </p:nvGrpSpPr>
          <p:grpSpPr>
            <a:xfrm>
              <a:off x="4947920" y="9595226"/>
              <a:ext cx="8392160" cy="2292139"/>
              <a:chOff x="4892225" y="8861611"/>
              <a:chExt cx="8392160" cy="2292139"/>
            </a:xfrm>
          </p:grpSpPr>
          <p:grpSp>
            <p:nvGrpSpPr>
              <p:cNvPr id="83" name="グループ化 82">
                <a:extLst>
                  <a:ext uri="{FF2B5EF4-FFF2-40B4-BE49-F238E27FC236}">
                    <a16:creationId xmlns:a16="http://schemas.microsoft.com/office/drawing/2014/main" id="{59BD4F83-68E5-1547-8512-D9B49D8D5A3B}"/>
                  </a:ext>
                </a:extLst>
              </p:cNvPr>
              <p:cNvGrpSpPr/>
              <p:nvPr/>
            </p:nvGrpSpPr>
            <p:grpSpPr>
              <a:xfrm>
                <a:off x="4892225" y="8861611"/>
                <a:ext cx="8392160" cy="2292139"/>
                <a:chOff x="4866258" y="5234219"/>
                <a:chExt cx="8392160" cy="2292139"/>
              </a:xfrm>
            </p:grpSpPr>
            <p:grpSp>
              <p:nvGrpSpPr>
                <p:cNvPr id="90" name="グループ化 89">
                  <a:extLst>
                    <a:ext uri="{FF2B5EF4-FFF2-40B4-BE49-F238E27FC236}">
                      <a16:creationId xmlns:a16="http://schemas.microsoft.com/office/drawing/2014/main" id="{4335B907-BA7B-004C-B36F-FC3D24E01213}"/>
                    </a:ext>
                  </a:extLst>
                </p:cNvPr>
                <p:cNvGrpSpPr/>
                <p:nvPr/>
              </p:nvGrpSpPr>
              <p:grpSpPr>
                <a:xfrm>
                  <a:off x="4866258" y="5349476"/>
                  <a:ext cx="1735754" cy="2176882"/>
                  <a:chOff x="4299330" y="5349476"/>
                  <a:chExt cx="1735754" cy="2176882"/>
                </a:xfrm>
              </p:grpSpPr>
              <p:sp>
                <p:nvSpPr>
                  <p:cNvPr id="92" name="スマイル 91">
                    <a:extLst>
                      <a:ext uri="{FF2B5EF4-FFF2-40B4-BE49-F238E27FC236}">
                        <a16:creationId xmlns:a16="http://schemas.microsoft.com/office/drawing/2014/main" id="{679019F6-298E-E944-AA65-CFFAAB5208FE}"/>
                      </a:ext>
                    </a:extLst>
                  </p:cNvPr>
                  <p:cNvSpPr/>
                  <p:nvPr/>
                </p:nvSpPr>
                <p:spPr>
                  <a:xfrm>
                    <a:off x="4338815" y="6018922"/>
                    <a:ext cx="1656784" cy="1507436"/>
                  </a:xfrm>
                  <a:prstGeom prst="smileyFac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3" name="テキスト ボックス 92">
                    <a:extLst>
                      <a:ext uri="{FF2B5EF4-FFF2-40B4-BE49-F238E27FC236}">
                        <a16:creationId xmlns:a16="http://schemas.microsoft.com/office/drawing/2014/main" id="{1C51F41D-9EDA-5E40-8784-F599F0EE9E28}"/>
                      </a:ext>
                    </a:extLst>
                  </p:cNvPr>
                  <p:cNvSpPr txBox="1"/>
                  <p:nvPr/>
                </p:nvSpPr>
                <p:spPr>
                  <a:xfrm>
                    <a:off x="4299330" y="5349476"/>
                    <a:ext cx="1735754" cy="646331"/>
                  </a:xfrm>
                  <a:prstGeom prst="rect">
                    <a:avLst/>
                  </a:prstGeom>
                  <a:noFill/>
                </p:spPr>
                <p:txBody>
                  <a:bodyPr wrap="square" rtlCol="0">
                    <a:spAutoFit/>
                  </a:bodyPr>
                  <a:lstStyle/>
                  <a:p>
                    <a:pPr algn="ctr"/>
                    <a:r>
                      <a:rPr kumimoji="1" lang="en-US" altLang="ja-JP" dirty="0"/>
                      <a:t>agent</a:t>
                    </a:r>
                    <a:endParaRPr kumimoji="1" lang="ja-JP" altLang="en-US"/>
                  </a:p>
                </p:txBody>
              </p:sp>
            </p:grpSp>
            <p:grpSp>
              <p:nvGrpSpPr>
                <p:cNvPr id="86" name="グループ化 85">
                  <a:extLst>
                    <a:ext uri="{FF2B5EF4-FFF2-40B4-BE49-F238E27FC236}">
                      <a16:creationId xmlns:a16="http://schemas.microsoft.com/office/drawing/2014/main" id="{834CC020-3387-7544-A0D3-3AAE792A1BB1}"/>
                    </a:ext>
                  </a:extLst>
                </p:cNvPr>
                <p:cNvGrpSpPr/>
                <p:nvPr/>
              </p:nvGrpSpPr>
              <p:grpSpPr>
                <a:xfrm>
                  <a:off x="11522664" y="5234219"/>
                  <a:ext cx="1735754" cy="2243000"/>
                  <a:chOff x="12053016" y="5234219"/>
                  <a:chExt cx="1735754" cy="2243000"/>
                </a:xfrm>
              </p:grpSpPr>
              <p:sp>
                <p:nvSpPr>
                  <p:cNvPr id="88" name="スマイル 87">
                    <a:extLst>
                      <a:ext uri="{FF2B5EF4-FFF2-40B4-BE49-F238E27FC236}">
                        <a16:creationId xmlns:a16="http://schemas.microsoft.com/office/drawing/2014/main" id="{1D6A7F08-9569-0140-BC1D-EA1DE6F3D208}"/>
                      </a:ext>
                    </a:extLst>
                  </p:cNvPr>
                  <p:cNvSpPr/>
                  <p:nvPr/>
                </p:nvSpPr>
                <p:spPr>
                  <a:xfrm>
                    <a:off x="12131986" y="5969783"/>
                    <a:ext cx="1656784" cy="1507436"/>
                  </a:xfrm>
                  <a:prstGeom prst="smileyFac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9" name="テキスト ボックス 88">
                    <a:extLst>
                      <a:ext uri="{FF2B5EF4-FFF2-40B4-BE49-F238E27FC236}">
                        <a16:creationId xmlns:a16="http://schemas.microsoft.com/office/drawing/2014/main" id="{7CB723DE-F9AE-6242-8D96-D0D33F298684}"/>
                      </a:ext>
                    </a:extLst>
                  </p:cNvPr>
                  <p:cNvSpPr txBox="1"/>
                  <p:nvPr/>
                </p:nvSpPr>
                <p:spPr>
                  <a:xfrm>
                    <a:off x="12053016" y="5234219"/>
                    <a:ext cx="1735754" cy="646331"/>
                  </a:xfrm>
                  <a:prstGeom prst="rect">
                    <a:avLst/>
                  </a:prstGeom>
                  <a:noFill/>
                </p:spPr>
                <p:txBody>
                  <a:bodyPr wrap="square" rtlCol="0">
                    <a:spAutoFit/>
                  </a:bodyPr>
                  <a:lstStyle/>
                  <a:p>
                    <a:pPr algn="ctr"/>
                    <a:r>
                      <a:rPr lang="en-US" altLang="ja-JP" dirty="0"/>
                      <a:t>human</a:t>
                    </a:r>
                    <a:endParaRPr kumimoji="1" lang="ja-JP" altLang="en-US"/>
                  </a:p>
                </p:txBody>
              </p:sp>
            </p:grpSp>
          </p:grpSp>
          <p:sp>
            <p:nvSpPr>
              <p:cNvPr id="100" name="右矢印 99">
                <a:extLst>
                  <a:ext uri="{FF2B5EF4-FFF2-40B4-BE49-F238E27FC236}">
                    <a16:creationId xmlns:a16="http://schemas.microsoft.com/office/drawing/2014/main" id="{6CE7365C-D3A4-F740-BB9F-6F68931E96CF}"/>
                  </a:ext>
                </a:extLst>
              </p:cNvPr>
              <p:cNvSpPr/>
              <p:nvPr/>
            </p:nvSpPr>
            <p:spPr>
              <a:xfrm>
                <a:off x="7393547" y="9886578"/>
                <a:ext cx="3429000" cy="371475"/>
              </a:xfrm>
              <a:prstGeom prst="rightArrow">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sp>
            <p:nvSpPr>
              <p:cNvPr id="101" name="右矢印 100">
                <a:extLst>
                  <a:ext uri="{FF2B5EF4-FFF2-40B4-BE49-F238E27FC236}">
                    <a16:creationId xmlns:a16="http://schemas.microsoft.com/office/drawing/2014/main" id="{779D4D7B-597A-7145-8B14-5EF8078B8350}"/>
                  </a:ext>
                </a:extLst>
              </p:cNvPr>
              <p:cNvSpPr/>
              <p:nvPr/>
            </p:nvSpPr>
            <p:spPr>
              <a:xfrm flipH="1">
                <a:off x="7395361" y="10504709"/>
                <a:ext cx="3429000" cy="371475"/>
              </a:xfrm>
              <a:prstGeom prst="rightArrow">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sp>
            <p:nvSpPr>
              <p:cNvPr id="102" name="テキスト ボックス 101">
                <a:extLst>
                  <a:ext uri="{FF2B5EF4-FFF2-40B4-BE49-F238E27FC236}">
                    <a16:creationId xmlns:a16="http://schemas.microsoft.com/office/drawing/2014/main" id="{8605F7D7-1FF3-3748-ABEE-39D3B7EDF4B1}"/>
                  </a:ext>
                </a:extLst>
              </p:cNvPr>
              <p:cNvSpPr txBox="1"/>
              <p:nvPr/>
            </p:nvSpPr>
            <p:spPr>
              <a:xfrm>
                <a:off x="7315197" y="9136014"/>
                <a:ext cx="3553399" cy="646331"/>
              </a:xfrm>
              <a:prstGeom prst="rect">
                <a:avLst/>
              </a:prstGeom>
              <a:noFill/>
            </p:spPr>
            <p:txBody>
              <a:bodyPr wrap="square" rtlCol="0">
                <a:spAutoFit/>
              </a:bodyPr>
              <a:lstStyle/>
              <a:p>
                <a:pPr algn="ctr"/>
                <a:r>
                  <a:rPr lang="en-US" altLang="ja-JP" dirty="0"/>
                  <a:t>make offer etc.</a:t>
                </a:r>
                <a:endParaRPr kumimoji="1" lang="ja-JP" altLang="en-US"/>
              </a:p>
            </p:txBody>
          </p:sp>
        </p:grpSp>
        <p:sp>
          <p:nvSpPr>
            <p:cNvPr id="105" name="テキスト ボックス 104">
              <a:extLst>
                <a:ext uri="{FF2B5EF4-FFF2-40B4-BE49-F238E27FC236}">
                  <a16:creationId xmlns:a16="http://schemas.microsoft.com/office/drawing/2014/main" id="{9D5A26B4-3F63-0D45-B2AA-F328C0A85C99}"/>
                </a:ext>
              </a:extLst>
            </p:cNvPr>
            <p:cNvSpPr txBox="1"/>
            <p:nvPr/>
          </p:nvSpPr>
          <p:spPr>
            <a:xfrm>
              <a:off x="7367300" y="11622205"/>
              <a:ext cx="3553399" cy="646331"/>
            </a:xfrm>
            <a:prstGeom prst="rect">
              <a:avLst/>
            </a:prstGeom>
            <a:noFill/>
          </p:spPr>
          <p:txBody>
            <a:bodyPr wrap="square" rtlCol="0">
              <a:spAutoFit/>
            </a:bodyPr>
            <a:lstStyle/>
            <a:p>
              <a:pPr algn="ctr"/>
              <a:r>
                <a:rPr lang="en-US" altLang="ja-JP" dirty="0"/>
                <a:t>make offer etc.</a:t>
              </a:r>
              <a:endParaRPr kumimoji="1" lang="ja-JP" altLang="en-US"/>
            </a:p>
          </p:txBody>
        </p:sp>
      </p:grpSp>
    </p:spTree>
    <p:extLst>
      <p:ext uri="{BB962C8B-B14F-4D97-AF65-F5344CB8AC3E}">
        <p14:creationId xmlns:p14="http://schemas.microsoft.com/office/powerpoint/2010/main" val="5695623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3520CDD-7107-D140-A1A0-69D0D69B10F3}"/>
              </a:ext>
            </a:extLst>
          </p:cNvPr>
          <p:cNvSpPr>
            <a:spLocks noGrp="1"/>
          </p:cNvSpPr>
          <p:nvPr>
            <p:ph type="dt" sz="half" idx="10"/>
          </p:nvPr>
        </p:nvSpPr>
        <p:spPr/>
        <p:txBody>
          <a:bodyPr/>
          <a:lstStyle/>
          <a:p>
            <a:fld id="{35974365-84F6-754A-A339-DA79FFD42E98}" type="datetime1">
              <a:rPr lang="ja-JP" altLang="en-US" smtClean="0"/>
              <a:t>2018/6/9</a:t>
            </a:fld>
            <a:endParaRPr lang="ja-JP" altLang="en-US"/>
          </a:p>
        </p:txBody>
      </p:sp>
      <p:sp>
        <p:nvSpPr>
          <p:cNvPr id="3" name="フッター プレースホルダー 2">
            <a:extLst>
              <a:ext uri="{FF2B5EF4-FFF2-40B4-BE49-F238E27FC236}">
                <a16:creationId xmlns:a16="http://schemas.microsoft.com/office/drawing/2014/main" id="{6EEFBA0C-3454-8D4D-87CE-5BA9ED8AFBE5}"/>
              </a:ext>
            </a:extLst>
          </p:cNvPr>
          <p:cNvSpPr>
            <a:spLocks noGrp="1"/>
          </p:cNvSpPr>
          <p:nvPr>
            <p:ph type="ftr" sz="quarter" idx="11"/>
          </p:nvPr>
        </p:nvSpPr>
        <p:spPr/>
        <p:txBody>
          <a:bodyPr/>
          <a:lstStyle/>
          <a:p>
            <a:r>
              <a:rPr lang="ja-JP" altLang="en-US"/>
              <a:t>進捗報告</a:t>
            </a:r>
            <a:r>
              <a:rPr lang="en-US" altLang="ja-JP"/>
              <a:t>(2018.06.06)</a:t>
            </a:r>
            <a:endParaRPr lang="ja-JP" altLang="en-US"/>
          </a:p>
        </p:txBody>
      </p:sp>
      <p:sp>
        <p:nvSpPr>
          <p:cNvPr id="4" name="スライド番号プレースホルダー 3">
            <a:extLst>
              <a:ext uri="{FF2B5EF4-FFF2-40B4-BE49-F238E27FC236}">
                <a16:creationId xmlns:a16="http://schemas.microsoft.com/office/drawing/2014/main" id="{5D405AD0-9091-A94B-BA67-32995AD15B35}"/>
              </a:ext>
            </a:extLst>
          </p:cNvPr>
          <p:cNvSpPr>
            <a:spLocks noGrp="1"/>
          </p:cNvSpPr>
          <p:nvPr>
            <p:ph type="sldNum" sz="quarter" idx="12"/>
          </p:nvPr>
        </p:nvSpPr>
        <p:spPr/>
        <p:txBody>
          <a:bodyPr/>
          <a:lstStyle/>
          <a:p>
            <a:fld id="{89242BC1-393D-1248-985B-18DA624F2964}" type="slidenum">
              <a:rPr lang="ja-JP" altLang="en-US" smtClean="0"/>
              <a:pPr/>
              <a:t>18</a:t>
            </a:fld>
            <a:endParaRPr lang="ja-JP" altLang="en-US"/>
          </a:p>
        </p:txBody>
      </p:sp>
      <p:sp>
        <p:nvSpPr>
          <p:cNvPr id="5" name="テキスト プレースホルダー 4">
            <a:extLst>
              <a:ext uri="{FF2B5EF4-FFF2-40B4-BE49-F238E27FC236}">
                <a16:creationId xmlns:a16="http://schemas.microsoft.com/office/drawing/2014/main" id="{26DD2A8D-F804-D546-B77D-9693A67C3E0B}"/>
              </a:ext>
            </a:extLst>
          </p:cNvPr>
          <p:cNvSpPr>
            <a:spLocks noGrp="1"/>
          </p:cNvSpPr>
          <p:nvPr>
            <p:ph type="body" sz="quarter" idx="14"/>
          </p:nvPr>
        </p:nvSpPr>
        <p:spPr/>
        <p:txBody>
          <a:bodyPr/>
          <a:lstStyle/>
          <a:p>
            <a:r>
              <a:rPr lang="ja-JP" altLang="en-US"/>
              <a:t>評価・考察</a:t>
            </a:r>
            <a:endParaRPr kumimoji="1" lang="ja-JP" altLang="en-US"/>
          </a:p>
        </p:txBody>
      </p:sp>
      <p:sp>
        <p:nvSpPr>
          <p:cNvPr id="6" name="テキスト プレースホルダー 5">
            <a:extLst>
              <a:ext uri="{FF2B5EF4-FFF2-40B4-BE49-F238E27FC236}">
                <a16:creationId xmlns:a16="http://schemas.microsoft.com/office/drawing/2014/main" id="{18F5D246-4675-9D44-B96B-BEDD6F01EDA7}"/>
              </a:ext>
            </a:extLst>
          </p:cNvPr>
          <p:cNvSpPr>
            <a:spLocks noGrp="1"/>
          </p:cNvSpPr>
          <p:nvPr>
            <p:ph type="body" sz="quarter" idx="13"/>
          </p:nvPr>
        </p:nvSpPr>
        <p:spPr/>
        <p:txBody>
          <a:bodyPr/>
          <a:lstStyle/>
          <a:p>
            <a:r>
              <a:rPr lang="en-US" altLang="ja-JP" dirty="0"/>
              <a:t>3</a:t>
            </a:r>
            <a:endParaRPr kumimoji="1" lang="ja-JP" altLang="en-US"/>
          </a:p>
        </p:txBody>
      </p:sp>
      <p:grpSp>
        <p:nvGrpSpPr>
          <p:cNvPr id="31" name="グループ化 30">
            <a:extLst>
              <a:ext uri="{FF2B5EF4-FFF2-40B4-BE49-F238E27FC236}">
                <a16:creationId xmlns:a16="http://schemas.microsoft.com/office/drawing/2014/main" id="{FD81DDC5-24B5-F24B-8DCA-6543CEE8DC81}"/>
              </a:ext>
            </a:extLst>
          </p:cNvPr>
          <p:cNvGrpSpPr/>
          <p:nvPr/>
        </p:nvGrpSpPr>
        <p:grpSpPr>
          <a:xfrm>
            <a:off x="289330" y="1413298"/>
            <a:ext cx="2160000" cy="934436"/>
            <a:chOff x="144665" y="525617"/>
            <a:chExt cx="1080000" cy="467218"/>
          </a:xfrm>
        </p:grpSpPr>
        <p:sp>
          <p:nvSpPr>
            <p:cNvPr id="32" name="正方形/長方形 31">
              <a:extLst>
                <a:ext uri="{FF2B5EF4-FFF2-40B4-BE49-F238E27FC236}">
                  <a16:creationId xmlns:a16="http://schemas.microsoft.com/office/drawing/2014/main" id="{073638CC-28A2-E943-AD34-548A0C227633}"/>
                </a:ext>
              </a:extLst>
            </p:cNvPr>
            <p:cNvSpPr/>
            <p:nvPr userDrawn="1"/>
          </p:nvSpPr>
          <p:spPr>
            <a:xfrm>
              <a:off x="145524" y="542424"/>
              <a:ext cx="91081" cy="450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sp>
          <p:nvSpPr>
            <p:cNvPr id="33" name="正方形/長方形 32">
              <a:extLst>
                <a:ext uri="{FF2B5EF4-FFF2-40B4-BE49-F238E27FC236}">
                  <a16:creationId xmlns:a16="http://schemas.microsoft.com/office/drawing/2014/main" id="{89C51296-914D-A74C-889D-A570C54F6A57}"/>
                </a:ext>
              </a:extLst>
            </p:cNvPr>
            <p:cNvSpPr/>
            <p:nvPr userDrawn="1"/>
          </p:nvSpPr>
          <p:spPr>
            <a:xfrm>
              <a:off x="144665" y="525617"/>
              <a:ext cx="1080000" cy="161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grpSp>
      <p:grpSp>
        <p:nvGrpSpPr>
          <p:cNvPr id="34" name="グループ化 33">
            <a:extLst>
              <a:ext uri="{FF2B5EF4-FFF2-40B4-BE49-F238E27FC236}">
                <a16:creationId xmlns:a16="http://schemas.microsoft.com/office/drawing/2014/main" id="{FC0C993D-26F8-9648-8C42-6E3A827F97DE}"/>
              </a:ext>
            </a:extLst>
          </p:cNvPr>
          <p:cNvGrpSpPr/>
          <p:nvPr/>
        </p:nvGrpSpPr>
        <p:grpSpPr>
          <a:xfrm>
            <a:off x="617232" y="2557358"/>
            <a:ext cx="539448" cy="487368"/>
            <a:chOff x="400056" y="1061560"/>
            <a:chExt cx="269724" cy="243684"/>
          </a:xfrm>
        </p:grpSpPr>
        <p:sp>
          <p:nvSpPr>
            <p:cNvPr id="35" name="三角形 34">
              <a:extLst>
                <a:ext uri="{FF2B5EF4-FFF2-40B4-BE49-F238E27FC236}">
                  <a16:creationId xmlns:a16="http://schemas.microsoft.com/office/drawing/2014/main" id="{21EC1BB2-1EA3-DB45-83ED-42197AA1F0E3}"/>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36" name="三角形 35">
              <a:extLst>
                <a:ext uri="{FF2B5EF4-FFF2-40B4-BE49-F238E27FC236}">
                  <a16:creationId xmlns:a16="http://schemas.microsoft.com/office/drawing/2014/main" id="{92822503-D36D-7644-A490-99EB8A1079E7}"/>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37" name="テキスト プレースホルダー 30">
            <a:extLst>
              <a:ext uri="{FF2B5EF4-FFF2-40B4-BE49-F238E27FC236}">
                <a16:creationId xmlns:a16="http://schemas.microsoft.com/office/drawing/2014/main" id="{A73B3907-668E-1A41-B5F4-6D46EA930E91}"/>
              </a:ext>
            </a:extLst>
          </p:cNvPr>
          <p:cNvSpPr txBox="1">
            <a:spLocks/>
          </p:cNvSpPr>
          <p:nvPr/>
        </p:nvSpPr>
        <p:spPr>
          <a:xfrm>
            <a:off x="571049" y="1583871"/>
            <a:ext cx="17302163" cy="1403350"/>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60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交渉終了時に獲得できる合計価値</a:t>
            </a:r>
          </a:p>
        </p:txBody>
      </p:sp>
      <p:sp>
        <p:nvSpPr>
          <p:cNvPr id="38" name="テキスト プレースホルダー 27">
            <a:extLst>
              <a:ext uri="{FF2B5EF4-FFF2-40B4-BE49-F238E27FC236}">
                <a16:creationId xmlns:a16="http://schemas.microsoft.com/office/drawing/2014/main" id="{52FC6201-0015-374A-A9F7-4FCF0162EFE8}"/>
              </a:ext>
            </a:extLst>
          </p:cNvPr>
          <p:cNvSpPr txBox="1">
            <a:spLocks/>
          </p:cNvSpPr>
          <p:nvPr/>
        </p:nvSpPr>
        <p:spPr>
          <a:xfrm>
            <a:off x="1254486" y="2484733"/>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Strategic</a:t>
            </a:r>
            <a:r>
              <a:rPr lang="ja-JP" altLang="en-US"/>
              <a:t>よりも</a:t>
            </a:r>
            <a:r>
              <a:rPr lang="en-US" altLang="ja-JP" dirty="0"/>
              <a:t>Free</a:t>
            </a:r>
            <a:r>
              <a:rPr lang="ja-JP" altLang="en-US"/>
              <a:t>の方がポイントが高くなった</a:t>
            </a:r>
            <a:endParaRPr lang="en-US" altLang="ja-JP" dirty="0"/>
          </a:p>
        </p:txBody>
      </p:sp>
      <p:pic>
        <p:nvPicPr>
          <p:cNvPr id="10" name="図 9">
            <a:extLst>
              <a:ext uri="{FF2B5EF4-FFF2-40B4-BE49-F238E27FC236}">
                <a16:creationId xmlns:a16="http://schemas.microsoft.com/office/drawing/2014/main" id="{CC387141-DEC8-7C40-B8B4-8FE40EBDDF18}"/>
              </a:ext>
            </a:extLst>
          </p:cNvPr>
          <p:cNvPicPr>
            <a:picLocks noChangeAspect="1"/>
          </p:cNvPicPr>
          <p:nvPr/>
        </p:nvPicPr>
        <p:blipFill>
          <a:blip r:embed="rId2"/>
          <a:stretch>
            <a:fillRect/>
          </a:stretch>
        </p:blipFill>
        <p:spPr>
          <a:xfrm>
            <a:off x="5349396" y="7709495"/>
            <a:ext cx="7589208" cy="5594416"/>
          </a:xfrm>
          <a:prstGeom prst="rect">
            <a:avLst/>
          </a:prstGeom>
        </p:spPr>
      </p:pic>
      <p:sp>
        <p:nvSpPr>
          <p:cNvPr id="48" name="テキスト プレースホルダー 27">
            <a:extLst>
              <a:ext uri="{FF2B5EF4-FFF2-40B4-BE49-F238E27FC236}">
                <a16:creationId xmlns:a16="http://schemas.microsoft.com/office/drawing/2014/main" id="{2E5A577F-4092-634D-BB6E-B2CB72A087D4}"/>
              </a:ext>
            </a:extLst>
          </p:cNvPr>
          <p:cNvSpPr txBox="1">
            <a:spLocks/>
          </p:cNvSpPr>
          <p:nvPr/>
        </p:nvSpPr>
        <p:spPr>
          <a:xfrm>
            <a:off x="1254486" y="3336352"/>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ANOVA</a:t>
            </a:r>
            <a:r>
              <a:rPr lang="ja-JP" altLang="en-US"/>
              <a:t>を使用しエージェントの戦略による影響を分析</a:t>
            </a:r>
            <a:endParaRPr lang="en-US" altLang="ja-JP" dirty="0"/>
          </a:p>
        </p:txBody>
      </p:sp>
      <p:sp>
        <p:nvSpPr>
          <p:cNvPr id="49" name="三角形 48">
            <a:extLst>
              <a:ext uri="{FF2B5EF4-FFF2-40B4-BE49-F238E27FC236}">
                <a16:creationId xmlns:a16="http://schemas.microsoft.com/office/drawing/2014/main" id="{A34F2C5B-F0A5-6A42-AC9B-E40745DB7758}"/>
              </a:ext>
            </a:extLst>
          </p:cNvPr>
          <p:cNvSpPr/>
          <p:nvPr/>
        </p:nvSpPr>
        <p:spPr>
          <a:xfrm rot="5400000">
            <a:off x="1076238" y="4213395"/>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mc:AlternateContent xmlns:mc="http://schemas.openxmlformats.org/markup-compatibility/2006" xmlns:a14="http://schemas.microsoft.com/office/drawing/2010/main">
        <mc:Choice Requires="a14">
          <p:sp>
            <p:nvSpPr>
              <p:cNvPr id="50" name="テキスト プレースホルダー 29">
                <a:extLst>
                  <a:ext uri="{FF2B5EF4-FFF2-40B4-BE49-F238E27FC236}">
                    <a16:creationId xmlns:a16="http://schemas.microsoft.com/office/drawing/2014/main" id="{000AC2C8-4326-8F4B-89D2-7FDE690CC76C}"/>
                  </a:ext>
                </a:extLst>
              </p:cNvPr>
              <p:cNvSpPr txBox="1">
                <a:spLocks/>
              </p:cNvSpPr>
              <p:nvPr/>
            </p:nvSpPr>
            <p:spPr>
              <a:xfrm>
                <a:off x="1457090" y="4098121"/>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有意差</a:t>
                </a:r>
                <a:r>
                  <a:rPr lang="ja-JP" altLang="en-US">
                    <a:solidFill>
                      <a:schemeClr val="accent2"/>
                    </a:solidFill>
                  </a:rPr>
                  <a:t>あり</a:t>
                </a:r>
                <a14:m>
                  <m:oMath xmlns:m="http://schemas.openxmlformats.org/officeDocument/2006/math">
                    <m:r>
                      <a:rPr lang="ja-JP" altLang="en-US" b="0" i="0" smtClean="0">
                        <a:latin typeface="Cambria Math" panose="02040503050406030204" pitchFamily="18" charset="0"/>
                      </a:rPr>
                      <m:t>　</m:t>
                    </m:r>
                    <m:r>
                      <a:rPr lang="en-US" altLang="ja-JP" b="0" i="1" smtClean="0">
                        <a:latin typeface="Cambria Math" panose="02040503050406030204" pitchFamily="18" charset="0"/>
                      </a:rPr>
                      <m:t>𝐹</m:t>
                    </m:r>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1,194</m:t>
                        </m:r>
                      </m:e>
                    </m:d>
                    <m:r>
                      <a:rPr lang="en-US" altLang="ja-JP" b="0" i="1" smtClean="0">
                        <a:latin typeface="Cambria Math" panose="02040503050406030204" pitchFamily="18" charset="0"/>
                      </a:rPr>
                      <m:t>=5.887, </m:t>
                    </m:r>
                    <m:r>
                      <a:rPr lang="en-US" altLang="ja-JP" b="0" i="1" smtClean="0">
                        <a:latin typeface="Cambria Math" panose="02040503050406030204" pitchFamily="18" charset="0"/>
                      </a:rPr>
                      <m:t>𝑝</m:t>
                    </m:r>
                    <m:r>
                      <a:rPr lang="en-US" altLang="ja-JP" b="0" i="1" smtClean="0">
                        <a:latin typeface="Cambria Math" panose="02040503050406030204" pitchFamily="18" charset="0"/>
                      </a:rPr>
                      <m:t>=.016,</m:t>
                    </m:r>
                    <m:r>
                      <a:rPr lang="en-US" altLang="ja-JP" b="0" i="1" smtClean="0">
                        <a:latin typeface="Cambria Math" panose="02040503050406030204" pitchFamily="18" charset="0"/>
                      </a:rPr>
                      <m:t>𝑑</m:t>
                    </m:r>
                    <m:r>
                      <a:rPr lang="en-US" altLang="ja-JP" b="0" i="1" smtClean="0">
                        <a:latin typeface="Cambria Math" panose="02040503050406030204" pitchFamily="18" charset="0"/>
                      </a:rPr>
                      <m:t>=0.352</m:t>
                    </m:r>
                  </m:oMath>
                </a14:m>
                <a:endParaRPr lang="ja-JP" altLang="en-US"/>
              </a:p>
            </p:txBody>
          </p:sp>
        </mc:Choice>
        <mc:Fallback xmlns="">
          <p:sp>
            <p:nvSpPr>
              <p:cNvPr id="50" name="テキスト プレースホルダー 29">
                <a:extLst>
                  <a:ext uri="{FF2B5EF4-FFF2-40B4-BE49-F238E27FC236}">
                    <a16:creationId xmlns:a16="http://schemas.microsoft.com/office/drawing/2014/main" id="{000AC2C8-4326-8F4B-89D2-7FDE690CC76C}"/>
                  </a:ext>
                </a:extLst>
              </p:cNvPr>
              <p:cNvSpPr txBox="1">
                <a:spLocks noRot="1" noChangeAspect="1" noMove="1" noResize="1" noEditPoints="1" noAdjustHandles="1" noChangeArrowheads="1" noChangeShapeType="1" noTextEdit="1"/>
              </p:cNvSpPr>
              <p:nvPr/>
            </p:nvSpPr>
            <p:spPr>
              <a:xfrm>
                <a:off x="1457090" y="4098121"/>
                <a:ext cx="16135964" cy="853994"/>
              </a:xfrm>
              <a:prstGeom prst="rect">
                <a:avLst/>
              </a:prstGeom>
              <a:blipFill>
                <a:blip r:embed="rId3"/>
                <a:stretch>
                  <a:fillRect l="-1338" t="-10294" b="-14706"/>
                </a:stretch>
              </a:blipFill>
            </p:spPr>
            <p:txBody>
              <a:bodyPr/>
              <a:lstStyle/>
              <a:p>
                <a:r>
                  <a:rPr lang="ja-JP" altLang="en-US">
                    <a:noFill/>
                  </a:rPr>
                  <a:t> </a:t>
                </a:r>
              </a:p>
            </p:txBody>
          </p:sp>
        </mc:Fallback>
      </mc:AlternateContent>
      <p:grpSp>
        <p:nvGrpSpPr>
          <p:cNvPr id="51" name="グループ化 50">
            <a:extLst>
              <a:ext uri="{FF2B5EF4-FFF2-40B4-BE49-F238E27FC236}">
                <a16:creationId xmlns:a16="http://schemas.microsoft.com/office/drawing/2014/main" id="{2AA0D94D-C69E-7E4B-A1A4-ADC36E90359B}"/>
              </a:ext>
            </a:extLst>
          </p:cNvPr>
          <p:cNvGrpSpPr/>
          <p:nvPr/>
        </p:nvGrpSpPr>
        <p:grpSpPr>
          <a:xfrm>
            <a:off x="617232" y="3408977"/>
            <a:ext cx="539448" cy="487368"/>
            <a:chOff x="400056" y="1061560"/>
            <a:chExt cx="269724" cy="243684"/>
          </a:xfrm>
        </p:grpSpPr>
        <p:sp>
          <p:nvSpPr>
            <p:cNvPr id="52" name="三角形 51">
              <a:extLst>
                <a:ext uri="{FF2B5EF4-FFF2-40B4-BE49-F238E27FC236}">
                  <a16:creationId xmlns:a16="http://schemas.microsoft.com/office/drawing/2014/main" id="{A25629C6-B470-D74E-816E-12AEADF18DC3}"/>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53" name="三角形 52">
              <a:extLst>
                <a:ext uri="{FF2B5EF4-FFF2-40B4-BE49-F238E27FC236}">
                  <a16:creationId xmlns:a16="http://schemas.microsoft.com/office/drawing/2014/main" id="{37715B1E-1BF4-6C4E-AC3F-A29EF6E548A2}"/>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mc:AlternateContent xmlns:mc="http://schemas.openxmlformats.org/markup-compatibility/2006" xmlns:a14="http://schemas.microsoft.com/office/drawing/2010/main">
        <mc:Choice Requires="a14">
          <p:sp>
            <p:nvSpPr>
              <p:cNvPr id="55" name="テキスト プレースホルダー 27">
                <a:extLst>
                  <a:ext uri="{FF2B5EF4-FFF2-40B4-BE49-F238E27FC236}">
                    <a16:creationId xmlns:a16="http://schemas.microsoft.com/office/drawing/2014/main" id="{117226EF-3D51-4F4B-8EAC-B1AB30AEF618}"/>
                  </a:ext>
                </a:extLst>
              </p:cNvPr>
              <p:cNvSpPr txBox="1">
                <a:spLocks/>
              </p:cNvSpPr>
              <p:nvPr/>
            </p:nvSpPr>
            <p:spPr>
              <a:xfrm>
                <a:off x="1254486" y="6252681"/>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14:m>
                  <m:oMath xmlns:m="http://schemas.openxmlformats.org/officeDocument/2006/math">
                    <m:sSup>
                      <m:sSupPr>
                        <m:ctrlPr>
                          <a:rPr lang="en-US" altLang="ja-JP" i="1" smtClean="0">
                            <a:latin typeface="Cambria Math" panose="02040503050406030204" pitchFamily="18" charset="0"/>
                          </a:rPr>
                        </m:ctrlPr>
                      </m:sSupPr>
                      <m:e>
                        <m:r>
                          <a:rPr lang="en-US" altLang="ja-JP" i="1" smtClean="0">
                            <a:latin typeface="Cambria Math" panose="02040503050406030204" pitchFamily="18" charset="0"/>
                            <a:ea typeface="Cambria Math" panose="02040503050406030204" pitchFamily="18" charset="0"/>
                          </a:rPr>
                          <m:t>𝜒</m:t>
                        </m:r>
                      </m:e>
                      <m:sup>
                        <m:r>
                          <a:rPr lang="en-US" altLang="ja-JP" b="0" i="1" smtClean="0">
                            <a:latin typeface="Cambria Math" panose="02040503050406030204" pitchFamily="18" charset="0"/>
                          </a:rPr>
                          <m:t>2</m:t>
                        </m:r>
                      </m:sup>
                    </m:sSup>
                  </m:oMath>
                </a14:m>
                <a:r>
                  <a:rPr lang="ja-JP" altLang="en-US"/>
                  <a:t>検定を使用しエージェントの戦略による影響を分析</a:t>
                </a:r>
                <a:endParaRPr lang="en-US" altLang="ja-JP" dirty="0"/>
              </a:p>
            </p:txBody>
          </p:sp>
        </mc:Choice>
        <mc:Fallback xmlns="">
          <p:sp>
            <p:nvSpPr>
              <p:cNvPr id="55" name="テキスト プレースホルダー 27">
                <a:extLst>
                  <a:ext uri="{FF2B5EF4-FFF2-40B4-BE49-F238E27FC236}">
                    <a16:creationId xmlns:a16="http://schemas.microsoft.com/office/drawing/2014/main" id="{117226EF-3D51-4F4B-8EAC-B1AB30AEF618}"/>
                  </a:ext>
                </a:extLst>
              </p:cNvPr>
              <p:cNvSpPr txBox="1">
                <a:spLocks noRot="1" noChangeAspect="1" noMove="1" noResize="1" noEditPoints="1" noAdjustHandles="1" noChangeArrowheads="1" noChangeShapeType="1" noTextEdit="1"/>
              </p:cNvSpPr>
              <p:nvPr/>
            </p:nvSpPr>
            <p:spPr>
              <a:xfrm>
                <a:off x="1254486" y="6252681"/>
                <a:ext cx="17551674" cy="1721508"/>
              </a:xfrm>
              <a:prstGeom prst="rect">
                <a:avLst/>
              </a:prstGeom>
              <a:blipFill>
                <a:blip r:embed="rId4"/>
                <a:stretch>
                  <a:fillRect l="-651" t="-10294"/>
                </a:stretch>
              </a:blipFill>
            </p:spPr>
            <p:txBody>
              <a:bodyPr/>
              <a:lstStyle/>
              <a:p>
                <a:r>
                  <a:rPr lang="ja-JP" altLang="en-US">
                    <a:noFill/>
                  </a:rPr>
                  <a:t> </a:t>
                </a:r>
              </a:p>
            </p:txBody>
          </p:sp>
        </mc:Fallback>
      </mc:AlternateContent>
      <p:sp>
        <p:nvSpPr>
          <p:cNvPr id="56" name="三角形 55">
            <a:extLst>
              <a:ext uri="{FF2B5EF4-FFF2-40B4-BE49-F238E27FC236}">
                <a16:creationId xmlns:a16="http://schemas.microsoft.com/office/drawing/2014/main" id="{7EF3F024-A41F-5948-8EFA-508F52ED3B78}"/>
              </a:ext>
            </a:extLst>
          </p:cNvPr>
          <p:cNvSpPr/>
          <p:nvPr/>
        </p:nvSpPr>
        <p:spPr>
          <a:xfrm rot="5400000">
            <a:off x="1076238" y="7129724"/>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mc:AlternateContent xmlns:mc="http://schemas.openxmlformats.org/markup-compatibility/2006" xmlns:a14="http://schemas.microsoft.com/office/drawing/2010/main">
        <mc:Choice Requires="a14">
          <p:sp>
            <p:nvSpPr>
              <p:cNvPr id="57" name="テキスト プレースホルダー 29">
                <a:extLst>
                  <a:ext uri="{FF2B5EF4-FFF2-40B4-BE49-F238E27FC236}">
                    <a16:creationId xmlns:a16="http://schemas.microsoft.com/office/drawing/2014/main" id="{E9D41197-6137-F844-BADC-A8C8C06BBF81}"/>
                  </a:ext>
                </a:extLst>
              </p:cNvPr>
              <p:cNvSpPr txBox="1">
                <a:spLocks/>
              </p:cNvSpPr>
              <p:nvPr/>
            </p:nvSpPr>
            <p:spPr>
              <a:xfrm>
                <a:off x="1457090" y="7014450"/>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b="0"/>
                  <a:t>有意差</a:t>
                </a:r>
                <a:r>
                  <a:rPr lang="ja-JP" altLang="en-US" b="0">
                    <a:solidFill>
                      <a:schemeClr val="accent2"/>
                    </a:solidFill>
                  </a:rPr>
                  <a:t>あり</a:t>
                </a:r>
                <a14:m>
                  <m:oMath xmlns:m="http://schemas.openxmlformats.org/officeDocument/2006/math">
                    <m:r>
                      <a:rPr lang="en-US" altLang="ja-JP" b="0" i="0" smtClean="0">
                        <a:latin typeface="Cambria Math" panose="02040503050406030204" pitchFamily="18" charset="0"/>
                      </a:rPr>
                      <m:t>    </m:t>
                    </m:r>
                    <m:sSup>
                      <m:sSupPr>
                        <m:ctrlPr>
                          <a:rPr lang="en-US" altLang="ja-JP" b="0" i="1" smtClean="0">
                            <a:latin typeface="Cambria Math" panose="02040503050406030204" pitchFamily="18" charset="0"/>
                          </a:rPr>
                        </m:ctrlPr>
                      </m:sSupPr>
                      <m:e>
                        <m:r>
                          <a:rPr lang="en-US" altLang="ja-JP" b="0" i="1" smtClean="0">
                            <a:latin typeface="Cambria Math" panose="02040503050406030204" pitchFamily="18" charset="0"/>
                            <a:ea typeface="Cambria Math" panose="02040503050406030204" pitchFamily="18" charset="0"/>
                          </a:rPr>
                          <m:t>𝜒</m:t>
                        </m:r>
                      </m:e>
                      <m:sup>
                        <m:r>
                          <a:rPr lang="en-US" altLang="ja-JP" b="0" i="1" smtClean="0">
                            <a:latin typeface="Cambria Math" panose="02040503050406030204" pitchFamily="18" charset="0"/>
                          </a:rPr>
                          <m:t>2</m:t>
                        </m:r>
                      </m:sup>
                    </m:sSup>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1,196</m:t>
                        </m:r>
                      </m:e>
                    </m:d>
                    <m:r>
                      <a:rPr lang="en-US" altLang="ja-JP" b="0" i="1" smtClean="0">
                        <a:latin typeface="Cambria Math" panose="02040503050406030204" pitchFamily="18" charset="0"/>
                      </a:rPr>
                      <m:t>=5.737, </m:t>
                    </m:r>
                    <m:r>
                      <a:rPr lang="en-US" altLang="ja-JP" b="0" i="1" smtClean="0">
                        <a:latin typeface="Cambria Math" panose="02040503050406030204" pitchFamily="18" charset="0"/>
                      </a:rPr>
                      <m:t>𝑝</m:t>
                    </m:r>
                    <m:r>
                      <a:rPr lang="en-US" altLang="ja-JP" b="0" i="1" smtClean="0">
                        <a:latin typeface="Cambria Math" panose="02040503050406030204" pitchFamily="18" charset="0"/>
                      </a:rPr>
                      <m:t>=.014</m:t>
                    </m:r>
                  </m:oMath>
                </a14:m>
                <a:endParaRPr lang="ja-JP" altLang="en-US"/>
              </a:p>
            </p:txBody>
          </p:sp>
        </mc:Choice>
        <mc:Fallback xmlns="">
          <p:sp>
            <p:nvSpPr>
              <p:cNvPr id="57" name="テキスト プレースホルダー 29">
                <a:extLst>
                  <a:ext uri="{FF2B5EF4-FFF2-40B4-BE49-F238E27FC236}">
                    <a16:creationId xmlns:a16="http://schemas.microsoft.com/office/drawing/2014/main" id="{E9D41197-6137-F844-BADC-A8C8C06BBF81}"/>
                  </a:ext>
                </a:extLst>
              </p:cNvPr>
              <p:cNvSpPr txBox="1">
                <a:spLocks noRot="1" noChangeAspect="1" noMove="1" noResize="1" noEditPoints="1" noAdjustHandles="1" noChangeArrowheads="1" noChangeShapeType="1" noTextEdit="1"/>
              </p:cNvSpPr>
              <p:nvPr/>
            </p:nvSpPr>
            <p:spPr>
              <a:xfrm>
                <a:off x="1457090" y="7014450"/>
                <a:ext cx="16135964" cy="853994"/>
              </a:xfrm>
              <a:prstGeom prst="rect">
                <a:avLst/>
              </a:prstGeom>
              <a:blipFill>
                <a:blip r:embed="rId5"/>
                <a:stretch>
                  <a:fillRect l="-1338" t="-16176" b="-7353"/>
                </a:stretch>
              </a:blipFill>
            </p:spPr>
            <p:txBody>
              <a:bodyPr/>
              <a:lstStyle/>
              <a:p>
                <a:r>
                  <a:rPr lang="ja-JP" altLang="en-US">
                    <a:noFill/>
                  </a:rPr>
                  <a:t> </a:t>
                </a:r>
              </a:p>
            </p:txBody>
          </p:sp>
        </mc:Fallback>
      </mc:AlternateContent>
      <p:grpSp>
        <p:nvGrpSpPr>
          <p:cNvPr id="58" name="グループ化 57">
            <a:extLst>
              <a:ext uri="{FF2B5EF4-FFF2-40B4-BE49-F238E27FC236}">
                <a16:creationId xmlns:a16="http://schemas.microsoft.com/office/drawing/2014/main" id="{A2AD5E50-0AA5-E24F-8DCC-9D58EF26EE6F}"/>
              </a:ext>
            </a:extLst>
          </p:cNvPr>
          <p:cNvGrpSpPr/>
          <p:nvPr/>
        </p:nvGrpSpPr>
        <p:grpSpPr>
          <a:xfrm>
            <a:off x="617232" y="6325306"/>
            <a:ext cx="539448" cy="487368"/>
            <a:chOff x="400056" y="1061560"/>
            <a:chExt cx="269724" cy="243684"/>
          </a:xfrm>
        </p:grpSpPr>
        <p:sp>
          <p:nvSpPr>
            <p:cNvPr id="60" name="三角形 59">
              <a:extLst>
                <a:ext uri="{FF2B5EF4-FFF2-40B4-BE49-F238E27FC236}">
                  <a16:creationId xmlns:a16="http://schemas.microsoft.com/office/drawing/2014/main" id="{F5F4D039-6A97-2546-9BF6-4D0E95ED05F3}"/>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61" name="三角形 60">
              <a:extLst>
                <a:ext uri="{FF2B5EF4-FFF2-40B4-BE49-F238E27FC236}">
                  <a16:creationId xmlns:a16="http://schemas.microsoft.com/office/drawing/2014/main" id="{5DCE93FA-10E0-6348-BD6C-18922991E59F}"/>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grpSp>
        <p:nvGrpSpPr>
          <p:cNvPr id="62" name="グループ化 61">
            <a:extLst>
              <a:ext uri="{FF2B5EF4-FFF2-40B4-BE49-F238E27FC236}">
                <a16:creationId xmlns:a16="http://schemas.microsoft.com/office/drawing/2014/main" id="{66E46BC3-E609-A548-8579-FB7F58375B47}"/>
              </a:ext>
            </a:extLst>
          </p:cNvPr>
          <p:cNvGrpSpPr/>
          <p:nvPr/>
        </p:nvGrpSpPr>
        <p:grpSpPr>
          <a:xfrm>
            <a:off x="289330" y="5126285"/>
            <a:ext cx="2160000" cy="934436"/>
            <a:chOff x="144665" y="525617"/>
            <a:chExt cx="1080000" cy="467218"/>
          </a:xfrm>
        </p:grpSpPr>
        <p:sp>
          <p:nvSpPr>
            <p:cNvPr id="63" name="正方形/長方形 62">
              <a:extLst>
                <a:ext uri="{FF2B5EF4-FFF2-40B4-BE49-F238E27FC236}">
                  <a16:creationId xmlns:a16="http://schemas.microsoft.com/office/drawing/2014/main" id="{1C4BE10B-9FC0-7645-9F70-C68E8910CF94}"/>
                </a:ext>
              </a:extLst>
            </p:cNvPr>
            <p:cNvSpPr/>
            <p:nvPr userDrawn="1"/>
          </p:nvSpPr>
          <p:spPr>
            <a:xfrm>
              <a:off x="145524" y="542424"/>
              <a:ext cx="91081" cy="450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sp>
          <p:nvSpPr>
            <p:cNvPr id="64" name="正方形/長方形 63">
              <a:extLst>
                <a:ext uri="{FF2B5EF4-FFF2-40B4-BE49-F238E27FC236}">
                  <a16:creationId xmlns:a16="http://schemas.microsoft.com/office/drawing/2014/main" id="{35C8DD2A-A324-DD43-9C38-F6B111323E7D}"/>
                </a:ext>
              </a:extLst>
            </p:cNvPr>
            <p:cNvSpPr/>
            <p:nvPr userDrawn="1"/>
          </p:nvSpPr>
          <p:spPr>
            <a:xfrm>
              <a:off x="144665" y="525617"/>
              <a:ext cx="1080000" cy="161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grpSp>
      <p:sp>
        <p:nvSpPr>
          <p:cNvPr id="65" name="テキスト プレースホルダー 30">
            <a:extLst>
              <a:ext uri="{FF2B5EF4-FFF2-40B4-BE49-F238E27FC236}">
                <a16:creationId xmlns:a16="http://schemas.microsoft.com/office/drawing/2014/main" id="{71ACC8B6-BB98-3B45-874B-94586179D11A}"/>
              </a:ext>
            </a:extLst>
          </p:cNvPr>
          <p:cNvSpPr txBox="1">
            <a:spLocks/>
          </p:cNvSpPr>
          <p:nvPr/>
        </p:nvSpPr>
        <p:spPr>
          <a:xfrm>
            <a:off x="571049" y="5296858"/>
            <a:ext cx="17302163" cy="1403350"/>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60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BATNA</a:t>
            </a:r>
            <a:r>
              <a:rPr lang="ja-JP" altLang="en-US"/>
              <a:t>を受け入れた回数</a:t>
            </a:r>
          </a:p>
        </p:txBody>
      </p:sp>
    </p:spTree>
    <p:extLst>
      <p:ext uri="{BB962C8B-B14F-4D97-AF65-F5344CB8AC3E}">
        <p14:creationId xmlns:p14="http://schemas.microsoft.com/office/powerpoint/2010/main" val="12390826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3520CDD-7107-D140-A1A0-69D0D69B10F3}"/>
              </a:ext>
            </a:extLst>
          </p:cNvPr>
          <p:cNvSpPr>
            <a:spLocks noGrp="1"/>
          </p:cNvSpPr>
          <p:nvPr>
            <p:ph type="dt" sz="half" idx="10"/>
          </p:nvPr>
        </p:nvSpPr>
        <p:spPr/>
        <p:txBody>
          <a:bodyPr/>
          <a:lstStyle/>
          <a:p>
            <a:fld id="{35974365-84F6-754A-A339-DA79FFD42E98}" type="datetime1">
              <a:rPr lang="ja-JP" altLang="en-US" smtClean="0"/>
              <a:t>2018/6/9</a:t>
            </a:fld>
            <a:endParaRPr lang="ja-JP" altLang="en-US"/>
          </a:p>
        </p:txBody>
      </p:sp>
      <p:sp>
        <p:nvSpPr>
          <p:cNvPr id="3" name="フッター プレースホルダー 2">
            <a:extLst>
              <a:ext uri="{FF2B5EF4-FFF2-40B4-BE49-F238E27FC236}">
                <a16:creationId xmlns:a16="http://schemas.microsoft.com/office/drawing/2014/main" id="{6EEFBA0C-3454-8D4D-87CE-5BA9ED8AFBE5}"/>
              </a:ext>
            </a:extLst>
          </p:cNvPr>
          <p:cNvSpPr>
            <a:spLocks noGrp="1"/>
          </p:cNvSpPr>
          <p:nvPr>
            <p:ph type="ftr" sz="quarter" idx="11"/>
          </p:nvPr>
        </p:nvSpPr>
        <p:spPr/>
        <p:txBody>
          <a:bodyPr/>
          <a:lstStyle/>
          <a:p>
            <a:r>
              <a:rPr lang="ja-JP" altLang="en-US"/>
              <a:t>進捗報告</a:t>
            </a:r>
            <a:r>
              <a:rPr lang="en-US" altLang="ja-JP"/>
              <a:t>(2018.06.06)</a:t>
            </a:r>
            <a:endParaRPr lang="ja-JP" altLang="en-US"/>
          </a:p>
        </p:txBody>
      </p:sp>
      <p:sp>
        <p:nvSpPr>
          <p:cNvPr id="4" name="スライド番号プレースホルダー 3">
            <a:extLst>
              <a:ext uri="{FF2B5EF4-FFF2-40B4-BE49-F238E27FC236}">
                <a16:creationId xmlns:a16="http://schemas.microsoft.com/office/drawing/2014/main" id="{5D405AD0-9091-A94B-BA67-32995AD15B35}"/>
              </a:ext>
            </a:extLst>
          </p:cNvPr>
          <p:cNvSpPr>
            <a:spLocks noGrp="1"/>
          </p:cNvSpPr>
          <p:nvPr>
            <p:ph type="sldNum" sz="quarter" idx="12"/>
          </p:nvPr>
        </p:nvSpPr>
        <p:spPr/>
        <p:txBody>
          <a:bodyPr/>
          <a:lstStyle/>
          <a:p>
            <a:fld id="{89242BC1-393D-1248-985B-18DA624F2964}" type="slidenum">
              <a:rPr lang="ja-JP" altLang="en-US" smtClean="0"/>
              <a:pPr/>
              <a:t>19</a:t>
            </a:fld>
            <a:endParaRPr lang="ja-JP" altLang="en-US"/>
          </a:p>
        </p:txBody>
      </p:sp>
      <p:sp>
        <p:nvSpPr>
          <p:cNvPr id="5" name="テキスト プレースホルダー 4">
            <a:extLst>
              <a:ext uri="{FF2B5EF4-FFF2-40B4-BE49-F238E27FC236}">
                <a16:creationId xmlns:a16="http://schemas.microsoft.com/office/drawing/2014/main" id="{26DD2A8D-F804-D546-B77D-9693A67C3E0B}"/>
              </a:ext>
            </a:extLst>
          </p:cNvPr>
          <p:cNvSpPr>
            <a:spLocks noGrp="1"/>
          </p:cNvSpPr>
          <p:nvPr>
            <p:ph type="body" sz="quarter" idx="14"/>
          </p:nvPr>
        </p:nvSpPr>
        <p:spPr/>
        <p:txBody>
          <a:bodyPr/>
          <a:lstStyle/>
          <a:p>
            <a:r>
              <a:rPr lang="ja-JP" altLang="en-US"/>
              <a:t>評価・考察</a:t>
            </a:r>
            <a:endParaRPr kumimoji="1" lang="ja-JP" altLang="en-US"/>
          </a:p>
        </p:txBody>
      </p:sp>
      <p:sp>
        <p:nvSpPr>
          <p:cNvPr id="6" name="テキスト プレースホルダー 5">
            <a:extLst>
              <a:ext uri="{FF2B5EF4-FFF2-40B4-BE49-F238E27FC236}">
                <a16:creationId xmlns:a16="http://schemas.microsoft.com/office/drawing/2014/main" id="{18F5D246-4675-9D44-B96B-BEDD6F01EDA7}"/>
              </a:ext>
            </a:extLst>
          </p:cNvPr>
          <p:cNvSpPr>
            <a:spLocks noGrp="1"/>
          </p:cNvSpPr>
          <p:nvPr>
            <p:ph type="body" sz="quarter" idx="13"/>
          </p:nvPr>
        </p:nvSpPr>
        <p:spPr/>
        <p:txBody>
          <a:bodyPr/>
          <a:lstStyle/>
          <a:p>
            <a:r>
              <a:rPr lang="en-US" altLang="ja-JP" dirty="0"/>
              <a:t>3</a:t>
            </a:r>
            <a:endParaRPr kumimoji="1" lang="ja-JP" altLang="en-US"/>
          </a:p>
        </p:txBody>
      </p:sp>
      <p:grpSp>
        <p:nvGrpSpPr>
          <p:cNvPr id="31" name="グループ化 30">
            <a:extLst>
              <a:ext uri="{FF2B5EF4-FFF2-40B4-BE49-F238E27FC236}">
                <a16:creationId xmlns:a16="http://schemas.microsoft.com/office/drawing/2014/main" id="{FD81DDC5-24B5-F24B-8DCA-6543CEE8DC81}"/>
              </a:ext>
            </a:extLst>
          </p:cNvPr>
          <p:cNvGrpSpPr/>
          <p:nvPr/>
        </p:nvGrpSpPr>
        <p:grpSpPr>
          <a:xfrm>
            <a:off x="289330" y="1413298"/>
            <a:ext cx="2160000" cy="934436"/>
            <a:chOff x="144665" y="525617"/>
            <a:chExt cx="1080000" cy="467218"/>
          </a:xfrm>
        </p:grpSpPr>
        <p:sp>
          <p:nvSpPr>
            <p:cNvPr id="32" name="正方形/長方形 31">
              <a:extLst>
                <a:ext uri="{FF2B5EF4-FFF2-40B4-BE49-F238E27FC236}">
                  <a16:creationId xmlns:a16="http://schemas.microsoft.com/office/drawing/2014/main" id="{073638CC-28A2-E943-AD34-548A0C227633}"/>
                </a:ext>
              </a:extLst>
            </p:cNvPr>
            <p:cNvSpPr/>
            <p:nvPr userDrawn="1"/>
          </p:nvSpPr>
          <p:spPr>
            <a:xfrm>
              <a:off x="145524" y="542424"/>
              <a:ext cx="91081" cy="450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sp>
          <p:nvSpPr>
            <p:cNvPr id="33" name="正方形/長方形 32">
              <a:extLst>
                <a:ext uri="{FF2B5EF4-FFF2-40B4-BE49-F238E27FC236}">
                  <a16:creationId xmlns:a16="http://schemas.microsoft.com/office/drawing/2014/main" id="{89C51296-914D-A74C-889D-A570C54F6A57}"/>
                </a:ext>
              </a:extLst>
            </p:cNvPr>
            <p:cNvSpPr/>
            <p:nvPr userDrawn="1"/>
          </p:nvSpPr>
          <p:spPr>
            <a:xfrm>
              <a:off x="144665" y="525617"/>
              <a:ext cx="1080000" cy="161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grpSp>
      <p:grpSp>
        <p:nvGrpSpPr>
          <p:cNvPr id="34" name="グループ化 33">
            <a:extLst>
              <a:ext uri="{FF2B5EF4-FFF2-40B4-BE49-F238E27FC236}">
                <a16:creationId xmlns:a16="http://schemas.microsoft.com/office/drawing/2014/main" id="{FC0C993D-26F8-9648-8C42-6E3A827F97DE}"/>
              </a:ext>
            </a:extLst>
          </p:cNvPr>
          <p:cNvGrpSpPr/>
          <p:nvPr/>
        </p:nvGrpSpPr>
        <p:grpSpPr>
          <a:xfrm>
            <a:off x="617232" y="2557358"/>
            <a:ext cx="539448" cy="487368"/>
            <a:chOff x="400056" y="1061560"/>
            <a:chExt cx="269724" cy="243684"/>
          </a:xfrm>
        </p:grpSpPr>
        <p:sp>
          <p:nvSpPr>
            <p:cNvPr id="35" name="三角形 34">
              <a:extLst>
                <a:ext uri="{FF2B5EF4-FFF2-40B4-BE49-F238E27FC236}">
                  <a16:creationId xmlns:a16="http://schemas.microsoft.com/office/drawing/2014/main" id="{21EC1BB2-1EA3-DB45-83ED-42197AA1F0E3}"/>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36" name="三角形 35">
              <a:extLst>
                <a:ext uri="{FF2B5EF4-FFF2-40B4-BE49-F238E27FC236}">
                  <a16:creationId xmlns:a16="http://schemas.microsoft.com/office/drawing/2014/main" id="{92822503-D36D-7644-A490-99EB8A1079E7}"/>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37" name="テキスト プレースホルダー 30">
            <a:extLst>
              <a:ext uri="{FF2B5EF4-FFF2-40B4-BE49-F238E27FC236}">
                <a16:creationId xmlns:a16="http://schemas.microsoft.com/office/drawing/2014/main" id="{A73B3907-668E-1A41-B5F4-6D46EA930E91}"/>
              </a:ext>
            </a:extLst>
          </p:cNvPr>
          <p:cNvSpPr txBox="1">
            <a:spLocks/>
          </p:cNvSpPr>
          <p:nvPr/>
        </p:nvSpPr>
        <p:spPr>
          <a:xfrm>
            <a:off x="571049" y="1583871"/>
            <a:ext cx="17302163" cy="1403350"/>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60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交渉終了時に獲得できる価値</a:t>
            </a:r>
          </a:p>
        </p:txBody>
      </p:sp>
      <p:sp>
        <p:nvSpPr>
          <p:cNvPr id="38" name="テキスト プレースホルダー 27">
            <a:extLst>
              <a:ext uri="{FF2B5EF4-FFF2-40B4-BE49-F238E27FC236}">
                <a16:creationId xmlns:a16="http://schemas.microsoft.com/office/drawing/2014/main" id="{52FC6201-0015-374A-A9F7-4FCF0162EFE8}"/>
              </a:ext>
            </a:extLst>
          </p:cNvPr>
          <p:cNvSpPr txBox="1">
            <a:spLocks/>
          </p:cNvSpPr>
          <p:nvPr/>
        </p:nvSpPr>
        <p:spPr>
          <a:xfrm>
            <a:off x="1254486" y="2484733"/>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ANOVA</a:t>
            </a:r>
            <a:r>
              <a:rPr lang="ja-JP" altLang="en-US"/>
              <a:t>を使用しエージェントの戦略による影響を分析</a:t>
            </a:r>
            <a:endParaRPr lang="en-US" altLang="ja-JP" dirty="0"/>
          </a:p>
        </p:txBody>
      </p:sp>
      <p:pic>
        <p:nvPicPr>
          <p:cNvPr id="10" name="図 9">
            <a:extLst>
              <a:ext uri="{FF2B5EF4-FFF2-40B4-BE49-F238E27FC236}">
                <a16:creationId xmlns:a16="http://schemas.microsoft.com/office/drawing/2014/main" id="{CC387141-DEC8-7C40-B8B4-8FE40EBDDF18}"/>
              </a:ext>
            </a:extLst>
          </p:cNvPr>
          <p:cNvPicPr>
            <a:picLocks noChangeAspect="1"/>
          </p:cNvPicPr>
          <p:nvPr/>
        </p:nvPicPr>
        <p:blipFill>
          <a:blip r:embed="rId2"/>
          <a:stretch>
            <a:fillRect/>
          </a:stretch>
        </p:blipFill>
        <p:spPr>
          <a:xfrm>
            <a:off x="5349396" y="7709495"/>
            <a:ext cx="7589208" cy="5594416"/>
          </a:xfrm>
          <a:prstGeom prst="rect">
            <a:avLst/>
          </a:prstGeom>
        </p:spPr>
      </p:pic>
      <p:sp>
        <p:nvSpPr>
          <p:cNvPr id="39" name="三角形 38">
            <a:extLst>
              <a:ext uri="{FF2B5EF4-FFF2-40B4-BE49-F238E27FC236}">
                <a16:creationId xmlns:a16="http://schemas.microsoft.com/office/drawing/2014/main" id="{38425CB4-4F62-4C41-AF71-41D925B77A4D}"/>
              </a:ext>
            </a:extLst>
          </p:cNvPr>
          <p:cNvSpPr/>
          <p:nvPr/>
        </p:nvSpPr>
        <p:spPr>
          <a:xfrm rot="5400000">
            <a:off x="1076238" y="3361776"/>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mc:AlternateContent xmlns:mc="http://schemas.openxmlformats.org/markup-compatibility/2006" xmlns:a14="http://schemas.microsoft.com/office/drawing/2010/main">
        <mc:Choice Requires="a14">
          <p:sp>
            <p:nvSpPr>
              <p:cNvPr id="40" name="テキスト プレースホルダー 29">
                <a:extLst>
                  <a:ext uri="{FF2B5EF4-FFF2-40B4-BE49-F238E27FC236}">
                    <a16:creationId xmlns:a16="http://schemas.microsoft.com/office/drawing/2014/main" id="{3BEBEE22-EDA1-D049-A160-F12C04BE26CB}"/>
                  </a:ext>
                </a:extLst>
              </p:cNvPr>
              <p:cNvSpPr txBox="1">
                <a:spLocks/>
              </p:cNvSpPr>
              <p:nvPr/>
            </p:nvSpPr>
            <p:spPr>
              <a:xfrm>
                <a:off x="1443786" y="3246502"/>
                <a:ext cx="1827548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有意差</a:t>
                </a:r>
                <a:r>
                  <a:rPr lang="ja-JP" altLang="en-US">
                    <a:solidFill>
                      <a:schemeClr val="accent2"/>
                    </a:solidFill>
                  </a:rPr>
                  <a:t>あり</a:t>
                </a:r>
                <a14:m>
                  <m:oMath xmlns:m="http://schemas.openxmlformats.org/officeDocument/2006/math">
                    <m:r>
                      <a:rPr lang="ja-JP" altLang="en-US" b="0" i="0" smtClean="0">
                        <a:latin typeface="Cambria Math" panose="02040503050406030204" pitchFamily="18" charset="0"/>
                      </a:rPr>
                      <m:t>　</m:t>
                    </m:r>
                    <m:r>
                      <a:rPr lang="en-US" altLang="ja-JP" i="1" smtClean="0">
                        <a:latin typeface="Cambria Math" panose="02040503050406030204" pitchFamily="18" charset="0"/>
                      </a:rPr>
                      <m:t>𝐹</m:t>
                    </m:r>
                    <m:d>
                      <m:dPr>
                        <m:ctrlPr>
                          <a:rPr lang="en-US" altLang="ja-JP" i="1">
                            <a:latin typeface="Cambria Math" panose="02040503050406030204" pitchFamily="18" charset="0"/>
                          </a:rPr>
                        </m:ctrlPr>
                      </m:dPr>
                      <m:e>
                        <m:r>
                          <a:rPr lang="en-US" altLang="ja-JP" i="1">
                            <a:latin typeface="Cambria Math" panose="02040503050406030204" pitchFamily="18" charset="0"/>
                          </a:rPr>
                          <m:t>1,194</m:t>
                        </m:r>
                      </m:e>
                    </m:d>
                    <m:r>
                      <a:rPr lang="en-US" altLang="ja-JP" i="1">
                        <a:latin typeface="Cambria Math" panose="02040503050406030204" pitchFamily="18" charset="0"/>
                      </a:rPr>
                      <m:t>=</m:t>
                    </m:r>
                    <m:r>
                      <a:rPr lang="en-US" altLang="ja-JP" b="0" i="1" smtClean="0">
                        <a:latin typeface="Cambria Math" panose="02040503050406030204" pitchFamily="18" charset="0"/>
                      </a:rPr>
                      <m:t>6</m:t>
                    </m:r>
                    <m:r>
                      <a:rPr lang="en-US" altLang="ja-JP" i="1">
                        <a:latin typeface="Cambria Math" panose="02040503050406030204" pitchFamily="18" charset="0"/>
                      </a:rPr>
                      <m:t>.</m:t>
                    </m:r>
                    <m:r>
                      <a:rPr lang="en-US" altLang="ja-JP" b="0" i="1" smtClean="0">
                        <a:latin typeface="Cambria Math" panose="02040503050406030204" pitchFamily="18" charset="0"/>
                      </a:rPr>
                      <m:t>638</m:t>
                    </m:r>
                    <m:r>
                      <a:rPr lang="en-US" altLang="ja-JP" i="1">
                        <a:latin typeface="Cambria Math" panose="02040503050406030204" pitchFamily="18" charset="0"/>
                      </a:rPr>
                      <m:t>, </m:t>
                    </m:r>
                    <m:r>
                      <a:rPr lang="en-US" altLang="ja-JP" i="1">
                        <a:latin typeface="Cambria Math" panose="02040503050406030204" pitchFamily="18" charset="0"/>
                      </a:rPr>
                      <m:t>𝑝</m:t>
                    </m:r>
                    <m:r>
                      <a:rPr lang="en-US" altLang="ja-JP" i="1">
                        <a:latin typeface="Cambria Math" panose="02040503050406030204" pitchFamily="18" charset="0"/>
                      </a:rPr>
                      <m:t>=.011,</m:t>
                    </m:r>
                    <m:r>
                      <a:rPr lang="en-US" altLang="ja-JP" i="1">
                        <a:latin typeface="Cambria Math" panose="02040503050406030204" pitchFamily="18" charset="0"/>
                      </a:rPr>
                      <m:t>𝑑</m:t>
                    </m:r>
                    <m:r>
                      <a:rPr lang="en-US" altLang="ja-JP" i="1">
                        <a:latin typeface="Cambria Math" panose="02040503050406030204" pitchFamily="18" charset="0"/>
                      </a:rPr>
                      <m:t>=0.375</m:t>
                    </m:r>
                  </m:oMath>
                </a14:m>
                <a:r>
                  <a:rPr lang="ja-JP" altLang="en-US"/>
                  <a:t>   </a:t>
                </a:r>
                <a:r>
                  <a:rPr lang="en-US" altLang="ja-JP" dirty="0"/>
                  <a:t>(</a:t>
                </a:r>
                <a:r>
                  <a:rPr lang="ja-JP" altLang="en-US"/>
                  <a:t>被験者</a:t>
                </a:r>
                <a:r>
                  <a:rPr lang="en-US" altLang="ja-JP" dirty="0"/>
                  <a:t>)</a:t>
                </a:r>
                <a:endParaRPr lang="ja-JP" altLang="en-US"/>
              </a:p>
            </p:txBody>
          </p:sp>
        </mc:Choice>
        <mc:Fallback xmlns="">
          <p:sp>
            <p:nvSpPr>
              <p:cNvPr id="40" name="テキスト プレースホルダー 29">
                <a:extLst>
                  <a:ext uri="{FF2B5EF4-FFF2-40B4-BE49-F238E27FC236}">
                    <a16:creationId xmlns:a16="http://schemas.microsoft.com/office/drawing/2014/main" id="{3BEBEE22-EDA1-D049-A160-F12C04BE26CB}"/>
                  </a:ext>
                </a:extLst>
              </p:cNvPr>
              <p:cNvSpPr txBox="1">
                <a:spLocks noRot="1" noChangeAspect="1" noMove="1" noResize="1" noEditPoints="1" noAdjustHandles="1" noChangeArrowheads="1" noChangeShapeType="1" noTextEdit="1"/>
              </p:cNvSpPr>
              <p:nvPr/>
            </p:nvSpPr>
            <p:spPr>
              <a:xfrm>
                <a:off x="1443786" y="3246502"/>
                <a:ext cx="18275484" cy="853994"/>
              </a:xfrm>
              <a:prstGeom prst="rect">
                <a:avLst/>
              </a:prstGeom>
              <a:blipFill>
                <a:blip r:embed="rId3"/>
                <a:stretch>
                  <a:fillRect l="-1181" t="-14706" b="-14706"/>
                </a:stretch>
              </a:blipFill>
            </p:spPr>
            <p:txBody>
              <a:bodyPr/>
              <a:lstStyle/>
              <a:p>
                <a:r>
                  <a:rPr lang="ja-JP" altLang="en-US">
                    <a:noFill/>
                  </a:rPr>
                  <a:t> </a:t>
                </a:r>
              </a:p>
            </p:txBody>
          </p:sp>
        </mc:Fallback>
      </mc:AlternateContent>
      <p:sp>
        <p:nvSpPr>
          <p:cNvPr id="41" name="三角形 40">
            <a:extLst>
              <a:ext uri="{FF2B5EF4-FFF2-40B4-BE49-F238E27FC236}">
                <a16:creationId xmlns:a16="http://schemas.microsoft.com/office/drawing/2014/main" id="{31002C7F-FE31-744C-A64A-52AC062DCF8D}"/>
              </a:ext>
            </a:extLst>
          </p:cNvPr>
          <p:cNvSpPr/>
          <p:nvPr/>
        </p:nvSpPr>
        <p:spPr>
          <a:xfrm rot="5400000">
            <a:off x="1076238" y="4091341"/>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mc:AlternateContent xmlns:mc="http://schemas.openxmlformats.org/markup-compatibility/2006" xmlns:a14="http://schemas.microsoft.com/office/drawing/2010/main">
        <mc:Choice Requires="a14">
          <p:sp>
            <p:nvSpPr>
              <p:cNvPr id="42" name="テキスト プレースホルダー 29">
                <a:extLst>
                  <a:ext uri="{FF2B5EF4-FFF2-40B4-BE49-F238E27FC236}">
                    <a16:creationId xmlns:a16="http://schemas.microsoft.com/office/drawing/2014/main" id="{FCC50EAD-E512-4142-B005-10529CBB46B9}"/>
                  </a:ext>
                </a:extLst>
              </p:cNvPr>
              <p:cNvSpPr txBox="1">
                <a:spLocks/>
              </p:cNvSpPr>
              <p:nvPr/>
            </p:nvSpPr>
            <p:spPr>
              <a:xfrm>
                <a:off x="1457090" y="3976067"/>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14:m>
                  <m:oMath xmlns:m="http://schemas.openxmlformats.org/officeDocument/2006/math">
                    <m:r>
                      <a:rPr lang="ja-JP" altLang="en-US" i="1" smtClean="0">
                        <a:latin typeface="Cambria Math" panose="02040503050406030204" pitchFamily="18" charset="0"/>
                      </a:rPr>
                      <m:t>有意差</m:t>
                    </m:r>
                    <m:r>
                      <a:rPr lang="ja-JP" altLang="en-US" i="1" smtClean="0">
                        <a:solidFill>
                          <a:schemeClr val="accent2"/>
                        </a:solidFill>
                        <a:latin typeface="Cambria Math" panose="02040503050406030204" pitchFamily="18" charset="0"/>
                      </a:rPr>
                      <m:t>あり</m:t>
                    </m:r>
                    <m:r>
                      <a:rPr lang="ja-JP" altLang="en-US" b="0" i="1" smtClean="0">
                        <a:latin typeface="Cambria Math" panose="02040503050406030204" pitchFamily="18" charset="0"/>
                      </a:rPr>
                      <m:t>　</m:t>
                    </m:r>
                    <m:r>
                      <a:rPr lang="en-US" altLang="ja-JP" i="1">
                        <a:latin typeface="Cambria Math" panose="02040503050406030204" pitchFamily="18" charset="0"/>
                      </a:rPr>
                      <m:t>𝐹</m:t>
                    </m:r>
                    <m:d>
                      <m:dPr>
                        <m:ctrlPr>
                          <a:rPr lang="en-US" altLang="ja-JP" i="1">
                            <a:latin typeface="Cambria Math" panose="02040503050406030204" pitchFamily="18" charset="0"/>
                          </a:rPr>
                        </m:ctrlPr>
                      </m:dPr>
                      <m:e>
                        <m:r>
                          <a:rPr lang="en-US" altLang="ja-JP" i="1">
                            <a:latin typeface="Cambria Math" panose="02040503050406030204" pitchFamily="18" charset="0"/>
                          </a:rPr>
                          <m:t>1,194</m:t>
                        </m:r>
                      </m:e>
                    </m:d>
                    <m:r>
                      <a:rPr lang="en-US" altLang="ja-JP" i="1">
                        <a:latin typeface="Cambria Math" panose="02040503050406030204" pitchFamily="18" charset="0"/>
                      </a:rPr>
                      <m:t>=4.688, </m:t>
                    </m:r>
                    <m:r>
                      <a:rPr lang="en-US" altLang="ja-JP" i="1">
                        <a:latin typeface="Cambria Math" panose="02040503050406030204" pitchFamily="18" charset="0"/>
                      </a:rPr>
                      <m:t>𝑝</m:t>
                    </m:r>
                    <m:r>
                      <a:rPr lang="en-US" altLang="ja-JP" i="1">
                        <a:latin typeface="Cambria Math" panose="02040503050406030204" pitchFamily="18" charset="0"/>
                      </a:rPr>
                      <m:t>=.032,</m:t>
                    </m:r>
                    <m:r>
                      <a:rPr lang="en-US" altLang="ja-JP" i="1">
                        <a:latin typeface="Cambria Math" panose="02040503050406030204" pitchFamily="18" charset="0"/>
                      </a:rPr>
                      <m:t>𝑑</m:t>
                    </m:r>
                    <m:r>
                      <a:rPr lang="en-US" altLang="ja-JP" i="1">
                        <a:latin typeface="Cambria Math" panose="02040503050406030204" pitchFamily="18" charset="0"/>
                      </a:rPr>
                      <m:t>=0.314</m:t>
                    </m:r>
                  </m:oMath>
                </a14:m>
                <a:r>
                  <a:rPr lang="ja-JP" altLang="en-US"/>
                  <a:t>   </a:t>
                </a:r>
                <a:r>
                  <a:rPr lang="en-US" altLang="ja-JP" dirty="0"/>
                  <a:t>(</a:t>
                </a:r>
                <a:r>
                  <a:rPr lang="ja-JP" altLang="en-US" dirty="0"/>
                  <a:t>エージェント</a:t>
                </a:r>
                <a:r>
                  <a:rPr lang="en-US" altLang="ja-JP" dirty="0"/>
                  <a:t>)</a:t>
                </a:r>
                <a:endParaRPr lang="ja-JP" altLang="en-US"/>
              </a:p>
            </p:txBody>
          </p:sp>
        </mc:Choice>
        <mc:Fallback xmlns="">
          <p:sp>
            <p:nvSpPr>
              <p:cNvPr id="42" name="テキスト プレースホルダー 29">
                <a:extLst>
                  <a:ext uri="{FF2B5EF4-FFF2-40B4-BE49-F238E27FC236}">
                    <a16:creationId xmlns:a16="http://schemas.microsoft.com/office/drawing/2014/main" id="{FCC50EAD-E512-4142-B005-10529CBB46B9}"/>
                  </a:ext>
                </a:extLst>
              </p:cNvPr>
              <p:cNvSpPr txBox="1">
                <a:spLocks noRot="1" noChangeAspect="1" noMove="1" noResize="1" noEditPoints="1" noAdjustHandles="1" noChangeArrowheads="1" noChangeShapeType="1" noTextEdit="1"/>
              </p:cNvSpPr>
              <p:nvPr/>
            </p:nvSpPr>
            <p:spPr>
              <a:xfrm>
                <a:off x="1457090" y="3976067"/>
                <a:ext cx="16135964" cy="853994"/>
              </a:xfrm>
              <a:prstGeom prst="rect">
                <a:avLst/>
              </a:prstGeom>
              <a:blipFill>
                <a:blip r:embed="rId4"/>
                <a:stretch>
                  <a:fillRect l="-787" t="-13235" b="-14706"/>
                </a:stretch>
              </a:blipFill>
            </p:spPr>
            <p:txBody>
              <a:bodyPr/>
              <a:lstStyle/>
              <a:p>
                <a:r>
                  <a:rPr lang="ja-JP" altLang="en-US">
                    <a:noFill/>
                  </a:rPr>
                  <a:t> </a:t>
                </a:r>
              </a:p>
            </p:txBody>
          </p:sp>
        </mc:Fallback>
      </mc:AlternateContent>
      <p:sp>
        <p:nvSpPr>
          <p:cNvPr id="11" name="角丸四角形 10">
            <a:extLst>
              <a:ext uri="{FF2B5EF4-FFF2-40B4-BE49-F238E27FC236}">
                <a16:creationId xmlns:a16="http://schemas.microsoft.com/office/drawing/2014/main" id="{304C86DB-2406-E840-8BE5-D4DFBFD11135}"/>
              </a:ext>
            </a:extLst>
          </p:cNvPr>
          <p:cNvSpPr/>
          <p:nvPr/>
        </p:nvSpPr>
        <p:spPr>
          <a:xfrm>
            <a:off x="3490480" y="5550565"/>
            <a:ext cx="11307040" cy="109086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bg2"/>
                </a:solidFill>
              </a:rPr>
              <a:t>価値の損失は人間・エージェント双方に発生する</a:t>
            </a:r>
          </a:p>
        </p:txBody>
      </p:sp>
      <p:sp>
        <p:nvSpPr>
          <p:cNvPr id="45" name="三角形 44">
            <a:extLst>
              <a:ext uri="{FF2B5EF4-FFF2-40B4-BE49-F238E27FC236}">
                <a16:creationId xmlns:a16="http://schemas.microsoft.com/office/drawing/2014/main" id="{55024619-97C2-264B-B3C3-89379D6FC462}"/>
              </a:ext>
            </a:extLst>
          </p:cNvPr>
          <p:cNvSpPr/>
          <p:nvPr/>
        </p:nvSpPr>
        <p:spPr>
          <a:xfrm rot="10800000">
            <a:off x="8791957" y="4895237"/>
            <a:ext cx="704086" cy="387220"/>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Tree>
    <p:extLst>
      <p:ext uri="{BB962C8B-B14F-4D97-AF65-F5344CB8AC3E}">
        <p14:creationId xmlns:p14="http://schemas.microsoft.com/office/powerpoint/2010/main" val="1478289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3520CDD-7107-D140-A1A0-69D0D69B10F3}"/>
              </a:ext>
            </a:extLst>
          </p:cNvPr>
          <p:cNvSpPr>
            <a:spLocks noGrp="1"/>
          </p:cNvSpPr>
          <p:nvPr>
            <p:ph type="dt" sz="half" idx="10"/>
          </p:nvPr>
        </p:nvSpPr>
        <p:spPr/>
        <p:txBody>
          <a:bodyPr/>
          <a:lstStyle/>
          <a:p>
            <a:fld id="{35974365-84F6-754A-A339-DA79FFD42E98}" type="datetime1">
              <a:rPr lang="ja-JP" altLang="en-US" smtClean="0"/>
              <a:t>2018/6/9</a:t>
            </a:fld>
            <a:endParaRPr lang="ja-JP" altLang="en-US"/>
          </a:p>
        </p:txBody>
      </p:sp>
      <p:sp>
        <p:nvSpPr>
          <p:cNvPr id="3" name="フッター プレースホルダー 2">
            <a:extLst>
              <a:ext uri="{FF2B5EF4-FFF2-40B4-BE49-F238E27FC236}">
                <a16:creationId xmlns:a16="http://schemas.microsoft.com/office/drawing/2014/main" id="{6EEFBA0C-3454-8D4D-87CE-5BA9ED8AFBE5}"/>
              </a:ext>
            </a:extLst>
          </p:cNvPr>
          <p:cNvSpPr>
            <a:spLocks noGrp="1"/>
          </p:cNvSpPr>
          <p:nvPr>
            <p:ph type="ftr" sz="quarter" idx="11"/>
          </p:nvPr>
        </p:nvSpPr>
        <p:spPr/>
        <p:txBody>
          <a:bodyPr/>
          <a:lstStyle/>
          <a:p>
            <a:r>
              <a:rPr lang="ja-JP" altLang="en-US"/>
              <a:t>進捗報告</a:t>
            </a:r>
            <a:r>
              <a:rPr lang="en-US" altLang="ja-JP"/>
              <a:t>(2018.06.06)</a:t>
            </a:r>
            <a:endParaRPr lang="ja-JP" altLang="en-US"/>
          </a:p>
        </p:txBody>
      </p:sp>
      <p:sp>
        <p:nvSpPr>
          <p:cNvPr id="4" name="スライド番号プレースホルダー 3">
            <a:extLst>
              <a:ext uri="{FF2B5EF4-FFF2-40B4-BE49-F238E27FC236}">
                <a16:creationId xmlns:a16="http://schemas.microsoft.com/office/drawing/2014/main" id="{5D405AD0-9091-A94B-BA67-32995AD15B35}"/>
              </a:ext>
            </a:extLst>
          </p:cNvPr>
          <p:cNvSpPr>
            <a:spLocks noGrp="1"/>
          </p:cNvSpPr>
          <p:nvPr>
            <p:ph type="sldNum" sz="quarter" idx="12"/>
          </p:nvPr>
        </p:nvSpPr>
        <p:spPr/>
        <p:txBody>
          <a:bodyPr/>
          <a:lstStyle/>
          <a:p>
            <a:fld id="{89242BC1-393D-1248-985B-18DA624F2964}" type="slidenum">
              <a:rPr lang="ja-JP" altLang="en-US" smtClean="0"/>
              <a:pPr/>
              <a:t>20</a:t>
            </a:fld>
            <a:endParaRPr lang="ja-JP" altLang="en-US"/>
          </a:p>
        </p:txBody>
      </p:sp>
      <p:sp>
        <p:nvSpPr>
          <p:cNvPr id="5" name="テキスト プレースホルダー 4">
            <a:extLst>
              <a:ext uri="{FF2B5EF4-FFF2-40B4-BE49-F238E27FC236}">
                <a16:creationId xmlns:a16="http://schemas.microsoft.com/office/drawing/2014/main" id="{26DD2A8D-F804-D546-B77D-9693A67C3E0B}"/>
              </a:ext>
            </a:extLst>
          </p:cNvPr>
          <p:cNvSpPr>
            <a:spLocks noGrp="1"/>
          </p:cNvSpPr>
          <p:nvPr>
            <p:ph type="body" sz="quarter" idx="14"/>
          </p:nvPr>
        </p:nvSpPr>
        <p:spPr/>
        <p:txBody>
          <a:bodyPr/>
          <a:lstStyle/>
          <a:p>
            <a:r>
              <a:rPr lang="ja-JP" altLang="en-US"/>
              <a:t>評価・考察</a:t>
            </a:r>
            <a:endParaRPr kumimoji="1" lang="ja-JP" altLang="en-US"/>
          </a:p>
        </p:txBody>
      </p:sp>
      <p:sp>
        <p:nvSpPr>
          <p:cNvPr id="6" name="テキスト プレースホルダー 5">
            <a:extLst>
              <a:ext uri="{FF2B5EF4-FFF2-40B4-BE49-F238E27FC236}">
                <a16:creationId xmlns:a16="http://schemas.microsoft.com/office/drawing/2014/main" id="{18F5D246-4675-9D44-B96B-BEDD6F01EDA7}"/>
              </a:ext>
            </a:extLst>
          </p:cNvPr>
          <p:cNvSpPr>
            <a:spLocks noGrp="1"/>
          </p:cNvSpPr>
          <p:nvPr>
            <p:ph type="body" sz="quarter" idx="13"/>
          </p:nvPr>
        </p:nvSpPr>
        <p:spPr/>
        <p:txBody>
          <a:bodyPr/>
          <a:lstStyle/>
          <a:p>
            <a:r>
              <a:rPr lang="en-US" altLang="ja-JP" dirty="0"/>
              <a:t>3</a:t>
            </a:r>
            <a:endParaRPr kumimoji="1" lang="ja-JP" altLang="en-US"/>
          </a:p>
        </p:txBody>
      </p:sp>
      <p:grpSp>
        <p:nvGrpSpPr>
          <p:cNvPr id="31" name="グループ化 30">
            <a:extLst>
              <a:ext uri="{FF2B5EF4-FFF2-40B4-BE49-F238E27FC236}">
                <a16:creationId xmlns:a16="http://schemas.microsoft.com/office/drawing/2014/main" id="{FD81DDC5-24B5-F24B-8DCA-6543CEE8DC81}"/>
              </a:ext>
            </a:extLst>
          </p:cNvPr>
          <p:cNvGrpSpPr/>
          <p:nvPr/>
        </p:nvGrpSpPr>
        <p:grpSpPr>
          <a:xfrm>
            <a:off x="289330" y="1413298"/>
            <a:ext cx="2160000" cy="934436"/>
            <a:chOff x="144665" y="525617"/>
            <a:chExt cx="1080000" cy="467218"/>
          </a:xfrm>
        </p:grpSpPr>
        <p:sp>
          <p:nvSpPr>
            <p:cNvPr id="32" name="正方形/長方形 31">
              <a:extLst>
                <a:ext uri="{FF2B5EF4-FFF2-40B4-BE49-F238E27FC236}">
                  <a16:creationId xmlns:a16="http://schemas.microsoft.com/office/drawing/2014/main" id="{073638CC-28A2-E943-AD34-548A0C227633}"/>
                </a:ext>
              </a:extLst>
            </p:cNvPr>
            <p:cNvSpPr/>
            <p:nvPr userDrawn="1"/>
          </p:nvSpPr>
          <p:spPr>
            <a:xfrm>
              <a:off x="145524" y="542424"/>
              <a:ext cx="91081" cy="450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sp>
          <p:nvSpPr>
            <p:cNvPr id="33" name="正方形/長方形 32">
              <a:extLst>
                <a:ext uri="{FF2B5EF4-FFF2-40B4-BE49-F238E27FC236}">
                  <a16:creationId xmlns:a16="http://schemas.microsoft.com/office/drawing/2014/main" id="{89C51296-914D-A74C-889D-A570C54F6A57}"/>
                </a:ext>
              </a:extLst>
            </p:cNvPr>
            <p:cNvSpPr/>
            <p:nvPr userDrawn="1"/>
          </p:nvSpPr>
          <p:spPr>
            <a:xfrm>
              <a:off x="144665" y="525617"/>
              <a:ext cx="1080000" cy="161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grpSp>
      <p:grpSp>
        <p:nvGrpSpPr>
          <p:cNvPr id="34" name="グループ化 33">
            <a:extLst>
              <a:ext uri="{FF2B5EF4-FFF2-40B4-BE49-F238E27FC236}">
                <a16:creationId xmlns:a16="http://schemas.microsoft.com/office/drawing/2014/main" id="{FC0C993D-26F8-9648-8C42-6E3A827F97DE}"/>
              </a:ext>
            </a:extLst>
          </p:cNvPr>
          <p:cNvGrpSpPr/>
          <p:nvPr/>
        </p:nvGrpSpPr>
        <p:grpSpPr>
          <a:xfrm>
            <a:off x="617232" y="2557358"/>
            <a:ext cx="539448" cy="487368"/>
            <a:chOff x="400056" y="1061560"/>
            <a:chExt cx="269724" cy="243684"/>
          </a:xfrm>
        </p:grpSpPr>
        <p:sp>
          <p:nvSpPr>
            <p:cNvPr id="35" name="三角形 34">
              <a:extLst>
                <a:ext uri="{FF2B5EF4-FFF2-40B4-BE49-F238E27FC236}">
                  <a16:creationId xmlns:a16="http://schemas.microsoft.com/office/drawing/2014/main" id="{21EC1BB2-1EA3-DB45-83ED-42197AA1F0E3}"/>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36" name="三角形 35">
              <a:extLst>
                <a:ext uri="{FF2B5EF4-FFF2-40B4-BE49-F238E27FC236}">
                  <a16:creationId xmlns:a16="http://schemas.microsoft.com/office/drawing/2014/main" id="{92822503-D36D-7644-A490-99EB8A1079E7}"/>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37" name="テキスト プレースホルダー 30">
            <a:extLst>
              <a:ext uri="{FF2B5EF4-FFF2-40B4-BE49-F238E27FC236}">
                <a16:creationId xmlns:a16="http://schemas.microsoft.com/office/drawing/2014/main" id="{A73B3907-668E-1A41-B5F4-6D46EA930E91}"/>
              </a:ext>
            </a:extLst>
          </p:cNvPr>
          <p:cNvSpPr txBox="1">
            <a:spLocks/>
          </p:cNvSpPr>
          <p:nvPr/>
        </p:nvSpPr>
        <p:spPr>
          <a:xfrm>
            <a:off x="571049" y="1583871"/>
            <a:ext cx="17302163" cy="1403350"/>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60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Strategic</a:t>
            </a:r>
            <a:r>
              <a:rPr lang="ja-JP" altLang="en-US"/>
              <a:t>な行動による影響</a:t>
            </a:r>
          </a:p>
        </p:txBody>
      </p:sp>
      <p:sp>
        <p:nvSpPr>
          <p:cNvPr id="38" name="テキスト プレースホルダー 27">
            <a:extLst>
              <a:ext uri="{FF2B5EF4-FFF2-40B4-BE49-F238E27FC236}">
                <a16:creationId xmlns:a16="http://schemas.microsoft.com/office/drawing/2014/main" id="{52FC6201-0015-374A-A9F7-4FCF0162EFE8}"/>
              </a:ext>
            </a:extLst>
          </p:cNvPr>
          <p:cNvSpPr txBox="1">
            <a:spLocks/>
          </p:cNvSpPr>
          <p:nvPr/>
        </p:nvSpPr>
        <p:spPr>
          <a:xfrm>
            <a:off x="1254486" y="2484733"/>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Strategic</a:t>
            </a:r>
            <a:r>
              <a:rPr lang="ja-JP" altLang="en-US"/>
              <a:t>は</a:t>
            </a:r>
            <a:r>
              <a:rPr lang="en-US" altLang="ja-JP" dirty="0"/>
              <a:t>Free</a:t>
            </a:r>
            <a:r>
              <a:rPr lang="ja-JP" altLang="en-US"/>
              <a:t>よりも選好情報を伝達しない</a:t>
            </a:r>
            <a:endParaRPr lang="en-US" altLang="ja-JP" dirty="0"/>
          </a:p>
        </p:txBody>
      </p:sp>
      <p:pic>
        <p:nvPicPr>
          <p:cNvPr id="10" name="図 9">
            <a:extLst>
              <a:ext uri="{FF2B5EF4-FFF2-40B4-BE49-F238E27FC236}">
                <a16:creationId xmlns:a16="http://schemas.microsoft.com/office/drawing/2014/main" id="{CC387141-DEC8-7C40-B8B4-8FE40EBDDF18}"/>
              </a:ext>
            </a:extLst>
          </p:cNvPr>
          <p:cNvPicPr>
            <a:picLocks noChangeAspect="1"/>
          </p:cNvPicPr>
          <p:nvPr/>
        </p:nvPicPr>
        <p:blipFill>
          <a:blip r:embed="rId2"/>
          <a:stretch>
            <a:fillRect/>
          </a:stretch>
        </p:blipFill>
        <p:spPr>
          <a:xfrm>
            <a:off x="5349396" y="7709495"/>
            <a:ext cx="7589208" cy="5594416"/>
          </a:xfrm>
          <a:prstGeom prst="rect">
            <a:avLst/>
          </a:prstGeom>
        </p:spPr>
      </p:pic>
      <p:sp>
        <p:nvSpPr>
          <p:cNvPr id="39" name="三角形 38">
            <a:extLst>
              <a:ext uri="{FF2B5EF4-FFF2-40B4-BE49-F238E27FC236}">
                <a16:creationId xmlns:a16="http://schemas.microsoft.com/office/drawing/2014/main" id="{38425CB4-4F62-4C41-AF71-41D925B77A4D}"/>
              </a:ext>
            </a:extLst>
          </p:cNvPr>
          <p:cNvSpPr/>
          <p:nvPr/>
        </p:nvSpPr>
        <p:spPr>
          <a:xfrm rot="5400000">
            <a:off x="1076238" y="3361776"/>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40" name="テキスト プレースホルダー 29">
            <a:extLst>
              <a:ext uri="{FF2B5EF4-FFF2-40B4-BE49-F238E27FC236}">
                <a16:creationId xmlns:a16="http://schemas.microsoft.com/office/drawing/2014/main" id="{3BEBEE22-EDA1-D049-A160-F12C04BE26CB}"/>
              </a:ext>
            </a:extLst>
          </p:cNvPr>
          <p:cNvSpPr txBox="1">
            <a:spLocks/>
          </p:cNvSpPr>
          <p:nvPr/>
        </p:nvSpPr>
        <p:spPr>
          <a:xfrm>
            <a:off x="1443786" y="3246502"/>
            <a:ext cx="1827548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被験者から協調的ではないとみなされる</a:t>
            </a:r>
          </a:p>
        </p:txBody>
      </p:sp>
      <p:sp>
        <p:nvSpPr>
          <p:cNvPr id="22" name="三角形 21">
            <a:extLst>
              <a:ext uri="{FF2B5EF4-FFF2-40B4-BE49-F238E27FC236}">
                <a16:creationId xmlns:a16="http://schemas.microsoft.com/office/drawing/2014/main" id="{2E2F3E23-DF60-0247-BDBE-59F5E2856AE6}"/>
              </a:ext>
            </a:extLst>
          </p:cNvPr>
          <p:cNvSpPr/>
          <p:nvPr/>
        </p:nvSpPr>
        <p:spPr>
          <a:xfrm rot="5400000">
            <a:off x="1076238" y="4091341"/>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23" name="テキスト プレースホルダー 29">
            <a:extLst>
              <a:ext uri="{FF2B5EF4-FFF2-40B4-BE49-F238E27FC236}">
                <a16:creationId xmlns:a16="http://schemas.microsoft.com/office/drawing/2014/main" id="{99DEF933-024B-E744-9AC5-87472316B7E0}"/>
              </a:ext>
            </a:extLst>
          </p:cNvPr>
          <p:cNvSpPr txBox="1">
            <a:spLocks/>
          </p:cNvSpPr>
          <p:nvPr/>
        </p:nvSpPr>
        <p:spPr>
          <a:xfrm>
            <a:off x="1457090" y="3976067"/>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一方で統合的交渉では関係構築・妥協が重要</a:t>
            </a:r>
            <a:endParaRPr lang="en-US" altLang="ja-JP" dirty="0"/>
          </a:p>
        </p:txBody>
      </p:sp>
      <p:sp>
        <p:nvSpPr>
          <p:cNvPr id="24" name="角丸四角形 23">
            <a:extLst>
              <a:ext uri="{FF2B5EF4-FFF2-40B4-BE49-F238E27FC236}">
                <a16:creationId xmlns:a16="http://schemas.microsoft.com/office/drawing/2014/main" id="{1AD87DFB-BA45-DD4F-8087-7CD1D1B20456}"/>
              </a:ext>
            </a:extLst>
          </p:cNvPr>
          <p:cNvSpPr/>
          <p:nvPr/>
        </p:nvSpPr>
        <p:spPr>
          <a:xfrm>
            <a:off x="3490480" y="5550565"/>
            <a:ext cx="11307040" cy="109086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bg2"/>
                </a:solidFill>
              </a:rPr>
              <a:t>結果的にお互いが獲得できる価値が減少する</a:t>
            </a:r>
            <a:r>
              <a:rPr kumimoji="1" lang="en-US" altLang="ja-JP" dirty="0">
                <a:solidFill>
                  <a:schemeClr val="bg2"/>
                </a:solidFill>
              </a:rPr>
              <a:t>(Q2)</a:t>
            </a:r>
            <a:endParaRPr kumimoji="1" lang="ja-JP" altLang="en-US">
              <a:solidFill>
                <a:schemeClr val="bg2"/>
              </a:solidFill>
            </a:endParaRPr>
          </a:p>
        </p:txBody>
      </p:sp>
      <p:sp>
        <p:nvSpPr>
          <p:cNvPr id="25" name="三角形 24">
            <a:extLst>
              <a:ext uri="{FF2B5EF4-FFF2-40B4-BE49-F238E27FC236}">
                <a16:creationId xmlns:a16="http://schemas.microsoft.com/office/drawing/2014/main" id="{B620F0D8-942E-4349-BD1F-149CFAF0B2A1}"/>
              </a:ext>
            </a:extLst>
          </p:cNvPr>
          <p:cNvSpPr/>
          <p:nvPr/>
        </p:nvSpPr>
        <p:spPr>
          <a:xfrm rot="10800000">
            <a:off x="8791957" y="4895237"/>
            <a:ext cx="704086" cy="387220"/>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Tree>
    <p:extLst>
      <p:ext uri="{BB962C8B-B14F-4D97-AF65-F5344CB8AC3E}">
        <p14:creationId xmlns:p14="http://schemas.microsoft.com/office/powerpoint/2010/main" val="22364879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3520CDD-7107-D140-A1A0-69D0D69B10F3}"/>
              </a:ext>
            </a:extLst>
          </p:cNvPr>
          <p:cNvSpPr>
            <a:spLocks noGrp="1"/>
          </p:cNvSpPr>
          <p:nvPr>
            <p:ph type="dt" sz="half" idx="10"/>
          </p:nvPr>
        </p:nvSpPr>
        <p:spPr/>
        <p:txBody>
          <a:bodyPr/>
          <a:lstStyle/>
          <a:p>
            <a:fld id="{35974365-84F6-754A-A339-DA79FFD42E98}" type="datetime1">
              <a:rPr lang="ja-JP" altLang="en-US" smtClean="0"/>
              <a:t>2018/6/9</a:t>
            </a:fld>
            <a:endParaRPr lang="ja-JP" altLang="en-US"/>
          </a:p>
        </p:txBody>
      </p:sp>
      <p:sp>
        <p:nvSpPr>
          <p:cNvPr id="3" name="フッター プレースホルダー 2">
            <a:extLst>
              <a:ext uri="{FF2B5EF4-FFF2-40B4-BE49-F238E27FC236}">
                <a16:creationId xmlns:a16="http://schemas.microsoft.com/office/drawing/2014/main" id="{6EEFBA0C-3454-8D4D-87CE-5BA9ED8AFBE5}"/>
              </a:ext>
            </a:extLst>
          </p:cNvPr>
          <p:cNvSpPr>
            <a:spLocks noGrp="1"/>
          </p:cNvSpPr>
          <p:nvPr>
            <p:ph type="ftr" sz="quarter" idx="11"/>
          </p:nvPr>
        </p:nvSpPr>
        <p:spPr/>
        <p:txBody>
          <a:bodyPr/>
          <a:lstStyle/>
          <a:p>
            <a:r>
              <a:rPr lang="ja-JP" altLang="en-US"/>
              <a:t>進捗報告</a:t>
            </a:r>
            <a:r>
              <a:rPr lang="en-US" altLang="ja-JP"/>
              <a:t>(2018.06.06)</a:t>
            </a:r>
            <a:endParaRPr lang="ja-JP" altLang="en-US"/>
          </a:p>
        </p:txBody>
      </p:sp>
      <p:sp>
        <p:nvSpPr>
          <p:cNvPr id="4" name="スライド番号プレースホルダー 3">
            <a:extLst>
              <a:ext uri="{FF2B5EF4-FFF2-40B4-BE49-F238E27FC236}">
                <a16:creationId xmlns:a16="http://schemas.microsoft.com/office/drawing/2014/main" id="{5D405AD0-9091-A94B-BA67-32995AD15B35}"/>
              </a:ext>
            </a:extLst>
          </p:cNvPr>
          <p:cNvSpPr>
            <a:spLocks noGrp="1"/>
          </p:cNvSpPr>
          <p:nvPr>
            <p:ph type="sldNum" sz="quarter" idx="12"/>
          </p:nvPr>
        </p:nvSpPr>
        <p:spPr/>
        <p:txBody>
          <a:bodyPr/>
          <a:lstStyle/>
          <a:p>
            <a:fld id="{89242BC1-393D-1248-985B-18DA624F2964}" type="slidenum">
              <a:rPr lang="ja-JP" altLang="en-US" smtClean="0"/>
              <a:pPr/>
              <a:t>21</a:t>
            </a:fld>
            <a:endParaRPr lang="ja-JP" altLang="en-US"/>
          </a:p>
        </p:txBody>
      </p:sp>
      <p:sp>
        <p:nvSpPr>
          <p:cNvPr id="5" name="テキスト プレースホルダー 4">
            <a:extLst>
              <a:ext uri="{FF2B5EF4-FFF2-40B4-BE49-F238E27FC236}">
                <a16:creationId xmlns:a16="http://schemas.microsoft.com/office/drawing/2014/main" id="{26DD2A8D-F804-D546-B77D-9693A67C3E0B}"/>
              </a:ext>
            </a:extLst>
          </p:cNvPr>
          <p:cNvSpPr>
            <a:spLocks noGrp="1"/>
          </p:cNvSpPr>
          <p:nvPr>
            <p:ph type="body" sz="quarter" idx="14"/>
          </p:nvPr>
        </p:nvSpPr>
        <p:spPr/>
        <p:txBody>
          <a:bodyPr/>
          <a:lstStyle/>
          <a:p>
            <a:r>
              <a:rPr lang="ja-JP" altLang="en-US"/>
              <a:t>評価・考察</a:t>
            </a:r>
            <a:endParaRPr kumimoji="1" lang="ja-JP" altLang="en-US"/>
          </a:p>
        </p:txBody>
      </p:sp>
      <p:sp>
        <p:nvSpPr>
          <p:cNvPr id="6" name="テキスト プレースホルダー 5">
            <a:extLst>
              <a:ext uri="{FF2B5EF4-FFF2-40B4-BE49-F238E27FC236}">
                <a16:creationId xmlns:a16="http://schemas.microsoft.com/office/drawing/2014/main" id="{18F5D246-4675-9D44-B96B-BEDD6F01EDA7}"/>
              </a:ext>
            </a:extLst>
          </p:cNvPr>
          <p:cNvSpPr>
            <a:spLocks noGrp="1"/>
          </p:cNvSpPr>
          <p:nvPr>
            <p:ph type="body" sz="quarter" idx="13"/>
          </p:nvPr>
        </p:nvSpPr>
        <p:spPr/>
        <p:txBody>
          <a:bodyPr/>
          <a:lstStyle/>
          <a:p>
            <a:r>
              <a:rPr lang="en-US" altLang="ja-JP" dirty="0"/>
              <a:t>3</a:t>
            </a:r>
            <a:endParaRPr kumimoji="1" lang="ja-JP" altLang="en-US"/>
          </a:p>
        </p:txBody>
      </p:sp>
      <p:grpSp>
        <p:nvGrpSpPr>
          <p:cNvPr id="31" name="グループ化 30">
            <a:extLst>
              <a:ext uri="{FF2B5EF4-FFF2-40B4-BE49-F238E27FC236}">
                <a16:creationId xmlns:a16="http://schemas.microsoft.com/office/drawing/2014/main" id="{FD81DDC5-24B5-F24B-8DCA-6543CEE8DC81}"/>
              </a:ext>
            </a:extLst>
          </p:cNvPr>
          <p:cNvGrpSpPr/>
          <p:nvPr/>
        </p:nvGrpSpPr>
        <p:grpSpPr>
          <a:xfrm>
            <a:off x="289330" y="1413298"/>
            <a:ext cx="2160000" cy="934436"/>
            <a:chOff x="144665" y="525617"/>
            <a:chExt cx="1080000" cy="467218"/>
          </a:xfrm>
        </p:grpSpPr>
        <p:sp>
          <p:nvSpPr>
            <p:cNvPr id="32" name="正方形/長方形 31">
              <a:extLst>
                <a:ext uri="{FF2B5EF4-FFF2-40B4-BE49-F238E27FC236}">
                  <a16:creationId xmlns:a16="http://schemas.microsoft.com/office/drawing/2014/main" id="{073638CC-28A2-E943-AD34-548A0C227633}"/>
                </a:ext>
              </a:extLst>
            </p:cNvPr>
            <p:cNvSpPr/>
            <p:nvPr userDrawn="1"/>
          </p:nvSpPr>
          <p:spPr>
            <a:xfrm>
              <a:off x="145524" y="542424"/>
              <a:ext cx="91081" cy="450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sp>
          <p:nvSpPr>
            <p:cNvPr id="33" name="正方形/長方形 32">
              <a:extLst>
                <a:ext uri="{FF2B5EF4-FFF2-40B4-BE49-F238E27FC236}">
                  <a16:creationId xmlns:a16="http://schemas.microsoft.com/office/drawing/2014/main" id="{89C51296-914D-A74C-889D-A570C54F6A57}"/>
                </a:ext>
              </a:extLst>
            </p:cNvPr>
            <p:cNvSpPr/>
            <p:nvPr userDrawn="1"/>
          </p:nvSpPr>
          <p:spPr>
            <a:xfrm>
              <a:off x="144665" y="525617"/>
              <a:ext cx="1080000" cy="161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grpSp>
      <p:sp>
        <p:nvSpPr>
          <p:cNvPr id="37" name="テキスト プレースホルダー 30">
            <a:extLst>
              <a:ext uri="{FF2B5EF4-FFF2-40B4-BE49-F238E27FC236}">
                <a16:creationId xmlns:a16="http://schemas.microsoft.com/office/drawing/2014/main" id="{A73B3907-668E-1A41-B5F4-6D46EA930E91}"/>
              </a:ext>
            </a:extLst>
          </p:cNvPr>
          <p:cNvSpPr txBox="1">
            <a:spLocks/>
          </p:cNvSpPr>
          <p:nvPr/>
        </p:nvSpPr>
        <p:spPr>
          <a:xfrm>
            <a:off x="571049" y="1583871"/>
            <a:ext cx="17302163" cy="1403350"/>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60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被験者が送信した選好の数</a:t>
            </a:r>
          </a:p>
        </p:txBody>
      </p:sp>
      <p:pic>
        <p:nvPicPr>
          <p:cNvPr id="8" name="図 7">
            <a:extLst>
              <a:ext uri="{FF2B5EF4-FFF2-40B4-BE49-F238E27FC236}">
                <a16:creationId xmlns:a16="http://schemas.microsoft.com/office/drawing/2014/main" id="{CA6373BE-F163-FB46-A26E-959C6B58B094}"/>
              </a:ext>
            </a:extLst>
          </p:cNvPr>
          <p:cNvPicPr>
            <a:picLocks noChangeAspect="1"/>
          </p:cNvPicPr>
          <p:nvPr/>
        </p:nvPicPr>
        <p:blipFill>
          <a:blip r:embed="rId2"/>
          <a:stretch>
            <a:fillRect/>
          </a:stretch>
        </p:blipFill>
        <p:spPr>
          <a:xfrm>
            <a:off x="4417143" y="7714449"/>
            <a:ext cx="10215858" cy="5594400"/>
          </a:xfrm>
          <a:prstGeom prst="rect">
            <a:avLst/>
          </a:prstGeom>
        </p:spPr>
      </p:pic>
      <p:sp>
        <p:nvSpPr>
          <p:cNvPr id="27" name="テキスト プレースホルダー 27">
            <a:extLst>
              <a:ext uri="{FF2B5EF4-FFF2-40B4-BE49-F238E27FC236}">
                <a16:creationId xmlns:a16="http://schemas.microsoft.com/office/drawing/2014/main" id="{93A2A9E1-21DA-184F-B179-025C75CC0F29}"/>
              </a:ext>
            </a:extLst>
          </p:cNvPr>
          <p:cNvSpPr txBox="1">
            <a:spLocks/>
          </p:cNvSpPr>
          <p:nvPr/>
        </p:nvSpPr>
        <p:spPr>
          <a:xfrm>
            <a:off x="1254486" y="2486122"/>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ANOVA</a:t>
            </a:r>
            <a:r>
              <a:rPr lang="ja-JP" altLang="en-US"/>
              <a:t>を使用しエージェントの戦略による影響を分析</a:t>
            </a:r>
            <a:endParaRPr lang="en-US" altLang="ja-JP" dirty="0"/>
          </a:p>
        </p:txBody>
      </p:sp>
      <p:sp>
        <p:nvSpPr>
          <p:cNvPr id="43" name="三角形 42">
            <a:extLst>
              <a:ext uri="{FF2B5EF4-FFF2-40B4-BE49-F238E27FC236}">
                <a16:creationId xmlns:a16="http://schemas.microsoft.com/office/drawing/2014/main" id="{3BA6E0CA-5B3A-8744-BA08-F8D25A41C8E3}"/>
              </a:ext>
            </a:extLst>
          </p:cNvPr>
          <p:cNvSpPr/>
          <p:nvPr/>
        </p:nvSpPr>
        <p:spPr>
          <a:xfrm rot="5400000">
            <a:off x="1076238" y="5081456"/>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mc:AlternateContent xmlns:mc="http://schemas.openxmlformats.org/markup-compatibility/2006" xmlns:a14="http://schemas.microsoft.com/office/drawing/2010/main">
        <mc:Choice Requires="a14">
          <p:sp>
            <p:nvSpPr>
              <p:cNvPr id="44" name="テキスト プレースホルダー 29">
                <a:extLst>
                  <a:ext uri="{FF2B5EF4-FFF2-40B4-BE49-F238E27FC236}">
                    <a16:creationId xmlns:a16="http://schemas.microsoft.com/office/drawing/2014/main" id="{75162964-40A5-2D48-9D31-03DC803CC622}"/>
                  </a:ext>
                </a:extLst>
              </p:cNvPr>
              <p:cNvSpPr txBox="1">
                <a:spLocks/>
              </p:cNvSpPr>
              <p:nvPr/>
            </p:nvSpPr>
            <p:spPr>
              <a:xfrm>
                <a:off x="1457090" y="4966182"/>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pPr/>
                <a14:m>
                  <m:oMathPara xmlns:m="http://schemas.openxmlformats.org/officeDocument/2006/math">
                    <m:oMathParaPr>
                      <m:jc m:val="left"/>
                    </m:oMathParaPr>
                    <m:oMath xmlns:m="http://schemas.openxmlformats.org/officeDocument/2006/math">
                      <m:r>
                        <a:rPr lang="ja-JP" altLang="en-US" i="1" smtClean="0">
                          <a:latin typeface="Cambria Math" panose="02040503050406030204" pitchFamily="18" charset="0"/>
                        </a:rPr>
                        <m:t>有意差</m:t>
                      </m:r>
                      <m:r>
                        <a:rPr lang="ja-JP" altLang="en-US" i="1">
                          <a:solidFill>
                            <a:schemeClr val="accent2"/>
                          </a:solidFill>
                          <a:latin typeface="Cambria Math" panose="02040503050406030204" pitchFamily="18" charset="0"/>
                        </a:rPr>
                        <m:t>あり</m:t>
                      </m:r>
                      <m:r>
                        <a:rPr lang="ja-JP" altLang="en-US" i="1">
                          <a:latin typeface="Cambria Math" panose="02040503050406030204" pitchFamily="18" charset="0"/>
                        </a:rPr>
                        <m:t>　</m:t>
                      </m:r>
                      <m:r>
                        <a:rPr lang="en-US" altLang="ja-JP" i="1">
                          <a:latin typeface="Cambria Math" panose="02040503050406030204" pitchFamily="18" charset="0"/>
                        </a:rPr>
                        <m:t>𝐹</m:t>
                      </m:r>
                      <m:d>
                        <m:dPr>
                          <m:ctrlPr>
                            <a:rPr lang="en-US" altLang="ja-JP" i="1">
                              <a:latin typeface="Cambria Math" panose="02040503050406030204" pitchFamily="18" charset="0"/>
                            </a:rPr>
                          </m:ctrlPr>
                        </m:dPr>
                        <m:e>
                          <m:r>
                            <a:rPr lang="en-US" altLang="ja-JP" i="1">
                              <a:latin typeface="Cambria Math" panose="02040503050406030204" pitchFamily="18" charset="0"/>
                            </a:rPr>
                            <m:t>1,194</m:t>
                          </m:r>
                        </m:e>
                      </m:d>
                      <m:r>
                        <a:rPr lang="en-US" altLang="ja-JP" i="1">
                          <a:latin typeface="Cambria Math" panose="02040503050406030204" pitchFamily="18" charset="0"/>
                        </a:rPr>
                        <m:t>=6.523</m:t>
                      </m:r>
                      <m:r>
                        <a:rPr lang="en-US" altLang="ja-JP" b="0" i="1" smtClean="0">
                          <a:latin typeface="Cambria Math" panose="02040503050406030204" pitchFamily="18" charset="0"/>
                        </a:rPr>
                        <m:t>,</m:t>
                      </m:r>
                      <m:r>
                        <a:rPr lang="en-US" altLang="ja-JP" i="1">
                          <a:latin typeface="Cambria Math" panose="02040503050406030204" pitchFamily="18" charset="0"/>
                        </a:rPr>
                        <m:t> </m:t>
                      </m:r>
                      <m:r>
                        <a:rPr lang="en-US" altLang="ja-JP" i="1">
                          <a:latin typeface="Cambria Math" panose="02040503050406030204" pitchFamily="18" charset="0"/>
                        </a:rPr>
                        <m:t>𝑝</m:t>
                      </m:r>
                      <m:r>
                        <a:rPr lang="en-US" altLang="ja-JP" i="1">
                          <a:latin typeface="Cambria Math" panose="02040503050406030204" pitchFamily="18" charset="0"/>
                        </a:rPr>
                        <m:t>=.011,</m:t>
                      </m:r>
                      <m:r>
                        <a:rPr lang="en-US" altLang="ja-JP" i="1">
                          <a:latin typeface="Cambria Math" panose="02040503050406030204" pitchFamily="18" charset="0"/>
                        </a:rPr>
                        <m:t>𝑑</m:t>
                      </m:r>
                      <m:r>
                        <a:rPr lang="en-US" altLang="ja-JP" i="1">
                          <a:latin typeface="Cambria Math" panose="02040503050406030204" pitchFamily="18" charset="0"/>
                        </a:rPr>
                        <m:t>=0.370</m:t>
                      </m:r>
                    </m:oMath>
                  </m:oMathPara>
                </a14:m>
                <a:endParaRPr lang="ja-JP" altLang="en-US"/>
              </a:p>
            </p:txBody>
          </p:sp>
        </mc:Choice>
        <mc:Fallback xmlns="">
          <p:sp>
            <p:nvSpPr>
              <p:cNvPr id="44" name="テキスト プレースホルダー 29">
                <a:extLst>
                  <a:ext uri="{FF2B5EF4-FFF2-40B4-BE49-F238E27FC236}">
                    <a16:creationId xmlns:a16="http://schemas.microsoft.com/office/drawing/2014/main" id="{75162964-40A5-2D48-9D31-03DC803CC622}"/>
                  </a:ext>
                </a:extLst>
              </p:cNvPr>
              <p:cNvSpPr txBox="1">
                <a:spLocks noRot="1" noChangeAspect="1" noMove="1" noResize="1" noEditPoints="1" noAdjustHandles="1" noChangeArrowheads="1" noChangeShapeType="1" noTextEdit="1"/>
              </p:cNvSpPr>
              <p:nvPr/>
            </p:nvSpPr>
            <p:spPr>
              <a:xfrm>
                <a:off x="1457090" y="4966182"/>
                <a:ext cx="16135964" cy="853994"/>
              </a:xfrm>
              <a:prstGeom prst="rect">
                <a:avLst/>
              </a:prstGeom>
              <a:blipFill>
                <a:blip r:embed="rId3"/>
                <a:stretch>
                  <a:fillRect l="-787" t="-2941"/>
                </a:stretch>
              </a:blipFill>
            </p:spPr>
            <p:txBody>
              <a:bodyPr/>
              <a:lstStyle/>
              <a:p>
                <a:r>
                  <a:rPr lang="ja-JP" altLang="en-US">
                    <a:noFill/>
                  </a:rPr>
                  <a:t> </a:t>
                </a:r>
              </a:p>
            </p:txBody>
          </p:sp>
        </mc:Fallback>
      </mc:AlternateContent>
      <p:sp>
        <p:nvSpPr>
          <p:cNvPr id="45" name="テキスト プレースホルダー 27">
            <a:extLst>
              <a:ext uri="{FF2B5EF4-FFF2-40B4-BE49-F238E27FC236}">
                <a16:creationId xmlns:a16="http://schemas.microsoft.com/office/drawing/2014/main" id="{EAAA8EC0-8CC9-3D4F-9BC3-70D23A92C934}"/>
              </a:ext>
            </a:extLst>
          </p:cNvPr>
          <p:cNvSpPr txBox="1">
            <a:spLocks/>
          </p:cNvSpPr>
          <p:nvPr/>
        </p:nvSpPr>
        <p:spPr>
          <a:xfrm>
            <a:off x="1254486" y="4151182"/>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ANOVA</a:t>
            </a:r>
            <a:r>
              <a:rPr lang="ja-JP" altLang="en-US"/>
              <a:t>を使用しエージェントのトーンによる影響を分析</a:t>
            </a:r>
            <a:endParaRPr lang="en-US" altLang="ja-JP" dirty="0"/>
          </a:p>
        </p:txBody>
      </p:sp>
      <p:grpSp>
        <p:nvGrpSpPr>
          <p:cNvPr id="46" name="グループ化 45">
            <a:extLst>
              <a:ext uri="{FF2B5EF4-FFF2-40B4-BE49-F238E27FC236}">
                <a16:creationId xmlns:a16="http://schemas.microsoft.com/office/drawing/2014/main" id="{36E115E7-BB71-D342-8565-893D4F37B273}"/>
              </a:ext>
            </a:extLst>
          </p:cNvPr>
          <p:cNvGrpSpPr/>
          <p:nvPr/>
        </p:nvGrpSpPr>
        <p:grpSpPr>
          <a:xfrm>
            <a:off x="617232" y="4223807"/>
            <a:ext cx="539448" cy="487368"/>
            <a:chOff x="400056" y="1061560"/>
            <a:chExt cx="269724" cy="243684"/>
          </a:xfrm>
        </p:grpSpPr>
        <p:sp>
          <p:nvSpPr>
            <p:cNvPr id="47" name="三角形 46">
              <a:extLst>
                <a:ext uri="{FF2B5EF4-FFF2-40B4-BE49-F238E27FC236}">
                  <a16:creationId xmlns:a16="http://schemas.microsoft.com/office/drawing/2014/main" id="{46B04A64-DCD9-3145-A840-E7856438EB9A}"/>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48" name="三角形 47">
              <a:extLst>
                <a:ext uri="{FF2B5EF4-FFF2-40B4-BE49-F238E27FC236}">
                  <a16:creationId xmlns:a16="http://schemas.microsoft.com/office/drawing/2014/main" id="{5A02C90A-41A8-3747-982C-969695FE59BA}"/>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grpSp>
        <p:nvGrpSpPr>
          <p:cNvPr id="50" name="グループ化 49">
            <a:extLst>
              <a:ext uri="{FF2B5EF4-FFF2-40B4-BE49-F238E27FC236}">
                <a16:creationId xmlns:a16="http://schemas.microsoft.com/office/drawing/2014/main" id="{E715CCD2-7CBC-2F46-9FCE-8A125FDA304B}"/>
              </a:ext>
            </a:extLst>
          </p:cNvPr>
          <p:cNvGrpSpPr/>
          <p:nvPr/>
        </p:nvGrpSpPr>
        <p:grpSpPr>
          <a:xfrm>
            <a:off x="617232" y="2557358"/>
            <a:ext cx="539448" cy="487368"/>
            <a:chOff x="400056" y="1061560"/>
            <a:chExt cx="269724" cy="243684"/>
          </a:xfrm>
        </p:grpSpPr>
        <p:sp>
          <p:nvSpPr>
            <p:cNvPr id="51" name="三角形 50">
              <a:extLst>
                <a:ext uri="{FF2B5EF4-FFF2-40B4-BE49-F238E27FC236}">
                  <a16:creationId xmlns:a16="http://schemas.microsoft.com/office/drawing/2014/main" id="{4270F85A-1558-7F46-9313-2E10789E0038}"/>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52" name="三角形 51">
              <a:extLst>
                <a:ext uri="{FF2B5EF4-FFF2-40B4-BE49-F238E27FC236}">
                  <a16:creationId xmlns:a16="http://schemas.microsoft.com/office/drawing/2014/main" id="{60CBF3B1-0E43-BC41-9C45-3FAC257E5742}"/>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24" name="三角形 23">
            <a:extLst>
              <a:ext uri="{FF2B5EF4-FFF2-40B4-BE49-F238E27FC236}">
                <a16:creationId xmlns:a16="http://schemas.microsoft.com/office/drawing/2014/main" id="{60441E68-F8C0-1A4A-8C3C-9523F19C3C2D}"/>
              </a:ext>
            </a:extLst>
          </p:cNvPr>
          <p:cNvSpPr/>
          <p:nvPr/>
        </p:nvSpPr>
        <p:spPr>
          <a:xfrm rot="5400000">
            <a:off x="1076238" y="3361776"/>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mc:AlternateContent xmlns:mc="http://schemas.openxmlformats.org/markup-compatibility/2006" xmlns:a14="http://schemas.microsoft.com/office/drawing/2010/main">
        <mc:Choice Requires="a14">
          <p:sp>
            <p:nvSpPr>
              <p:cNvPr id="25" name="テキスト プレースホルダー 29">
                <a:extLst>
                  <a:ext uri="{FF2B5EF4-FFF2-40B4-BE49-F238E27FC236}">
                    <a16:creationId xmlns:a16="http://schemas.microsoft.com/office/drawing/2014/main" id="{1CFE1702-05BC-4A41-8859-CF005EF42D6D}"/>
                  </a:ext>
                </a:extLst>
              </p:cNvPr>
              <p:cNvSpPr txBox="1">
                <a:spLocks/>
              </p:cNvSpPr>
              <p:nvPr/>
            </p:nvSpPr>
            <p:spPr>
              <a:xfrm>
                <a:off x="1443786" y="3246502"/>
                <a:ext cx="1827548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pPr/>
                <a14:m>
                  <m:oMathPara xmlns:m="http://schemas.openxmlformats.org/officeDocument/2006/math">
                    <m:oMathParaPr>
                      <m:jc m:val="left"/>
                    </m:oMathParaPr>
                    <m:oMath xmlns:m="http://schemas.openxmlformats.org/officeDocument/2006/math">
                      <m:r>
                        <a:rPr lang="ja-JP" altLang="en-US" i="1" smtClean="0">
                          <a:latin typeface="Cambria Math" panose="02040503050406030204" pitchFamily="18" charset="0"/>
                        </a:rPr>
                        <m:t>有意差</m:t>
                      </m:r>
                      <m:r>
                        <a:rPr lang="ja-JP" altLang="en-US" i="1">
                          <a:solidFill>
                            <a:schemeClr val="accent2"/>
                          </a:solidFill>
                          <a:latin typeface="Cambria Math" panose="02040503050406030204" pitchFamily="18" charset="0"/>
                        </a:rPr>
                        <m:t>あり</m:t>
                      </m:r>
                      <m:r>
                        <a:rPr lang="ja-JP" altLang="en-US" i="1">
                          <a:latin typeface="Cambria Math" panose="02040503050406030204" pitchFamily="18" charset="0"/>
                        </a:rPr>
                        <m:t>　</m:t>
                      </m:r>
                      <m:r>
                        <a:rPr lang="en-US" altLang="ja-JP" i="1">
                          <a:latin typeface="Cambria Math" panose="02040503050406030204" pitchFamily="18" charset="0"/>
                        </a:rPr>
                        <m:t>𝐹</m:t>
                      </m:r>
                      <m:d>
                        <m:dPr>
                          <m:ctrlPr>
                            <a:rPr lang="en-US" altLang="ja-JP" i="1">
                              <a:latin typeface="Cambria Math" panose="02040503050406030204" pitchFamily="18" charset="0"/>
                            </a:rPr>
                          </m:ctrlPr>
                        </m:dPr>
                        <m:e>
                          <m:r>
                            <a:rPr lang="en-US" altLang="ja-JP" i="1">
                              <a:latin typeface="Cambria Math" panose="02040503050406030204" pitchFamily="18" charset="0"/>
                            </a:rPr>
                            <m:t>1,194</m:t>
                          </m:r>
                        </m:e>
                      </m:d>
                      <m:r>
                        <a:rPr lang="en-US" altLang="ja-JP" i="1">
                          <a:latin typeface="Cambria Math" panose="02040503050406030204" pitchFamily="18" charset="0"/>
                        </a:rPr>
                        <m:t>=12.534, </m:t>
                      </m:r>
                      <m:r>
                        <a:rPr lang="en-US" altLang="ja-JP" i="1">
                          <a:latin typeface="Cambria Math" panose="02040503050406030204" pitchFamily="18" charset="0"/>
                        </a:rPr>
                        <m:t>𝑝</m:t>
                      </m:r>
                      <m:r>
                        <a:rPr lang="en-US" altLang="ja-JP" i="1">
                          <a:latin typeface="Cambria Math" panose="02040503050406030204" pitchFamily="18" charset="0"/>
                        </a:rPr>
                        <m:t>=.001,</m:t>
                      </m:r>
                      <m:r>
                        <a:rPr lang="en-US" altLang="ja-JP" i="1">
                          <a:latin typeface="Cambria Math" panose="02040503050406030204" pitchFamily="18" charset="0"/>
                        </a:rPr>
                        <m:t>𝑑</m:t>
                      </m:r>
                      <m:r>
                        <a:rPr lang="en-US" altLang="ja-JP" i="1">
                          <a:latin typeface="Cambria Math" panose="02040503050406030204" pitchFamily="18" charset="0"/>
                        </a:rPr>
                        <m:t>=0.434</m:t>
                      </m:r>
                    </m:oMath>
                  </m:oMathPara>
                </a14:m>
                <a:endParaRPr lang="ja-JP" altLang="en-US"/>
              </a:p>
            </p:txBody>
          </p:sp>
        </mc:Choice>
        <mc:Fallback xmlns="">
          <p:sp>
            <p:nvSpPr>
              <p:cNvPr id="25" name="テキスト プレースホルダー 29">
                <a:extLst>
                  <a:ext uri="{FF2B5EF4-FFF2-40B4-BE49-F238E27FC236}">
                    <a16:creationId xmlns:a16="http://schemas.microsoft.com/office/drawing/2014/main" id="{1CFE1702-05BC-4A41-8859-CF005EF42D6D}"/>
                  </a:ext>
                </a:extLst>
              </p:cNvPr>
              <p:cNvSpPr txBox="1">
                <a:spLocks noRot="1" noChangeAspect="1" noMove="1" noResize="1" noEditPoints="1" noAdjustHandles="1" noChangeArrowheads="1" noChangeShapeType="1" noTextEdit="1"/>
              </p:cNvSpPr>
              <p:nvPr/>
            </p:nvSpPr>
            <p:spPr>
              <a:xfrm>
                <a:off x="1443786" y="3246502"/>
                <a:ext cx="18275484" cy="853994"/>
              </a:xfrm>
              <a:prstGeom prst="rect">
                <a:avLst/>
              </a:prstGeom>
              <a:blipFill>
                <a:blip r:embed="rId4"/>
                <a:stretch>
                  <a:fillRect l="-694" t="-2941"/>
                </a:stretch>
              </a:blipFill>
            </p:spPr>
            <p:txBody>
              <a:bodyPr/>
              <a:lstStyle/>
              <a:p>
                <a:r>
                  <a:rPr lang="ja-JP" altLang="en-US">
                    <a:noFill/>
                  </a:rPr>
                  <a:t> </a:t>
                </a:r>
              </a:p>
            </p:txBody>
          </p:sp>
        </mc:Fallback>
      </mc:AlternateContent>
      <p:sp>
        <p:nvSpPr>
          <p:cNvPr id="29" name="テキスト プレースホルダー 27">
            <a:extLst>
              <a:ext uri="{FF2B5EF4-FFF2-40B4-BE49-F238E27FC236}">
                <a16:creationId xmlns:a16="http://schemas.microsoft.com/office/drawing/2014/main" id="{E66EB769-F856-C84D-AEA1-3746E0B97606}"/>
              </a:ext>
            </a:extLst>
          </p:cNvPr>
          <p:cNvSpPr txBox="1">
            <a:spLocks/>
          </p:cNvSpPr>
          <p:nvPr/>
        </p:nvSpPr>
        <p:spPr>
          <a:xfrm>
            <a:off x="1254486" y="5931952"/>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戦略とトーンの間に交互効果</a:t>
            </a:r>
            <a:r>
              <a:rPr lang="ja-JP" altLang="en-US">
                <a:solidFill>
                  <a:schemeClr val="accent2"/>
                </a:solidFill>
              </a:rPr>
              <a:t>あり</a:t>
            </a:r>
            <a:endParaRPr lang="en-US" altLang="ja-JP" dirty="0">
              <a:solidFill>
                <a:schemeClr val="accent2"/>
              </a:solidFill>
            </a:endParaRPr>
          </a:p>
        </p:txBody>
      </p:sp>
      <p:grpSp>
        <p:nvGrpSpPr>
          <p:cNvPr id="30" name="グループ化 29">
            <a:extLst>
              <a:ext uri="{FF2B5EF4-FFF2-40B4-BE49-F238E27FC236}">
                <a16:creationId xmlns:a16="http://schemas.microsoft.com/office/drawing/2014/main" id="{83A1F438-F388-DD4C-83C0-C1CC399AD3A3}"/>
              </a:ext>
            </a:extLst>
          </p:cNvPr>
          <p:cNvGrpSpPr/>
          <p:nvPr/>
        </p:nvGrpSpPr>
        <p:grpSpPr>
          <a:xfrm>
            <a:off x="617232" y="6004577"/>
            <a:ext cx="539448" cy="487368"/>
            <a:chOff x="400056" y="1061560"/>
            <a:chExt cx="269724" cy="243684"/>
          </a:xfrm>
        </p:grpSpPr>
        <p:sp>
          <p:nvSpPr>
            <p:cNvPr id="34" name="三角形 33">
              <a:extLst>
                <a:ext uri="{FF2B5EF4-FFF2-40B4-BE49-F238E27FC236}">
                  <a16:creationId xmlns:a16="http://schemas.microsoft.com/office/drawing/2014/main" id="{7DC5555D-08F0-2D47-AF26-A6ADE094089A}"/>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35" name="三角形 34">
              <a:extLst>
                <a:ext uri="{FF2B5EF4-FFF2-40B4-BE49-F238E27FC236}">
                  <a16:creationId xmlns:a16="http://schemas.microsoft.com/office/drawing/2014/main" id="{A3449075-7461-5644-BC64-D6FE978B8627}"/>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Tree>
    <p:extLst>
      <p:ext uri="{BB962C8B-B14F-4D97-AF65-F5344CB8AC3E}">
        <p14:creationId xmlns:p14="http://schemas.microsoft.com/office/powerpoint/2010/main" val="24111792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3520CDD-7107-D140-A1A0-69D0D69B10F3}"/>
              </a:ext>
            </a:extLst>
          </p:cNvPr>
          <p:cNvSpPr>
            <a:spLocks noGrp="1"/>
          </p:cNvSpPr>
          <p:nvPr>
            <p:ph type="dt" sz="half" idx="10"/>
          </p:nvPr>
        </p:nvSpPr>
        <p:spPr/>
        <p:txBody>
          <a:bodyPr/>
          <a:lstStyle/>
          <a:p>
            <a:fld id="{35974365-84F6-754A-A339-DA79FFD42E98}" type="datetime1">
              <a:rPr lang="ja-JP" altLang="en-US" smtClean="0"/>
              <a:t>2018/6/9</a:t>
            </a:fld>
            <a:endParaRPr lang="ja-JP" altLang="en-US"/>
          </a:p>
        </p:txBody>
      </p:sp>
      <p:sp>
        <p:nvSpPr>
          <p:cNvPr id="3" name="フッター プレースホルダー 2">
            <a:extLst>
              <a:ext uri="{FF2B5EF4-FFF2-40B4-BE49-F238E27FC236}">
                <a16:creationId xmlns:a16="http://schemas.microsoft.com/office/drawing/2014/main" id="{6EEFBA0C-3454-8D4D-87CE-5BA9ED8AFBE5}"/>
              </a:ext>
            </a:extLst>
          </p:cNvPr>
          <p:cNvSpPr>
            <a:spLocks noGrp="1"/>
          </p:cNvSpPr>
          <p:nvPr>
            <p:ph type="ftr" sz="quarter" idx="11"/>
          </p:nvPr>
        </p:nvSpPr>
        <p:spPr/>
        <p:txBody>
          <a:bodyPr/>
          <a:lstStyle/>
          <a:p>
            <a:r>
              <a:rPr lang="ja-JP" altLang="en-US"/>
              <a:t>進捗報告</a:t>
            </a:r>
            <a:r>
              <a:rPr lang="en-US" altLang="ja-JP"/>
              <a:t>(2018.06.06)</a:t>
            </a:r>
            <a:endParaRPr lang="ja-JP" altLang="en-US"/>
          </a:p>
        </p:txBody>
      </p:sp>
      <p:sp>
        <p:nvSpPr>
          <p:cNvPr id="4" name="スライド番号プレースホルダー 3">
            <a:extLst>
              <a:ext uri="{FF2B5EF4-FFF2-40B4-BE49-F238E27FC236}">
                <a16:creationId xmlns:a16="http://schemas.microsoft.com/office/drawing/2014/main" id="{5D405AD0-9091-A94B-BA67-32995AD15B35}"/>
              </a:ext>
            </a:extLst>
          </p:cNvPr>
          <p:cNvSpPr>
            <a:spLocks noGrp="1"/>
          </p:cNvSpPr>
          <p:nvPr>
            <p:ph type="sldNum" sz="quarter" idx="12"/>
          </p:nvPr>
        </p:nvSpPr>
        <p:spPr/>
        <p:txBody>
          <a:bodyPr/>
          <a:lstStyle/>
          <a:p>
            <a:fld id="{89242BC1-393D-1248-985B-18DA624F2964}" type="slidenum">
              <a:rPr lang="ja-JP" altLang="en-US" smtClean="0"/>
              <a:pPr/>
              <a:t>22</a:t>
            </a:fld>
            <a:endParaRPr lang="ja-JP" altLang="en-US"/>
          </a:p>
        </p:txBody>
      </p:sp>
      <p:sp>
        <p:nvSpPr>
          <p:cNvPr id="5" name="テキスト プレースホルダー 4">
            <a:extLst>
              <a:ext uri="{FF2B5EF4-FFF2-40B4-BE49-F238E27FC236}">
                <a16:creationId xmlns:a16="http://schemas.microsoft.com/office/drawing/2014/main" id="{26DD2A8D-F804-D546-B77D-9693A67C3E0B}"/>
              </a:ext>
            </a:extLst>
          </p:cNvPr>
          <p:cNvSpPr>
            <a:spLocks noGrp="1"/>
          </p:cNvSpPr>
          <p:nvPr>
            <p:ph type="body" sz="quarter" idx="14"/>
          </p:nvPr>
        </p:nvSpPr>
        <p:spPr/>
        <p:txBody>
          <a:bodyPr/>
          <a:lstStyle/>
          <a:p>
            <a:r>
              <a:rPr lang="ja-JP" altLang="en-US"/>
              <a:t>評価・考察</a:t>
            </a:r>
            <a:endParaRPr kumimoji="1" lang="ja-JP" altLang="en-US"/>
          </a:p>
        </p:txBody>
      </p:sp>
      <p:sp>
        <p:nvSpPr>
          <p:cNvPr id="6" name="テキスト プレースホルダー 5">
            <a:extLst>
              <a:ext uri="{FF2B5EF4-FFF2-40B4-BE49-F238E27FC236}">
                <a16:creationId xmlns:a16="http://schemas.microsoft.com/office/drawing/2014/main" id="{18F5D246-4675-9D44-B96B-BEDD6F01EDA7}"/>
              </a:ext>
            </a:extLst>
          </p:cNvPr>
          <p:cNvSpPr>
            <a:spLocks noGrp="1"/>
          </p:cNvSpPr>
          <p:nvPr>
            <p:ph type="body" sz="quarter" idx="13"/>
          </p:nvPr>
        </p:nvSpPr>
        <p:spPr/>
        <p:txBody>
          <a:bodyPr/>
          <a:lstStyle/>
          <a:p>
            <a:r>
              <a:rPr lang="en-US" altLang="ja-JP" dirty="0"/>
              <a:t>3</a:t>
            </a:r>
            <a:endParaRPr kumimoji="1" lang="ja-JP" altLang="en-US"/>
          </a:p>
        </p:txBody>
      </p:sp>
      <p:grpSp>
        <p:nvGrpSpPr>
          <p:cNvPr id="31" name="グループ化 30">
            <a:extLst>
              <a:ext uri="{FF2B5EF4-FFF2-40B4-BE49-F238E27FC236}">
                <a16:creationId xmlns:a16="http://schemas.microsoft.com/office/drawing/2014/main" id="{FD81DDC5-24B5-F24B-8DCA-6543CEE8DC81}"/>
              </a:ext>
            </a:extLst>
          </p:cNvPr>
          <p:cNvGrpSpPr/>
          <p:nvPr/>
        </p:nvGrpSpPr>
        <p:grpSpPr>
          <a:xfrm>
            <a:off x="289330" y="1413298"/>
            <a:ext cx="2160000" cy="934436"/>
            <a:chOff x="144665" y="525617"/>
            <a:chExt cx="1080000" cy="467218"/>
          </a:xfrm>
        </p:grpSpPr>
        <p:sp>
          <p:nvSpPr>
            <p:cNvPr id="32" name="正方形/長方形 31">
              <a:extLst>
                <a:ext uri="{FF2B5EF4-FFF2-40B4-BE49-F238E27FC236}">
                  <a16:creationId xmlns:a16="http://schemas.microsoft.com/office/drawing/2014/main" id="{073638CC-28A2-E943-AD34-548A0C227633}"/>
                </a:ext>
              </a:extLst>
            </p:cNvPr>
            <p:cNvSpPr/>
            <p:nvPr userDrawn="1"/>
          </p:nvSpPr>
          <p:spPr>
            <a:xfrm>
              <a:off x="145524" y="542424"/>
              <a:ext cx="91081" cy="450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sp>
          <p:nvSpPr>
            <p:cNvPr id="33" name="正方形/長方形 32">
              <a:extLst>
                <a:ext uri="{FF2B5EF4-FFF2-40B4-BE49-F238E27FC236}">
                  <a16:creationId xmlns:a16="http://schemas.microsoft.com/office/drawing/2014/main" id="{89C51296-914D-A74C-889D-A570C54F6A57}"/>
                </a:ext>
              </a:extLst>
            </p:cNvPr>
            <p:cNvSpPr/>
            <p:nvPr userDrawn="1"/>
          </p:nvSpPr>
          <p:spPr>
            <a:xfrm>
              <a:off x="144665" y="525617"/>
              <a:ext cx="1080000" cy="161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grpSp>
      <p:sp>
        <p:nvSpPr>
          <p:cNvPr id="37" name="テキスト プレースホルダー 30">
            <a:extLst>
              <a:ext uri="{FF2B5EF4-FFF2-40B4-BE49-F238E27FC236}">
                <a16:creationId xmlns:a16="http://schemas.microsoft.com/office/drawing/2014/main" id="{A73B3907-668E-1A41-B5F4-6D46EA930E91}"/>
              </a:ext>
            </a:extLst>
          </p:cNvPr>
          <p:cNvSpPr txBox="1">
            <a:spLocks/>
          </p:cNvSpPr>
          <p:nvPr/>
        </p:nvSpPr>
        <p:spPr>
          <a:xfrm>
            <a:off x="571049" y="1583871"/>
            <a:ext cx="17302163" cy="1403350"/>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60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被験者が送信したメッセージの数</a:t>
            </a:r>
          </a:p>
        </p:txBody>
      </p:sp>
      <p:pic>
        <p:nvPicPr>
          <p:cNvPr id="8" name="図 7">
            <a:extLst>
              <a:ext uri="{FF2B5EF4-FFF2-40B4-BE49-F238E27FC236}">
                <a16:creationId xmlns:a16="http://schemas.microsoft.com/office/drawing/2014/main" id="{CA6373BE-F163-FB46-A26E-959C6B58B094}"/>
              </a:ext>
            </a:extLst>
          </p:cNvPr>
          <p:cNvPicPr>
            <a:picLocks noChangeAspect="1"/>
          </p:cNvPicPr>
          <p:nvPr/>
        </p:nvPicPr>
        <p:blipFill>
          <a:blip r:embed="rId2"/>
          <a:stretch>
            <a:fillRect/>
          </a:stretch>
        </p:blipFill>
        <p:spPr>
          <a:xfrm>
            <a:off x="4417143" y="7714449"/>
            <a:ext cx="10215858" cy="5594400"/>
          </a:xfrm>
          <a:prstGeom prst="rect">
            <a:avLst/>
          </a:prstGeom>
        </p:spPr>
      </p:pic>
      <p:sp>
        <p:nvSpPr>
          <p:cNvPr id="27" name="テキスト プレースホルダー 27">
            <a:extLst>
              <a:ext uri="{FF2B5EF4-FFF2-40B4-BE49-F238E27FC236}">
                <a16:creationId xmlns:a16="http://schemas.microsoft.com/office/drawing/2014/main" id="{93A2A9E1-21DA-184F-B179-025C75CC0F29}"/>
              </a:ext>
            </a:extLst>
          </p:cNvPr>
          <p:cNvSpPr txBox="1">
            <a:spLocks/>
          </p:cNvSpPr>
          <p:nvPr/>
        </p:nvSpPr>
        <p:spPr>
          <a:xfrm>
            <a:off x="1254486" y="2486122"/>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ANOVA</a:t>
            </a:r>
            <a:r>
              <a:rPr lang="ja-JP" altLang="en-US"/>
              <a:t>を使用しエージェントの戦略による影響を分析</a:t>
            </a:r>
            <a:endParaRPr lang="en-US" altLang="ja-JP" dirty="0"/>
          </a:p>
        </p:txBody>
      </p:sp>
      <p:sp>
        <p:nvSpPr>
          <p:cNvPr id="43" name="三角形 42">
            <a:extLst>
              <a:ext uri="{FF2B5EF4-FFF2-40B4-BE49-F238E27FC236}">
                <a16:creationId xmlns:a16="http://schemas.microsoft.com/office/drawing/2014/main" id="{3BA6E0CA-5B3A-8744-BA08-F8D25A41C8E3}"/>
              </a:ext>
            </a:extLst>
          </p:cNvPr>
          <p:cNvSpPr/>
          <p:nvPr/>
        </p:nvSpPr>
        <p:spPr>
          <a:xfrm rot="5400000">
            <a:off x="1076238" y="5081456"/>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mc:AlternateContent xmlns:mc="http://schemas.openxmlformats.org/markup-compatibility/2006" xmlns:a14="http://schemas.microsoft.com/office/drawing/2010/main">
        <mc:Choice Requires="a14">
          <p:sp>
            <p:nvSpPr>
              <p:cNvPr id="44" name="テキスト プレースホルダー 29">
                <a:extLst>
                  <a:ext uri="{FF2B5EF4-FFF2-40B4-BE49-F238E27FC236}">
                    <a16:creationId xmlns:a16="http://schemas.microsoft.com/office/drawing/2014/main" id="{75162964-40A5-2D48-9D31-03DC803CC622}"/>
                  </a:ext>
                </a:extLst>
              </p:cNvPr>
              <p:cNvSpPr txBox="1">
                <a:spLocks/>
              </p:cNvSpPr>
              <p:nvPr/>
            </p:nvSpPr>
            <p:spPr>
              <a:xfrm>
                <a:off x="1457090" y="4966182"/>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pPr/>
                <a14:m>
                  <m:oMathPara xmlns:m="http://schemas.openxmlformats.org/officeDocument/2006/math">
                    <m:oMathParaPr>
                      <m:jc m:val="left"/>
                    </m:oMathParaPr>
                    <m:oMath xmlns:m="http://schemas.openxmlformats.org/officeDocument/2006/math">
                      <m:r>
                        <a:rPr lang="ja-JP" altLang="en-US" i="1">
                          <a:latin typeface="Cambria Math" panose="02040503050406030204" pitchFamily="18" charset="0"/>
                        </a:rPr>
                        <m:t>有意差</m:t>
                      </m:r>
                      <m:r>
                        <a:rPr lang="ja-JP" altLang="en-US" i="1" smtClean="0">
                          <a:solidFill>
                            <a:schemeClr val="accent2"/>
                          </a:solidFill>
                          <a:latin typeface="Cambria Math" panose="02040503050406030204" pitchFamily="18" charset="0"/>
                        </a:rPr>
                        <m:t>あり</m:t>
                      </m:r>
                      <m:r>
                        <a:rPr lang="ja-JP" altLang="en-US" b="0" i="1" smtClean="0">
                          <a:latin typeface="Cambria Math" panose="02040503050406030204" pitchFamily="18" charset="0"/>
                        </a:rPr>
                        <m:t>　</m:t>
                      </m:r>
                      <m:r>
                        <a:rPr lang="en-US" altLang="ja-JP" i="1">
                          <a:latin typeface="Cambria Math" panose="02040503050406030204" pitchFamily="18" charset="0"/>
                        </a:rPr>
                        <m:t>𝐹</m:t>
                      </m:r>
                      <m:d>
                        <m:dPr>
                          <m:ctrlPr>
                            <a:rPr lang="en-US" altLang="ja-JP" i="1">
                              <a:latin typeface="Cambria Math" panose="02040503050406030204" pitchFamily="18" charset="0"/>
                            </a:rPr>
                          </m:ctrlPr>
                        </m:dPr>
                        <m:e>
                          <m:r>
                            <a:rPr lang="en-US" altLang="ja-JP" i="1">
                              <a:latin typeface="Cambria Math" panose="02040503050406030204" pitchFamily="18" charset="0"/>
                            </a:rPr>
                            <m:t>1,194</m:t>
                          </m:r>
                        </m:e>
                      </m:d>
                      <m:r>
                        <a:rPr lang="en-US" altLang="ja-JP" i="1">
                          <a:latin typeface="Cambria Math" panose="02040503050406030204" pitchFamily="18" charset="0"/>
                        </a:rPr>
                        <m:t>=</m:t>
                      </m:r>
                      <m:r>
                        <a:rPr lang="en-US" altLang="ja-JP" b="0" i="1" smtClean="0">
                          <a:latin typeface="Cambria Math" panose="02040503050406030204" pitchFamily="18" charset="0"/>
                        </a:rPr>
                        <m:t>6.619</m:t>
                      </m:r>
                      <m:r>
                        <a:rPr lang="en-US" altLang="ja-JP" i="1">
                          <a:latin typeface="Cambria Math" panose="02040503050406030204" pitchFamily="18" charset="0"/>
                        </a:rPr>
                        <m:t>, </m:t>
                      </m:r>
                      <m:r>
                        <a:rPr lang="en-US" altLang="ja-JP" i="1" smtClean="0">
                          <a:latin typeface="Cambria Math" panose="02040503050406030204" pitchFamily="18" charset="0"/>
                        </a:rPr>
                        <m:t>𝑝</m:t>
                      </m:r>
                      <m:r>
                        <a:rPr lang="en-US" altLang="ja-JP" b="0" i="1" smtClean="0">
                          <a:latin typeface="Cambria Math" panose="02040503050406030204" pitchFamily="18" charset="0"/>
                        </a:rPr>
                        <m:t>=</m:t>
                      </m:r>
                      <m:r>
                        <a:rPr lang="en-US" altLang="ja-JP" i="1">
                          <a:latin typeface="Cambria Math" panose="02040503050406030204" pitchFamily="18" charset="0"/>
                        </a:rPr>
                        <m:t>.0</m:t>
                      </m:r>
                      <m:r>
                        <a:rPr lang="en-US" altLang="ja-JP" b="0" i="1" smtClean="0">
                          <a:latin typeface="Cambria Math" panose="02040503050406030204" pitchFamily="18" charset="0"/>
                        </a:rPr>
                        <m:t>14</m:t>
                      </m:r>
                      <m:r>
                        <a:rPr lang="en-US" altLang="ja-JP" i="1">
                          <a:latin typeface="Cambria Math" panose="02040503050406030204" pitchFamily="18" charset="0"/>
                        </a:rPr>
                        <m:t>,</m:t>
                      </m:r>
                      <m:r>
                        <a:rPr lang="en-US" altLang="ja-JP" i="1">
                          <a:latin typeface="Cambria Math" panose="02040503050406030204" pitchFamily="18" charset="0"/>
                        </a:rPr>
                        <m:t>𝑑</m:t>
                      </m:r>
                      <m:r>
                        <a:rPr lang="en-US" altLang="ja-JP" i="1">
                          <a:latin typeface="Cambria Math" panose="02040503050406030204" pitchFamily="18" charset="0"/>
                        </a:rPr>
                        <m:t>=0.358</m:t>
                      </m:r>
                    </m:oMath>
                  </m:oMathPara>
                </a14:m>
                <a:endParaRPr lang="ja-JP" altLang="en-US"/>
              </a:p>
            </p:txBody>
          </p:sp>
        </mc:Choice>
        <mc:Fallback xmlns="">
          <p:sp>
            <p:nvSpPr>
              <p:cNvPr id="44" name="テキスト プレースホルダー 29">
                <a:extLst>
                  <a:ext uri="{FF2B5EF4-FFF2-40B4-BE49-F238E27FC236}">
                    <a16:creationId xmlns:a16="http://schemas.microsoft.com/office/drawing/2014/main" id="{75162964-40A5-2D48-9D31-03DC803CC622}"/>
                  </a:ext>
                </a:extLst>
              </p:cNvPr>
              <p:cNvSpPr txBox="1">
                <a:spLocks noRot="1" noChangeAspect="1" noMove="1" noResize="1" noEditPoints="1" noAdjustHandles="1" noChangeArrowheads="1" noChangeShapeType="1" noTextEdit="1"/>
              </p:cNvSpPr>
              <p:nvPr/>
            </p:nvSpPr>
            <p:spPr>
              <a:xfrm>
                <a:off x="1457090" y="4966182"/>
                <a:ext cx="16135964" cy="853994"/>
              </a:xfrm>
              <a:prstGeom prst="rect">
                <a:avLst/>
              </a:prstGeom>
              <a:blipFill>
                <a:blip r:embed="rId3"/>
                <a:stretch>
                  <a:fillRect l="-787" t="-2941"/>
                </a:stretch>
              </a:blipFill>
            </p:spPr>
            <p:txBody>
              <a:bodyPr/>
              <a:lstStyle/>
              <a:p>
                <a:r>
                  <a:rPr lang="ja-JP" altLang="en-US">
                    <a:noFill/>
                  </a:rPr>
                  <a:t> </a:t>
                </a:r>
              </a:p>
            </p:txBody>
          </p:sp>
        </mc:Fallback>
      </mc:AlternateContent>
      <p:sp>
        <p:nvSpPr>
          <p:cNvPr id="45" name="テキスト プレースホルダー 27">
            <a:extLst>
              <a:ext uri="{FF2B5EF4-FFF2-40B4-BE49-F238E27FC236}">
                <a16:creationId xmlns:a16="http://schemas.microsoft.com/office/drawing/2014/main" id="{EAAA8EC0-8CC9-3D4F-9BC3-70D23A92C934}"/>
              </a:ext>
            </a:extLst>
          </p:cNvPr>
          <p:cNvSpPr txBox="1">
            <a:spLocks/>
          </p:cNvSpPr>
          <p:nvPr/>
        </p:nvSpPr>
        <p:spPr>
          <a:xfrm>
            <a:off x="1254486" y="4151182"/>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ANOVA</a:t>
            </a:r>
            <a:r>
              <a:rPr lang="ja-JP" altLang="en-US"/>
              <a:t>を使用しエージェントのトーンによる影響を分析</a:t>
            </a:r>
            <a:endParaRPr lang="en-US" altLang="ja-JP" dirty="0"/>
          </a:p>
        </p:txBody>
      </p:sp>
      <p:grpSp>
        <p:nvGrpSpPr>
          <p:cNvPr id="46" name="グループ化 45">
            <a:extLst>
              <a:ext uri="{FF2B5EF4-FFF2-40B4-BE49-F238E27FC236}">
                <a16:creationId xmlns:a16="http://schemas.microsoft.com/office/drawing/2014/main" id="{36E115E7-BB71-D342-8565-893D4F37B273}"/>
              </a:ext>
            </a:extLst>
          </p:cNvPr>
          <p:cNvGrpSpPr/>
          <p:nvPr/>
        </p:nvGrpSpPr>
        <p:grpSpPr>
          <a:xfrm>
            <a:off x="617232" y="4223807"/>
            <a:ext cx="539448" cy="487368"/>
            <a:chOff x="400056" y="1061560"/>
            <a:chExt cx="269724" cy="243684"/>
          </a:xfrm>
        </p:grpSpPr>
        <p:sp>
          <p:nvSpPr>
            <p:cNvPr id="47" name="三角形 46">
              <a:extLst>
                <a:ext uri="{FF2B5EF4-FFF2-40B4-BE49-F238E27FC236}">
                  <a16:creationId xmlns:a16="http://schemas.microsoft.com/office/drawing/2014/main" id="{46B04A64-DCD9-3145-A840-E7856438EB9A}"/>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48" name="三角形 47">
              <a:extLst>
                <a:ext uri="{FF2B5EF4-FFF2-40B4-BE49-F238E27FC236}">
                  <a16:creationId xmlns:a16="http://schemas.microsoft.com/office/drawing/2014/main" id="{5A02C90A-41A8-3747-982C-969695FE59BA}"/>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grpSp>
        <p:nvGrpSpPr>
          <p:cNvPr id="50" name="グループ化 49">
            <a:extLst>
              <a:ext uri="{FF2B5EF4-FFF2-40B4-BE49-F238E27FC236}">
                <a16:creationId xmlns:a16="http://schemas.microsoft.com/office/drawing/2014/main" id="{E715CCD2-7CBC-2F46-9FCE-8A125FDA304B}"/>
              </a:ext>
            </a:extLst>
          </p:cNvPr>
          <p:cNvGrpSpPr/>
          <p:nvPr/>
        </p:nvGrpSpPr>
        <p:grpSpPr>
          <a:xfrm>
            <a:off x="617232" y="2557358"/>
            <a:ext cx="539448" cy="487368"/>
            <a:chOff x="400056" y="1061560"/>
            <a:chExt cx="269724" cy="243684"/>
          </a:xfrm>
        </p:grpSpPr>
        <p:sp>
          <p:nvSpPr>
            <p:cNvPr id="51" name="三角形 50">
              <a:extLst>
                <a:ext uri="{FF2B5EF4-FFF2-40B4-BE49-F238E27FC236}">
                  <a16:creationId xmlns:a16="http://schemas.microsoft.com/office/drawing/2014/main" id="{4270F85A-1558-7F46-9313-2E10789E0038}"/>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52" name="三角形 51">
              <a:extLst>
                <a:ext uri="{FF2B5EF4-FFF2-40B4-BE49-F238E27FC236}">
                  <a16:creationId xmlns:a16="http://schemas.microsoft.com/office/drawing/2014/main" id="{60CBF3B1-0E43-BC41-9C45-3FAC257E5742}"/>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24" name="三角形 23">
            <a:extLst>
              <a:ext uri="{FF2B5EF4-FFF2-40B4-BE49-F238E27FC236}">
                <a16:creationId xmlns:a16="http://schemas.microsoft.com/office/drawing/2014/main" id="{60441E68-F8C0-1A4A-8C3C-9523F19C3C2D}"/>
              </a:ext>
            </a:extLst>
          </p:cNvPr>
          <p:cNvSpPr/>
          <p:nvPr/>
        </p:nvSpPr>
        <p:spPr>
          <a:xfrm rot="5400000">
            <a:off x="1076238" y="3361776"/>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mc:AlternateContent xmlns:mc="http://schemas.openxmlformats.org/markup-compatibility/2006" xmlns:a14="http://schemas.microsoft.com/office/drawing/2010/main">
        <mc:Choice Requires="a14">
          <p:sp>
            <p:nvSpPr>
              <p:cNvPr id="25" name="テキスト プレースホルダー 29">
                <a:extLst>
                  <a:ext uri="{FF2B5EF4-FFF2-40B4-BE49-F238E27FC236}">
                    <a16:creationId xmlns:a16="http://schemas.microsoft.com/office/drawing/2014/main" id="{1CFE1702-05BC-4A41-8859-CF005EF42D6D}"/>
                  </a:ext>
                </a:extLst>
              </p:cNvPr>
              <p:cNvSpPr txBox="1">
                <a:spLocks/>
              </p:cNvSpPr>
              <p:nvPr/>
            </p:nvSpPr>
            <p:spPr>
              <a:xfrm>
                <a:off x="1443786" y="3246502"/>
                <a:ext cx="1827548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pPr/>
                <a14:m>
                  <m:oMathPara xmlns:m="http://schemas.openxmlformats.org/officeDocument/2006/math">
                    <m:oMathParaPr>
                      <m:jc m:val="left"/>
                    </m:oMathParaPr>
                    <m:oMath xmlns:m="http://schemas.openxmlformats.org/officeDocument/2006/math">
                      <m:r>
                        <a:rPr lang="ja-JP" altLang="en-US" i="1">
                          <a:latin typeface="Cambria Math" panose="02040503050406030204" pitchFamily="18" charset="0"/>
                        </a:rPr>
                        <m:t>有意差</m:t>
                      </m:r>
                      <m:r>
                        <a:rPr lang="ja-JP" altLang="en-US" i="1">
                          <a:solidFill>
                            <a:schemeClr val="accent2"/>
                          </a:solidFill>
                          <a:latin typeface="Cambria Math" panose="02040503050406030204" pitchFamily="18" charset="0"/>
                        </a:rPr>
                        <m:t>あり</m:t>
                      </m:r>
                      <m:r>
                        <a:rPr lang="ja-JP" altLang="en-US" i="1">
                          <a:latin typeface="Cambria Math" panose="02040503050406030204" pitchFamily="18" charset="0"/>
                        </a:rPr>
                        <m:t>　</m:t>
                      </m:r>
                      <m:r>
                        <a:rPr lang="en-US" altLang="ja-JP" i="1">
                          <a:latin typeface="Cambria Math" panose="02040503050406030204" pitchFamily="18" charset="0"/>
                        </a:rPr>
                        <m:t>𝐹</m:t>
                      </m:r>
                      <m:d>
                        <m:dPr>
                          <m:ctrlPr>
                            <a:rPr lang="en-US" altLang="ja-JP" i="1">
                              <a:latin typeface="Cambria Math" panose="02040503050406030204" pitchFamily="18" charset="0"/>
                            </a:rPr>
                          </m:ctrlPr>
                        </m:dPr>
                        <m:e>
                          <m:r>
                            <a:rPr lang="en-US" altLang="ja-JP" i="1">
                              <a:latin typeface="Cambria Math" panose="02040503050406030204" pitchFamily="18" charset="0"/>
                            </a:rPr>
                            <m:t>1,194</m:t>
                          </m:r>
                        </m:e>
                      </m:d>
                      <m:r>
                        <a:rPr lang="en-US" altLang="ja-JP" i="1">
                          <a:latin typeface="Cambria Math" panose="02040503050406030204" pitchFamily="18" charset="0"/>
                        </a:rPr>
                        <m:t>=15.361, </m:t>
                      </m:r>
                      <m:r>
                        <a:rPr lang="en-US" altLang="ja-JP" i="1">
                          <a:latin typeface="Cambria Math" panose="02040503050406030204" pitchFamily="18" charset="0"/>
                        </a:rPr>
                        <m:t>𝑝</m:t>
                      </m:r>
                      <m:r>
                        <a:rPr lang="en-US" altLang="ja-JP" i="1">
                          <a:latin typeface="Cambria Math" panose="02040503050406030204" pitchFamily="18" charset="0"/>
                        </a:rPr>
                        <m:t>&lt;.001,</m:t>
                      </m:r>
                      <m:r>
                        <a:rPr lang="en-US" altLang="ja-JP" i="1">
                          <a:latin typeface="Cambria Math" panose="02040503050406030204" pitchFamily="18" charset="0"/>
                        </a:rPr>
                        <m:t>𝑑</m:t>
                      </m:r>
                      <m:r>
                        <a:rPr lang="en-US" altLang="ja-JP" i="1">
                          <a:latin typeface="Cambria Math" panose="02040503050406030204" pitchFamily="18" charset="0"/>
                        </a:rPr>
                        <m:t>=0.517</m:t>
                      </m:r>
                    </m:oMath>
                  </m:oMathPara>
                </a14:m>
                <a:endParaRPr lang="ja-JP" altLang="en-US"/>
              </a:p>
            </p:txBody>
          </p:sp>
        </mc:Choice>
        <mc:Fallback xmlns="">
          <p:sp>
            <p:nvSpPr>
              <p:cNvPr id="25" name="テキスト プレースホルダー 29">
                <a:extLst>
                  <a:ext uri="{FF2B5EF4-FFF2-40B4-BE49-F238E27FC236}">
                    <a16:creationId xmlns:a16="http://schemas.microsoft.com/office/drawing/2014/main" id="{1CFE1702-05BC-4A41-8859-CF005EF42D6D}"/>
                  </a:ext>
                </a:extLst>
              </p:cNvPr>
              <p:cNvSpPr txBox="1">
                <a:spLocks noRot="1" noChangeAspect="1" noMove="1" noResize="1" noEditPoints="1" noAdjustHandles="1" noChangeArrowheads="1" noChangeShapeType="1" noTextEdit="1"/>
              </p:cNvSpPr>
              <p:nvPr/>
            </p:nvSpPr>
            <p:spPr>
              <a:xfrm>
                <a:off x="1443786" y="3246502"/>
                <a:ext cx="18275484" cy="853994"/>
              </a:xfrm>
              <a:prstGeom prst="rect">
                <a:avLst/>
              </a:prstGeom>
              <a:blipFill>
                <a:blip r:embed="rId4"/>
                <a:stretch>
                  <a:fillRect l="-694" t="-2941"/>
                </a:stretch>
              </a:blipFill>
            </p:spPr>
            <p:txBody>
              <a:bodyPr/>
              <a:lstStyle/>
              <a:p>
                <a:r>
                  <a:rPr lang="ja-JP" altLang="en-US">
                    <a:noFill/>
                  </a:rPr>
                  <a:t> </a:t>
                </a:r>
              </a:p>
            </p:txBody>
          </p:sp>
        </mc:Fallback>
      </mc:AlternateContent>
      <p:sp>
        <p:nvSpPr>
          <p:cNvPr id="26" name="テキスト プレースホルダー 27">
            <a:extLst>
              <a:ext uri="{FF2B5EF4-FFF2-40B4-BE49-F238E27FC236}">
                <a16:creationId xmlns:a16="http://schemas.microsoft.com/office/drawing/2014/main" id="{BEE71F9F-CA98-DC4A-929E-D0DB009D712A}"/>
              </a:ext>
            </a:extLst>
          </p:cNvPr>
          <p:cNvSpPr txBox="1">
            <a:spLocks/>
          </p:cNvSpPr>
          <p:nvPr/>
        </p:nvSpPr>
        <p:spPr>
          <a:xfrm>
            <a:off x="1254486" y="5931952"/>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戦略とトーンに交互効果</a:t>
            </a:r>
            <a:r>
              <a:rPr lang="ja-JP" altLang="en-US">
                <a:solidFill>
                  <a:schemeClr val="accent2"/>
                </a:solidFill>
              </a:rPr>
              <a:t>あり</a:t>
            </a:r>
            <a:endParaRPr lang="en-US" altLang="ja-JP" dirty="0">
              <a:solidFill>
                <a:schemeClr val="accent2"/>
              </a:solidFill>
            </a:endParaRPr>
          </a:p>
        </p:txBody>
      </p:sp>
      <p:grpSp>
        <p:nvGrpSpPr>
          <p:cNvPr id="28" name="グループ化 27">
            <a:extLst>
              <a:ext uri="{FF2B5EF4-FFF2-40B4-BE49-F238E27FC236}">
                <a16:creationId xmlns:a16="http://schemas.microsoft.com/office/drawing/2014/main" id="{B2E76D69-A78F-C041-8AE7-868B2B30778A}"/>
              </a:ext>
            </a:extLst>
          </p:cNvPr>
          <p:cNvGrpSpPr/>
          <p:nvPr/>
        </p:nvGrpSpPr>
        <p:grpSpPr>
          <a:xfrm>
            <a:off x="617232" y="6004577"/>
            <a:ext cx="539448" cy="487368"/>
            <a:chOff x="400056" y="1061560"/>
            <a:chExt cx="269724" cy="243684"/>
          </a:xfrm>
        </p:grpSpPr>
        <p:sp>
          <p:nvSpPr>
            <p:cNvPr id="29" name="三角形 28">
              <a:extLst>
                <a:ext uri="{FF2B5EF4-FFF2-40B4-BE49-F238E27FC236}">
                  <a16:creationId xmlns:a16="http://schemas.microsoft.com/office/drawing/2014/main" id="{1CD53D64-0349-E54B-B043-AFD54C50A494}"/>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30" name="三角形 29">
              <a:extLst>
                <a:ext uri="{FF2B5EF4-FFF2-40B4-BE49-F238E27FC236}">
                  <a16:creationId xmlns:a16="http://schemas.microsoft.com/office/drawing/2014/main" id="{70F4E235-9D83-A243-9964-DD3F41FBCAC0}"/>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Tree>
    <p:extLst>
      <p:ext uri="{BB962C8B-B14F-4D97-AF65-F5344CB8AC3E}">
        <p14:creationId xmlns:p14="http://schemas.microsoft.com/office/powerpoint/2010/main" val="11847373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3520CDD-7107-D140-A1A0-69D0D69B10F3}"/>
              </a:ext>
            </a:extLst>
          </p:cNvPr>
          <p:cNvSpPr>
            <a:spLocks noGrp="1"/>
          </p:cNvSpPr>
          <p:nvPr>
            <p:ph type="dt" sz="half" idx="10"/>
          </p:nvPr>
        </p:nvSpPr>
        <p:spPr/>
        <p:txBody>
          <a:bodyPr/>
          <a:lstStyle/>
          <a:p>
            <a:fld id="{35974365-84F6-754A-A339-DA79FFD42E98}" type="datetime1">
              <a:rPr lang="ja-JP" altLang="en-US" smtClean="0"/>
              <a:t>2018/6/9</a:t>
            </a:fld>
            <a:endParaRPr lang="ja-JP" altLang="en-US"/>
          </a:p>
        </p:txBody>
      </p:sp>
      <p:sp>
        <p:nvSpPr>
          <p:cNvPr id="3" name="フッター プレースホルダー 2">
            <a:extLst>
              <a:ext uri="{FF2B5EF4-FFF2-40B4-BE49-F238E27FC236}">
                <a16:creationId xmlns:a16="http://schemas.microsoft.com/office/drawing/2014/main" id="{6EEFBA0C-3454-8D4D-87CE-5BA9ED8AFBE5}"/>
              </a:ext>
            </a:extLst>
          </p:cNvPr>
          <p:cNvSpPr>
            <a:spLocks noGrp="1"/>
          </p:cNvSpPr>
          <p:nvPr>
            <p:ph type="ftr" sz="quarter" idx="11"/>
          </p:nvPr>
        </p:nvSpPr>
        <p:spPr/>
        <p:txBody>
          <a:bodyPr/>
          <a:lstStyle/>
          <a:p>
            <a:r>
              <a:rPr lang="ja-JP" altLang="en-US"/>
              <a:t>進捗報告</a:t>
            </a:r>
            <a:r>
              <a:rPr lang="en-US" altLang="ja-JP"/>
              <a:t>(2018.06.06)</a:t>
            </a:r>
            <a:endParaRPr lang="ja-JP" altLang="en-US"/>
          </a:p>
        </p:txBody>
      </p:sp>
      <p:sp>
        <p:nvSpPr>
          <p:cNvPr id="4" name="スライド番号プレースホルダー 3">
            <a:extLst>
              <a:ext uri="{FF2B5EF4-FFF2-40B4-BE49-F238E27FC236}">
                <a16:creationId xmlns:a16="http://schemas.microsoft.com/office/drawing/2014/main" id="{5D405AD0-9091-A94B-BA67-32995AD15B35}"/>
              </a:ext>
            </a:extLst>
          </p:cNvPr>
          <p:cNvSpPr>
            <a:spLocks noGrp="1"/>
          </p:cNvSpPr>
          <p:nvPr>
            <p:ph type="sldNum" sz="quarter" idx="12"/>
          </p:nvPr>
        </p:nvSpPr>
        <p:spPr/>
        <p:txBody>
          <a:bodyPr/>
          <a:lstStyle/>
          <a:p>
            <a:fld id="{89242BC1-393D-1248-985B-18DA624F2964}" type="slidenum">
              <a:rPr lang="ja-JP" altLang="en-US" smtClean="0"/>
              <a:pPr/>
              <a:t>23</a:t>
            </a:fld>
            <a:endParaRPr lang="ja-JP" altLang="en-US"/>
          </a:p>
        </p:txBody>
      </p:sp>
      <p:sp>
        <p:nvSpPr>
          <p:cNvPr id="5" name="テキスト プレースホルダー 4">
            <a:extLst>
              <a:ext uri="{FF2B5EF4-FFF2-40B4-BE49-F238E27FC236}">
                <a16:creationId xmlns:a16="http://schemas.microsoft.com/office/drawing/2014/main" id="{26DD2A8D-F804-D546-B77D-9693A67C3E0B}"/>
              </a:ext>
            </a:extLst>
          </p:cNvPr>
          <p:cNvSpPr>
            <a:spLocks noGrp="1"/>
          </p:cNvSpPr>
          <p:nvPr>
            <p:ph type="body" sz="quarter" idx="14"/>
          </p:nvPr>
        </p:nvSpPr>
        <p:spPr/>
        <p:txBody>
          <a:bodyPr/>
          <a:lstStyle/>
          <a:p>
            <a:r>
              <a:rPr lang="ja-JP" altLang="en-US"/>
              <a:t>評価・考察</a:t>
            </a:r>
            <a:endParaRPr kumimoji="1" lang="ja-JP" altLang="en-US"/>
          </a:p>
        </p:txBody>
      </p:sp>
      <p:sp>
        <p:nvSpPr>
          <p:cNvPr id="6" name="テキスト プレースホルダー 5">
            <a:extLst>
              <a:ext uri="{FF2B5EF4-FFF2-40B4-BE49-F238E27FC236}">
                <a16:creationId xmlns:a16="http://schemas.microsoft.com/office/drawing/2014/main" id="{18F5D246-4675-9D44-B96B-BEDD6F01EDA7}"/>
              </a:ext>
            </a:extLst>
          </p:cNvPr>
          <p:cNvSpPr>
            <a:spLocks noGrp="1"/>
          </p:cNvSpPr>
          <p:nvPr>
            <p:ph type="body" sz="quarter" idx="13"/>
          </p:nvPr>
        </p:nvSpPr>
        <p:spPr/>
        <p:txBody>
          <a:bodyPr/>
          <a:lstStyle/>
          <a:p>
            <a:r>
              <a:rPr lang="en-US" altLang="ja-JP" dirty="0"/>
              <a:t>3</a:t>
            </a:r>
            <a:endParaRPr kumimoji="1" lang="ja-JP" altLang="en-US"/>
          </a:p>
        </p:txBody>
      </p:sp>
      <p:grpSp>
        <p:nvGrpSpPr>
          <p:cNvPr id="31" name="グループ化 30">
            <a:extLst>
              <a:ext uri="{FF2B5EF4-FFF2-40B4-BE49-F238E27FC236}">
                <a16:creationId xmlns:a16="http://schemas.microsoft.com/office/drawing/2014/main" id="{FD81DDC5-24B5-F24B-8DCA-6543CEE8DC81}"/>
              </a:ext>
            </a:extLst>
          </p:cNvPr>
          <p:cNvGrpSpPr/>
          <p:nvPr/>
        </p:nvGrpSpPr>
        <p:grpSpPr>
          <a:xfrm>
            <a:off x="289330" y="1413298"/>
            <a:ext cx="2160000" cy="934436"/>
            <a:chOff x="144665" y="525617"/>
            <a:chExt cx="1080000" cy="467218"/>
          </a:xfrm>
        </p:grpSpPr>
        <p:sp>
          <p:nvSpPr>
            <p:cNvPr id="32" name="正方形/長方形 31">
              <a:extLst>
                <a:ext uri="{FF2B5EF4-FFF2-40B4-BE49-F238E27FC236}">
                  <a16:creationId xmlns:a16="http://schemas.microsoft.com/office/drawing/2014/main" id="{073638CC-28A2-E943-AD34-548A0C227633}"/>
                </a:ext>
              </a:extLst>
            </p:cNvPr>
            <p:cNvSpPr/>
            <p:nvPr userDrawn="1"/>
          </p:nvSpPr>
          <p:spPr>
            <a:xfrm>
              <a:off x="145524" y="542424"/>
              <a:ext cx="91081" cy="450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sp>
          <p:nvSpPr>
            <p:cNvPr id="33" name="正方形/長方形 32">
              <a:extLst>
                <a:ext uri="{FF2B5EF4-FFF2-40B4-BE49-F238E27FC236}">
                  <a16:creationId xmlns:a16="http://schemas.microsoft.com/office/drawing/2014/main" id="{89C51296-914D-A74C-889D-A570C54F6A57}"/>
                </a:ext>
              </a:extLst>
            </p:cNvPr>
            <p:cNvSpPr/>
            <p:nvPr userDrawn="1"/>
          </p:nvSpPr>
          <p:spPr>
            <a:xfrm>
              <a:off x="144665" y="525617"/>
              <a:ext cx="1080000" cy="161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grpSp>
      <p:sp>
        <p:nvSpPr>
          <p:cNvPr id="37" name="テキスト プレースホルダー 30">
            <a:extLst>
              <a:ext uri="{FF2B5EF4-FFF2-40B4-BE49-F238E27FC236}">
                <a16:creationId xmlns:a16="http://schemas.microsoft.com/office/drawing/2014/main" id="{A73B3907-668E-1A41-B5F4-6D46EA930E91}"/>
              </a:ext>
            </a:extLst>
          </p:cNvPr>
          <p:cNvSpPr txBox="1">
            <a:spLocks/>
          </p:cNvSpPr>
          <p:nvPr/>
        </p:nvSpPr>
        <p:spPr>
          <a:xfrm>
            <a:off x="571049" y="1583871"/>
            <a:ext cx="17302163" cy="1403350"/>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60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被験者が送信した感情の数</a:t>
            </a:r>
          </a:p>
        </p:txBody>
      </p:sp>
      <p:pic>
        <p:nvPicPr>
          <p:cNvPr id="8" name="図 7">
            <a:extLst>
              <a:ext uri="{FF2B5EF4-FFF2-40B4-BE49-F238E27FC236}">
                <a16:creationId xmlns:a16="http://schemas.microsoft.com/office/drawing/2014/main" id="{CA6373BE-F163-FB46-A26E-959C6B58B094}"/>
              </a:ext>
            </a:extLst>
          </p:cNvPr>
          <p:cNvPicPr>
            <a:picLocks noChangeAspect="1"/>
          </p:cNvPicPr>
          <p:nvPr/>
        </p:nvPicPr>
        <p:blipFill>
          <a:blip r:embed="rId2"/>
          <a:stretch>
            <a:fillRect/>
          </a:stretch>
        </p:blipFill>
        <p:spPr>
          <a:xfrm>
            <a:off x="4417143" y="7714449"/>
            <a:ext cx="10215858" cy="5594400"/>
          </a:xfrm>
          <a:prstGeom prst="rect">
            <a:avLst/>
          </a:prstGeom>
        </p:spPr>
      </p:pic>
      <p:sp>
        <p:nvSpPr>
          <p:cNvPr id="27" name="テキスト プレースホルダー 27">
            <a:extLst>
              <a:ext uri="{FF2B5EF4-FFF2-40B4-BE49-F238E27FC236}">
                <a16:creationId xmlns:a16="http://schemas.microsoft.com/office/drawing/2014/main" id="{93A2A9E1-21DA-184F-B179-025C75CC0F29}"/>
              </a:ext>
            </a:extLst>
          </p:cNvPr>
          <p:cNvSpPr txBox="1">
            <a:spLocks/>
          </p:cNvSpPr>
          <p:nvPr/>
        </p:nvSpPr>
        <p:spPr>
          <a:xfrm>
            <a:off x="1254486" y="2486122"/>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ANOVA</a:t>
            </a:r>
            <a:r>
              <a:rPr lang="ja-JP" altLang="en-US"/>
              <a:t>を使用しエージェントの戦略による影響を分析</a:t>
            </a:r>
            <a:endParaRPr lang="en-US" altLang="ja-JP" dirty="0"/>
          </a:p>
        </p:txBody>
      </p:sp>
      <p:sp>
        <p:nvSpPr>
          <p:cNvPr id="43" name="三角形 42">
            <a:extLst>
              <a:ext uri="{FF2B5EF4-FFF2-40B4-BE49-F238E27FC236}">
                <a16:creationId xmlns:a16="http://schemas.microsoft.com/office/drawing/2014/main" id="{3BA6E0CA-5B3A-8744-BA08-F8D25A41C8E3}"/>
              </a:ext>
            </a:extLst>
          </p:cNvPr>
          <p:cNvSpPr/>
          <p:nvPr/>
        </p:nvSpPr>
        <p:spPr>
          <a:xfrm rot="5400000">
            <a:off x="1076238" y="5081456"/>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mc:AlternateContent xmlns:mc="http://schemas.openxmlformats.org/markup-compatibility/2006" xmlns:a14="http://schemas.microsoft.com/office/drawing/2010/main">
        <mc:Choice Requires="a14">
          <p:sp>
            <p:nvSpPr>
              <p:cNvPr id="44" name="テキスト プレースホルダー 29">
                <a:extLst>
                  <a:ext uri="{FF2B5EF4-FFF2-40B4-BE49-F238E27FC236}">
                    <a16:creationId xmlns:a16="http://schemas.microsoft.com/office/drawing/2014/main" id="{75162964-40A5-2D48-9D31-03DC803CC622}"/>
                  </a:ext>
                </a:extLst>
              </p:cNvPr>
              <p:cNvSpPr txBox="1">
                <a:spLocks/>
              </p:cNvSpPr>
              <p:nvPr/>
            </p:nvSpPr>
            <p:spPr>
              <a:xfrm>
                <a:off x="1457090" y="4966182"/>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pPr/>
                <a14:m>
                  <m:oMathPara xmlns:m="http://schemas.openxmlformats.org/officeDocument/2006/math">
                    <m:oMathParaPr>
                      <m:jc m:val="left"/>
                    </m:oMathParaPr>
                    <m:oMath xmlns:m="http://schemas.openxmlformats.org/officeDocument/2006/math">
                      <m:r>
                        <a:rPr lang="ja-JP" altLang="en-US" i="1" smtClean="0">
                          <a:latin typeface="Cambria Math" panose="02040503050406030204" pitchFamily="18" charset="0"/>
                        </a:rPr>
                        <m:t>有意差</m:t>
                      </m:r>
                      <m:r>
                        <a:rPr lang="ja-JP" altLang="en-US" i="1">
                          <a:solidFill>
                            <a:schemeClr val="accent2"/>
                          </a:solidFill>
                          <a:latin typeface="Cambria Math" panose="02040503050406030204" pitchFamily="18" charset="0"/>
                        </a:rPr>
                        <m:t>あり</m:t>
                      </m:r>
                      <m:r>
                        <a:rPr lang="ja-JP" altLang="en-US" i="1">
                          <a:latin typeface="Cambria Math" panose="02040503050406030204" pitchFamily="18" charset="0"/>
                        </a:rPr>
                        <m:t>　</m:t>
                      </m:r>
                      <m:r>
                        <a:rPr lang="en-US" altLang="ja-JP" i="1">
                          <a:latin typeface="Cambria Math" panose="02040503050406030204" pitchFamily="18" charset="0"/>
                        </a:rPr>
                        <m:t>𝐹</m:t>
                      </m:r>
                      <m:d>
                        <m:dPr>
                          <m:ctrlPr>
                            <a:rPr lang="en-US" altLang="ja-JP" i="1">
                              <a:latin typeface="Cambria Math" panose="02040503050406030204" pitchFamily="18" charset="0"/>
                            </a:rPr>
                          </m:ctrlPr>
                        </m:dPr>
                        <m:e>
                          <m:r>
                            <a:rPr lang="en-US" altLang="ja-JP" i="1">
                              <a:latin typeface="Cambria Math" panose="02040503050406030204" pitchFamily="18" charset="0"/>
                            </a:rPr>
                            <m:t>1,194</m:t>
                          </m:r>
                        </m:e>
                      </m:d>
                      <m:r>
                        <a:rPr lang="en-US" altLang="ja-JP" i="1">
                          <a:latin typeface="Cambria Math" panose="02040503050406030204" pitchFamily="18" charset="0"/>
                        </a:rPr>
                        <m:t>=</m:t>
                      </m:r>
                      <m:r>
                        <a:rPr lang="en-US" altLang="ja-JP" b="0" i="1" smtClean="0">
                          <a:latin typeface="Cambria Math" panose="02040503050406030204" pitchFamily="18" charset="0"/>
                        </a:rPr>
                        <m:t>5.760,</m:t>
                      </m:r>
                      <m:r>
                        <a:rPr lang="en-US" altLang="ja-JP" i="1">
                          <a:latin typeface="Cambria Math" panose="02040503050406030204" pitchFamily="18" charset="0"/>
                        </a:rPr>
                        <m:t> </m:t>
                      </m:r>
                      <m:r>
                        <a:rPr lang="en-US" altLang="ja-JP" i="1">
                          <a:latin typeface="Cambria Math" panose="02040503050406030204" pitchFamily="18" charset="0"/>
                        </a:rPr>
                        <m:t>𝑝</m:t>
                      </m:r>
                      <m:r>
                        <a:rPr lang="en-US" altLang="ja-JP" i="1">
                          <a:latin typeface="Cambria Math" panose="02040503050406030204" pitchFamily="18" charset="0"/>
                        </a:rPr>
                        <m:t>=.017,</m:t>
                      </m:r>
                      <m:r>
                        <a:rPr lang="en-US" altLang="ja-JP" i="1">
                          <a:latin typeface="Cambria Math" panose="02040503050406030204" pitchFamily="18" charset="0"/>
                        </a:rPr>
                        <m:t>𝑑</m:t>
                      </m:r>
                      <m:r>
                        <a:rPr lang="en-US" altLang="ja-JP" i="1">
                          <a:latin typeface="Cambria Math" panose="02040503050406030204" pitchFamily="18" charset="0"/>
                        </a:rPr>
                        <m:t>=0.332</m:t>
                      </m:r>
                    </m:oMath>
                  </m:oMathPara>
                </a14:m>
                <a:endParaRPr lang="ja-JP" altLang="en-US"/>
              </a:p>
            </p:txBody>
          </p:sp>
        </mc:Choice>
        <mc:Fallback xmlns="">
          <p:sp>
            <p:nvSpPr>
              <p:cNvPr id="44" name="テキスト プレースホルダー 29">
                <a:extLst>
                  <a:ext uri="{FF2B5EF4-FFF2-40B4-BE49-F238E27FC236}">
                    <a16:creationId xmlns:a16="http://schemas.microsoft.com/office/drawing/2014/main" id="{75162964-40A5-2D48-9D31-03DC803CC622}"/>
                  </a:ext>
                </a:extLst>
              </p:cNvPr>
              <p:cNvSpPr txBox="1">
                <a:spLocks noRot="1" noChangeAspect="1" noMove="1" noResize="1" noEditPoints="1" noAdjustHandles="1" noChangeArrowheads="1" noChangeShapeType="1" noTextEdit="1"/>
              </p:cNvSpPr>
              <p:nvPr/>
            </p:nvSpPr>
            <p:spPr>
              <a:xfrm>
                <a:off x="1457090" y="4966182"/>
                <a:ext cx="16135964" cy="853994"/>
              </a:xfrm>
              <a:prstGeom prst="rect">
                <a:avLst/>
              </a:prstGeom>
              <a:blipFill>
                <a:blip r:embed="rId3"/>
                <a:stretch>
                  <a:fillRect l="-787" t="-2941"/>
                </a:stretch>
              </a:blipFill>
            </p:spPr>
            <p:txBody>
              <a:bodyPr/>
              <a:lstStyle/>
              <a:p>
                <a:r>
                  <a:rPr lang="ja-JP" altLang="en-US">
                    <a:noFill/>
                  </a:rPr>
                  <a:t> </a:t>
                </a:r>
              </a:p>
            </p:txBody>
          </p:sp>
        </mc:Fallback>
      </mc:AlternateContent>
      <p:sp>
        <p:nvSpPr>
          <p:cNvPr id="45" name="テキスト プレースホルダー 27">
            <a:extLst>
              <a:ext uri="{FF2B5EF4-FFF2-40B4-BE49-F238E27FC236}">
                <a16:creationId xmlns:a16="http://schemas.microsoft.com/office/drawing/2014/main" id="{EAAA8EC0-8CC9-3D4F-9BC3-70D23A92C934}"/>
              </a:ext>
            </a:extLst>
          </p:cNvPr>
          <p:cNvSpPr txBox="1">
            <a:spLocks/>
          </p:cNvSpPr>
          <p:nvPr/>
        </p:nvSpPr>
        <p:spPr>
          <a:xfrm>
            <a:off x="1254486" y="4151182"/>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ANOVA</a:t>
            </a:r>
            <a:r>
              <a:rPr lang="ja-JP" altLang="en-US"/>
              <a:t>を使用しエージェントのトーンによる影響を分析</a:t>
            </a:r>
            <a:endParaRPr lang="en-US" altLang="ja-JP" dirty="0"/>
          </a:p>
        </p:txBody>
      </p:sp>
      <p:grpSp>
        <p:nvGrpSpPr>
          <p:cNvPr id="46" name="グループ化 45">
            <a:extLst>
              <a:ext uri="{FF2B5EF4-FFF2-40B4-BE49-F238E27FC236}">
                <a16:creationId xmlns:a16="http://schemas.microsoft.com/office/drawing/2014/main" id="{36E115E7-BB71-D342-8565-893D4F37B273}"/>
              </a:ext>
            </a:extLst>
          </p:cNvPr>
          <p:cNvGrpSpPr/>
          <p:nvPr/>
        </p:nvGrpSpPr>
        <p:grpSpPr>
          <a:xfrm>
            <a:off x="617232" y="4223807"/>
            <a:ext cx="539448" cy="487368"/>
            <a:chOff x="400056" y="1061560"/>
            <a:chExt cx="269724" cy="243684"/>
          </a:xfrm>
        </p:grpSpPr>
        <p:sp>
          <p:nvSpPr>
            <p:cNvPr id="47" name="三角形 46">
              <a:extLst>
                <a:ext uri="{FF2B5EF4-FFF2-40B4-BE49-F238E27FC236}">
                  <a16:creationId xmlns:a16="http://schemas.microsoft.com/office/drawing/2014/main" id="{46B04A64-DCD9-3145-A840-E7856438EB9A}"/>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48" name="三角形 47">
              <a:extLst>
                <a:ext uri="{FF2B5EF4-FFF2-40B4-BE49-F238E27FC236}">
                  <a16:creationId xmlns:a16="http://schemas.microsoft.com/office/drawing/2014/main" id="{5A02C90A-41A8-3747-982C-969695FE59BA}"/>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grpSp>
        <p:nvGrpSpPr>
          <p:cNvPr id="50" name="グループ化 49">
            <a:extLst>
              <a:ext uri="{FF2B5EF4-FFF2-40B4-BE49-F238E27FC236}">
                <a16:creationId xmlns:a16="http://schemas.microsoft.com/office/drawing/2014/main" id="{E715CCD2-7CBC-2F46-9FCE-8A125FDA304B}"/>
              </a:ext>
            </a:extLst>
          </p:cNvPr>
          <p:cNvGrpSpPr/>
          <p:nvPr/>
        </p:nvGrpSpPr>
        <p:grpSpPr>
          <a:xfrm>
            <a:off x="617232" y="2557358"/>
            <a:ext cx="539448" cy="487368"/>
            <a:chOff x="400056" y="1061560"/>
            <a:chExt cx="269724" cy="243684"/>
          </a:xfrm>
        </p:grpSpPr>
        <p:sp>
          <p:nvSpPr>
            <p:cNvPr id="51" name="三角形 50">
              <a:extLst>
                <a:ext uri="{FF2B5EF4-FFF2-40B4-BE49-F238E27FC236}">
                  <a16:creationId xmlns:a16="http://schemas.microsoft.com/office/drawing/2014/main" id="{4270F85A-1558-7F46-9313-2E10789E0038}"/>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52" name="三角形 51">
              <a:extLst>
                <a:ext uri="{FF2B5EF4-FFF2-40B4-BE49-F238E27FC236}">
                  <a16:creationId xmlns:a16="http://schemas.microsoft.com/office/drawing/2014/main" id="{60CBF3B1-0E43-BC41-9C45-3FAC257E5742}"/>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24" name="三角形 23">
            <a:extLst>
              <a:ext uri="{FF2B5EF4-FFF2-40B4-BE49-F238E27FC236}">
                <a16:creationId xmlns:a16="http://schemas.microsoft.com/office/drawing/2014/main" id="{60441E68-F8C0-1A4A-8C3C-9523F19C3C2D}"/>
              </a:ext>
            </a:extLst>
          </p:cNvPr>
          <p:cNvSpPr/>
          <p:nvPr/>
        </p:nvSpPr>
        <p:spPr>
          <a:xfrm rot="5400000">
            <a:off x="1076238" y="3361776"/>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mc:AlternateContent xmlns:mc="http://schemas.openxmlformats.org/markup-compatibility/2006" xmlns:a14="http://schemas.microsoft.com/office/drawing/2010/main">
        <mc:Choice Requires="a14">
          <p:sp>
            <p:nvSpPr>
              <p:cNvPr id="25" name="テキスト プレースホルダー 29">
                <a:extLst>
                  <a:ext uri="{FF2B5EF4-FFF2-40B4-BE49-F238E27FC236}">
                    <a16:creationId xmlns:a16="http://schemas.microsoft.com/office/drawing/2014/main" id="{1CFE1702-05BC-4A41-8859-CF005EF42D6D}"/>
                  </a:ext>
                </a:extLst>
              </p:cNvPr>
              <p:cNvSpPr txBox="1">
                <a:spLocks/>
              </p:cNvSpPr>
              <p:nvPr/>
            </p:nvSpPr>
            <p:spPr>
              <a:xfrm>
                <a:off x="1443786" y="3246502"/>
                <a:ext cx="1827548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pPr/>
                <a14:m>
                  <m:oMathPara xmlns:m="http://schemas.openxmlformats.org/officeDocument/2006/math">
                    <m:oMathParaPr>
                      <m:jc m:val="left"/>
                    </m:oMathParaPr>
                    <m:oMath xmlns:m="http://schemas.openxmlformats.org/officeDocument/2006/math">
                      <m:r>
                        <a:rPr lang="ja-JP" altLang="en-US" i="1" smtClean="0">
                          <a:latin typeface="Cambria Math" panose="02040503050406030204" pitchFamily="18" charset="0"/>
                        </a:rPr>
                        <m:t>有意差</m:t>
                      </m:r>
                      <m:r>
                        <a:rPr lang="ja-JP" altLang="en-US" i="1">
                          <a:solidFill>
                            <a:schemeClr val="accent2"/>
                          </a:solidFill>
                          <a:latin typeface="Cambria Math" panose="02040503050406030204" pitchFamily="18" charset="0"/>
                        </a:rPr>
                        <m:t>あり</m:t>
                      </m:r>
                      <m:r>
                        <a:rPr lang="ja-JP" altLang="en-US" i="1">
                          <a:latin typeface="Cambria Math" panose="02040503050406030204" pitchFamily="18" charset="0"/>
                        </a:rPr>
                        <m:t>　</m:t>
                      </m:r>
                      <m:r>
                        <a:rPr lang="en-US" altLang="ja-JP" i="1">
                          <a:latin typeface="Cambria Math" panose="02040503050406030204" pitchFamily="18" charset="0"/>
                        </a:rPr>
                        <m:t>𝐹</m:t>
                      </m:r>
                      <m:d>
                        <m:dPr>
                          <m:ctrlPr>
                            <a:rPr lang="en-US" altLang="ja-JP" i="1">
                              <a:latin typeface="Cambria Math" panose="02040503050406030204" pitchFamily="18" charset="0"/>
                            </a:rPr>
                          </m:ctrlPr>
                        </m:dPr>
                        <m:e>
                          <m:r>
                            <a:rPr lang="en-US" altLang="ja-JP" i="1">
                              <a:latin typeface="Cambria Math" panose="02040503050406030204" pitchFamily="18" charset="0"/>
                            </a:rPr>
                            <m:t>1,194</m:t>
                          </m:r>
                        </m:e>
                      </m:d>
                      <m:r>
                        <a:rPr lang="en-US" altLang="ja-JP" i="1">
                          <a:latin typeface="Cambria Math" panose="02040503050406030204" pitchFamily="18" charset="0"/>
                        </a:rPr>
                        <m:t>=</m:t>
                      </m:r>
                      <m:r>
                        <a:rPr lang="en-US" altLang="ja-JP" b="0" i="1" smtClean="0">
                          <a:latin typeface="Cambria Math" panose="02040503050406030204" pitchFamily="18" charset="0"/>
                        </a:rPr>
                        <m:t>6.026,</m:t>
                      </m:r>
                      <m:r>
                        <a:rPr lang="en-US" altLang="ja-JP" i="1">
                          <a:latin typeface="Cambria Math" panose="02040503050406030204" pitchFamily="18" charset="0"/>
                        </a:rPr>
                        <m:t> </m:t>
                      </m:r>
                      <m:r>
                        <a:rPr lang="en-US" altLang="ja-JP" i="1">
                          <a:latin typeface="Cambria Math" panose="02040503050406030204" pitchFamily="18" charset="0"/>
                        </a:rPr>
                        <m:t>𝑝</m:t>
                      </m:r>
                      <m:r>
                        <a:rPr lang="en-US" altLang="ja-JP" i="1">
                          <a:latin typeface="Cambria Math" panose="02040503050406030204" pitchFamily="18" charset="0"/>
                        </a:rPr>
                        <m:t>=.015,</m:t>
                      </m:r>
                      <m:r>
                        <a:rPr lang="en-US" altLang="ja-JP" i="1">
                          <a:latin typeface="Cambria Math" panose="02040503050406030204" pitchFamily="18" charset="0"/>
                        </a:rPr>
                        <m:t>𝑑</m:t>
                      </m:r>
                      <m:r>
                        <a:rPr lang="en-US" altLang="ja-JP" i="1">
                          <a:latin typeface="Cambria Math" panose="02040503050406030204" pitchFamily="18" charset="0"/>
                        </a:rPr>
                        <m:t>=−0.342</m:t>
                      </m:r>
                    </m:oMath>
                  </m:oMathPara>
                </a14:m>
                <a:endParaRPr lang="ja-JP" altLang="en-US"/>
              </a:p>
            </p:txBody>
          </p:sp>
        </mc:Choice>
        <mc:Fallback xmlns="">
          <p:sp>
            <p:nvSpPr>
              <p:cNvPr id="25" name="テキスト プレースホルダー 29">
                <a:extLst>
                  <a:ext uri="{FF2B5EF4-FFF2-40B4-BE49-F238E27FC236}">
                    <a16:creationId xmlns:a16="http://schemas.microsoft.com/office/drawing/2014/main" id="{1CFE1702-05BC-4A41-8859-CF005EF42D6D}"/>
                  </a:ext>
                </a:extLst>
              </p:cNvPr>
              <p:cNvSpPr txBox="1">
                <a:spLocks noRot="1" noChangeAspect="1" noMove="1" noResize="1" noEditPoints="1" noAdjustHandles="1" noChangeArrowheads="1" noChangeShapeType="1" noTextEdit="1"/>
              </p:cNvSpPr>
              <p:nvPr/>
            </p:nvSpPr>
            <p:spPr>
              <a:xfrm>
                <a:off x="1443786" y="3246502"/>
                <a:ext cx="18275484" cy="853994"/>
              </a:xfrm>
              <a:prstGeom prst="rect">
                <a:avLst/>
              </a:prstGeom>
              <a:blipFill>
                <a:blip r:embed="rId4"/>
                <a:stretch>
                  <a:fillRect l="-694" t="-2941"/>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2020458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3520CDD-7107-D140-A1A0-69D0D69B10F3}"/>
              </a:ext>
            </a:extLst>
          </p:cNvPr>
          <p:cNvSpPr>
            <a:spLocks noGrp="1"/>
          </p:cNvSpPr>
          <p:nvPr>
            <p:ph type="dt" sz="half" idx="10"/>
          </p:nvPr>
        </p:nvSpPr>
        <p:spPr/>
        <p:txBody>
          <a:bodyPr/>
          <a:lstStyle/>
          <a:p>
            <a:fld id="{35974365-84F6-754A-A339-DA79FFD42E98}" type="datetime1">
              <a:rPr lang="ja-JP" altLang="en-US" smtClean="0"/>
              <a:t>2018/6/9</a:t>
            </a:fld>
            <a:endParaRPr lang="ja-JP" altLang="en-US"/>
          </a:p>
        </p:txBody>
      </p:sp>
      <p:sp>
        <p:nvSpPr>
          <p:cNvPr id="3" name="フッター プレースホルダー 2">
            <a:extLst>
              <a:ext uri="{FF2B5EF4-FFF2-40B4-BE49-F238E27FC236}">
                <a16:creationId xmlns:a16="http://schemas.microsoft.com/office/drawing/2014/main" id="{6EEFBA0C-3454-8D4D-87CE-5BA9ED8AFBE5}"/>
              </a:ext>
            </a:extLst>
          </p:cNvPr>
          <p:cNvSpPr>
            <a:spLocks noGrp="1"/>
          </p:cNvSpPr>
          <p:nvPr>
            <p:ph type="ftr" sz="quarter" idx="11"/>
          </p:nvPr>
        </p:nvSpPr>
        <p:spPr/>
        <p:txBody>
          <a:bodyPr/>
          <a:lstStyle/>
          <a:p>
            <a:r>
              <a:rPr lang="ja-JP" altLang="en-US"/>
              <a:t>進捗報告</a:t>
            </a:r>
            <a:r>
              <a:rPr lang="en-US" altLang="ja-JP"/>
              <a:t>(2018.06.06)</a:t>
            </a:r>
            <a:endParaRPr lang="ja-JP" altLang="en-US"/>
          </a:p>
        </p:txBody>
      </p:sp>
      <p:sp>
        <p:nvSpPr>
          <p:cNvPr id="4" name="スライド番号プレースホルダー 3">
            <a:extLst>
              <a:ext uri="{FF2B5EF4-FFF2-40B4-BE49-F238E27FC236}">
                <a16:creationId xmlns:a16="http://schemas.microsoft.com/office/drawing/2014/main" id="{5D405AD0-9091-A94B-BA67-32995AD15B35}"/>
              </a:ext>
            </a:extLst>
          </p:cNvPr>
          <p:cNvSpPr>
            <a:spLocks noGrp="1"/>
          </p:cNvSpPr>
          <p:nvPr>
            <p:ph type="sldNum" sz="quarter" idx="12"/>
          </p:nvPr>
        </p:nvSpPr>
        <p:spPr/>
        <p:txBody>
          <a:bodyPr/>
          <a:lstStyle/>
          <a:p>
            <a:fld id="{89242BC1-393D-1248-985B-18DA624F2964}" type="slidenum">
              <a:rPr lang="ja-JP" altLang="en-US" smtClean="0"/>
              <a:pPr/>
              <a:t>24</a:t>
            </a:fld>
            <a:endParaRPr lang="ja-JP" altLang="en-US"/>
          </a:p>
        </p:txBody>
      </p:sp>
      <p:sp>
        <p:nvSpPr>
          <p:cNvPr id="5" name="テキスト プレースホルダー 4">
            <a:extLst>
              <a:ext uri="{FF2B5EF4-FFF2-40B4-BE49-F238E27FC236}">
                <a16:creationId xmlns:a16="http://schemas.microsoft.com/office/drawing/2014/main" id="{26DD2A8D-F804-D546-B77D-9693A67C3E0B}"/>
              </a:ext>
            </a:extLst>
          </p:cNvPr>
          <p:cNvSpPr>
            <a:spLocks noGrp="1"/>
          </p:cNvSpPr>
          <p:nvPr>
            <p:ph type="body" sz="quarter" idx="14"/>
          </p:nvPr>
        </p:nvSpPr>
        <p:spPr/>
        <p:txBody>
          <a:bodyPr/>
          <a:lstStyle/>
          <a:p>
            <a:r>
              <a:rPr lang="ja-JP" altLang="en-US"/>
              <a:t>評価・考察</a:t>
            </a:r>
            <a:endParaRPr kumimoji="1" lang="ja-JP" altLang="en-US"/>
          </a:p>
        </p:txBody>
      </p:sp>
      <p:sp>
        <p:nvSpPr>
          <p:cNvPr id="6" name="テキスト プレースホルダー 5">
            <a:extLst>
              <a:ext uri="{FF2B5EF4-FFF2-40B4-BE49-F238E27FC236}">
                <a16:creationId xmlns:a16="http://schemas.microsoft.com/office/drawing/2014/main" id="{18F5D246-4675-9D44-B96B-BEDD6F01EDA7}"/>
              </a:ext>
            </a:extLst>
          </p:cNvPr>
          <p:cNvSpPr>
            <a:spLocks noGrp="1"/>
          </p:cNvSpPr>
          <p:nvPr>
            <p:ph type="body" sz="quarter" idx="13"/>
          </p:nvPr>
        </p:nvSpPr>
        <p:spPr/>
        <p:txBody>
          <a:bodyPr/>
          <a:lstStyle/>
          <a:p>
            <a:r>
              <a:rPr lang="en-US" altLang="ja-JP" dirty="0"/>
              <a:t>3</a:t>
            </a:r>
            <a:endParaRPr kumimoji="1" lang="ja-JP" altLang="en-US"/>
          </a:p>
        </p:txBody>
      </p:sp>
      <p:grpSp>
        <p:nvGrpSpPr>
          <p:cNvPr id="31" name="グループ化 30">
            <a:extLst>
              <a:ext uri="{FF2B5EF4-FFF2-40B4-BE49-F238E27FC236}">
                <a16:creationId xmlns:a16="http://schemas.microsoft.com/office/drawing/2014/main" id="{FD81DDC5-24B5-F24B-8DCA-6543CEE8DC81}"/>
              </a:ext>
            </a:extLst>
          </p:cNvPr>
          <p:cNvGrpSpPr/>
          <p:nvPr/>
        </p:nvGrpSpPr>
        <p:grpSpPr>
          <a:xfrm>
            <a:off x="289330" y="1413298"/>
            <a:ext cx="2160000" cy="934436"/>
            <a:chOff x="144665" y="525617"/>
            <a:chExt cx="1080000" cy="467218"/>
          </a:xfrm>
        </p:grpSpPr>
        <p:sp>
          <p:nvSpPr>
            <p:cNvPr id="32" name="正方形/長方形 31">
              <a:extLst>
                <a:ext uri="{FF2B5EF4-FFF2-40B4-BE49-F238E27FC236}">
                  <a16:creationId xmlns:a16="http://schemas.microsoft.com/office/drawing/2014/main" id="{073638CC-28A2-E943-AD34-548A0C227633}"/>
                </a:ext>
              </a:extLst>
            </p:cNvPr>
            <p:cNvSpPr/>
            <p:nvPr userDrawn="1"/>
          </p:nvSpPr>
          <p:spPr>
            <a:xfrm>
              <a:off x="145524" y="542424"/>
              <a:ext cx="91081" cy="450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sp>
          <p:nvSpPr>
            <p:cNvPr id="33" name="正方形/長方形 32">
              <a:extLst>
                <a:ext uri="{FF2B5EF4-FFF2-40B4-BE49-F238E27FC236}">
                  <a16:creationId xmlns:a16="http://schemas.microsoft.com/office/drawing/2014/main" id="{89C51296-914D-A74C-889D-A570C54F6A57}"/>
                </a:ext>
              </a:extLst>
            </p:cNvPr>
            <p:cNvSpPr/>
            <p:nvPr userDrawn="1"/>
          </p:nvSpPr>
          <p:spPr>
            <a:xfrm>
              <a:off x="144665" y="525617"/>
              <a:ext cx="1080000" cy="161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grpSp>
      <p:sp>
        <p:nvSpPr>
          <p:cNvPr id="37" name="テキスト プレースホルダー 30">
            <a:extLst>
              <a:ext uri="{FF2B5EF4-FFF2-40B4-BE49-F238E27FC236}">
                <a16:creationId xmlns:a16="http://schemas.microsoft.com/office/drawing/2014/main" id="{A73B3907-668E-1A41-B5F4-6D46EA930E91}"/>
              </a:ext>
            </a:extLst>
          </p:cNvPr>
          <p:cNvSpPr txBox="1">
            <a:spLocks/>
          </p:cNvSpPr>
          <p:nvPr/>
        </p:nvSpPr>
        <p:spPr>
          <a:xfrm>
            <a:off x="571049" y="1583871"/>
            <a:ext cx="17302163" cy="1403350"/>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60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Strategic</a:t>
            </a:r>
            <a:r>
              <a:rPr lang="ja-JP" altLang="en-US"/>
              <a:t>な行動による影響</a:t>
            </a:r>
          </a:p>
        </p:txBody>
      </p:sp>
      <p:pic>
        <p:nvPicPr>
          <p:cNvPr id="8" name="図 7">
            <a:extLst>
              <a:ext uri="{FF2B5EF4-FFF2-40B4-BE49-F238E27FC236}">
                <a16:creationId xmlns:a16="http://schemas.microsoft.com/office/drawing/2014/main" id="{CA6373BE-F163-FB46-A26E-959C6B58B094}"/>
              </a:ext>
            </a:extLst>
          </p:cNvPr>
          <p:cNvPicPr>
            <a:picLocks noChangeAspect="1"/>
          </p:cNvPicPr>
          <p:nvPr/>
        </p:nvPicPr>
        <p:blipFill>
          <a:blip r:embed="rId2"/>
          <a:stretch>
            <a:fillRect/>
          </a:stretch>
        </p:blipFill>
        <p:spPr>
          <a:xfrm>
            <a:off x="4417143" y="7714449"/>
            <a:ext cx="10215858" cy="5594400"/>
          </a:xfrm>
          <a:prstGeom prst="rect">
            <a:avLst/>
          </a:prstGeom>
        </p:spPr>
      </p:pic>
      <p:sp>
        <p:nvSpPr>
          <p:cNvPr id="27" name="テキスト プレースホルダー 27">
            <a:extLst>
              <a:ext uri="{FF2B5EF4-FFF2-40B4-BE49-F238E27FC236}">
                <a16:creationId xmlns:a16="http://schemas.microsoft.com/office/drawing/2014/main" id="{93A2A9E1-21DA-184F-B179-025C75CC0F29}"/>
              </a:ext>
            </a:extLst>
          </p:cNvPr>
          <p:cNvSpPr txBox="1">
            <a:spLocks/>
          </p:cNvSpPr>
          <p:nvPr/>
        </p:nvSpPr>
        <p:spPr>
          <a:xfrm>
            <a:off x="1254486" y="2486122"/>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Strategic</a:t>
            </a:r>
            <a:r>
              <a:rPr lang="ja-JP" altLang="en-US"/>
              <a:t>なエージェントは選好を送ることを要求</a:t>
            </a:r>
            <a:endParaRPr lang="en-US" altLang="ja-JP" dirty="0"/>
          </a:p>
        </p:txBody>
      </p:sp>
      <p:grpSp>
        <p:nvGrpSpPr>
          <p:cNvPr id="50" name="グループ化 49">
            <a:extLst>
              <a:ext uri="{FF2B5EF4-FFF2-40B4-BE49-F238E27FC236}">
                <a16:creationId xmlns:a16="http://schemas.microsoft.com/office/drawing/2014/main" id="{E715CCD2-7CBC-2F46-9FCE-8A125FDA304B}"/>
              </a:ext>
            </a:extLst>
          </p:cNvPr>
          <p:cNvGrpSpPr/>
          <p:nvPr/>
        </p:nvGrpSpPr>
        <p:grpSpPr>
          <a:xfrm>
            <a:off x="617232" y="2557358"/>
            <a:ext cx="539448" cy="487368"/>
            <a:chOff x="400056" y="1061560"/>
            <a:chExt cx="269724" cy="243684"/>
          </a:xfrm>
        </p:grpSpPr>
        <p:sp>
          <p:nvSpPr>
            <p:cNvPr id="51" name="三角形 50">
              <a:extLst>
                <a:ext uri="{FF2B5EF4-FFF2-40B4-BE49-F238E27FC236}">
                  <a16:creationId xmlns:a16="http://schemas.microsoft.com/office/drawing/2014/main" id="{4270F85A-1558-7F46-9313-2E10789E0038}"/>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52" name="三角形 51">
              <a:extLst>
                <a:ext uri="{FF2B5EF4-FFF2-40B4-BE49-F238E27FC236}">
                  <a16:creationId xmlns:a16="http://schemas.microsoft.com/office/drawing/2014/main" id="{60CBF3B1-0E43-BC41-9C45-3FAC257E5742}"/>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29" name="角丸四角形 28">
            <a:extLst>
              <a:ext uri="{FF2B5EF4-FFF2-40B4-BE49-F238E27FC236}">
                <a16:creationId xmlns:a16="http://schemas.microsoft.com/office/drawing/2014/main" id="{51D004F6-42D5-4F43-B8C9-38CE89AEC833}"/>
              </a:ext>
            </a:extLst>
          </p:cNvPr>
          <p:cNvSpPr/>
          <p:nvPr/>
        </p:nvSpPr>
        <p:spPr>
          <a:xfrm>
            <a:off x="1404000" y="4989090"/>
            <a:ext cx="15480000" cy="109086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a:solidFill>
                  <a:schemeClr val="bg2"/>
                </a:solidFill>
              </a:rPr>
              <a:t>選好を明らかにするための戦略が相手の行動に影響を及ぼしている</a:t>
            </a:r>
            <a:r>
              <a:rPr lang="en-US" altLang="ja-JP" dirty="0">
                <a:solidFill>
                  <a:schemeClr val="bg2"/>
                </a:solidFill>
              </a:rPr>
              <a:t>(Q1)</a:t>
            </a:r>
            <a:endParaRPr lang="ja-JP" altLang="en-US">
              <a:solidFill>
                <a:schemeClr val="bg2"/>
              </a:solidFill>
            </a:endParaRPr>
          </a:p>
        </p:txBody>
      </p:sp>
      <p:sp>
        <p:nvSpPr>
          <p:cNvPr id="30" name="三角形 29">
            <a:extLst>
              <a:ext uri="{FF2B5EF4-FFF2-40B4-BE49-F238E27FC236}">
                <a16:creationId xmlns:a16="http://schemas.microsoft.com/office/drawing/2014/main" id="{0F2C5C4E-FBE3-1E46-845D-550915307A85}"/>
              </a:ext>
            </a:extLst>
          </p:cNvPr>
          <p:cNvSpPr/>
          <p:nvPr/>
        </p:nvSpPr>
        <p:spPr>
          <a:xfrm rot="10800000">
            <a:off x="8791957" y="4253557"/>
            <a:ext cx="704086" cy="387220"/>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22" name="三角形 21">
            <a:extLst>
              <a:ext uri="{FF2B5EF4-FFF2-40B4-BE49-F238E27FC236}">
                <a16:creationId xmlns:a16="http://schemas.microsoft.com/office/drawing/2014/main" id="{FEC23561-D131-034E-8663-410597765773}"/>
              </a:ext>
            </a:extLst>
          </p:cNvPr>
          <p:cNvSpPr/>
          <p:nvPr/>
        </p:nvSpPr>
        <p:spPr>
          <a:xfrm rot="5400000">
            <a:off x="1076238" y="3361776"/>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23" name="テキスト プレースホルダー 29">
            <a:extLst>
              <a:ext uri="{FF2B5EF4-FFF2-40B4-BE49-F238E27FC236}">
                <a16:creationId xmlns:a16="http://schemas.microsoft.com/office/drawing/2014/main" id="{DD6FB9E7-B96F-AB4C-867F-CE9CD3FFE569}"/>
              </a:ext>
            </a:extLst>
          </p:cNvPr>
          <p:cNvSpPr txBox="1">
            <a:spLocks/>
          </p:cNvSpPr>
          <p:nvPr/>
        </p:nvSpPr>
        <p:spPr>
          <a:xfrm>
            <a:off x="1443786" y="3246502"/>
            <a:ext cx="1827548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エージェントへ送られるメッセージ・感情の数も増加</a:t>
            </a:r>
          </a:p>
        </p:txBody>
      </p:sp>
    </p:spTree>
    <p:extLst>
      <p:ext uri="{BB962C8B-B14F-4D97-AF65-F5344CB8AC3E}">
        <p14:creationId xmlns:p14="http://schemas.microsoft.com/office/powerpoint/2010/main" val="18212656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3520CDD-7107-D140-A1A0-69D0D69B10F3}"/>
              </a:ext>
            </a:extLst>
          </p:cNvPr>
          <p:cNvSpPr>
            <a:spLocks noGrp="1"/>
          </p:cNvSpPr>
          <p:nvPr>
            <p:ph type="dt" sz="half" idx="10"/>
          </p:nvPr>
        </p:nvSpPr>
        <p:spPr/>
        <p:txBody>
          <a:bodyPr/>
          <a:lstStyle/>
          <a:p>
            <a:fld id="{35974365-84F6-754A-A339-DA79FFD42E98}" type="datetime1">
              <a:rPr lang="ja-JP" altLang="en-US" smtClean="0"/>
              <a:t>2018/6/9</a:t>
            </a:fld>
            <a:endParaRPr lang="ja-JP" altLang="en-US"/>
          </a:p>
        </p:txBody>
      </p:sp>
      <p:sp>
        <p:nvSpPr>
          <p:cNvPr id="3" name="フッター プレースホルダー 2">
            <a:extLst>
              <a:ext uri="{FF2B5EF4-FFF2-40B4-BE49-F238E27FC236}">
                <a16:creationId xmlns:a16="http://schemas.microsoft.com/office/drawing/2014/main" id="{6EEFBA0C-3454-8D4D-87CE-5BA9ED8AFBE5}"/>
              </a:ext>
            </a:extLst>
          </p:cNvPr>
          <p:cNvSpPr>
            <a:spLocks noGrp="1"/>
          </p:cNvSpPr>
          <p:nvPr>
            <p:ph type="ftr" sz="quarter" idx="11"/>
          </p:nvPr>
        </p:nvSpPr>
        <p:spPr/>
        <p:txBody>
          <a:bodyPr/>
          <a:lstStyle/>
          <a:p>
            <a:r>
              <a:rPr lang="ja-JP" altLang="en-US"/>
              <a:t>進捗報告</a:t>
            </a:r>
            <a:r>
              <a:rPr lang="en-US" altLang="ja-JP"/>
              <a:t>(2018.06.06)</a:t>
            </a:r>
            <a:endParaRPr lang="ja-JP" altLang="en-US"/>
          </a:p>
        </p:txBody>
      </p:sp>
      <p:sp>
        <p:nvSpPr>
          <p:cNvPr id="4" name="スライド番号プレースホルダー 3">
            <a:extLst>
              <a:ext uri="{FF2B5EF4-FFF2-40B4-BE49-F238E27FC236}">
                <a16:creationId xmlns:a16="http://schemas.microsoft.com/office/drawing/2014/main" id="{5D405AD0-9091-A94B-BA67-32995AD15B35}"/>
              </a:ext>
            </a:extLst>
          </p:cNvPr>
          <p:cNvSpPr>
            <a:spLocks noGrp="1"/>
          </p:cNvSpPr>
          <p:nvPr>
            <p:ph type="sldNum" sz="quarter" idx="12"/>
          </p:nvPr>
        </p:nvSpPr>
        <p:spPr/>
        <p:txBody>
          <a:bodyPr/>
          <a:lstStyle/>
          <a:p>
            <a:fld id="{89242BC1-393D-1248-985B-18DA624F2964}" type="slidenum">
              <a:rPr lang="ja-JP" altLang="en-US" smtClean="0"/>
              <a:pPr/>
              <a:t>25</a:t>
            </a:fld>
            <a:endParaRPr lang="ja-JP" altLang="en-US"/>
          </a:p>
        </p:txBody>
      </p:sp>
      <p:sp>
        <p:nvSpPr>
          <p:cNvPr id="5" name="テキスト プレースホルダー 4">
            <a:extLst>
              <a:ext uri="{FF2B5EF4-FFF2-40B4-BE49-F238E27FC236}">
                <a16:creationId xmlns:a16="http://schemas.microsoft.com/office/drawing/2014/main" id="{26DD2A8D-F804-D546-B77D-9693A67C3E0B}"/>
              </a:ext>
            </a:extLst>
          </p:cNvPr>
          <p:cNvSpPr>
            <a:spLocks noGrp="1"/>
          </p:cNvSpPr>
          <p:nvPr>
            <p:ph type="body" sz="quarter" idx="14"/>
          </p:nvPr>
        </p:nvSpPr>
        <p:spPr/>
        <p:txBody>
          <a:bodyPr/>
          <a:lstStyle/>
          <a:p>
            <a:r>
              <a:rPr lang="ja-JP" altLang="en-US"/>
              <a:t>評価・考察</a:t>
            </a:r>
            <a:endParaRPr kumimoji="1" lang="ja-JP" altLang="en-US"/>
          </a:p>
        </p:txBody>
      </p:sp>
      <p:sp>
        <p:nvSpPr>
          <p:cNvPr id="6" name="テキスト プレースホルダー 5">
            <a:extLst>
              <a:ext uri="{FF2B5EF4-FFF2-40B4-BE49-F238E27FC236}">
                <a16:creationId xmlns:a16="http://schemas.microsoft.com/office/drawing/2014/main" id="{18F5D246-4675-9D44-B96B-BEDD6F01EDA7}"/>
              </a:ext>
            </a:extLst>
          </p:cNvPr>
          <p:cNvSpPr>
            <a:spLocks noGrp="1"/>
          </p:cNvSpPr>
          <p:nvPr>
            <p:ph type="body" sz="quarter" idx="13"/>
          </p:nvPr>
        </p:nvSpPr>
        <p:spPr/>
        <p:txBody>
          <a:bodyPr/>
          <a:lstStyle/>
          <a:p>
            <a:r>
              <a:rPr lang="en-US" altLang="ja-JP" dirty="0"/>
              <a:t>3</a:t>
            </a:r>
            <a:endParaRPr kumimoji="1" lang="ja-JP" altLang="en-US"/>
          </a:p>
        </p:txBody>
      </p:sp>
      <p:grpSp>
        <p:nvGrpSpPr>
          <p:cNvPr id="31" name="グループ化 30">
            <a:extLst>
              <a:ext uri="{FF2B5EF4-FFF2-40B4-BE49-F238E27FC236}">
                <a16:creationId xmlns:a16="http://schemas.microsoft.com/office/drawing/2014/main" id="{FD81DDC5-24B5-F24B-8DCA-6543CEE8DC81}"/>
              </a:ext>
            </a:extLst>
          </p:cNvPr>
          <p:cNvGrpSpPr/>
          <p:nvPr/>
        </p:nvGrpSpPr>
        <p:grpSpPr>
          <a:xfrm>
            <a:off x="289330" y="1413298"/>
            <a:ext cx="2160000" cy="934436"/>
            <a:chOff x="144665" y="525617"/>
            <a:chExt cx="1080000" cy="467218"/>
          </a:xfrm>
        </p:grpSpPr>
        <p:sp>
          <p:nvSpPr>
            <p:cNvPr id="32" name="正方形/長方形 31">
              <a:extLst>
                <a:ext uri="{FF2B5EF4-FFF2-40B4-BE49-F238E27FC236}">
                  <a16:creationId xmlns:a16="http://schemas.microsoft.com/office/drawing/2014/main" id="{073638CC-28A2-E943-AD34-548A0C227633}"/>
                </a:ext>
              </a:extLst>
            </p:cNvPr>
            <p:cNvSpPr/>
            <p:nvPr userDrawn="1"/>
          </p:nvSpPr>
          <p:spPr>
            <a:xfrm>
              <a:off x="145524" y="542424"/>
              <a:ext cx="91081" cy="450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sp>
          <p:nvSpPr>
            <p:cNvPr id="33" name="正方形/長方形 32">
              <a:extLst>
                <a:ext uri="{FF2B5EF4-FFF2-40B4-BE49-F238E27FC236}">
                  <a16:creationId xmlns:a16="http://schemas.microsoft.com/office/drawing/2014/main" id="{89C51296-914D-A74C-889D-A570C54F6A57}"/>
                </a:ext>
              </a:extLst>
            </p:cNvPr>
            <p:cNvSpPr/>
            <p:nvPr userDrawn="1"/>
          </p:nvSpPr>
          <p:spPr>
            <a:xfrm>
              <a:off x="144665" y="525617"/>
              <a:ext cx="1080000" cy="161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grpSp>
      <p:sp>
        <p:nvSpPr>
          <p:cNvPr id="37" name="テキスト プレースホルダー 30">
            <a:extLst>
              <a:ext uri="{FF2B5EF4-FFF2-40B4-BE49-F238E27FC236}">
                <a16:creationId xmlns:a16="http://schemas.microsoft.com/office/drawing/2014/main" id="{A73B3907-668E-1A41-B5F4-6D46EA930E91}"/>
              </a:ext>
            </a:extLst>
          </p:cNvPr>
          <p:cNvSpPr txBox="1">
            <a:spLocks/>
          </p:cNvSpPr>
          <p:nvPr/>
        </p:nvSpPr>
        <p:spPr>
          <a:xfrm>
            <a:off x="571049" y="1583871"/>
            <a:ext cx="17302163" cy="1403350"/>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60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エージェントと被験者のポイント差</a:t>
            </a:r>
            <a:endParaRPr lang="en-US" altLang="ja-JP" dirty="0"/>
          </a:p>
        </p:txBody>
      </p:sp>
      <p:pic>
        <p:nvPicPr>
          <p:cNvPr id="9" name="図 8">
            <a:extLst>
              <a:ext uri="{FF2B5EF4-FFF2-40B4-BE49-F238E27FC236}">
                <a16:creationId xmlns:a16="http://schemas.microsoft.com/office/drawing/2014/main" id="{CCD1F50B-4CF7-8D44-A152-0ED778DA07AF}"/>
              </a:ext>
            </a:extLst>
          </p:cNvPr>
          <p:cNvPicPr>
            <a:picLocks noChangeAspect="1"/>
          </p:cNvPicPr>
          <p:nvPr/>
        </p:nvPicPr>
        <p:blipFill>
          <a:blip r:embed="rId2"/>
          <a:stretch>
            <a:fillRect/>
          </a:stretch>
        </p:blipFill>
        <p:spPr>
          <a:xfrm>
            <a:off x="4290415" y="7746448"/>
            <a:ext cx="9707170" cy="5598000"/>
          </a:xfrm>
          <a:prstGeom prst="rect">
            <a:avLst/>
          </a:prstGeom>
        </p:spPr>
      </p:pic>
      <p:sp>
        <p:nvSpPr>
          <p:cNvPr id="39" name="テキスト プレースホルダー 27">
            <a:extLst>
              <a:ext uri="{FF2B5EF4-FFF2-40B4-BE49-F238E27FC236}">
                <a16:creationId xmlns:a16="http://schemas.microsoft.com/office/drawing/2014/main" id="{8670582A-C108-FD40-9F79-F533B8256ABF}"/>
              </a:ext>
            </a:extLst>
          </p:cNvPr>
          <p:cNvSpPr txBox="1">
            <a:spLocks/>
          </p:cNvSpPr>
          <p:nvPr/>
        </p:nvSpPr>
        <p:spPr>
          <a:xfrm>
            <a:off x="1254486" y="2486122"/>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ANOVA</a:t>
            </a:r>
            <a:r>
              <a:rPr lang="ja-JP" altLang="en-US"/>
              <a:t>を使用しエージェントのトーンによる影響を分析</a:t>
            </a:r>
            <a:endParaRPr lang="en-US" altLang="ja-JP" dirty="0"/>
          </a:p>
        </p:txBody>
      </p:sp>
      <p:grpSp>
        <p:nvGrpSpPr>
          <p:cNvPr id="40" name="グループ化 39">
            <a:extLst>
              <a:ext uri="{FF2B5EF4-FFF2-40B4-BE49-F238E27FC236}">
                <a16:creationId xmlns:a16="http://schemas.microsoft.com/office/drawing/2014/main" id="{8AF82E61-B55E-EE43-918C-D094939463FA}"/>
              </a:ext>
            </a:extLst>
          </p:cNvPr>
          <p:cNvGrpSpPr/>
          <p:nvPr/>
        </p:nvGrpSpPr>
        <p:grpSpPr>
          <a:xfrm>
            <a:off x="617232" y="2557358"/>
            <a:ext cx="539448" cy="487368"/>
            <a:chOff x="400056" y="1061560"/>
            <a:chExt cx="269724" cy="243684"/>
          </a:xfrm>
        </p:grpSpPr>
        <p:sp>
          <p:nvSpPr>
            <p:cNvPr id="41" name="三角形 40">
              <a:extLst>
                <a:ext uri="{FF2B5EF4-FFF2-40B4-BE49-F238E27FC236}">
                  <a16:creationId xmlns:a16="http://schemas.microsoft.com/office/drawing/2014/main" id="{53AA2FE6-F2A6-9E40-A8DD-769354E4176E}"/>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42" name="三角形 41">
              <a:extLst>
                <a:ext uri="{FF2B5EF4-FFF2-40B4-BE49-F238E27FC236}">
                  <a16:creationId xmlns:a16="http://schemas.microsoft.com/office/drawing/2014/main" id="{8978B820-CBDB-D148-BBB2-CD5310B9CCA2}"/>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43" name="三角形 42">
            <a:extLst>
              <a:ext uri="{FF2B5EF4-FFF2-40B4-BE49-F238E27FC236}">
                <a16:creationId xmlns:a16="http://schemas.microsoft.com/office/drawing/2014/main" id="{7E2885D0-49F9-EC44-8F64-1D245D7E964A}"/>
              </a:ext>
            </a:extLst>
          </p:cNvPr>
          <p:cNvSpPr/>
          <p:nvPr/>
        </p:nvSpPr>
        <p:spPr>
          <a:xfrm rot="5400000">
            <a:off x="1076238" y="3361776"/>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mc:AlternateContent xmlns:mc="http://schemas.openxmlformats.org/markup-compatibility/2006" xmlns:a14="http://schemas.microsoft.com/office/drawing/2010/main">
        <mc:Choice Requires="a14">
          <p:sp>
            <p:nvSpPr>
              <p:cNvPr id="44" name="テキスト プレースホルダー 29">
                <a:extLst>
                  <a:ext uri="{FF2B5EF4-FFF2-40B4-BE49-F238E27FC236}">
                    <a16:creationId xmlns:a16="http://schemas.microsoft.com/office/drawing/2014/main" id="{1D18615C-4EF2-0249-800D-E23008E1B22E}"/>
                  </a:ext>
                </a:extLst>
              </p:cNvPr>
              <p:cNvSpPr txBox="1">
                <a:spLocks/>
              </p:cNvSpPr>
              <p:nvPr/>
            </p:nvSpPr>
            <p:spPr>
              <a:xfrm>
                <a:off x="1443786" y="3246502"/>
                <a:ext cx="1827548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pPr/>
                <a14:m>
                  <m:oMathPara xmlns:m="http://schemas.openxmlformats.org/officeDocument/2006/math">
                    <m:oMathParaPr>
                      <m:jc m:val="left"/>
                    </m:oMathParaPr>
                    <m:oMath xmlns:m="http://schemas.openxmlformats.org/officeDocument/2006/math">
                      <m:r>
                        <a:rPr lang="ja-JP" altLang="en-US" i="1" smtClean="0">
                          <a:latin typeface="Cambria Math" panose="02040503050406030204" pitchFamily="18" charset="0"/>
                        </a:rPr>
                        <m:t>有意差</m:t>
                      </m:r>
                      <m:r>
                        <a:rPr lang="ja-JP" altLang="en-US" i="1">
                          <a:solidFill>
                            <a:schemeClr val="accent2"/>
                          </a:solidFill>
                          <a:latin typeface="Cambria Math" panose="02040503050406030204" pitchFamily="18" charset="0"/>
                        </a:rPr>
                        <m:t>あり</m:t>
                      </m:r>
                      <m:r>
                        <a:rPr lang="ja-JP" altLang="en-US" i="1">
                          <a:latin typeface="Cambria Math" panose="02040503050406030204" pitchFamily="18" charset="0"/>
                        </a:rPr>
                        <m:t>　</m:t>
                      </m:r>
                      <m:r>
                        <a:rPr lang="en-US" altLang="ja-JP" i="1">
                          <a:latin typeface="Cambria Math" panose="02040503050406030204" pitchFamily="18" charset="0"/>
                        </a:rPr>
                        <m:t>𝐹</m:t>
                      </m:r>
                      <m:d>
                        <m:dPr>
                          <m:ctrlPr>
                            <a:rPr lang="en-US" altLang="ja-JP" i="1">
                              <a:latin typeface="Cambria Math" panose="02040503050406030204" pitchFamily="18" charset="0"/>
                            </a:rPr>
                          </m:ctrlPr>
                        </m:dPr>
                        <m:e>
                          <m:r>
                            <a:rPr lang="en-US" altLang="ja-JP" i="1">
                              <a:latin typeface="Cambria Math" panose="02040503050406030204" pitchFamily="18" charset="0"/>
                            </a:rPr>
                            <m:t>1,194</m:t>
                          </m:r>
                        </m:e>
                      </m:d>
                      <m:r>
                        <a:rPr lang="en-US" altLang="ja-JP" i="1">
                          <a:latin typeface="Cambria Math" panose="02040503050406030204" pitchFamily="18" charset="0"/>
                        </a:rPr>
                        <m:t>=</m:t>
                      </m:r>
                      <m:r>
                        <a:rPr lang="en-US" altLang="ja-JP" b="0" i="1" smtClean="0">
                          <a:latin typeface="Cambria Math" panose="02040503050406030204" pitchFamily="18" charset="0"/>
                        </a:rPr>
                        <m:t>5.780,</m:t>
                      </m:r>
                      <m:r>
                        <a:rPr lang="en-US" altLang="ja-JP" i="1">
                          <a:latin typeface="Cambria Math" panose="02040503050406030204" pitchFamily="18" charset="0"/>
                        </a:rPr>
                        <m:t> </m:t>
                      </m:r>
                      <m:r>
                        <a:rPr lang="en-US" altLang="ja-JP" i="1">
                          <a:latin typeface="Cambria Math" panose="02040503050406030204" pitchFamily="18" charset="0"/>
                        </a:rPr>
                        <m:t>𝑝</m:t>
                      </m:r>
                      <m:r>
                        <a:rPr lang="en-US" altLang="ja-JP" i="1">
                          <a:latin typeface="Cambria Math" panose="02040503050406030204" pitchFamily="18" charset="0"/>
                        </a:rPr>
                        <m:t>=.017,</m:t>
                      </m:r>
                      <m:r>
                        <a:rPr lang="en-US" altLang="ja-JP" i="1">
                          <a:latin typeface="Cambria Math" panose="02040503050406030204" pitchFamily="18" charset="0"/>
                        </a:rPr>
                        <m:t>𝑑</m:t>
                      </m:r>
                      <m:r>
                        <a:rPr lang="en-US" altLang="ja-JP" i="1">
                          <a:latin typeface="Cambria Math" panose="02040503050406030204" pitchFamily="18" charset="0"/>
                        </a:rPr>
                        <m:t>=0.416</m:t>
                      </m:r>
                    </m:oMath>
                  </m:oMathPara>
                </a14:m>
                <a:endParaRPr lang="ja-JP" altLang="en-US"/>
              </a:p>
            </p:txBody>
          </p:sp>
        </mc:Choice>
        <mc:Fallback xmlns="">
          <p:sp>
            <p:nvSpPr>
              <p:cNvPr id="44" name="テキスト プレースホルダー 29">
                <a:extLst>
                  <a:ext uri="{FF2B5EF4-FFF2-40B4-BE49-F238E27FC236}">
                    <a16:creationId xmlns:a16="http://schemas.microsoft.com/office/drawing/2014/main" id="{1D18615C-4EF2-0249-800D-E23008E1B22E}"/>
                  </a:ext>
                </a:extLst>
              </p:cNvPr>
              <p:cNvSpPr txBox="1">
                <a:spLocks noRot="1" noChangeAspect="1" noMove="1" noResize="1" noEditPoints="1" noAdjustHandles="1" noChangeArrowheads="1" noChangeShapeType="1" noTextEdit="1"/>
              </p:cNvSpPr>
              <p:nvPr/>
            </p:nvSpPr>
            <p:spPr>
              <a:xfrm>
                <a:off x="1443786" y="3246502"/>
                <a:ext cx="18275484" cy="853994"/>
              </a:xfrm>
              <a:prstGeom prst="rect">
                <a:avLst/>
              </a:prstGeom>
              <a:blipFill>
                <a:blip r:embed="rId3"/>
                <a:stretch>
                  <a:fillRect l="-694" t="-2941"/>
                </a:stretch>
              </a:blipFill>
            </p:spPr>
            <p:txBody>
              <a:bodyPr/>
              <a:lstStyle/>
              <a:p>
                <a:r>
                  <a:rPr lang="ja-JP" altLang="en-US">
                    <a:noFill/>
                  </a:rPr>
                  <a:t> </a:t>
                </a:r>
              </a:p>
            </p:txBody>
          </p:sp>
        </mc:Fallback>
      </mc:AlternateContent>
      <p:sp>
        <p:nvSpPr>
          <p:cNvPr id="45" name="角丸四角形 44">
            <a:extLst>
              <a:ext uri="{FF2B5EF4-FFF2-40B4-BE49-F238E27FC236}">
                <a16:creationId xmlns:a16="http://schemas.microsoft.com/office/drawing/2014/main" id="{0F7383B7-3E81-1F49-B0F0-33036BF46069}"/>
              </a:ext>
            </a:extLst>
          </p:cNvPr>
          <p:cNvSpPr/>
          <p:nvPr/>
        </p:nvSpPr>
        <p:spPr>
          <a:xfrm>
            <a:off x="3328824" y="4989090"/>
            <a:ext cx="11630353" cy="109086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a:solidFill>
                  <a:schemeClr val="bg2"/>
                </a:solidFill>
              </a:rPr>
              <a:t>積極的な行動によって被験者は譲歩している</a:t>
            </a:r>
            <a:r>
              <a:rPr lang="en-US" altLang="ja-JP" dirty="0">
                <a:solidFill>
                  <a:schemeClr val="bg2"/>
                </a:solidFill>
              </a:rPr>
              <a:t>(Q3)</a:t>
            </a:r>
            <a:endParaRPr lang="ja-JP" altLang="en-US">
              <a:solidFill>
                <a:schemeClr val="bg2"/>
              </a:solidFill>
            </a:endParaRPr>
          </a:p>
        </p:txBody>
      </p:sp>
      <p:sp>
        <p:nvSpPr>
          <p:cNvPr id="46" name="三角形 45">
            <a:extLst>
              <a:ext uri="{FF2B5EF4-FFF2-40B4-BE49-F238E27FC236}">
                <a16:creationId xmlns:a16="http://schemas.microsoft.com/office/drawing/2014/main" id="{CD46B539-7742-424B-A8EF-055A14D0EB0F}"/>
              </a:ext>
            </a:extLst>
          </p:cNvPr>
          <p:cNvSpPr/>
          <p:nvPr/>
        </p:nvSpPr>
        <p:spPr>
          <a:xfrm rot="10800000">
            <a:off x="8791957" y="4253557"/>
            <a:ext cx="704086" cy="387220"/>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Tree>
    <p:extLst>
      <p:ext uri="{BB962C8B-B14F-4D97-AF65-F5344CB8AC3E}">
        <p14:creationId xmlns:p14="http://schemas.microsoft.com/office/powerpoint/2010/main" val="20080218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3520CDD-7107-D140-A1A0-69D0D69B10F3}"/>
              </a:ext>
            </a:extLst>
          </p:cNvPr>
          <p:cNvSpPr>
            <a:spLocks noGrp="1"/>
          </p:cNvSpPr>
          <p:nvPr>
            <p:ph type="dt" sz="half" idx="10"/>
          </p:nvPr>
        </p:nvSpPr>
        <p:spPr/>
        <p:txBody>
          <a:bodyPr/>
          <a:lstStyle/>
          <a:p>
            <a:fld id="{35974365-84F6-754A-A339-DA79FFD42E98}" type="datetime1">
              <a:rPr lang="ja-JP" altLang="en-US" smtClean="0"/>
              <a:t>2018/6/10</a:t>
            </a:fld>
            <a:endParaRPr lang="ja-JP" altLang="en-US"/>
          </a:p>
        </p:txBody>
      </p:sp>
      <p:sp>
        <p:nvSpPr>
          <p:cNvPr id="3" name="フッター プレースホルダー 2">
            <a:extLst>
              <a:ext uri="{FF2B5EF4-FFF2-40B4-BE49-F238E27FC236}">
                <a16:creationId xmlns:a16="http://schemas.microsoft.com/office/drawing/2014/main" id="{6EEFBA0C-3454-8D4D-87CE-5BA9ED8AFBE5}"/>
              </a:ext>
            </a:extLst>
          </p:cNvPr>
          <p:cNvSpPr>
            <a:spLocks noGrp="1"/>
          </p:cNvSpPr>
          <p:nvPr>
            <p:ph type="ftr" sz="quarter" idx="11"/>
          </p:nvPr>
        </p:nvSpPr>
        <p:spPr/>
        <p:txBody>
          <a:bodyPr/>
          <a:lstStyle/>
          <a:p>
            <a:r>
              <a:rPr lang="ja-JP" altLang="en-US"/>
              <a:t>進捗報告</a:t>
            </a:r>
            <a:r>
              <a:rPr lang="en-US" altLang="ja-JP"/>
              <a:t>(2018.06.06)</a:t>
            </a:r>
            <a:endParaRPr lang="ja-JP" altLang="en-US"/>
          </a:p>
        </p:txBody>
      </p:sp>
      <p:sp>
        <p:nvSpPr>
          <p:cNvPr id="4" name="スライド番号プレースホルダー 3">
            <a:extLst>
              <a:ext uri="{FF2B5EF4-FFF2-40B4-BE49-F238E27FC236}">
                <a16:creationId xmlns:a16="http://schemas.microsoft.com/office/drawing/2014/main" id="{5D405AD0-9091-A94B-BA67-32995AD15B35}"/>
              </a:ext>
            </a:extLst>
          </p:cNvPr>
          <p:cNvSpPr>
            <a:spLocks noGrp="1"/>
          </p:cNvSpPr>
          <p:nvPr>
            <p:ph type="sldNum" sz="quarter" idx="12"/>
          </p:nvPr>
        </p:nvSpPr>
        <p:spPr/>
        <p:txBody>
          <a:bodyPr/>
          <a:lstStyle/>
          <a:p>
            <a:fld id="{89242BC1-393D-1248-985B-18DA624F2964}" type="slidenum">
              <a:rPr lang="ja-JP" altLang="en-US" smtClean="0"/>
              <a:pPr/>
              <a:t>26</a:t>
            </a:fld>
            <a:endParaRPr lang="ja-JP" altLang="en-US"/>
          </a:p>
        </p:txBody>
      </p:sp>
      <p:sp>
        <p:nvSpPr>
          <p:cNvPr id="5" name="テキスト プレースホルダー 4">
            <a:extLst>
              <a:ext uri="{FF2B5EF4-FFF2-40B4-BE49-F238E27FC236}">
                <a16:creationId xmlns:a16="http://schemas.microsoft.com/office/drawing/2014/main" id="{26DD2A8D-F804-D546-B77D-9693A67C3E0B}"/>
              </a:ext>
            </a:extLst>
          </p:cNvPr>
          <p:cNvSpPr>
            <a:spLocks noGrp="1"/>
          </p:cNvSpPr>
          <p:nvPr>
            <p:ph type="body" sz="quarter" idx="14"/>
          </p:nvPr>
        </p:nvSpPr>
        <p:spPr/>
        <p:txBody>
          <a:bodyPr/>
          <a:lstStyle/>
          <a:p>
            <a:r>
              <a:rPr kumimoji="1" lang="ja-JP" altLang="en-US"/>
              <a:t>まとめ</a:t>
            </a:r>
          </a:p>
        </p:txBody>
      </p:sp>
      <p:sp>
        <p:nvSpPr>
          <p:cNvPr id="6" name="テキスト プレースホルダー 5">
            <a:extLst>
              <a:ext uri="{FF2B5EF4-FFF2-40B4-BE49-F238E27FC236}">
                <a16:creationId xmlns:a16="http://schemas.microsoft.com/office/drawing/2014/main" id="{18F5D246-4675-9D44-B96B-BEDD6F01EDA7}"/>
              </a:ext>
            </a:extLst>
          </p:cNvPr>
          <p:cNvSpPr>
            <a:spLocks noGrp="1"/>
          </p:cNvSpPr>
          <p:nvPr>
            <p:ph type="body" sz="quarter" idx="13"/>
          </p:nvPr>
        </p:nvSpPr>
        <p:spPr/>
        <p:txBody>
          <a:bodyPr/>
          <a:lstStyle/>
          <a:p>
            <a:r>
              <a:rPr kumimoji="1" lang="en-US" altLang="ja-JP" dirty="0"/>
              <a:t>4</a:t>
            </a:r>
            <a:endParaRPr kumimoji="1" lang="ja-JP" altLang="en-US"/>
          </a:p>
        </p:txBody>
      </p:sp>
      <p:grpSp>
        <p:nvGrpSpPr>
          <p:cNvPr id="34" name="グループ化 33">
            <a:extLst>
              <a:ext uri="{FF2B5EF4-FFF2-40B4-BE49-F238E27FC236}">
                <a16:creationId xmlns:a16="http://schemas.microsoft.com/office/drawing/2014/main" id="{FC0C993D-26F8-9648-8C42-6E3A827F97DE}"/>
              </a:ext>
            </a:extLst>
          </p:cNvPr>
          <p:cNvGrpSpPr/>
          <p:nvPr/>
        </p:nvGrpSpPr>
        <p:grpSpPr>
          <a:xfrm>
            <a:off x="617232" y="1666410"/>
            <a:ext cx="539448" cy="487368"/>
            <a:chOff x="400056" y="1061560"/>
            <a:chExt cx="269724" cy="243684"/>
          </a:xfrm>
        </p:grpSpPr>
        <p:sp>
          <p:nvSpPr>
            <p:cNvPr id="35" name="三角形 34">
              <a:extLst>
                <a:ext uri="{FF2B5EF4-FFF2-40B4-BE49-F238E27FC236}">
                  <a16:creationId xmlns:a16="http://schemas.microsoft.com/office/drawing/2014/main" id="{21EC1BB2-1EA3-DB45-83ED-42197AA1F0E3}"/>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36" name="三角形 35">
              <a:extLst>
                <a:ext uri="{FF2B5EF4-FFF2-40B4-BE49-F238E27FC236}">
                  <a16:creationId xmlns:a16="http://schemas.microsoft.com/office/drawing/2014/main" id="{92822503-D36D-7644-A490-99EB8A1079E7}"/>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38" name="テキスト プレースホルダー 27">
            <a:extLst>
              <a:ext uri="{FF2B5EF4-FFF2-40B4-BE49-F238E27FC236}">
                <a16:creationId xmlns:a16="http://schemas.microsoft.com/office/drawing/2014/main" id="{52FC6201-0015-374A-A9F7-4FCF0162EFE8}"/>
              </a:ext>
            </a:extLst>
          </p:cNvPr>
          <p:cNvSpPr txBox="1">
            <a:spLocks/>
          </p:cNvSpPr>
          <p:nvPr/>
        </p:nvSpPr>
        <p:spPr>
          <a:xfrm>
            <a:off x="1254486" y="1593785"/>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人間同士の交渉で生じる効果について調査</a:t>
            </a:r>
            <a:endParaRPr lang="en-US" altLang="ja-JP" dirty="0"/>
          </a:p>
        </p:txBody>
      </p:sp>
      <p:sp>
        <p:nvSpPr>
          <p:cNvPr id="57" name="三角形 56">
            <a:extLst>
              <a:ext uri="{FF2B5EF4-FFF2-40B4-BE49-F238E27FC236}">
                <a16:creationId xmlns:a16="http://schemas.microsoft.com/office/drawing/2014/main" id="{7F703886-4132-A74D-B009-F1827BE6F3C7}"/>
              </a:ext>
            </a:extLst>
          </p:cNvPr>
          <p:cNvSpPr/>
          <p:nvPr/>
        </p:nvSpPr>
        <p:spPr>
          <a:xfrm rot="5400000">
            <a:off x="1076238" y="2470828"/>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23" name="三角形 22">
            <a:extLst>
              <a:ext uri="{FF2B5EF4-FFF2-40B4-BE49-F238E27FC236}">
                <a16:creationId xmlns:a16="http://schemas.microsoft.com/office/drawing/2014/main" id="{71DA17BD-74F3-FE4A-96F4-94A9E3AA34CD}"/>
              </a:ext>
            </a:extLst>
          </p:cNvPr>
          <p:cNvSpPr/>
          <p:nvPr/>
        </p:nvSpPr>
        <p:spPr>
          <a:xfrm rot="5400000">
            <a:off x="1076238" y="3200393"/>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26" name="三角形 25">
            <a:extLst>
              <a:ext uri="{FF2B5EF4-FFF2-40B4-BE49-F238E27FC236}">
                <a16:creationId xmlns:a16="http://schemas.microsoft.com/office/drawing/2014/main" id="{09C71C8C-E299-4C44-AEC0-7E2553B12794}"/>
              </a:ext>
            </a:extLst>
          </p:cNvPr>
          <p:cNvSpPr/>
          <p:nvPr/>
        </p:nvSpPr>
        <p:spPr>
          <a:xfrm rot="5400000">
            <a:off x="1064310" y="3928049"/>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nvGrpSpPr>
          <p:cNvPr id="28" name="グループ化 27">
            <a:extLst>
              <a:ext uri="{FF2B5EF4-FFF2-40B4-BE49-F238E27FC236}">
                <a16:creationId xmlns:a16="http://schemas.microsoft.com/office/drawing/2014/main" id="{0C2D99A1-A391-B34D-B51D-2646448B5EE0}"/>
              </a:ext>
            </a:extLst>
          </p:cNvPr>
          <p:cNvGrpSpPr/>
          <p:nvPr/>
        </p:nvGrpSpPr>
        <p:grpSpPr>
          <a:xfrm>
            <a:off x="617232" y="7423039"/>
            <a:ext cx="539448" cy="487368"/>
            <a:chOff x="400056" y="1061560"/>
            <a:chExt cx="269724" cy="243684"/>
          </a:xfrm>
        </p:grpSpPr>
        <p:sp>
          <p:nvSpPr>
            <p:cNvPr id="29" name="三角形 28">
              <a:extLst>
                <a:ext uri="{FF2B5EF4-FFF2-40B4-BE49-F238E27FC236}">
                  <a16:creationId xmlns:a16="http://schemas.microsoft.com/office/drawing/2014/main" id="{71EBF793-5064-E34A-9387-1426F995A3B3}"/>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30" name="三角形 29">
              <a:extLst>
                <a:ext uri="{FF2B5EF4-FFF2-40B4-BE49-F238E27FC236}">
                  <a16:creationId xmlns:a16="http://schemas.microsoft.com/office/drawing/2014/main" id="{5D106750-2C77-6545-AB79-4AEB07AD03A4}"/>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39" name="テキスト プレースホルダー 27">
            <a:extLst>
              <a:ext uri="{FF2B5EF4-FFF2-40B4-BE49-F238E27FC236}">
                <a16:creationId xmlns:a16="http://schemas.microsoft.com/office/drawing/2014/main" id="{E90FC0FA-6B43-C040-A5F9-B0941E894243}"/>
              </a:ext>
            </a:extLst>
          </p:cNvPr>
          <p:cNvSpPr txBox="1">
            <a:spLocks/>
          </p:cNvSpPr>
          <p:nvPr/>
        </p:nvSpPr>
        <p:spPr>
          <a:xfrm>
            <a:off x="1254486" y="7350414"/>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IAGO</a:t>
            </a:r>
            <a:r>
              <a:rPr lang="ja-JP" altLang="en-US"/>
              <a:t>がプラットフォームとして機能することを実証</a:t>
            </a:r>
            <a:endParaRPr lang="en-US" altLang="ja-JP" dirty="0"/>
          </a:p>
        </p:txBody>
      </p:sp>
      <p:sp>
        <p:nvSpPr>
          <p:cNvPr id="59" name="テキスト プレースホルダー 29">
            <a:extLst>
              <a:ext uri="{FF2B5EF4-FFF2-40B4-BE49-F238E27FC236}">
                <a16:creationId xmlns:a16="http://schemas.microsoft.com/office/drawing/2014/main" id="{C8DBA6EC-5B8A-4F4B-BC10-59AFC66B2525}"/>
              </a:ext>
            </a:extLst>
          </p:cNvPr>
          <p:cNvSpPr txBox="1">
            <a:spLocks/>
          </p:cNvSpPr>
          <p:nvPr/>
        </p:nvSpPr>
        <p:spPr>
          <a:xfrm>
            <a:off x="1457090" y="2355554"/>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Q1</a:t>
            </a:r>
            <a:r>
              <a:rPr lang="ja-JP" altLang="en-US"/>
              <a:t>：選好を明らかにするための戦略は人間の行動に影響を及ぼすか？</a:t>
            </a:r>
          </a:p>
        </p:txBody>
      </p:sp>
      <p:sp>
        <p:nvSpPr>
          <p:cNvPr id="67" name="テキスト プレースホルダー 29">
            <a:extLst>
              <a:ext uri="{FF2B5EF4-FFF2-40B4-BE49-F238E27FC236}">
                <a16:creationId xmlns:a16="http://schemas.microsoft.com/office/drawing/2014/main" id="{1AF1BB3A-1AF3-B548-A357-1C1A6DC698D7}"/>
              </a:ext>
            </a:extLst>
          </p:cNvPr>
          <p:cNvSpPr txBox="1">
            <a:spLocks/>
          </p:cNvSpPr>
          <p:nvPr/>
        </p:nvSpPr>
        <p:spPr>
          <a:xfrm>
            <a:off x="1457090" y="3085119"/>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Q2</a:t>
            </a:r>
            <a:r>
              <a:rPr lang="ja-JP" altLang="en-US"/>
              <a:t>：選好を明らかにするための戦略は統合的交渉に影響を与えるか？</a:t>
            </a:r>
          </a:p>
        </p:txBody>
      </p:sp>
      <p:sp>
        <p:nvSpPr>
          <p:cNvPr id="69" name="テキスト プレースホルダー 29">
            <a:extLst>
              <a:ext uri="{FF2B5EF4-FFF2-40B4-BE49-F238E27FC236}">
                <a16:creationId xmlns:a16="http://schemas.microsoft.com/office/drawing/2014/main" id="{BD769421-0C15-0540-A6B5-E3D9BE400D52}"/>
              </a:ext>
            </a:extLst>
          </p:cNvPr>
          <p:cNvSpPr txBox="1">
            <a:spLocks/>
          </p:cNvSpPr>
          <p:nvPr/>
        </p:nvSpPr>
        <p:spPr>
          <a:xfrm>
            <a:off x="1445162" y="3812775"/>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Q3</a:t>
            </a:r>
            <a:r>
              <a:rPr lang="ja-JP" altLang="en-US"/>
              <a:t>：積極的な行動は相手を譲歩させるのか？</a:t>
            </a:r>
          </a:p>
        </p:txBody>
      </p:sp>
      <p:sp>
        <p:nvSpPr>
          <p:cNvPr id="45" name="角丸四角形 44">
            <a:extLst>
              <a:ext uri="{FF2B5EF4-FFF2-40B4-BE49-F238E27FC236}">
                <a16:creationId xmlns:a16="http://schemas.microsoft.com/office/drawing/2014/main" id="{475C066E-1A00-1249-9236-19898869A191}"/>
              </a:ext>
            </a:extLst>
          </p:cNvPr>
          <p:cNvSpPr/>
          <p:nvPr/>
        </p:nvSpPr>
        <p:spPr>
          <a:xfrm>
            <a:off x="4774972" y="5427240"/>
            <a:ext cx="8738056" cy="109086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a:solidFill>
                  <a:schemeClr val="bg2"/>
                </a:solidFill>
              </a:rPr>
              <a:t>人間とエージェントの交渉でも効果あり</a:t>
            </a:r>
          </a:p>
        </p:txBody>
      </p:sp>
      <p:sp>
        <p:nvSpPr>
          <p:cNvPr id="46" name="三角形 45">
            <a:extLst>
              <a:ext uri="{FF2B5EF4-FFF2-40B4-BE49-F238E27FC236}">
                <a16:creationId xmlns:a16="http://schemas.microsoft.com/office/drawing/2014/main" id="{BEFB0611-512B-0E4B-8899-D33966112514}"/>
              </a:ext>
            </a:extLst>
          </p:cNvPr>
          <p:cNvSpPr/>
          <p:nvPr/>
        </p:nvSpPr>
        <p:spPr>
          <a:xfrm rot="10800000">
            <a:off x="8791957" y="4691707"/>
            <a:ext cx="704086" cy="387220"/>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53" name="角丸四角形 52">
            <a:extLst>
              <a:ext uri="{FF2B5EF4-FFF2-40B4-BE49-F238E27FC236}">
                <a16:creationId xmlns:a16="http://schemas.microsoft.com/office/drawing/2014/main" id="{936BF284-07B4-7D4F-90A1-92EA102F20DD}"/>
              </a:ext>
            </a:extLst>
          </p:cNvPr>
          <p:cNvSpPr/>
          <p:nvPr/>
        </p:nvSpPr>
        <p:spPr>
          <a:xfrm>
            <a:off x="1140150" y="9125019"/>
            <a:ext cx="16007700" cy="109086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a:solidFill>
                  <a:schemeClr val="bg2"/>
                </a:solidFill>
              </a:rPr>
              <a:t>実験の設計・実行がパラメータ・エージェントを変更することで実現可能</a:t>
            </a:r>
            <a:endParaRPr lang="en-US" altLang="ja-JP" dirty="0">
              <a:solidFill>
                <a:schemeClr val="bg2"/>
              </a:solidFill>
            </a:endParaRPr>
          </a:p>
        </p:txBody>
      </p:sp>
      <p:sp>
        <p:nvSpPr>
          <p:cNvPr id="58" name="三角形 57">
            <a:extLst>
              <a:ext uri="{FF2B5EF4-FFF2-40B4-BE49-F238E27FC236}">
                <a16:creationId xmlns:a16="http://schemas.microsoft.com/office/drawing/2014/main" id="{FC3E2BA6-CAAF-CC40-BF7D-119618783D05}"/>
              </a:ext>
            </a:extLst>
          </p:cNvPr>
          <p:cNvSpPr/>
          <p:nvPr/>
        </p:nvSpPr>
        <p:spPr>
          <a:xfrm rot="10800000">
            <a:off x="8791957" y="8389486"/>
            <a:ext cx="704086" cy="387220"/>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Tree>
    <p:extLst>
      <p:ext uri="{BB962C8B-B14F-4D97-AF65-F5344CB8AC3E}">
        <p14:creationId xmlns:p14="http://schemas.microsoft.com/office/powerpoint/2010/main" val="8673174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3520CDD-7107-D140-A1A0-69D0D69B10F3}"/>
              </a:ext>
            </a:extLst>
          </p:cNvPr>
          <p:cNvSpPr>
            <a:spLocks noGrp="1"/>
          </p:cNvSpPr>
          <p:nvPr>
            <p:ph type="dt" sz="half" idx="10"/>
          </p:nvPr>
        </p:nvSpPr>
        <p:spPr/>
        <p:txBody>
          <a:bodyPr/>
          <a:lstStyle/>
          <a:p>
            <a:fld id="{35974365-84F6-754A-A339-DA79FFD42E98}" type="datetime1">
              <a:rPr lang="ja-JP" altLang="en-US" smtClean="0"/>
              <a:t>2018/6/10</a:t>
            </a:fld>
            <a:endParaRPr lang="ja-JP" altLang="en-US"/>
          </a:p>
        </p:txBody>
      </p:sp>
      <p:sp>
        <p:nvSpPr>
          <p:cNvPr id="3" name="フッター プレースホルダー 2">
            <a:extLst>
              <a:ext uri="{FF2B5EF4-FFF2-40B4-BE49-F238E27FC236}">
                <a16:creationId xmlns:a16="http://schemas.microsoft.com/office/drawing/2014/main" id="{6EEFBA0C-3454-8D4D-87CE-5BA9ED8AFBE5}"/>
              </a:ext>
            </a:extLst>
          </p:cNvPr>
          <p:cNvSpPr>
            <a:spLocks noGrp="1"/>
          </p:cNvSpPr>
          <p:nvPr>
            <p:ph type="ftr" sz="quarter" idx="11"/>
          </p:nvPr>
        </p:nvSpPr>
        <p:spPr/>
        <p:txBody>
          <a:bodyPr/>
          <a:lstStyle/>
          <a:p>
            <a:r>
              <a:rPr lang="ja-JP" altLang="en-US"/>
              <a:t>進捗報告</a:t>
            </a:r>
            <a:r>
              <a:rPr lang="en-US" altLang="ja-JP"/>
              <a:t>(2018.06.06)</a:t>
            </a:r>
            <a:endParaRPr lang="ja-JP" altLang="en-US"/>
          </a:p>
        </p:txBody>
      </p:sp>
      <p:sp>
        <p:nvSpPr>
          <p:cNvPr id="4" name="スライド番号プレースホルダー 3">
            <a:extLst>
              <a:ext uri="{FF2B5EF4-FFF2-40B4-BE49-F238E27FC236}">
                <a16:creationId xmlns:a16="http://schemas.microsoft.com/office/drawing/2014/main" id="{5D405AD0-9091-A94B-BA67-32995AD15B35}"/>
              </a:ext>
            </a:extLst>
          </p:cNvPr>
          <p:cNvSpPr>
            <a:spLocks noGrp="1"/>
          </p:cNvSpPr>
          <p:nvPr>
            <p:ph type="sldNum" sz="quarter" idx="12"/>
          </p:nvPr>
        </p:nvSpPr>
        <p:spPr/>
        <p:txBody>
          <a:bodyPr/>
          <a:lstStyle/>
          <a:p>
            <a:fld id="{89242BC1-393D-1248-985B-18DA624F2964}" type="slidenum">
              <a:rPr lang="ja-JP" altLang="en-US" smtClean="0"/>
              <a:pPr/>
              <a:t>27</a:t>
            </a:fld>
            <a:endParaRPr lang="ja-JP" altLang="en-US"/>
          </a:p>
        </p:txBody>
      </p:sp>
      <p:sp>
        <p:nvSpPr>
          <p:cNvPr id="5" name="テキスト プレースホルダー 4">
            <a:extLst>
              <a:ext uri="{FF2B5EF4-FFF2-40B4-BE49-F238E27FC236}">
                <a16:creationId xmlns:a16="http://schemas.microsoft.com/office/drawing/2014/main" id="{26DD2A8D-F804-D546-B77D-9693A67C3E0B}"/>
              </a:ext>
            </a:extLst>
          </p:cNvPr>
          <p:cNvSpPr>
            <a:spLocks noGrp="1"/>
          </p:cNvSpPr>
          <p:nvPr>
            <p:ph type="body" sz="quarter" idx="14"/>
          </p:nvPr>
        </p:nvSpPr>
        <p:spPr/>
        <p:txBody>
          <a:bodyPr/>
          <a:lstStyle/>
          <a:p>
            <a:r>
              <a:rPr lang="ja-JP" altLang="en-US"/>
              <a:t>おわりに</a:t>
            </a:r>
            <a:endParaRPr kumimoji="1" lang="ja-JP" altLang="en-US"/>
          </a:p>
        </p:txBody>
      </p:sp>
      <p:sp>
        <p:nvSpPr>
          <p:cNvPr id="6" name="テキスト プレースホルダー 5">
            <a:extLst>
              <a:ext uri="{FF2B5EF4-FFF2-40B4-BE49-F238E27FC236}">
                <a16:creationId xmlns:a16="http://schemas.microsoft.com/office/drawing/2014/main" id="{18F5D246-4675-9D44-B96B-BEDD6F01EDA7}"/>
              </a:ext>
            </a:extLst>
          </p:cNvPr>
          <p:cNvSpPr>
            <a:spLocks noGrp="1"/>
          </p:cNvSpPr>
          <p:nvPr>
            <p:ph type="body" sz="quarter" idx="13"/>
          </p:nvPr>
        </p:nvSpPr>
        <p:spPr/>
        <p:txBody>
          <a:bodyPr/>
          <a:lstStyle/>
          <a:p>
            <a:r>
              <a:rPr lang="en-US" altLang="ja-JP" dirty="0"/>
              <a:t>5</a:t>
            </a:r>
            <a:endParaRPr kumimoji="1" lang="ja-JP" altLang="en-US"/>
          </a:p>
        </p:txBody>
      </p:sp>
      <p:grpSp>
        <p:nvGrpSpPr>
          <p:cNvPr id="34" name="グループ化 33">
            <a:extLst>
              <a:ext uri="{FF2B5EF4-FFF2-40B4-BE49-F238E27FC236}">
                <a16:creationId xmlns:a16="http://schemas.microsoft.com/office/drawing/2014/main" id="{FC0C993D-26F8-9648-8C42-6E3A827F97DE}"/>
              </a:ext>
            </a:extLst>
          </p:cNvPr>
          <p:cNvGrpSpPr/>
          <p:nvPr/>
        </p:nvGrpSpPr>
        <p:grpSpPr>
          <a:xfrm>
            <a:off x="617232" y="1666410"/>
            <a:ext cx="539448" cy="487368"/>
            <a:chOff x="400056" y="1061560"/>
            <a:chExt cx="269724" cy="243684"/>
          </a:xfrm>
        </p:grpSpPr>
        <p:sp>
          <p:nvSpPr>
            <p:cNvPr id="35" name="三角形 34">
              <a:extLst>
                <a:ext uri="{FF2B5EF4-FFF2-40B4-BE49-F238E27FC236}">
                  <a16:creationId xmlns:a16="http://schemas.microsoft.com/office/drawing/2014/main" id="{21EC1BB2-1EA3-DB45-83ED-42197AA1F0E3}"/>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36" name="三角形 35">
              <a:extLst>
                <a:ext uri="{FF2B5EF4-FFF2-40B4-BE49-F238E27FC236}">
                  <a16:creationId xmlns:a16="http://schemas.microsoft.com/office/drawing/2014/main" id="{92822503-D36D-7644-A490-99EB8A1079E7}"/>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38" name="テキスト プレースホルダー 27">
            <a:extLst>
              <a:ext uri="{FF2B5EF4-FFF2-40B4-BE49-F238E27FC236}">
                <a16:creationId xmlns:a16="http://schemas.microsoft.com/office/drawing/2014/main" id="{52FC6201-0015-374A-A9F7-4FCF0162EFE8}"/>
              </a:ext>
            </a:extLst>
          </p:cNvPr>
          <p:cNvSpPr txBox="1">
            <a:spLocks/>
          </p:cNvSpPr>
          <p:nvPr/>
        </p:nvSpPr>
        <p:spPr>
          <a:xfrm>
            <a:off x="1254486" y="1593785"/>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人間同士の交渉で生じる効果について調査</a:t>
            </a:r>
            <a:endParaRPr lang="en-US" altLang="ja-JP" dirty="0"/>
          </a:p>
        </p:txBody>
      </p:sp>
      <p:sp>
        <p:nvSpPr>
          <p:cNvPr id="57" name="三角形 56">
            <a:extLst>
              <a:ext uri="{FF2B5EF4-FFF2-40B4-BE49-F238E27FC236}">
                <a16:creationId xmlns:a16="http://schemas.microsoft.com/office/drawing/2014/main" id="{7F703886-4132-A74D-B009-F1827BE6F3C7}"/>
              </a:ext>
            </a:extLst>
          </p:cNvPr>
          <p:cNvSpPr/>
          <p:nvPr/>
        </p:nvSpPr>
        <p:spPr>
          <a:xfrm rot="5400000">
            <a:off x="1076238" y="2470828"/>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23" name="三角形 22">
            <a:extLst>
              <a:ext uri="{FF2B5EF4-FFF2-40B4-BE49-F238E27FC236}">
                <a16:creationId xmlns:a16="http://schemas.microsoft.com/office/drawing/2014/main" id="{71DA17BD-74F3-FE4A-96F4-94A9E3AA34CD}"/>
              </a:ext>
            </a:extLst>
          </p:cNvPr>
          <p:cNvSpPr/>
          <p:nvPr/>
        </p:nvSpPr>
        <p:spPr>
          <a:xfrm rot="5400000">
            <a:off x="1076238" y="3200393"/>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26" name="三角形 25">
            <a:extLst>
              <a:ext uri="{FF2B5EF4-FFF2-40B4-BE49-F238E27FC236}">
                <a16:creationId xmlns:a16="http://schemas.microsoft.com/office/drawing/2014/main" id="{09C71C8C-E299-4C44-AEC0-7E2553B12794}"/>
              </a:ext>
            </a:extLst>
          </p:cNvPr>
          <p:cNvSpPr/>
          <p:nvPr/>
        </p:nvSpPr>
        <p:spPr>
          <a:xfrm rot="5400000">
            <a:off x="1064310" y="3928049"/>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nvGrpSpPr>
          <p:cNvPr id="28" name="グループ化 27">
            <a:extLst>
              <a:ext uri="{FF2B5EF4-FFF2-40B4-BE49-F238E27FC236}">
                <a16:creationId xmlns:a16="http://schemas.microsoft.com/office/drawing/2014/main" id="{0C2D99A1-A391-B34D-B51D-2646448B5EE0}"/>
              </a:ext>
            </a:extLst>
          </p:cNvPr>
          <p:cNvGrpSpPr/>
          <p:nvPr/>
        </p:nvGrpSpPr>
        <p:grpSpPr>
          <a:xfrm>
            <a:off x="617232" y="7423039"/>
            <a:ext cx="539448" cy="487368"/>
            <a:chOff x="400056" y="1061560"/>
            <a:chExt cx="269724" cy="243684"/>
          </a:xfrm>
        </p:grpSpPr>
        <p:sp>
          <p:nvSpPr>
            <p:cNvPr id="29" name="三角形 28">
              <a:extLst>
                <a:ext uri="{FF2B5EF4-FFF2-40B4-BE49-F238E27FC236}">
                  <a16:creationId xmlns:a16="http://schemas.microsoft.com/office/drawing/2014/main" id="{71EBF793-5064-E34A-9387-1426F995A3B3}"/>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30" name="三角形 29">
              <a:extLst>
                <a:ext uri="{FF2B5EF4-FFF2-40B4-BE49-F238E27FC236}">
                  <a16:creationId xmlns:a16="http://schemas.microsoft.com/office/drawing/2014/main" id="{5D106750-2C77-6545-AB79-4AEB07AD03A4}"/>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39" name="テキスト プレースホルダー 27">
            <a:extLst>
              <a:ext uri="{FF2B5EF4-FFF2-40B4-BE49-F238E27FC236}">
                <a16:creationId xmlns:a16="http://schemas.microsoft.com/office/drawing/2014/main" id="{E90FC0FA-6B43-C040-A5F9-B0941E894243}"/>
              </a:ext>
            </a:extLst>
          </p:cNvPr>
          <p:cNvSpPr txBox="1">
            <a:spLocks/>
          </p:cNvSpPr>
          <p:nvPr/>
        </p:nvSpPr>
        <p:spPr>
          <a:xfrm>
            <a:off x="1254486" y="7350414"/>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IAGO</a:t>
            </a:r>
            <a:r>
              <a:rPr lang="ja-JP" altLang="en-US"/>
              <a:t>がプラットフォームとして機能することを実証</a:t>
            </a:r>
            <a:endParaRPr lang="en-US" altLang="ja-JP" dirty="0"/>
          </a:p>
        </p:txBody>
      </p:sp>
      <p:sp>
        <p:nvSpPr>
          <p:cNvPr id="59" name="テキスト プレースホルダー 29">
            <a:extLst>
              <a:ext uri="{FF2B5EF4-FFF2-40B4-BE49-F238E27FC236}">
                <a16:creationId xmlns:a16="http://schemas.microsoft.com/office/drawing/2014/main" id="{C8DBA6EC-5B8A-4F4B-BC10-59AFC66B2525}"/>
              </a:ext>
            </a:extLst>
          </p:cNvPr>
          <p:cNvSpPr txBox="1">
            <a:spLocks/>
          </p:cNvSpPr>
          <p:nvPr/>
        </p:nvSpPr>
        <p:spPr>
          <a:xfrm>
            <a:off x="1457090" y="2355554"/>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Q1</a:t>
            </a:r>
            <a:r>
              <a:rPr lang="ja-JP" altLang="en-US"/>
              <a:t>：選好を明らかにするための戦略は人間の行動に影響を及ぼすか？</a:t>
            </a:r>
          </a:p>
        </p:txBody>
      </p:sp>
      <p:sp>
        <p:nvSpPr>
          <p:cNvPr id="67" name="テキスト プレースホルダー 29">
            <a:extLst>
              <a:ext uri="{FF2B5EF4-FFF2-40B4-BE49-F238E27FC236}">
                <a16:creationId xmlns:a16="http://schemas.microsoft.com/office/drawing/2014/main" id="{1AF1BB3A-1AF3-B548-A357-1C1A6DC698D7}"/>
              </a:ext>
            </a:extLst>
          </p:cNvPr>
          <p:cNvSpPr txBox="1">
            <a:spLocks/>
          </p:cNvSpPr>
          <p:nvPr/>
        </p:nvSpPr>
        <p:spPr>
          <a:xfrm>
            <a:off x="1457090" y="3085119"/>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Q2</a:t>
            </a:r>
            <a:r>
              <a:rPr lang="ja-JP" altLang="en-US"/>
              <a:t>：選好を明らかにするための戦略は統合的交渉に影響を与えるか？</a:t>
            </a:r>
          </a:p>
        </p:txBody>
      </p:sp>
      <p:sp>
        <p:nvSpPr>
          <p:cNvPr id="69" name="テキスト プレースホルダー 29">
            <a:extLst>
              <a:ext uri="{FF2B5EF4-FFF2-40B4-BE49-F238E27FC236}">
                <a16:creationId xmlns:a16="http://schemas.microsoft.com/office/drawing/2014/main" id="{BD769421-0C15-0540-A6B5-E3D9BE400D52}"/>
              </a:ext>
            </a:extLst>
          </p:cNvPr>
          <p:cNvSpPr txBox="1">
            <a:spLocks/>
          </p:cNvSpPr>
          <p:nvPr/>
        </p:nvSpPr>
        <p:spPr>
          <a:xfrm>
            <a:off x="1445162" y="3812775"/>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Q3</a:t>
            </a:r>
            <a:r>
              <a:rPr lang="ja-JP" altLang="en-US"/>
              <a:t>：積極的な行動は相手を譲歩させるのか？</a:t>
            </a:r>
          </a:p>
        </p:txBody>
      </p:sp>
      <p:sp>
        <p:nvSpPr>
          <p:cNvPr id="45" name="角丸四角形 44">
            <a:extLst>
              <a:ext uri="{FF2B5EF4-FFF2-40B4-BE49-F238E27FC236}">
                <a16:creationId xmlns:a16="http://schemas.microsoft.com/office/drawing/2014/main" id="{475C066E-1A00-1249-9236-19898869A191}"/>
              </a:ext>
            </a:extLst>
          </p:cNvPr>
          <p:cNvSpPr/>
          <p:nvPr/>
        </p:nvSpPr>
        <p:spPr>
          <a:xfrm>
            <a:off x="4774972" y="5427240"/>
            <a:ext cx="8738056" cy="109086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a:solidFill>
                  <a:schemeClr val="bg2"/>
                </a:solidFill>
              </a:rPr>
              <a:t>人間とエージェントの交渉でも効果あり</a:t>
            </a:r>
          </a:p>
        </p:txBody>
      </p:sp>
      <p:sp>
        <p:nvSpPr>
          <p:cNvPr id="46" name="三角形 45">
            <a:extLst>
              <a:ext uri="{FF2B5EF4-FFF2-40B4-BE49-F238E27FC236}">
                <a16:creationId xmlns:a16="http://schemas.microsoft.com/office/drawing/2014/main" id="{BEFB0611-512B-0E4B-8899-D33966112514}"/>
              </a:ext>
            </a:extLst>
          </p:cNvPr>
          <p:cNvSpPr/>
          <p:nvPr/>
        </p:nvSpPr>
        <p:spPr>
          <a:xfrm rot="10800000">
            <a:off x="8791957" y="4691707"/>
            <a:ext cx="704086" cy="387220"/>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53" name="角丸四角形 52">
            <a:extLst>
              <a:ext uri="{FF2B5EF4-FFF2-40B4-BE49-F238E27FC236}">
                <a16:creationId xmlns:a16="http://schemas.microsoft.com/office/drawing/2014/main" id="{936BF284-07B4-7D4F-90A1-92EA102F20DD}"/>
              </a:ext>
            </a:extLst>
          </p:cNvPr>
          <p:cNvSpPr/>
          <p:nvPr/>
        </p:nvSpPr>
        <p:spPr>
          <a:xfrm>
            <a:off x="1140150" y="9125019"/>
            <a:ext cx="16007700" cy="109086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a:solidFill>
                  <a:schemeClr val="bg2"/>
                </a:solidFill>
              </a:rPr>
              <a:t>実験の設計・実行がパラメータ・エージェントを変更することで実現可能</a:t>
            </a:r>
            <a:endParaRPr lang="en-US" altLang="ja-JP" dirty="0">
              <a:solidFill>
                <a:schemeClr val="bg2"/>
              </a:solidFill>
            </a:endParaRPr>
          </a:p>
        </p:txBody>
      </p:sp>
      <p:sp>
        <p:nvSpPr>
          <p:cNvPr id="58" name="三角形 57">
            <a:extLst>
              <a:ext uri="{FF2B5EF4-FFF2-40B4-BE49-F238E27FC236}">
                <a16:creationId xmlns:a16="http://schemas.microsoft.com/office/drawing/2014/main" id="{FC3E2BA6-CAAF-CC40-BF7D-119618783D05}"/>
              </a:ext>
            </a:extLst>
          </p:cNvPr>
          <p:cNvSpPr/>
          <p:nvPr/>
        </p:nvSpPr>
        <p:spPr>
          <a:xfrm rot="10800000">
            <a:off x="8791957" y="8389486"/>
            <a:ext cx="704086" cy="387220"/>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Tree>
    <p:extLst>
      <p:ext uri="{BB962C8B-B14F-4D97-AF65-F5344CB8AC3E}">
        <p14:creationId xmlns:p14="http://schemas.microsoft.com/office/powerpoint/2010/main" val="5176037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9A3628AA-5FBA-534C-B3C4-2DB73F7968C2}"/>
              </a:ext>
            </a:extLst>
          </p:cNvPr>
          <p:cNvSpPr>
            <a:spLocks noGrp="1"/>
          </p:cNvSpPr>
          <p:nvPr>
            <p:ph type="dt" sz="half" idx="10"/>
          </p:nvPr>
        </p:nvSpPr>
        <p:spPr/>
        <p:txBody>
          <a:bodyPr/>
          <a:lstStyle/>
          <a:p>
            <a:fld id="{E814C0C4-870B-458D-94EE-6C0DC939FBD8}" type="datetime1">
              <a:rPr lang="ja-JP" altLang="en-US" smtClean="0"/>
              <a:t>2018/6/9</a:t>
            </a:fld>
            <a:endParaRPr lang="ja-JP" altLang="en-US"/>
          </a:p>
        </p:txBody>
      </p:sp>
      <p:sp>
        <p:nvSpPr>
          <p:cNvPr id="3" name="フッター プレースホルダー 2">
            <a:extLst>
              <a:ext uri="{FF2B5EF4-FFF2-40B4-BE49-F238E27FC236}">
                <a16:creationId xmlns:a16="http://schemas.microsoft.com/office/drawing/2014/main" id="{98D8000A-67DE-B846-8AE0-A91C6FD8ECBB}"/>
              </a:ext>
            </a:extLst>
          </p:cNvPr>
          <p:cNvSpPr>
            <a:spLocks noGrp="1"/>
          </p:cNvSpPr>
          <p:nvPr>
            <p:ph type="ftr" sz="quarter" idx="11"/>
          </p:nvPr>
        </p:nvSpPr>
        <p:spPr/>
        <p:txBody>
          <a:bodyPr/>
          <a:lstStyle/>
          <a:p>
            <a:r>
              <a:rPr lang="ja-JP" altLang="en-US"/>
              <a:t>文献講読発表</a:t>
            </a:r>
            <a:r>
              <a:rPr lang="en-US" altLang="ja-JP"/>
              <a:t>(2018.05.07)</a:t>
            </a:r>
            <a:endParaRPr lang="ja-JP" altLang="en-US"/>
          </a:p>
        </p:txBody>
      </p:sp>
      <p:sp>
        <p:nvSpPr>
          <p:cNvPr id="4" name="スライド番号プレースホルダー 3">
            <a:extLst>
              <a:ext uri="{FF2B5EF4-FFF2-40B4-BE49-F238E27FC236}">
                <a16:creationId xmlns:a16="http://schemas.microsoft.com/office/drawing/2014/main" id="{5241896A-DBD1-D845-A5F2-1904C1003E91}"/>
              </a:ext>
            </a:extLst>
          </p:cNvPr>
          <p:cNvSpPr>
            <a:spLocks noGrp="1"/>
          </p:cNvSpPr>
          <p:nvPr>
            <p:ph type="sldNum" sz="quarter" idx="12"/>
          </p:nvPr>
        </p:nvSpPr>
        <p:spPr/>
        <p:txBody>
          <a:bodyPr/>
          <a:lstStyle/>
          <a:p>
            <a:fld id="{89242BC1-393D-1248-985B-18DA624F2964}" type="slidenum">
              <a:rPr lang="ja-JP" altLang="en-US" smtClean="0"/>
              <a:pPr/>
              <a:t>28</a:t>
            </a:fld>
            <a:endParaRPr lang="ja-JP" altLang="en-US"/>
          </a:p>
        </p:txBody>
      </p:sp>
      <p:sp>
        <p:nvSpPr>
          <p:cNvPr id="5" name="テキスト プレースホルダー 4">
            <a:extLst>
              <a:ext uri="{FF2B5EF4-FFF2-40B4-BE49-F238E27FC236}">
                <a16:creationId xmlns:a16="http://schemas.microsoft.com/office/drawing/2014/main" id="{9F22905A-C42A-1845-B4C2-9D8885E87338}"/>
              </a:ext>
            </a:extLst>
          </p:cNvPr>
          <p:cNvSpPr>
            <a:spLocks noGrp="1"/>
          </p:cNvSpPr>
          <p:nvPr>
            <p:ph type="body" sz="quarter" idx="13"/>
          </p:nvPr>
        </p:nvSpPr>
        <p:spPr/>
        <p:txBody>
          <a:bodyPr/>
          <a:lstStyle/>
          <a:p>
            <a:r>
              <a:rPr lang="en-US" altLang="ja-JP" dirty="0"/>
              <a:t>6</a:t>
            </a:r>
            <a:endParaRPr kumimoji="1" lang="ja-JP" altLang="en-US" dirty="0"/>
          </a:p>
        </p:txBody>
      </p:sp>
      <p:sp>
        <p:nvSpPr>
          <p:cNvPr id="6" name="テキスト プレースホルダー 5">
            <a:extLst>
              <a:ext uri="{FF2B5EF4-FFF2-40B4-BE49-F238E27FC236}">
                <a16:creationId xmlns:a16="http://schemas.microsoft.com/office/drawing/2014/main" id="{A72A944A-0DD6-C246-AA6A-153A95866A6D}"/>
              </a:ext>
            </a:extLst>
          </p:cNvPr>
          <p:cNvSpPr>
            <a:spLocks noGrp="1"/>
          </p:cNvSpPr>
          <p:nvPr>
            <p:ph type="body" sz="quarter" idx="14"/>
          </p:nvPr>
        </p:nvSpPr>
        <p:spPr/>
        <p:txBody>
          <a:bodyPr/>
          <a:lstStyle/>
          <a:p>
            <a:r>
              <a:rPr lang="ja-JP" altLang="en-US" dirty="0"/>
              <a:t>補助スライド</a:t>
            </a:r>
            <a:endParaRPr kumimoji="1" lang="ja-JP" altLang="en-US" dirty="0"/>
          </a:p>
        </p:txBody>
      </p:sp>
      <p:grpSp>
        <p:nvGrpSpPr>
          <p:cNvPr id="7" name="グループ化 6">
            <a:extLst>
              <a:ext uri="{FF2B5EF4-FFF2-40B4-BE49-F238E27FC236}">
                <a16:creationId xmlns:a16="http://schemas.microsoft.com/office/drawing/2014/main" id="{F8338825-4221-E148-A389-BAB1DC0ADD53}"/>
              </a:ext>
            </a:extLst>
          </p:cNvPr>
          <p:cNvGrpSpPr/>
          <p:nvPr/>
        </p:nvGrpSpPr>
        <p:grpSpPr>
          <a:xfrm>
            <a:off x="289330" y="1413298"/>
            <a:ext cx="2160000" cy="934436"/>
            <a:chOff x="144665" y="525617"/>
            <a:chExt cx="1080000" cy="467218"/>
          </a:xfrm>
        </p:grpSpPr>
        <p:sp>
          <p:nvSpPr>
            <p:cNvPr id="8" name="正方形/長方形 7">
              <a:extLst>
                <a:ext uri="{FF2B5EF4-FFF2-40B4-BE49-F238E27FC236}">
                  <a16:creationId xmlns:a16="http://schemas.microsoft.com/office/drawing/2014/main" id="{0E268681-EBDD-6B46-A968-4A957382FC63}"/>
                </a:ext>
              </a:extLst>
            </p:cNvPr>
            <p:cNvSpPr/>
            <p:nvPr userDrawn="1"/>
          </p:nvSpPr>
          <p:spPr>
            <a:xfrm>
              <a:off x="145524" y="542424"/>
              <a:ext cx="91081" cy="450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sp>
          <p:nvSpPr>
            <p:cNvPr id="9" name="正方形/長方形 8">
              <a:extLst>
                <a:ext uri="{FF2B5EF4-FFF2-40B4-BE49-F238E27FC236}">
                  <a16:creationId xmlns:a16="http://schemas.microsoft.com/office/drawing/2014/main" id="{3FAD45B4-C2FE-CA41-B80D-D3EA8853BBC9}"/>
                </a:ext>
              </a:extLst>
            </p:cNvPr>
            <p:cNvSpPr/>
            <p:nvPr userDrawn="1"/>
          </p:nvSpPr>
          <p:spPr>
            <a:xfrm>
              <a:off x="144665" y="525617"/>
              <a:ext cx="1080000" cy="161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grpSp>
      <p:grpSp>
        <p:nvGrpSpPr>
          <p:cNvPr id="10" name="グループ化 9">
            <a:extLst>
              <a:ext uri="{FF2B5EF4-FFF2-40B4-BE49-F238E27FC236}">
                <a16:creationId xmlns:a16="http://schemas.microsoft.com/office/drawing/2014/main" id="{16BF773A-C7D0-4047-93D7-93F6E4FD7F4C}"/>
              </a:ext>
            </a:extLst>
          </p:cNvPr>
          <p:cNvGrpSpPr/>
          <p:nvPr/>
        </p:nvGrpSpPr>
        <p:grpSpPr>
          <a:xfrm>
            <a:off x="617232" y="2557358"/>
            <a:ext cx="539448" cy="487368"/>
            <a:chOff x="400056" y="1061560"/>
            <a:chExt cx="269724" cy="243684"/>
          </a:xfrm>
        </p:grpSpPr>
        <p:sp>
          <p:nvSpPr>
            <p:cNvPr id="11" name="三角形 10">
              <a:extLst>
                <a:ext uri="{FF2B5EF4-FFF2-40B4-BE49-F238E27FC236}">
                  <a16:creationId xmlns:a16="http://schemas.microsoft.com/office/drawing/2014/main" id="{B837EC6D-DFF8-7343-B171-EF2CF1C28D4B}"/>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12" name="三角形 11">
              <a:extLst>
                <a:ext uri="{FF2B5EF4-FFF2-40B4-BE49-F238E27FC236}">
                  <a16:creationId xmlns:a16="http://schemas.microsoft.com/office/drawing/2014/main" id="{232D445D-4D73-1242-8CD4-8C96A74E87A6}"/>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13" name="三角形 12">
            <a:extLst>
              <a:ext uri="{FF2B5EF4-FFF2-40B4-BE49-F238E27FC236}">
                <a16:creationId xmlns:a16="http://schemas.microsoft.com/office/drawing/2014/main" id="{170F5D20-7DA5-BE40-86C8-63D00B931690}"/>
              </a:ext>
            </a:extLst>
          </p:cNvPr>
          <p:cNvSpPr/>
          <p:nvPr/>
        </p:nvSpPr>
        <p:spPr>
          <a:xfrm rot="5400000">
            <a:off x="1076238" y="3574426"/>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14" name="テキスト プレースホルダー 27">
            <a:extLst>
              <a:ext uri="{FF2B5EF4-FFF2-40B4-BE49-F238E27FC236}">
                <a16:creationId xmlns:a16="http://schemas.microsoft.com/office/drawing/2014/main" id="{236C3152-D60C-3843-9B3D-307DB2A0E4A4}"/>
              </a:ext>
            </a:extLst>
          </p:cNvPr>
          <p:cNvSpPr txBox="1">
            <a:spLocks/>
          </p:cNvSpPr>
          <p:nvPr/>
        </p:nvSpPr>
        <p:spPr>
          <a:xfrm>
            <a:off x="1254486" y="2484733"/>
            <a:ext cx="16632960" cy="99783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3</a:t>
            </a:r>
            <a:r>
              <a:rPr lang="ja-JP" altLang="en-US" dirty="0"/>
              <a:t>群以上の群で平均値が相違しているか分析</a:t>
            </a:r>
            <a:endParaRPr lang="en-US" altLang="ja-JP" dirty="0"/>
          </a:p>
        </p:txBody>
      </p:sp>
      <p:sp>
        <p:nvSpPr>
          <p:cNvPr id="15" name="テキスト プレースホルダー 29">
            <a:extLst>
              <a:ext uri="{FF2B5EF4-FFF2-40B4-BE49-F238E27FC236}">
                <a16:creationId xmlns:a16="http://schemas.microsoft.com/office/drawing/2014/main" id="{EBDED935-8261-6749-B78E-892B57BDE922}"/>
              </a:ext>
            </a:extLst>
          </p:cNvPr>
          <p:cNvSpPr txBox="1">
            <a:spLocks/>
          </p:cNvSpPr>
          <p:nvPr/>
        </p:nvSpPr>
        <p:spPr>
          <a:xfrm>
            <a:off x="1568600" y="3459152"/>
            <a:ext cx="1827548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F</a:t>
            </a:r>
            <a:r>
              <a:rPr lang="ja-JP" altLang="en-US" dirty="0"/>
              <a:t>値を求める　</a:t>
            </a:r>
            <a:r>
              <a:rPr lang="en-US" altLang="ja-JP" dirty="0"/>
              <a:t>F</a:t>
            </a:r>
            <a:r>
              <a:rPr lang="ja-JP" altLang="en-US" dirty="0"/>
              <a:t>値</a:t>
            </a:r>
          </a:p>
        </p:txBody>
      </p:sp>
      <p:sp>
        <p:nvSpPr>
          <p:cNvPr id="16" name="テキスト プレースホルダー 30">
            <a:extLst>
              <a:ext uri="{FF2B5EF4-FFF2-40B4-BE49-F238E27FC236}">
                <a16:creationId xmlns:a16="http://schemas.microsoft.com/office/drawing/2014/main" id="{CF9CB3BE-4D25-544D-BF6B-6A8CDD76E2D9}"/>
              </a:ext>
            </a:extLst>
          </p:cNvPr>
          <p:cNvSpPr txBox="1">
            <a:spLocks/>
          </p:cNvSpPr>
          <p:nvPr/>
        </p:nvSpPr>
        <p:spPr>
          <a:xfrm>
            <a:off x="571049" y="1583871"/>
            <a:ext cx="17302163" cy="1403350"/>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60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ANOVA(</a:t>
            </a:r>
            <a:r>
              <a:rPr lang="ja-JP" altLang="en-US" dirty="0"/>
              <a:t>分散分析</a:t>
            </a:r>
            <a:r>
              <a:rPr lang="en-US" altLang="ja-JP" dirty="0"/>
              <a:t>)</a:t>
            </a:r>
            <a:endParaRPr lang="ja-JP" altLang="en-US" dirty="0"/>
          </a:p>
        </p:txBody>
      </p:sp>
      <p:grpSp>
        <p:nvGrpSpPr>
          <p:cNvPr id="22" name="グループ化 21">
            <a:extLst>
              <a:ext uri="{FF2B5EF4-FFF2-40B4-BE49-F238E27FC236}">
                <a16:creationId xmlns:a16="http://schemas.microsoft.com/office/drawing/2014/main" id="{B48A9A5D-80B9-4AB8-BE4A-03BB6E8CF4B8}"/>
              </a:ext>
            </a:extLst>
          </p:cNvPr>
          <p:cNvGrpSpPr/>
          <p:nvPr/>
        </p:nvGrpSpPr>
        <p:grpSpPr>
          <a:xfrm>
            <a:off x="130150" y="7994759"/>
            <a:ext cx="17952018" cy="5432284"/>
            <a:chOff x="130150" y="6442413"/>
            <a:chExt cx="17952018" cy="5432284"/>
          </a:xfrm>
        </p:grpSpPr>
        <p:pic>
          <p:nvPicPr>
            <p:cNvPr id="18" name="図 17">
              <a:extLst>
                <a:ext uri="{FF2B5EF4-FFF2-40B4-BE49-F238E27FC236}">
                  <a16:creationId xmlns:a16="http://schemas.microsoft.com/office/drawing/2014/main" id="{6E7367BC-D546-400C-AC2E-4BB69F750EB3}"/>
                </a:ext>
              </a:extLst>
            </p:cNvPr>
            <p:cNvPicPr>
              <a:picLocks noChangeAspect="1"/>
            </p:cNvPicPr>
            <p:nvPr/>
          </p:nvPicPr>
          <p:blipFill>
            <a:blip r:embed="rId3"/>
            <a:stretch>
              <a:fillRect/>
            </a:stretch>
          </p:blipFill>
          <p:spPr>
            <a:xfrm>
              <a:off x="130150" y="6442413"/>
              <a:ext cx="8914457" cy="4758091"/>
            </a:xfrm>
            <a:prstGeom prst="rect">
              <a:avLst/>
            </a:prstGeom>
          </p:spPr>
        </p:pic>
        <p:pic>
          <p:nvPicPr>
            <p:cNvPr id="21" name="図 20">
              <a:extLst>
                <a:ext uri="{FF2B5EF4-FFF2-40B4-BE49-F238E27FC236}">
                  <a16:creationId xmlns:a16="http://schemas.microsoft.com/office/drawing/2014/main" id="{CADF3FBB-D398-499C-A4E0-81D56D0959FF}"/>
                </a:ext>
              </a:extLst>
            </p:cNvPr>
            <p:cNvPicPr>
              <a:picLocks noChangeAspect="1"/>
            </p:cNvPicPr>
            <p:nvPr/>
          </p:nvPicPr>
          <p:blipFill>
            <a:blip r:embed="rId4"/>
            <a:stretch>
              <a:fillRect/>
            </a:stretch>
          </p:blipFill>
          <p:spPr>
            <a:xfrm>
              <a:off x="9370984" y="6442413"/>
              <a:ext cx="8711184" cy="4725818"/>
            </a:xfrm>
            <a:prstGeom prst="rect">
              <a:avLst/>
            </a:prstGeom>
          </p:spPr>
        </p:pic>
        <p:sp>
          <p:nvSpPr>
            <p:cNvPr id="66" name="テキスト ボックス 65">
              <a:extLst>
                <a:ext uri="{FF2B5EF4-FFF2-40B4-BE49-F238E27FC236}">
                  <a16:creationId xmlns:a16="http://schemas.microsoft.com/office/drawing/2014/main" id="{96E25A4F-E04B-4122-BC01-3B1A14895F74}"/>
                </a:ext>
              </a:extLst>
            </p:cNvPr>
            <p:cNvSpPr txBox="1"/>
            <p:nvPr/>
          </p:nvSpPr>
          <p:spPr>
            <a:xfrm>
              <a:off x="12230100" y="11166811"/>
              <a:ext cx="3438014" cy="707886"/>
            </a:xfrm>
            <a:prstGeom prst="rect">
              <a:avLst/>
            </a:prstGeom>
            <a:noFill/>
          </p:spPr>
          <p:txBody>
            <a:bodyPr wrap="square" rtlCol="0">
              <a:spAutoFit/>
            </a:bodyPr>
            <a:lstStyle/>
            <a:p>
              <a:pPr algn="ctr"/>
              <a:r>
                <a:rPr kumimoji="1" lang="ja-JP" altLang="en-US" sz="4000" dirty="0"/>
                <a:t>有意差あり</a:t>
              </a:r>
            </a:p>
          </p:txBody>
        </p:sp>
        <p:sp>
          <p:nvSpPr>
            <p:cNvPr id="67" name="テキスト ボックス 66">
              <a:extLst>
                <a:ext uri="{FF2B5EF4-FFF2-40B4-BE49-F238E27FC236}">
                  <a16:creationId xmlns:a16="http://schemas.microsoft.com/office/drawing/2014/main" id="{C4F5FCFA-8086-469C-BE65-AD54BC99FA43}"/>
                </a:ext>
              </a:extLst>
            </p:cNvPr>
            <p:cNvSpPr txBox="1"/>
            <p:nvPr/>
          </p:nvSpPr>
          <p:spPr>
            <a:xfrm>
              <a:off x="2868371" y="11166811"/>
              <a:ext cx="3438014" cy="707886"/>
            </a:xfrm>
            <a:prstGeom prst="rect">
              <a:avLst/>
            </a:prstGeom>
            <a:noFill/>
          </p:spPr>
          <p:txBody>
            <a:bodyPr wrap="square" rtlCol="0">
              <a:spAutoFit/>
            </a:bodyPr>
            <a:lstStyle/>
            <a:p>
              <a:pPr algn="ctr"/>
              <a:r>
                <a:rPr kumimoji="1" lang="ja-JP" altLang="en-US" sz="4000" dirty="0"/>
                <a:t>有意差</a:t>
              </a:r>
              <a:r>
                <a:rPr lang="ja-JP" altLang="en-US" sz="4000" dirty="0"/>
                <a:t>なし</a:t>
              </a:r>
              <a:endParaRPr kumimoji="1" lang="ja-JP" altLang="en-US" sz="4000" dirty="0"/>
            </a:p>
          </p:txBody>
        </p:sp>
      </p:grpSp>
      <p:grpSp>
        <p:nvGrpSpPr>
          <p:cNvPr id="68" name="グループ化 67">
            <a:extLst>
              <a:ext uri="{FF2B5EF4-FFF2-40B4-BE49-F238E27FC236}">
                <a16:creationId xmlns:a16="http://schemas.microsoft.com/office/drawing/2014/main" id="{341CDCDE-C3BB-4AA3-9F25-255A3A10C35A}"/>
              </a:ext>
            </a:extLst>
          </p:cNvPr>
          <p:cNvGrpSpPr/>
          <p:nvPr/>
        </p:nvGrpSpPr>
        <p:grpSpPr>
          <a:xfrm>
            <a:off x="617233" y="5287847"/>
            <a:ext cx="539448" cy="487368"/>
            <a:chOff x="400056" y="1061560"/>
            <a:chExt cx="269724" cy="243684"/>
          </a:xfrm>
        </p:grpSpPr>
        <p:sp>
          <p:nvSpPr>
            <p:cNvPr id="69" name="三角形 47">
              <a:extLst>
                <a:ext uri="{FF2B5EF4-FFF2-40B4-BE49-F238E27FC236}">
                  <a16:creationId xmlns:a16="http://schemas.microsoft.com/office/drawing/2014/main" id="{B6B36AF4-741A-43F6-A912-80BA50841B96}"/>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70" name="三角形 48">
              <a:extLst>
                <a:ext uri="{FF2B5EF4-FFF2-40B4-BE49-F238E27FC236}">
                  <a16:creationId xmlns:a16="http://schemas.microsoft.com/office/drawing/2014/main" id="{6EEC547C-8486-4E56-BC07-30DA12F3C08D}"/>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71" name="テキスト プレースホルダー 27">
            <a:extLst>
              <a:ext uri="{FF2B5EF4-FFF2-40B4-BE49-F238E27FC236}">
                <a16:creationId xmlns:a16="http://schemas.microsoft.com/office/drawing/2014/main" id="{E0119F4D-9B2E-4C65-81A6-FD41672E59DE}"/>
              </a:ext>
            </a:extLst>
          </p:cNvPr>
          <p:cNvSpPr txBox="1">
            <a:spLocks/>
          </p:cNvSpPr>
          <p:nvPr/>
        </p:nvSpPr>
        <p:spPr>
          <a:xfrm>
            <a:off x="1254486" y="5215222"/>
            <a:ext cx="17875725" cy="99783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dirty="0">
                <a:solidFill>
                  <a:schemeClr val="accent2"/>
                </a:solidFill>
              </a:rPr>
              <a:t>どの群との間に有意差があるか</a:t>
            </a:r>
            <a:r>
              <a:rPr lang="ja-JP" altLang="en-US" dirty="0">
                <a:solidFill>
                  <a:schemeClr val="tx1"/>
                </a:solidFill>
              </a:rPr>
              <a:t>はわからない</a:t>
            </a:r>
          </a:p>
        </p:txBody>
      </p:sp>
      <mc:AlternateContent xmlns:mc="http://schemas.openxmlformats.org/markup-compatibility/2006" xmlns:a14="http://schemas.microsoft.com/office/drawing/2010/main">
        <mc:Choice Requires="a14">
          <p:sp>
            <p:nvSpPr>
              <p:cNvPr id="44" name="テキスト ボックス 43">
                <a:extLst>
                  <a:ext uri="{FF2B5EF4-FFF2-40B4-BE49-F238E27FC236}">
                    <a16:creationId xmlns:a16="http://schemas.microsoft.com/office/drawing/2014/main" id="{144D27A4-69EF-45D0-91E4-0A4EE2D3B4F0}"/>
                  </a:ext>
                </a:extLst>
              </p:cNvPr>
              <p:cNvSpPr txBox="1"/>
              <p:nvPr/>
            </p:nvSpPr>
            <p:spPr>
              <a:xfrm>
                <a:off x="5999635" y="3106945"/>
                <a:ext cx="3371349" cy="124476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m:t>
                      </m:r>
                      <m:f>
                        <m:fPr>
                          <m:ctrlPr>
                            <a:rPr kumimoji="1" lang="en-US" altLang="ja-JP" b="0" i="1" smtClean="0">
                              <a:latin typeface="Cambria Math" panose="02040503050406030204" pitchFamily="18" charset="0"/>
                            </a:rPr>
                          </m:ctrlPr>
                        </m:fPr>
                        <m:num>
                          <m:r>
                            <a:rPr lang="ja-JP" altLang="en-US" i="1">
                              <a:latin typeface="Cambria Math" panose="02040503050406030204" pitchFamily="18" charset="0"/>
                            </a:rPr>
                            <m:t>要因変動</m:t>
                          </m:r>
                          <m:r>
                            <a:rPr lang="ja-JP" altLang="en-US" i="1" smtClean="0">
                              <a:latin typeface="Cambria Math" panose="02040503050406030204" pitchFamily="18" charset="0"/>
                            </a:rPr>
                            <m:t>の分散</m:t>
                          </m:r>
                        </m:num>
                        <m:den>
                          <m:r>
                            <a:rPr lang="ja-JP" altLang="en-US" i="1">
                              <a:latin typeface="Cambria Math" panose="02040503050406030204" pitchFamily="18" charset="0"/>
                            </a:rPr>
                            <m:t>誤差変動</m:t>
                          </m:r>
                          <m:r>
                            <a:rPr lang="ja-JP" altLang="en-US" i="1" smtClean="0">
                              <a:latin typeface="Cambria Math" panose="02040503050406030204" pitchFamily="18" charset="0"/>
                            </a:rPr>
                            <m:t>の分散</m:t>
                          </m:r>
                        </m:den>
                      </m:f>
                    </m:oMath>
                  </m:oMathPara>
                </a14:m>
                <a:endParaRPr kumimoji="1" lang="ja-JP" altLang="en-US" dirty="0"/>
              </a:p>
            </p:txBody>
          </p:sp>
        </mc:Choice>
        <mc:Fallback xmlns="">
          <p:sp>
            <p:nvSpPr>
              <p:cNvPr id="44" name="テキスト ボックス 43">
                <a:extLst>
                  <a:ext uri="{FF2B5EF4-FFF2-40B4-BE49-F238E27FC236}">
                    <a16:creationId xmlns:a16="http://schemas.microsoft.com/office/drawing/2014/main" id="{144D27A4-69EF-45D0-91E4-0A4EE2D3B4F0}"/>
                  </a:ext>
                </a:extLst>
              </p:cNvPr>
              <p:cNvSpPr txBox="1">
                <a:spLocks noRot="1" noChangeAspect="1" noMove="1" noResize="1" noEditPoints="1" noAdjustHandles="1" noChangeArrowheads="1" noChangeShapeType="1" noTextEdit="1"/>
              </p:cNvSpPr>
              <p:nvPr/>
            </p:nvSpPr>
            <p:spPr>
              <a:xfrm>
                <a:off x="5999635" y="3106945"/>
                <a:ext cx="3371349" cy="1244764"/>
              </a:xfrm>
              <a:prstGeom prst="rect">
                <a:avLst/>
              </a:prstGeom>
              <a:blipFill>
                <a:blip r:embed="rId5"/>
                <a:stretch>
                  <a:fillRect l="-5063" r="-3074"/>
                </a:stretch>
              </a:blipFill>
            </p:spPr>
            <p:txBody>
              <a:bodyPr/>
              <a:lstStyle/>
              <a:p>
                <a:r>
                  <a:rPr lang="ja-JP" altLang="en-US">
                    <a:noFill/>
                  </a:rPr>
                  <a:t> </a:t>
                </a:r>
              </a:p>
            </p:txBody>
          </p:sp>
        </mc:Fallback>
      </mc:AlternateContent>
      <p:sp>
        <p:nvSpPr>
          <p:cNvPr id="45" name="三角形 31">
            <a:extLst>
              <a:ext uri="{FF2B5EF4-FFF2-40B4-BE49-F238E27FC236}">
                <a16:creationId xmlns:a16="http://schemas.microsoft.com/office/drawing/2014/main" id="{E9B349C1-A17E-42A7-9B1C-3F21EACA5EC7}"/>
              </a:ext>
            </a:extLst>
          </p:cNvPr>
          <p:cNvSpPr/>
          <p:nvPr/>
        </p:nvSpPr>
        <p:spPr>
          <a:xfrm rot="5400000">
            <a:off x="1076238" y="4582119"/>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46" name="テキスト プレースホルダー 29">
            <a:extLst>
              <a:ext uri="{FF2B5EF4-FFF2-40B4-BE49-F238E27FC236}">
                <a16:creationId xmlns:a16="http://schemas.microsoft.com/office/drawing/2014/main" id="{AC10C7C1-EB80-41DE-A139-203FA477C1F1}"/>
              </a:ext>
            </a:extLst>
          </p:cNvPr>
          <p:cNvSpPr txBox="1">
            <a:spLocks/>
          </p:cNvSpPr>
          <p:nvPr/>
        </p:nvSpPr>
        <p:spPr>
          <a:xfrm>
            <a:off x="1568600" y="4466845"/>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F</a:t>
            </a:r>
            <a:r>
              <a:rPr lang="ja-JP" altLang="en-US" dirty="0"/>
              <a:t>値を</a:t>
            </a:r>
            <a:r>
              <a:rPr lang="en-US" altLang="ja-JP" dirty="0"/>
              <a:t>p</a:t>
            </a:r>
            <a:r>
              <a:rPr lang="ja-JP" altLang="en-US" dirty="0"/>
              <a:t>値に変換して有意差があるか判断</a:t>
            </a:r>
          </a:p>
        </p:txBody>
      </p:sp>
      <p:grpSp>
        <p:nvGrpSpPr>
          <p:cNvPr id="49" name="グループ化 48">
            <a:extLst>
              <a:ext uri="{FF2B5EF4-FFF2-40B4-BE49-F238E27FC236}">
                <a16:creationId xmlns:a16="http://schemas.microsoft.com/office/drawing/2014/main" id="{AF160084-E1D3-499A-B4E5-6C915D63AC3B}"/>
              </a:ext>
            </a:extLst>
          </p:cNvPr>
          <p:cNvGrpSpPr/>
          <p:nvPr/>
        </p:nvGrpSpPr>
        <p:grpSpPr>
          <a:xfrm>
            <a:off x="289330" y="6120979"/>
            <a:ext cx="2160000" cy="934436"/>
            <a:chOff x="144665" y="525617"/>
            <a:chExt cx="1080000" cy="467218"/>
          </a:xfrm>
        </p:grpSpPr>
        <p:sp>
          <p:nvSpPr>
            <p:cNvPr id="50" name="正方形/長方形 49">
              <a:extLst>
                <a:ext uri="{FF2B5EF4-FFF2-40B4-BE49-F238E27FC236}">
                  <a16:creationId xmlns:a16="http://schemas.microsoft.com/office/drawing/2014/main" id="{4A4EAF1F-D20C-43A4-93B3-2416980C964A}"/>
                </a:ext>
              </a:extLst>
            </p:cNvPr>
            <p:cNvSpPr/>
            <p:nvPr userDrawn="1"/>
          </p:nvSpPr>
          <p:spPr>
            <a:xfrm>
              <a:off x="145524" y="542424"/>
              <a:ext cx="91081" cy="450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sp>
          <p:nvSpPr>
            <p:cNvPr id="51" name="正方形/長方形 50">
              <a:extLst>
                <a:ext uri="{FF2B5EF4-FFF2-40B4-BE49-F238E27FC236}">
                  <a16:creationId xmlns:a16="http://schemas.microsoft.com/office/drawing/2014/main" id="{B72FB05C-C9FC-4F95-9512-B6755ACB86C6}"/>
                </a:ext>
              </a:extLst>
            </p:cNvPr>
            <p:cNvSpPr/>
            <p:nvPr userDrawn="1"/>
          </p:nvSpPr>
          <p:spPr>
            <a:xfrm>
              <a:off x="144665" y="525617"/>
              <a:ext cx="1080000" cy="161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grpSp>
      <p:grpSp>
        <p:nvGrpSpPr>
          <p:cNvPr id="52" name="グループ化 51">
            <a:extLst>
              <a:ext uri="{FF2B5EF4-FFF2-40B4-BE49-F238E27FC236}">
                <a16:creationId xmlns:a16="http://schemas.microsoft.com/office/drawing/2014/main" id="{4CC2BE6F-8E50-4133-B296-A063187AF148}"/>
              </a:ext>
            </a:extLst>
          </p:cNvPr>
          <p:cNvGrpSpPr/>
          <p:nvPr/>
        </p:nvGrpSpPr>
        <p:grpSpPr>
          <a:xfrm>
            <a:off x="617232" y="7265039"/>
            <a:ext cx="539448" cy="487368"/>
            <a:chOff x="400056" y="1061560"/>
            <a:chExt cx="269724" cy="243684"/>
          </a:xfrm>
        </p:grpSpPr>
        <p:sp>
          <p:nvSpPr>
            <p:cNvPr id="53" name="三角形 10">
              <a:extLst>
                <a:ext uri="{FF2B5EF4-FFF2-40B4-BE49-F238E27FC236}">
                  <a16:creationId xmlns:a16="http://schemas.microsoft.com/office/drawing/2014/main" id="{C92062D5-2A8A-4869-BCFB-A893D1B50534}"/>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54" name="三角形 11">
              <a:extLst>
                <a:ext uri="{FF2B5EF4-FFF2-40B4-BE49-F238E27FC236}">
                  <a16:creationId xmlns:a16="http://schemas.microsoft.com/office/drawing/2014/main" id="{12CBDCF7-0938-4236-8CAA-E7012AF4FDD7}"/>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55" name="テキスト プレースホルダー 27">
            <a:extLst>
              <a:ext uri="{FF2B5EF4-FFF2-40B4-BE49-F238E27FC236}">
                <a16:creationId xmlns:a16="http://schemas.microsoft.com/office/drawing/2014/main" id="{EAFF1B7D-3752-466C-981C-5192E50B4645}"/>
              </a:ext>
            </a:extLst>
          </p:cNvPr>
          <p:cNvSpPr txBox="1">
            <a:spLocks/>
          </p:cNvSpPr>
          <p:nvPr/>
        </p:nvSpPr>
        <p:spPr>
          <a:xfrm>
            <a:off x="1254486" y="7192414"/>
            <a:ext cx="16632960" cy="99783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3</a:t>
            </a:r>
            <a:r>
              <a:rPr lang="ja-JP" altLang="en-US" dirty="0"/>
              <a:t>群以上の群でどの群との間に有意差があるか分析</a:t>
            </a:r>
            <a:endParaRPr lang="en-US" altLang="ja-JP" dirty="0"/>
          </a:p>
        </p:txBody>
      </p:sp>
      <p:sp>
        <p:nvSpPr>
          <p:cNvPr id="56" name="テキスト プレースホルダー 30">
            <a:extLst>
              <a:ext uri="{FF2B5EF4-FFF2-40B4-BE49-F238E27FC236}">
                <a16:creationId xmlns:a16="http://schemas.microsoft.com/office/drawing/2014/main" id="{2D0D14FF-4AD0-4987-AE97-B12F2DF454A3}"/>
              </a:ext>
            </a:extLst>
          </p:cNvPr>
          <p:cNvSpPr txBox="1">
            <a:spLocks/>
          </p:cNvSpPr>
          <p:nvPr/>
        </p:nvSpPr>
        <p:spPr>
          <a:xfrm>
            <a:off x="571049" y="6291552"/>
            <a:ext cx="17302163" cy="1403350"/>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60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dirty="0"/>
              <a:t>多重比較</a:t>
            </a:r>
            <a:r>
              <a:rPr lang="en-US" altLang="ja-JP" dirty="0"/>
              <a:t>(Tukey</a:t>
            </a:r>
            <a:r>
              <a:rPr lang="ja-JP" altLang="en-US" dirty="0"/>
              <a:t>法</a:t>
            </a:r>
            <a:r>
              <a:rPr lang="en-US" altLang="ja-JP" dirty="0"/>
              <a:t>)</a:t>
            </a:r>
            <a:endParaRPr lang="ja-JP" altLang="en-US" dirty="0"/>
          </a:p>
        </p:txBody>
      </p:sp>
    </p:spTree>
    <p:extLst>
      <p:ext uri="{BB962C8B-B14F-4D97-AF65-F5344CB8AC3E}">
        <p14:creationId xmlns:p14="http://schemas.microsoft.com/office/powerpoint/2010/main" val="12992458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9A3628AA-5FBA-534C-B3C4-2DB73F7968C2}"/>
              </a:ext>
            </a:extLst>
          </p:cNvPr>
          <p:cNvSpPr>
            <a:spLocks noGrp="1"/>
          </p:cNvSpPr>
          <p:nvPr>
            <p:ph type="dt" sz="half" idx="10"/>
          </p:nvPr>
        </p:nvSpPr>
        <p:spPr/>
        <p:txBody>
          <a:bodyPr/>
          <a:lstStyle/>
          <a:p>
            <a:fld id="{E814C0C4-870B-458D-94EE-6C0DC939FBD8}" type="datetime1">
              <a:rPr lang="ja-JP" altLang="en-US" smtClean="0"/>
              <a:t>2018/6/9</a:t>
            </a:fld>
            <a:endParaRPr lang="ja-JP" altLang="en-US"/>
          </a:p>
        </p:txBody>
      </p:sp>
      <p:sp>
        <p:nvSpPr>
          <p:cNvPr id="3" name="フッター プレースホルダー 2">
            <a:extLst>
              <a:ext uri="{FF2B5EF4-FFF2-40B4-BE49-F238E27FC236}">
                <a16:creationId xmlns:a16="http://schemas.microsoft.com/office/drawing/2014/main" id="{98D8000A-67DE-B846-8AE0-A91C6FD8ECBB}"/>
              </a:ext>
            </a:extLst>
          </p:cNvPr>
          <p:cNvSpPr>
            <a:spLocks noGrp="1"/>
          </p:cNvSpPr>
          <p:nvPr>
            <p:ph type="ftr" sz="quarter" idx="11"/>
          </p:nvPr>
        </p:nvSpPr>
        <p:spPr/>
        <p:txBody>
          <a:bodyPr/>
          <a:lstStyle/>
          <a:p>
            <a:r>
              <a:rPr lang="ja-JP" altLang="en-US"/>
              <a:t>文献講読発表</a:t>
            </a:r>
            <a:r>
              <a:rPr lang="en-US" altLang="ja-JP"/>
              <a:t>(2018.05.07)</a:t>
            </a:r>
            <a:endParaRPr lang="ja-JP" altLang="en-US"/>
          </a:p>
        </p:txBody>
      </p:sp>
      <p:sp>
        <p:nvSpPr>
          <p:cNvPr id="4" name="スライド番号プレースホルダー 3">
            <a:extLst>
              <a:ext uri="{FF2B5EF4-FFF2-40B4-BE49-F238E27FC236}">
                <a16:creationId xmlns:a16="http://schemas.microsoft.com/office/drawing/2014/main" id="{5241896A-DBD1-D845-A5F2-1904C1003E91}"/>
              </a:ext>
            </a:extLst>
          </p:cNvPr>
          <p:cNvSpPr>
            <a:spLocks noGrp="1"/>
          </p:cNvSpPr>
          <p:nvPr>
            <p:ph type="sldNum" sz="quarter" idx="12"/>
          </p:nvPr>
        </p:nvSpPr>
        <p:spPr/>
        <p:txBody>
          <a:bodyPr/>
          <a:lstStyle/>
          <a:p>
            <a:fld id="{89242BC1-393D-1248-985B-18DA624F2964}" type="slidenum">
              <a:rPr lang="ja-JP" altLang="en-US" smtClean="0"/>
              <a:pPr/>
              <a:t>29</a:t>
            </a:fld>
            <a:endParaRPr lang="ja-JP" altLang="en-US"/>
          </a:p>
        </p:txBody>
      </p:sp>
      <p:sp>
        <p:nvSpPr>
          <p:cNvPr id="5" name="テキスト プレースホルダー 4">
            <a:extLst>
              <a:ext uri="{FF2B5EF4-FFF2-40B4-BE49-F238E27FC236}">
                <a16:creationId xmlns:a16="http://schemas.microsoft.com/office/drawing/2014/main" id="{9F22905A-C42A-1845-B4C2-9D8885E87338}"/>
              </a:ext>
            </a:extLst>
          </p:cNvPr>
          <p:cNvSpPr>
            <a:spLocks noGrp="1"/>
          </p:cNvSpPr>
          <p:nvPr>
            <p:ph type="body" sz="quarter" idx="13"/>
          </p:nvPr>
        </p:nvSpPr>
        <p:spPr/>
        <p:txBody>
          <a:bodyPr/>
          <a:lstStyle/>
          <a:p>
            <a:r>
              <a:rPr lang="en-US" altLang="ja-JP" dirty="0"/>
              <a:t>6</a:t>
            </a:r>
            <a:endParaRPr kumimoji="1" lang="ja-JP" altLang="en-US" dirty="0"/>
          </a:p>
        </p:txBody>
      </p:sp>
      <p:sp>
        <p:nvSpPr>
          <p:cNvPr id="6" name="テキスト プレースホルダー 5">
            <a:extLst>
              <a:ext uri="{FF2B5EF4-FFF2-40B4-BE49-F238E27FC236}">
                <a16:creationId xmlns:a16="http://schemas.microsoft.com/office/drawing/2014/main" id="{A72A944A-0DD6-C246-AA6A-153A95866A6D}"/>
              </a:ext>
            </a:extLst>
          </p:cNvPr>
          <p:cNvSpPr>
            <a:spLocks noGrp="1"/>
          </p:cNvSpPr>
          <p:nvPr>
            <p:ph type="body" sz="quarter" idx="14"/>
          </p:nvPr>
        </p:nvSpPr>
        <p:spPr/>
        <p:txBody>
          <a:bodyPr/>
          <a:lstStyle/>
          <a:p>
            <a:r>
              <a:rPr kumimoji="1" lang="ja-JP" altLang="en-US" dirty="0"/>
              <a:t>補助スライド</a:t>
            </a:r>
          </a:p>
        </p:txBody>
      </p:sp>
      <p:grpSp>
        <p:nvGrpSpPr>
          <p:cNvPr id="7" name="グループ化 6">
            <a:extLst>
              <a:ext uri="{FF2B5EF4-FFF2-40B4-BE49-F238E27FC236}">
                <a16:creationId xmlns:a16="http://schemas.microsoft.com/office/drawing/2014/main" id="{F8338825-4221-E148-A389-BAB1DC0ADD53}"/>
              </a:ext>
            </a:extLst>
          </p:cNvPr>
          <p:cNvGrpSpPr/>
          <p:nvPr/>
        </p:nvGrpSpPr>
        <p:grpSpPr>
          <a:xfrm>
            <a:off x="289330" y="1413298"/>
            <a:ext cx="2160000" cy="934436"/>
            <a:chOff x="144665" y="525617"/>
            <a:chExt cx="1080000" cy="467218"/>
          </a:xfrm>
        </p:grpSpPr>
        <p:sp>
          <p:nvSpPr>
            <p:cNvPr id="8" name="正方形/長方形 7">
              <a:extLst>
                <a:ext uri="{FF2B5EF4-FFF2-40B4-BE49-F238E27FC236}">
                  <a16:creationId xmlns:a16="http://schemas.microsoft.com/office/drawing/2014/main" id="{0E268681-EBDD-6B46-A968-4A957382FC63}"/>
                </a:ext>
              </a:extLst>
            </p:cNvPr>
            <p:cNvSpPr/>
            <p:nvPr userDrawn="1"/>
          </p:nvSpPr>
          <p:spPr>
            <a:xfrm>
              <a:off x="145524" y="542424"/>
              <a:ext cx="91081" cy="450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sp>
          <p:nvSpPr>
            <p:cNvPr id="9" name="正方形/長方形 8">
              <a:extLst>
                <a:ext uri="{FF2B5EF4-FFF2-40B4-BE49-F238E27FC236}">
                  <a16:creationId xmlns:a16="http://schemas.microsoft.com/office/drawing/2014/main" id="{3FAD45B4-C2FE-CA41-B80D-D3EA8853BBC9}"/>
                </a:ext>
              </a:extLst>
            </p:cNvPr>
            <p:cNvSpPr/>
            <p:nvPr userDrawn="1"/>
          </p:nvSpPr>
          <p:spPr>
            <a:xfrm>
              <a:off x="144665" y="525617"/>
              <a:ext cx="1080000" cy="161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grpSp>
      <p:grpSp>
        <p:nvGrpSpPr>
          <p:cNvPr id="10" name="グループ化 9">
            <a:extLst>
              <a:ext uri="{FF2B5EF4-FFF2-40B4-BE49-F238E27FC236}">
                <a16:creationId xmlns:a16="http://schemas.microsoft.com/office/drawing/2014/main" id="{16BF773A-C7D0-4047-93D7-93F6E4FD7F4C}"/>
              </a:ext>
            </a:extLst>
          </p:cNvPr>
          <p:cNvGrpSpPr/>
          <p:nvPr/>
        </p:nvGrpSpPr>
        <p:grpSpPr>
          <a:xfrm>
            <a:off x="617232" y="2557358"/>
            <a:ext cx="539448" cy="487368"/>
            <a:chOff x="400056" y="1061560"/>
            <a:chExt cx="269724" cy="243684"/>
          </a:xfrm>
        </p:grpSpPr>
        <p:sp>
          <p:nvSpPr>
            <p:cNvPr id="11" name="三角形 10">
              <a:extLst>
                <a:ext uri="{FF2B5EF4-FFF2-40B4-BE49-F238E27FC236}">
                  <a16:creationId xmlns:a16="http://schemas.microsoft.com/office/drawing/2014/main" id="{B837EC6D-DFF8-7343-B171-EF2CF1C28D4B}"/>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12" name="三角形 11">
              <a:extLst>
                <a:ext uri="{FF2B5EF4-FFF2-40B4-BE49-F238E27FC236}">
                  <a16:creationId xmlns:a16="http://schemas.microsoft.com/office/drawing/2014/main" id="{232D445D-4D73-1242-8CD4-8C96A74E87A6}"/>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13" name="三角形 12">
            <a:extLst>
              <a:ext uri="{FF2B5EF4-FFF2-40B4-BE49-F238E27FC236}">
                <a16:creationId xmlns:a16="http://schemas.microsoft.com/office/drawing/2014/main" id="{170F5D20-7DA5-BE40-86C8-63D00B931690}"/>
              </a:ext>
            </a:extLst>
          </p:cNvPr>
          <p:cNvSpPr/>
          <p:nvPr/>
        </p:nvSpPr>
        <p:spPr>
          <a:xfrm rot="5400000">
            <a:off x="1076238" y="3361776"/>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14" name="テキスト プレースホルダー 27">
            <a:extLst>
              <a:ext uri="{FF2B5EF4-FFF2-40B4-BE49-F238E27FC236}">
                <a16:creationId xmlns:a16="http://schemas.microsoft.com/office/drawing/2014/main" id="{236C3152-D60C-3843-9B3D-307DB2A0E4A4}"/>
              </a:ext>
            </a:extLst>
          </p:cNvPr>
          <p:cNvSpPr txBox="1">
            <a:spLocks/>
          </p:cNvSpPr>
          <p:nvPr/>
        </p:nvSpPr>
        <p:spPr>
          <a:xfrm>
            <a:off x="1254486" y="2484733"/>
            <a:ext cx="16632960" cy="99783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2</a:t>
            </a:r>
            <a:r>
              <a:rPr lang="ja-JP" altLang="en-US" dirty="0" err="1"/>
              <a:t>つの</a:t>
            </a:r>
            <a:r>
              <a:rPr lang="ja-JP" altLang="en-US" dirty="0"/>
              <a:t>群の平均値に差があるか調べる</a:t>
            </a:r>
            <a:endParaRPr lang="en-US" altLang="ja-JP" dirty="0"/>
          </a:p>
        </p:txBody>
      </p:sp>
      <p:sp>
        <p:nvSpPr>
          <p:cNvPr id="15" name="テキスト プレースホルダー 29">
            <a:extLst>
              <a:ext uri="{FF2B5EF4-FFF2-40B4-BE49-F238E27FC236}">
                <a16:creationId xmlns:a16="http://schemas.microsoft.com/office/drawing/2014/main" id="{EBDED935-8261-6749-B78E-892B57BDE922}"/>
              </a:ext>
            </a:extLst>
          </p:cNvPr>
          <p:cNvSpPr txBox="1">
            <a:spLocks/>
          </p:cNvSpPr>
          <p:nvPr/>
        </p:nvSpPr>
        <p:spPr>
          <a:xfrm>
            <a:off x="1568600" y="3246502"/>
            <a:ext cx="1827548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dirty="0">
                <a:solidFill>
                  <a:schemeClr val="accent2"/>
                </a:solidFill>
              </a:rPr>
              <a:t>対応のある</a:t>
            </a:r>
            <a:r>
              <a:rPr lang="en-US" altLang="ja-JP" dirty="0">
                <a:solidFill>
                  <a:schemeClr val="accent2"/>
                </a:solidFill>
              </a:rPr>
              <a:t>t</a:t>
            </a:r>
            <a:r>
              <a:rPr lang="ja-JP" altLang="en-US" dirty="0">
                <a:solidFill>
                  <a:schemeClr val="accent2"/>
                </a:solidFill>
              </a:rPr>
              <a:t>検定</a:t>
            </a:r>
          </a:p>
        </p:txBody>
      </p:sp>
      <p:sp>
        <p:nvSpPr>
          <p:cNvPr id="16" name="テキスト プレースホルダー 30">
            <a:extLst>
              <a:ext uri="{FF2B5EF4-FFF2-40B4-BE49-F238E27FC236}">
                <a16:creationId xmlns:a16="http://schemas.microsoft.com/office/drawing/2014/main" id="{CF9CB3BE-4D25-544D-BF6B-6A8CDD76E2D9}"/>
              </a:ext>
            </a:extLst>
          </p:cNvPr>
          <p:cNvSpPr txBox="1">
            <a:spLocks/>
          </p:cNvSpPr>
          <p:nvPr/>
        </p:nvSpPr>
        <p:spPr>
          <a:xfrm>
            <a:off x="571049" y="1583871"/>
            <a:ext cx="17302163" cy="1403350"/>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60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t</a:t>
            </a:r>
            <a:r>
              <a:rPr lang="ja-JP" altLang="en-US" dirty="0"/>
              <a:t>検定</a:t>
            </a:r>
          </a:p>
        </p:txBody>
      </p:sp>
      <p:sp>
        <p:nvSpPr>
          <p:cNvPr id="56" name="三角形 31">
            <a:extLst>
              <a:ext uri="{FF2B5EF4-FFF2-40B4-BE49-F238E27FC236}">
                <a16:creationId xmlns:a16="http://schemas.microsoft.com/office/drawing/2014/main" id="{DCB5B886-D7E6-45BF-8758-B6E1FE59254C}"/>
              </a:ext>
            </a:extLst>
          </p:cNvPr>
          <p:cNvSpPr/>
          <p:nvPr/>
        </p:nvSpPr>
        <p:spPr>
          <a:xfrm rot="5400000">
            <a:off x="1076238" y="4133898"/>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59" name="テキスト プレースホルダー 29">
            <a:extLst>
              <a:ext uri="{FF2B5EF4-FFF2-40B4-BE49-F238E27FC236}">
                <a16:creationId xmlns:a16="http://schemas.microsoft.com/office/drawing/2014/main" id="{552F4357-F2E2-4DBB-BFC1-94552ED67915}"/>
              </a:ext>
            </a:extLst>
          </p:cNvPr>
          <p:cNvSpPr txBox="1">
            <a:spLocks/>
          </p:cNvSpPr>
          <p:nvPr/>
        </p:nvSpPr>
        <p:spPr>
          <a:xfrm>
            <a:off x="1568600" y="4018624"/>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dirty="0"/>
              <a:t>対応のない</a:t>
            </a:r>
            <a:r>
              <a:rPr lang="en-US" altLang="ja-JP" dirty="0"/>
              <a:t>t</a:t>
            </a:r>
            <a:r>
              <a:rPr lang="ja-JP" altLang="en-US" dirty="0"/>
              <a:t>検定</a:t>
            </a:r>
          </a:p>
        </p:txBody>
      </p:sp>
      <mc:AlternateContent xmlns:mc="http://schemas.openxmlformats.org/markup-compatibility/2006" xmlns:a14="http://schemas.microsoft.com/office/drawing/2010/main">
        <mc:Choice Requires="a14">
          <p:sp>
            <p:nvSpPr>
              <p:cNvPr id="62" name="テキスト ボックス 61">
                <a:extLst>
                  <a:ext uri="{FF2B5EF4-FFF2-40B4-BE49-F238E27FC236}">
                    <a16:creationId xmlns:a16="http://schemas.microsoft.com/office/drawing/2014/main" id="{E20ACCBB-636F-4414-8727-024D72940B1E}"/>
                  </a:ext>
                </a:extLst>
              </p:cNvPr>
              <p:cNvSpPr txBox="1"/>
              <p:nvPr/>
            </p:nvSpPr>
            <p:spPr>
              <a:xfrm>
                <a:off x="5727030" y="3270346"/>
                <a:ext cx="3371349" cy="2057551"/>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n-US" altLang="ja-JP" sz="4000" i="1" smtClean="0">
                              <a:latin typeface="Cambria Math" panose="02040503050406030204" pitchFamily="18" charset="0"/>
                            </a:rPr>
                          </m:ctrlPr>
                        </m:dPr>
                        <m:e>
                          <m:eqArr>
                            <m:eqArrPr>
                              <m:ctrlPr>
                                <a:rPr lang="en-US" altLang="ja-JP" sz="4000" b="0" i="1" smtClean="0">
                                  <a:latin typeface="Cambria Math" panose="02040503050406030204" pitchFamily="18" charset="0"/>
                                </a:rPr>
                              </m:ctrlPr>
                            </m:eqArrPr>
                            <m:e>
                              <m:r>
                                <a:rPr lang="en-US" altLang="ja-JP" sz="4000" b="0" i="1" smtClean="0">
                                  <a:latin typeface="Cambria Math" panose="02040503050406030204" pitchFamily="18" charset="0"/>
                                </a:rPr>
                                <m:t>  </m:t>
                              </m:r>
                              <m:r>
                                <a:rPr lang="ja-JP" altLang="en-US" sz="4000" i="1">
                                  <a:latin typeface="Cambria Math" panose="02040503050406030204" pitchFamily="18" charset="0"/>
                                </a:rPr>
                                <m:t>分散が</m:t>
                              </m:r>
                              <m:r>
                                <a:rPr lang="ja-JP" altLang="en-US" sz="4000" i="1" smtClean="0">
                                  <a:latin typeface="Cambria Math" panose="02040503050406030204" pitchFamily="18" charset="0"/>
                                </a:rPr>
                                <m:t>等しい</m:t>
                              </m:r>
                            </m:e>
                            <m:e/>
                            <m:e>
                              <m:r>
                                <a:rPr lang="en-US" altLang="ja-JP" sz="4000" b="0" i="1" smtClean="0">
                                  <a:latin typeface="Cambria Math" panose="02040503050406030204" pitchFamily="18" charset="0"/>
                                </a:rPr>
                                <m:t>  </m:t>
                              </m:r>
                              <m:r>
                                <a:rPr lang="ja-JP" altLang="en-US" sz="4000" i="1">
                                  <a:latin typeface="Cambria Math" panose="02040503050406030204" pitchFamily="18" charset="0"/>
                                </a:rPr>
                                <m:t>分散が異なる</m:t>
                              </m:r>
                            </m:e>
                          </m:eqArr>
                        </m:e>
                      </m:d>
                    </m:oMath>
                  </m:oMathPara>
                </a14:m>
                <a:endParaRPr kumimoji="1" lang="ja-JP" altLang="en-US" sz="4000" dirty="0"/>
              </a:p>
            </p:txBody>
          </p:sp>
        </mc:Choice>
        <mc:Fallback xmlns="">
          <p:sp>
            <p:nvSpPr>
              <p:cNvPr id="62" name="テキスト ボックス 61">
                <a:extLst>
                  <a:ext uri="{FF2B5EF4-FFF2-40B4-BE49-F238E27FC236}">
                    <a16:creationId xmlns:a16="http://schemas.microsoft.com/office/drawing/2014/main" id="{E20ACCBB-636F-4414-8727-024D72940B1E}"/>
                  </a:ext>
                </a:extLst>
              </p:cNvPr>
              <p:cNvSpPr txBox="1">
                <a:spLocks noRot="1" noChangeAspect="1" noMove="1" noResize="1" noEditPoints="1" noAdjustHandles="1" noChangeArrowheads="1" noChangeShapeType="1" noTextEdit="1"/>
              </p:cNvSpPr>
              <p:nvPr/>
            </p:nvSpPr>
            <p:spPr>
              <a:xfrm>
                <a:off x="5727030" y="3270346"/>
                <a:ext cx="3371349" cy="2057551"/>
              </a:xfrm>
              <a:prstGeom prst="rect">
                <a:avLst/>
              </a:prstGeom>
              <a:blipFill>
                <a:blip r:embed="rId3"/>
                <a:stretch>
                  <a:fillRect l="-4152"/>
                </a:stretch>
              </a:blipFill>
            </p:spPr>
            <p:txBody>
              <a:bodyPr/>
              <a:lstStyle/>
              <a:p>
                <a:r>
                  <a:rPr lang="ja-JP" altLang="en-US">
                    <a:noFill/>
                  </a:rPr>
                  <a:t> </a:t>
                </a:r>
              </a:p>
            </p:txBody>
          </p:sp>
        </mc:Fallback>
      </mc:AlternateContent>
      <p:grpSp>
        <p:nvGrpSpPr>
          <p:cNvPr id="17" name="グループ化 16">
            <a:extLst>
              <a:ext uri="{FF2B5EF4-FFF2-40B4-BE49-F238E27FC236}">
                <a16:creationId xmlns:a16="http://schemas.microsoft.com/office/drawing/2014/main" id="{89863FAB-D82A-422B-87E7-ADA8FCD5A6D2}"/>
              </a:ext>
            </a:extLst>
          </p:cNvPr>
          <p:cNvGrpSpPr/>
          <p:nvPr/>
        </p:nvGrpSpPr>
        <p:grpSpPr>
          <a:xfrm>
            <a:off x="10151291" y="3831750"/>
            <a:ext cx="3009266" cy="1112202"/>
            <a:chOff x="9758259" y="3831750"/>
            <a:chExt cx="3009266" cy="1112202"/>
          </a:xfrm>
        </p:grpSpPr>
        <p:sp>
          <p:nvSpPr>
            <p:cNvPr id="64" name="角丸四角形吹き出し 6">
              <a:extLst>
                <a:ext uri="{FF2B5EF4-FFF2-40B4-BE49-F238E27FC236}">
                  <a16:creationId xmlns:a16="http://schemas.microsoft.com/office/drawing/2014/main" id="{A0D614E6-25E0-439B-8324-31E747247F3F}"/>
                </a:ext>
              </a:extLst>
            </p:cNvPr>
            <p:cNvSpPr/>
            <p:nvPr/>
          </p:nvSpPr>
          <p:spPr>
            <a:xfrm>
              <a:off x="9782323" y="3831750"/>
              <a:ext cx="2985202" cy="1104181"/>
            </a:xfrm>
            <a:prstGeom prst="wedgeRoundRectCallout">
              <a:avLst>
                <a:gd name="adj1" fmla="val -79894"/>
                <a:gd name="adj2" fmla="val -49088"/>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bg2"/>
                </a:solidFill>
              </a:endParaRPr>
            </a:p>
          </p:txBody>
        </p:sp>
        <p:sp>
          <p:nvSpPr>
            <p:cNvPr id="63" name="角丸四角形吹き出し 6">
              <a:extLst>
                <a:ext uri="{FF2B5EF4-FFF2-40B4-BE49-F238E27FC236}">
                  <a16:creationId xmlns:a16="http://schemas.microsoft.com/office/drawing/2014/main" id="{C79816CA-E853-4BCA-9E1E-9EA4D525EFBE}"/>
                </a:ext>
              </a:extLst>
            </p:cNvPr>
            <p:cNvSpPr/>
            <p:nvPr/>
          </p:nvSpPr>
          <p:spPr>
            <a:xfrm>
              <a:off x="9758259" y="3839771"/>
              <a:ext cx="2985202" cy="1104181"/>
            </a:xfrm>
            <a:prstGeom prst="wedgeRoundRectCallout">
              <a:avLst>
                <a:gd name="adj1" fmla="val -78281"/>
                <a:gd name="adj2" fmla="val 49706"/>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bg2"/>
                  </a:solidFill>
                </a:rPr>
                <a:t>F</a:t>
              </a:r>
              <a:r>
                <a:rPr kumimoji="1" lang="ja-JP" altLang="en-US" dirty="0">
                  <a:solidFill>
                    <a:schemeClr val="bg2"/>
                  </a:solidFill>
                </a:rPr>
                <a:t>検定</a:t>
              </a:r>
            </a:p>
          </p:txBody>
        </p:sp>
      </p:grpSp>
      <p:grpSp>
        <p:nvGrpSpPr>
          <p:cNvPr id="18" name="グループ化 17">
            <a:extLst>
              <a:ext uri="{FF2B5EF4-FFF2-40B4-BE49-F238E27FC236}">
                <a16:creationId xmlns:a16="http://schemas.microsoft.com/office/drawing/2014/main" id="{9D388AC3-4963-459A-8EE7-3B33EA739392}"/>
              </a:ext>
            </a:extLst>
          </p:cNvPr>
          <p:cNvGrpSpPr/>
          <p:nvPr/>
        </p:nvGrpSpPr>
        <p:grpSpPr>
          <a:xfrm>
            <a:off x="617232" y="7578814"/>
            <a:ext cx="18339600" cy="1301447"/>
            <a:chOff x="617232" y="5298546"/>
            <a:chExt cx="18339600" cy="1301447"/>
          </a:xfrm>
        </p:grpSpPr>
        <p:grpSp>
          <p:nvGrpSpPr>
            <p:cNvPr id="65" name="グループ化 64">
              <a:extLst>
                <a:ext uri="{FF2B5EF4-FFF2-40B4-BE49-F238E27FC236}">
                  <a16:creationId xmlns:a16="http://schemas.microsoft.com/office/drawing/2014/main" id="{47AA8D32-33FE-4BEA-A071-E369D0F66E80}"/>
                </a:ext>
              </a:extLst>
            </p:cNvPr>
            <p:cNvGrpSpPr/>
            <p:nvPr/>
          </p:nvGrpSpPr>
          <p:grpSpPr>
            <a:xfrm>
              <a:off x="617232" y="5642178"/>
              <a:ext cx="539448" cy="487368"/>
              <a:chOff x="400056" y="1061560"/>
              <a:chExt cx="269724" cy="243684"/>
            </a:xfrm>
          </p:grpSpPr>
          <p:sp>
            <p:nvSpPr>
              <p:cNvPr id="66" name="三角形 10">
                <a:extLst>
                  <a:ext uri="{FF2B5EF4-FFF2-40B4-BE49-F238E27FC236}">
                    <a16:creationId xmlns:a16="http://schemas.microsoft.com/office/drawing/2014/main" id="{C804D627-0B58-4E14-BFE1-044814E18FF8}"/>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67" name="三角形 11">
                <a:extLst>
                  <a:ext uri="{FF2B5EF4-FFF2-40B4-BE49-F238E27FC236}">
                    <a16:creationId xmlns:a16="http://schemas.microsoft.com/office/drawing/2014/main" id="{8C184901-8EB8-4593-9B5A-D0FFD6DFA938}"/>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68" name="テキスト プレースホルダー 27">
              <a:extLst>
                <a:ext uri="{FF2B5EF4-FFF2-40B4-BE49-F238E27FC236}">
                  <a16:creationId xmlns:a16="http://schemas.microsoft.com/office/drawing/2014/main" id="{85F8D510-329B-4528-90E5-24C71EFC6D2D}"/>
                </a:ext>
              </a:extLst>
            </p:cNvPr>
            <p:cNvSpPr txBox="1">
              <a:spLocks/>
            </p:cNvSpPr>
            <p:nvPr/>
          </p:nvSpPr>
          <p:spPr>
            <a:xfrm>
              <a:off x="1254486" y="5569553"/>
              <a:ext cx="16632960" cy="99783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1</a:t>
              </a:r>
              <a:r>
                <a:rPr lang="ja-JP" altLang="en-US" dirty="0"/>
                <a:t>群の</a:t>
              </a:r>
              <a:r>
                <a:rPr lang="en-US" altLang="ja-JP" dirty="0"/>
                <a:t>t</a:t>
              </a:r>
              <a:r>
                <a:rPr lang="ja-JP" altLang="en-US" dirty="0"/>
                <a:t>検定で用いる</a:t>
              </a:r>
              <a:r>
                <a:rPr lang="en-US" altLang="ja-JP" dirty="0"/>
                <a:t>t</a:t>
              </a:r>
              <a:r>
                <a:rPr lang="ja-JP" altLang="en-US" dirty="0"/>
                <a:t>値</a:t>
              </a:r>
              <a:endParaRPr lang="en-US" altLang="ja-JP" dirty="0"/>
            </a:p>
          </p:txBody>
        </p:sp>
        <mc:AlternateContent xmlns:mc="http://schemas.openxmlformats.org/markup-compatibility/2006" xmlns:a14="http://schemas.microsoft.com/office/drawing/2010/main">
          <mc:Choice Requires="a14">
            <p:sp>
              <p:nvSpPr>
                <p:cNvPr id="69" name="テキスト ボックス 68">
                  <a:extLst>
                    <a:ext uri="{FF2B5EF4-FFF2-40B4-BE49-F238E27FC236}">
                      <a16:creationId xmlns:a16="http://schemas.microsoft.com/office/drawing/2014/main" id="{E7ACA8A3-D548-4BA3-BCF9-0D775A8A0B25}"/>
                    </a:ext>
                  </a:extLst>
                </p:cNvPr>
                <p:cNvSpPr txBox="1"/>
                <p:nvPr/>
              </p:nvSpPr>
              <p:spPr>
                <a:xfrm>
                  <a:off x="6995381" y="5298546"/>
                  <a:ext cx="3371349" cy="130144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sz="4000" b="0" i="1" smtClean="0">
                            <a:latin typeface="Cambria Math" panose="02040503050406030204" pitchFamily="18" charset="0"/>
                          </a:rPr>
                          <m:t>=</m:t>
                        </m:r>
                        <m:f>
                          <m:fPr>
                            <m:ctrlPr>
                              <a:rPr kumimoji="1" lang="en-US" altLang="ja-JP" sz="4000" b="0" i="1" smtClean="0">
                                <a:latin typeface="Cambria Math" panose="02040503050406030204" pitchFamily="18" charset="0"/>
                              </a:rPr>
                            </m:ctrlPr>
                          </m:fPr>
                          <m:num>
                            <m:r>
                              <a:rPr kumimoji="1" lang="ja-JP" altLang="en-US" sz="4000" b="0" i="1" smtClean="0">
                                <a:latin typeface="Cambria Math" panose="02040503050406030204" pitchFamily="18" charset="0"/>
                              </a:rPr>
                              <m:t>𝜇</m:t>
                            </m:r>
                            <m:r>
                              <a:rPr kumimoji="1" lang="en-US" altLang="ja-JP" sz="4000" b="0" i="1" smtClean="0">
                                <a:latin typeface="Cambria Math" panose="02040503050406030204" pitchFamily="18" charset="0"/>
                              </a:rPr>
                              <m:t>−</m:t>
                            </m:r>
                            <m:sSub>
                              <m:sSubPr>
                                <m:ctrlPr>
                                  <a:rPr kumimoji="1" lang="en-US" altLang="ja-JP" sz="4000" b="0" i="1" smtClean="0">
                                    <a:latin typeface="Cambria Math" panose="02040503050406030204" pitchFamily="18" charset="0"/>
                                  </a:rPr>
                                </m:ctrlPr>
                              </m:sSubPr>
                              <m:e>
                                <m:r>
                                  <a:rPr kumimoji="1" lang="ja-JP" altLang="en-US" sz="4000" b="0" i="1" smtClean="0">
                                    <a:latin typeface="Cambria Math" panose="02040503050406030204" pitchFamily="18" charset="0"/>
                                  </a:rPr>
                                  <m:t>𝜇</m:t>
                                </m:r>
                              </m:e>
                              <m:sub>
                                <m:r>
                                  <a:rPr kumimoji="1" lang="en-US" altLang="ja-JP" sz="4000" b="0" i="1" smtClean="0">
                                    <a:latin typeface="Cambria Math" panose="02040503050406030204" pitchFamily="18" charset="0"/>
                                  </a:rPr>
                                  <m:t>0</m:t>
                                </m:r>
                              </m:sub>
                            </m:sSub>
                          </m:num>
                          <m:den>
                            <m:f>
                              <m:fPr>
                                <m:type m:val="lin"/>
                                <m:ctrlPr>
                                  <a:rPr kumimoji="1" lang="ja-JP" altLang="en-US" sz="4000" b="0" i="1" smtClean="0">
                                    <a:latin typeface="Cambria Math" panose="02040503050406030204" pitchFamily="18" charset="0"/>
                                  </a:rPr>
                                </m:ctrlPr>
                              </m:fPr>
                              <m:num>
                                <m:r>
                                  <a:rPr kumimoji="1" lang="ja-JP" altLang="en-US" sz="4000" b="0" i="1" smtClean="0">
                                    <a:latin typeface="Cambria Math" panose="02040503050406030204" pitchFamily="18" charset="0"/>
                                  </a:rPr>
                                  <m:t>𝜎</m:t>
                                </m:r>
                              </m:num>
                              <m:den>
                                <m:rad>
                                  <m:radPr>
                                    <m:degHide m:val="on"/>
                                    <m:ctrlPr>
                                      <a:rPr kumimoji="1" lang="ja-JP" altLang="en-US" sz="4000" b="0" i="1" smtClean="0">
                                        <a:latin typeface="Cambria Math" panose="02040503050406030204" pitchFamily="18" charset="0"/>
                                      </a:rPr>
                                    </m:ctrlPr>
                                  </m:radPr>
                                  <m:deg/>
                                  <m:e>
                                    <m:r>
                                      <a:rPr kumimoji="1" lang="en-US" altLang="ja-JP" sz="4000" b="0" i="1" smtClean="0">
                                        <a:latin typeface="Cambria Math" panose="02040503050406030204" pitchFamily="18" charset="0"/>
                                      </a:rPr>
                                      <m:t>𝑁</m:t>
                                    </m:r>
                                  </m:e>
                                </m:rad>
                              </m:den>
                            </m:f>
                          </m:den>
                        </m:f>
                      </m:oMath>
                    </m:oMathPara>
                  </a14:m>
                  <a:endParaRPr kumimoji="1" lang="ja-JP" altLang="en-US" sz="4000" dirty="0"/>
                </a:p>
              </p:txBody>
            </p:sp>
          </mc:Choice>
          <mc:Fallback xmlns="">
            <p:sp>
              <p:nvSpPr>
                <p:cNvPr id="69" name="テキスト ボックス 68">
                  <a:extLst>
                    <a:ext uri="{FF2B5EF4-FFF2-40B4-BE49-F238E27FC236}">
                      <a16:creationId xmlns:a16="http://schemas.microsoft.com/office/drawing/2014/main" id="{E7ACA8A3-D548-4BA3-BCF9-0D775A8A0B25}"/>
                    </a:ext>
                  </a:extLst>
                </p:cNvPr>
                <p:cNvSpPr txBox="1">
                  <a:spLocks noRot="1" noChangeAspect="1" noMove="1" noResize="1" noEditPoints="1" noAdjustHandles="1" noChangeArrowheads="1" noChangeShapeType="1" noTextEdit="1"/>
                </p:cNvSpPr>
                <p:nvPr/>
              </p:nvSpPr>
              <p:spPr>
                <a:xfrm>
                  <a:off x="6995381" y="5298546"/>
                  <a:ext cx="3371349" cy="1301447"/>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0" name="テキスト ボックス 69">
                  <a:extLst>
                    <a:ext uri="{FF2B5EF4-FFF2-40B4-BE49-F238E27FC236}">
                      <a16:creationId xmlns:a16="http://schemas.microsoft.com/office/drawing/2014/main" id="{477157A3-6F4D-44BD-A3B4-044093F27E6B}"/>
                    </a:ext>
                  </a:extLst>
                </p:cNvPr>
                <p:cNvSpPr txBox="1"/>
                <p:nvPr/>
              </p:nvSpPr>
              <p:spPr>
                <a:xfrm>
                  <a:off x="10123898" y="5391366"/>
                  <a:ext cx="4750970" cy="954107"/>
                </a:xfrm>
                <a:prstGeom prst="rect">
                  <a:avLst/>
                </a:prstGeom>
                <a:noFill/>
              </p:spPr>
              <p:txBody>
                <a:bodyPr wrap="square" rtlCol="0">
                  <a:spAutoFit/>
                </a:bodyPr>
                <a:lstStyle/>
                <a:p>
                  <a14:m>
                    <m:oMath xmlns:m="http://schemas.openxmlformats.org/officeDocument/2006/math">
                      <m:r>
                        <a:rPr kumimoji="1" lang="ja-JP" altLang="en-US" sz="2800" i="1" smtClean="0">
                          <a:latin typeface="Cambria Math" panose="02040503050406030204" pitchFamily="18" charset="0"/>
                        </a:rPr>
                        <m:t>𝜇</m:t>
                      </m:r>
                      <m:r>
                        <a:rPr lang="ja-JP" altLang="en-US" sz="2800" i="1">
                          <a:latin typeface="Cambria Math" panose="02040503050406030204" pitchFamily="18" charset="0"/>
                        </a:rPr>
                        <m:t>：</m:t>
                      </m:r>
                    </m:oMath>
                  </a14:m>
                  <a:r>
                    <a:rPr kumimoji="1" lang="ja-JP" altLang="en-US" sz="2800" dirty="0"/>
                    <a:t>データの平均値</a:t>
                  </a:r>
                  <a:endParaRPr kumimoji="1" lang="en-US" altLang="ja-JP" sz="2800" dirty="0"/>
                </a:p>
                <a:p>
                  <a14:m>
                    <m:oMath xmlns:m="http://schemas.openxmlformats.org/officeDocument/2006/math">
                      <m:sSub>
                        <m:sSubPr>
                          <m:ctrlPr>
                            <a:rPr kumimoji="1" lang="en-US" altLang="ja-JP" sz="2800" i="1" smtClean="0">
                              <a:latin typeface="Cambria Math" panose="02040503050406030204" pitchFamily="18" charset="0"/>
                            </a:rPr>
                          </m:ctrlPr>
                        </m:sSubPr>
                        <m:e>
                          <m:r>
                            <a:rPr kumimoji="1" lang="ja-JP" altLang="en-US" sz="2800" i="1" smtClean="0">
                              <a:latin typeface="Cambria Math" panose="02040503050406030204" pitchFamily="18" charset="0"/>
                            </a:rPr>
                            <m:t>𝜇</m:t>
                          </m:r>
                        </m:e>
                        <m:sub>
                          <m:r>
                            <a:rPr kumimoji="1" lang="en-US" altLang="ja-JP" sz="2800" b="0" i="1" smtClean="0">
                              <a:latin typeface="Cambria Math" panose="02040503050406030204" pitchFamily="18" charset="0"/>
                            </a:rPr>
                            <m:t>0</m:t>
                          </m:r>
                        </m:sub>
                      </m:sSub>
                      <m:r>
                        <a:rPr lang="ja-JP" altLang="en-US" sz="2800" i="1">
                          <a:latin typeface="Cambria Math" panose="02040503050406030204" pitchFamily="18" charset="0"/>
                        </a:rPr>
                        <m:t>：</m:t>
                      </m:r>
                    </m:oMath>
                  </a14:m>
                  <a:r>
                    <a:rPr kumimoji="1" lang="ja-JP" altLang="en-US" sz="2800" dirty="0"/>
                    <a:t>基準となる平均値</a:t>
                  </a:r>
                </a:p>
              </p:txBody>
            </p:sp>
          </mc:Choice>
          <mc:Fallback xmlns="">
            <p:sp>
              <p:nvSpPr>
                <p:cNvPr id="70" name="テキスト ボックス 69">
                  <a:extLst>
                    <a:ext uri="{FF2B5EF4-FFF2-40B4-BE49-F238E27FC236}">
                      <a16:creationId xmlns:a16="http://schemas.microsoft.com/office/drawing/2014/main" id="{477157A3-6F4D-44BD-A3B4-044093F27E6B}"/>
                    </a:ext>
                  </a:extLst>
                </p:cNvPr>
                <p:cNvSpPr txBox="1">
                  <a:spLocks noRot="1" noChangeAspect="1" noMove="1" noResize="1" noEditPoints="1" noAdjustHandles="1" noChangeArrowheads="1" noChangeShapeType="1" noTextEdit="1"/>
                </p:cNvSpPr>
                <p:nvPr/>
              </p:nvSpPr>
              <p:spPr>
                <a:xfrm>
                  <a:off x="10123898" y="5391366"/>
                  <a:ext cx="4750970" cy="954107"/>
                </a:xfrm>
                <a:prstGeom prst="rect">
                  <a:avLst/>
                </a:prstGeom>
                <a:blipFill>
                  <a:blip r:embed="rId5"/>
                  <a:stretch>
                    <a:fillRect l="-642" t="-5096" b="-17834"/>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1" name="テキスト ボックス 70">
                  <a:extLst>
                    <a:ext uri="{FF2B5EF4-FFF2-40B4-BE49-F238E27FC236}">
                      <a16:creationId xmlns:a16="http://schemas.microsoft.com/office/drawing/2014/main" id="{678227D8-9716-4D18-BA9D-132259A6A1EB}"/>
                    </a:ext>
                  </a:extLst>
                </p:cNvPr>
                <p:cNvSpPr txBox="1"/>
                <p:nvPr/>
              </p:nvSpPr>
              <p:spPr>
                <a:xfrm>
                  <a:off x="14205862" y="5383345"/>
                  <a:ext cx="4750970" cy="954107"/>
                </a:xfrm>
                <a:prstGeom prst="rect">
                  <a:avLst/>
                </a:prstGeom>
                <a:noFill/>
              </p:spPr>
              <p:txBody>
                <a:bodyPr wrap="square" rtlCol="0">
                  <a:spAutoFit/>
                </a:bodyPr>
                <a:lstStyle/>
                <a:p>
                  <a14:m>
                    <m:oMath xmlns:m="http://schemas.openxmlformats.org/officeDocument/2006/math">
                      <m:r>
                        <a:rPr lang="ja-JP" altLang="en-US" sz="2800" i="1" smtClean="0">
                          <a:latin typeface="Cambria Math" panose="02040503050406030204" pitchFamily="18" charset="0"/>
                        </a:rPr>
                        <m:t>𝜎</m:t>
                      </m:r>
                      <m:r>
                        <a:rPr lang="ja-JP" altLang="en-US" sz="2800" i="1">
                          <a:latin typeface="Cambria Math" panose="02040503050406030204" pitchFamily="18" charset="0"/>
                        </a:rPr>
                        <m:t>：</m:t>
                      </m:r>
                    </m:oMath>
                  </a14:m>
                  <a:r>
                    <a:rPr kumimoji="1" lang="ja-JP" altLang="en-US" sz="2800" dirty="0"/>
                    <a:t>データの標準偏差</a:t>
                  </a:r>
                  <a:endParaRPr kumimoji="1" lang="en-US" altLang="ja-JP" sz="2800" dirty="0"/>
                </a:p>
                <a:p>
                  <a14:m>
                    <m:oMath xmlns:m="http://schemas.openxmlformats.org/officeDocument/2006/math">
                      <m:r>
                        <a:rPr lang="en-US" altLang="ja-JP" sz="2800" b="0" i="1" smtClean="0">
                          <a:latin typeface="Cambria Math" panose="02040503050406030204" pitchFamily="18" charset="0"/>
                        </a:rPr>
                        <m:t>𝑁</m:t>
                      </m:r>
                      <m:r>
                        <a:rPr lang="ja-JP" altLang="en-US" sz="2800" i="1">
                          <a:latin typeface="Cambria Math" panose="02040503050406030204" pitchFamily="18" charset="0"/>
                        </a:rPr>
                        <m:t>：</m:t>
                      </m:r>
                    </m:oMath>
                  </a14:m>
                  <a:r>
                    <a:rPr kumimoji="1" lang="ja-JP" altLang="en-US" sz="2800" dirty="0"/>
                    <a:t>データ数</a:t>
                  </a:r>
                </a:p>
              </p:txBody>
            </p:sp>
          </mc:Choice>
          <mc:Fallback xmlns="">
            <p:sp>
              <p:nvSpPr>
                <p:cNvPr id="71" name="テキスト ボックス 70">
                  <a:extLst>
                    <a:ext uri="{FF2B5EF4-FFF2-40B4-BE49-F238E27FC236}">
                      <a16:creationId xmlns:a16="http://schemas.microsoft.com/office/drawing/2014/main" id="{678227D8-9716-4D18-BA9D-132259A6A1EB}"/>
                    </a:ext>
                  </a:extLst>
                </p:cNvPr>
                <p:cNvSpPr txBox="1">
                  <a:spLocks noRot="1" noChangeAspect="1" noMove="1" noResize="1" noEditPoints="1" noAdjustHandles="1" noChangeArrowheads="1" noChangeShapeType="1" noTextEdit="1"/>
                </p:cNvSpPr>
                <p:nvPr/>
              </p:nvSpPr>
              <p:spPr>
                <a:xfrm>
                  <a:off x="14205862" y="5383345"/>
                  <a:ext cx="4750970" cy="954107"/>
                </a:xfrm>
                <a:prstGeom prst="rect">
                  <a:avLst/>
                </a:prstGeom>
                <a:blipFill>
                  <a:blip r:embed="rId6"/>
                  <a:stretch>
                    <a:fillRect l="-641" t="-5096" b="-17834"/>
                  </a:stretch>
                </a:blipFill>
              </p:spPr>
              <p:txBody>
                <a:bodyPr/>
                <a:lstStyle/>
                <a:p>
                  <a:r>
                    <a:rPr lang="ja-JP" altLang="en-US">
                      <a:noFill/>
                    </a:rPr>
                    <a:t> </a:t>
                  </a:r>
                </a:p>
              </p:txBody>
            </p:sp>
          </mc:Fallback>
        </mc:AlternateContent>
      </p:grpSp>
      <p:grpSp>
        <p:nvGrpSpPr>
          <p:cNvPr id="72" name="グループ化 71">
            <a:extLst>
              <a:ext uri="{FF2B5EF4-FFF2-40B4-BE49-F238E27FC236}">
                <a16:creationId xmlns:a16="http://schemas.microsoft.com/office/drawing/2014/main" id="{E9D8AFAF-E2D5-4468-9035-0096156D9101}"/>
              </a:ext>
            </a:extLst>
          </p:cNvPr>
          <p:cNvGrpSpPr/>
          <p:nvPr/>
        </p:nvGrpSpPr>
        <p:grpSpPr>
          <a:xfrm>
            <a:off x="617232" y="5660668"/>
            <a:ext cx="539448" cy="487368"/>
            <a:chOff x="400056" y="1061560"/>
            <a:chExt cx="269724" cy="243684"/>
          </a:xfrm>
        </p:grpSpPr>
        <p:sp>
          <p:nvSpPr>
            <p:cNvPr id="73" name="三角形 10">
              <a:extLst>
                <a:ext uri="{FF2B5EF4-FFF2-40B4-BE49-F238E27FC236}">
                  <a16:creationId xmlns:a16="http://schemas.microsoft.com/office/drawing/2014/main" id="{A4A7EA79-DC11-4899-ADB9-597258272072}"/>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74" name="三角形 11">
              <a:extLst>
                <a:ext uri="{FF2B5EF4-FFF2-40B4-BE49-F238E27FC236}">
                  <a16:creationId xmlns:a16="http://schemas.microsoft.com/office/drawing/2014/main" id="{64C3E05E-0D1D-4018-9100-323D9099FF16}"/>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75" name="テキスト プレースホルダー 27">
            <a:extLst>
              <a:ext uri="{FF2B5EF4-FFF2-40B4-BE49-F238E27FC236}">
                <a16:creationId xmlns:a16="http://schemas.microsoft.com/office/drawing/2014/main" id="{6433910E-85AD-49D8-AF3D-A242CE08A12E}"/>
              </a:ext>
            </a:extLst>
          </p:cNvPr>
          <p:cNvSpPr txBox="1">
            <a:spLocks/>
          </p:cNvSpPr>
          <p:nvPr/>
        </p:nvSpPr>
        <p:spPr>
          <a:xfrm>
            <a:off x="1254486" y="5588043"/>
            <a:ext cx="16632960" cy="99783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dirty="0"/>
              <a:t>検定は帰無仮説が異なっていることを立証できる</a:t>
            </a:r>
            <a:endParaRPr lang="en-US" altLang="ja-JP" dirty="0"/>
          </a:p>
        </p:txBody>
      </p:sp>
      <p:sp>
        <p:nvSpPr>
          <p:cNvPr id="76" name="角丸四角形吹き出し 6">
            <a:extLst>
              <a:ext uri="{FF2B5EF4-FFF2-40B4-BE49-F238E27FC236}">
                <a16:creationId xmlns:a16="http://schemas.microsoft.com/office/drawing/2014/main" id="{6C78627D-ECBA-4F1F-A5EF-81072891B9AB}"/>
              </a:ext>
            </a:extLst>
          </p:cNvPr>
          <p:cNvSpPr/>
          <p:nvPr/>
        </p:nvSpPr>
        <p:spPr>
          <a:xfrm>
            <a:off x="5069608" y="6341278"/>
            <a:ext cx="4750969" cy="1104181"/>
          </a:xfrm>
          <a:prstGeom prst="wedgeRoundRectCallout">
            <a:avLst>
              <a:gd name="adj1" fmla="val -66996"/>
              <a:gd name="adj2" fmla="val -62163"/>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2"/>
                </a:solidFill>
              </a:rPr>
              <a:t>立証したい仮説の逆</a:t>
            </a:r>
          </a:p>
        </p:txBody>
      </p:sp>
      <p:grpSp>
        <p:nvGrpSpPr>
          <p:cNvPr id="77" name="グループ化 76">
            <a:extLst>
              <a:ext uri="{FF2B5EF4-FFF2-40B4-BE49-F238E27FC236}">
                <a16:creationId xmlns:a16="http://schemas.microsoft.com/office/drawing/2014/main" id="{D8987127-8D79-402A-A161-6225D3315976}"/>
              </a:ext>
            </a:extLst>
          </p:cNvPr>
          <p:cNvGrpSpPr/>
          <p:nvPr/>
        </p:nvGrpSpPr>
        <p:grpSpPr>
          <a:xfrm>
            <a:off x="571049" y="9292494"/>
            <a:ext cx="539448" cy="487368"/>
            <a:chOff x="400056" y="1061560"/>
            <a:chExt cx="269724" cy="243684"/>
          </a:xfrm>
        </p:grpSpPr>
        <p:sp>
          <p:nvSpPr>
            <p:cNvPr id="78" name="三角形 10">
              <a:extLst>
                <a:ext uri="{FF2B5EF4-FFF2-40B4-BE49-F238E27FC236}">
                  <a16:creationId xmlns:a16="http://schemas.microsoft.com/office/drawing/2014/main" id="{CA68466A-A078-4DDF-8B1D-3527D8EE8185}"/>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79" name="三角形 11">
              <a:extLst>
                <a:ext uri="{FF2B5EF4-FFF2-40B4-BE49-F238E27FC236}">
                  <a16:creationId xmlns:a16="http://schemas.microsoft.com/office/drawing/2014/main" id="{7BC9E0D5-95FD-4D89-BDC7-B6F1C35524B0}"/>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mc:AlternateContent xmlns:mc="http://schemas.openxmlformats.org/markup-compatibility/2006" xmlns:a14="http://schemas.microsoft.com/office/drawing/2010/main">
        <mc:Choice Requires="a14">
          <p:sp>
            <p:nvSpPr>
              <p:cNvPr id="80" name="テキスト プレースホルダー 27">
                <a:extLst>
                  <a:ext uri="{FF2B5EF4-FFF2-40B4-BE49-F238E27FC236}">
                    <a16:creationId xmlns:a16="http://schemas.microsoft.com/office/drawing/2014/main" id="{FE1D963F-85EA-43A7-A649-1F9AC6AE0643}"/>
                  </a:ext>
                </a:extLst>
              </p:cNvPr>
              <p:cNvSpPr txBox="1">
                <a:spLocks/>
              </p:cNvSpPr>
              <p:nvPr/>
            </p:nvSpPr>
            <p:spPr>
              <a:xfrm>
                <a:off x="1208303" y="9219869"/>
                <a:ext cx="16632960" cy="99783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t</a:t>
                </a:r>
                <a:r>
                  <a:rPr lang="ja-JP" altLang="en-US" dirty="0"/>
                  <a:t>値を</a:t>
                </a:r>
                <a:r>
                  <a:rPr lang="en-US" altLang="ja-JP" dirty="0"/>
                  <a:t>p</a:t>
                </a:r>
                <a:r>
                  <a:rPr lang="ja-JP" altLang="en-US" dirty="0"/>
                  <a:t>値に変換</a:t>
                </a:r>
                <a:r>
                  <a:rPr lang="en-US" altLang="ja-JP" dirty="0"/>
                  <a:t>(p</a:t>
                </a:r>
                <a:r>
                  <a:rPr lang="ja-JP" altLang="en-US" dirty="0"/>
                  <a:t>値</a:t>
                </a:r>
                <a14:m>
                  <m:oMath xmlns:m="http://schemas.openxmlformats.org/officeDocument/2006/math">
                    <m:r>
                      <a:rPr lang="en-US" altLang="ja-JP" b="0" i="1" smtClean="0">
                        <a:latin typeface="Cambria Math" panose="02040503050406030204" pitchFamily="18" charset="0"/>
                      </a:rPr>
                      <m:t>&lt;0.05  </m:t>
                    </m:r>
                    <m:r>
                      <m:rPr>
                        <m:sty m:val="p"/>
                      </m:rPr>
                      <a:rPr lang="en-US" altLang="ja-JP" b="0" i="0" smtClean="0">
                        <a:latin typeface="Cambria Math" panose="02040503050406030204" pitchFamily="18" charset="0"/>
                      </a:rPr>
                      <m:t>or</m:t>
                    </m:r>
                    <m:r>
                      <a:rPr lang="en-US" altLang="ja-JP" b="0" i="0" smtClean="0">
                        <a:latin typeface="Cambria Math" panose="02040503050406030204" pitchFamily="18" charset="0"/>
                      </a:rPr>
                      <m:t> </m:t>
                    </m:r>
                    <m:r>
                      <a:rPr lang="en-US" altLang="ja-JP" b="0" i="1" smtClean="0">
                        <a:latin typeface="Cambria Math" panose="02040503050406030204" pitchFamily="18" charset="0"/>
                      </a:rPr>
                      <m:t>0.01</m:t>
                    </m:r>
                  </m:oMath>
                </a14:m>
                <a:r>
                  <a:rPr lang="ja-JP" altLang="en-US" dirty="0"/>
                  <a:t>ならば</a:t>
                </a:r>
                <a:r>
                  <a:rPr lang="ja-JP" altLang="en-US" dirty="0">
                    <a:solidFill>
                      <a:schemeClr val="accent2"/>
                    </a:solidFill>
                  </a:rPr>
                  <a:t>有意差がある</a:t>
                </a:r>
                <a:r>
                  <a:rPr lang="en-US" altLang="ja-JP" dirty="0"/>
                  <a:t>)</a:t>
                </a:r>
              </a:p>
            </p:txBody>
          </p:sp>
        </mc:Choice>
        <mc:Fallback xmlns="">
          <p:sp>
            <p:nvSpPr>
              <p:cNvPr id="80" name="テキスト プレースホルダー 27">
                <a:extLst>
                  <a:ext uri="{FF2B5EF4-FFF2-40B4-BE49-F238E27FC236}">
                    <a16:creationId xmlns:a16="http://schemas.microsoft.com/office/drawing/2014/main" id="{FE1D963F-85EA-43A7-A649-1F9AC6AE0643}"/>
                  </a:ext>
                </a:extLst>
              </p:cNvPr>
              <p:cNvSpPr txBox="1">
                <a:spLocks noRot="1" noChangeAspect="1" noMove="1" noResize="1" noEditPoints="1" noAdjustHandles="1" noChangeArrowheads="1" noChangeShapeType="1" noTextEdit="1"/>
              </p:cNvSpPr>
              <p:nvPr/>
            </p:nvSpPr>
            <p:spPr>
              <a:xfrm>
                <a:off x="1208303" y="9219869"/>
                <a:ext cx="16632960" cy="997834"/>
              </a:xfrm>
              <a:prstGeom prst="rect">
                <a:avLst/>
              </a:prstGeom>
              <a:blipFill>
                <a:blip r:embed="rId7"/>
                <a:stretch>
                  <a:fillRect l="-1649" t="-22561" b="-10976"/>
                </a:stretch>
              </a:blipFill>
            </p:spPr>
            <p:txBody>
              <a:bodyPr/>
              <a:lstStyle/>
              <a:p>
                <a:r>
                  <a:rPr lang="ja-JP" altLang="en-US">
                    <a:noFill/>
                  </a:rPr>
                  <a:t> </a:t>
                </a:r>
              </a:p>
            </p:txBody>
          </p:sp>
        </mc:Fallback>
      </mc:AlternateContent>
      <p:sp>
        <p:nvSpPr>
          <p:cNvPr id="81" name="三角形 31">
            <a:extLst>
              <a:ext uri="{FF2B5EF4-FFF2-40B4-BE49-F238E27FC236}">
                <a16:creationId xmlns:a16="http://schemas.microsoft.com/office/drawing/2014/main" id="{72FC2108-B7B0-452E-AE0A-D96CED49A17D}"/>
              </a:ext>
            </a:extLst>
          </p:cNvPr>
          <p:cNvSpPr/>
          <p:nvPr/>
        </p:nvSpPr>
        <p:spPr>
          <a:xfrm rot="5400000">
            <a:off x="1076238" y="10146930"/>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82" name="テキスト プレースホルダー 29">
            <a:extLst>
              <a:ext uri="{FF2B5EF4-FFF2-40B4-BE49-F238E27FC236}">
                <a16:creationId xmlns:a16="http://schemas.microsoft.com/office/drawing/2014/main" id="{74D4ABE3-E41E-43DB-AE14-7D2CB62C9AC3}"/>
              </a:ext>
            </a:extLst>
          </p:cNvPr>
          <p:cNvSpPr txBox="1">
            <a:spLocks/>
          </p:cNvSpPr>
          <p:nvPr/>
        </p:nvSpPr>
        <p:spPr>
          <a:xfrm>
            <a:off x="1568600" y="10031656"/>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t</a:t>
            </a:r>
            <a:r>
              <a:rPr lang="ja-JP" altLang="en-US" dirty="0"/>
              <a:t>値が大きいほど</a:t>
            </a:r>
            <a:r>
              <a:rPr lang="en-US" altLang="ja-JP" dirty="0"/>
              <a:t>p</a:t>
            </a:r>
            <a:r>
              <a:rPr lang="ja-JP" altLang="en-US" dirty="0"/>
              <a:t>値は小さくなる</a:t>
            </a:r>
          </a:p>
        </p:txBody>
      </p:sp>
      <p:graphicFrame>
        <p:nvGraphicFramePr>
          <p:cNvPr id="85" name="グラフ 84">
            <a:extLst>
              <a:ext uri="{FF2B5EF4-FFF2-40B4-BE49-F238E27FC236}">
                <a16:creationId xmlns:a16="http://schemas.microsoft.com/office/drawing/2014/main" id="{4659430C-9A99-44E8-A124-E978ACDDF62D}"/>
              </a:ext>
            </a:extLst>
          </p:cNvPr>
          <p:cNvGraphicFramePr>
            <a:graphicFrameLocks/>
          </p:cNvGraphicFramePr>
          <p:nvPr>
            <p:extLst>
              <p:ext uri="{D42A27DB-BD31-4B8C-83A1-F6EECF244321}">
                <p14:modId xmlns:p14="http://schemas.microsoft.com/office/powerpoint/2010/main" val="1398975709"/>
              </p:ext>
            </p:extLst>
          </p:nvPr>
        </p:nvGraphicFramePr>
        <p:xfrm>
          <a:off x="11660907" y="9747489"/>
          <a:ext cx="7448710" cy="3468316"/>
        </p:xfrm>
        <a:graphic>
          <a:graphicData uri="http://schemas.openxmlformats.org/drawingml/2006/chart">
            <c:chart xmlns:c="http://schemas.openxmlformats.org/drawingml/2006/chart" xmlns:r="http://schemas.openxmlformats.org/officeDocument/2006/relationships" r:id="rId8"/>
          </a:graphicData>
        </a:graphic>
      </p:graphicFrame>
      <p:grpSp>
        <p:nvGrpSpPr>
          <p:cNvPr id="86" name="グループ化 85">
            <a:extLst>
              <a:ext uri="{FF2B5EF4-FFF2-40B4-BE49-F238E27FC236}">
                <a16:creationId xmlns:a16="http://schemas.microsoft.com/office/drawing/2014/main" id="{ECA339E4-A18F-428D-9A21-15C2F327E22E}"/>
              </a:ext>
            </a:extLst>
          </p:cNvPr>
          <p:cNvGrpSpPr/>
          <p:nvPr/>
        </p:nvGrpSpPr>
        <p:grpSpPr>
          <a:xfrm>
            <a:off x="10655524" y="10436256"/>
            <a:ext cx="2793097" cy="1404822"/>
            <a:chOff x="9758259" y="3831750"/>
            <a:chExt cx="3009266" cy="1112202"/>
          </a:xfrm>
        </p:grpSpPr>
        <p:sp>
          <p:nvSpPr>
            <p:cNvPr id="87" name="角丸四角形吹き出し 6">
              <a:extLst>
                <a:ext uri="{FF2B5EF4-FFF2-40B4-BE49-F238E27FC236}">
                  <a16:creationId xmlns:a16="http://schemas.microsoft.com/office/drawing/2014/main" id="{CEC416A7-9FF1-4150-B2F8-706027A56A1D}"/>
                </a:ext>
              </a:extLst>
            </p:cNvPr>
            <p:cNvSpPr/>
            <p:nvPr/>
          </p:nvSpPr>
          <p:spPr>
            <a:xfrm>
              <a:off x="9782323" y="3831750"/>
              <a:ext cx="2985202" cy="1104181"/>
            </a:xfrm>
            <a:prstGeom prst="wedgeRoundRectCallout">
              <a:avLst>
                <a:gd name="adj1" fmla="val 170198"/>
                <a:gd name="adj2" fmla="val 121300"/>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bg2"/>
                </a:solidFill>
              </a:endParaRPr>
            </a:p>
          </p:txBody>
        </p:sp>
        <p:sp>
          <p:nvSpPr>
            <p:cNvPr id="88" name="角丸四角形吹き出し 6">
              <a:extLst>
                <a:ext uri="{FF2B5EF4-FFF2-40B4-BE49-F238E27FC236}">
                  <a16:creationId xmlns:a16="http://schemas.microsoft.com/office/drawing/2014/main" id="{3EA12ED9-A253-4A06-BE8D-FE8DA1BB0289}"/>
                </a:ext>
              </a:extLst>
            </p:cNvPr>
            <p:cNvSpPr/>
            <p:nvPr/>
          </p:nvSpPr>
          <p:spPr>
            <a:xfrm>
              <a:off x="9758259" y="3839771"/>
              <a:ext cx="2985202" cy="1104181"/>
            </a:xfrm>
            <a:prstGeom prst="wedgeRoundRectCallout">
              <a:avLst>
                <a:gd name="adj1" fmla="val -15004"/>
                <a:gd name="adj2" fmla="val 31072"/>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2"/>
                  </a:solidFill>
                </a:rPr>
                <a:t>これらの</a:t>
              </a:r>
              <a:endParaRPr lang="en-US" altLang="ja-JP" dirty="0">
                <a:solidFill>
                  <a:schemeClr val="bg2"/>
                </a:solidFill>
              </a:endParaRPr>
            </a:p>
            <a:p>
              <a:pPr algn="ctr"/>
              <a:r>
                <a:rPr lang="ja-JP" altLang="en-US" dirty="0">
                  <a:solidFill>
                    <a:schemeClr val="bg2"/>
                  </a:solidFill>
                </a:rPr>
                <a:t>面積が</a:t>
              </a:r>
              <a:r>
                <a:rPr lang="en-US" altLang="ja-JP" dirty="0">
                  <a:solidFill>
                    <a:schemeClr val="bg2"/>
                  </a:solidFill>
                </a:rPr>
                <a:t>p</a:t>
              </a:r>
              <a:r>
                <a:rPr lang="ja-JP" altLang="en-US" dirty="0">
                  <a:solidFill>
                    <a:schemeClr val="bg2"/>
                  </a:solidFill>
                </a:rPr>
                <a:t>値</a:t>
              </a:r>
              <a:endParaRPr kumimoji="1" lang="ja-JP" altLang="en-US" dirty="0">
                <a:solidFill>
                  <a:schemeClr val="bg2"/>
                </a:solidFill>
              </a:endParaRPr>
            </a:p>
          </p:txBody>
        </p:sp>
      </p:grpSp>
      <p:sp>
        <p:nvSpPr>
          <p:cNvPr id="20" name="二等辺三角形 19">
            <a:extLst>
              <a:ext uri="{FF2B5EF4-FFF2-40B4-BE49-F238E27FC236}">
                <a16:creationId xmlns:a16="http://schemas.microsoft.com/office/drawing/2014/main" id="{2FF63A9F-7A66-4C51-89A7-3AA90FF58EEF}"/>
              </a:ext>
            </a:extLst>
          </p:cNvPr>
          <p:cNvSpPr/>
          <p:nvPr/>
        </p:nvSpPr>
        <p:spPr>
          <a:xfrm rot="19906755" flipV="1">
            <a:off x="12851678" y="11610804"/>
            <a:ext cx="358661" cy="1381511"/>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2"/>
              </a:solidFill>
            </a:endParaRPr>
          </a:p>
        </p:txBody>
      </p:sp>
      <p:cxnSp>
        <p:nvCxnSpPr>
          <p:cNvPr id="22" name="直線矢印コネクタ 21">
            <a:extLst>
              <a:ext uri="{FF2B5EF4-FFF2-40B4-BE49-F238E27FC236}">
                <a16:creationId xmlns:a16="http://schemas.microsoft.com/office/drawing/2014/main" id="{828909BD-ACDB-4AA9-9F73-33FAA0BB6388}"/>
              </a:ext>
            </a:extLst>
          </p:cNvPr>
          <p:cNvCxnSpPr>
            <a:cxnSpLocks/>
          </p:cNvCxnSpPr>
          <p:nvPr/>
        </p:nvCxnSpPr>
        <p:spPr>
          <a:xfrm>
            <a:off x="16923790" y="11640306"/>
            <a:ext cx="0" cy="96420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89" name="テキスト ボックス 88">
            <a:extLst>
              <a:ext uri="{FF2B5EF4-FFF2-40B4-BE49-F238E27FC236}">
                <a16:creationId xmlns:a16="http://schemas.microsoft.com/office/drawing/2014/main" id="{56B4F9A4-17D1-4B27-AE3A-FBF040F6793A}"/>
              </a:ext>
            </a:extLst>
          </p:cNvPr>
          <p:cNvSpPr txBox="1"/>
          <p:nvPr/>
        </p:nvSpPr>
        <p:spPr>
          <a:xfrm>
            <a:off x="16453813" y="11104162"/>
            <a:ext cx="939954" cy="523220"/>
          </a:xfrm>
          <a:prstGeom prst="rect">
            <a:avLst/>
          </a:prstGeom>
          <a:noFill/>
        </p:spPr>
        <p:txBody>
          <a:bodyPr wrap="square" rtlCol="0">
            <a:spAutoFit/>
          </a:bodyPr>
          <a:lstStyle/>
          <a:p>
            <a:pPr algn="ctr"/>
            <a:r>
              <a:rPr lang="en-US" altLang="ja-JP" sz="2800" dirty="0"/>
              <a:t>t</a:t>
            </a:r>
            <a:r>
              <a:rPr lang="ja-JP" altLang="en-US" sz="2800" dirty="0"/>
              <a:t>値</a:t>
            </a:r>
            <a:endParaRPr kumimoji="1" lang="ja-JP" altLang="en-US" sz="2800" dirty="0"/>
          </a:p>
        </p:txBody>
      </p:sp>
      <p:grpSp>
        <p:nvGrpSpPr>
          <p:cNvPr id="90" name="グループ化 89">
            <a:extLst>
              <a:ext uri="{FF2B5EF4-FFF2-40B4-BE49-F238E27FC236}">
                <a16:creationId xmlns:a16="http://schemas.microsoft.com/office/drawing/2014/main" id="{4C429A67-04F0-4B15-AD37-D464E78F784E}"/>
              </a:ext>
            </a:extLst>
          </p:cNvPr>
          <p:cNvGrpSpPr/>
          <p:nvPr/>
        </p:nvGrpSpPr>
        <p:grpSpPr>
          <a:xfrm>
            <a:off x="571049" y="10873301"/>
            <a:ext cx="539448" cy="487368"/>
            <a:chOff x="400056" y="1061560"/>
            <a:chExt cx="269724" cy="243684"/>
          </a:xfrm>
        </p:grpSpPr>
        <p:sp>
          <p:nvSpPr>
            <p:cNvPr id="91" name="三角形 10">
              <a:extLst>
                <a:ext uri="{FF2B5EF4-FFF2-40B4-BE49-F238E27FC236}">
                  <a16:creationId xmlns:a16="http://schemas.microsoft.com/office/drawing/2014/main" id="{3786D899-089C-4640-BB09-5D155E657205}"/>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92" name="三角形 11">
              <a:extLst>
                <a:ext uri="{FF2B5EF4-FFF2-40B4-BE49-F238E27FC236}">
                  <a16:creationId xmlns:a16="http://schemas.microsoft.com/office/drawing/2014/main" id="{8400A2C9-DFCC-4FF8-98EC-187C35D4BD94}"/>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93" name="テキスト プレースホルダー 27">
            <a:extLst>
              <a:ext uri="{FF2B5EF4-FFF2-40B4-BE49-F238E27FC236}">
                <a16:creationId xmlns:a16="http://schemas.microsoft.com/office/drawing/2014/main" id="{DBBF23A9-82D5-4994-852A-CD18931B2B47}"/>
              </a:ext>
            </a:extLst>
          </p:cNvPr>
          <p:cNvSpPr txBox="1">
            <a:spLocks/>
          </p:cNvSpPr>
          <p:nvPr/>
        </p:nvSpPr>
        <p:spPr>
          <a:xfrm>
            <a:off x="1208303" y="10800676"/>
            <a:ext cx="16632960" cy="99783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dirty="0"/>
              <a:t>対応のある</a:t>
            </a:r>
            <a:r>
              <a:rPr lang="en-US" altLang="ja-JP" dirty="0"/>
              <a:t>t</a:t>
            </a:r>
            <a:r>
              <a:rPr lang="ja-JP" altLang="en-US" dirty="0"/>
              <a:t>検定も同様</a:t>
            </a:r>
            <a:endParaRPr lang="en-US" altLang="ja-JP" dirty="0"/>
          </a:p>
        </p:txBody>
      </p:sp>
      <p:sp>
        <p:nvSpPr>
          <p:cNvPr id="94" name="三角形 31">
            <a:extLst>
              <a:ext uri="{FF2B5EF4-FFF2-40B4-BE49-F238E27FC236}">
                <a16:creationId xmlns:a16="http://schemas.microsoft.com/office/drawing/2014/main" id="{E8421B1F-A0FC-4E95-BD36-74FD7B4E0037}"/>
              </a:ext>
            </a:extLst>
          </p:cNvPr>
          <p:cNvSpPr/>
          <p:nvPr/>
        </p:nvSpPr>
        <p:spPr>
          <a:xfrm rot="5400000">
            <a:off x="1076238" y="11680647"/>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95" name="テキスト プレースホルダー 29">
            <a:extLst>
              <a:ext uri="{FF2B5EF4-FFF2-40B4-BE49-F238E27FC236}">
                <a16:creationId xmlns:a16="http://schemas.microsoft.com/office/drawing/2014/main" id="{B8614BDD-EF4C-47FE-8E91-DB3731D41CE1}"/>
              </a:ext>
            </a:extLst>
          </p:cNvPr>
          <p:cNvSpPr txBox="1">
            <a:spLocks/>
          </p:cNvSpPr>
          <p:nvPr/>
        </p:nvSpPr>
        <p:spPr>
          <a:xfrm>
            <a:off x="1568600" y="11565373"/>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dirty="0"/>
              <a:t>データの平均値</a:t>
            </a:r>
            <a:endParaRPr lang="en-US" altLang="ja-JP" dirty="0"/>
          </a:p>
        </p:txBody>
      </p:sp>
      <p:sp>
        <p:nvSpPr>
          <p:cNvPr id="96" name="テキスト プレースホルダー 29">
            <a:extLst>
              <a:ext uri="{FF2B5EF4-FFF2-40B4-BE49-F238E27FC236}">
                <a16:creationId xmlns:a16="http://schemas.microsoft.com/office/drawing/2014/main" id="{54590739-33F3-49FA-BF6D-E4FAA66A6B2A}"/>
              </a:ext>
            </a:extLst>
          </p:cNvPr>
          <p:cNvSpPr txBox="1">
            <a:spLocks/>
          </p:cNvSpPr>
          <p:nvPr/>
        </p:nvSpPr>
        <p:spPr>
          <a:xfrm>
            <a:off x="1568600" y="12717515"/>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dirty="0"/>
              <a:t>対となる</a:t>
            </a:r>
            <a:r>
              <a:rPr lang="ja-JP" altLang="en-US" dirty="0">
                <a:solidFill>
                  <a:schemeClr val="accent2"/>
                </a:solidFill>
              </a:rPr>
              <a:t>データの差</a:t>
            </a:r>
            <a:r>
              <a:rPr lang="ja-JP" altLang="en-US" dirty="0"/>
              <a:t>の平均値</a:t>
            </a:r>
            <a:endParaRPr lang="en-US" altLang="ja-JP" dirty="0"/>
          </a:p>
        </p:txBody>
      </p:sp>
      <p:sp>
        <p:nvSpPr>
          <p:cNvPr id="97" name="テキスト プレースホルダー 29">
            <a:extLst>
              <a:ext uri="{FF2B5EF4-FFF2-40B4-BE49-F238E27FC236}">
                <a16:creationId xmlns:a16="http://schemas.microsoft.com/office/drawing/2014/main" id="{F7248446-D5C6-47FF-B40F-1DA2DD047509}"/>
              </a:ext>
            </a:extLst>
          </p:cNvPr>
          <p:cNvSpPr txBox="1">
            <a:spLocks/>
          </p:cNvSpPr>
          <p:nvPr/>
        </p:nvSpPr>
        <p:spPr>
          <a:xfrm>
            <a:off x="1568600" y="12078175"/>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dirty="0"/>
              <a:t>　　　↓</a:t>
            </a:r>
            <a:endParaRPr lang="en-US" altLang="ja-JP" dirty="0"/>
          </a:p>
        </p:txBody>
      </p:sp>
    </p:spTree>
    <p:extLst>
      <p:ext uri="{BB962C8B-B14F-4D97-AF65-F5344CB8AC3E}">
        <p14:creationId xmlns:p14="http://schemas.microsoft.com/office/powerpoint/2010/main" val="35090824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9A3628AA-5FBA-534C-B3C4-2DB73F7968C2}"/>
              </a:ext>
            </a:extLst>
          </p:cNvPr>
          <p:cNvSpPr>
            <a:spLocks noGrp="1"/>
          </p:cNvSpPr>
          <p:nvPr>
            <p:ph type="dt" sz="half" idx="10"/>
          </p:nvPr>
        </p:nvSpPr>
        <p:spPr/>
        <p:txBody>
          <a:bodyPr/>
          <a:lstStyle/>
          <a:p>
            <a:fld id="{E814C0C4-870B-458D-94EE-6C0DC939FBD8}" type="datetime1">
              <a:rPr lang="ja-JP" altLang="en-US" smtClean="0"/>
              <a:t>2018/6/9</a:t>
            </a:fld>
            <a:endParaRPr lang="ja-JP" altLang="en-US"/>
          </a:p>
        </p:txBody>
      </p:sp>
      <p:sp>
        <p:nvSpPr>
          <p:cNvPr id="3" name="フッター プレースホルダー 2">
            <a:extLst>
              <a:ext uri="{FF2B5EF4-FFF2-40B4-BE49-F238E27FC236}">
                <a16:creationId xmlns:a16="http://schemas.microsoft.com/office/drawing/2014/main" id="{98D8000A-67DE-B846-8AE0-A91C6FD8ECBB}"/>
              </a:ext>
            </a:extLst>
          </p:cNvPr>
          <p:cNvSpPr>
            <a:spLocks noGrp="1"/>
          </p:cNvSpPr>
          <p:nvPr>
            <p:ph type="ftr" sz="quarter" idx="11"/>
          </p:nvPr>
        </p:nvSpPr>
        <p:spPr/>
        <p:txBody>
          <a:bodyPr/>
          <a:lstStyle/>
          <a:p>
            <a:r>
              <a:rPr lang="ja-JP" altLang="en-US"/>
              <a:t>文献講読発表</a:t>
            </a:r>
            <a:r>
              <a:rPr lang="en-US" altLang="ja-JP"/>
              <a:t>(2018.05.07)</a:t>
            </a:r>
            <a:endParaRPr lang="ja-JP" altLang="en-US"/>
          </a:p>
        </p:txBody>
      </p:sp>
      <p:sp>
        <p:nvSpPr>
          <p:cNvPr id="4" name="スライド番号プレースホルダー 3">
            <a:extLst>
              <a:ext uri="{FF2B5EF4-FFF2-40B4-BE49-F238E27FC236}">
                <a16:creationId xmlns:a16="http://schemas.microsoft.com/office/drawing/2014/main" id="{5241896A-DBD1-D845-A5F2-1904C1003E91}"/>
              </a:ext>
            </a:extLst>
          </p:cNvPr>
          <p:cNvSpPr>
            <a:spLocks noGrp="1"/>
          </p:cNvSpPr>
          <p:nvPr>
            <p:ph type="sldNum" sz="quarter" idx="12"/>
          </p:nvPr>
        </p:nvSpPr>
        <p:spPr/>
        <p:txBody>
          <a:bodyPr/>
          <a:lstStyle/>
          <a:p>
            <a:fld id="{89242BC1-393D-1248-985B-18DA624F2964}" type="slidenum">
              <a:rPr lang="ja-JP" altLang="en-US" smtClean="0"/>
              <a:pPr/>
              <a:t>30</a:t>
            </a:fld>
            <a:endParaRPr lang="ja-JP" altLang="en-US"/>
          </a:p>
        </p:txBody>
      </p:sp>
      <p:sp>
        <p:nvSpPr>
          <p:cNvPr id="5" name="テキスト プレースホルダー 4">
            <a:extLst>
              <a:ext uri="{FF2B5EF4-FFF2-40B4-BE49-F238E27FC236}">
                <a16:creationId xmlns:a16="http://schemas.microsoft.com/office/drawing/2014/main" id="{9F22905A-C42A-1845-B4C2-9D8885E87338}"/>
              </a:ext>
            </a:extLst>
          </p:cNvPr>
          <p:cNvSpPr>
            <a:spLocks noGrp="1"/>
          </p:cNvSpPr>
          <p:nvPr>
            <p:ph type="body" sz="quarter" idx="13"/>
          </p:nvPr>
        </p:nvSpPr>
        <p:spPr/>
        <p:txBody>
          <a:bodyPr/>
          <a:lstStyle/>
          <a:p>
            <a:r>
              <a:rPr lang="en-US" altLang="ja-JP" dirty="0"/>
              <a:t>6</a:t>
            </a:r>
            <a:endParaRPr kumimoji="1" lang="ja-JP" altLang="en-US" dirty="0"/>
          </a:p>
        </p:txBody>
      </p:sp>
      <p:sp>
        <p:nvSpPr>
          <p:cNvPr id="6" name="テキスト プレースホルダー 5">
            <a:extLst>
              <a:ext uri="{FF2B5EF4-FFF2-40B4-BE49-F238E27FC236}">
                <a16:creationId xmlns:a16="http://schemas.microsoft.com/office/drawing/2014/main" id="{A72A944A-0DD6-C246-AA6A-153A95866A6D}"/>
              </a:ext>
            </a:extLst>
          </p:cNvPr>
          <p:cNvSpPr>
            <a:spLocks noGrp="1"/>
          </p:cNvSpPr>
          <p:nvPr>
            <p:ph type="body" sz="quarter" idx="14"/>
          </p:nvPr>
        </p:nvSpPr>
        <p:spPr/>
        <p:txBody>
          <a:bodyPr/>
          <a:lstStyle/>
          <a:p>
            <a:r>
              <a:rPr kumimoji="1" lang="ja-JP" altLang="en-US" dirty="0"/>
              <a:t>補助スライド</a:t>
            </a:r>
          </a:p>
        </p:txBody>
      </p:sp>
      <p:grpSp>
        <p:nvGrpSpPr>
          <p:cNvPr id="7" name="グループ化 6">
            <a:extLst>
              <a:ext uri="{FF2B5EF4-FFF2-40B4-BE49-F238E27FC236}">
                <a16:creationId xmlns:a16="http://schemas.microsoft.com/office/drawing/2014/main" id="{F8338825-4221-E148-A389-BAB1DC0ADD53}"/>
              </a:ext>
            </a:extLst>
          </p:cNvPr>
          <p:cNvGrpSpPr/>
          <p:nvPr/>
        </p:nvGrpSpPr>
        <p:grpSpPr>
          <a:xfrm>
            <a:off x="289330" y="1413298"/>
            <a:ext cx="2160000" cy="934436"/>
            <a:chOff x="144665" y="525617"/>
            <a:chExt cx="1080000" cy="467218"/>
          </a:xfrm>
        </p:grpSpPr>
        <p:sp>
          <p:nvSpPr>
            <p:cNvPr id="8" name="正方形/長方形 7">
              <a:extLst>
                <a:ext uri="{FF2B5EF4-FFF2-40B4-BE49-F238E27FC236}">
                  <a16:creationId xmlns:a16="http://schemas.microsoft.com/office/drawing/2014/main" id="{0E268681-EBDD-6B46-A968-4A957382FC63}"/>
                </a:ext>
              </a:extLst>
            </p:cNvPr>
            <p:cNvSpPr/>
            <p:nvPr userDrawn="1"/>
          </p:nvSpPr>
          <p:spPr>
            <a:xfrm>
              <a:off x="145524" y="542424"/>
              <a:ext cx="91081" cy="450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sp>
          <p:nvSpPr>
            <p:cNvPr id="9" name="正方形/長方形 8">
              <a:extLst>
                <a:ext uri="{FF2B5EF4-FFF2-40B4-BE49-F238E27FC236}">
                  <a16:creationId xmlns:a16="http://schemas.microsoft.com/office/drawing/2014/main" id="{3FAD45B4-C2FE-CA41-B80D-D3EA8853BBC9}"/>
                </a:ext>
              </a:extLst>
            </p:cNvPr>
            <p:cNvSpPr/>
            <p:nvPr userDrawn="1"/>
          </p:nvSpPr>
          <p:spPr>
            <a:xfrm>
              <a:off x="144665" y="525617"/>
              <a:ext cx="1080000" cy="161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grpSp>
      <p:grpSp>
        <p:nvGrpSpPr>
          <p:cNvPr id="10" name="グループ化 9">
            <a:extLst>
              <a:ext uri="{FF2B5EF4-FFF2-40B4-BE49-F238E27FC236}">
                <a16:creationId xmlns:a16="http://schemas.microsoft.com/office/drawing/2014/main" id="{16BF773A-C7D0-4047-93D7-93F6E4FD7F4C}"/>
              </a:ext>
            </a:extLst>
          </p:cNvPr>
          <p:cNvGrpSpPr/>
          <p:nvPr/>
        </p:nvGrpSpPr>
        <p:grpSpPr>
          <a:xfrm>
            <a:off x="617232" y="2557358"/>
            <a:ext cx="539448" cy="487368"/>
            <a:chOff x="400056" y="1061560"/>
            <a:chExt cx="269724" cy="243684"/>
          </a:xfrm>
        </p:grpSpPr>
        <p:sp>
          <p:nvSpPr>
            <p:cNvPr id="11" name="三角形 10">
              <a:extLst>
                <a:ext uri="{FF2B5EF4-FFF2-40B4-BE49-F238E27FC236}">
                  <a16:creationId xmlns:a16="http://schemas.microsoft.com/office/drawing/2014/main" id="{B837EC6D-DFF8-7343-B171-EF2CF1C28D4B}"/>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12" name="三角形 11">
              <a:extLst>
                <a:ext uri="{FF2B5EF4-FFF2-40B4-BE49-F238E27FC236}">
                  <a16:creationId xmlns:a16="http://schemas.microsoft.com/office/drawing/2014/main" id="{232D445D-4D73-1242-8CD4-8C96A74E87A6}"/>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13" name="三角形 12">
            <a:extLst>
              <a:ext uri="{FF2B5EF4-FFF2-40B4-BE49-F238E27FC236}">
                <a16:creationId xmlns:a16="http://schemas.microsoft.com/office/drawing/2014/main" id="{170F5D20-7DA5-BE40-86C8-63D00B931690}"/>
              </a:ext>
            </a:extLst>
          </p:cNvPr>
          <p:cNvSpPr/>
          <p:nvPr/>
        </p:nvSpPr>
        <p:spPr>
          <a:xfrm rot="5400000">
            <a:off x="1076238" y="3361776"/>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14" name="テキスト プレースホルダー 27">
            <a:extLst>
              <a:ext uri="{FF2B5EF4-FFF2-40B4-BE49-F238E27FC236}">
                <a16:creationId xmlns:a16="http://schemas.microsoft.com/office/drawing/2014/main" id="{236C3152-D60C-3843-9B3D-307DB2A0E4A4}"/>
              </a:ext>
            </a:extLst>
          </p:cNvPr>
          <p:cNvSpPr txBox="1">
            <a:spLocks/>
          </p:cNvSpPr>
          <p:nvPr/>
        </p:nvSpPr>
        <p:spPr>
          <a:xfrm>
            <a:off x="1254486" y="2484733"/>
            <a:ext cx="16632960" cy="99783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dirty="0"/>
              <a:t>任意の値をとることができる変数の個数</a:t>
            </a:r>
            <a:endParaRPr lang="en-US" altLang="ja-JP" dirty="0"/>
          </a:p>
        </p:txBody>
      </p:sp>
      <p:sp>
        <p:nvSpPr>
          <p:cNvPr id="15" name="テキスト プレースホルダー 29">
            <a:extLst>
              <a:ext uri="{FF2B5EF4-FFF2-40B4-BE49-F238E27FC236}">
                <a16:creationId xmlns:a16="http://schemas.microsoft.com/office/drawing/2014/main" id="{EBDED935-8261-6749-B78E-892B57BDE922}"/>
              </a:ext>
            </a:extLst>
          </p:cNvPr>
          <p:cNvSpPr txBox="1">
            <a:spLocks/>
          </p:cNvSpPr>
          <p:nvPr/>
        </p:nvSpPr>
        <p:spPr>
          <a:xfrm>
            <a:off x="1568600" y="3246502"/>
            <a:ext cx="1827548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dirty="0">
                <a:solidFill>
                  <a:schemeClr val="tx1"/>
                </a:solidFill>
              </a:rPr>
              <a:t>自由度によって</a:t>
            </a:r>
            <a:r>
              <a:rPr lang="ja-JP" altLang="en-US" dirty="0">
                <a:solidFill>
                  <a:schemeClr val="accent2"/>
                </a:solidFill>
              </a:rPr>
              <a:t>分布が異なる</a:t>
            </a:r>
          </a:p>
        </p:txBody>
      </p:sp>
      <p:sp>
        <p:nvSpPr>
          <p:cNvPr id="16" name="テキスト プレースホルダー 30">
            <a:extLst>
              <a:ext uri="{FF2B5EF4-FFF2-40B4-BE49-F238E27FC236}">
                <a16:creationId xmlns:a16="http://schemas.microsoft.com/office/drawing/2014/main" id="{CF9CB3BE-4D25-544D-BF6B-6A8CDD76E2D9}"/>
              </a:ext>
            </a:extLst>
          </p:cNvPr>
          <p:cNvSpPr txBox="1">
            <a:spLocks/>
          </p:cNvSpPr>
          <p:nvPr/>
        </p:nvSpPr>
        <p:spPr>
          <a:xfrm>
            <a:off x="571049" y="1583871"/>
            <a:ext cx="17302163" cy="1403350"/>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60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dirty="0"/>
              <a:t>自由度</a:t>
            </a:r>
          </a:p>
        </p:txBody>
      </p:sp>
      <p:graphicFrame>
        <p:nvGraphicFramePr>
          <p:cNvPr id="85" name="グラフ 84">
            <a:extLst>
              <a:ext uri="{FF2B5EF4-FFF2-40B4-BE49-F238E27FC236}">
                <a16:creationId xmlns:a16="http://schemas.microsoft.com/office/drawing/2014/main" id="{4659430C-9A99-44E8-A124-E978ACDDF62D}"/>
              </a:ext>
            </a:extLst>
          </p:cNvPr>
          <p:cNvGraphicFramePr>
            <a:graphicFrameLocks/>
          </p:cNvGraphicFramePr>
          <p:nvPr>
            <p:extLst>
              <p:ext uri="{D42A27DB-BD31-4B8C-83A1-F6EECF244321}">
                <p14:modId xmlns:p14="http://schemas.microsoft.com/office/powerpoint/2010/main" val="3488216152"/>
              </p:ext>
            </p:extLst>
          </p:nvPr>
        </p:nvGraphicFramePr>
        <p:xfrm>
          <a:off x="1832486" y="10443077"/>
          <a:ext cx="14878208" cy="233069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7" name="グラフ 56">
            <a:extLst>
              <a:ext uri="{FF2B5EF4-FFF2-40B4-BE49-F238E27FC236}">
                <a16:creationId xmlns:a16="http://schemas.microsoft.com/office/drawing/2014/main" id="{9F20EB6B-F8AB-4536-A672-D9036836DCF8}"/>
              </a:ext>
            </a:extLst>
          </p:cNvPr>
          <p:cNvGraphicFramePr>
            <a:graphicFrameLocks/>
          </p:cNvGraphicFramePr>
          <p:nvPr>
            <p:extLst>
              <p:ext uri="{D42A27DB-BD31-4B8C-83A1-F6EECF244321}">
                <p14:modId xmlns:p14="http://schemas.microsoft.com/office/powerpoint/2010/main" val="2725720440"/>
              </p:ext>
            </p:extLst>
          </p:nvPr>
        </p:nvGraphicFramePr>
        <p:xfrm>
          <a:off x="4731250" y="7552174"/>
          <a:ext cx="8879677" cy="5484095"/>
        </p:xfrm>
        <a:graphic>
          <a:graphicData uri="http://schemas.openxmlformats.org/drawingml/2006/chart">
            <c:chart xmlns:c="http://schemas.openxmlformats.org/drawingml/2006/chart" xmlns:r="http://schemas.openxmlformats.org/officeDocument/2006/relationships" r:id="rId4"/>
          </a:graphicData>
        </a:graphic>
      </p:graphicFrame>
      <p:sp>
        <p:nvSpPr>
          <p:cNvPr id="58" name="三角形 31">
            <a:extLst>
              <a:ext uri="{FF2B5EF4-FFF2-40B4-BE49-F238E27FC236}">
                <a16:creationId xmlns:a16="http://schemas.microsoft.com/office/drawing/2014/main" id="{A274DFD9-C45D-4457-89BB-362F21F7C5A4}"/>
              </a:ext>
            </a:extLst>
          </p:cNvPr>
          <p:cNvSpPr/>
          <p:nvPr/>
        </p:nvSpPr>
        <p:spPr>
          <a:xfrm rot="5400000">
            <a:off x="1076238" y="4133898"/>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60" name="テキスト プレースホルダー 29">
            <a:extLst>
              <a:ext uri="{FF2B5EF4-FFF2-40B4-BE49-F238E27FC236}">
                <a16:creationId xmlns:a16="http://schemas.microsoft.com/office/drawing/2014/main" id="{DFDE5F60-FC3E-4744-969E-31244A20D912}"/>
              </a:ext>
            </a:extLst>
          </p:cNvPr>
          <p:cNvSpPr txBox="1">
            <a:spLocks/>
          </p:cNvSpPr>
          <p:nvPr/>
        </p:nvSpPr>
        <p:spPr>
          <a:xfrm>
            <a:off x="1568600" y="4018624"/>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dirty="0"/>
              <a:t>自由度が高いほど分布は正規分布に近づく</a:t>
            </a:r>
          </a:p>
        </p:txBody>
      </p:sp>
      <p:grpSp>
        <p:nvGrpSpPr>
          <p:cNvPr id="84" name="グループ化 83">
            <a:extLst>
              <a:ext uri="{FF2B5EF4-FFF2-40B4-BE49-F238E27FC236}">
                <a16:creationId xmlns:a16="http://schemas.microsoft.com/office/drawing/2014/main" id="{A4E5D9A7-32D7-4287-944F-1ECEE1B51772}"/>
              </a:ext>
            </a:extLst>
          </p:cNvPr>
          <p:cNvGrpSpPr/>
          <p:nvPr/>
        </p:nvGrpSpPr>
        <p:grpSpPr>
          <a:xfrm>
            <a:off x="617232" y="4900245"/>
            <a:ext cx="539448" cy="487368"/>
            <a:chOff x="400056" y="1061560"/>
            <a:chExt cx="269724" cy="243684"/>
          </a:xfrm>
        </p:grpSpPr>
        <p:sp>
          <p:nvSpPr>
            <p:cNvPr id="98" name="三角形 10">
              <a:extLst>
                <a:ext uri="{FF2B5EF4-FFF2-40B4-BE49-F238E27FC236}">
                  <a16:creationId xmlns:a16="http://schemas.microsoft.com/office/drawing/2014/main" id="{5389D612-82B6-4335-8B2D-BC5EE24B2923}"/>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99" name="三角形 11">
              <a:extLst>
                <a:ext uri="{FF2B5EF4-FFF2-40B4-BE49-F238E27FC236}">
                  <a16:creationId xmlns:a16="http://schemas.microsoft.com/office/drawing/2014/main" id="{7CFB7EAF-9C6A-45DA-A1E8-D102CBD58690}"/>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100" name="テキスト プレースホルダー 27">
            <a:extLst>
              <a:ext uri="{FF2B5EF4-FFF2-40B4-BE49-F238E27FC236}">
                <a16:creationId xmlns:a16="http://schemas.microsoft.com/office/drawing/2014/main" id="{D222DA18-19D9-43A9-AEE1-3BA6898B8F3F}"/>
              </a:ext>
            </a:extLst>
          </p:cNvPr>
          <p:cNvSpPr txBox="1">
            <a:spLocks/>
          </p:cNvSpPr>
          <p:nvPr/>
        </p:nvSpPr>
        <p:spPr>
          <a:xfrm>
            <a:off x="1254486" y="4827620"/>
            <a:ext cx="16632960" cy="99783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dirty="0"/>
              <a:t>一般に自由度</a:t>
            </a:r>
            <a:r>
              <a:rPr lang="en-US" altLang="ja-JP" dirty="0" err="1"/>
              <a:t>df</a:t>
            </a:r>
            <a:endParaRPr lang="en-US" altLang="ja-JP" dirty="0"/>
          </a:p>
        </p:txBody>
      </p:sp>
      <mc:AlternateContent xmlns:mc="http://schemas.openxmlformats.org/markup-compatibility/2006" xmlns:a14="http://schemas.microsoft.com/office/drawing/2010/main">
        <mc:Choice Requires="a14">
          <p:sp>
            <p:nvSpPr>
              <p:cNvPr id="101" name="テキスト ボックス 100">
                <a:extLst>
                  <a:ext uri="{FF2B5EF4-FFF2-40B4-BE49-F238E27FC236}">
                    <a16:creationId xmlns:a16="http://schemas.microsoft.com/office/drawing/2014/main" id="{9299AC82-F4D7-477B-AF1F-20F6669EE17F}"/>
                  </a:ext>
                </a:extLst>
              </p:cNvPr>
              <p:cNvSpPr txBox="1"/>
              <p:nvPr/>
            </p:nvSpPr>
            <p:spPr>
              <a:xfrm>
                <a:off x="4952540" y="4797432"/>
                <a:ext cx="3371349" cy="707886"/>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sz="4000" b="0" i="1" smtClean="0">
                          <a:latin typeface="Cambria Math" panose="02040503050406030204" pitchFamily="18" charset="0"/>
                        </a:rPr>
                        <m:t>=</m:t>
                      </m:r>
                      <m:r>
                        <a:rPr kumimoji="1" lang="en-US" altLang="ja-JP" sz="4000" b="0" i="1" smtClean="0">
                          <a:latin typeface="Cambria Math" panose="02040503050406030204" pitchFamily="18" charset="0"/>
                        </a:rPr>
                        <m:t>𝑛</m:t>
                      </m:r>
                      <m:r>
                        <a:rPr kumimoji="1" lang="en-US" altLang="ja-JP" sz="4000" b="0" i="1" smtClean="0">
                          <a:latin typeface="Cambria Math" panose="02040503050406030204" pitchFamily="18" charset="0"/>
                        </a:rPr>
                        <m:t>−</m:t>
                      </m:r>
                      <m:r>
                        <a:rPr kumimoji="1" lang="en-US" altLang="ja-JP" sz="4000" b="0" i="1" smtClean="0">
                          <a:latin typeface="Cambria Math" panose="02040503050406030204" pitchFamily="18" charset="0"/>
                        </a:rPr>
                        <m:t>𝑘</m:t>
                      </m:r>
                    </m:oMath>
                  </m:oMathPara>
                </a14:m>
                <a:endParaRPr kumimoji="1" lang="ja-JP" altLang="en-US" sz="4000" dirty="0"/>
              </a:p>
            </p:txBody>
          </p:sp>
        </mc:Choice>
        <mc:Fallback xmlns="">
          <p:sp>
            <p:nvSpPr>
              <p:cNvPr id="101" name="テキスト ボックス 100">
                <a:extLst>
                  <a:ext uri="{FF2B5EF4-FFF2-40B4-BE49-F238E27FC236}">
                    <a16:creationId xmlns:a16="http://schemas.microsoft.com/office/drawing/2014/main" id="{9299AC82-F4D7-477B-AF1F-20F6669EE17F}"/>
                  </a:ext>
                </a:extLst>
              </p:cNvPr>
              <p:cNvSpPr txBox="1">
                <a:spLocks noRot="1" noChangeAspect="1" noMove="1" noResize="1" noEditPoints="1" noAdjustHandles="1" noChangeArrowheads="1" noChangeShapeType="1" noTextEdit="1"/>
              </p:cNvSpPr>
              <p:nvPr/>
            </p:nvSpPr>
            <p:spPr>
              <a:xfrm>
                <a:off x="4952540" y="4797432"/>
                <a:ext cx="3371349" cy="707886"/>
              </a:xfrm>
              <a:prstGeom prst="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2" name="テキスト ボックス 101">
                <a:extLst>
                  <a:ext uri="{FF2B5EF4-FFF2-40B4-BE49-F238E27FC236}">
                    <a16:creationId xmlns:a16="http://schemas.microsoft.com/office/drawing/2014/main" id="{2320C5A6-347F-4E44-978D-66C84B34138D}"/>
                  </a:ext>
                </a:extLst>
              </p:cNvPr>
              <p:cNvSpPr txBox="1"/>
              <p:nvPr/>
            </p:nvSpPr>
            <p:spPr>
              <a:xfrm>
                <a:off x="7991475" y="4674010"/>
                <a:ext cx="4750970" cy="954107"/>
              </a:xfrm>
              <a:prstGeom prst="rect">
                <a:avLst/>
              </a:prstGeom>
              <a:noFill/>
            </p:spPr>
            <p:txBody>
              <a:bodyPr wrap="square" rtlCol="0">
                <a:spAutoFit/>
              </a:bodyPr>
              <a:lstStyle/>
              <a:p>
                <a:r>
                  <a:rPr lang="en-US" altLang="ja-JP" sz="2800" dirty="0"/>
                  <a:t>n</a:t>
                </a:r>
                <a14:m>
                  <m:oMath xmlns:m="http://schemas.openxmlformats.org/officeDocument/2006/math">
                    <m:r>
                      <a:rPr lang="ja-JP" altLang="en-US" sz="2800" i="1">
                        <a:latin typeface="Cambria Math" panose="02040503050406030204" pitchFamily="18" charset="0"/>
                      </a:rPr>
                      <m:t>：</m:t>
                    </m:r>
                  </m:oMath>
                </a14:m>
                <a:r>
                  <a:rPr kumimoji="1" lang="ja-JP" altLang="en-US" sz="2800" dirty="0"/>
                  <a:t>データ数</a:t>
                </a:r>
                <a:endParaRPr kumimoji="1" lang="en-US" altLang="ja-JP" sz="2800" dirty="0"/>
              </a:p>
              <a:p>
                <a14:m>
                  <m:oMath xmlns:m="http://schemas.openxmlformats.org/officeDocument/2006/math">
                    <m:r>
                      <a:rPr lang="en-US" altLang="ja-JP" sz="2800" b="0" i="1" smtClean="0">
                        <a:latin typeface="Cambria Math" panose="02040503050406030204" pitchFamily="18" charset="0"/>
                      </a:rPr>
                      <m:t>𝑘</m:t>
                    </m:r>
                    <m:r>
                      <a:rPr lang="ja-JP" altLang="en-US" sz="2800" i="1">
                        <a:latin typeface="Cambria Math" panose="02040503050406030204" pitchFamily="18" charset="0"/>
                      </a:rPr>
                      <m:t>：</m:t>
                    </m:r>
                  </m:oMath>
                </a14:m>
                <a:r>
                  <a:rPr kumimoji="1" lang="ja-JP" altLang="en-US" sz="2800" dirty="0"/>
                  <a:t>条件の数</a:t>
                </a:r>
              </a:p>
            </p:txBody>
          </p:sp>
        </mc:Choice>
        <mc:Fallback xmlns="">
          <p:sp>
            <p:nvSpPr>
              <p:cNvPr id="102" name="テキスト ボックス 101">
                <a:extLst>
                  <a:ext uri="{FF2B5EF4-FFF2-40B4-BE49-F238E27FC236}">
                    <a16:creationId xmlns:a16="http://schemas.microsoft.com/office/drawing/2014/main" id="{2320C5A6-347F-4E44-978D-66C84B34138D}"/>
                  </a:ext>
                </a:extLst>
              </p:cNvPr>
              <p:cNvSpPr txBox="1">
                <a:spLocks noRot="1" noChangeAspect="1" noMove="1" noResize="1" noEditPoints="1" noAdjustHandles="1" noChangeArrowheads="1" noChangeShapeType="1" noTextEdit="1"/>
              </p:cNvSpPr>
              <p:nvPr/>
            </p:nvSpPr>
            <p:spPr>
              <a:xfrm>
                <a:off x="7991475" y="4674010"/>
                <a:ext cx="4750970" cy="954107"/>
              </a:xfrm>
              <a:prstGeom prst="rect">
                <a:avLst/>
              </a:prstGeom>
              <a:blipFill>
                <a:blip r:embed="rId6"/>
                <a:stretch>
                  <a:fillRect l="-2696" t="-8974" b="-18590"/>
                </a:stretch>
              </a:blipFill>
            </p:spPr>
            <p:txBody>
              <a:bodyPr/>
              <a:lstStyle/>
              <a:p>
                <a:r>
                  <a:rPr lang="ja-JP" altLang="en-US">
                    <a:noFill/>
                  </a:rPr>
                  <a:t> </a:t>
                </a:r>
              </a:p>
            </p:txBody>
          </p:sp>
        </mc:Fallback>
      </mc:AlternateContent>
      <p:sp>
        <p:nvSpPr>
          <p:cNvPr id="103" name="三角形 12">
            <a:extLst>
              <a:ext uri="{FF2B5EF4-FFF2-40B4-BE49-F238E27FC236}">
                <a16:creationId xmlns:a16="http://schemas.microsoft.com/office/drawing/2014/main" id="{F0EEBA86-6058-4750-9C69-08AF8AE97BDE}"/>
              </a:ext>
            </a:extLst>
          </p:cNvPr>
          <p:cNvSpPr/>
          <p:nvPr/>
        </p:nvSpPr>
        <p:spPr>
          <a:xfrm rot="5400000">
            <a:off x="1076238" y="5789472"/>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mc:AlternateContent xmlns:mc="http://schemas.openxmlformats.org/markup-compatibility/2006" xmlns:a14="http://schemas.microsoft.com/office/drawing/2010/main">
        <mc:Choice Requires="a14">
          <p:sp>
            <p:nvSpPr>
              <p:cNvPr id="104" name="テキスト プレースホルダー 29">
                <a:extLst>
                  <a:ext uri="{FF2B5EF4-FFF2-40B4-BE49-F238E27FC236}">
                    <a16:creationId xmlns:a16="http://schemas.microsoft.com/office/drawing/2014/main" id="{07009295-78E3-43C5-935F-70EFA41CA413}"/>
                  </a:ext>
                </a:extLst>
              </p:cNvPr>
              <p:cNvSpPr txBox="1">
                <a:spLocks/>
              </p:cNvSpPr>
              <p:nvPr/>
            </p:nvSpPr>
            <p:spPr>
              <a:xfrm>
                <a:off x="1568600" y="5674198"/>
                <a:ext cx="1827548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solidFill>
                      <a:schemeClr val="tx1"/>
                    </a:solidFill>
                  </a:rPr>
                  <a:t>t</a:t>
                </a:r>
                <a:r>
                  <a:rPr lang="ja-JP" altLang="en-US" dirty="0">
                    <a:solidFill>
                      <a:schemeClr val="tx1"/>
                    </a:solidFill>
                  </a:rPr>
                  <a:t>検定の自由度</a:t>
                </a:r>
                <a14:m>
                  <m:oMath xmlns:m="http://schemas.openxmlformats.org/officeDocument/2006/math">
                    <m:r>
                      <a:rPr lang="ja-JP" altLang="en-US" i="1" dirty="0" smtClean="0">
                        <a:solidFill>
                          <a:schemeClr val="tx1"/>
                        </a:solidFill>
                        <a:latin typeface="Cambria Math" panose="02040503050406030204" pitchFamily="18" charset="0"/>
                      </a:rPr>
                      <m:t>＝</m:t>
                    </m:r>
                    <m:r>
                      <a:rPr lang="en-US" altLang="ja-JP" i="1" dirty="0">
                        <a:solidFill>
                          <a:schemeClr val="tx1"/>
                        </a:solidFill>
                        <a:latin typeface="Cambria Math" panose="02040503050406030204" pitchFamily="18" charset="0"/>
                      </a:rPr>
                      <m:t>126</m:t>
                    </m:r>
                    <m:r>
                      <a:rPr lang="en-US" altLang="ja-JP" b="0" i="1" dirty="0" smtClean="0">
                        <a:solidFill>
                          <a:schemeClr val="tx1"/>
                        </a:solidFill>
                        <a:latin typeface="Cambria Math" panose="02040503050406030204" pitchFamily="18" charset="0"/>
                      </a:rPr>
                      <m:t>(</m:t>
                    </m:r>
                    <m:r>
                      <a:rPr lang="en-US" altLang="ja-JP" i="1" dirty="0" smtClean="0">
                        <a:solidFill>
                          <a:schemeClr val="tx1"/>
                        </a:solidFill>
                        <a:latin typeface="Cambria Math" panose="02040503050406030204" pitchFamily="18" charset="0"/>
                      </a:rPr>
                      <m:t>150</m:t>
                    </m:r>
                    <m:r>
                      <a:rPr lang="ja-JP" altLang="en-US" i="1" dirty="0" smtClean="0">
                        <a:solidFill>
                          <a:schemeClr val="tx1"/>
                        </a:solidFill>
                        <a:latin typeface="Cambria Math" panose="02040503050406030204" pitchFamily="18" charset="0"/>
                      </a:rPr>
                      <m:t>名</m:t>
                    </m:r>
                    <m:r>
                      <a:rPr lang="en-US" altLang="ja-JP" i="1" dirty="0" smtClean="0">
                        <a:solidFill>
                          <a:schemeClr val="tx1"/>
                        </a:solidFill>
                        <a:latin typeface="Cambria Math" panose="02040503050406030204" pitchFamily="18" charset="0"/>
                      </a:rPr>
                      <m:t>−24</m:t>
                    </m:r>
                    <m:r>
                      <a:rPr lang="ja-JP" altLang="en-US" i="1" dirty="0" smtClean="0">
                        <a:solidFill>
                          <a:schemeClr val="tx1"/>
                        </a:solidFill>
                        <a:latin typeface="Cambria Math" panose="02040503050406030204" pitchFamily="18" charset="0"/>
                      </a:rPr>
                      <m:t>名</m:t>
                    </m:r>
                    <m:r>
                      <a:rPr lang="en-US" altLang="ja-JP" b="0" i="1" dirty="0" smtClean="0">
                        <a:solidFill>
                          <a:schemeClr val="tx1"/>
                        </a:solidFill>
                        <a:latin typeface="Cambria Math" panose="02040503050406030204" pitchFamily="18" charset="0"/>
                      </a:rPr>
                      <m:t>)</m:t>
                    </m:r>
                    <m:r>
                      <a:rPr lang="en-US" altLang="ja-JP" i="1" dirty="0" smtClean="0">
                        <a:solidFill>
                          <a:schemeClr val="tx1"/>
                        </a:solidFill>
                        <a:latin typeface="Cambria Math" panose="02040503050406030204" pitchFamily="18" charset="0"/>
                      </a:rPr>
                      <m:t>−1</m:t>
                    </m:r>
                    <m:r>
                      <a:rPr lang="en-US" altLang="ja-JP" b="0" i="1" dirty="0" smtClean="0">
                        <a:solidFill>
                          <a:schemeClr val="tx1"/>
                        </a:solidFill>
                        <a:latin typeface="Cambria Math" panose="02040503050406030204" pitchFamily="18" charset="0"/>
                      </a:rPr>
                      <m:t>(</m:t>
                    </m:r>
                    <m:r>
                      <a:rPr lang="ja-JP" altLang="en-US" i="1" dirty="0">
                        <a:solidFill>
                          <a:schemeClr val="tx1"/>
                        </a:solidFill>
                        <a:latin typeface="Cambria Math" panose="02040503050406030204" pitchFamily="18" charset="0"/>
                      </a:rPr>
                      <m:t>母集団の</m:t>
                    </m:r>
                    <m:r>
                      <a:rPr lang="ja-JP" altLang="en-US" i="1" dirty="0" smtClean="0">
                        <a:solidFill>
                          <a:schemeClr val="tx1"/>
                        </a:solidFill>
                        <a:latin typeface="Cambria Math" panose="02040503050406030204" pitchFamily="18" charset="0"/>
                      </a:rPr>
                      <m:t>平均</m:t>
                    </m:r>
                    <m:r>
                      <a:rPr lang="en-US" altLang="ja-JP" i="1" dirty="0">
                        <a:solidFill>
                          <a:schemeClr val="tx1"/>
                        </a:solidFill>
                        <a:latin typeface="Cambria Math" panose="02040503050406030204" pitchFamily="18" charset="0"/>
                      </a:rPr>
                      <m:t>)</m:t>
                    </m:r>
                    <m:r>
                      <a:rPr lang="en-US" altLang="ja-JP" i="1" dirty="0" smtClean="0">
                        <a:solidFill>
                          <a:schemeClr val="tx1"/>
                        </a:solidFill>
                        <a:latin typeface="Cambria Math" panose="02040503050406030204" pitchFamily="18" charset="0"/>
                      </a:rPr>
                      <m:t>=125</m:t>
                    </m:r>
                  </m:oMath>
                </a14:m>
                <a:endParaRPr lang="ja-JP" altLang="en-US" dirty="0">
                  <a:solidFill>
                    <a:schemeClr val="accent2"/>
                  </a:solidFill>
                </a:endParaRPr>
              </a:p>
            </p:txBody>
          </p:sp>
        </mc:Choice>
        <mc:Fallback xmlns="">
          <p:sp>
            <p:nvSpPr>
              <p:cNvPr id="104" name="テキスト プレースホルダー 29">
                <a:extLst>
                  <a:ext uri="{FF2B5EF4-FFF2-40B4-BE49-F238E27FC236}">
                    <a16:creationId xmlns:a16="http://schemas.microsoft.com/office/drawing/2014/main" id="{07009295-78E3-43C5-935F-70EFA41CA413}"/>
                  </a:ext>
                </a:extLst>
              </p:cNvPr>
              <p:cNvSpPr txBox="1">
                <a:spLocks noRot="1" noChangeAspect="1" noMove="1" noResize="1" noEditPoints="1" noAdjustHandles="1" noChangeArrowheads="1" noChangeShapeType="1" noTextEdit="1"/>
              </p:cNvSpPr>
              <p:nvPr/>
            </p:nvSpPr>
            <p:spPr>
              <a:xfrm>
                <a:off x="1568600" y="5674198"/>
                <a:ext cx="18275484" cy="853994"/>
              </a:xfrm>
              <a:prstGeom prst="rect">
                <a:avLst/>
              </a:prstGeom>
              <a:blipFill>
                <a:blip r:embed="rId7"/>
                <a:stretch>
                  <a:fillRect l="-1167" t="-21429" b="-10000"/>
                </a:stretch>
              </a:blipFill>
            </p:spPr>
            <p:txBody>
              <a:bodyPr/>
              <a:lstStyle/>
              <a:p>
                <a:r>
                  <a:rPr lang="ja-JP" altLang="en-US">
                    <a:noFill/>
                  </a:rPr>
                  <a:t> </a:t>
                </a:r>
              </a:p>
            </p:txBody>
          </p:sp>
        </mc:Fallback>
      </mc:AlternateContent>
      <p:sp>
        <p:nvSpPr>
          <p:cNvPr id="29" name="三角形 12">
            <a:extLst>
              <a:ext uri="{FF2B5EF4-FFF2-40B4-BE49-F238E27FC236}">
                <a16:creationId xmlns:a16="http://schemas.microsoft.com/office/drawing/2014/main" id="{247F4DE0-7369-4900-A295-545FAC8EAA5D}"/>
              </a:ext>
            </a:extLst>
          </p:cNvPr>
          <p:cNvSpPr/>
          <p:nvPr/>
        </p:nvSpPr>
        <p:spPr>
          <a:xfrm rot="5400000">
            <a:off x="1074006" y="6561532"/>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mc:AlternateContent xmlns:mc="http://schemas.openxmlformats.org/markup-compatibility/2006" xmlns:a14="http://schemas.microsoft.com/office/drawing/2010/main">
        <mc:Choice Requires="a14">
          <p:sp>
            <p:nvSpPr>
              <p:cNvPr id="30" name="テキスト プレースホルダー 29">
                <a:extLst>
                  <a:ext uri="{FF2B5EF4-FFF2-40B4-BE49-F238E27FC236}">
                    <a16:creationId xmlns:a16="http://schemas.microsoft.com/office/drawing/2014/main" id="{820DDAF2-5F28-4F4A-A1A4-6FE17E799ACD}"/>
                  </a:ext>
                </a:extLst>
              </p:cNvPr>
              <p:cNvSpPr txBox="1">
                <a:spLocks/>
              </p:cNvSpPr>
              <p:nvPr/>
            </p:nvSpPr>
            <p:spPr>
              <a:xfrm>
                <a:off x="1566368" y="6446258"/>
                <a:ext cx="1827548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solidFill>
                      <a:schemeClr val="tx1"/>
                    </a:solidFill>
                  </a:rPr>
                  <a:t>F</a:t>
                </a:r>
                <a:r>
                  <a:rPr lang="ja-JP" altLang="en-US" dirty="0">
                    <a:solidFill>
                      <a:schemeClr val="tx1"/>
                    </a:solidFill>
                  </a:rPr>
                  <a:t>値の自由度</a:t>
                </a:r>
                <a14:m>
                  <m:oMath xmlns:m="http://schemas.openxmlformats.org/officeDocument/2006/math">
                    <m:r>
                      <a:rPr lang="en-US" altLang="ja-JP" b="0" i="0" dirty="0" smtClean="0">
                        <a:solidFill>
                          <a:schemeClr val="tx1"/>
                        </a:solidFill>
                        <a:latin typeface="Cambria Math" panose="02040503050406030204" pitchFamily="18" charset="0"/>
                      </a:rPr>
                      <m:t>(</m:t>
                    </m:r>
                    <m:r>
                      <a:rPr lang="en-US" altLang="ja-JP" i="1" dirty="0" smtClean="0">
                        <a:solidFill>
                          <a:schemeClr val="tx1"/>
                        </a:solidFill>
                        <a:latin typeface="Cambria Math" panose="02040503050406030204" pitchFamily="18" charset="0"/>
                      </a:rPr>
                      <m:t>1</m:t>
                    </m:r>
                    <m:r>
                      <a:rPr lang="en-US" altLang="ja-JP" b="0" i="1" dirty="0" smtClean="0">
                        <a:solidFill>
                          <a:schemeClr val="tx1"/>
                        </a:solidFill>
                        <a:latin typeface="Cambria Math" panose="02040503050406030204" pitchFamily="18" charset="0"/>
                      </a:rPr>
                      <m:t>)</m:t>
                    </m:r>
                    <m:r>
                      <a:rPr lang="ja-JP" altLang="en-US" i="1" dirty="0" smtClean="0">
                        <a:solidFill>
                          <a:schemeClr val="tx1"/>
                        </a:solidFill>
                        <a:latin typeface="Cambria Math" panose="02040503050406030204" pitchFamily="18" charset="0"/>
                      </a:rPr>
                      <m:t>＝</m:t>
                    </m:r>
                    <m:r>
                      <a:rPr lang="en-US" altLang="ja-JP" b="0" i="1" dirty="0" smtClean="0">
                        <a:solidFill>
                          <a:schemeClr val="tx1"/>
                        </a:solidFill>
                        <a:latin typeface="Cambria Math" panose="02040503050406030204" pitchFamily="18" charset="0"/>
                      </a:rPr>
                      <m:t>3(</m:t>
                    </m:r>
                    <m:r>
                      <a:rPr lang="ja-JP" altLang="en-US" i="1" dirty="0">
                        <a:solidFill>
                          <a:schemeClr val="tx1"/>
                        </a:solidFill>
                        <a:latin typeface="Cambria Math" panose="02040503050406030204" pitchFamily="18" charset="0"/>
                      </a:rPr>
                      <m:t>怒り</m:t>
                    </m:r>
                    <m:r>
                      <a:rPr lang="ja-JP" altLang="en-US" i="1" dirty="0" smtClean="0">
                        <a:solidFill>
                          <a:schemeClr val="tx1"/>
                        </a:solidFill>
                        <a:latin typeface="Cambria Math" panose="02040503050406030204" pitchFamily="18" charset="0"/>
                      </a:rPr>
                      <m:t>・</m:t>
                    </m:r>
                    <m:r>
                      <a:rPr lang="ja-JP" altLang="en-US" i="1" dirty="0">
                        <a:solidFill>
                          <a:schemeClr val="tx1"/>
                        </a:solidFill>
                        <a:latin typeface="Cambria Math" panose="02040503050406030204" pitchFamily="18" charset="0"/>
                      </a:rPr>
                      <m:t>喜び</m:t>
                    </m:r>
                    <m:r>
                      <a:rPr lang="ja-JP" altLang="en-US" i="1" dirty="0" smtClean="0">
                        <a:solidFill>
                          <a:schemeClr val="tx1"/>
                        </a:solidFill>
                        <a:latin typeface="Cambria Math" panose="02040503050406030204" pitchFamily="18" charset="0"/>
                      </a:rPr>
                      <m:t>・</m:t>
                    </m:r>
                    <m:r>
                      <a:rPr lang="ja-JP" altLang="en-US" i="1" dirty="0">
                        <a:solidFill>
                          <a:schemeClr val="tx1"/>
                        </a:solidFill>
                        <a:latin typeface="Cambria Math" panose="02040503050406030204" pitchFamily="18" charset="0"/>
                      </a:rPr>
                      <m:t>中立</m:t>
                    </m:r>
                    <m:r>
                      <a:rPr lang="en-US" altLang="ja-JP" b="0" i="1" dirty="0" smtClean="0">
                        <a:solidFill>
                          <a:schemeClr val="tx1"/>
                        </a:solidFill>
                        <a:latin typeface="Cambria Math" panose="02040503050406030204" pitchFamily="18" charset="0"/>
                      </a:rPr>
                      <m:t>)</m:t>
                    </m:r>
                    <m:r>
                      <a:rPr lang="en-US" altLang="ja-JP" i="1" dirty="0" smtClean="0">
                        <a:solidFill>
                          <a:schemeClr val="tx1"/>
                        </a:solidFill>
                        <a:latin typeface="Cambria Math" panose="02040503050406030204" pitchFamily="18" charset="0"/>
                      </a:rPr>
                      <m:t>−1</m:t>
                    </m:r>
                    <m:r>
                      <a:rPr lang="en-US" altLang="ja-JP" b="0" i="1" dirty="0" smtClean="0">
                        <a:solidFill>
                          <a:schemeClr val="tx1"/>
                        </a:solidFill>
                        <a:latin typeface="Cambria Math" panose="02040503050406030204" pitchFamily="18" charset="0"/>
                      </a:rPr>
                      <m:t>(</m:t>
                    </m:r>
                    <m:r>
                      <a:rPr lang="ja-JP" altLang="en-US" i="1" dirty="0">
                        <a:solidFill>
                          <a:schemeClr val="tx1"/>
                        </a:solidFill>
                        <a:latin typeface="Cambria Math" panose="02040503050406030204" pitchFamily="18" charset="0"/>
                      </a:rPr>
                      <m:t>母集団の</m:t>
                    </m:r>
                    <m:r>
                      <a:rPr lang="ja-JP" altLang="en-US" i="1" dirty="0" smtClean="0">
                        <a:solidFill>
                          <a:schemeClr val="tx1"/>
                        </a:solidFill>
                        <a:latin typeface="Cambria Math" panose="02040503050406030204" pitchFamily="18" charset="0"/>
                      </a:rPr>
                      <m:t>平均</m:t>
                    </m:r>
                    <m:r>
                      <a:rPr lang="en-US" altLang="ja-JP" i="1" dirty="0">
                        <a:solidFill>
                          <a:schemeClr val="tx1"/>
                        </a:solidFill>
                        <a:latin typeface="Cambria Math" panose="02040503050406030204" pitchFamily="18" charset="0"/>
                      </a:rPr>
                      <m:t>)</m:t>
                    </m:r>
                    <m:r>
                      <a:rPr lang="en-US" altLang="ja-JP" i="1" dirty="0" smtClean="0">
                        <a:solidFill>
                          <a:schemeClr val="tx1"/>
                        </a:solidFill>
                        <a:latin typeface="Cambria Math" panose="02040503050406030204" pitchFamily="18" charset="0"/>
                      </a:rPr>
                      <m:t>=2</m:t>
                    </m:r>
                  </m:oMath>
                </a14:m>
                <a:endParaRPr lang="ja-JP" altLang="en-US" dirty="0">
                  <a:solidFill>
                    <a:schemeClr val="accent2"/>
                  </a:solidFill>
                </a:endParaRPr>
              </a:p>
            </p:txBody>
          </p:sp>
        </mc:Choice>
        <mc:Fallback xmlns="">
          <p:sp>
            <p:nvSpPr>
              <p:cNvPr id="30" name="テキスト プレースホルダー 29">
                <a:extLst>
                  <a:ext uri="{FF2B5EF4-FFF2-40B4-BE49-F238E27FC236}">
                    <a16:creationId xmlns:a16="http://schemas.microsoft.com/office/drawing/2014/main" id="{820DDAF2-5F28-4F4A-A1A4-6FE17E799ACD}"/>
                  </a:ext>
                </a:extLst>
              </p:cNvPr>
              <p:cNvSpPr txBox="1">
                <a:spLocks noRot="1" noChangeAspect="1" noMove="1" noResize="1" noEditPoints="1" noAdjustHandles="1" noChangeArrowheads="1" noChangeShapeType="1" noTextEdit="1"/>
              </p:cNvSpPr>
              <p:nvPr/>
            </p:nvSpPr>
            <p:spPr>
              <a:xfrm>
                <a:off x="1566368" y="6446258"/>
                <a:ext cx="18275484" cy="853994"/>
              </a:xfrm>
              <a:prstGeom prst="rect">
                <a:avLst/>
              </a:prstGeom>
              <a:blipFill>
                <a:blip r:embed="rId8"/>
                <a:stretch>
                  <a:fillRect l="-1201" t="-19858" b="-10638"/>
                </a:stretch>
              </a:blipFill>
            </p:spPr>
            <p:txBody>
              <a:bodyPr/>
              <a:lstStyle/>
              <a:p>
                <a:r>
                  <a:rPr lang="ja-JP" altLang="en-US">
                    <a:noFill/>
                  </a:rPr>
                  <a:t> </a:t>
                </a:r>
              </a:p>
            </p:txBody>
          </p:sp>
        </mc:Fallback>
      </mc:AlternateContent>
      <p:sp>
        <p:nvSpPr>
          <p:cNvPr id="31" name="三角形 12">
            <a:extLst>
              <a:ext uri="{FF2B5EF4-FFF2-40B4-BE49-F238E27FC236}">
                <a16:creationId xmlns:a16="http://schemas.microsoft.com/office/drawing/2014/main" id="{65595DA7-2467-4BB5-81D7-9529235CECA6}"/>
              </a:ext>
            </a:extLst>
          </p:cNvPr>
          <p:cNvSpPr/>
          <p:nvPr/>
        </p:nvSpPr>
        <p:spPr>
          <a:xfrm rot="5400000">
            <a:off x="1076238" y="7371640"/>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mc:AlternateContent xmlns:mc="http://schemas.openxmlformats.org/markup-compatibility/2006" xmlns:a14="http://schemas.microsoft.com/office/drawing/2010/main">
        <mc:Choice Requires="a14">
          <p:sp>
            <p:nvSpPr>
              <p:cNvPr id="32" name="テキスト プレースホルダー 29">
                <a:extLst>
                  <a:ext uri="{FF2B5EF4-FFF2-40B4-BE49-F238E27FC236}">
                    <a16:creationId xmlns:a16="http://schemas.microsoft.com/office/drawing/2014/main" id="{A59BE8D2-7476-4DFB-AFFD-9EA7C74750F2}"/>
                  </a:ext>
                </a:extLst>
              </p:cNvPr>
              <p:cNvSpPr txBox="1">
                <a:spLocks/>
              </p:cNvSpPr>
              <p:nvPr/>
            </p:nvSpPr>
            <p:spPr>
              <a:xfrm>
                <a:off x="1568600" y="7256366"/>
                <a:ext cx="1827548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solidFill>
                      <a:schemeClr val="tx1"/>
                    </a:solidFill>
                  </a:rPr>
                  <a:t>F</a:t>
                </a:r>
                <a:r>
                  <a:rPr lang="ja-JP" altLang="en-US" dirty="0">
                    <a:solidFill>
                      <a:schemeClr val="tx1"/>
                    </a:solidFill>
                  </a:rPr>
                  <a:t>値の自由度</a:t>
                </a:r>
                <a14:m>
                  <m:oMath xmlns:m="http://schemas.openxmlformats.org/officeDocument/2006/math">
                    <m:r>
                      <a:rPr lang="en-US" altLang="ja-JP" b="0" i="0" dirty="0" smtClean="0">
                        <a:solidFill>
                          <a:schemeClr val="tx1"/>
                        </a:solidFill>
                        <a:latin typeface="Cambria Math" panose="02040503050406030204" pitchFamily="18" charset="0"/>
                      </a:rPr>
                      <m:t>(</m:t>
                    </m:r>
                    <m:r>
                      <a:rPr lang="en-US" altLang="ja-JP" b="0" i="1" dirty="0" smtClean="0">
                        <a:solidFill>
                          <a:schemeClr val="tx1"/>
                        </a:solidFill>
                        <a:latin typeface="Cambria Math" panose="02040503050406030204" pitchFamily="18" charset="0"/>
                      </a:rPr>
                      <m:t>2)</m:t>
                    </m:r>
                    <m:r>
                      <a:rPr lang="ja-JP" altLang="en-US" i="1" dirty="0" smtClean="0">
                        <a:solidFill>
                          <a:schemeClr val="tx1"/>
                        </a:solidFill>
                        <a:latin typeface="Cambria Math" panose="02040503050406030204" pitchFamily="18" charset="0"/>
                      </a:rPr>
                      <m:t>＝</m:t>
                    </m:r>
                    <m:r>
                      <a:rPr lang="en-US" altLang="ja-JP" i="1" dirty="0">
                        <a:solidFill>
                          <a:schemeClr val="tx1"/>
                        </a:solidFill>
                        <a:latin typeface="Cambria Math" panose="02040503050406030204" pitchFamily="18" charset="0"/>
                      </a:rPr>
                      <m:t>126</m:t>
                    </m:r>
                    <m:r>
                      <a:rPr lang="en-US" altLang="ja-JP" b="0" i="1" dirty="0" smtClean="0">
                        <a:solidFill>
                          <a:schemeClr val="tx1"/>
                        </a:solidFill>
                        <a:latin typeface="Cambria Math" panose="02040503050406030204" pitchFamily="18" charset="0"/>
                      </a:rPr>
                      <m:t>(</m:t>
                    </m:r>
                    <m:r>
                      <a:rPr lang="en-US" altLang="ja-JP" i="1" dirty="0" smtClean="0">
                        <a:solidFill>
                          <a:schemeClr val="tx1"/>
                        </a:solidFill>
                        <a:latin typeface="Cambria Math" panose="02040503050406030204" pitchFamily="18" charset="0"/>
                      </a:rPr>
                      <m:t>150</m:t>
                    </m:r>
                    <m:r>
                      <a:rPr lang="ja-JP" altLang="en-US" i="1" dirty="0" smtClean="0">
                        <a:solidFill>
                          <a:schemeClr val="tx1"/>
                        </a:solidFill>
                        <a:latin typeface="Cambria Math" panose="02040503050406030204" pitchFamily="18" charset="0"/>
                      </a:rPr>
                      <m:t>名</m:t>
                    </m:r>
                    <m:r>
                      <a:rPr lang="en-US" altLang="ja-JP" i="1" dirty="0" smtClean="0">
                        <a:solidFill>
                          <a:schemeClr val="tx1"/>
                        </a:solidFill>
                        <a:latin typeface="Cambria Math" panose="02040503050406030204" pitchFamily="18" charset="0"/>
                      </a:rPr>
                      <m:t>−24</m:t>
                    </m:r>
                    <m:r>
                      <a:rPr lang="ja-JP" altLang="en-US" i="1" dirty="0" smtClean="0">
                        <a:solidFill>
                          <a:schemeClr val="tx1"/>
                        </a:solidFill>
                        <a:latin typeface="Cambria Math" panose="02040503050406030204" pitchFamily="18" charset="0"/>
                      </a:rPr>
                      <m:t>名</m:t>
                    </m:r>
                    <m:r>
                      <a:rPr lang="en-US" altLang="ja-JP" b="0" i="1" dirty="0" smtClean="0">
                        <a:solidFill>
                          <a:schemeClr val="tx1"/>
                        </a:solidFill>
                        <a:latin typeface="Cambria Math" panose="02040503050406030204" pitchFamily="18" charset="0"/>
                      </a:rPr>
                      <m:t>)</m:t>
                    </m:r>
                    <m:r>
                      <a:rPr lang="en-US" altLang="ja-JP" i="1" dirty="0" smtClean="0">
                        <a:solidFill>
                          <a:schemeClr val="tx1"/>
                        </a:solidFill>
                        <a:latin typeface="Cambria Math" panose="02040503050406030204" pitchFamily="18" charset="0"/>
                      </a:rPr>
                      <m:t>−</m:t>
                    </m:r>
                    <m:r>
                      <a:rPr lang="en-US" altLang="ja-JP" b="0" i="1" dirty="0" smtClean="0">
                        <a:solidFill>
                          <a:schemeClr val="tx1"/>
                        </a:solidFill>
                        <a:latin typeface="Cambria Math" panose="02040503050406030204" pitchFamily="18" charset="0"/>
                      </a:rPr>
                      <m:t>6(</m:t>
                    </m:r>
                    <m:r>
                      <a:rPr lang="ja-JP" altLang="en-US" i="1" dirty="0">
                        <a:solidFill>
                          <a:schemeClr val="tx1"/>
                        </a:solidFill>
                        <a:latin typeface="Cambria Math" panose="02040503050406030204" pitchFamily="18" charset="0"/>
                      </a:rPr>
                      <m:t>母集団の</m:t>
                    </m:r>
                    <m:r>
                      <a:rPr lang="ja-JP" altLang="en-US" i="1" dirty="0" smtClean="0">
                        <a:solidFill>
                          <a:schemeClr val="tx1"/>
                        </a:solidFill>
                        <a:latin typeface="Cambria Math" panose="02040503050406030204" pitchFamily="18" charset="0"/>
                      </a:rPr>
                      <m:t>平均</m:t>
                    </m:r>
                    <m:r>
                      <a:rPr lang="en-US" altLang="ja-JP" i="1" dirty="0">
                        <a:solidFill>
                          <a:schemeClr val="tx1"/>
                        </a:solidFill>
                        <a:latin typeface="Cambria Math" panose="02040503050406030204" pitchFamily="18" charset="0"/>
                      </a:rPr>
                      <m:t>)</m:t>
                    </m:r>
                    <m:r>
                      <a:rPr lang="en-US" altLang="ja-JP" i="1" dirty="0" smtClean="0">
                        <a:solidFill>
                          <a:schemeClr val="tx1"/>
                        </a:solidFill>
                        <a:latin typeface="Cambria Math" panose="02040503050406030204" pitchFamily="18" charset="0"/>
                      </a:rPr>
                      <m:t>=12</m:t>
                    </m:r>
                    <m:r>
                      <a:rPr lang="en-US" altLang="ja-JP" b="0" i="1" dirty="0" smtClean="0">
                        <a:solidFill>
                          <a:schemeClr val="tx1"/>
                        </a:solidFill>
                        <a:latin typeface="Cambria Math" panose="02040503050406030204" pitchFamily="18" charset="0"/>
                      </a:rPr>
                      <m:t>0</m:t>
                    </m:r>
                  </m:oMath>
                </a14:m>
                <a:endParaRPr lang="ja-JP" altLang="en-US" dirty="0">
                  <a:solidFill>
                    <a:schemeClr val="accent2"/>
                  </a:solidFill>
                </a:endParaRPr>
              </a:p>
            </p:txBody>
          </p:sp>
        </mc:Choice>
        <mc:Fallback xmlns="">
          <p:sp>
            <p:nvSpPr>
              <p:cNvPr id="32" name="テキスト プレースホルダー 29">
                <a:extLst>
                  <a:ext uri="{FF2B5EF4-FFF2-40B4-BE49-F238E27FC236}">
                    <a16:creationId xmlns:a16="http://schemas.microsoft.com/office/drawing/2014/main" id="{A59BE8D2-7476-4DFB-AFFD-9EA7C74750F2}"/>
                  </a:ext>
                </a:extLst>
              </p:cNvPr>
              <p:cNvSpPr txBox="1">
                <a:spLocks noRot="1" noChangeAspect="1" noMove="1" noResize="1" noEditPoints="1" noAdjustHandles="1" noChangeArrowheads="1" noChangeShapeType="1" noTextEdit="1"/>
              </p:cNvSpPr>
              <p:nvPr/>
            </p:nvSpPr>
            <p:spPr>
              <a:xfrm>
                <a:off x="1568600" y="7256366"/>
                <a:ext cx="18275484" cy="853994"/>
              </a:xfrm>
              <a:prstGeom prst="rect">
                <a:avLst/>
              </a:prstGeom>
              <a:blipFill>
                <a:blip r:embed="rId9"/>
                <a:stretch>
                  <a:fillRect l="-1167" t="-21429" b="-10000"/>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1922953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37" name="グループ化 36">
            <a:extLst>
              <a:ext uri="{FF2B5EF4-FFF2-40B4-BE49-F238E27FC236}">
                <a16:creationId xmlns:a16="http://schemas.microsoft.com/office/drawing/2014/main" id="{0F43D92D-1E68-EF4A-8153-4DC9B21D77FE}"/>
              </a:ext>
            </a:extLst>
          </p:cNvPr>
          <p:cNvGrpSpPr/>
          <p:nvPr/>
        </p:nvGrpSpPr>
        <p:grpSpPr>
          <a:xfrm>
            <a:off x="289330" y="1413298"/>
            <a:ext cx="2160000" cy="934436"/>
            <a:chOff x="144665" y="525617"/>
            <a:chExt cx="1080000" cy="467218"/>
          </a:xfrm>
        </p:grpSpPr>
        <p:sp>
          <p:nvSpPr>
            <p:cNvPr id="38" name="正方形/長方形 37">
              <a:extLst>
                <a:ext uri="{FF2B5EF4-FFF2-40B4-BE49-F238E27FC236}">
                  <a16:creationId xmlns:a16="http://schemas.microsoft.com/office/drawing/2014/main" id="{A34D3398-9322-F748-B364-CA3F60D9B540}"/>
                </a:ext>
              </a:extLst>
            </p:cNvPr>
            <p:cNvSpPr/>
            <p:nvPr userDrawn="1"/>
          </p:nvSpPr>
          <p:spPr>
            <a:xfrm>
              <a:off x="145524" y="542424"/>
              <a:ext cx="91081" cy="450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sp>
          <p:nvSpPr>
            <p:cNvPr id="39" name="正方形/長方形 38">
              <a:extLst>
                <a:ext uri="{FF2B5EF4-FFF2-40B4-BE49-F238E27FC236}">
                  <a16:creationId xmlns:a16="http://schemas.microsoft.com/office/drawing/2014/main" id="{DD43C602-551C-5746-BC9B-C19E492EADDB}"/>
                </a:ext>
              </a:extLst>
            </p:cNvPr>
            <p:cNvSpPr/>
            <p:nvPr userDrawn="1"/>
          </p:nvSpPr>
          <p:spPr>
            <a:xfrm>
              <a:off x="144665" y="525617"/>
              <a:ext cx="1080000" cy="161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grpSp>
      <p:grpSp>
        <p:nvGrpSpPr>
          <p:cNvPr id="40" name="グループ化 39">
            <a:extLst>
              <a:ext uri="{FF2B5EF4-FFF2-40B4-BE49-F238E27FC236}">
                <a16:creationId xmlns:a16="http://schemas.microsoft.com/office/drawing/2014/main" id="{7D2F3500-005E-9541-81E5-8F781456C6E9}"/>
              </a:ext>
            </a:extLst>
          </p:cNvPr>
          <p:cNvGrpSpPr/>
          <p:nvPr/>
        </p:nvGrpSpPr>
        <p:grpSpPr>
          <a:xfrm>
            <a:off x="617232" y="2557358"/>
            <a:ext cx="539448" cy="487368"/>
            <a:chOff x="400056" y="1061560"/>
            <a:chExt cx="269724" cy="243684"/>
          </a:xfrm>
        </p:grpSpPr>
        <p:sp>
          <p:nvSpPr>
            <p:cNvPr id="41" name="三角形 40">
              <a:extLst>
                <a:ext uri="{FF2B5EF4-FFF2-40B4-BE49-F238E27FC236}">
                  <a16:creationId xmlns:a16="http://schemas.microsoft.com/office/drawing/2014/main" id="{D29DEB6E-A193-0546-B684-3CB43FF9DF41}"/>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42" name="三角形 41">
              <a:extLst>
                <a:ext uri="{FF2B5EF4-FFF2-40B4-BE49-F238E27FC236}">
                  <a16:creationId xmlns:a16="http://schemas.microsoft.com/office/drawing/2014/main" id="{2CEA62FD-E89F-5B40-B5BD-22C36179584A}"/>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43" name="三角形 42">
            <a:extLst>
              <a:ext uri="{FF2B5EF4-FFF2-40B4-BE49-F238E27FC236}">
                <a16:creationId xmlns:a16="http://schemas.microsoft.com/office/drawing/2014/main" id="{F0E65632-B875-9644-B7BD-5AC77419A68E}"/>
              </a:ext>
            </a:extLst>
          </p:cNvPr>
          <p:cNvSpPr/>
          <p:nvPr/>
        </p:nvSpPr>
        <p:spPr>
          <a:xfrm rot="5400000">
            <a:off x="1076238" y="3361776"/>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44" name="テキスト プレースホルダー 27">
            <a:extLst>
              <a:ext uri="{FF2B5EF4-FFF2-40B4-BE49-F238E27FC236}">
                <a16:creationId xmlns:a16="http://schemas.microsoft.com/office/drawing/2014/main" id="{3ED0938B-63CA-DD4A-9751-C64A1DA1B535}"/>
              </a:ext>
            </a:extLst>
          </p:cNvPr>
          <p:cNvSpPr txBox="1">
            <a:spLocks/>
          </p:cNvSpPr>
          <p:nvPr/>
        </p:nvSpPr>
        <p:spPr>
          <a:xfrm>
            <a:off x="1254486" y="2484733"/>
            <a:ext cx="16632960" cy="99783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レベル</a:t>
            </a:r>
            <a:r>
              <a:rPr lang="en-US" altLang="ja-JP" dirty="0"/>
              <a:t>2</a:t>
            </a:r>
            <a:endParaRPr lang="ja-JP" altLang="en-US"/>
          </a:p>
        </p:txBody>
      </p:sp>
      <p:sp>
        <p:nvSpPr>
          <p:cNvPr id="45" name="テキスト プレースホルダー 29">
            <a:extLst>
              <a:ext uri="{FF2B5EF4-FFF2-40B4-BE49-F238E27FC236}">
                <a16:creationId xmlns:a16="http://schemas.microsoft.com/office/drawing/2014/main" id="{090E7D85-8568-4F42-952D-8AE547A43A32}"/>
              </a:ext>
            </a:extLst>
          </p:cNvPr>
          <p:cNvSpPr txBox="1">
            <a:spLocks/>
          </p:cNvSpPr>
          <p:nvPr/>
        </p:nvSpPr>
        <p:spPr>
          <a:xfrm>
            <a:off x="1568600" y="3246502"/>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レベル</a:t>
            </a:r>
            <a:r>
              <a:rPr lang="en-US" altLang="ja-JP" dirty="0"/>
              <a:t>3</a:t>
            </a:r>
            <a:endParaRPr lang="ja-JP" altLang="en-US"/>
          </a:p>
        </p:txBody>
      </p:sp>
      <p:sp>
        <p:nvSpPr>
          <p:cNvPr id="46" name="テキスト プレースホルダー 30">
            <a:extLst>
              <a:ext uri="{FF2B5EF4-FFF2-40B4-BE49-F238E27FC236}">
                <a16:creationId xmlns:a16="http://schemas.microsoft.com/office/drawing/2014/main" id="{8C754852-53DA-F34B-BF94-C8A638634541}"/>
              </a:ext>
            </a:extLst>
          </p:cNvPr>
          <p:cNvSpPr txBox="1">
            <a:spLocks/>
          </p:cNvSpPr>
          <p:nvPr/>
        </p:nvSpPr>
        <p:spPr>
          <a:xfrm>
            <a:off x="571049" y="1583871"/>
            <a:ext cx="17302163" cy="1403350"/>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60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レベル</a:t>
            </a:r>
            <a:r>
              <a:rPr lang="en-US" altLang="ja-JP"/>
              <a:t>1</a:t>
            </a:r>
            <a:endParaRPr lang="ja-JP" altLang="en-US"/>
          </a:p>
        </p:txBody>
      </p:sp>
      <p:sp>
        <p:nvSpPr>
          <p:cNvPr id="12" name="正方形/長方形 11">
            <a:extLst>
              <a:ext uri="{FF2B5EF4-FFF2-40B4-BE49-F238E27FC236}">
                <a16:creationId xmlns:a16="http://schemas.microsoft.com/office/drawing/2014/main" id="{476B25E6-38D1-DE4E-879D-49178108AB02}"/>
              </a:ext>
            </a:extLst>
          </p:cNvPr>
          <p:cNvSpPr/>
          <p:nvPr/>
        </p:nvSpPr>
        <p:spPr>
          <a:xfrm>
            <a:off x="617232" y="3762234"/>
            <a:ext cx="2160000" cy="3286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sp>
        <p:nvSpPr>
          <p:cNvPr id="2" name="日付プレースホルダー 1">
            <a:extLst>
              <a:ext uri="{FF2B5EF4-FFF2-40B4-BE49-F238E27FC236}">
                <a16:creationId xmlns:a16="http://schemas.microsoft.com/office/drawing/2014/main" id="{DE492A0B-E8BA-440E-A362-71EB5D2801D7}"/>
              </a:ext>
            </a:extLst>
          </p:cNvPr>
          <p:cNvSpPr>
            <a:spLocks noGrp="1"/>
          </p:cNvSpPr>
          <p:nvPr>
            <p:ph type="dt" sz="half" idx="10"/>
          </p:nvPr>
        </p:nvSpPr>
        <p:spPr/>
        <p:txBody>
          <a:bodyPr/>
          <a:lstStyle/>
          <a:p>
            <a:fld id="{49692F1E-685E-40C6-A42B-8BC18A18F21A}" type="datetime1">
              <a:rPr kumimoji="1" lang="ja-JP" altLang="en-US" smtClean="0"/>
              <a:t>2018/6/9</a:t>
            </a:fld>
            <a:endParaRPr kumimoji="1" lang="ja-JP" altLang="en-US"/>
          </a:p>
        </p:txBody>
      </p:sp>
      <p:sp>
        <p:nvSpPr>
          <p:cNvPr id="3" name="フッター プレースホルダー 2">
            <a:extLst>
              <a:ext uri="{FF2B5EF4-FFF2-40B4-BE49-F238E27FC236}">
                <a16:creationId xmlns:a16="http://schemas.microsoft.com/office/drawing/2014/main" id="{DB7F1FD1-C822-464D-940C-DAB95B6F1E62}"/>
              </a:ext>
            </a:extLst>
          </p:cNvPr>
          <p:cNvSpPr>
            <a:spLocks noGrp="1"/>
          </p:cNvSpPr>
          <p:nvPr>
            <p:ph type="ftr" sz="quarter" idx="11"/>
          </p:nvPr>
        </p:nvSpPr>
        <p:spPr/>
        <p:txBody>
          <a:bodyPr/>
          <a:lstStyle/>
          <a:p>
            <a:r>
              <a:rPr kumimoji="1" lang="ja-JP" altLang="en-US"/>
              <a:t>文献講読発表</a:t>
            </a:r>
            <a:r>
              <a:rPr kumimoji="1" lang="en-US" altLang="ja-JP"/>
              <a:t>(2018.05.07)</a:t>
            </a:r>
            <a:endParaRPr kumimoji="1" lang="ja-JP" altLang="en-US"/>
          </a:p>
        </p:txBody>
      </p:sp>
      <p:sp>
        <p:nvSpPr>
          <p:cNvPr id="4" name="スライド番号プレースホルダー 3">
            <a:extLst>
              <a:ext uri="{FF2B5EF4-FFF2-40B4-BE49-F238E27FC236}">
                <a16:creationId xmlns:a16="http://schemas.microsoft.com/office/drawing/2014/main" id="{99DEFD88-84B7-4DCC-9111-EA6F81B25BBB}"/>
              </a:ext>
            </a:extLst>
          </p:cNvPr>
          <p:cNvSpPr>
            <a:spLocks noGrp="1"/>
          </p:cNvSpPr>
          <p:nvPr>
            <p:ph type="sldNum" sz="quarter" idx="12"/>
          </p:nvPr>
        </p:nvSpPr>
        <p:spPr/>
        <p:txBody>
          <a:bodyPr/>
          <a:lstStyle/>
          <a:p>
            <a:fld id="{89242BC1-393D-1248-985B-18DA624F2964}" type="slidenum">
              <a:rPr kumimoji="1" lang="ja-JP" altLang="en-US" smtClean="0"/>
              <a:t>31</a:t>
            </a:fld>
            <a:endParaRPr kumimoji="1" lang="ja-JP" altLang="en-US"/>
          </a:p>
        </p:txBody>
      </p:sp>
    </p:spTree>
    <p:extLst>
      <p:ext uri="{BB962C8B-B14F-4D97-AF65-F5344CB8AC3E}">
        <p14:creationId xmlns:p14="http://schemas.microsoft.com/office/powerpoint/2010/main" val="22043327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3520CDD-7107-D140-A1A0-69D0D69B10F3}"/>
              </a:ext>
            </a:extLst>
          </p:cNvPr>
          <p:cNvSpPr>
            <a:spLocks noGrp="1"/>
          </p:cNvSpPr>
          <p:nvPr>
            <p:ph type="dt" sz="half" idx="10"/>
          </p:nvPr>
        </p:nvSpPr>
        <p:spPr/>
        <p:txBody>
          <a:bodyPr/>
          <a:lstStyle/>
          <a:p>
            <a:fld id="{35974365-84F6-754A-A339-DA79FFD42E98}" type="datetime1">
              <a:rPr lang="ja-JP" altLang="en-US" smtClean="0"/>
              <a:t>2018/6/9</a:t>
            </a:fld>
            <a:endParaRPr lang="ja-JP" altLang="en-US"/>
          </a:p>
        </p:txBody>
      </p:sp>
      <p:sp>
        <p:nvSpPr>
          <p:cNvPr id="3" name="フッター プレースホルダー 2">
            <a:extLst>
              <a:ext uri="{FF2B5EF4-FFF2-40B4-BE49-F238E27FC236}">
                <a16:creationId xmlns:a16="http://schemas.microsoft.com/office/drawing/2014/main" id="{6EEFBA0C-3454-8D4D-87CE-5BA9ED8AFBE5}"/>
              </a:ext>
            </a:extLst>
          </p:cNvPr>
          <p:cNvSpPr>
            <a:spLocks noGrp="1"/>
          </p:cNvSpPr>
          <p:nvPr>
            <p:ph type="ftr" sz="quarter" idx="11"/>
          </p:nvPr>
        </p:nvSpPr>
        <p:spPr/>
        <p:txBody>
          <a:bodyPr/>
          <a:lstStyle/>
          <a:p>
            <a:r>
              <a:rPr lang="ja-JP" altLang="en-US"/>
              <a:t>進捗報告</a:t>
            </a:r>
            <a:r>
              <a:rPr lang="en-US" altLang="ja-JP"/>
              <a:t>(2018.06.06)</a:t>
            </a:r>
            <a:endParaRPr lang="ja-JP" altLang="en-US"/>
          </a:p>
        </p:txBody>
      </p:sp>
      <p:sp>
        <p:nvSpPr>
          <p:cNvPr id="4" name="スライド番号プレースホルダー 3">
            <a:extLst>
              <a:ext uri="{FF2B5EF4-FFF2-40B4-BE49-F238E27FC236}">
                <a16:creationId xmlns:a16="http://schemas.microsoft.com/office/drawing/2014/main" id="{5D405AD0-9091-A94B-BA67-32995AD15B35}"/>
              </a:ext>
            </a:extLst>
          </p:cNvPr>
          <p:cNvSpPr>
            <a:spLocks noGrp="1"/>
          </p:cNvSpPr>
          <p:nvPr>
            <p:ph type="sldNum" sz="quarter" idx="12"/>
          </p:nvPr>
        </p:nvSpPr>
        <p:spPr/>
        <p:txBody>
          <a:bodyPr/>
          <a:lstStyle/>
          <a:p>
            <a:fld id="{89242BC1-393D-1248-985B-18DA624F2964}" type="slidenum">
              <a:rPr lang="ja-JP" altLang="en-US" smtClean="0"/>
              <a:pPr/>
              <a:t>32</a:t>
            </a:fld>
            <a:endParaRPr lang="ja-JP" altLang="en-US"/>
          </a:p>
        </p:txBody>
      </p:sp>
      <p:sp>
        <p:nvSpPr>
          <p:cNvPr id="5" name="テキスト プレースホルダー 4">
            <a:extLst>
              <a:ext uri="{FF2B5EF4-FFF2-40B4-BE49-F238E27FC236}">
                <a16:creationId xmlns:a16="http://schemas.microsoft.com/office/drawing/2014/main" id="{26DD2A8D-F804-D546-B77D-9693A67C3E0B}"/>
              </a:ext>
            </a:extLst>
          </p:cNvPr>
          <p:cNvSpPr>
            <a:spLocks noGrp="1"/>
          </p:cNvSpPr>
          <p:nvPr>
            <p:ph type="body" sz="quarter" idx="14"/>
          </p:nvPr>
        </p:nvSpPr>
        <p:spPr/>
        <p:txBody>
          <a:bodyPr/>
          <a:lstStyle/>
          <a:p>
            <a:r>
              <a:rPr lang="ja-JP" altLang="en-US"/>
              <a:t>評価・考察</a:t>
            </a:r>
            <a:endParaRPr kumimoji="1" lang="ja-JP" altLang="en-US"/>
          </a:p>
        </p:txBody>
      </p:sp>
      <p:sp>
        <p:nvSpPr>
          <p:cNvPr id="6" name="テキスト プレースホルダー 5">
            <a:extLst>
              <a:ext uri="{FF2B5EF4-FFF2-40B4-BE49-F238E27FC236}">
                <a16:creationId xmlns:a16="http://schemas.microsoft.com/office/drawing/2014/main" id="{18F5D246-4675-9D44-B96B-BEDD6F01EDA7}"/>
              </a:ext>
            </a:extLst>
          </p:cNvPr>
          <p:cNvSpPr>
            <a:spLocks noGrp="1"/>
          </p:cNvSpPr>
          <p:nvPr>
            <p:ph type="body" sz="quarter" idx="13"/>
          </p:nvPr>
        </p:nvSpPr>
        <p:spPr/>
        <p:txBody>
          <a:bodyPr/>
          <a:lstStyle/>
          <a:p>
            <a:r>
              <a:rPr lang="en-US" altLang="ja-JP" dirty="0"/>
              <a:t>3</a:t>
            </a:r>
            <a:endParaRPr kumimoji="1" lang="ja-JP" altLang="en-US"/>
          </a:p>
        </p:txBody>
      </p:sp>
      <p:grpSp>
        <p:nvGrpSpPr>
          <p:cNvPr id="31" name="グループ化 30">
            <a:extLst>
              <a:ext uri="{FF2B5EF4-FFF2-40B4-BE49-F238E27FC236}">
                <a16:creationId xmlns:a16="http://schemas.microsoft.com/office/drawing/2014/main" id="{FD81DDC5-24B5-F24B-8DCA-6543CEE8DC81}"/>
              </a:ext>
            </a:extLst>
          </p:cNvPr>
          <p:cNvGrpSpPr/>
          <p:nvPr/>
        </p:nvGrpSpPr>
        <p:grpSpPr>
          <a:xfrm>
            <a:off x="289330" y="1413298"/>
            <a:ext cx="2160000" cy="934436"/>
            <a:chOff x="144665" y="525617"/>
            <a:chExt cx="1080000" cy="467218"/>
          </a:xfrm>
        </p:grpSpPr>
        <p:sp>
          <p:nvSpPr>
            <p:cNvPr id="32" name="正方形/長方形 31">
              <a:extLst>
                <a:ext uri="{FF2B5EF4-FFF2-40B4-BE49-F238E27FC236}">
                  <a16:creationId xmlns:a16="http://schemas.microsoft.com/office/drawing/2014/main" id="{073638CC-28A2-E943-AD34-548A0C227633}"/>
                </a:ext>
              </a:extLst>
            </p:cNvPr>
            <p:cNvSpPr/>
            <p:nvPr userDrawn="1"/>
          </p:nvSpPr>
          <p:spPr>
            <a:xfrm>
              <a:off x="145524" y="542424"/>
              <a:ext cx="91081" cy="450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sp>
          <p:nvSpPr>
            <p:cNvPr id="33" name="正方形/長方形 32">
              <a:extLst>
                <a:ext uri="{FF2B5EF4-FFF2-40B4-BE49-F238E27FC236}">
                  <a16:creationId xmlns:a16="http://schemas.microsoft.com/office/drawing/2014/main" id="{89C51296-914D-A74C-889D-A570C54F6A57}"/>
                </a:ext>
              </a:extLst>
            </p:cNvPr>
            <p:cNvSpPr/>
            <p:nvPr userDrawn="1"/>
          </p:nvSpPr>
          <p:spPr>
            <a:xfrm>
              <a:off x="144665" y="525617"/>
              <a:ext cx="1080000" cy="161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grpSp>
      <p:sp>
        <p:nvSpPr>
          <p:cNvPr id="37" name="テキスト プレースホルダー 30">
            <a:extLst>
              <a:ext uri="{FF2B5EF4-FFF2-40B4-BE49-F238E27FC236}">
                <a16:creationId xmlns:a16="http://schemas.microsoft.com/office/drawing/2014/main" id="{A73B3907-668E-1A41-B5F4-6D46EA930E91}"/>
              </a:ext>
            </a:extLst>
          </p:cNvPr>
          <p:cNvSpPr txBox="1">
            <a:spLocks/>
          </p:cNvSpPr>
          <p:nvPr/>
        </p:nvSpPr>
        <p:spPr>
          <a:xfrm>
            <a:off x="571049" y="1583871"/>
            <a:ext cx="17302163" cy="1403350"/>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60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被験者が送信したメッセージの数</a:t>
            </a:r>
            <a:r>
              <a:rPr lang="en-US" altLang="ja-JP" dirty="0"/>
              <a:t>(</a:t>
            </a:r>
            <a:r>
              <a:rPr lang="ja-JP" altLang="en-US"/>
              <a:t>選好除外</a:t>
            </a:r>
            <a:r>
              <a:rPr lang="en-US" altLang="ja-JP" dirty="0"/>
              <a:t>)</a:t>
            </a:r>
            <a:endParaRPr lang="ja-JP" altLang="en-US"/>
          </a:p>
        </p:txBody>
      </p:sp>
      <p:pic>
        <p:nvPicPr>
          <p:cNvPr id="8" name="図 7">
            <a:extLst>
              <a:ext uri="{FF2B5EF4-FFF2-40B4-BE49-F238E27FC236}">
                <a16:creationId xmlns:a16="http://schemas.microsoft.com/office/drawing/2014/main" id="{CA6373BE-F163-FB46-A26E-959C6B58B094}"/>
              </a:ext>
            </a:extLst>
          </p:cNvPr>
          <p:cNvPicPr>
            <a:picLocks noChangeAspect="1"/>
          </p:cNvPicPr>
          <p:nvPr/>
        </p:nvPicPr>
        <p:blipFill>
          <a:blip r:embed="rId2"/>
          <a:stretch>
            <a:fillRect/>
          </a:stretch>
        </p:blipFill>
        <p:spPr>
          <a:xfrm>
            <a:off x="4417143" y="7714449"/>
            <a:ext cx="10215858" cy="5594400"/>
          </a:xfrm>
          <a:prstGeom prst="rect">
            <a:avLst/>
          </a:prstGeom>
        </p:spPr>
      </p:pic>
      <p:sp>
        <p:nvSpPr>
          <p:cNvPr id="27" name="テキスト プレースホルダー 27">
            <a:extLst>
              <a:ext uri="{FF2B5EF4-FFF2-40B4-BE49-F238E27FC236}">
                <a16:creationId xmlns:a16="http://schemas.microsoft.com/office/drawing/2014/main" id="{93A2A9E1-21DA-184F-B179-025C75CC0F29}"/>
              </a:ext>
            </a:extLst>
          </p:cNvPr>
          <p:cNvSpPr txBox="1">
            <a:spLocks/>
          </p:cNvSpPr>
          <p:nvPr/>
        </p:nvSpPr>
        <p:spPr>
          <a:xfrm>
            <a:off x="1254486" y="2486122"/>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en-US" altLang="ja-JP" dirty="0"/>
              <a:t>ANOVA</a:t>
            </a:r>
            <a:r>
              <a:rPr lang="ja-JP" altLang="en-US"/>
              <a:t>を使用しエージェントのトーンによる影響を分析</a:t>
            </a:r>
            <a:endParaRPr lang="en-US" altLang="ja-JP" dirty="0"/>
          </a:p>
        </p:txBody>
      </p:sp>
      <p:grpSp>
        <p:nvGrpSpPr>
          <p:cNvPr id="50" name="グループ化 49">
            <a:extLst>
              <a:ext uri="{FF2B5EF4-FFF2-40B4-BE49-F238E27FC236}">
                <a16:creationId xmlns:a16="http://schemas.microsoft.com/office/drawing/2014/main" id="{E715CCD2-7CBC-2F46-9FCE-8A125FDA304B}"/>
              </a:ext>
            </a:extLst>
          </p:cNvPr>
          <p:cNvGrpSpPr/>
          <p:nvPr/>
        </p:nvGrpSpPr>
        <p:grpSpPr>
          <a:xfrm>
            <a:off x="617232" y="2557358"/>
            <a:ext cx="539448" cy="487368"/>
            <a:chOff x="400056" y="1061560"/>
            <a:chExt cx="269724" cy="243684"/>
          </a:xfrm>
        </p:grpSpPr>
        <p:sp>
          <p:nvSpPr>
            <p:cNvPr id="51" name="三角形 50">
              <a:extLst>
                <a:ext uri="{FF2B5EF4-FFF2-40B4-BE49-F238E27FC236}">
                  <a16:creationId xmlns:a16="http://schemas.microsoft.com/office/drawing/2014/main" id="{4270F85A-1558-7F46-9313-2E10789E0038}"/>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52" name="三角形 51">
              <a:extLst>
                <a:ext uri="{FF2B5EF4-FFF2-40B4-BE49-F238E27FC236}">
                  <a16:creationId xmlns:a16="http://schemas.microsoft.com/office/drawing/2014/main" id="{60CBF3B1-0E43-BC41-9C45-3FAC257E5742}"/>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24" name="三角形 23">
            <a:extLst>
              <a:ext uri="{FF2B5EF4-FFF2-40B4-BE49-F238E27FC236}">
                <a16:creationId xmlns:a16="http://schemas.microsoft.com/office/drawing/2014/main" id="{60441E68-F8C0-1A4A-8C3C-9523F19C3C2D}"/>
              </a:ext>
            </a:extLst>
          </p:cNvPr>
          <p:cNvSpPr/>
          <p:nvPr/>
        </p:nvSpPr>
        <p:spPr>
          <a:xfrm rot="5400000">
            <a:off x="1076238" y="3361776"/>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mc:AlternateContent xmlns:mc="http://schemas.openxmlformats.org/markup-compatibility/2006" xmlns:a14="http://schemas.microsoft.com/office/drawing/2010/main">
        <mc:Choice Requires="a14">
          <p:sp>
            <p:nvSpPr>
              <p:cNvPr id="25" name="テキスト プレースホルダー 29">
                <a:extLst>
                  <a:ext uri="{FF2B5EF4-FFF2-40B4-BE49-F238E27FC236}">
                    <a16:creationId xmlns:a16="http://schemas.microsoft.com/office/drawing/2014/main" id="{1CFE1702-05BC-4A41-8859-CF005EF42D6D}"/>
                  </a:ext>
                </a:extLst>
              </p:cNvPr>
              <p:cNvSpPr txBox="1">
                <a:spLocks/>
              </p:cNvSpPr>
              <p:nvPr/>
            </p:nvSpPr>
            <p:spPr>
              <a:xfrm>
                <a:off x="1443786" y="3246502"/>
                <a:ext cx="1827548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pPr/>
                <a14:m>
                  <m:oMathPara xmlns:m="http://schemas.openxmlformats.org/officeDocument/2006/math">
                    <m:oMathParaPr>
                      <m:jc m:val="left"/>
                    </m:oMathParaPr>
                    <m:oMath xmlns:m="http://schemas.openxmlformats.org/officeDocument/2006/math">
                      <m:r>
                        <a:rPr lang="ja-JP" altLang="en-US" i="1" smtClean="0">
                          <a:latin typeface="Cambria Math" panose="02040503050406030204" pitchFamily="18" charset="0"/>
                        </a:rPr>
                        <m:t>主効果</m:t>
                      </m:r>
                      <m:r>
                        <a:rPr lang="ja-JP" altLang="en-US" i="1">
                          <a:solidFill>
                            <a:schemeClr val="accent2"/>
                          </a:solidFill>
                          <a:latin typeface="Cambria Math" panose="02040503050406030204" pitchFamily="18" charset="0"/>
                        </a:rPr>
                        <m:t>あり</m:t>
                      </m:r>
                      <m:r>
                        <a:rPr lang="ja-JP" altLang="en-US" i="1">
                          <a:latin typeface="Cambria Math" panose="02040503050406030204" pitchFamily="18" charset="0"/>
                        </a:rPr>
                        <m:t>　</m:t>
                      </m:r>
                      <m:r>
                        <a:rPr lang="en-US" altLang="ja-JP" i="1">
                          <a:latin typeface="Cambria Math" panose="02040503050406030204" pitchFamily="18" charset="0"/>
                        </a:rPr>
                        <m:t>𝐹</m:t>
                      </m:r>
                      <m:d>
                        <m:dPr>
                          <m:ctrlPr>
                            <a:rPr lang="en-US" altLang="ja-JP" i="1">
                              <a:latin typeface="Cambria Math" panose="02040503050406030204" pitchFamily="18" charset="0"/>
                            </a:rPr>
                          </m:ctrlPr>
                        </m:dPr>
                        <m:e>
                          <m:r>
                            <a:rPr lang="en-US" altLang="ja-JP" i="1">
                              <a:latin typeface="Cambria Math" panose="02040503050406030204" pitchFamily="18" charset="0"/>
                            </a:rPr>
                            <m:t>1,194</m:t>
                          </m:r>
                        </m:e>
                      </m:d>
                      <m:r>
                        <a:rPr lang="en-US" altLang="ja-JP" i="1">
                          <a:latin typeface="Cambria Math" panose="02040503050406030204" pitchFamily="18" charset="0"/>
                        </a:rPr>
                        <m:t>=</m:t>
                      </m:r>
                      <m:r>
                        <a:rPr lang="en-US" altLang="ja-JP" b="0" i="1" smtClean="0">
                          <a:latin typeface="Cambria Math" panose="02040503050406030204" pitchFamily="18" charset="0"/>
                        </a:rPr>
                        <m:t>4.949</m:t>
                      </m:r>
                      <m:r>
                        <a:rPr lang="en-US" altLang="ja-JP" i="1">
                          <a:latin typeface="Cambria Math" panose="02040503050406030204" pitchFamily="18" charset="0"/>
                        </a:rPr>
                        <m:t>, </m:t>
                      </m:r>
                      <m:r>
                        <a:rPr lang="en-US" altLang="ja-JP" i="1">
                          <a:latin typeface="Cambria Math" panose="02040503050406030204" pitchFamily="18" charset="0"/>
                        </a:rPr>
                        <m:t>𝑝</m:t>
                      </m:r>
                      <m:r>
                        <a:rPr lang="en-US" altLang="ja-JP" b="0" i="1" smtClean="0">
                          <a:latin typeface="Cambria Math" panose="02040503050406030204" pitchFamily="18" charset="0"/>
                        </a:rPr>
                        <m:t>=</m:t>
                      </m:r>
                      <m:r>
                        <a:rPr lang="en-US" altLang="ja-JP" i="1">
                          <a:latin typeface="Cambria Math" panose="02040503050406030204" pitchFamily="18" charset="0"/>
                        </a:rPr>
                        <m:t>.0</m:t>
                      </m:r>
                      <m:r>
                        <a:rPr lang="en-US" altLang="ja-JP" b="0" i="1" smtClean="0">
                          <a:latin typeface="Cambria Math" panose="02040503050406030204" pitchFamily="18" charset="0"/>
                        </a:rPr>
                        <m:t>27</m:t>
                      </m:r>
                      <m:r>
                        <a:rPr lang="en-US" altLang="ja-JP" i="1">
                          <a:latin typeface="Cambria Math" panose="02040503050406030204" pitchFamily="18" charset="0"/>
                        </a:rPr>
                        <m:t>,</m:t>
                      </m:r>
                      <m:r>
                        <a:rPr lang="en-US" altLang="ja-JP" i="1">
                          <a:latin typeface="Cambria Math" panose="02040503050406030204" pitchFamily="18" charset="0"/>
                        </a:rPr>
                        <m:t>𝑑</m:t>
                      </m:r>
                      <m:r>
                        <a:rPr lang="en-US" altLang="ja-JP" i="1">
                          <a:latin typeface="Cambria Math" panose="02040503050406030204" pitchFamily="18" charset="0"/>
                        </a:rPr>
                        <m:t>=0.303</m:t>
                      </m:r>
                    </m:oMath>
                  </m:oMathPara>
                </a14:m>
                <a:endParaRPr lang="ja-JP" altLang="en-US"/>
              </a:p>
            </p:txBody>
          </p:sp>
        </mc:Choice>
        <mc:Fallback xmlns="">
          <p:sp>
            <p:nvSpPr>
              <p:cNvPr id="25" name="テキスト プレースホルダー 29">
                <a:extLst>
                  <a:ext uri="{FF2B5EF4-FFF2-40B4-BE49-F238E27FC236}">
                    <a16:creationId xmlns:a16="http://schemas.microsoft.com/office/drawing/2014/main" id="{1CFE1702-05BC-4A41-8859-CF005EF42D6D}"/>
                  </a:ext>
                </a:extLst>
              </p:cNvPr>
              <p:cNvSpPr txBox="1">
                <a:spLocks noRot="1" noChangeAspect="1" noMove="1" noResize="1" noEditPoints="1" noAdjustHandles="1" noChangeArrowheads="1" noChangeShapeType="1" noTextEdit="1"/>
              </p:cNvSpPr>
              <p:nvPr/>
            </p:nvSpPr>
            <p:spPr>
              <a:xfrm>
                <a:off x="1443786" y="3246502"/>
                <a:ext cx="18275484" cy="853994"/>
              </a:xfrm>
              <a:prstGeom prst="rect">
                <a:avLst/>
              </a:prstGeom>
              <a:blipFill>
                <a:blip r:embed="rId3"/>
                <a:stretch>
                  <a:fillRect l="-764" t="-5882"/>
                </a:stretch>
              </a:blipFill>
            </p:spPr>
            <p:txBody>
              <a:bodyPr/>
              <a:lstStyle/>
              <a:p>
                <a:r>
                  <a:rPr lang="ja-JP" altLang="en-US">
                    <a:noFill/>
                  </a:rPr>
                  <a:t> </a:t>
                </a:r>
              </a:p>
            </p:txBody>
          </p:sp>
        </mc:Fallback>
      </mc:AlternateContent>
      <p:sp>
        <p:nvSpPr>
          <p:cNvPr id="29" name="テキスト プレースホルダー 27">
            <a:extLst>
              <a:ext uri="{FF2B5EF4-FFF2-40B4-BE49-F238E27FC236}">
                <a16:creationId xmlns:a16="http://schemas.microsoft.com/office/drawing/2014/main" id="{32E235EC-C2CC-F847-A121-E4B5E8F68547}"/>
              </a:ext>
            </a:extLst>
          </p:cNvPr>
          <p:cNvSpPr txBox="1">
            <a:spLocks/>
          </p:cNvSpPr>
          <p:nvPr/>
        </p:nvSpPr>
        <p:spPr>
          <a:xfrm>
            <a:off x="1254486" y="4151182"/>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戦略とトーンに交互効果</a:t>
            </a:r>
            <a:r>
              <a:rPr lang="ja-JP" altLang="en-US">
                <a:solidFill>
                  <a:schemeClr val="accent3"/>
                </a:solidFill>
              </a:rPr>
              <a:t>なし</a:t>
            </a:r>
            <a:endParaRPr lang="en-US" altLang="ja-JP" dirty="0">
              <a:solidFill>
                <a:schemeClr val="accent3"/>
              </a:solidFill>
            </a:endParaRPr>
          </a:p>
        </p:txBody>
      </p:sp>
      <p:grpSp>
        <p:nvGrpSpPr>
          <p:cNvPr id="30" name="グループ化 29">
            <a:extLst>
              <a:ext uri="{FF2B5EF4-FFF2-40B4-BE49-F238E27FC236}">
                <a16:creationId xmlns:a16="http://schemas.microsoft.com/office/drawing/2014/main" id="{6F6FE64F-328E-5741-99EA-CA8E94FB595D}"/>
              </a:ext>
            </a:extLst>
          </p:cNvPr>
          <p:cNvGrpSpPr/>
          <p:nvPr/>
        </p:nvGrpSpPr>
        <p:grpSpPr>
          <a:xfrm>
            <a:off x="617232" y="4223807"/>
            <a:ext cx="539448" cy="487368"/>
            <a:chOff x="400056" y="1061560"/>
            <a:chExt cx="269724" cy="243684"/>
          </a:xfrm>
        </p:grpSpPr>
        <p:sp>
          <p:nvSpPr>
            <p:cNvPr id="34" name="三角形 33">
              <a:extLst>
                <a:ext uri="{FF2B5EF4-FFF2-40B4-BE49-F238E27FC236}">
                  <a16:creationId xmlns:a16="http://schemas.microsoft.com/office/drawing/2014/main" id="{89023521-6EED-3D40-AD5E-74B3836CD96B}"/>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35" name="三角形 34">
              <a:extLst>
                <a:ext uri="{FF2B5EF4-FFF2-40B4-BE49-F238E27FC236}">
                  <a16:creationId xmlns:a16="http://schemas.microsoft.com/office/drawing/2014/main" id="{D4725244-A083-3540-BA15-FE9097AE5AC9}"/>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Tree>
    <p:extLst>
      <p:ext uri="{BB962C8B-B14F-4D97-AF65-F5344CB8AC3E}">
        <p14:creationId xmlns:p14="http://schemas.microsoft.com/office/powerpoint/2010/main" val="30026760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3520CDD-7107-D140-A1A0-69D0D69B10F3}"/>
              </a:ext>
            </a:extLst>
          </p:cNvPr>
          <p:cNvSpPr>
            <a:spLocks noGrp="1"/>
          </p:cNvSpPr>
          <p:nvPr>
            <p:ph type="dt" sz="half" idx="10"/>
          </p:nvPr>
        </p:nvSpPr>
        <p:spPr/>
        <p:txBody>
          <a:bodyPr/>
          <a:lstStyle/>
          <a:p>
            <a:fld id="{35974365-84F6-754A-A339-DA79FFD42E98}" type="datetime1">
              <a:rPr lang="ja-JP" altLang="en-US" smtClean="0"/>
              <a:t>2018/6/9</a:t>
            </a:fld>
            <a:endParaRPr lang="ja-JP" altLang="en-US"/>
          </a:p>
        </p:txBody>
      </p:sp>
      <p:sp>
        <p:nvSpPr>
          <p:cNvPr id="3" name="フッター プレースホルダー 2">
            <a:extLst>
              <a:ext uri="{FF2B5EF4-FFF2-40B4-BE49-F238E27FC236}">
                <a16:creationId xmlns:a16="http://schemas.microsoft.com/office/drawing/2014/main" id="{6EEFBA0C-3454-8D4D-87CE-5BA9ED8AFBE5}"/>
              </a:ext>
            </a:extLst>
          </p:cNvPr>
          <p:cNvSpPr>
            <a:spLocks noGrp="1"/>
          </p:cNvSpPr>
          <p:nvPr>
            <p:ph type="ftr" sz="quarter" idx="11"/>
          </p:nvPr>
        </p:nvSpPr>
        <p:spPr/>
        <p:txBody>
          <a:bodyPr/>
          <a:lstStyle/>
          <a:p>
            <a:r>
              <a:rPr lang="ja-JP" altLang="en-US"/>
              <a:t>進捗報告</a:t>
            </a:r>
            <a:r>
              <a:rPr lang="en-US" altLang="ja-JP"/>
              <a:t>(2018.06.06)</a:t>
            </a:r>
            <a:endParaRPr lang="ja-JP" altLang="en-US"/>
          </a:p>
        </p:txBody>
      </p:sp>
      <p:sp>
        <p:nvSpPr>
          <p:cNvPr id="4" name="スライド番号プレースホルダー 3">
            <a:extLst>
              <a:ext uri="{FF2B5EF4-FFF2-40B4-BE49-F238E27FC236}">
                <a16:creationId xmlns:a16="http://schemas.microsoft.com/office/drawing/2014/main" id="{5D405AD0-9091-A94B-BA67-32995AD15B35}"/>
              </a:ext>
            </a:extLst>
          </p:cNvPr>
          <p:cNvSpPr>
            <a:spLocks noGrp="1"/>
          </p:cNvSpPr>
          <p:nvPr>
            <p:ph type="sldNum" sz="quarter" idx="12"/>
          </p:nvPr>
        </p:nvSpPr>
        <p:spPr/>
        <p:txBody>
          <a:bodyPr/>
          <a:lstStyle/>
          <a:p>
            <a:fld id="{89242BC1-393D-1248-985B-18DA624F2964}" type="slidenum">
              <a:rPr lang="ja-JP" altLang="en-US" smtClean="0"/>
              <a:pPr/>
              <a:t>33</a:t>
            </a:fld>
            <a:endParaRPr lang="ja-JP" altLang="en-US"/>
          </a:p>
        </p:txBody>
      </p:sp>
      <p:sp>
        <p:nvSpPr>
          <p:cNvPr id="5" name="テキスト プレースホルダー 4">
            <a:extLst>
              <a:ext uri="{FF2B5EF4-FFF2-40B4-BE49-F238E27FC236}">
                <a16:creationId xmlns:a16="http://schemas.microsoft.com/office/drawing/2014/main" id="{26DD2A8D-F804-D546-B77D-9693A67C3E0B}"/>
              </a:ext>
            </a:extLst>
          </p:cNvPr>
          <p:cNvSpPr>
            <a:spLocks noGrp="1"/>
          </p:cNvSpPr>
          <p:nvPr>
            <p:ph type="body" sz="quarter" idx="14"/>
          </p:nvPr>
        </p:nvSpPr>
        <p:spPr/>
        <p:txBody>
          <a:bodyPr/>
          <a:lstStyle/>
          <a:p>
            <a:r>
              <a:rPr lang="ja-JP" altLang="en-US"/>
              <a:t>評価・考察</a:t>
            </a:r>
            <a:endParaRPr kumimoji="1" lang="ja-JP" altLang="en-US"/>
          </a:p>
        </p:txBody>
      </p:sp>
      <p:sp>
        <p:nvSpPr>
          <p:cNvPr id="6" name="テキスト プレースホルダー 5">
            <a:extLst>
              <a:ext uri="{FF2B5EF4-FFF2-40B4-BE49-F238E27FC236}">
                <a16:creationId xmlns:a16="http://schemas.microsoft.com/office/drawing/2014/main" id="{18F5D246-4675-9D44-B96B-BEDD6F01EDA7}"/>
              </a:ext>
            </a:extLst>
          </p:cNvPr>
          <p:cNvSpPr>
            <a:spLocks noGrp="1"/>
          </p:cNvSpPr>
          <p:nvPr>
            <p:ph type="body" sz="quarter" idx="13"/>
          </p:nvPr>
        </p:nvSpPr>
        <p:spPr/>
        <p:txBody>
          <a:bodyPr/>
          <a:lstStyle/>
          <a:p>
            <a:r>
              <a:rPr lang="en-US" altLang="ja-JP" dirty="0"/>
              <a:t>3</a:t>
            </a:r>
            <a:endParaRPr kumimoji="1" lang="ja-JP" altLang="en-US"/>
          </a:p>
        </p:txBody>
      </p:sp>
      <p:grpSp>
        <p:nvGrpSpPr>
          <p:cNvPr id="31" name="グループ化 30">
            <a:extLst>
              <a:ext uri="{FF2B5EF4-FFF2-40B4-BE49-F238E27FC236}">
                <a16:creationId xmlns:a16="http://schemas.microsoft.com/office/drawing/2014/main" id="{FD81DDC5-24B5-F24B-8DCA-6543CEE8DC81}"/>
              </a:ext>
            </a:extLst>
          </p:cNvPr>
          <p:cNvGrpSpPr/>
          <p:nvPr/>
        </p:nvGrpSpPr>
        <p:grpSpPr>
          <a:xfrm>
            <a:off x="289330" y="1413298"/>
            <a:ext cx="2160000" cy="934436"/>
            <a:chOff x="144665" y="525617"/>
            <a:chExt cx="1080000" cy="467218"/>
          </a:xfrm>
        </p:grpSpPr>
        <p:sp>
          <p:nvSpPr>
            <p:cNvPr id="32" name="正方形/長方形 31">
              <a:extLst>
                <a:ext uri="{FF2B5EF4-FFF2-40B4-BE49-F238E27FC236}">
                  <a16:creationId xmlns:a16="http://schemas.microsoft.com/office/drawing/2014/main" id="{073638CC-28A2-E943-AD34-548A0C227633}"/>
                </a:ext>
              </a:extLst>
            </p:cNvPr>
            <p:cNvSpPr/>
            <p:nvPr userDrawn="1"/>
          </p:nvSpPr>
          <p:spPr>
            <a:xfrm>
              <a:off x="145524" y="542424"/>
              <a:ext cx="91081" cy="450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sp>
          <p:nvSpPr>
            <p:cNvPr id="33" name="正方形/長方形 32">
              <a:extLst>
                <a:ext uri="{FF2B5EF4-FFF2-40B4-BE49-F238E27FC236}">
                  <a16:creationId xmlns:a16="http://schemas.microsoft.com/office/drawing/2014/main" id="{89C51296-914D-A74C-889D-A570C54F6A57}"/>
                </a:ext>
              </a:extLst>
            </p:cNvPr>
            <p:cNvSpPr/>
            <p:nvPr userDrawn="1"/>
          </p:nvSpPr>
          <p:spPr>
            <a:xfrm>
              <a:off x="144665" y="525617"/>
              <a:ext cx="1080000" cy="161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2700"/>
            </a:p>
          </p:txBody>
        </p:sp>
      </p:grpSp>
      <p:sp>
        <p:nvSpPr>
          <p:cNvPr id="37" name="テキスト プレースホルダー 30">
            <a:extLst>
              <a:ext uri="{FF2B5EF4-FFF2-40B4-BE49-F238E27FC236}">
                <a16:creationId xmlns:a16="http://schemas.microsoft.com/office/drawing/2014/main" id="{A73B3907-668E-1A41-B5F4-6D46EA930E91}"/>
              </a:ext>
            </a:extLst>
          </p:cNvPr>
          <p:cNvSpPr txBox="1">
            <a:spLocks/>
          </p:cNvSpPr>
          <p:nvPr/>
        </p:nvSpPr>
        <p:spPr>
          <a:xfrm>
            <a:off x="571049" y="1583871"/>
            <a:ext cx="17302163" cy="1403350"/>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60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エージェントの勝率</a:t>
            </a:r>
          </a:p>
        </p:txBody>
      </p:sp>
      <mc:AlternateContent xmlns:mc="http://schemas.openxmlformats.org/markup-compatibility/2006" xmlns:a14="http://schemas.microsoft.com/office/drawing/2010/main">
        <mc:Choice Requires="a14">
          <p:sp>
            <p:nvSpPr>
              <p:cNvPr id="27" name="テキスト プレースホルダー 27">
                <a:extLst>
                  <a:ext uri="{FF2B5EF4-FFF2-40B4-BE49-F238E27FC236}">
                    <a16:creationId xmlns:a16="http://schemas.microsoft.com/office/drawing/2014/main" id="{93A2A9E1-21DA-184F-B179-025C75CC0F29}"/>
                  </a:ext>
                </a:extLst>
              </p:cNvPr>
              <p:cNvSpPr txBox="1">
                <a:spLocks/>
              </p:cNvSpPr>
              <p:nvPr/>
            </p:nvSpPr>
            <p:spPr>
              <a:xfrm>
                <a:off x="1254486" y="2486122"/>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14:m>
                  <m:oMath xmlns:m="http://schemas.openxmlformats.org/officeDocument/2006/math">
                    <m:sSup>
                      <m:sSupPr>
                        <m:ctrlPr>
                          <a:rPr lang="en-US" altLang="ja-JP" i="1" smtClean="0">
                            <a:latin typeface="Cambria Math" panose="02040503050406030204" pitchFamily="18" charset="0"/>
                          </a:rPr>
                        </m:ctrlPr>
                      </m:sSupPr>
                      <m:e>
                        <m:r>
                          <a:rPr lang="en-US" altLang="ja-JP" i="1">
                            <a:latin typeface="Cambria Math" panose="02040503050406030204" pitchFamily="18" charset="0"/>
                            <a:ea typeface="Cambria Math" panose="02040503050406030204" pitchFamily="18" charset="0"/>
                          </a:rPr>
                          <m:t>𝜒</m:t>
                        </m:r>
                      </m:e>
                      <m:sup>
                        <m:r>
                          <a:rPr lang="en-US" altLang="ja-JP" i="1">
                            <a:latin typeface="Cambria Math" panose="02040503050406030204" pitchFamily="18" charset="0"/>
                          </a:rPr>
                          <m:t>2</m:t>
                        </m:r>
                      </m:sup>
                    </m:sSup>
                  </m:oMath>
                </a14:m>
                <a:r>
                  <a:rPr lang="ja-JP" altLang="en-US"/>
                  <a:t>検定を使用しエージェントの戦略による影響を分析</a:t>
                </a:r>
                <a:endParaRPr lang="en-US" altLang="ja-JP" dirty="0"/>
              </a:p>
            </p:txBody>
          </p:sp>
        </mc:Choice>
        <mc:Fallback xmlns="">
          <p:sp>
            <p:nvSpPr>
              <p:cNvPr id="27" name="テキスト プレースホルダー 27">
                <a:extLst>
                  <a:ext uri="{FF2B5EF4-FFF2-40B4-BE49-F238E27FC236}">
                    <a16:creationId xmlns:a16="http://schemas.microsoft.com/office/drawing/2014/main" id="{93A2A9E1-21DA-184F-B179-025C75CC0F29}"/>
                  </a:ext>
                </a:extLst>
              </p:cNvPr>
              <p:cNvSpPr txBox="1">
                <a:spLocks noRot="1" noChangeAspect="1" noMove="1" noResize="1" noEditPoints="1" noAdjustHandles="1" noChangeArrowheads="1" noChangeShapeType="1" noTextEdit="1"/>
              </p:cNvSpPr>
              <p:nvPr/>
            </p:nvSpPr>
            <p:spPr>
              <a:xfrm>
                <a:off x="1254486" y="2486122"/>
                <a:ext cx="17551674" cy="1721508"/>
              </a:xfrm>
              <a:prstGeom prst="rect">
                <a:avLst/>
              </a:prstGeom>
              <a:blipFill>
                <a:blip r:embed="rId2"/>
                <a:stretch>
                  <a:fillRect l="-651" t="-10294"/>
                </a:stretch>
              </a:blipFill>
            </p:spPr>
            <p:txBody>
              <a:bodyPr/>
              <a:lstStyle/>
              <a:p>
                <a:r>
                  <a:rPr lang="ja-JP" altLang="en-US">
                    <a:noFill/>
                  </a:rPr>
                  <a:t> </a:t>
                </a:r>
              </a:p>
            </p:txBody>
          </p:sp>
        </mc:Fallback>
      </mc:AlternateContent>
      <p:grpSp>
        <p:nvGrpSpPr>
          <p:cNvPr id="50" name="グループ化 49">
            <a:extLst>
              <a:ext uri="{FF2B5EF4-FFF2-40B4-BE49-F238E27FC236}">
                <a16:creationId xmlns:a16="http://schemas.microsoft.com/office/drawing/2014/main" id="{E715CCD2-7CBC-2F46-9FCE-8A125FDA304B}"/>
              </a:ext>
            </a:extLst>
          </p:cNvPr>
          <p:cNvGrpSpPr/>
          <p:nvPr/>
        </p:nvGrpSpPr>
        <p:grpSpPr>
          <a:xfrm>
            <a:off x="617232" y="2557358"/>
            <a:ext cx="539448" cy="487368"/>
            <a:chOff x="400056" y="1061560"/>
            <a:chExt cx="269724" cy="243684"/>
          </a:xfrm>
        </p:grpSpPr>
        <p:sp>
          <p:nvSpPr>
            <p:cNvPr id="51" name="三角形 50">
              <a:extLst>
                <a:ext uri="{FF2B5EF4-FFF2-40B4-BE49-F238E27FC236}">
                  <a16:creationId xmlns:a16="http://schemas.microsoft.com/office/drawing/2014/main" id="{4270F85A-1558-7F46-9313-2E10789E0038}"/>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52" name="三角形 51">
              <a:extLst>
                <a:ext uri="{FF2B5EF4-FFF2-40B4-BE49-F238E27FC236}">
                  <a16:creationId xmlns:a16="http://schemas.microsoft.com/office/drawing/2014/main" id="{60CBF3B1-0E43-BC41-9C45-3FAC257E5742}"/>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sp>
        <p:nvSpPr>
          <p:cNvPr id="20" name="三角形 19">
            <a:extLst>
              <a:ext uri="{FF2B5EF4-FFF2-40B4-BE49-F238E27FC236}">
                <a16:creationId xmlns:a16="http://schemas.microsoft.com/office/drawing/2014/main" id="{CE745CCD-58D9-7641-9186-E5F49B6D63D8}"/>
              </a:ext>
            </a:extLst>
          </p:cNvPr>
          <p:cNvSpPr/>
          <p:nvPr/>
        </p:nvSpPr>
        <p:spPr>
          <a:xfrm rot="5400000">
            <a:off x="1076238" y="3361776"/>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mc:AlternateContent xmlns:mc="http://schemas.openxmlformats.org/markup-compatibility/2006" xmlns:a14="http://schemas.microsoft.com/office/drawing/2010/main">
        <mc:Choice Requires="a14">
          <p:sp>
            <p:nvSpPr>
              <p:cNvPr id="21" name="テキスト プレースホルダー 29">
                <a:extLst>
                  <a:ext uri="{FF2B5EF4-FFF2-40B4-BE49-F238E27FC236}">
                    <a16:creationId xmlns:a16="http://schemas.microsoft.com/office/drawing/2014/main" id="{12BDE794-8098-264A-BC23-90CF86C3BDCD}"/>
                  </a:ext>
                </a:extLst>
              </p:cNvPr>
              <p:cNvSpPr txBox="1">
                <a:spLocks/>
              </p:cNvSpPr>
              <p:nvPr/>
            </p:nvSpPr>
            <p:spPr>
              <a:xfrm>
                <a:off x="1443786" y="3246502"/>
                <a:ext cx="1827548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r>
                  <a:rPr lang="ja-JP" altLang="en-US"/>
                  <a:t>有意差</a:t>
                </a:r>
                <a:r>
                  <a:rPr lang="ja-JP" altLang="en-US">
                    <a:solidFill>
                      <a:schemeClr val="accent3"/>
                    </a:solidFill>
                  </a:rPr>
                  <a:t>なし</a:t>
                </a:r>
                <a14:m>
                  <m:oMath xmlns:m="http://schemas.openxmlformats.org/officeDocument/2006/math">
                    <m:r>
                      <a:rPr lang="en-US" altLang="ja-JP">
                        <a:latin typeface="Cambria Math" panose="02040503050406030204" pitchFamily="18" charset="0"/>
                      </a:rPr>
                      <m:t>    </m:t>
                    </m:r>
                    <m:sSup>
                      <m:sSupPr>
                        <m:ctrlPr>
                          <a:rPr lang="en-US" altLang="ja-JP" i="1">
                            <a:latin typeface="Cambria Math" panose="02040503050406030204" pitchFamily="18" charset="0"/>
                          </a:rPr>
                        </m:ctrlPr>
                      </m:sSupPr>
                      <m:e>
                        <m:r>
                          <a:rPr lang="en-US" altLang="ja-JP" i="1">
                            <a:latin typeface="Cambria Math" panose="02040503050406030204" pitchFamily="18" charset="0"/>
                            <a:ea typeface="Cambria Math" panose="02040503050406030204" pitchFamily="18" charset="0"/>
                          </a:rPr>
                          <m:t>𝜒</m:t>
                        </m:r>
                      </m:e>
                      <m:sup>
                        <m:r>
                          <a:rPr lang="en-US" altLang="ja-JP" i="1">
                            <a:latin typeface="Cambria Math" panose="02040503050406030204" pitchFamily="18" charset="0"/>
                          </a:rPr>
                          <m:t>2</m:t>
                        </m:r>
                      </m:sup>
                    </m:sSup>
                    <m:d>
                      <m:dPr>
                        <m:ctrlPr>
                          <a:rPr lang="en-US" altLang="ja-JP" i="1">
                            <a:latin typeface="Cambria Math" panose="02040503050406030204" pitchFamily="18" charset="0"/>
                          </a:rPr>
                        </m:ctrlPr>
                      </m:dPr>
                      <m:e>
                        <m:r>
                          <a:rPr lang="en-US" altLang="ja-JP" i="1">
                            <a:latin typeface="Cambria Math" panose="02040503050406030204" pitchFamily="18" charset="0"/>
                          </a:rPr>
                          <m:t>1,196</m:t>
                        </m:r>
                      </m:e>
                    </m:d>
                    <m:r>
                      <a:rPr lang="en-US" altLang="ja-JP" i="1">
                        <a:latin typeface="Cambria Math" panose="02040503050406030204" pitchFamily="18" charset="0"/>
                      </a:rPr>
                      <m:t>=</m:t>
                    </m:r>
                    <m:r>
                      <a:rPr lang="en-US" altLang="ja-JP" b="0" i="1" smtClean="0">
                        <a:latin typeface="Cambria Math" panose="02040503050406030204" pitchFamily="18" charset="0"/>
                      </a:rPr>
                      <m:t>1</m:t>
                    </m:r>
                    <m:r>
                      <a:rPr lang="en-US" altLang="ja-JP" i="1">
                        <a:latin typeface="Cambria Math" panose="02040503050406030204" pitchFamily="18" charset="0"/>
                      </a:rPr>
                      <m:t>.</m:t>
                    </m:r>
                    <m:r>
                      <a:rPr lang="en-US" altLang="ja-JP" b="0" i="1" smtClean="0">
                        <a:latin typeface="Cambria Math" panose="02040503050406030204" pitchFamily="18" charset="0"/>
                      </a:rPr>
                      <m:t>242</m:t>
                    </m:r>
                    <m:r>
                      <a:rPr lang="en-US" altLang="ja-JP" i="1">
                        <a:latin typeface="Cambria Math" panose="02040503050406030204" pitchFamily="18" charset="0"/>
                      </a:rPr>
                      <m:t>, </m:t>
                    </m:r>
                    <m:r>
                      <a:rPr lang="en-US" altLang="ja-JP" i="1">
                        <a:latin typeface="Cambria Math" panose="02040503050406030204" pitchFamily="18" charset="0"/>
                      </a:rPr>
                      <m:t>𝑝</m:t>
                    </m:r>
                    <m:r>
                      <a:rPr lang="en-US" altLang="ja-JP" i="1">
                        <a:latin typeface="Cambria Math" panose="02040503050406030204" pitchFamily="18" charset="0"/>
                      </a:rPr>
                      <m:t>=</m:t>
                    </m:r>
                    <m:r>
                      <a:rPr lang="en-US" altLang="ja-JP" b="0" i="1" smtClean="0">
                        <a:latin typeface="Cambria Math" panose="02040503050406030204" pitchFamily="18" charset="0"/>
                      </a:rPr>
                      <m:t>𝑛𝑠</m:t>
                    </m:r>
                  </m:oMath>
                </a14:m>
                <a:endParaRPr lang="ja-JP" altLang="en-US"/>
              </a:p>
            </p:txBody>
          </p:sp>
        </mc:Choice>
        <mc:Fallback xmlns="">
          <p:sp>
            <p:nvSpPr>
              <p:cNvPr id="21" name="テキスト プレースホルダー 29">
                <a:extLst>
                  <a:ext uri="{FF2B5EF4-FFF2-40B4-BE49-F238E27FC236}">
                    <a16:creationId xmlns:a16="http://schemas.microsoft.com/office/drawing/2014/main" id="{12BDE794-8098-264A-BC23-90CF86C3BDCD}"/>
                  </a:ext>
                </a:extLst>
              </p:cNvPr>
              <p:cNvSpPr txBox="1">
                <a:spLocks noRot="1" noChangeAspect="1" noMove="1" noResize="1" noEditPoints="1" noAdjustHandles="1" noChangeArrowheads="1" noChangeShapeType="1" noTextEdit="1"/>
              </p:cNvSpPr>
              <p:nvPr/>
            </p:nvSpPr>
            <p:spPr>
              <a:xfrm>
                <a:off x="1443786" y="3246502"/>
                <a:ext cx="18275484" cy="853994"/>
              </a:xfrm>
              <a:prstGeom prst="rect">
                <a:avLst/>
              </a:prstGeom>
              <a:blipFill>
                <a:blip r:embed="rId3"/>
                <a:stretch>
                  <a:fillRect l="-1181" t="-16176" b="-8824"/>
                </a:stretch>
              </a:blipFill>
            </p:spPr>
            <p:txBody>
              <a:bodyPr/>
              <a:lstStyle/>
              <a:p>
                <a:r>
                  <a:rPr lang="ja-JP" altLang="en-US">
                    <a:noFill/>
                  </a:rPr>
                  <a:t> </a:t>
                </a:r>
              </a:p>
            </p:txBody>
          </p:sp>
        </mc:Fallback>
      </mc:AlternateContent>
      <p:sp>
        <p:nvSpPr>
          <p:cNvPr id="29" name="三角形 28">
            <a:extLst>
              <a:ext uri="{FF2B5EF4-FFF2-40B4-BE49-F238E27FC236}">
                <a16:creationId xmlns:a16="http://schemas.microsoft.com/office/drawing/2014/main" id="{78A506A5-CBB2-F244-BB24-692A56580116}"/>
              </a:ext>
            </a:extLst>
          </p:cNvPr>
          <p:cNvSpPr/>
          <p:nvPr/>
        </p:nvSpPr>
        <p:spPr>
          <a:xfrm rot="5400000">
            <a:off x="1076238" y="5081456"/>
            <a:ext cx="480900" cy="320016"/>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mc:AlternateContent xmlns:mc="http://schemas.openxmlformats.org/markup-compatibility/2006" xmlns:a14="http://schemas.microsoft.com/office/drawing/2010/main">
        <mc:Choice Requires="a14">
          <p:sp>
            <p:nvSpPr>
              <p:cNvPr id="30" name="テキスト プレースホルダー 29">
                <a:extLst>
                  <a:ext uri="{FF2B5EF4-FFF2-40B4-BE49-F238E27FC236}">
                    <a16:creationId xmlns:a16="http://schemas.microsoft.com/office/drawing/2014/main" id="{FFE858AC-41E6-5D42-874E-AF33C25AE90B}"/>
                  </a:ext>
                </a:extLst>
              </p:cNvPr>
              <p:cNvSpPr txBox="1">
                <a:spLocks/>
              </p:cNvSpPr>
              <p:nvPr/>
            </p:nvSpPr>
            <p:spPr>
              <a:xfrm>
                <a:off x="1457090" y="4966182"/>
                <a:ext cx="16135964" cy="853994"/>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0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pPr/>
                <a14:m>
                  <m:oMathPara xmlns:m="http://schemas.openxmlformats.org/officeDocument/2006/math">
                    <m:oMathParaPr>
                      <m:jc m:val="left"/>
                    </m:oMathParaPr>
                    <m:oMath xmlns:m="http://schemas.openxmlformats.org/officeDocument/2006/math">
                      <m:r>
                        <m:rPr>
                          <m:nor/>
                        </m:rPr>
                        <a:rPr lang="ja-JP" altLang="en-US" smtClean="0"/>
                        <m:t>有意差</m:t>
                      </m:r>
                      <m:r>
                        <a:rPr lang="ja-JP" altLang="en-US" i="1" smtClean="0">
                          <a:solidFill>
                            <a:schemeClr val="accent2"/>
                          </a:solidFill>
                          <a:latin typeface="Cambria Math" panose="02040503050406030204" pitchFamily="18" charset="0"/>
                        </a:rPr>
                        <m:t>あり</m:t>
                      </m:r>
                      <m:r>
                        <a:rPr lang="en-US" altLang="ja-JP">
                          <a:latin typeface="Cambria Math" panose="02040503050406030204" pitchFamily="18" charset="0"/>
                        </a:rPr>
                        <m:t>    </m:t>
                      </m:r>
                      <m:sSup>
                        <m:sSupPr>
                          <m:ctrlPr>
                            <a:rPr lang="en-US" altLang="ja-JP" i="1">
                              <a:latin typeface="Cambria Math" panose="02040503050406030204" pitchFamily="18" charset="0"/>
                            </a:rPr>
                          </m:ctrlPr>
                        </m:sSupPr>
                        <m:e>
                          <m:r>
                            <a:rPr lang="en-US" altLang="ja-JP" i="1">
                              <a:latin typeface="Cambria Math" panose="02040503050406030204" pitchFamily="18" charset="0"/>
                              <a:ea typeface="Cambria Math" panose="02040503050406030204" pitchFamily="18" charset="0"/>
                            </a:rPr>
                            <m:t>𝜒</m:t>
                          </m:r>
                        </m:e>
                        <m:sup>
                          <m:r>
                            <a:rPr lang="en-US" altLang="ja-JP" i="1">
                              <a:latin typeface="Cambria Math" panose="02040503050406030204" pitchFamily="18" charset="0"/>
                            </a:rPr>
                            <m:t>2</m:t>
                          </m:r>
                        </m:sup>
                      </m:sSup>
                      <m:d>
                        <m:dPr>
                          <m:ctrlPr>
                            <a:rPr lang="en-US" altLang="ja-JP" i="1">
                              <a:latin typeface="Cambria Math" panose="02040503050406030204" pitchFamily="18" charset="0"/>
                            </a:rPr>
                          </m:ctrlPr>
                        </m:dPr>
                        <m:e>
                          <m:r>
                            <a:rPr lang="en-US" altLang="ja-JP" i="1">
                              <a:latin typeface="Cambria Math" panose="02040503050406030204" pitchFamily="18" charset="0"/>
                            </a:rPr>
                            <m:t>1,196</m:t>
                          </m:r>
                        </m:e>
                      </m:d>
                      <m:r>
                        <a:rPr lang="en-US" altLang="ja-JP" i="1">
                          <a:latin typeface="Cambria Math" panose="02040503050406030204" pitchFamily="18" charset="0"/>
                        </a:rPr>
                        <m:t>=</m:t>
                      </m:r>
                      <m:r>
                        <a:rPr lang="en-US" altLang="ja-JP" b="0" i="1" smtClean="0">
                          <a:latin typeface="Cambria Math" panose="02040503050406030204" pitchFamily="18" charset="0"/>
                        </a:rPr>
                        <m:t>5.</m:t>
                      </m:r>
                      <m:r>
                        <a:rPr lang="en-US" altLang="ja-JP" i="1">
                          <a:latin typeface="Cambria Math" panose="02040503050406030204" pitchFamily="18" charset="0"/>
                        </a:rPr>
                        <m:t>879, </m:t>
                      </m:r>
                      <m:r>
                        <a:rPr lang="en-US" altLang="ja-JP" i="1">
                          <a:latin typeface="Cambria Math" panose="02040503050406030204" pitchFamily="18" charset="0"/>
                        </a:rPr>
                        <m:t>𝑝</m:t>
                      </m:r>
                      <m:r>
                        <a:rPr lang="en-US" altLang="ja-JP" i="1">
                          <a:latin typeface="Cambria Math" panose="02040503050406030204" pitchFamily="18" charset="0"/>
                        </a:rPr>
                        <m:t>=.011</m:t>
                      </m:r>
                    </m:oMath>
                  </m:oMathPara>
                </a14:m>
                <a:endParaRPr lang="ja-JP" altLang="en-US"/>
              </a:p>
            </p:txBody>
          </p:sp>
        </mc:Choice>
        <mc:Fallback xmlns="">
          <p:sp>
            <p:nvSpPr>
              <p:cNvPr id="30" name="テキスト プレースホルダー 29">
                <a:extLst>
                  <a:ext uri="{FF2B5EF4-FFF2-40B4-BE49-F238E27FC236}">
                    <a16:creationId xmlns:a16="http://schemas.microsoft.com/office/drawing/2014/main" id="{FFE858AC-41E6-5D42-874E-AF33C25AE90B}"/>
                  </a:ext>
                </a:extLst>
              </p:cNvPr>
              <p:cNvSpPr txBox="1">
                <a:spLocks noRot="1" noChangeAspect="1" noMove="1" noResize="1" noEditPoints="1" noAdjustHandles="1" noChangeArrowheads="1" noChangeShapeType="1" noTextEdit="1"/>
              </p:cNvSpPr>
              <p:nvPr/>
            </p:nvSpPr>
            <p:spPr>
              <a:xfrm>
                <a:off x="1457090" y="4966182"/>
                <a:ext cx="16135964" cy="853994"/>
              </a:xfrm>
              <a:prstGeom prst="rect">
                <a:avLst/>
              </a:prstGeom>
              <a:blipFill>
                <a:blip r:embed="rId4"/>
                <a:stretch>
                  <a:fillRect l="-787" t="-735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4" name="テキスト プレースホルダー 27">
                <a:extLst>
                  <a:ext uri="{FF2B5EF4-FFF2-40B4-BE49-F238E27FC236}">
                    <a16:creationId xmlns:a16="http://schemas.microsoft.com/office/drawing/2014/main" id="{8058094B-A476-D841-9BCA-65D48CE23264}"/>
                  </a:ext>
                </a:extLst>
              </p:cNvPr>
              <p:cNvSpPr txBox="1">
                <a:spLocks/>
              </p:cNvSpPr>
              <p:nvPr/>
            </p:nvSpPr>
            <p:spPr>
              <a:xfrm>
                <a:off x="1254486" y="4151182"/>
                <a:ext cx="17551674" cy="1721508"/>
              </a:xfrm>
              <a:prstGeom prst="rect">
                <a:avLst/>
              </a:prstGeom>
            </p:spPr>
            <p:txBody>
              <a:bodyPr>
                <a:normAutofit/>
              </a:bodyPr>
              <a:lstStyle>
                <a:lvl1pPr marL="0" indent="0" algn="l" defTabSz="1828800" rtl="0" eaLnBrk="1" latinLnBrk="0" hangingPunct="1">
                  <a:lnSpc>
                    <a:spcPct val="90000"/>
                  </a:lnSpc>
                  <a:spcBef>
                    <a:spcPts val="2000"/>
                  </a:spcBef>
                  <a:buFont typeface="Arial" panose="020B0604020202020204" pitchFamily="34" charset="0"/>
                  <a:buNone/>
                  <a:defRPr kumimoji="1" sz="4800" kern="1200">
                    <a:solidFill>
                      <a:srgbClr val="424242"/>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kumimoji="1"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a:lstStyle>
              <a:p>
                <a14:m>
                  <m:oMath xmlns:m="http://schemas.openxmlformats.org/officeDocument/2006/math">
                    <m:sSup>
                      <m:sSupPr>
                        <m:ctrlPr>
                          <a:rPr lang="en-US" altLang="ja-JP" i="1">
                            <a:latin typeface="Cambria Math" panose="02040503050406030204" pitchFamily="18" charset="0"/>
                          </a:rPr>
                        </m:ctrlPr>
                      </m:sSupPr>
                      <m:e>
                        <m:r>
                          <a:rPr lang="en-US" altLang="ja-JP" i="1">
                            <a:latin typeface="Cambria Math" panose="02040503050406030204" pitchFamily="18" charset="0"/>
                            <a:ea typeface="Cambria Math" panose="02040503050406030204" pitchFamily="18" charset="0"/>
                          </a:rPr>
                          <m:t>𝜒</m:t>
                        </m:r>
                      </m:e>
                      <m:sup>
                        <m:r>
                          <a:rPr lang="en-US" altLang="ja-JP" i="1">
                            <a:latin typeface="Cambria Math" panose="02040503050406030204" pitchFamily="18" charset="0"/>
                          </a:rPr>
                          <m:t>2</m:t>
                        </m:r>
                      </m:sup>
                    </m:sSup>
                  </m:oMath>
                </a14:m>
                <a:r>
                  <a:rPr lang="ja-JP" altLang="en-US"/>
                  <a:t>検定を使用しエージェントのトーンによる影響を分析</a:t>
                </a:r>
                <a:endParaRPr lang="en-US" altLang="ja-JP" dirty="0"/>
              </a:p>
            </p:txBody>
          </p:sp>
        </mc:Choice>
        <mc:Fallback xmlns="">
          <p:sp>
            <p:nvSpPr>
              <p:cNvPr id="34" name="テキスト プレースホルダー 27">
                <a:extLst>
                  <a:ext uri="{FF2B5EF4-FFF2-40B4-BE49-F238E27FC236}">
                    <a16:creationId xmlns:a16="http://schemas.microsoft.com/office/drawing/2014/main" id="{8058094B-A476-D841-9BCA-65D48CE23264}"/>
                  </a:ext>
                </a:extLst>
              </p:cNvPr>
              <p:cNvSpPr txBox="1">
                <a:spLocks noRot="1" noChangeAspect="1" noMove="1" noResize="1" noEditPoints="1" noAdjustHandles="1" noChangeArrowheads="1" noChangeShapeType="1" noTextEdit="1"/>
              </p:cNvSpPr>
              <p:nvPr/>
            </p:nvSpPr>
            <p:spPr>
              <a:xfrm>
                <a:off x="1254486" y="4151182"/>
                <a:ext cx="17551674" cy="1721508"/>
              </a:xfrm>
              <a:prstGeom prst="rect">
                <a:avLst/>
              </a:prstGeom>
              <a:blipFill>
                <a:blip r:embed="rId5"/>
                <a:stretch>
                  <a:fillRect l="-651" t="-10294"/>
                </a:stretch>
              </a:blipFill>
            </p:spPr>
            <p:txBody>
              <a:bodyPr/>
              <a:lstStyle/>
              <a:p>
                <a:r>
                  <a:rPr lang="ja-JP" altLang="en-US">
                    <a:noFill/>
                  </a:rPr>
                  <a:t> </a:t>
                </a:r>
              </a:p>
            </p:txBody>
          </p:sp>
        </mc:Fallback>
      </mc:AlternateContent>
      <p:grpSp>
        <p:nvGrpSpPr>
          <p:cNvPr id="35" name="グループ化 34">
            <a:extLst>
              <a:ext uri="{FF2B5EF4-FFF2-40B4-BE49-F238E27FC236}">
                <a16:creationId xmlns:a16="http://schemas.microsoft.com/office/drawing/2014/main" id="{08B0DD1F-6EED-6849-94B2-A6FAAF7E6DDD}"/>
              </a:ext>
            </a:extLst>
          </p:cNvPr>
          <p:cNvGrpSpPr/>
          <p:nvPr/>
        </p:nvGrpSpPr>
        <p:grpSpPr>
          <a:xfrm>
            <a:off x="617232" y="4223807"/>
            <a:ext cx="539448" cy="487368"/>
            <a:chOff x="400056" y="1061560"/>
            <a:chExt cx="269724" cy="243684"/>
          </a:xfrm>
        </p:grpSpPr>
        <p:sp>
          <p:nvSpPr>
            <p:cNvPr id="36" name="三角形 35">
              <a:extLst>
                <a:ext uri="{FF2B5EF4-FFF2-40B4-BE49-F238E27FC236}">
                  <a16:creationId xmlns:a16="http://schemas.microsoft.com/office/drawing/2014/main" id="{C152DA39-CD61-3041-B58D-A58BF07C41AE}"/>
                </a:ext>
              </a:extLst>
            </p:cNvPr>
            <p:cNvSpPr/>
            <p:nvPr userDrawn="1"/>
          </p:nvSpPr>
          <p:spPr>
            <a:xfrm rot="5400000">
              <a:off x="359835" y="1105015"/>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sp>
          <p:nvSpPr>
            <p:cNvPr id="38" name="三角形 37">
              <a:extLst>
                <a:ext uri="{FF2B5EF4-FFF2-40B4-BE49-F238E27FC236}">
                  <a16:creationId xmlns:a16="http://schemas.microsoft.com/office/drawing/2014/main" id="{CF7E8EA0-5F82-E34E-AE43-59025C7B6DD7}"/>
                </a:ext>
              </a:extLst>
            </p:cNvPr>
            <p:cNvSpPr/>
            <p:nvPr userDrawn="1"/>
          </p:nvSpPr>
          <p:spPr>
            <a:xfrm rot="5400000">
              <a:off x="469551" y="1101781"/>
              <a:ext cx="240450" cy="160008"/>
            </a:xfrm>
            <a:prstGeom prst="triangl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7200"/>
            </a:p>
          </p:txBody>
        </p:sp>
      </p:grpSp>
      <p:pic>
        <p:nvPicPr>
          <p:cNvPr id="9" name="図 8">
            <a:extLst>
              <a:ext uri="{FF2B5EF4-FFF2-40B4-BE49-F238E27FC236}">
                <a16:creationId xmlns:a16="http://schemas.microsoft.com/office/drawing/2014/main" id="{CCD1F50B-4CF7-8D44-A152-0ED778DA07AF}"/>
              </a:ext>
            </a:extLst>
          </p:cNvPr>
          <p:cNvPicPr>
            <a:picLocks noChangeAspect="1"/>
          </p:cNvPicPr>
          <p:nvPr/>
        </p:nvPicPr>
        <p:blipFill>
          <a:blip r:embed="rId6"/>
          <a:stretch>
            <a:fillRect/>
          </a:stretch>
        </p:blipFill>
        <p:spPr>
          <a:xfrm>
            <a:off x="4290415" y="7746448"/>
            <a:ext cx="9707170" cy="5598000"/>
          </a:xfrm>
          <a:prstGeom prst="rect">
            <a:avLst/>
          </a:prstGeom>
        </p:spPr>
      </p:pic>
    </p:spTree>
    <p:extLst>
      <p:ext uri="{BB962C8B-B14F-4D97-AF65-F5344CB8AC3E}">
        <p14:creationId xmlns:p14="http://schemas.microsoft.com/office/powerpoint/2010/main" val="1739191806"/>
      </p:ext>
    </p:extLst>
  </p:cSld>
  <p:clrMapOvr>
    <a:masterClrMapping/>
  </p:clrMapOvr>
</p:sld>
</file>

<file path=ppt/theme/theme1.xml><?xml version="1.0" encoding="utf-8"?>
<a:theme xmlns:a="http://schemas.openxmlformats.org/drawingml/2006/main" name="Office テーマ">
  <a:themeElements>
    <a:clrScheme name="エメラルドグリーンメイン">
      <a:dk1>
        <a:srgbClr val="333333"/>
      </a:dk1>
      <a:lt1>
        <a:srgbClr val="FFFFFF"/>
      </a:lt1>
      <a:dk2>
        <a:srgbClr val="153430"/>
      </a:dk2>
      <a:lt2>
        <a:srgbClr val="EEEEEE"/>
      </a:lt2>
      <a:accent1>
        <a:srgbClr val="4DBDB0"/>
      </a:accent1>
      <a:accent2>
        <a:srgbClr val="CE4457"/>
      </a:accent2>
      <a:accent3>
        <a:srgbClr val="4197B8"/>
      </a:accent3>
      <a:accent4>
        <a:srgbClr val="FFC000"/>
      </a:accent4>
      <a:accent5>
        <a:srgbClr val="5B9BD5"/>
      </a:accent5>
      <a:accent6>
        <a:srgbClr val="70AD47"/>
      </a:accent6>
      <a:hlink>
        <a:srgbClr val="0563C1"/>
      </a:hlink>
      <a:folHlink>
        <a:srgbClr val="954F72"/>
      </a:folHlink>
    </a:clrScheme>
    <a:fontScheme name="ヒラギノ_Century">
      <a:majorFont>
        <a:latin typeface="Helvetica"/>
        <a:ea typeface="Meiryo"/>
        <a:cs typeface=""/>
      </a:majorFont>
      <a:minorFont>
        <a:latin typeface="Helvetica"/>
        <a:ea typeface="Meiryo"/>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kumimoji="1">
            <a:solidFill>
              <a:schemeClr val="bg2"/>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38100"/>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9136</TotalTime>
  <Words>2873</Words>
  <Application>Microsoft Macintosh PowerPoint</Application>
  <PresentationFormat>ユーザー設定</PresentationFormat>
  <Paragraphs>492</Paragraphs>
  <Slides>33</Slides>
  <Notes>6</Notes>
  <HiddenSlides>3</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33</vt:i4>
      </vt:variant>
    </vt:vector>
  </HeadingPairs>
  <TitlesOfParts>
    <vt:vector size="39" baseType="lpstr">
      <vt:lpstr>Meiryo</vt:lpstr>
      <vt:lpstr>游ゴシック</vt:lpstr>
      <vt:lpstr>Arial</vt:lpstr>
      <vt:lpstr>Cambria Math</vt:lpstr>
      <vt:lpstr>Helvetica</vt:lpstr>
      <vt:lpstr>Office テーマ</vt:lpstr>
      <vt:lpstr>文献講読 (Grumpy &amp; Pinocchio: Answering Human-Agent Negotiation Questions through Realistic Agent Design )</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16.0013</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Shogo MATSUSHITA</dc:creator>
  <cp:lastModifiedBy>Shogo MATSUSHITA</cp:lastModifiedBy>
  <cp:revision>352</cp:revision>
  <cp:lastPrinted>2018-04-18T08:51:19Z</cp:lastPrinted>
  <dcterms:created xsi:type="dcterms:W3CDTF">2018-04-18T07:57:09Z</dcterms:created>
  <dcterms:modified xsi:type="dcterms:W3CDTF">2018-06-09T15:39:57Z</dcterms:modified>
</cp:coreProperties>
</file>