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17"/>
  </p:notesMasterIdLst>
  <p:sldIdLst>
    <p:sldId id="256" r:id="rId2"/>
    <p:sldId id="269" r:id="rId3"/>
    <p:sldId id="270" r:id="rId4"/>
    <p:sldId id="279" r:id="rId5"/>
    <p:sldId id="280" r:id="rId6"/>
    <p:sldId id="281" r:id="rId7"/>
    <p:sldId id="282" r:id="rId8"/>
    <p:sldId id="271" r:id="rId9"/>
    <p:sldId id="272" r:id="rId10"/>
    <p:sldId id="274" r:id="rId11"/>
    <p:sldId id="283" r:id="rId12"/>
    <p:sldId id="275" r:id="rId13"/>
    <p:sldId id="277" r:id="rId14"/>
    <p:sldId id="276" r:id="rId15"/>
    <p:sldId id="267" r:id="rId16"/>
  </p:sldIdLst>
  <p:sldSz cx="18288000" cy="13716000"/>
  <p:notesSz cx="6858000" cy="9144000"/>
  <p:defaultTextStyle>
    <a:defPPr>
      <a:defRPr lang="ja-JP"/>
    </a:defPPr>
    <a:lvl1pPr marL="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6" userDrawn="1">
          <p15:clr>
            <a:srgbClr val="A4A3A4"/>
          </p15:clr>
        </p15:guide>
        <p15:guide id="2" pos="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24242"/>
    <a:srgbClr val="F3F3F3"/>
    <a:srgbClr val="EDEDED"/>
    <a:srgbClr val="B1B1B1"/>
    <a:srgbClr val="EAEAEA"/>
    <a:srgbClr val="E0E0E0"/>
    <a:srgbClr val="F6F6F6"/>
    <a:srgbClr val="47BEB0"/>
    <a:srgbClr val="45B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50"/>
    <p:restoredTop sz="94697"/>
  </p:normalViewPr>
  <p:slideViewPr>
    <p:cSldViewPr snapToGrid="0" snapToObjects="1">
      <p:cViewPr varScale="1">
        <p:scale>
          <a:sx n="98" d="100"/>
          <a:sy n="98" d="100"/>
        </p:scale>
        <p:origin x="3640" y="208"/>
      </p:cViewPr>
      <p:guideLst>
        <p:guide orient="horz" pos="986"/>
        <p:guide pos="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360EB-EED5-E74A-9E1B-64442734BBCE}" type="datetimeFigureOut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4AD5B-25DE-AE41-9ACA-EFDE3C4BB9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23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8260-19DA-2240-B1D7-219E5D21CDB1}"/>
              </a:ext>
            </a:extLst>
          </p:cNvPr>
          <p:cNvSpPr/>
          <p:nvPr userDrawn="1"/>
        </p:nvSpPr>
        <p:spPr>
          <a:xfrm>
            <a:off x="8984" y="3505120"/>
            <a:ext cx="18288000" cy="67109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5098-C476-2D4D-9CC3-569842ECDC99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12109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266" userDrawn="1">
          <p15:clr>
            <a:srgbClr val="FBAE40"/>
          </p15:clr>
        </p15:guide>
        <p15:guide id="2" pos="38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6178-AF4C-F448-8E15-7D36F0BA6D4F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9962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0" name="円弧 9">
            <a:extLst>
              <a:ext uri="{FF2B5EF4-FFF2-40B4-BE49-F238E27FC236}">
                <a16:creationId xmlns:a16="http://schemas.microsoft.com/office/drawing/2014/main" id="{16AFAE70-4E49-9E48-A796-1F133996FBCA}"/>
              </a:ext>
            </a:extLst>
          </p:cNvPr>
          <p:cNvSpPr/>
          <p:nvPr userDrawn="1"/>
        </p:nvSpPr>
        <p:spPr>
          <a:xfrm rot="5400000">
            <a:off x="-1319547" y="-1502762"/>
            <a:ext cx="2628000" cy="2988000"/>
          </a:xfrm>
          <a:prstGeom prst="arc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4000"/>
          </a:p>
        </p:txBody>
      </p:sp>
      <p:sp>
        <p:nvSpPr>
          <p:cNvPr id="12" name="テキスト プレースホルダー 8">
            <a:extLst>
              <a:ext uri="{FF2B5EF4-FFF2-40B4-BE49-F238E27FC236}">
                <a16:creationId xmlns:a16="http://schemas.microsoft.com/office/drawing/2014/main" id="{BBD7C122-4D56-D542-98E1-1B42D6D0A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52615" y="-159024"/>
            <a:ext cx="6450012" cy="1420388"/>
          </a:xfrm>
        </p:spPr>
        <p:txBody>
          <a:bodyPr>
            <a:noAutofit/>
          </a:bodyPr>
          <a:lstStyle>
            <a:lvl1pPr marL="0" indent="0">
              <a:buNone/>
              <a:defRPr sz="105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en-US" altLang="ja-JP" dirty="0"/>
              <a:t>No.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3F0DC34E-6387-ED4D-854A-179BF60A024D}"/>
              </a:ext>
            </a:extLst>
          </p:cNvPr>
          <p:cNvSpPr/>
          <p:nvPr userDrawn="1"/>
        </p:nvSpPr>
        <p:spPr>
          <a:xfrm>
            <a:off x="753228" y="866722"/>
            <a:ext cx="126000" cy="126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4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A27BD-E0B4-5146-9407-5FC97CB8FA4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578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95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ピー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EDF95-2DDE-7F43-8B3B-BC0F3979549C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C64DA23-46D9-984B-B610-6E67459B873E}"/>
              </a:ext>
            </a:extLst>
          </p:cNvPr>
          <p:cNvGrpSpPr/>
          <p:nvPr userDrawn="1"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665C4E3-299D-DF48-8BFD-9D032E326C5F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036DCA53-79EE-E047-9C3D-D1D6BE4D29A3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B75F477-C889-2943-A2CA-1622C8EA202B}"/>
              </a:ext>
            </a:extLst>
          </p:cNvPr>
          <p:cNvGrpSpPr/>
          <p:nvPr userDrawn="1"/>
        </p:nvGrpSpPr>
        <p:grpSpPr>
          <a:xfrm>
            <a:off x="617232" y="2555510"/>
            <a:ext cx="539448" cy="487368"/>
            <a:chOff x="400056" y="1061560"/>
            <a:chExt cx="269724" cy="243684"/>
          </a:xfrm>
        </p:grpSpPr>
        <p:sp>
          <p:nvSpPr>
            <p:cNvPr id="46" name="三角形 45">
              <a:extLst>
                <a:ext uri="{FF2B5EF4-FFF2-40B4-BE49-F238E27FC236}">
                  <a16:creationId xmlns:a16="http://schemas.microsoft.com/office/drawing/2014/main" id="{2A685D1C-1FAF-1B40-9357-32E276CD76E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7" name="三角形 46">
              <a:extLst>
                <a:ext uri="{FF2B5EF4-FFF2-40B4-BE49-F238E27FC236}">
                  <a16:creationId xmlns:a16="http://schemas.microsoft.com/office/drawing/2014/main" id="{4B27A33D-C837-B14A-83D0-153BF1C23FD2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8" name="三角形 47">
            <a:extLst>
              <a:ext uri="{FF2B5EF4-FFF2-40B4-BE49-F238E27FC236}">
                <a16:creationId xmlns:a16="http://schemas.microsoft.com/office/drawing/2014/main" id="{BEA7B9D1-FCCE-824A-BFC7-6A498C977FD4}"/>
              </a:ext>
            </a:extLst>
          </p:cNvPr>
          <p:cNvSpPr/>
          <p:nvPr userDrawn="1"/>
        </p:nvSpPr>
        <p:spPr>
          <a:xfrm rot="5400000">
            <a:off x="1076238" y="3359928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9" name="テキスト プレースホルダー 27">
            <a:extLst>
              <a:ext uri="{FF2B5EF4-FFF2-40B4-BE49-F238E27FC236}">
                <a16:creationId xmlns:a16="http://schemas.microsoft.com/office/drawing/2014/main" id="{1BC1998B-2FF5-524F-8768-2B4D222F8E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2976" y="2484733"/>
            <a:ext cx="16632960" cy="997834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50" name="テキスト プレースホルダー 29">
            <a:extLst>
              <a:ext uri="{FF2B5EF4-FFF2-40B4-BE49-F238E27FC236}">
                <a16:creationId xmlns:a16="http://schemas.microsoft.com/office/drawing/2014/main" id="{8BEB543B-9F21-374C-8C29-418CED1A87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7090" y="3246502"/>
            <a:ext cx="16135964" cy="85399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51" name="テキスト プレースホルダー 30">
            <a:extLst>
              <a:ext uri="{FF2B5EF4-FFF2-40B4-BE49-F238E27FC236}">
                <a16:creationId xmlns:a16="http://schemas.microsoft.com/office/drawing/2014/main" id="{02304497-0A2B-5C45-97ED-E58D120C14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049" y="1583871"/>
            <a:ext cx="17302163" cy="1403350"/>
          </a:xfrm>
        </p:spPr>
        <p:txBody>
          <a:bodyPr>
            <a:normAutofit/>
          </a:bodyPr>
          <a:lstStyle>
            <a:lvl1pPr marL="0" indent="0">
              <a:buNone/>
              <a:defRPr sz="6000"/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16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4100-EDA9-DF4F-A696-F838C99BE992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58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244B-D502-F14A-B713-59BB1B45E41B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4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A28D-1645-7D4C-B867-7EA748E4F22A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93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E613-95F5-D74B-A958-536AC67112E4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64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コンテンツ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CAFC-9062-D44E-B99A-38CDEBD2E67E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0E1B-640F-F24A-AD72-D027730F128D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8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82ADD-A43D-D14D-A6FC-B333D90D4C61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21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932C-B3B5-E04A-BABF-6507E41E9E8C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25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D2571E-41D4-D848-BB3B-72FBCA05A8F2}"/>
              </a:ext>
            </a:extLst>
          </p:cNvPr>
          <p:cNvSpPr/>
          <p:nvPr userDrawn="1"/>
        </p:nvSpPr>
        <p:spPr>
          <a:xfrm>
            <a:off x="0" y="13349930"/>
            <a:ext cx="18288000" cy="3496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B798F2-936C-9A42-9A8A-109E75FBD456}"/>
              </a:ext>
            </a:extLst>
          </p:cNvPr>
          <p:cNvSpPr/>
          <p:nvPr userDrawn="1"/>
        </p:nvSpPr>
        <p:spPr>
          <a:xfrm>
            <a:off x="0" y="-1802"/>
            <a:ext cx="18288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2658" y="1315493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52E4A8AD-8916-A14C-85FC-08FF226EE794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3186238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5862" y="13153581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55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8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289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svg"/><Relationship Id="rId7" Type="http://schemas.openxmlformats.org/officeDocument/2006/relationships/image" Target="../media/image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8BF32-0C66-1E44-925C-F1A9DBEC0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514C09A7-F9A3-4246-953E-DEDDA0B9D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17268508 </a:t>
            </a:r>
            <a:r>
              <a:rPr lang="ja-JP" altLang="en-US">
                <a:latin typeface="Helvetica" pitchFamily="2" charset="0"/>
              </a:rPr>
              <a:t>松下昌悟</a:t>
            </a:r>
            <a:endParaRPr kumimoji="1" lang="ja-JP" altLang="en-US">
              <a:latin typeface="Helvetica" pitchFamily="2" charset="0"/>
            </a:endParaRP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711B5A-02FA-904E-8709-C7DBEEC3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D38C5-D4E9-5341-96BC-AD6210BAB795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02093A-5EED-FE40-9D94-B21C99E1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 dirty="0"/>
              <a:t>(2018.06.06)</a:t>
            </a: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2F569F-A4A1-AC4F-AF16-B68230E7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815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1601-E22D-CE4E-A935-5B6D61E7C2AD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目次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0</a:t>
            </a:r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94B58C2-DA14-F248-82EE-9B33E99B5546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86757B4-F2EC-664D-8382-2805B40D4D59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B50D062-58C6-C441-B13D-5AE19B61AA24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2" name="テキスト プレースホルダー 30">
            <a:extLst>
              <a:ext uri="{FF2B5EF4-FFF2-40B4-BE49-F238E27FC236}">
                <a16:creationId xmlns:a16="http://schemas.microsoft.com/office/drawing/2014/main" id="{E9B4DB3D-A0A7-D84C-B1C9-2E80EAE37D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研究関連</a:t>
            </a: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2B1301C-82E7-3E43-B521-66170EA9BA5D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24" name="三角形 23">
              <a:extLst>
                <a:ext uri="{FF2B5EF4-FFF2-40B4-BE49-F238E27FC236}">
                  <a16:creationId xmlns:a16="http://schemas.microsoft.com/office/drawing/2014/main" id="{DA0605D0-DB1C-7F44-80AF-D50EC736373F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5" name="三角形 24">
              <a:extLst>
                <a:ext uri="{FF2B5EF4-FFF2-40B4-BE49-F238E27FC236}">
                  <a16:creationId xmlns:a16="http://schemas.microsoft.com/office/drawing/2014/main" id="{B40B0DA2-897A-B444-9CDB-F0CF30C226AE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26" name="テキスト プレースホルダー 27">
            <a:extLst>
              <a:ext uri="{FF2B5EF4-FFF2-40B4-BE49-F238E27FC236}">
                <a16:creationId xmlns:a16="http://schemas.microsoft.com/office/drawing/2014/main" id="{62106683-C541-C543-AEFF-88275A6F57F6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研究テーマについて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FA32115-2621-7D45-BAAF-CC2E5B70D5BD}"/>
              </a:ext>
            </a:extLst>
          </p:cNvPr>
          <p:cNvGrpSpPr/>
          <p:nvPr/>
        </p:nvGrpSpPr>
        <p:grpSpPr>
          <a:xfrm>
            <a:off x="630936" y="3530845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C4D79C3A-EC5B-2B40-8F36-A334E8F9380A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499953BB-5905-364B-87B9-58B10BA169F8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EFAE0F18-DB0C-924E-B6B6-843A5DB4601B}"/>
              </a:ext>
            </a:extLst>
          </p:cNvPr>
          <p:cNvSpPr txBox="1">
            <a:spLocks/>
          </p:cNvSpPr>
          <p:nvPr/>
        </p:nvSpPr>
        <p:spPr>
          <a:xfrm>
            <a:off x="1156680" y="3458220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今後やるべきこと</a:t>
            </a: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40E6916-AF0B-564D-B6EB-1889AEA5A6B2}"/>
              </a:ext>
            </a:extLst>
          </p:cNvPr>
          <p:cNvGrpSpPr/>
          <p:nvPr/>
        </p:nvGrpSpPr>
        <p:grpSpPr>
          <a:xfrm>
            <a:off x="289330" y="4762461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8D16D64-288F-0042-A9CF-2E1B9F5EC48D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FB6AE7F8-9BA0-184F-9E3D-2D12B9C19F7A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34" name="テキスト プレースホルダー 30">
            <a:extLst>
              <a:ext uri="{FF2B5EF4-FFF2-40B4-BE49-F238E27FC236}">
                <a16:creationId xmlns:a16="http://schemas.microsoft.com/office/drawing/2014/main" id="{2A4934FC-91C1-8448-8E08-375089B4C5F1}"/>
              </a:ext>
            </a:extLst>
          </p:cNvPr>
          <p:cNvSpPr txBox="1">
            <a:spLocks/>
          </p:cNvSpPr>
          <p:nvPr/>
        </p:nvSpPr>
        <p:spPr>
          <a:xfrm>
            <a:off x="571049" y="4933034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文献講読</a:t>
            </a: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D4B981D2-060B-424C-903B-F97ABBBC7CFF}"/>
              </a:ext>
            </a:extLst>
          </p:cNvPr>
          <p:cNvGrpSpPr/>
          <p:nvPr/>
        </p:nvGrpSpPr>
        <p:grpSpPr>
          <a:xfrm>
            <a:off x="617232" y="5906521"/>
            <a:ext cx="539448" cy="487368"/>
            <a:chOff x="400056" y="1061560"/>
            <a:chExt cx="269724" cy="243684"/>
          </a:xfrm>
        </p:grpSpPr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770A2C12-4A1B-DD48-B6CF-CD8FC5B96BF0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7" name="三角形 36">
              <a:extLst>
                <a:ext uri="{FF2B5EF4-FFF2-40B4-BE49-F238E27FC236}">
                  <a16:creationId xmlns:a16="http://schemas.microsoft.com/office/drawing/2014/main" id="{1541028F-A8B9-E34D-B914-778F3D562C6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8DD94BE0-E37F-2A48-BB83-5399D220D623}"/>
              </a:ext>
            </a:extLst>
          </p:cNvPr>
          <p:cNvSpPr txBox="1">
            <a:spLocks/>
          </p:cNvSpPr>
          <p:nvPr/>
        </p:nvSpPr>
        <p:spPr>
          <a:xfrm>
            <a:off x="1142976" y="5833896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文献情報</a:t>
            </a: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1C100B1-A248-2943-8852-7B23C57E6EDC}"/>
              </a:ext>
            </a:extLst>
          </p:cNvPr>
          <p:cNvGrpSpPr/>
          <p:nvPr/>
        </p:nvGrpSpPr>
        <p:grpSpPr>
          <a:xfrm>
            <a:off x="630936" y="6880008"/>
            <a:ext cx="539448" cy="487368"/>
            <a:chOff x="400056" y="1061560"/>
            <a:chExt cx="269724" cy="243684"/>
          </a:xfrm>
        </p:grpSpPr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F64386D5-325C-064E-BEB7-DA6D4F7B6AF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1" name="三角形 40">
              <a:extLst>
                <a:ext uri="{FF2B5EF4-FFF2-40B4-BE49-F238E27FC236}">
                  <a16:creationId xmlns:a16="http://schemas.microsoft.com/office/drawing/2014/main" id="{8C77DEFF-E673-9245-A392-4739D119DF21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50" name="テキスト プレースホルダー 27">
            <a:extLst>
              <a:ext uri="{FF2B5EF4-FFF2-40B4-BE49-F238E27FC236}">
                <a16:creationId xmlns:a16="http://schemas.microsoft.com/office/drawing/2014/main" id="{EA378939-7F34-A341-8460-BF62AC56CD46}"/>
              </a:ext>
            </a:extLst>
          </p:cNvPr>
          <p:cNvSpPr txBox="1">
            <a:spLocks/>
          </p:cNvSpPr>
          <p:nvPr/>
        </p:nvSpPr>
        <p:spPr>
          <a:xfrm>
            <a:off x="1156680" y="680738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</p:spTree>
    <p:extLst>
      <p:ext uri="{BB962C8B-B14F-4D97-AF65-F5344CB8AC3E}">
        <p14:creationId xmlns:p14="http://schemas.microsoft.com/office/powerpoint/2010/main" val="330069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研究関連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BFE4B91A-E459-2C47-809F-FEFE5CC2577D}"/>
              </a:ext>
            </a:extLst>
          </p:cNvPr>
          <p:cNvSpPr/>
          <p:nvPr/>
        </p:nvSpPr>
        <p:spPr>
          <a:xfrm rot="10800000">
            <a:off x="8823961" y="5642869"/>
            <a:ext cx="640078" cy="38722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EABDD88-11F9-704B-9805-BD7D4657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337" y="7512741"/>
            <a:ext cx="5543119" cy="536088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89159C-D243-704B-B118-E528AE38F9EF}"/>
              </a:ext>
            </a:extLst>
          </p:cNvPr>
          <p:cNvSpPr txBox="1"/>
          <p:nvPr/>
        </p:nvSpPr>
        <p:spPr>
          <a:xfrm>
            <a:off x="5666133" y="6355917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効用が増加するのでは？</a:t>
            </a:r>
            <a:endParaRPr lang="en-US" altLang="ja-JP" sz="4800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B917959-5B53-554F-AA5A-7FCE9EDD256B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52A9C2-8084-5C47-BEC1-A6AC494381DD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59B9C5C-72D8-1B4B-A7C6-8F5D0C11CBE5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6" name="テキスト プレースホルダー 30">
            <a:extLst>
              <a:ext uri="{FF2B5EF4-FFF2-40B4-BE49-F238E27FC236}">
                <a16:creationId xmlns:a16="http://schemas.microsoft.com/office/drawing/2014/main" id="{4F49CD16-F282-0E43-8087-5B85485DE8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研究テーマについて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人間とエージェントの自動交渉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2200439" y="4468626"/>
            <a:ext cx="13887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/>
              <a:t>TKI</a:t>
            </a:r>
            <a:r>
              <a:rPr lang="ja-JP" altLang="en-US" sz="4800"/>
              <a:t>を使って人間のタイプを分類し戦略を変更する</a:t>
            </a:r>
            <a:endParaRPr lang="en-US" altLang="ja-JP" sz="4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660ADE7-B052-A24C-95A9-6DDADAD3DEE8}"/>
              </a:ext>
            </a:extLst>
          </p:cNvPr>
          <p:cNvSpPr txBox="1"/>
          <p:nvPr/>
        </p:nvSpPr>
        <p:spPr>
          <a:xfrm>
            <a:off x="931688" y="9555004"/>
            <a:ext cx="10252425" cy="2621994"/>
          </a:xfrm>
          <a:prstGeom prst="round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sz="4000" dirty="0">
                <a:solidFill>
                  <a:schemeClr val="bg1"/>
                </a:solidFill>
              </a:rPr>
              <a:t>TKI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人間関係における衝突を解消するために</a:t>
            </a:r>
            <a:endParaRPr lang="en-US" altLang="ja-JP" dirty="0">
              <a:solidFill>
                <a:schemeClr val="bg1"/>
              </a:solidFill>
            </a:endParaRPr>
          </a:p>
          <a:p>
            <a:pPr marL="361950"/>
            <a:r>
              <a:rPr lang="ja-JP" altLang="en-US">
                <a:solidFill>
                  <a:schemeClr val="bg1"/>
                </a:solidFill>
              </a:rPr>
              <a:t>使用されている検査</a:t>
            </a:r>
            <a:endParaRPr lang="en-US" altLang="ja-JP" dirty="0">
              <a:solidFill>
                <a:schemeClr val="bg1"/>
              </a:solidFill>
            </a:endParaRPr>
          </a:p>
          <a:p>
            <a:pPr marL="401638" indent="-401638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積極性と協調性の度合いで</a:t>
            </a:r>
            <a:r>
              <a:rPr lang="en-US" altLang="ja-JP" dirty="0">
                <a:solidFill>
                  <a:schemeClr val="bg1"/>
                </a:solidFill>
              </a:rPr>
              <a:t>5</a:t>
            </a:r>
            <a:r>
              <a:rPr lang="ja-JP" altLang="en-US">
                <a:solidFill>
                  <a:schemeClr val="bg1"/>
                </a:solidFill>
              </a:rPr>
              <a:t>つのタイプに分類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22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研究関連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BFE4B91A-E459-2C47-809F-FEFE5CC2577D}"/>
              </a:ext>
            </a:extLst>
          </p:cNvPr>
          <p:cNvSpPr/>
          <p:nvPr/>
        </p:nvSpPr>
        <p:spPr>
          <a:xfrm rot="10800000">
            <a:off x="8823961" y="5642869"/>
            <a:ext cx="640078" cy="38722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89159C-D243-704B-B118-E528AE38F9EF}"/>
              </a:ext>
            </a:extLst>
          </p:cNvPr>
          <p:cNvSpPr txBox="1"/>
          <p:nvPr/>
        </p:nvSpPr>
        <p:spPr>
          <a:xfrm>
            <a:off x="5666133" y="6355917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効用が増加するのでは？</a:t>
            </a:r>
            <a:endParaRPr lang="en-US" altLang="ja-JP" sz="4800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B917959-5B53-554F-AA5A-7FCE9EDD256B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52A9C2-8084-5C47-BEC1-A6AC494381DD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59B9C5C-72D8-1B4B-A7C6-8F5D0C11CBE5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6" name="テキスト プレースホルダー 30">
            <a:extLst>
              <a:ext uri="{FF2B5EF4-FFF2-40B4-BE49-F238E27FC236}">
                <a16:creationId xmlns:a16="http://schemas.microsoft.com/office/drawing/2014/main" id="{4F49CD16-F282-0E43-8087-5B85485DE8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研究テーマについて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人間とエージェントの自動交渉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2200439" y="4468626"/>
            <a:ext cx="13887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/>
              <a:t>TKI</a:t>
            </a:r>
            <a:r>
              <a:rPr lang="ja-JP" altLang="en-US" sz="4800"/>
              <a:t>を使って人間のタイプを分類し戦略を変更する</a:t>
            </a:r>
            <a:endParaRPr lang="en-US" altLang="ja-JP" sz="48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34034C-0FC2-E94B-A948-239FAB7C620E}"/>
              </a:ext>
            </a:extLst>
          </p:cNvPr>
          <p:cNvGrpSpPr/>
          <p:nvPr/>
        </p:nvGrpSpPr>
        <p:grpSpPr>
          <a:xfrm>
            <a:off x="4856117" y="7344746"/>
            <a:ext cx="8575767" cy="2062549"/>
            <a:chOff x="4856117" y="7527628"/>
            <a:chExt cx="8575767" cy="2062549"/>
          </a:xfrm>
        </p:grpSpPr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F29746FA-8FA5-2340-89A4-4E22093FEA93}"/>
                </a:ext>
              </a:extLst>
            </p:cNvPr>
            <p:cNvSpPr/>
            <p:nvPr/>
          </p:nvSpPr>
          <p:spPr>
            <a:xfrm>
              <a:off x="4856117" y="7991023"/>
              <a:ext cx="8575767" cy="15991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交渉中に十分な情報が得られるのか？</a:t>
              </a:r>
              <a:endParaRPr lang="en-US" altLang="ja-JP" dirty="0">
                <a:solidFill>
                  <a:srgbClr val="FFFFFF"/>
                </a:solidFill>
              </a:endParaRPr>
            </a:p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タイプ判断を誤る可能性が高そう</a:t>
              </a:r>
              <a:endParaRPr lang="en-US" altLang="ja-JP" dirty="0">
                <a:solidFill>
                  <a:srgbClr val="FFFFFF"/>
                </a:solidFill>
              </a:endParaRPr>
            </a:p>
          </p:txBody>
        </p:sp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4AFF15D0-BE74-2547-B6F2-20B091ED212F}"/>
                </a:ext>
              </a:extLst>
            </p:cNvPr>
            <p:cNvSpPr/>
            <p:nvPr/>
          </p:nvSpPr>
          <p:spPr>
            <a:xfrm>
              <a:off x="8830000" y="7527628"/>
              <a:ext cx="628000" cy="49461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742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研究関連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BFE4B91A-E459-2C47-809F-FEFE5CC2577D}"/>
              </a:ext>
            </a:extLst>
          </p:cNvPr>
          <p:cNvSpPr/>
          <p:nvPr/>
        </p:nvSpPr>
        <p:spPr>
          <a:xfrm rot="10800000">
            <a:off x="8823961" y="5642869"/>
            <a:ext cx="640078" cy="38722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89159C-D243-704B-B118-E528AE38F9EF}"/>
              </a:ext>
            </a:extLst>
          </p:cNvPr>
          <p:cNvSpPr txBox="1"/>
          <p:nvPr/>
        </p:nvSpPr>
        <p:spPr>
          <a:xfrm>
            <a:off x="5666133" y="6355917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効用が増加するのでは？</a:t>
            </a:r>
            <a:endParaRPr lang="en-US" altLang="ja-JP" sz="4800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B917959-5B53-554F-AA5A-7FCE9EDD256B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52A9C2-8084-5C47-BEC1-A6AC494381DD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59B9C5C-72D8-1B4B-A7C6-8F5D0C11CBE5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6" name="テキスト プレースホルダー 30">
            <a:extLst>
              <a:ext uri="{FF2B5EF4-FFF2-40B4-BE49-F238E27FC236}">
                <a16:creationId xmlns:a16="http://schemas.microsoft.com/office/drawing/2014/main" id="{4F49CD16-F282-0E43-8087-5B85485DE8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研究テーマについて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人間とエージェントの自動交渉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2200439" y="4468626"/>
            <a:ext cx="13887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/>
              <a:t>TKI</a:t>
            </a:r>
            <a:r>
              <a:rPr lang="ja-JP" altLang="en-US" sz="4800"/>
              <a:t>を使って人間のタイプを分類し戦略を変更する</a:t>
            </a:r>
            <a:endParaRPr lang="en-US" altLang="ja-JP" sz="48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34034C-0FC2-E94B-A948-239FAB7C620E}"/>
              </a:ext>
            </a:extLst>
          </p:cNvPr>
          <p:cNvGrpSpPr/>
          <p:nvPr/>
        </p:nvGrpSpPr>
        <p:grpSpPr>
          <a:xfrm>
            <a:off x="4856117" y="7344746"/>
            <a:ext cx="8575767" cy="2062549"/>
            <a:chOff x="4856117" y="7527628"/>
            <a:chExt cx="8575767" cy="2062549"/>
          </a:xfrm>
        </p:grpSpPr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F29746FA-8FA5-2340-89A4-4E22093FEA93}"/>
                </a:ext>
              </a:extLst>
            </p:cNvPr>
            <p:cNvSpPr/>
            <p:nvPr/>
          </p:nvSpPr>
          <p:spPr>
            <a:xfrm>
              <a:off x="4856117" y="7991023"/>
              <a:ext cx="8575767" cy="15991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交渉中に十分な情報が得られるのか？</a:t>
              </a:r>
              <a:endParaRPr lang="en-US" altLang="ja-JP" dirty="0">
                <a:solidFill>
                  <a:srgbClr val="FFFFFF"/>
                </a:solidFill>
              </a:endParaRPr>
            </a:p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タイプ判断を誤る可能性が高そう</a:t>
              </a:r>
              <a:endParaRPr lang="en-US" altLang="ja-JP" dirty="0">
                <a:solidFill>
                  <a:srgbClr val="FFFFFF"/>
                </a:solidFill>
              </a:endParaRPr>
            </a:p>
          </p:txBody>
        </p:sp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4AFF15D0-BE74-2547-B6F2-20B091ED212F}"/>
                </a:ext>
              </a:extLst>
            </p:cNvPr>
            <p:cNvSpPr/>
            <p:nvPr/>
          </p:nvSpPr>
          <p:spPr>
            <a:xfrm>
              <a:off x="8830000" y="7527628"/>
              <a:ext cx="628000" cy="49461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DD6D706-F305-1E4F-A0E6-F4613D4D8B19}"/>
              </a:ext>
            </a:extLst>
          </p:cNvPr>
          <p:cNvSpPr txBox="1"/>
          <p:nvPr/>
        </p:nvSpPr>
        <p:spPr>
          <a:xfrm>
            <a:off x="2316392" y="10050271"/>
            <a:ext cx="137268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solidFill>
                  <a:schemeClr val="accent2"/>
                </a:solidFill>
              </a:rPr>
              <a:t>複数回</a:t>
            </a:r>
            <a:r>
              <a:rPr lang="ja-JP" altLang="en-US" sz="4800"/>
              <a:t>交渉する場合に効果があるか見てみよう！</a:t>
            </a:r>
            <a:endParaRPr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336922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研究関連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BFE4B91A-E459-2C47-809F-FEFE5CC2577D}"/>
              </a:ext>
            </a:extLst>
          </p:cNvPr>
          <p:cNvSpPr/>
          <p:nvPr/>
        </p:nvSpPr>
        <p:spPr>
          <a:xfrm rot="10800000">
            <a:off x="8823961" y="5642869"/>
            <a:ext cx="640078" cy="38722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89159C-D243-704B-B118-E528AE38F9EF}"/>
              </a:ext>
            </a:extLst>
          </p:cNvPr>
          <p:cNvSpPr txBox="1"/>
          <p:nvPr/>
        </p:nvSpPr>
        <p:spPr>
          <a:xfrm>
            <a:off x="5666133" y="6355917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効用が増加するのでは？</a:t>
            </a:r>
            <a:endParaRPr lang="en-US" altLang="ja-JP" sz="4800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B917959-5B53-554F-AA5A-7FCE9EDD256B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52A9C2-8084-5C47-BEC1-A6AC494381DD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59B9C5C-72D8-1B4B-A7C6-8F5D0C11CBE5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6" name="テキスト プレースホルダー 30">
            <a:extLst>
              <a:ext uri="{FF2B5EF4-FFF2-40B4-BE49-F238E27FC236}">
                <a16:creationId xmlns:a16="http://schemas.microsoft.com/office/drawing/2014/main" id="{4F49CD16-F282-0E43-8087-5B85485DE8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研究テーマについて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人間とエージェントの自動交渉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2200439" y="4468626"/>
            <a:ext cx="13887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/>
              <a:t>TKI</a:t>
            </a:r>
            <a:r>
              <a:rPr lang="ja-JP" altLang="en-US" sz="4800"/>
              <a:t>を使って人間のタイプを分類し戦略を変更する</a:t>
            </a:r>
            <a:endParaRPr lang="en-US" altLang="ja-JP" sz="48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34034C-0FC2-E94B-A948-239FAB7C620E}"/>
              </a:ext>
            </a:extLst>
          </p:cNvPr>
          <p:cNvGrpSpPr/>
          <p:nvPr/>
        </p:nvGrpSpPr>
        <p:grpSpPr>
          <a:xfrm>
            <a:off x="4856117" y="7344746"/>
            <a:ext cx="8575767" cy="2062549"/>
            <a:chOff x="4856117" y="7527628"/>
            <a:chExt cx="8575767" cy="2062549"/>
          </a:xfrm>
        </p:grpSpPr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F29746FA-8FA5-2340-89A4-4E22093FEA93}"/>
                </a:ext>
              </a:extLst>
            </p:cNvPr>
            <p:cNvSpPr/>
            <p:nvPr/>
          </p:nvSpPr>
          <p:spPr>
            <a:xfrm>
              <a:off x="4856117" y="7991023"/>
              <a:ext cx="8575767" cy="15991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交渉中に十分な情報が得られるのか？</a:t>
              </a:r>
              <a:endParaRPr lang="en-US" altLang="ja-JP" dirty="0">
                <a:solidFill>
                  <a:srgbClr val="FFFFFF"/>
                </a:solidFill>
              </a:endParaRPr>
            </a:p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タイプ判断を誤る可能性が高そう</a:t>
              </a:r>
              <a:endParaRPr lang="en-US" altLang="ja-JP" dirty="0">
                <a:solidFill>
                  <a:srgbClr val="FFFFFF"/>
                </a:solidFill>
              </a:endParaRPr>
            </a:p>
          </p:txBody>
        </p:sp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4AFF15D0-BE74-2547-B6F2-20B091ED212F}"/>
                </a:ext>
              </a:extLst>
            </p:cNvPr>
            <p:cNvSpPr/>
            <p:nvPr/>
          </p:nvSpPr>
          <p:spPr>
            <a:xfrm>
              <a:off x="8830000" y="7527628"/>
              <a:ext cx="628000" cy="49461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DD6D706-F305-1E4F-A0E6-F4613D4D8B19}"/>
              </a:ext>
            </a:extLst>
          </p:cNvPr>
          <p:cNvSpPr txBox="1"/>
          <p:nvPr/>
        </p:nvSpPr>
        <p:spPr>
          <a:xfrm>
            <a:off x="2316392" y="10050271"/>
            <a:ext cx="137268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solidFill>
                  <a:schemeClr val="accent2"/>
                </a:solidFill>
              </a:rPr>
              <a:t>複数回</a:t>
            </a:r>
            <a:r>
              <a:rPr lang="ja-JP" altLang="en-US" sz="4800"/>
              <a:t>交渉する場合に効果があるか見てみよう！</a:t>
            </a:r>
            <a:endParaRPr lang="en-US" altLang="ja-JP" sz="48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73A080-2261-8745-89F4-340F8BD69482}"/>
              </a:ext>
            </a:extLst>
          </p:cNvPr>
          <p:cNvGrpSpPr/>
          <p:nvPr/>
        </p:nvGrpSpPr>
        <p:grpSpPr>
          <a:xfrm>
            <a:off x="4856117" y="11029630"/>
            <a:ext cx="8575767" cy="2074266"/>
            <a:chOff x="4856117" y="11029630"/>
            <a:chExt cx="8575767" cy="2074266"/>
          </a:xfrm>
        </p:grpSpPr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F6FEF4D0-6526-9A46-A918-5E12FF0C9574}"/>
                </a:ext>
              </a:extLst>
            </p:cNvPr>
            <p:cNvSpPr/>
            <p:nvPr/>
          </p:nvSpPr>
          <p:spPr>
            <a:xfrm>
              <a:off x="4856117" y="11504742"/>
              <a:ext cx="8575767" cy="15991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 lvl="0"/>
              <a:r>
                <a:rPr lang="en-US" altLang="ja-JP" dirty="0">
                  <a:solidFill>
                    <a:srgbClr val="FFFFFF"/>
                  </a:solidFill>
                </a:rPr>
                <a:t>foot in the door</a:t>
              </a:r>
              <a:r>
                <a:rPr lang="ja-JP" altLang="en-US">
                  <a:solidFill>
                    <a:srgbClr val="FFFFFF"/>
                  </a:solidFill>
                </a:rPr>
                <a:t>のような複数回交渉を</a:t>
              </a:r>
              <a:endParaRPr lang="en-US" altLang="ja-JP" dirty="0">
                <a:solidFill>
                  <a:srgbClr val="FFFFFF"/>
                </a:solidFill>
              </a:endParaRPr>
            </a:p>
            <a:p>
              <a:pPr marL="361950" lvl="0"/>
              <a:r>
                <a:rPr lang="ja-JP" altLang="en-US">
                  <a:solidFill>
                    <a:srgbClr val="FFFFFF"/>
                  </a:solidFill>
                </a:rPr>
                <a:t>行うことが前提の手法も試せる！</a:t>
              </a:r>
              <a:endParaRPr lang="en-US" altLang="ja-JP" dirty="0">
                <a:solidFill>
                  <a:srgbClr val="FFFFFF"/>
                </a:solidFill>
              </a:endParaRPr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CCF3D876-A450-3241-852E-2E612AE7F799}"/>
                </a:ext>
              </a:extLst>
            </p:cNvPr>
            <p:cNvSpPr/>
            <p:nvPr/>
          </p:nvSpPr>
          <p:spPr>
            <a:xfrm>
              <a:off x="8823961" y="11029630"/>
              <a:ext cx="628000" cy="49461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41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研究関連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B917959-5B53-554F-AA5A-7FCE9EDD256B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52A9C2-8084-5C47-BEC1-A6AC494381DD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59B9C5C-72D8-1B4B-A7C6-8F5D0C11CBE5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6" name="テキスト プレースホルダー 30">
            <a:extLst>
              <a:ext uri="{FF2B5EF4-FFF2-40B4-BE49-F238E27FC236}">
                <a16:creationId xmlns:a16="http://schemas.microsoft.com/office/drawing/2014/main" id="{4F49CD16-F282-0E43-8087-5B85485DE8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今後やるべきこと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とりあえずお勉強</a:t>
            </a:r>
          </a:p>
        </p:txBody>
      </p:sp>
      <p:sp>
        <p:nvSpPr>
          <p:cNvPr id="41" name="三角形 40">
            <a:extLst>
              <a:ext uri="{FF2B5EF4-FFF2-40B4-BE49-F238E27FC236}">
                <a16:creationId xmlns:a16="http://schemas.microsoft.com/office/drawing/2014/main" id="{C124E632-D3DA-9A44-A714-1F188A8E4A2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2" name="テキスト プレースホルダー 29">
            <a:extLst>
              <a:ext uri="{FF2B5EF4-FFF2-40B4-BE49-F238E27FC236}">
                <a16:creationId xmlns:a16="http://schemas.microsoft.com/office/drawing/2014/main" id="{FE978E6E-DEFE-C946-9BE5-35E1D5E93B79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(</a:t>
            </a:r>
            <a:r>
              <a:rPr lang="ja-JP" altLang="en-US"/>
              <a:t>特に人間とエージェントの</a:t>
            </a:r>
            <a:r>
              <a:rPr lang="en-US" altLang="ja-JP" dirty="0"/>
              <a:t>)</a:t>
            </a:r>
            <a:r>
              <a:rPr lang="ja-JP" altLang="en-US"/>
              <a:t>交渉</a:t>
            </a:r>
          </a:p>
        </p:txBody>
      </p:sp>
      <p:sp>
        <p:nvSpPr>
          <p:cNvPr id="43" name="三角形 42">
            <a:extLst>
              <a:ext uri="{FF2B5EF4-FFF2-40B4-BE49-F238E27FC236}">
                <a16:creationId xmlns:a16="http://schemas.microsoft.com/office/drawing/2014/main" id="{F7256865-F00F-004B-85ED-93213CFF2616}"/>
              </a:ext>
            </a:extLst>
          </p:cNvPr>
          <p:cNvSpPr/>
          <p:nvPr/>
        </p:nvSpPr>
        <p:spPr>
          <a:xfrm rot="5400000">
            <a:off x="1076238" y="4122075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4" name="テキスト プレースホルダー 29">
            <a:extLst>
              <a:ext uri="{FF2B5EF4-FFF2-40B4-BE49-F238E27FC236}">
                <a16:creationId xmlns:a16="http://schemas.microsoft.com/office/drawing/2014/main" id="{01125D2D-4D31-FA45-88C3-64B282ACBEC8}"/>
              </a:ext>
            </a:extLst>
          </p:cNvPr>
          <p:cNvSpPr txBox="1">
            <a:spLocks/>
          </p:cNvSpPr>
          <p:nvPr/>
        </p:nvSpPr>
        <p:spPr>
          <a:xfrm>
            <a:off x="1457090" y="4006801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(</a:t>
            </a:r>
            <a:r>
              <a:rPr lang="ja-JP" altLang="en-US"/>
              <a:t>交渉に使えそうな</a:t>
            </a:r>
            <a:r>
              <a:rPr lang="en-US" altLang="ja-JP" dirty="0"/>
              <a:t>)</a:t>
            </a:r>
            <a:r>
              <a:rPr lang="ja-JP" altLang="en-US"/>
              <a:t>心理学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1F1B9EE8-3053-994F-80F4-FB2B097F6896}"/>
              </a:ext>
            </a:extLst>
          </p:cNvPr>
          <p:cNvGrpSpPr/>
          <p:nvPr/>
        </p:nvGrpSpPr>
        <p:grpSpPr>
          <a:xfrm>
            <a:off x="630936" y="5752959"/>
            <a:ext cx="539448" cy="487368"/>
            <a:chOff x="400056" y="1061560"/>
            <a:chExt cx="269724" cy="243684"/>
          </a:xfrm>
        </p:grpSpPr>
        <p:sp>
          <p:nvSpPr>
            <p:cNvPr id="46" name="三角形 45">
              <a:extLst>
                <a:ext uri="{FF2B5EF4-FFF2-40B4-BE49-F238E27FC236}">
                  <a16:creationId xmlns:a16="http://schemas.microsoft.com/office/drawing/2014/main" id="{A5EBF878-D528-6B4A-9E22-6B966061074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7" name="三角形 46">
              <a:extLst>
                <a:ext uri="{FF2B5EF4-FFF2-40B4-BE49-F238E27FC236}">
                  <a16:creationId xmlns:a16="http://schemas.microsoft.com/office/drawing/2014/main" id="{B726747A-0C77-D140-A82E-DEFF30378D4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8" name="テキスト プレースホルダー 27">
            <a:extLst>
              <a:ext uri="{FF2B5EF4-FFF2-40B4-BE49-F238E27FC236}">
                <a16:creationId xmlns:a16="http://schemas.microsoft.com/office/drawing/2014/main" id="{3E2E53D0-4DC5-5847-9219-D411BB9EEBF6}"/>
              </a:ext>
            </a:extLst>
          </p:cNvPr>
          <p:cNvSpPr txBox="1">
            <a:spLocks/>
          </p:cNvSpPr>
          <p:nvPr/>
        </p:nvSpPr>
        <p:spPr>
          <a:xfrm>
            <a:off x="1156680" y="5680334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エージェントを作成するプラットフォームに慣れる</a:t>
            </a: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1D49B496-6DD5-7C48-AFAC-9A4647AB217B}"/>
              </a:ext>
            </a:extLst>
          </p:cNvPr>
          <p:cNvGrpSpPr/>
          <p:nvPr/>
        </p:nvGrpSpPr>
        <p:grpSpPr>
          <a:xfrm>
            <a:off x="644640" y="6818448"/>
            <a:ext cx="539448" cy="487368"/>
            <a:chOff x="400056" y="1061560"/>
            <a:chExt cx="269724" cy="243684"/>
          </a:xfrm>
        </p:grpSpPr>
        <p:sp>
          <p:nvSpPr>
            <p:cNvPr id="52" name="三角形 51">
              <a:extLst>
                <a:ext uri="{FF2B5EF4-FFF2-40B4-BE49-F238E27FC236}">
                  <a16:creationId xmlns:a16="http://schemas.microsoft.com/office/drawing/2014/main" id="{38C334F6-0228-984D-88C0-8507279F053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53" name="三角形 52">
              <a:extLst>
                <a:ext uri="{FF2B5EF4-FFF2-40B4-BE49-F238E27FC236}">
                  <a16:creationId xmlns:a16="http://schemas.microsoft.com/office/drawing/2014/main" id="{24607563-B779-B34D-BB57-C2D8CD1C063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54" name="テキスト プレースホルダー 27">
            <a:extLst>
              <a:ext uri="{FF2B5EF4-FFF2-40B4-BE49-F238E27FC236}">
                <a16:creationId xmlns:a16="http://schemas.microsoft.com/office/drawing/2014/main" id="{1721A700-EA44-4045-ACAE-4D1F078E3D2C}"/>
              </a:ext>
            </a:extLst>
          </p:cNvPr>
          <p:cNvSpPr txBox="1">
            <a:spLocks/>
          </p:cNvSpPr>
          <p:nvPr/>
        </p:nvSpPr>
        <p:spPr>
          <a:xfrm>
            <a:off x="1170384" y="674582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文献講読のスライド作る</a:t>
            </a:r>
          </a:p>
        </p:txBody>
      </p:sp>
      <p:sp>
        <p:nvSpPr>
          <p:cNvPr id="55" name="三角形 54">
            <a:extLst>
              <a:ext uri="{FF2B5EF4-FFF2-40B4-BE49-F238E27FC236}">
                <a16:creationId xmlns:a16="http://schemas.microsoft.com/office/drawing/2014/main" id="{C8E0F971-3C1B-3046-B839-A85146F1625A}"/>
              </a:ext>
            </a:extLst>
          </p:cNvPr>
          <p:cNvSpPr/>
          <p:nvPr/>
        </p:nvSpPr>
        <p:spPr>
          <a:xfrm rot="5400000">
            <a:off x="1076238" y="4901357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6" name="テキスト プレースホルダー 29">
            <a:extLst>
              <a:ext uri="{FF2B5EF4-FFF2-40B4-BE49-F238E27FC236}">
                <a16:creationId xmlns:a16="http://schemas.microsoft.com/office/drawing/2014/main" id="{B4581F2C-BEF3-3A48-B875-3BBA3F27FF4E}"/>
              </a:ext>
            </a:extLst>
          </p:cNvPr>
          <p:cNvSpPr txBox="1">
            <a:spLocks/>
          </p:cNvSpPr>
          <p:nvPr/>
        </p:nvSpPr>
        <p:spPr>
          <a:xfrm>
            <a:off x="1457090" y="4786083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solidFill>
                  <a:schemeClr val="tx1">
                    <a:lumMod val="20000"/>
                    <a:lumOff val="80000"/>
                  </a:schemeClr>
                </a:solidFill>
              </a:rPr>
              <a:t>深層学習</a:t>
            </a:r>
            <a:r>
              <a:rPr lang="en-US" altLang="ja-JP" dirty="0">
                <a:solidFill>
                  <a:schemeClr val="tx1">
                    <a:lumMod val="20000"/>
                    <a:lumOff val="80000"/>
                  </a:schemeClr>
                </a:solidFill>
              </a:rPr>
              <a:t>(</a:t>
            </a:r>
            <a:r>
              <a:rPr lang="ja-JP" altLang="en-US">
                <a:solidFill>
                  <a:schemeClr val="tx1">
                    <a:lumMod val="20000"/>
                    <a:lumOff val="80000"/>
                  </a:schemeClr>
                </a:solidFill>
              </a:rPr>
              <a:t>輪講</a:t>
            </a:r>
            <a:r>
              <a:rPr lang="en-US" altLang="ja-JP" dirty="0">
                <a:solidFill>
                  <a:schemeClr val="tx1">
                    <a:lumMod val="20000"/>
                    <a:lumOff val="80000"/>
                  </a:schemeClr>
                </a:solidFill>
              </a:rPr>
              <a:t>)</a:t>
            </a:r>
            <a:endParaRPr lang="ja-JP" altLang="en-US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08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タイトル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Grumpy &amp; Pinocchio: Answering Human-Agent Negotiation </a:t>
            </a:r>
          </a:p>
          <a:p>
            <a:r>
              <a:rPr lang="en-US" altLang="ja-JP" dirty="0"/>
              <a:t>Questions through Realistic Agent Design </a:t>
            </a: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C5A507FC-7CA3-B846-8ECF-593DD878D513}"/>
              </a:ext>
            </a:extLst>
          </p:cNvPr>
          <p:cNvGrpSpPr/>
          <p:nvPr/>
        </p:nvGrpSpPr>
        <p:grpSpPr>
          <a:xfrm>
            <a:off x="289330" y="4604179"/>
            <a:ext cx="2160000" cy="934436"/>
            <a:chOff x="144665" y="525617"/>
            <a:chExt cx="1080000" cy="467218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461B67CA-EFF8-B946-9B39-A1B584D7C295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4AED7D6-ADAE-EF4A-9EAF-F3ABE8B1CE5C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FBA7F60B-4501-3B4C-831A-6B39BA372BCA}"/>
              </a:ext>
            </a:extLst>
          </p:cNvPr>
          <p:cNvGrpSpPr/>
          <p:nvPr/>
        </p:nvGrpSpPr>
        <p:grpSpPr>
          <a:xfrm>
            <a:off x="617232" y="5748239"/>
            <a:ext cx="539448" cy="487368"/>
            <a:chOff x="400056" y="1061560"/>
            <a:chExt cx="269724" cy="243684"/>
          </a:xfrm>
        </p:grpSpPr>
        <p:sp>
          <p:nvSpPr>
            <p:cNvPr id="43" name="三角形 42">
              <a:extLst>
                <a:ext uri="{FF2B5EF4-FFF2-40B4-BE49-F238E27FC236}">
                  <a16:creationId xmlns:a16="http://schemas.microsoft.com/office/drawing/2014/main" id="{D969DFC4-4FCE-FA4F-9AE1-7E58054439E8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4" name="三角形 43">
              <a:extLst>
                <a:ext uri="{FF2B5EF4-FFF2-40B4-BE49-F238E27FC236}">
                  <a16:creationId xmlns:a16="http://schemas.microsoft.com/office/drawing/2014/main" id="{0BB6E434-B7DA-E74A-97D8-9DF70C614544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5" name="テキスト プレースホルダー 30">
            <a:extLst>
              <a:ext uri="{FF2B5EF4-FFF2-40B4-BE49-F238E27FC236}">
                <a16:creationId xmlns:a16="http://schemas.microsoft.com/office/drawing/2014/main" id="{6460E5F6-B6A2-6D40-B518-3DC31548052E}"/>
              </a:ext>
            </a:extLst>
          </p:cNvPr>
          <p:cNvSpPr txBox="1">
            <a:spLocks/>
          </p:cNvSpPr>
          <p:nvPr/>
        </p:nvSpPr>
        <p:spPr>
          <a:xfrm>
            <a:off x="571049" y="4774752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著者</a:t>
            </a:r>
          </a:p>
        </p:txBody>
      </p:sp>
      <p:sp>
        <p:nvSpPr>
          <p:cNvPr id="46" name="テキスト プレースホルダー 27">
            <a:extLst>
              <a:ext uri="{FF2B5EF4-FFF2-40B4-BE49-F238E27FC236}">
                <a16:creationId xmlns:a16="http://schemas.microsoft.com/office/drawing/2014/main" id="{015B9810-DE51-184B-A7B9-54C0C5A41E3B}"/>
              </a:ext>
            </a:extLst>
          </p:cNvPr>
          <p:cNvSpPr txBox="1">
            <a:spLocks/>
          </p:cNvSpPr>
          <p:nvPr/>
        </p:nvSpPr>
        <p:spPr>
          <a:xfrm>
            <a:off x="1254486" y="5675614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dirty="0"/>
              <a:t>Johnathan Mell </a:t>
            </a:r>
            <a:r>
              <a:rPr lang="ja-JP" altLang="en-US"/>
              <a:t>，</a:t>
            </a:r>
            <a:r>
              <a:rPr lang="en" altLang="ja-JP" dirty="0"/>
              <a:t>Jonathan </a:t>
            </a:r>
            <a:r>
              <a:rPr lang="en" altLang="ja-JP" dirty="0" err="1"/>
              <a:t>Gratch</a:t>
            </a:r>
            <a:r>
              <a:rPr lang="en" altLang="ja-JP" dirty="0"/>
              <a:t>  </a:t>
            </a:r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2C428B66-1473-1242-9724-ADA1072DD11B}"/>
              </a:ext>
            </a:extLst>
          </p:cNvPr>
          <p:cNvGrpSpPr/>
          <p:nvPr/>
        </p:nvGrpSpPr>
        <p:grpSpPr>
          <a:xfrm>
            <a:off x="289330" y="6829331"/>
            <a:ext cx="2160000" cy="934436"/>
            <a:chOff x="144665" y="525617"/>
            <a:chExt cx="1080000" cy="467218"/>
          </a:xfrm>
        </p:grpSpPr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C7C3B607-7A22-504C-88A3-63CFFFF990D2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87752882-B54C-F547-9F3B-C8B91F3243D3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B1E10D5C-C6A6-4B4E-A9EA-9E923E37CD8F}"/>
              </a:ext>
            </a:extLst>
          </p:cNvPr>
          <p:cNvGrpSpPr/>
          <p:nvPr/>
        </p:nvGrpSpPr>
        <p:grpSpPr>
          <a:xfrm>
            <a:off x="617232" y="7973391"/>
            <a:ext cx="539448" cy="487368"/>
            <a:chOff x="400056" y="1061560"/>
            <a:chExt cx="269724" cy="243684"/>
          </a:xfrm>
        </p:grpSpPr>
        <p:sp>
          <p:nvSpPr>
            <p:cNvPr id="51" name="三角形 50">
              <a:extLst>
                <a:ext uri="{FF2B5EF4-FFF2-40B4-BE49-F238E27FC236}">
                  <a16:creationId xmlns:a16="http://schemas.microsoft.com/office/drawing/2014/main" id="{26F62AF1-AC23-B049-8D9B-D5A751651A3A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52" name="三角形 51">
              <a:extLst>
                <a:ext uri="{FF2B5EF4-FFF2-40B4-BE49-F238E27FC236}">
                  <a16:creationId xmlns:a16="http://schemas.microsoft.com/office/drawing/2014/main" id="{C6D80F56-0791-FD4F-A4FA-28EE5BD3D3DD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53" name="テキスト プレースホルダー 30">
            <a:extLst>
              <a:ext uri="{FF2B5EF4-FFF2-40B4-BE49-F238E27FC236}">
                <a16:creationId xmlns:a16="http://schemas.microsoft.com/office/drawing/2014/main" id="{769D8771-3FBE-174F-84A7-0F5C4AFBDAC4}"/>
              </a:ext>
            </a:extLst>
          </p:cNvPr>
          <p:cNvSpPr txBox="1">
            <a:spLocks/>
          </p:cNvSpPr>
          <p:nvPr/>
        </p:nvSpPr>
        <p:spPr>
          <a:xfrm>
            <a:off x="571049" y="6999904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出典</a:t>
            </a:r>
          </a:p>
        </p:txBody>
      </p:sp>
      <p:sp>
        <p:nvSpPr>
          <p:cNvPr id="54" name="テキスト プレースホルダー 27">
            <a:extLst>
              <a:ext uri="{FF2B5EF4-FFF2-40B4-BE49-F238E27FC236}">
                <a16:creationId xmlns:a16="http://schemas.microsoft.com/office/drawing/2014/main" id="{255F7D46-2006-8245-8515-E191BE964BDE}"/>
              </a:ext>
            </a:extLst>
          </p:cNvPr>
          <p:cNvSpPr txBox="1">
            <a:spLocks/>
          </p:cNvSpPr>
          <p:nvPr/>
        </p:nvSpPr>
        <p:spPr>
          <a:xfrm>
            <a:off x="1254486" y="7900766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dirty="0"/>
              <a:t>Proceedings of the 16th International Conference on Autonomous Agents and Multiagent Systems (AAMAS 2017), Pages 401-409 </a:t>
            </a:r>
          </a:p>
        </p:txBody>
      </p:sp>
    </p:spTree>
    <p:extLst>
      <p:ext uri="{BB962C8B-B14F-4D97-AF65-F5344CB8AC3E}">
        <p14:creationId xmlns:p14="http://schemas.microsoft.com/office/powerpoint/2010/main" val="312610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IAGO</a:t>
            </a:r>
            <a:r>
              <a:rPr lang="ja-JP" altLang="en-US"/>
              <a:t>の紹介</a:t>
            </a:r>
            <a:endParaRPr lang="en-US" altLang="ja-JP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E13661C-CC44-784E-85C7-F308F19F3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9" y="4610192"/>
            <a:ext cx="8287303" cy="7731574"/>
          </a:xfrm>
          <a:prstGeom prst="rect">
            <a:avLst/>
          </a:prstGeom>
        </p:spPr>
      </p:pic>
      <p:sp>
        <p:nvSpPr>
          <p:cNvPr id="57" name="三角形 56">
            <a:extLst>
              <a:ext uri="{FF2B5EF4-FFF2-40B4-BE49-F238E27FC236}">
                <a16:creationId xmlns:a16="http://schemas.microsoft.com/office/drawing/2014/main" id="{7F703886-4132-A74D-B009-F1827BE6F3C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8" name="テキスト プレースホルダー 29">
            <a:extLst>
              <a:ext uri="{FF2B5EF4-FFF2-40B4-BE49-F238E27FC236}">
                <a16:creationId xmlns:a16="http://schemas.microsoft.com/office/drawing/2014/main" id="{E23E8662-C802-5F46-BB63-19816491BB27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人間と交渉するエージェントを作成するプラットフォーム</a:t>
            </a:r>
          </a:p>
        </p:txBody>
      </p:sp>
    </p:spTree>
    <p:extLst>
      <p:ext uri="{BB962C8B-B14F-4D97-AF65-F5344CB8AC3E}">
        <p14:creationId xmlns:p14="http://schemas.microsoft.com/office/powerpoint/2010/main" val="57556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人間同士の交渉で生じる効果について調査</a:t>
            </a:r>
            <a:endParaRPr lang="en-US" altLang="ja-JP" dirty="0"/>
          </a:p>
        </p:txBody>
      </p:sp>
      <p:sp>
        <p:nvSpPr>
          <p:cNvPr id="57" name="三角形 56">
            <a:extLst>
              <a:ext uri="{FF2B5EF4-FFF2-40B4-BE49-F238E27FC236}">
                <a16:creationId xmlns:a16="http://schemas.microsoft.com/office/drawing/2014/main" id="{7F703886-4132-A74D-B009-F1827BE6F3C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8" name="テキスト プレースホルダー 29">
            <a:extLst>
              <a:ext uri="{FF2B5EF4-FFF2-40B4-BE49-F238E27FC236}">
                <a16:creationId xmlns:a16="http://schemas.microsoft.com/office/drawing/2014/main" id="{E23E8662-C802-5F46-BB63-19816491BB27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4</a:t>
            </a:r>
            <a:r>
              <a:rPr lang="ja-JP" altLang="en-US"/>
              <a:t>種類のエージェントを用いて実験</a:t>
            </a: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1BCF6E7C-F602-1249-8DD2-2D51F9465F2E}"/>
              </a:ext>
            </a:extLst>
          </p:cNvPr>
          <p:cNvGrpSpPr/>
          <p:nvPr/>
        </p:nvGrpSpPr>
        <p:grpSpPr>
          <a:xfrm>
            <a:off x="8288031" y="5459355"/>
            <a:ext cx="1735754" cy="2176882"/>
            <a:chOff x="4042657" y="5300337"/>
            <a:chExt cx="1735754" cy="2176882"/>
          </a:xfrm>
        </p:grpSpPr>
        <p:sp>
          <p:nvSpPr>
            <p:cNvPr id="7" name="スマイル 6">
              <a:extLst>
                <a:ext uri="{FF2B5EF4-FFF2-40B4-BE49-F238E27FC236}">
                  <a16:creationId xmlns:a16="http://schemas.microsoft.com/office/drawing/2014/main" id="{D228A579-477D-5D47-9416-90AA9EAA0BDE}"/>
                </a:ext>
              </a:extLst>
            </p:cNvPr>
            <p:cNvSpPr/>
            <p:nvPr/>
          </p:nvSpPr>
          <p:spPr>
            <a:xfrm>
              <a:off x="4082142" y="5969783"/>
              <a:ext cx="1656784" cy="1507436"/>
            </a:xfrm>
            <a:prstGeom prst="smileyFac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1F810E-BC7B-7A4E-99A7-AFAF07FC3B8C}"/>
                </a:ext>
              </a:extLst>
            </p:cNvPr>
            <p:cNvSpPr txBox="1"/>
            <p:nvPr/>
          </p:nvSpPr>
          <p:spPr>
            <a:xfrm>
              <a:off x="4042657" y="5300337"/>
              <a:ext cx="17357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agent</a:t>
              </a:r>
              <a:endParaRPr kumimoji="1" lang="ja-JP" altLang="en-US"/>
            </a:p>
          </p:txBody>
        </p:sp>
      </p:grp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6E373CB3-2B2C-EF40-BE10-962D76FB0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129530"/>
              </p:ext>
            </p:extLst>
          </p:nvPr>
        </p:nvGraphicFramePr>
        <p:xfrm>
          <a:off x="5942504" y="10220928"/>
          <a:ext cx="6402992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6992">
                  <a:extLst>
                    <a:ext uri="{9D8B030D-6E8A-4147-A177-3AD203B41FA5}">
                      <a16:colId xmlns:a16="http://schemas.microsoft.com/office/drawing/2014/main" val="1849738667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408335471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4185519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Strategic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Free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104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Nice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Merlin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Pinocchio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517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Nasty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Rumple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Grumpy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131851"/>
                  </a:ext>
                </a:extLst>
              </a:tr>
            </a:tbl>
          </a:graphicData>
        </a:graphic>
      </p:graphicFrame>
      <p:sp>
        <p:nvSpPr>
          <p:cNvPr id="41" name="角丸四角形吹き出し 40">
            <a:extLst>
              <a:ext uri="{FF2B5EF4-FFF2-40B4-BE49-F238E27FC236}">
                <a16:creationId xmlns:a16="http://schemas.microsoft.com/office/drawing/2014/main" id="{78F29628-574B-584C-95E8-BCC49AB896BE}"/>
              </a:ext>
            </a:extLst>
          </p:cNvPr>
          <p:cNvSpPr/>
          <p:nvPr/>
        </p:nvSpPr>
        <p:spPr>
          <a:xfrm>
            <a:off x="9525072" y="8207321"/>
            <a:ext cx="4190928" cy="1442523"/>
          </a:xfrm>
          <a:prstGeom prst="wedgeRoundRectCallout">
            <a:avLst>
              <a:gd name="adj1" fmla="val -42507"/>
              <a:gd name="adj2" fmla="val 8097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人間からの質問に対する対応</a:t>
            </a:r>
            <a:endParaRPr kumimoji="1" lang="en-US" altLang="ja-JP" dirty="0"/>
          </a:p>
        </p:txBody>
      </p:sp>
      <p:sp>
        <p:nvSpPr>
          <p:cNvPr id="43" name="角丸四角形吹き出し 42">
            <a:extLst>
              <a:ext uri="{FF2B5EF4-FFF2-40B4-BE49-F238E27FC236}">
                <a16:creationId xmlns:a16="http://schemas.microsoft.com/office/drawing/2014/main" id="{9C5CDFF6-B4AF-8643-AC52-227E8D512948}"/>
              </a:ext>
            </a:extLst>
          </p:cNvPr>
          <p:cNvSpPr/>
          <p:nvPr/>
        </p:nvSpPr>
        <p:spPr>
          <a:xfrm>
            <a:off x="1457090" y="10394264"/>
            <a:ext cx="3639733" cy="1442523"/>
          </a:xfrm>
          <a:prstGeom prst="wedgeRoundRectCallout">
            <a:avLst>
              <a:gd name="adj1" fmla="val 64444"/>
              <a:gd name="adj2" fmla="val 3659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感情の出し方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4607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人間同士の交渉で生じる効果について調査</a:t>
            </a:r>
            <a:endParaRPr lang="en-US" altLang="ja-JP" dirty="0"/>
          </a:p>
        </p:txBody>
      </p:sp>
      <p:sp>
        <p:nvSpPr>
          <p:cNvPr id="57" name="三角形 56">
            <a:extLst>
              <a:ext uri="{FF2B5EF4-FFF2-40B4-BE49-F238E27FC236}">
                <a16:creationId xmlns:a16="http://schemas.microsoft.com/office/drawing/2014/main" id="{7F703886-4132-A74D-B009-F1827BE6F3C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8" name="テキスト プレースホルダー 29">
            <a:extLst>
              <a:ext uri="{FF2B5EF4-FFF2-40B4-BE49-F238E27FC236}">
                <a16:creationId xmlns:a16="http://schemas.microsoft.com/office/drawing/2014/main" id="{E23E8662-C802-5F46-BB63-19816491BB27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エージェントが選好情報を公開すると人間も情報を公開するか？</a:t>
            </a:r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AF44EA4-DDD9-7A4B-82C3-6107E4CBC512}"/>
              </a:ext>
            </a:extLst>
          </p:cNvPr>
          <p:cNvGrpSpPr/>
          <p:nvPr/>
        </p:nvGrpSpPr>
        <p:grpSpPr>
          <a:xfrm>
            <a:off x="882225" y="4438026"/>
            <a:ext cx="16523551" cy="7935264"/>
            <a:chOff x="882225" y="4438026"/>
            <a:chExt cx="16523551" cy="7935264"/>
          </a:xfrm>
        </p:grpSpPr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44C579FB-CF39-3249-8336-0628B0040FF5}"/>
                </a:ext>
              </a:extLst>
            </p:cNvPr>
            <p:cNvGrpSpPr/>
            <p:nvPr/>
          </p:nvGrpSpPr>
          <p:grpSpPr>
            <a:xfrm>
              <a:off x="3216825" y="9472120"/>
              <a:ext cx="11854350" cy="2901170"/>
              <a:chOff x="2226339" y="9389213"/>
              <a:chExt cx="11854350" cy="2901170"/>
            </a:xfrm>
          </p:grpSpPr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60B8D23-A246-6747-8581-59ACD9297206}"/>
                  </a:ext>
                </a:extLst>
              </p:cNvPr>
              <p:cNvSpPr txBox="1"/>
              <p:nvPr/>
            </p:nvSpPr>
            <p:spPr>
              <a:xfrm>
                <a:off x="5900499" y="11644052"/>
                <a:ext cx="45060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交渉内容</a:t>
                </a:r>
                <a:endParaRPr kumimoji="1" lang="ja-JP" altLang="en-US"/>
              </a:p>
            </p:txBody>
          </p: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2E2ADBC7-AB10-924A-B7D8-7021B6210437}"/>
                  </a:ext>
                </a:extLst>
              </p:cNvPr>
              <p:cNvGrpSpPr/>
              <p:nvPr/>
            </p:nvGrpSpPr>
            <p:grpSpPr>
              <a:xfrm>
                <a:off x="2226339" y="9389213"/>
                <a:ext cx="11854350" cy="2010101"/>
                <a:chOff x="3821592" y="9287685"/>
                <a:chExt cx="11854350" cy="2010101"/>
              </a:xfrm>
            </p:grpSpPr>
            <p:pic>
              <p:nvPicPr>
                <p:cNvPr id="30" name="グラフィックス 29" descr="Pasta">
                  <a:extLst>
                    <a:ext uri="{FF2B5EF4-FFF2-40B4-BE49-F238E27FC236}">
                      <a16:creationId xmlns:a16="http://schemas.microsoft.com/office/drawing/2014/main" id="{AA8AA5FC-3F62-0645-A9E4-2453CD589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8892" y="9287685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2" name="グラフィックス 41" descr="Pizza">
                  <a:extLst>
                    <a:ext uri="{FF2B5EF4-FFF2-40B4-BE49-F238E27FC236}">
                      <a16:creationId xmlns:a16="http://schemas.microsoft.com/office/drawing/2014/main" id="{4D0D7605-57E1-2D47-980D-0B3E5E228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20242" y="9340967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4" name="グラフィックス 43" descr="CakeSlice">
                  <a:extLst>
                    <a:ext uri="{FF2B5EF4-FFF2-40B4-BE49-F238E27FC236}">
                      <a16:creationId xmlns:a16="http://schemas.microsoft.com/office/drawing/2014/main" id="{E4A74F59-522C-3041-BFD7-26FFA95B6C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21592" y="9334846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8" name="グラフィックス 47" descr="Donut">
                  <a:extLst>
                    <a:ext uri="{FF2B5EF4-FFF2-40B4-BE49-F238E27FC236}">
                      <a16:creationId xmlns:a16="http://schemas.microsoft.com/office/drawing/2014/main" id="{6077EAC6-78B7-984C-BA93-0C3FE5450B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17542" y="9333265"/>
                  <a:ext cx="1958400" cy="1958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1ED3FE2A-4CAB-4941-9D00-BFA854D862A9}"/>
                </a:ext>
              </a:extLst>
            </p:cNvPr>
            <p:cNvGrpSpPr/>
            <p:nvPr/>
          </p:nvGrpSpPr>
          <p:grpSpPr>
            <a:xfrm>
              <a:off x="882225" y="4438026"/>
              <a:ext cx="16523551" cy="3039193"/>
              <a:chOff x="856258" y="4438026"/>
              <a:chExt cx="16523551" cy="3039193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BDA18975-F7EA-294B-BBEC-3ABFC73201A2}"/>
                  </a:ext>
                </a:extLst>
              </p:cNvPr>
              <p:cNvGrpSpPr/>
              <p:nvPr/>
            </p:nvGrpSpPr>
            <p:grpSpPr>
              <a:xfrm>
                <a:off x="7372350" y="6215063"/>
                <a:ext cx="3429000" cy="1060090"/>
                <a:chOff x="7200900" y="6215063"/>
                <a:chExt cx="3771900" cy="1060090"/>
              </a:xfrm>
            </p:grpSpPr>
            <p:sp>
              <p:nvSpPr>
                <p:cNvPr id="9" name="右矢印 8">
                  <a:extLst>
                    <a:ext uri="{FF2B5EF4-FFF2-40B4-BE49-F238E27FC236}">
                      <a16:creationId xmlns:a16="http://schemas.microsoft.com/office/drawing/2014/main" id="{610A5ED0-7265-F344-8B76-0F08EE99A0F0}"/>
                    </a:ext>
                  </a:extLst>
                </p:cNvPr>
                <p:cNvSpPr/>
                <p:nvPr/>
              </p:nvSpPr>
              <p:spPr>
                <a:xfrm>
                  <a:off x="7200900" y="6215063"/>
                  <a:ext cx="3771900" cy="371475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6" name="右矢印 25">
                  <a:extLst>
                    <a:ext uri="{FF2B5EF4-FFF2-40B4-BE49-F238E27FC236}">
                      <a16:creationId xmlns:a16="http://schemas.microsoft.com/office/drawing/2014/main" id="{14DD9970-8316-8F46-8C96-06F4BC86D3FB}"/>
                    </a:ext>
                  </a:extLst>
                </p:cNvPr>
                <p:cNvSpPr/>
                <p:nvPr/>
              </p:nvSpPr>
              <p:spPr>
                <a:xfrm flipH="1">
                  <a:off x="7200900" y="6903678"/>
                  <a:ext cx="3771900" cy="371475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88BC890-50A4-6547-9139-84E07E78CDDD}"/>
                  </a:ext>
                </a:extLst>
              </p:cNvPr>
              <p:cNvGrpSpPr/>
              <p:nvPr/>
            </p:nvGrpSpPr>
            <p:grpSpPr>
              <a:xfrm>
                <a:off x="856258" y="4438027"/>
                <a:ext cx="5489081" cy="3039192"/>
                <a:chOff x="289330" y="4438027"/>
                <a:chExt cx="5489081" cy="3039192"/>
              </a:xfrm>
            </p:grpSpPr>
            <p:grpSp>
              <p:nvGrpSpPr>
                <p:cNvPr id="52" name="グループ化 51">
                  <a:extLst>
                    <a:ext uri="{FF2B5EF4-FFF2-40B4-BE49-F238E27FC236}">
                      <a16:creationId xmlns:a16="http://schemas.microsoft.com/office/drawing/2014/main" id="{1BCF6E7C-F602-1249-8DD2-2D51F9465F2E}"/>
                    </a:ext>
                  </a:extLst>
                </p:cNvPr>
                <p:cNvGrpSpPr/>
                <p:nvPr/>
              </p:nvGrpSpPr>
              <p:grpSpPr>
                <a:xfrm>
                  <a:off x="4042657" y="5300337"/>
                  <a:ext cx="1735754" cy="2176882"/>
                  <a:chOff x="4042657" y="5300337"/>
                  <a:chExt cx="1735754" cy="2176882"/>
                </a:xfrm>
              </p:grpSpPr>
              <p:sp>
                <p:nvSpPr>
                  <p:cNvPr id="7" name="スマイル 6">
                    <a:extLst>
                      <a:ext uri="{FF2B5EF4-FFF2-40B4-BE49-F238E27FC236}">
                        <a16:creationId xmlns:a16="http://schemas.microsoft.com/office/drawing/2014/main" id="{D228A579-477D-5D47-9416-90AA9EAA0BDE}"/>
                      </a:ext>
                    </a:extLst>
                  </p:cNvPr>
                  <p:cNvSpPr/>
                  <p:nvPr/>
                </p:nvSpPr>
                <p:spPr>
                  <a:xfrm>
                    <a:off x="4082142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801F810E-BC7B-7A4E-99A7-AFAF07FC3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042657" y="5300337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ja-JP" dirty="0"/>
                      <a:t>agent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10" name="角丸四角形吹き出し 9">
                  <a:extLst>
                    <a:ext uri="{FF2B5EF4-FFF2-40B4-BE49-F238E27FC236}">
                      <a16:creationId xmlns:a16="http://schemas.microsoft.com/office/drawing/2014/main" id="{C91FDFFE-9D73-D245-86FD-90BADC7755F8}"/>
                    </a:ext>
                  </a:extLst>
                </p:cNvPr>
                <p:cNvSpPr/>
                <p:nvPr/>
              </p:nvSpPr>
              <p:spPr>
                <a:xfrm>
                  <a:off x="289330" y="4438027"/>
                  <a:ext cx="3639733" cy="1442523"/>
                </a:xfrm>
                <a:prstGeom prst="wedgeRoundRectCallout">
                  <a:avLst>
                    <a:gd name="adj1" fmla="val 44418"/>
                    <a:gd name="adj2" fmla="val 78434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/>
                    <a:t>ドーナツより</a:t>
                  </a:r>
                  <a:endParaRPr kumimoji="1" lang="en-US" altLang="ja-JP" dirty="0"/>
                </a:p>
                <a:p>
                  <a:pPr algn="ctr"/>
                  <a:r>
                    <a:rPr lang="ja-JP" altLang="en-US"/>
                    <a:t>ケーキ</a:t>
                  </a:r>
                  <a:r>
                    <a:rPr kumimoji="1" lang="ja-JP" altLang="en-US"/>
                    <a:t>が好き</a:t>
                  </a:r>
                </a:p>
              </p:txBody>
            </p:sp>
          </p:grpSp>
          <p:grpSp>
            <p:nvGrpSpPr>
              <p:cNvPr id="60" name="グループ化 59">
                <a:extLst>
                  <a:ext uri="{FF2B5EF4-FFF2-40B4-BE49-F238E27FC236}">
                    <a16:creationId xmlns:a16="http://schemas.microsoft.com/office/drawing/2014/main" id="{95D514F6-AAB8-5443-A77E-C9FE96515902}"/>
                  </a:ext>
                </a:extLst>
              </p:cNvPr>
              <p:cNvGrpSpPr/>
              <p:nvPr/>
            </p:nvGrpSpPr>
            <p:grpSpPr>
              <a:xfrm>
                <a:off x="11939756" y="4438026"/>
                <a:ext cx="5440053" cy="3039193"/>
                <a:chOff x="12470108" y="4438026"/>
                <a:chExt cx="5440053" cy="3039193"/>
              </a:xfrm>
            </p:grpSpPr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648E72E5-220A-5646-A1C3-1CB69FF1BA5D}"/>
                    </a:ext>
                  </a:extLst>
                </p:cNvPr>
                <p:cNvGrpSpPr/>
                <p:nvPr/>
              </p:nvGrpSpPr>
              <p:grpSpPr>
                <a:xfrm>
                  <a:off x="12470108" y="5234219"/>
                  <a:ext cx="1735754" cy="2243000"/>
                  <a:chOff x="12470108" y="5234219"/>
                  <a:chExt cx="1735754" cy="2243000"/>
                </a:xfrm>
              </p:grpSpPr>
              <p:sp>
                <p:nvSpPr>
                  <p:cNvPr id="22" name="スマイル 21">
                    <a:extLst>
                      <a:ext uri="{FF2B5EF4-FFF2-40B4-BE49-F238E27FC236}">
                        <a16:creationId xmlns:a16="http://schemas.microsoft.com/office/drawing/2014/main" id="{F20C562D-22E5-E84E-BF0E-CF1AAB77878B}"/>
                      </a:ext>
                    </a:extLst>
                  </p:cNvPr>
                  <p:cNvSpPr/>
                  <p:nvPr/>
                </p:nvSpPr>
                <p:spPr>
                  <a:xfrm>
                    <a:off x="12549078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B097CB65-CD2F-E74C-A9E6-B2E571458D84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0108" y="5234219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ja-JP" dirty="0"/>
                      <a:t>human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53" name="角丸四角形吹き出し 52">
                  <a:extLst>
                    <a:ext uri="{FF2B5EF4-FFF2-40B4-BE49-F238E27FC236}">
                      <a16:creationId xmlns:a16="http://schemas.microsoft.com/office/drawing/2014/main" id="{DB3F98BB-A86E-A34D-BF61-AC5C212AF3E8}"/>
                    </a:ext>
                  </a:extLst>
                </p:cNvPr>
                <p:cNvSpPr/>
                <p:nvPr/>
              </p:nvSpPr>
              <p:spPr>
                <a:xfrm>
                  <a:off x="14270428" y="4438026"/>
                  <a:ext cx="3639733" cy="1442523"/>
                </a:xfrm>
                <a:prstGeom prst="wedgeRoundRectCallout">
                  <a:avLst>
                    <a:gd name="adj1" fmla="val -42507"/>
                    <a:gd name="adj2" fmla="val 80970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/>
                    <a:t>ピザより</a:t>
                  </a:r>
                  <a:endParaRPr kumimoji="1" lang="en-US" altLang="ja-JP" dirty="0"/>
                </a:p>
                <a:p>
                  <a:pPr algn="ctr"/>
                  <a:r>
                    <a:rPr kumimoji="1" lang="ja-JP" altLang="en-US"/>
                    <a:t>パスタが好き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7858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人間同士の交渉で生じる効果について調査</a:t>
            </a:r>
            <a:endParaRPr lang="en-US" altLang="ja-JP" dirty="0"/>
          </a:p>
        </p:txBody>
      </p:sp>
      <p:sp>
        <p:nvSpPr>
          <p:cNvPr id="57" name="三角形 56">
            <a:extLst>
              <a:ext uri="{FF2B5EF4-FFF2-40B4-BE49-F238E27FC236}">
                <a16:creationId xmlns:a16="http://schemas.microsoft.com/office/drawing/2014/main" id="{7F703886-4132-A74D-B009-F1827BE6F3C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8" name="テキスト プレースホルダー 29">
            <a:extLst>
              <a:ext uri="{FF2B5EF4-FFF2-40B4-BE49-F238E27FC236}">
                <a16:creationId xmlns:a16="http://schemas.microsoft.com/office/drawing/2014/main" id="{E23E8662-C802-5F46-BB63-19816491BB27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選好情報を公開することは統合的交渉に影響を与えるか？</a:t>
            </a:r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AF44EA4-DDD9-7A4B-82C3-6107E4CBC512}"/>
              </a:ext>
            </a:extLst>
          </p:cNvPr>
          <p:cNvGrpSpPr/>
          <p:nvPr/>
        </p:nvGrpSpPr>
        <p:grpSpPr>
          <a:xfrm>
            <a:off x="882225" y="4438026"/>
            <a:ext cx="16523551" cy="7935264"/>
            <a:chOff x="882225" y="4438026"/>
            <a:chExt cx="16523551" cy="7935264"/>
          </a:xfrm>
        </p:grpSpPr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44C579FB-CF39-3249-8336-0628B0040FF5}"/>
                </a:ext>
              </a:extLst>
            </p:cNvPr>
            <p:cNvGrpSpPr/>
            <p:nvPr/>
          </p:nvGrpSpPr>
          <p:grpSpPr>
            <a:xfrm>
              <a:off x="3216825" y="9472120"/>
              <a:ext cx="11854350" cy="2901170"/>
              <a:chOff x="2226339" y="9389213"/>
              <a:chExt cx="11854350" cy="2901170"/>
            </a:xfrm>
          </p:grpSpPr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60B8D23-A246-6747-8581-59ACD9297206}"/>
                  </a:ext>
                </a:extLst>
              </p:cNvPr>
              <p:cNvSpPr txBox="1"/>
              <p:nvPr/>
            </p:nvSpPr>
            <p:spPr>
              <a:xfrm>
                <a:off x="5900499" y="11644052"/>
                <a:ext cx="45060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交渉内容</a:t>
                </a:r>
                <a:endParaRPr kumimoji="1" lang="ja-JP" altLang="en-US"/>
              </a:p>
            </p:txBody>
          </p: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2E2ADBC7-AB10-924A-B7D8-7021B6210437}"/>
                  </a:ext>
                </a:extLst>
              </p:cNvPr>
              <p:cNvGrpSpPr/>
              <p:nvPr/>
            </p:nvGrpSpPr>
            <p:grpSpPr>
              <a:xfrm>
                <a:off x="2226339" y="9389213"/>
                <a:ext cx="11854350" cy="2010101"/>
                <a:chOff x="3821592" y="9287685"/>
                <a:chExt cx="11854350" cy="2010101"/>
              </a:xfrm>
            </p:grpSpPr>
            <p:pic>
              <p:nvPicPr>
                <p:cNvPr id="30" name="グラフィックス 29" descr="Pasta">
                  <a:extLst>
                    <a:ext uri="{FF2B5EF4-FFF2-40B4-BE49-F238E27FC236}">
                      <a16:creationId xmlns:a16="http://schemas.microsoft.com/office/drawing/2014/main" id="{AA8AA5FC-3F62-0645-A9E4-2453CD589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8892" y="9287685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2" name="グラフィックス 41" descr="Pizza">
                  <a:extLst>
                    <a:ext uri="{FF2B5EF4-FFF2-40B4-BE49-F238E27FC236}">
                      <a16:creationId xmlns:a16="http://schemas.microsoft.com/office/drawing/2014/main" id="{4D0D7605-57E1-2D47-980D-0B3E5E228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20242" y="9340967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4" name="グラフィックス 43" descr="CakeSlice">
                  <a:extLst>
                    <a:ext uri="{FF2B5EF4-FFF2-40B4-BE49-F238E27FC236}">
                      <a16:creationId xmlns:a16="http://schemas.microsoft.com/office/drawing/2014/main" id="{E4A74F59-522C-3041-BFD7-26FFA95B6C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21592" y="9334846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8" name="グラフィックス 47" descr="Donut">
                  <a:extLst>
                    <a:ext uri="{FF2B5EF4-FFF2-40B4-BE49-F238E27FC236}">
                      <a16:creationId xmlns:a16="http://schemas.microsoft.com/office/drawing/2014/main" id="{6077EAC6-78B7-984C-BA93-0C3FE5450B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17542" y="9333265"/>
                  <a:ext cx="1958400" cy="1958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1ED3FE2A-4CAB-4941-9D00-BFA854D862A9}"/>
                </a:ext>
              </a:extLst>
            </p:cNvPr>
            <p:cNvGrpSpPr/>
            <p:nvPr/>
          </p:nvGrpSpPr>
          <p:grpSpPr>
            <a:xfrm>
              <a:off x="882225" y="4438026"/>
              <a:ext cx="16523551" cy="3039193"/>
              <a:chOff x="856258" y="4438026"/>
              <a:chExt cx="16523551" cy="3039193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88BC890-50A4-6547-9139-84E07E78CDDD}"/>
                  </a:ext>
                </a:extLst>
              </p:cNvPr>
              <p:cNvGrpSpPr/>
              <p:nvPr/>
            </p:nvGrpSpPr>
            <p:grpSpPr>
              <a:xfrm>
                <a:off x="856258" y="4438027"/>
                <a:ext cx="5489081" cy="3039192"/>
                <a:chOff x="289330" y="4438027"/>
                <a:chExt cx="5489081" cy="3039192"/>
              </a:xfrm>
            </p:grpSpPr>
            <p:grpSp>
              <p:nvGrpSpPr>
                <p:cNvPr id="52" name="グループ化 51">
                  <a:extLst>
                    <a:ext uri="{FF2B5EF4-FFF2-40B4-BE49-F238E27FC236}">
                      <a16:creationId xmlns:a16="http://schemas.microsoft.com/office/drawing/2014/main" id="{1BCF6E7C-F602-1249-8DD2-2D51F9465F2E}"/>
                    </a:ext>
                  </a:extLst>
                </p:cNvPr>
                <p:cNvGrpSpPr/>
                <p:nvPr/>
              </p:nvGrpSpPr>
              <p:grpSpPr>
                <a:xfrm>
                  <a:off x="4042657" y="5300337"/>
                  <a:ext cx="1735754" cy="2176882"/>
                  <a:chOff x="4042657" y="5300337"/>
                  <a:chExt cx="1735754" cy="2176882"/>
                </a:xfrm>
              </p:grpSpPr>
              <p:sp>
                <p:nvSpPr>
                  <p:cNvPr id="7" name="スマイル 6">
                    <a:extLst>
                      <a:ext uri="{FF2B5EF4-FFF2-40B4-BE49-F238E27FC236}">
                        <a16:creationId xmlns:a16="http://schemas.microsoft.com/office/drawing/2014/main" id="{D228A579-477D-5D47-9416-90AA9EAA0BDE}"/>
                      </a:ext>
                    </a:extLst>
                  </p:cNvPr>
                  <p:cNvSpPr/>
                  <p:nvPr/>
                </p:nvSpPr>
                <p:spPr>
                  <a:xfrm>
                    <a:off x="4082142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801F810E-BC7B-7A4E-99A7-AFAF07FC3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042657" y="5300337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ja-JP" dirty="0"/>
                      <a:t>agent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10" name="角丸四角形吹き出し 9">
                  <a:extLst>
                    <a:ext uri="{FF2B5EF4-FFF2-40B4-BE49-F238E27FC236}">
                      <a16:creationId xmlns:a16="http://schemas.microsoft.com/office/drawing/2014/main" id="{C91FDFFE-9D73-D245-86FD-90BADC7755F8}"/>
                    </a:ext>
                  </a:extLst>
                </p:cNvPr>
                <p:cNvSpPr/>
                <p:nvPr/>
              </p:nvSpPr>
              <p:spPr>
                <a:xfrm>
                  <a:off x="289330" y="4438027"/>
                  <a:ext cx="3639733" cy="1442523"/>
                </a:xfrm>
                <a:prstGeom prst="wedgeRoundRectCallout">
                  <a:avLst>
                    <a:gd name="adj1" fmla="val 44418"/>
                    <a:gd name="adj2" fmla="val 78434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/>
                    <a:t>ドーナツより</a:t>
                  </a:r>
                  <a:endParaRPr kumimoji="1" lang="en-US" altLang="ja-JP" dirty="0"/>
                </a:p>
                <a:p>
                  <a:pPr algn="ctr"/>
                  <a:r>
                    <a:rPr lang="ja-JP" altLang="en-US"/>
                    <a:t>ケーキ</a:t>
                  </a:r>
                  <a:r>
                    <a:rPr kumimoji="1" lang="ja-JP" altLang="en-US"/>
                    <a:t>が好き</a:t>
                  </a:r>
                </a:p>
              </p:txBody>
            </p:sp>
          </p:grpSp>
          <p:grpSp>
            <p:nvGrpSpPr>
              <p:cNvPr id="60" name="グループ化 59">
                <a:extLst>
                  <a:ext uri="{FF2B5EF4-FFF2-40B4-BE49-F238E27FC236}">
                    <a16:creationId xmlns:a16="http://schemas.microsoft.com/office/drawing/2014/main" id="{95D514F6-AAB8-5443-A77E-C9FE96515902}"/>
                  </a:ext>
                </a:extLst>
              </p:cNvPr>
              <p:cNvGrpSpPr/>
              <p:nvPr/>
            </p:nvGrpSpPr>
            <p:grpSpPr>
              <a:xfrm>
                <a:off x="11939756" y="4438026"/>
                <a:ext cx="5440053" cy="3039193"/>
                <a:chOff x="12470108" y="4438026"/>
                <a:chExt cx="5440053" cy="3039193"/>
              </a:xfrm>
            </p:grpSpPr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648E72E5-220A-5646-A1C3-1CB69FF1BA5D}"/>
                    </a:ext>
                  </a:extLst>
                </p:cNvPr>
                <p:cNvGrpSpPr/>
                <p:nvPr/>
              </p:nvGrpSpPr>
              <p:grpSpPr>
                <a:xfrm>
                  <a:off x="12470108" y="5234219"/>
                  <a:ext cx="1735754" cy="2243000"/>
                  <a:chOff x="12470108" y="5234219"/>
                  <a:chExt cx="1735754" cy="2243000"/>
                </a:xfrm>
              </p:grpSpPr>
              <p:sp>
                <p:nvSpPr>
                  <p:cNvPr id="22" name="スマイル 21">
                    <a:extLst>
                      <a:ext uri="{FF2B5EF4-FFF2-40B4-BE49-F238E27FC236}">
                        <a16:creationId xmlns:a16="http://schemas.microsoft.com/office/drawing/2014/main" id="{F20C562D-22E5-E84E-BF0E-CF1AAB77878B}"/>
                      </a:ext>
                    </a:extLst>
                  </p:cNvPr>
                  <p:cNvSpPr/>
                  <p:nvPr/>
                </p:nvSpPr>
                <p:spPr>
                  <a:xfrm>
                    <a:off x="12549078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B097CB65-CD2F-E74C-A9E6-B2E571458D84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0108" y="5234219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ja-JP" dirty="0"/>
                      <a:t>human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53" name="角丸四角形吹き出し 52">
                  <a:extLst>
                    <a:ext uri="{FF2B5EF4-FFF2-40B4-BE49-F238E27FC236}">
                      <a16:creationId xmlns:a16="http://schemas.microsoft.com/office/drawing/2014/main" id="{DB3F98BB-A86E-A34D-BF61-AC5C212AF3E8}"/>
                    </a:ext>
                  </a:extLst>
                </p:cNvPr>
                <p:cNvSpPr/>
                <p:nvPr/>
              </p:nvSpPr>
              <p:spPr>
                <a:xfrm>
                  <a:off x="14270428" y="4438026"/>
                  <a:ext cx="3639733" cy="1442523"/>
                </a:xfrm>
                <a:prstGeom prst="wedgeRoundRectCallout">
                  <a:avLst>
                    <a:gd name="adj1" fmla="val -42507"/>
                    <a:gd name="adj2" fmla="val 80970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/>
                    <a:t>ピザより</a:t>
                  </a:r>
                  <a:endParaRPr kumimoji="1" lang="en-US" altLang="ja-JP" dirty="0"/>
                </a:p>
                <a:p>
                  <a:pPr algn="ctr"/>
                  <a:r>
                    <a:rPr lang="ja-JP" altLang="en-US"/>
                    <a:t>パスタ</a:t>
                  </a:r>
                  <a:r>
                    <a:rPr kumimoji="1" lang="ja-JP" altLang="en-US"/>
                    <a:t>が好き</a:t>
                  </a:r>
                </a:p>
              </p:txBody>
            </p:sp>
          </p:grpSp>
        </p:grpSp>
      </p:grpSp>
      <p:sp>
        <p:nvSpPr>
          <p:cNvPr id="41" name="右矢印 40">
            <a:extLst>
              <a:ext uri="{FF2B5EF4-FFF2-40B4-BE49-F238E27FC236}">
                <a16:creationId xmlns:a16="http://schemas.microsoft.com/office/drawing/2014/main" id="{E322A5C6-F837-6343-84FB-A6CA9D3F0F28}"/>
              </a:ext>
            </a:extLst>
          </p:cNvPr>
          <p:cNvSpPr/>
          <p:nvPr/>
        </p:nvSpPr>
        <p:spPr>
          <a:xfrm rot="17437685">
            <a:off x="3990189" y="8430121"/>
            <a:ext cx="1599655" cy="37147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右矢印 42">
            <a:extLst>
              <a:ext uri="{FF2B5EF4-FFF2-40B4-BE49-F238E27FC236}">
                <a16:creationId xmlns:a16="http://schemas.microsoft.com/office/drawing/2014/main" id="{639BA9FD-359A-D84D-B5FC-93C38B04892A}"/>
              </a:ext>
            </a:extLst>
          </p:cNvPr>
          <p:cNvSpPr/>
          <p:nvPr/>
        </p:nvSpPr>
        <p:spPr>
          <a:xfrm rot="17460000" flipV="1">
            <a:off x="11026864" y="8580394"/>
            <a:ext cx="1599655" cy="37147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429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人間同士の交渉で生じる効果について調査</a:t>
            </a:r>
            <a:endParaRPr lang="en-US" altLang="ja-JP" dirty="0"/>
          </a:p>
        </p:txBody>
      </p:sp>
      <p:sp>
        <p:nvSpPr>
          <p:cNvPr id="57" name="三角形 56">
            <a:extLst>
              <a:ext uri="{FF2B5EF4-FFF2-40B4-BE49-F238E27FC236}">
                <a16:creationId xmlns:a16="http://schemas.microsoft.com/office/drawing/2014/main" id="{7F703886-4132-A74D-B009-F1827BE6F3C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8" name="テキスト プレースホルダー 29">
            <a:extLst>
              <a:ext uri="{FF2B5EF4-FFF2-40B4-BE49-F238E27FC236}">
                <a16:creationId xmlns:a16="http://schemas.microsoft.com/office/drawing/2014/main" id="{E23E8662-C802-5F46-BB63-19816491BB27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選好情報を公開することは統合的交渉に影響を与えるか？</a:t>
            </a:r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AF44EA4-DDD9-7A4B-82C3-6107E4CBC512}"/>
              </a:ext>
            </a:extLst>
          </p:cNvPr>
          <p:cNvGrpSpPr/>
          <p:nvPr/>
        </p:nvGrpSpPr>
        <p:grpSpPr>
          <a:xfrm>
            <a:off x="209007" y="4438026"/>
            <a:ext cx="17196769" cy="7935264"/>
            <a:chOff x="209007" y="4438026"/>
            <a:chExt cx="17196769" cy="7935264"/>
          </a:xfrm>
        </p:grpSpPr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44C579FB-CF39-3249-8336-0628B0040FF5}"/>
                </a:ext>
              </a:extLst>
            </p:cNvPr>
            <p:cNvGrpSpPr/>
            <p:nvPr/>
          </p:nvGrpSpPr>
          <p:grpSpPr>
            <a:xfrm>
              <a:off x="3216825" y="9472120"/>
              <a:ext cx="11854350" cy="2901170"/>
              <a:chOff x="2226339" y="9389213"/>
              <a:chExt cx="11854350" cy="2901170"/>
            </a:xfrm>
          </p:grpSpPr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60B8D23-A246-6747-8581-59ACD9297206}"/>
                  </a:ext>
                </a:extLst>
              </p:cNvPr>
              <p:cNvSpPr txBox="1"/>
              <p:nvPr/>
            </p:nvSpPr>
            <p:spPr>
              <a:xfrm>
                <a:off x="5900499" y="11644052"/>
                <a:ext cx="45060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交渉内容</a:t>
                </a:r>
                <a:endParaRPr kumimoji="1" lang="ja-JP" altLang="en-US"/>
              </a:p>
            </p:txBody>
          </p: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2E2ADBC7-AB10-924A-B7D8-7021B6210437}"/>
                  </a:ext>
                </a:extLst>
              </p:cNvPr>
              <p:cNvGrpSpPr/>
              <p:nvPr/>
            </p:nvGrpSpPr>
            <p:grpSpPr>
              <a:xfrm>
                <a:off x="2226339" y="9389213"/>
                <a:ext cx="11854350" cy="2010101"/>
                <a:chOff x="3821592" y="9287685"/>
                <a:chExt cx="11854350" cy="2010101"/>
              </a:xfrm>
            </p:grpSpPr>
            <p:pic>
              <p:nvPicPr>
                <p:cNvPr id="30" name="グラフィックス 29" descr="Pasta">
                  <a:extLst>
                    <a:ext uri="{FF2B5EF4-FFF2-40B4-BE49-F238E27FC236}">
                      <a16:creationId xmlns:a16="http://schemas.microsoft.com/office/drawing/2014/main" id="{AA8AA5FC-3F62-0645-A9E4-2453CD589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8892" y="9287685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2" name="グラフィックス 41" descr="Pizza">
                  <a:extLst>
                    <a:ext uri="{FF2B5EF4-FFF2-40B4-BE49-F238E27FC236}">
                      <a16:creationId xmlns:a16="http://schemas.microsoft.com/office/drawing/2014/main" id="{4D0D7605-57E1-2D47-980D-0B3E5E228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20242" y="9340967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4" name="グラフィックス 43" descr="CakeSlice">
                  <a:extLst>
                    <a:ext uri="{FF2B5EF4-FFF2-40B4-BE49-F238E27FC236}">
                      <a16:creationId xmlns:a16="http://schemas.microsoft.com/office/drawing/2014/main" id="{E4A74F59-522C-3041-BFD7-26FFA95B6C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21592" y="9334846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8" name="グラフィックス 47" descr="Donut">
                  <a:extLst>
                    <a:ext uri="{FF2B5EF4-FFF2-40B4-BE49-F238E27FC236}">
                      <a16:creationId xmlns:a16="http://schemas.microsoft.com/office/drawing/2014/main" id="{6077EAC6-78B7-984C-BA93-0C3FE5450B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17542" y="9333265"/>
                  <a:ext cx="1958400" cy="1958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1ED3FE2A-4CAB-4941-9D00-BFA854D862A9}"/>
                </a:ext>
              </a:extLst>
            </p:cNvPr>
            <p:cNvGrpSpPr/>
            <p:nvPr/>
          </p:nvGrpSpPr>
          <p:grpSpPr>
            <a:xfrm>
              <a:off x="209007" y="4438026"/>
              <a:ext cx="17196769" cy="3039193"/>
              <a:chOff x="183040" y="4438026"/>
              <a:chExt cx="17196769" cy="3039193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88BC890-50A4-6547-9139-84E07E78CDDD}"/>
                  </a:ext>
                </a:extLst>
              </p:cNvPr>
              <p:cNvGrpSpPr/>
              <p:nvPr/>
            </p:nvGrpSpPr>
            <p:grpSpPr>
              <a:xfrm>
                <a:off x="183040" y="4438027"/>
                <a:ext cx="6162299" cy="3039192"/>
                <a:chOff x="-383888" y="4438027"/>
                <a:chExt cx="6162299" cy="3039192"/>
              </a:xfrm>
            </p:grpSpPr>
            <p:grpSp>
              <p:nvGrpSpPr>
                <p:cNvPr id="52" name="グループ化 51">
                  <a:extLst>
                    <a:ext uri="{FF2B5EF4-FFF2-40B4-BE49-F238E27FC236}">
                      <a16:creationId xmlns:a16="http://schemas.microsoft.com/office/drawing/2014/main" id="{1BCF6E7C-F602-1249-8DD2-2D51F9465F2E}"/>
                    </a:ext>
                  </a:extLst>
                </p:cNvPr>
                <p:cNvGrpSpPr/>
                <p:nvPr/>
              </p:nvGrpSpPr>
              <p:grpSpPr>
                <a:xfrm>
                  <a:off x="4042657" y="5300337"/>
                  <a:ext cx="1735754" cy="2176882"/>
                  <a:chOff x="4042657" y="5300337"/>
                  <a:chExt cx="1735754" cy="2176882"/>
                </a:xfrm>
              </p:grpSpPr>
              <p:sp>
                <p:nvSpPr>
                  <p:cNvPr id="7" name="スマイル 6">
                    <a:extLst>
                      <a:ext uri="{FF2B5EF4-FFF2-40B4-BE49-F238E27FC236}">
                        <a16:creationId xmlns:a16="http://schemas.microsoft.com/office/drawing/2014/main" id="{D228A579-477D-5D47-9416-90AA9EAA0BDE}"/>
                      </a:ext>
                    </a:extLst>
                  </p:cNvPr>
                  <p:cNvSpPr/>
                  <p:nvPr/>
                </p:nvSpPr>
                <p:spPr>
                  <a:xfrm>
                    <a:off x="4082142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801F810E-BC7B-7A4E-99A7-AFAF07FC3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042657" y="5300337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ja-JP" dirty="0"/>
                      <a:t>agent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10" name="角丸四角形吹き出し 9">
                  <a:extLst>
                    <a:ext uri="{FF2B5EF4-FFF2-40B4-BE49-F238E27FC236}">
                      <a16:creationId xmlns:a16="http://schemas.microsoft.com/office/drawing/2014/main" id="{C91FDFFE-9D73-D245-86FD-90BADC7755F8}"/>
                    </a:ext>
                  </a:extLst>
                </p:cNvPr>
                <p:cNvSpPr/>
                <p:nvPr/>
              </p:nvSpPr>
              <p:spPr>
                <a:xfrm>
                  <a:off x="-383888" y="4438027"/>
                  <a:ext cx="4521959" cy="1442523"/>
                </a:xfrm>
                <a:prstGeom prst="wedgeRoundRectCallout">
                  <a:avLst>
                    <a:gd name="adj1" fmla="val 44418"/>
                    <a:gd name="adj2" fmla="val 78434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/>
                    <a:t>パスタあげるから</a:t>
                  </a:r>
                  <a:endParaRPr lang="en-US" altLang="ja-JP" dirty="0"/>
                </a:p>
                <a:p>
                  <a:pPr algn="ctr"/>
                  <a:r>
                    <a:rPr lang="ja-JP" altLang="en-US"/>
                    <a:t>それ以外ちょうだい</a:t>
                  </a:r>
                  <a:endParaRPr kumimoji="1" lang="en-US" altLang="ja-JP" dirty="0"/>
                </a:p>
              </p:txBody>
            </p:sp>
          </p:grpSp>
          <p:grpSp>
            <p:nvGrpSpPr>
              <p:cNvPr id="60" name="グループ化 59">
                <a:extLst>
                  <a:ext uri="{FF2B5EF4-FFF2-40B4-BE49-F238E27FC236}">
                    <a16:creationId xmlns:a16="http://schemas.microsoft.com/office/drawing/2014/main" id="{95D514F6-AAB8-5443-A77E-C9FE96515902}"/>
                  </a:ext>
                </a:extLst>
              </p:cNvPr>
              <p:cNvGrpSpPr/>
              <p:nvPr/>
            </p:nvGrpSpPr>
            <p:grpSpPr>
              <a:xfrm>
                <a:off x="11939756" y="4438026"/>
                <a:ext cx="5440053" cy="3039193"/>
                <a:chOff x="12470108" y="4438026"/>
                <a:chExt cx="5440053" cy="3039193"/>
              </a:xfrm>
            </p:grpSpPr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648E72E5-220A-5646-A1C3-1CB69FF1BA5D}"/>
                    </a:ext>
                  </a:extLst>
                </p:cNvPr>
                <p:cNvGrpSpPr/>
                <p:nvPr/>
              </p:nvGrpSpPr>
              <p:grpSpPr>
                <a:xfrm>
                  <a:off x="12470108" y="5234219"/>
                  <a:ext cx="1735754" cy="2243000"/>
                  <a:chOff x="12470108" y="5234219"/>
                  <a:chExt cx="1735754" cy="2243000"/>
                </a:xfrm>
              </p:grpSpPr>
              <p:sp>
                <p:nvSpPr>
                  <p:cNvPr id="22" name="スマイル 21">
                    <a:extLst>
                      <a:ext uri="{FF2B5EF4-FFF2-40B4-BE49-F238E27FC236}">
                        <a16:creationId xmlns:a16="http://schemas.microsoft.com/office/drawing/2014/main" id="{F20C562D-22E5-E84E-BF0E-CF1AAB77878B}"/>
                      </a:ext>
                    </a:extLst>
                  </p:cNvPr>
                  <p:cNvSpPr/>
                  <p:nvPr/>
                </p:nvSpPr>
                <p:spPr>
                  <a:xfrm>
                    <a:off x="12549078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B097CB65-CD2F-E74C-A9E6-B2E571458D84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0108" y="5234219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ja-JP" dirty="0"/>
                      <a:t>human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53" name="角丸四角形吹き出し 52">
                  <a:extLst>
                    <a:ext uri="{FF2B5EF4-FFF2-40B4-BE49-F238E27FC236}">
                      <a16:creationId xmlns:a16="http://schemas.microsoft.com/office/drawing/2014/main" id="{DB3F98BB-A86E-A34D-BF61-AC5C212AF3E8}"/>
                    </a:ext>
                  </a:extLst>
                </p:cNvPr>
                <p:cNvSpPr/>
                <p:nvPr/>
              </p:nvSpPr>
              <p:spPr>
                <a:xfrm>
                  <a:off x="14270428" y="4438026"/>
                  <a:ext cx="3639733" cy="1442523"/>
                </a:xfrm>
                <a:prstGeom prst="wedgeRoundRectCallout">
                  <a:avLst>
                    <a:gd name="adj1" fmla="val -42507"/>
                    <a:gd name="adj2" fmla="val 80970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/>
                    <a:t>ピザより</a:t>
                  </a:r>
                  <a:endParaRPr kumimoji="1" lang="en-US" altLang="ja-JP" dirty="0"/>
                </a:p>
                <a:p>
                  <a:pPr algn="ctr"/>
                  <a:r>
                    <a:rPr lang="ja-JP" altLang="en-US"/>
                    <a:t>パスタ</a:t>
                  </a:r>
                  <a:r>
                    <a:rPr kumimoji="1" lang="ja-JP" altLang="en-US"/>
                    <a:t>が好き</a:t>
                  </a:r>
                </a:p>
              </p:txBody>
            </p:sp>
          </p:grpSp>
        </p:grpSp>
      </p:grpSp>
      <p:sp>
        <p:nvSpPr>
          <p:cNvPr id="43" name="右矢印 42">
            <a:extLst>
              <a:ext uri="{FF2B5EF4-FFF2-40B4-BE49-F238E27FC236}">
                <a16:creationId xmlns:a16="http://schemas.microsoft.com/office/drawing/2014/main" id="{639BA9FD-359A-D84D-B5FC-93C38B04892A}"/>
              </a:ext>
            </a:extLst>
          </p:cNvPr>
          <p:cNvSpPr/>
          <p:nvPr/>
        </p:nvSpPr>
        <p:spPr>
          <a:xfrm rot="17460000" flipV="1">
            <a:off x="11026864" y="8580394"/>
            <a:ext cx="1599655" cy="37147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74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4365-84F6-754A-A339-DA79FFD42E98}" type="datetime1">
              <a:rPr lang="ja-JP" altLang="en-US" smtClean="0"/>
              <a:t>2018/6/5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文献講読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D81DDC5-24B5-F24B-8DCA-6543CEE8DC81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3638CC-28A2-E943-AD34-548A0C22763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9C51296-914D-A74C-889D-A570C54F6A5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C0C993D-26F8-9648-8C42-6E3A827F97DE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21EC1BB2-1EA3-DB45-83ED-42197AA1F0E3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6" name="三角形 35">
              <a:extLst>
                <a:ext uri="{FF2B5EF4-FFF2-40B4-BE49-F238E27FC236}">
                  <a16:creationId xmlns:a16="http://schemas.microsoft.com/office/drawing/2014/main" id="{92822503-D36D-7644-A490-99EB8A1079E7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7" name="テキスト プレースホルダー 30">
            <a:extLst>
              <a:ext uri="{FF2B5EF4-FFF2-40B4-BE49-F238E27FC236}">
                <a16:creationId xmlns:a16="http://schemas.microsoft.com/office/drawing/2014/main" id="{A73B3907-668E-1A41-B5F4-6D46EA930E9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文献内容</a:t>
            </a:r>
          </a:p>
        </p:txBody>
      </p:sp>
      <p:sp>
        <p:nvSpPr>
          <p:cNvPr id="38" name="テキスト プレースホルダー 27">
            <a:extLst>
              <a:ext uri="{FF2B5EF4-FFF2-40B4-BE49-F238E27FC236}">
                <a16:creationId xmlns:a16="http://schemas.microsoft.com/office/drawing/2014/main" id="{52FC6201-0015-374A-A9F7-4FCF0162EFE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人間同士の交渉で生じる効果について調査</a:t>
            </a:r>
            <a:endParaRPr lang="en-US" altLang="ja-JP" dirty="0"/>
          </a:p>
        </p:txBody>
      </p:sp>
      <p:sp>
        <p:nvSpPr>
          <p:cNvPr id="57" name="三角形 56">
            <a:extLst>
              <a:ext uri="{FF2B5EF4-FFF2-40B4-BE49-F238E27FC236}">
                <a16:creationId xmlns:a16="http://schemas.microsoft.com/office/drawing/2014/main" id="{7F703886-4132-A74D-B009-F1827BE6F3C7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8" name="テキスト プレースホルダー 29">
            <a:extLst>
              <a:ext uri="{FF2B5EF4-FFF2-40B4-BE49-F238E27FC236}">
                <a16:creationId xmlns:a16="http://schemas.microsoft.com/office/drawing/2014/main" id="{E23E8662-C802-5F46-BB63-19816491BB27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積極的な行動は相手を譲歩させるのか？</a:t>
            </a:r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AF44EA4-DDD9-7A4B-82C3-6107E4CBC512}"/>
              </a:ext>
            </a:extLst>
          </p:cNvPr>
          <p:cNvGrpSpPr/>
          <p:nvPr/>
        </p:nvGrpSpPr>
        <p:grpSpPr>
          <a:xfrm>
            <a:off x="882225" y="4438027"/>
            <a:ext cx="14188950" cy="7935263"/>
            <a:chOff x="882225" y="4438027"/>
            <a:chExt cx="14188950" cy="7935263"/>
          </a:xfrm>
        </p:grpSpPr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44C579FB-CF39-3249-8336-0628B0040FF5}"/>
                </a:ext>
              </a:extLst>
            </p:cNvPr>
            <p:cNvGrpSpPr/>
            <p:nvPr/>
          </p:nvGrpSpPr>
          <p:grpSpPr>
            <a:xfrm>
              <a:off x="3216825" y="9472120"/>
              <a:ext cx="11854350" cy="2901170"/>
              <a:chOff x="2226339" y="9389213"/>
              <a:chExt cx="11854350" cy="2901170"/>
            </a:xfrm>
          </p:grpSpPr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60B8D23-A246-6747-8581-59ACD9297206}"/>
                  </a:ext>
                </a:extLst>
              </p:cNvPr>
              <p:cNvSpPr txBox="1"/>
              <p:nvPr/>
            </p:nvSpPr>
            <p:spPr>
              <a:xfrm>
                <a:off x="5900499" y="11644052"/>
                <a:ext cx="45060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交渉内容</a:t>
                </a:r>
                <a:endParaRPr kumimoji="1" lang="ja-JP" altLang="en-US"/>
              </a:p>
            </p:txBody>
          </p: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2E2ADBC7-AB10-924A-B7D8-7021B6210437}"/>
                  </a:ext>
                </a:extLst>
              </p:cNvPr>
              <p:cNvGrpSpPr/>
              <p:nvPr/>
            </p:nvGrpSpPr>
            <p:grpSpPr>
              <a:xfrm>
                <a:off x="2226339" y="9389213"/>
                <a:ext cx="11854350" cy="2010101"/>
                <a:chOff x="3821592" y="9287685"/>
                <a:chExt cx="11854350" cy="2010101"/>
              </a:xfrm>
            </p:grpSpPr>
            <p:pic>
              <p:nvPicPr>
                <p:cNvPr id="30" name="グラフィックス 29" descr="Pasta">
                  <a:extLst>
                    <a:ext uri="{FF2B5EF4-FFF2-40B4-BE49-F238E27FC236}">
                      <a16:creationId xmlns:a16="http://schemas.microsoft.com/office/drawing/2014/main" id="{AA8AA5FC-3F62-0645-A9E4-2453CD589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8892" y="9287685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2" name="グラフィックス 41" descr="Pizza">
                  <a:extLst>
                    <a:ext uri="{FF2B5EF4-FFF2-40B4-BE49-F238E27FC236}">
                      <a16:creationId xmlns:a16="http://schemas.microsoft.com/office/drawing/2014/main" id="{4D0D7605-57E1-2D47-980D-0B3E5E228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20242" y="9340967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4" name="グラフィックス 43" descr="CakeSlice">
                  <a:extLst>
                    <a:ext uri="{FF2B5EF4-FFF2-40B4-BE49-F238E27FC236}">
                      <a16:creationId xmlns:a16="http://schemas.microsoft.com/office/drawing/2014/main" id="{E4A74F59-522C-3041-BFD7-26FFA95B6C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21592" y="9334846"/>
                  <a:ext cx="1956819" cy="1956819"/>
                </a:xfrm>
                <a:prstGeom prst="rect">
                  <a:avLst/>
                </a:prstGeom>
              </p:spPr>
            </p:pic>
            <p:pic>
              <p:nvPicPr>
                <p:cNvPr id="48" name="グラフィックス 47" descr="Donut">
                  <a:extLst>
                    <a:ext uri="{FF2B5EF4-FFF2-40B4-BE49-F238E27FC236}">
                      <a16:creationId xmlns:a16="http://schemas.microsoft.com/office/drawing/2014/main" id="{6077EAC6-78B7-984C-BA93-0C3FE5450B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17542" y="9333265"/>
                  <a:ext cx="1958400" cy="1958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1ED3FE2A-4CAB-4941-9D00-BFA854D862A9}"/>
                </a:ext>
              </a:extLst>
            </p:cNvPr>
            <p:cNvGrpSpPr/>
            <p:nvPr/>
          </p:nvGrpSpPr>
          <p:grpSpPr>
            <a:xfrm>
              <a:off x="882225" y="4438027"/>
              <a:ext cx="12819252" cy="3039192"/>
              <a:chOff x="856258" y="4438027"/>
              <a:chExt cx="12819252" cy="3039192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88BC890-50A4-6547-9139-84E07E78CDDD}"/>
                  </a:ext>
                </a:extLst>
              </p:cNvPr>
              <p:cNvGrpSpPr/>
              <p:nvPr/>
            </p:nvGrpSpPr>
            <p:grpSpPr>
              <a:xfrm>
                <a:off x="856258" y="4438027"/>
                <a:ext cx="5489081" cy="3039192"/>
                <a:chOff x="289330" y="4438027"/>
                <a:chExt cx="5489081" cy="3039192"/>
              </a:xfrm>
            </p:grpSpPr>
            <p:grpSp>
              <p:nvGrpSpPr>
                <p:cNvPr id="52" name="グループ化 51">
                  <a:extLst>
                    <a:ext uri="{FF2B5EF4-FFF2-40B4-BE49-F238E27FC236}">
                      <a16:creationId xmlns:a16="http://schemas.microsoft.com/office/drawing/2014/main" id="{1BCF6E7C-F602-1249-8DD2-2D51F9465F2E}"/>
                    </a:ext>
                  </a:extLst>
                </p:cNvPr>
                <p:cNvGrpSpPr/>
                <p:nvPr/>
              </p:nvGrpSpPr>
              <p:grpSpPr>
                <a:xfrm>
                  <a:off x="4042657" y="5300337"/>
                  <a:ext cx="1735754" cy="2176882"/>
                  <a:chOff x="4042657" y="5300337"/>
                  <a:chExt cx="1735754" cy="2176882"/>
                </a:xfrm>
              </p:grpSpPr>
              <p:sp>
                <p:nvSpPr>
                  <p:cNvPr id="7" name="スマイル 6">
                    <a:extLst>
                      <a:ext uri="{FF2B5EF4-FFF2-40B4-BE49-F238E27FC236}">
                        <a16:creationId xmlns:a16="http://schemas.microsoft.com/office/drawing/2014/main" id="{D228A579-477D-5D47-9416-90AA9EAA0BDE}"/>
                      </a:ext>
                    </a:extLst>
                  </p:cNvPr>
                  <p:cNvSpPr/>
                  <p:nvPr/>
                </p:nvSpPr>
                <p:spPr>
                  <a:xfrm>
                    <a:off x="4082142" y="5969783"/>
                    <a:ext cx="1656784" cy="1507436"/>
                  </a:xfrm>
                  <a:prstGeom prst="smileyFac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801F810E-BC7B-7A4E-99A7-AFAF07FC3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042657" y="5300337"/>
                    <a:ext cx="173575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ja-JP" dirty="0"/>
                      <a:t>agent</a:t>
                    </a:r>
                    <a:endParaRPr kumimoji="1" lang="ja-JP" altLang="en-US"/>
                  </a:p>
                </p:txBody>
              </p:sp>
            </p:grpSp>
            <p:sp>
              <p:nvSpPr>
                <p:cNvPr id="10" name="角丸四角形吹き出し 9">
                  <a:extLst>
                    <a:ext uri="{FF2B5EF4-FFF2-40B4-BE49-F238E27FC236}">
                      <a16:creationId xmlns:a16="http://schemas.microsoft.com/office/drawing/2014/main" id="{C91FDFFE-9D73-D245-86FD-90BADC7755F8}"/>
                    </a:ext>
                  </a:extLst>
                </p:cNvPr>
                <p:cNvSpPr/>
                <p:nvPr/>
              </p:nvSpPr>
              <p:spPr>
                <a:xfrm>
                  <a:off x="289330" y="4438027"/>
                  <a:ext cx="3639733" cy="1442523"/>
                </a:xfrm>
                <a:prstGeom prst="wedgeRoundRectCallout">
                  <a:avLst>
                    <a:gd name="adj1" fmla="val 44418"/>
                    <a:gd name="adj2" fmla="val 78434"/>
                    <a:gd name="adj3" fmla="val 1666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/>
                    <a:t>どうしても</a:t>
                  </a:r>
                  <a:endParaRPr lang="en-US" altLang="ja-JP" dirty="0"/>
                </a:p>
                <a:p>
                  <a:pPr algn="ctr"/>
                  <a:r>
                    <a:rPr kumimoji="1" lang="ja-JP" altLang="en-US"/>
                    <a:t>パスタが欲しい</a:t>
                  </a:r>
                  <a:endParaRPr kumimoji="1" lang="en-US" altLang="ja-JP" dirty="0"/>
                </a:p>
              </p:txBody>
            </p:sp>
          </p:grpSp>
          <p:grpSp>
            <p:nvGrpSpPr>
              <p:cNvPr id="56" name="グループ化 55">
                <a:extLst>
                  <a:ext uri="{FF2B5EF4-FFF2-40B4-BE49-F238E27FC236}">
                    <a16:creationId xmlns:a16="http://schemas.microsoft.com/office/drawing/2014/main" id="{648E72E5-220A-5646-A1C3-1CB69FF1BA5D}"/>
                  </a:ext>
                </a:extLst>
              </p:cNvPr>
              <p:cNvGrpSpPr/>
              <p:nvPr/>
            </p:nvGrpSpPr>
            <p:grpSpPr>
              <a:xfrm>
                <a:off x="11939756" y="5234219"/>
                <a:ext cx="1735754" cy="2243000"/>
                <a:chOff x="12470108" y="5234219"/>
                <a:chExt cx="1735754" cy="2243000"/>
              </a:xfrm>
            </p:grpSpPr>
            <p:sp>
              <p:nvSpPr>
                <p:cNvPr id="22" name="スマイル 21">
                  <a:extLst>
                    <a:ext uri="{FF2B5EF4-FFF2-40B4-BE49-F238E27FC236}">
                      <a16:creationId xmlns:a16="http://schemas.microsoft.com/office/drawing/2014/main" id="{F20C562D-22E5-E84E-BF0E-CF1AAB77878B}"/>
                    </a:ext>
                  </a:extLst>
                </p:cNvPr>
                <p:cNvSpPr/>
                <p:nvPr/>
              </p:nvSpPr>
              <p:spPr>
                <a:xfrm>
                  <a:off x="12549078" y="5969783"/>
                  <a:ext cx="1656784" cy="1507436"/>
                </a:xfrm>
                <a:prstGeom prst="smileyFac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B097CB65-CD2F-E74C-A9E6-B2E571458D84}"/>
                    </a:ext>
                  </a:extLst>
                </p:cNvPr>
                <p:cNvSpPr txBox="1"/>
                <p:nvPr/>
              </p:nvSpPr>
              <p:spPr>
                <a:xfrm>
                  <a:off x="12470108" y="5234219"/>
                  <a:ext cx="17357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ja-JP" dirty="0"/>
                    <a:t>human</a:t>
                  </a:r>
                  <a:endParaRPr kumimoji="1" lang="ja-JP" altLang="en-US"/>
                </a:p>
              </p:txBody>
            </p:sp>
          </p:grpSp>
        </p:grpSp>
      </p:grpSp>
      <p:sp>
        <p:nvSpPr>
          <p:cNvPr id="39" name="角丸四角形吹き出し 38">
            <a:extLst>
              <a:ext uri="{FF2B5EF4-FFF2-40B4-BE49-F238E27FC236}">
                <a16:creationId xmlns:a16="http://schemas.microsoft.com/office/drawing/2014/main" id="{BCBE69F7-2F69-CD4B-BC7B-BA7B25C89831}"/>
              </a:ext>
            </a:extLst>
          </p:cNvPr>
          <p:cNvSpPr/>
          <p:nvPr/>
        </p:nvSpPr>
        <p:spPr>
          <a:xfrm>
            <a:off x="13766043" y="4438026"/>
            <a:ext cx="3639733" cy="1442523"/>
          </a:xfrm>
          <a:prstGeom prst="wedgeRoundRectCallout">
            <a:avLst>
              <a:gd name="adj1" fmla="val -42507"/>
              <a:gd name="adj2" fmla="val 8097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ピザより</a:t>
            </a:r>
            <a:endParaRPr kumimoji="1" lang="en-US" altLang="ja-JP" dirty="0"/>
          </a:p>
          <a:p>
            <a:pPr algn="ctr"/>
            <a:r>
              <a:rPr lang="ja-JP" altLang="en-US"/>
              <a:t>パスタ</a:t>
            </a:r>
            <a:r>
              <a:rPr kumimoji="1" lang="ja-JP" altLang="en-US"/>
              <a:t>が好き</a:t>
            </a:r>
          </a:p>
        </p:txBody>
      </p:sp>
    </p:spTree>
    <p:extLst>
      <p:ext uri="{BB962C8B-B14F-4D97-AF65-F5344CB8AC3E}">
        <p14:creationId xmlns:p14="http://schemas.microsoft.com/office/powerpoint/2010/main" val="2765108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F43D92D-1E68-EF4A-8153-4DC9B21D77FE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34D3398-9322-F748-B364-CA3F60D9B540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DD43C602-551C-5746-BC9B-C19E492EADDB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2F3500-005E-9541-81E5-8F781456C6E9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41" name="三角形 40">
              <a:extLst>
                <a:ext uri="{FF2B5EF4-FFF2-40B4-BE49-F238E27FC236}">
                  <a16:creationId xmlns:a16="http://schemas.microsoft.com/office/drawing/2014/main" id="{D29DEB6E-A193-0546-B684-3CB43FF9DF41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2" name="三角形 41">
              <a:extLst>
                <a:ext uri="{FF2B5EF4-FFF2-40B4-BE49-F238E27FC236}">
                  <a16:creationId xmlns:a16="http://schemas.microsoft.com/office/drawing/2014/main" id="{2CEA62FD-E89F-5B40-B5BD-22C36179584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3" name="三角形 42">
            <a:extLst>
              <a:ext uri="{FF2B5EF4-FFF2-40B4-BE49-F238E27FC236}">
                <a16:creationId xmlns:a16="http://schemas.microsoft.com/office/drawing/2014/main" id="{F0E65632-B875-9644-B7BD-5AC77419A68E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4" name="テキスト プレースホルダー 27">
            <a:extLst>
              <a:ext uri="{FF2B5EF4-FFF2-40B4-BE49-F238E27FC236}">
                <a16:creationId xmlns:a16="http://schemas.microsoft.com/office/drawing/2014/main" id="{3ED0938B-63CA-DD4A-9751-C64A1DA1B53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2</a:t>
            </a:r>
            <a:endParaRPr lang="ja-JP" altLang="en-US"/>
          </a:p>
        </p:txBody>
      </p:sp>
      <p:sp>
        <p:nvSpPr>
          <p:cNvPr id="45" name="テキスト プレースホルダー 29">
            <a:extLst>
              <a:ext uri="{FF2B5EF4-FFF2-40B4-BE49-F238E27FC236}">
                <a16:creationId xmlns:a16="http://schemas.microsoft.com/office/drawing/2014/main" id="{090E7D85-8568-4F42-952D-8AE547A43A32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3</a:t>
            </a:r>
            <a:endParaRPr lang="ja-JP" altLang="en-US"/>
          </a:p>
        </p:txBody>
      </p:sp>
      <p:sp>
        <p:nvSpPr>
          <p:cNvPr id="46" name="テキスト プレースホルダー 30">
            <a:extLst>
              <a:ext uri="{FF2B5EF4-FFF2-40B4-BE49-F238E27FC236}">
                <a16:creationId xmlns:a16="http://schemas.microsoft.com/office/drawing/2014/main" id="{8C754852-53DA-F34B-BF94-C8A63863454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1</a:t>
            </a:r>
            <a:endParaRPr lang="ja-JP" altLang="en-US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D3A15E-A677-F84A-B56A-F1630E9B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036E-BAA0-BC44-BD55-17BEF9262E8C}" type="datetime1">
              <a:rPr kumimoji="1" lang="ja-JP" altLang="en-US" smtClean="0"/>
              <a:t>2018/6/5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EDDA3E-6952-3D45-BAF8-A47CDA73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(2018.06.06)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ADF68C-23B3-A842-BED8-1B721DFC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33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エメラルドグリーンメイン">
      <a:dk1>
        <a:srgbClr val="333333"/>
      </a:dk1>
      <a:lt1>
        <a:srgbClr val="FFFFFF"/>
      </a:lt1>
      <a:dk2>
        <a:srgbClr val="153430"/>
      </a:dk2>
      <a:lt2>
        <a:srgbClr val="EEEEEE"/>
      </a:lt2>
      <a:accent1>
        <a:srgbClr val="4DBDB0"/>
      </a:accent1>
      <a:accent2>
        <a:srgbClr val="CE4457"/>
      </a:accent2>
      <a:accent3>
        <a:srgbClr val="4197B8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1436</TotalTime>
  <Words>766</Words>
  <Application>Microsoft Macintosh PowerPoint</Application>
  <PresentationFormat>ユーザー設定</PresentationFormat>
  <Paragraphs>187</Paragraphs>
  <Slides>15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メイリオ</vt:lpstr>
      <vt:lpstr>游ゴシック</vt:lpstr>
      <vt:lpstr>Arial</vt:lpstr>
      <vt:lpstr>Calibri</vt:lpstr>
      <vt:lpstr>Helvetica</vt:lpstr>
      <vt:lpstr>Office テーマ</vt:lpstr>
      <vt:lpstr>進捗報告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Shogo MATSUSHITA</dc:creator>
  <cp:lastModifiedBy>Shogo MATSUSHITA</cp:lastModifiedBy>
  <cp:revision>70</cp:revision>
  <cp:lastPrinted>2018-04-18T08:51:19Z</cp:lastPrinted>
  <dcterms:created xsi:type="dcterms:W3CDTF">2018-04-18T07:57:09Z</dcterms:created>
  <dcterms:modified xsi:type="dcterms:W3CDTF">2018-06-05T10:57:39Z</dcterms:modified>
</cp:coreProperties>
</file>