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sldIdLst>
    <p:sldId id="256" r:id="rId2"/>
    <p:sldId id="393" r:id="rId3"/>
    <p:sldId id="439" r:id="rId4"/>
    <p:sldId id="442" r:id="rId5"/>
    <p:sldId id="448" r:id="rId6"/>
    <p:sldId id="444" r:id="rId7"/>
    <p:sldId id="446" r:id="rId8"/>
    <p:sldId id="447" r:id="rId9"/>
    <p:sldId id="449" r:id="rId10"/>
    <p:sldId id="450" r:id="rId11"/>
    <p:sldId id="451" r:id="rId12"/>
    <p:sldId id="452" r:id="rId13"/>
    <p:sldId id="453" r:id="rId14"/>
    <p:sldId id="25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E4E4"/>
    <a:srgbClr val="D681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240"/>
    <p:restoredTop sz="94624"/>
  </p:normalViewPr>
  <p:slideViewPr>
    <p:cSldViewPr snapToGrid="0" snapToObjects="1" showGuides="1">
      <p:cViewPr varScale="1">
        <p:scale>
          <a:sx n="110" d="100"/>
          <a:sy n="110" d="100"/>
        </p:scale>
        <p:origin x="1952" y="176"/>
      </p:cViewPr>
      <p:guideLst>
        <p:guide orient="horz" pos="213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0CCDC2-C448-5942-B3C6-FAFA0B7166CF}" type="datetimeFigureOut">
              <a:rPr kumimoji="1" lang="ja-JP" altLang="en-US" smtClean="0"/>
              <a:t>2020/6/7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D68E3D-F587-EC48-9825-EB28F12809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7373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D7740A0-10A2-AC4B-9E37-89A047D63AA9}"/>
              </a:ext>
            </a:extLst>
          </p:cNvPr>
          <p:cNvSpPr/>
          <p:nvPr userDrawn="1"/>
        </p:nvSpPr>
        <p:spPr>
          <a:xfrm>
            <a:off x="-18000" y="1735015"/>
            <a:ext cx="9180000" cy="341141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30302" y="1368546"/>
            <a:ext cx="9404604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18818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C275-3977-4849-BBDE-F9BC93110E65}" type="datetime1">
              <a:rPr kumimoji="1" lang="ja-JP" altLang="en-US" smtClean="0"/>
              <a:t>2020/6/7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EE0A9B93-3B75-BD4C-97FF-D428AE5ADB8E}"/>
              </a:ext>
            </a:extLst>
          </p:cNvPr>
          <p:cNvSpPr/>
          <p:nvPr userDrawn="1"/>
        </p:nvSpPr>
        <p:spPr>
          <a:xfrm>
            <a:off x="562708" y="3934582"/>
            <a:ext cx="8006861" cy="7200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2891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番号なし_箇条書き貼り付け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5238" y="-128952"/>
            <a:ext cx="8198828" cy="1095506"/>
          </a:xfrm>
        </p:spPr>
        <p:txBody>
          <a:bodyPr>
            <a:noAutofit/>
          </a:bodyPr>
          <a:lstStyle>
            <a:lvl1pPr>
              <a:defRPr sz="4800"/>
            </a:lvl1pPr>
          </a:lstStyle>
          <a:p>
            <a:r>
              <a:rPr lang="ja-JP" altLang="en-US"/>
              <a:t>スライドのタイトル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A1E6-C3B8-DE4D-A346-09EF080BA12A}" type="datetime1">
              <a:rPr kumimoji="1" lang="ja-JP" altLang="en-US" smtClean="0"/>
              <a:t>2020/6/7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28059" y="6443601"/>
            <a:ext cx="721106" cy="401638"/>
          </a:xfrm>
        </p:spPr>
        <p:txBody>
          <a:bodyPr/>
          <a:lstStyle>
            <a:lvl1pPr>
              <a:defRPr sz="2800"/>
            </a:lvl1pPr>
          </a:lstStyle>
          <a:p>
            <a:fld id="{2981C279-7323-A845-8A27-BB5908B2F04D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CB6FB83-902B-494A-98B3-A5B53F5B8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98" y="1884384"/>
            <a:ext cx="8859709" cy="4692114"/>
          </a:xfrm>
        </p:spPr>
        <p:txBody>
          <a:bodyPr/>
          <a:lstStyle>
            <a:lvl3pPr>
              <a:lnSpc>
                <a:spcPct val="100000"/>
              </a:lnSpc>
              <a:defRPr/>
            </a:lvl3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388139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番号あり_箇条書き貼り付け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79634" y="-128952"/>
            <a:ext cx="8198828" cy="1095506"/>
          </a:xfrm>
        </p:spPr>
        <p:txBody>
          <a:bodyPr>
            <a:noAutofit/>
          </a:bodyPr>
          <a:lstStyle>
            <a:lvl1pPr>
              <a:defRPr sz="4800"/>
            </a:lvl1pPr>
          </a:lstStyle>
          <a:p>
            <a:r>
              <a:rPr lang="ja-JP" altLang="en-US"/>
              <a:t>スライドのタイトル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898" y="1884384"/>
            <a:ext cx="8859709" cy="4692114"/>
          </a:xfrm>
        </p:spPr>
        <p:txBody>
          <a:bodyPr/>
          <a:lstStyle>
            <a:lvl3pPr>
              <a:lnSpc>
                <a:spcPct val="100000"/>
              </a:lnSpc>
              <a:defRPr/>
            </a:lvl3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158CC-F5BE-2345-99BA-C49B60654C2B}" type="datetime1">
              <a:rPr kumimoji="1" lang="ja-JP" altLang="en-US" smtClean="0"/>
              <a:t>2020/6/7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フリーフォーム 8">
            <a:extLst>
              <a:ext uri="{FF2B5EF4-FFF2-40B4-BE49-F238E27FC236}">
                <a16:creationId xmlns:a16="http://schemas.microsoft.com/office/drawing/2014/main" id="{2088A402-64A7-4F4B-9DF6-0F821459DD04}"/>
              </a:ext>
            </a:extLst>
          </p:cNvPr>
          <p:cNvSpPr/>
          <p:nvPr userDrawn="1"/>
        </p:nvSpPr>
        <p:spPr>
          <a:xfrm>
            <a:off x="-63877" y="-128952"/>
            <a:ext cx="1172309" cy="1160586"/>
          </a:xfrm>
          <a:custGeom>
            <a:avLst/>
            <a:gdLst>
              <a:gd name="connsiteX0" fmla="*/ 0 w 1289540"/>
              <a:gd name="connsiteY0" fmla="*/ 0 h 1160586"/>
              <a:gd name="connsiteX1" fmla="*/ 1286782 w 1289540"/>
              <a:gd name="connsiteY1" fmla="*/ 0 h 1160586"/>
              <a:gd name="connsiteX2" fmla="*/ 1289540 w 1289540"/>
              <a:gd name="connsiteY2" fmla="*/ 27360 h 1160586"/>
              <a:gd name="connsiteX3" fmla="*/ 1289540 w 1289540"/>
              <a:gd name="connsiteY3" fmla="*/ 933935 h 1160586"/>
              <a:gd name="connsiteX4" fmla="*/ 1062889 w 1289540"/>
              <a:gd name="connsiteY4" fmla="*/ 1160586 h 1160586"/>
              <a:gd name="connsiteX5" fmla="*/ 49937 w 1289540"/>
              <a:gd name="connsiteY5" fmla="*/ 1160586 h 1160586"/>
              <a:gd name="connsiteX6" fmla="*/ 4259 w 1289540"/>
              <a:gd name="connsiteY6" fmla="*/ 1155981 h 1160586"/>
              <a:gd name="connsiteX7" fmla="*/ 0 w 1289540"/>
              <a:gd name="connsiteY7" fmla="*/ 1154659 h 116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9540" h="1160586">
                <a:moveTo>
                  <a:pt x="0" y="0"/>
                </a:moveTo>
                <a:lnTo>
                  <a:pt x="1286782" y="0"/>
                </a:lnTo>
                <a:lnTo>
                  <a:pt x="1289540" y="27360"/>
                </a:lnTo>
                <a:lnTo>
                  <a:pt x="1289540" y="933935"/>
                </a:lnTo>
                <a:cubicBezTo>
                  <a:pt x="1289540" y="1059111"/>
                  <a:pt x="1188065" y="1160586"/>
                  <a:pt x="1062889" y="1160586"/>
                </a:cubicBezTo>
                <a:lnTo>
                  <a:pt x="49937" y="1160586"/>
                </a:lnTo>
                <a:cubicBezTo>
                  <a:pt x="34290" y="1160586"/>
                  <a:pt x="19013" y="1159001"/>
                  <a:pt x="4259" y="1155981"/>
                </a:cubicBezTo>
                <a:lnTo>
                  <a:pt x="0" y="1154659"/>
                </a:lnTo>
                <a:close/>
              </a:path>
            </a:pathLst>
          </a:custGeom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9B857D65-C0D5-C14C-9A10-143D21D4BE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425464" y="-27300"/>
            <a:ext cx="1879127" cy="972000"/>
          </a:xfrm>
        </p:spPr>
        <p:txBody>
          <a:bodyPr>
            <a:noAutofit/>
          </a:bodyPr>
          <a:lstStyle>
            <a:lvl1pPr marL="0" indent="0" algn="ctr">
              <a:buNone/>
              <a:defRPr sz="8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No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7242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番号なし＿箇条書き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5238" y="-128952"/>
            <a:ext cx="8198828" cy="1095506"/>
          </a:xfrm>
        </p:spPr>
        <p:txBody>
          <a:bodyPr>
            <a:noAutofit/>
          </a:bodyPr>
          <a:lstStyle>
            <a:lvl1pPr>
              <a:defRPr sz="4800"/>
            </a:lvl1pPr>
          </a:lstStyle>
          <a:p>
            <a:r>
              <a:rPr lang="ja-JP" altLang="en-US"/>
              <a:t>スライドのタイトル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470E-4BC5-1945-9506-A510EA67C3DE}" type="datetime1">
              <a:rPr kumimoji="1" lang="ja-JP" altLang="en-US" smtClean="0"/>
              <a:t>2020/6/7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28059" y="6443601"/>
            <a:ext cx="721106" cy="401638"/>
          </a:xfrm>
        </p:spPr>
        <p:txBody>
          <a:bodyPr/>
          <a:lstStyle>
            <a:lvl1pPr>
              <a:defRPr sz="2800"/>
            </a:lvl1pPr>
          </a:lstStyle>
          <a:p>
            <a:fld id="{2981C279-7323-A845-8A27-BB5908B2F04D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CB6FB83-902B-494A-98B3-A5B53F5B8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98" y="1169281"/>
            <a:ext cx="8859709" cy="4692114"/>
          </a:xfrm>
        </p:spPr>
        <p:txBody>
          <a:bodyPr/>
          <a:lstStyle>
            <a:lvl3pPr>
              <a:lnSpc>
                <a:spcPct val="100000"/>
              </a:lnSpc>
              <a:defRPr/>
            </a:lvl3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602699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番号あり_箇条書き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79634" y="-128952"/>
            <a:ext cx="8198828" cy="1095506"/>
          </a:xfrm>
        </p:spPr>
        <p:txBody>
          <a:bodyPr>
            <a:noAutofit/>
          </a:bodyPr>
          <a:lstStyle>
            <a:lvl1pPr>
              <a:defRPr sz="4800"/>
            </a:lvl1pPr>
          </a:lstStyle>
          <a:p>
            <a:r>
              <a:rPr lang="ja-JP" altLang="en-US"/>
              <a:t>スライドのタイトル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468A3-0919-F54E-B59A-E9ED9FABFE93}" type="datetime1">
              <a:rPr kumimoji="1" lang="ja-JP" altLang="en-US" smtClean="0"/>
              <a:t>2020/6/7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フリーフォーム 8">
            <a:extLst>
              <a:ext uri="{FF2B5EF4-FFF2-40B4-BE49-F238E27FC236}">
                <a16:creationId xmlns:a16="http://schemas.microsoft.com/office/drawing/2014/main" id="{2088A402-64A7-4F4B-9DF6-0F821459DD04}"/>
              </a:ext>
            </a:extLst>
          </p:cNvPr>
          <p:cNvSpPr/>
          <p:nvPr userDrawn="1"/>
        </p:nvSpPr>
        <p:spPr>
          <a:xfrm>
            <a:off x="-63877" y="-128952"/>
            <a:ext cx="1172309" cy="1160586"/>
          </a:xfrm>
          <a:custGeom>
            <a:avLst/>
            <a:gdLst>
              <a:gd name="connsiteX0" fmla="*/ 0 w 1289540"/>
              <a:gd name="connsiteY0" fmla="*/ 0 h 1160586"/>
              <a:gd name="connsiteX1" fmla="*/ 1286782 w 1289540"/>
              <a:gd name="connsiteY1" fmla="*/ 0 h 1160586"/>
              <a:gd name="connsiteX2" fmla="*/ 1289540 w 1289540"/>
              <a:gd name="connsiteY2" fmla="*/ 27360 h 1160586"/>
              <a:gd name="connsiteX3" fmla="*/ 1289540 w 1289540"/>
              <a:gd name="connsiteY3" fmla="*/ 933935 h 1160586"/>
              <a:gd name="connsiteX4" fmla="*/ 1062889 w 1289540"/>
              <a:gd name="connsiteY4" fmla="*/ 1160586 h 1160586"/>
              <a:gd name="connsiteX5" fmla="*/ 49937 w 1289540"/>
              <a:gd name="connsiteY5" fmla="*/ 1160586 h 1160586"/>
              <a:gd name="connsiteX6" fmla="*/ 4259 w 1289540"/>
              <a:gd name="connsiteY6" fmla="*/ 1155981 h 1160586"/>
              <a:gd name="connsiteX7" fmla="*/ 0 w 1289540"/>
              <a:gd name="connsiteY7" fmla="*/ 1154659 h 116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9540" h="1160586">
                <a:moveTo>
                  <a:pt x="0" y="0"/>
                </a:moveTo>
                <a:lnTo>
                  <a:pt x="1286782" y="0"/>
                </a:lnTo>
                <a:lnTo>
                  <a:pt x="1289540" y="27360"/>
                </a:lnTo>
                <a:lnTo>
                  <a:pt x="1289540" y="933935"/>
                </a:lnTo>
                <a:cubicBezTo>
                  <a:pt x="1289540" y="1059111"/>
                  <a:pt x="1188065" y="1160586"/>
                  <a:pt x="1062889" y="1160586"/>
                </a:cubicBezTo>
                <a:lnTo>
                  <a:pt x="49937" y="1160586"/>
                </a:lnTo>
                <a:cubicBezTo>
                  <a:pt x="34290" y="1160586"/>
                  <a:pt x="19013" y="1159001"/>
                  <a:pt x="4259" y="1155981"/>
                </a:cubicBezTo>
                <a:lnTo>
                  <a:pt x="0" y="1154659"/>
                </a:lnTo>
                <a:close/>
              </a:path>
            </a:pathLst>
          </a:custGeom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9B857D65-C0D5-C14C-9A10-143D21D4BE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425464" y="-27300"/>
            <a:ext cx="1879127" cy="972000"/>
          </a:xfrm>
        </p:spPr>
        <p:txBody>
          <a:bodyPr>
            <a:noAutofit/>
          </a:bodyPr>
          <a:lstStyle>
            <a:lvl1pPr marL="0" indent="0" algn="ctr">
              <a:buNone/>
              <a:defRPr sz="8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ja-JP" dirty="0"/>
              <a:t>No</a:t>
            </a:r>
            <a:endParaRPr kumimoji="1" lang="ja-JP" alt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08DC9C3-5553-BD40-9933-0A4D05E8E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98" y="1169281"/>
            <a:ext cx="8859709" cy="4692114"/>
          </a:xfrm>
        </p:spPr>
        <p:txBody>
          <a:bodyPr/>
          <a:lstStyle>
            <a:lvl3pPr>
              <a:lnSpc>
                <a:spcPct val="100000"/>
              </a:lnSpc>
              <a:defRPr/>
            </a:lvl3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562719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F3555-E93B-3A4D-AF4E-8776BA7B7879}" type="datetime1">
              <a:rPr kumimoji="1" lang="ja-JP" altLang="en-US" smtClean="0"/>
              <a:t>2020/6/7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5596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D34DB-DCA4-3E46-8E9A-438514557B03}" type="datetime1">
              <a:rPr kumimoji="1" lang="ja-JP" altLang="en-US" smtClean="0"/>
              <a:t>2020/6/7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6941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C2B0B-3EB1-7D48-BCB2-B34EB8C22E6E}" type="datetime1">
              <a:rPr kumimoji="1" lang="ja-JP" altLang="en-US" smtClean="0"/>
              <a:t>2020/6/7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1846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9526-C6B6-3C4B-B48C-57A5608CC1DE}" type="datetime1">
              <a:rPr kumimoji="1" lang="ja-JP" altLang="en-US" smtClean="0"/>
              <a:t>2020/6/7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4043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ピー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DE972-7F9F-8545-A12B-9CBEE476963D}" type="datetime1">
              <a:rPr kumimoji="1" lang="ja-JP" altLang="en-US" smtClean="0"/>
              <a:t>2020/6/7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BF48DF8D-E5BC-9044-9980-A872104EC9D1}"/>
              </a:ext>
            </a:extLst>
          </p:cNvPr>
          <p:cNvGrpSpPr/>
          <p:nvPr userDrawn="1"/>
        </p:nvGrpSpPr>
        <p:grpSpPr>
          <a:xfrm>
            <a:off x="2438030" y="3497736"/>
            <a:ext cx="513617" cy="487974"/>
            <a:chOff x="5777279" y="1326905"/>
            <a:chExt cx="513617" cy="487974"/>
          </a:xfrm>
          <a:solidFill>
            <a:schemeClr val="accent1"/>
          </a:solidFill>
        </p:grpSpPr>
        <p:sp>
          <p:nvSpPr>
            <p:cNvPr id="6" name="三角形 5">
              <a:extLst>
                <a:ext uri="{FF2B5EF4-FFF2-40B4-BE49-F238E27FC236}">
                  <a16:creationId xmlns:a16="http://schemas.microsoft.com/office/drawing/2014/main" id="{3DC6B543-7F25-FF44-97B2-229A862B52F5}"/>
                </a:ext>
              </a:extLst>
            </p:cNvPr>
            <p:cNvSpPr/>
            <p:nvPr userDrawn="1"/>
          </p:nvSpPr>
          <p:spPr>
            <a:xfrm rot="5400000">
              <a:off x="5882786" y="1406770"/>
              <a:ext cx="487973" cy="328246"/>
            </a:xfrm>
            <a:prstGeom prst="triangl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三角形 6">
              <a:extLst>
                <a:ext uri="{FF2B5EF4-FFF2-40B4-BE49-F238E27FC236}">
                  <a16:creationId xmlns:a16="http://schemas.microsoft.com/office/drawing/2014/main" id="{39018809-A256-1446-9BCB-F9BC0B2CEFC5}"/>
                </a:ext>
              </a:extLst>
            </p:cNvPr>
            <p:cNvSpPr/>
            <p:nvPr userDrawn="1"/>
          </p:nvSpPr>
          <p:spPr>
            <a:xfrm rot="5400000">
              <a:off x="5697415" y="1406769"/>
              <a:ext cx="487973" cy="328246"/>
            </a:xfrm>
            <a:prstGeom prst="triangl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EEA83C1B-5795-FE4D-8A70-6E249896CB42}"/>
              </a:ext>
            </a:extLst>
          </p:cNvPr>
          <p:cNvGrpSpPr/>
          <p:nvPr userDrawn="1"/>
        </p:nvGrpSpPr>
        <p:grpSpPr>
          <a:xfrm>
            <a:off x="697504" y="3453857"/>
            <a:ext cx="686164" cy="488219"/>
            <a:chOff x="5159252" y="1181176"/>
            <a:chExt cx="686164" cy="488219"/>
          </a:xfrm>
          <a:solidFill>
            <a:schemeClr val="accent1"/>
          </a:solidFill>
        </p:grpSpPr>
        <p:sp>
          <p:nvSpPr>
            <p:cNvPr id="9" name="三角形 8">
              <a:extLst>
                <a:ext uri="{FF2B5EF4-FFF2-40B4-BE49-F238E27FC236}">
                  <a16:creationId xmlns:a16="http://schemas.microsoft.com/office/drawing/2014/main" id="{C16B67FE-3CD0-2140-8383-24074EDF5FCE}"/>
                </a:ext>
              </a:extLst>
            </p:cNvPr>
            <p:cNvSpPr/>
            <p:nvPr userDrawn="1"/>
          </p:nvSpPr>
          <p:spPr>
            <a:xfrm rot="5400000">
              <a:off x="5437306" y="1261040"/>
              <a:ext cx="487973" cy="328246"/>
            </a:xfrm>
            <a:prstGeom prst="triangl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ctr">
                <a:buFontTx/>
                <a:buBlip>
                  <a:blip r:embed="rId2"/>
                </a:buBlip>
              </a:pPr>
              <a:endParaRPr kumimoji="1" lang="ja-JP" altLang="en-US"/>
            </a:p>
          </p:txBody>
        </p:sp>
        <p:sp>
          <p:nvSpPr>
            <p:cNvPr id="10" name="三角形 9">
              <a:extLst>
                <a:ext uri="{FF2B5EF4-FFF2-40B4-BE49-F238E27FC236}">
                  <a16:creationId xmlns:a16="http://schemas.microsoft.com/office/drawing/2014/main" id="{460DA42C-3A8C-854B-87D3-67D552964AF8}"/>
                </a:ext>
              </a:extLst>
            </p:cNvPr>
            <p:cNvSpPr/>
            <p:nvPr userDrawn="1"/>
          </p:nvSpPr>
          <p:spPr>
            <a:xfrm rot="5400000">
              <a:off x="5264759" y="1261286"/>
              <a:ext cx="487973" cy="328246"/>
            </a:xfrm>
            <a:prstGeom prst="triangl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ctr">
                <a:buFontTx/>
                <a:buBlip>
                  <a:blip r:embed="rId2"/>
                </a:buBlip>
              </a:pPr>
              <a:endParaRPr kumimoji="1" lang="ja-JP" altLang="en-US"/>
            </a:p>
          </p:txBody>
        </p:sp>
        <p:sp>
          <p:nvSpPr>
            <p:cNvPr id="11" name="三角形 10">
              <a:extLst>
                <a:ext uri="{FF2B5EF4-FFF2-40B4-BE49-F238E27FC236}">
                  <a16:creationId xmlns:a16="http://schemas.microsoft.com/office/drawing/2014/main" id="{9E4FAB19-4805-5048-B3D0-482B1B63211B}"/>
                </a:ext>
              </a:extLst>
            </p:cNvPr>
            <p:cNvSpPr/>
            <p:nvPr userDrawn="1"/>
          </p:nvSpPr>
          <p:spPr>
            <a:xfrm rot="5400000">
              <a:off x="5079388" y="1261285"/>
              <a:ext cx="487973" cy="328246"/>
            </a:xfrm>
            <a:prstGeom prst="triangl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ctr">
                <a:buFontTx/>
                <a:buBlip>
                  <a:blip r:embed="rId2"/>
                </a:buBlip>
              </a:pPr>
              <a:endParaRPr kumimoji="1" lang="ja-JP" altLang="en-US"/>
            </a:p>
          </p:txBody>
        </p:sp>
      </p:grpSp>
      <p:sp>
        <p:nvSpPr>
          <p:cNvPr id="12" name="三角形 11">
            <a:extLst>
              <a:ext uri="{FF2B5EF4-FFF2-40B4-BE49-F238E27FC236}">
                <a16:creationId xmlns:a16="http://schemas.microsoft.com/office/drawing/2014/main" id="{2C762878-2D1B-CD44-AFDF-6B039A7E14AE}"/>
              </a:ext>
            </a:extLst>
          </p:cNvPr>
          <p:cNvSpPr/>
          <p:nvPr userDrawn="1"/>
        </p:nvSpPr>
        <p:spPr>
          <a:xfrm rot="5400000">
            <a:off x="3707109" y="3508864"/>
            <a:ext cx="487973" cy="328246"/>
          </a:xfrm>
          <a:prstGeom prst="triangl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D0F0539D-82B8-914D-9DE6-05B3A42AEE90}"/>
              </a:ext>
            </a:extLst>
          </p:cNvPr>
          <p:cNvGrpSpPr/>
          <p:nvPr userDrawn="1"/>
        </p:nvGrpSpPr>
        <p:grpSpPr>
          <a:xfrm>
            <a:off x="163626" y="1160115"/>
            <a:ext cx="4103574" cy="680876"/>
            <a:chOff x="163626" y="1160115"/>
            <a:chExt cx="4103574" cy="680876"/>
          </a:xfrm>
        </p:grpSpPr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CCB3DF71-233C-784B-A40E-F763DAF7410E}"/>
                </a:ext>
              </a:extLst>
            </p:cNvPr>
            <p:cNvCxnSpPr/>
            <p:nvPr userDrawn="1"/>
          </p:nvCxnSpPr>
          <p:spPr>
            <a:xfrm>
              <a:off x="163626" y="1699846"/>
              <a:ext cx="4103574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CA15AE55-A3D1-3048-9E8F-3A81DFB0C414}"/>
                </a:ext>
              </a:extLst>
            </p:cNvPr>
            <p:cNvSpPr/>
            <p:nvPr userDrawn="1"/>
          </p:nvSpPr>
          <p:spPr>
            <a:xfrm>
              <a:off x="281354" y="1160115"/>
              <a:ext cx="117231" cy="68087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6" name="テキスト プレースホルダー 12">
            <a:extLst>
              <a:ext uri="{FF2B5EF4-FFF2-40B4-BE49-F238E27FC236}">
                <a16:creationId xmlns:a16="http://schemas.microsoft.com/office/drawing/2014/main" id="{3013F31D-8B87-584D-8A56-225A22C7C6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4691" y="1192726"/>
            <a:ext cx="8147050" cy="680876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r>
              <a:rPr kumimoji="1" lang="ja-JP" altLang="en-US"/>
              <a:t>テキスト</a:t>
            </a:r>
          </a:p>
        </p:txBody>
      </p:sp>
    </p:spTree>
    <p:extLst>
      <p:ext uri="{BB962C8B-B14F-4D97-AF65-F5344CB8AC3E}">
        <p14:creationId xmlns:p14="http://schemas.microsoft.com/office/powerpoint/2010/main" val="524085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15014-30FE-CC43-81CB-CE71B2D66247}" type="datetime1">
              <a:rPr kumimoji="1" lang="ja-JP" altLang="en-US" smtClean="0"/>
              <a:t>2020/6/7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45468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62DB-EF94-E646-B694-C43CC85D160D}" type="datetime1">
              <a:rPr kumimoji="1" lang="ja-JP" altLang="en-US" smtClean="0"/>
              <a:t>2020/6/7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7150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0722B-D148-BE44-BF67-6510CE43B9F9}" type="datetime1">
              <a:rPr kumimoji="1" lang="ja-JP" altLang="en-US" smtClean="0"/>
              <a:t>2020/6/7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81140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08DE0-8C54-1A48-96D9-0CB1F61C3B86}" type="datetime1">
              <a:rPr kumimoji="1" lang="ja-JP" altLang="en-US" smtClean="0"/>
              <a:t>2020/6/7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9014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64C4851-9044-7944-A997-D3E4769EC61B}"/>
              </a:ext>
            </a:extLst>
          </p:cNvPr>
          <p:cNvSpPr/>
          <p:nvPr userDrawn="1"/>
        </p:nvSpPr>
        <p:spPr>
          <a:xfrm>
            <a:off x="-11723" y="-8304"/>
            <a:ext cx="9180000" cy="7692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350" b="0" i="0">
              <a:solidFill>
                <a:schemeClr val="bg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65581C3-683F-974B-B777-1906334DD7D8}"/>
              </a:ext>
            </a:extLst>
          </p:cNvPr>
          <p:cNvSpPr/>
          <p:nvPr userDrawn="1"/>
        </p:nvSpPr>
        <p:spPr>
          <a:xfrm>
            <a:off x="-11723" y="6624072"/>
            <a:ext cx="9180000" cy="2451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350" b="0" i="0">
              <a:solidFill>
                <a:schemeClr val="bg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34" name="フリーフォーム 33">
            <a:extLst>
              <a:ext uri="{FF2B5EF4-FFF2-40B4-BE49-F238E27FC236}">
                <a16:creationId xmlns:a16="http://schemas.microsoft.com/office/drawing/2014/main" id="{2D285060-24CD-0E41-A3F1-0099B6A8A897}"/>
              </a:ext>
            </a:extLst>
          </p:cNvPr>
          <p:cNvSpPr/>
          <p:nvPr userDrawn="1"/>
        </p:nvSpPr>
        <p:spPr>
          <a:xfrm flipH="1">
            <a:off x="8258747" y="6381627"/>
            <a:ext cx="973705" cy="546179"/>
          </a:xfrm>
          <a:custGeom>
            <a:avLst/>
            <a:gdLst>
              <a:gd name="connsiteX0" fmla="*/ 0 w 1209192"/>
              <a:gd name="connsiteY0" fmla="*/ 0 h 245119"/>
              <a:gd name="connsiteX1" fmla="*/ 1077529 w 1209192"/>
              <a:gd name="connsiteY1" fmla="*/ 0 h 245119"/>
              <a:gd name="connsiteX2" fmla="*/ 1209192 w 1209192"/>
              <a:gd name="connsiteY2" fmla="*/ 245119 h 245119"/>
              <a:gd name="connsiteX3" fmla="*/ 0 w 1209192"/>
              <a:gd name="connsiteY3" fmla="*/ 245119 h 24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9192" h="245119">
                <a:moveTo>
                  <a:pt x="0" y="0"/>
                </a:moveTo>
                <a:lnTo>
                  <a:pt x="1077529" y="0"/>
                </a:lnTo>
                <a:lnTo>
                  <a:pt x="1209192" y="245119"/>
                </a:lnTo>
                <a:lnTo>
                  <a:pt x="0" y="245119"/>
                </a:lnTo>
                <a:close/>
              </a:path>
            </a:pathLst>
          </a:custGeom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0" i="0"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4160" y="-154601"/>
            <a:ext cx="7886700" cy="1095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696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 dirty="0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 dirty="0"/>
              <a:t>3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577" y="656545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bg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defRPr>
            </a:lvl1pPr>
          </a:lstStyle>
          <a:p>
            <a:fld id="{848FC433-A65A-5E4B-A542-B4358B331384}" type="datetime1">
              <a:rPr lang="ja-JP" altLang="en-US" smtClean="0"/>
              <a:t>2020/6/7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56736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bg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defRPr>
            </a:lvl1pPr>
          </a:lstStyle>
          <a:p>
            <a:r>
              <a:rPr lang="ja-JP" altLang="en-US"/>
              <a:t>進捗報告</a:t>
            </a:r>
            <a:endParaRPr lang="en-US" altLang="ja-JP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19588" y="6485304"/>
            <a:ext cx="59595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0" i="0">
                <a:solidFill>
                  <a:schemeClr val="bg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defRPr>
            </a:lvl1pPr>
          </a:lstStyle>
          <a:p>
            <a:fld id="{2981C279-7323-A845-8A27-BB5908B2F04D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31777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5" r:id="rId2"/>
    <p:sldLayoutId id="2147483676" r:id="rId3"/>
    <p:sldLayoutId id="2147483673" r:id="rId4"/>
    <p:sldLayoutId id="2147483674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b="0" i="0" kern="1200">
          <a:solidFill>
            <a:schemeClr val="tx1"/>
          </a:solidFill>
          <a:latin typeface="Hiragino Kaku Gothic Pro W3" panose="020B0300000000000000" pitchFamily="34" charset="-128"/>
          <a:ea typeface="Hiragino Kaku Gothic Pro W3" panose="020B0300000000000000" pitchFamily="34" charset="-128"/>
          <a:cs typeface="+mj-cs"/>
        </a:defRPr>
      </a:lvl1pPr>
    </p:titleStyle>
    <p:bodyStyle>
      <a:lvl1pPr marL="231775" indent="-231775" algn="l" defTabSz="914400" rtl="0" eaLnBrk="1" latinLnBrk="0" hangingPunct="1">
        <a:lnSpc>
          <a:spcPct val="90000"/>
        </a:lnSpc>
        <a:spcBef>
          <a:spcPts val="1000"/>
        </a:spcBef>
        <a:buSzPct val="100000"/>
        <a:buFontTx/>
        <a:buBlip>
          <a:blip r:embed="rId16"/>
        </a:buBlip>
        <a:tabLst/>
        <a:defRPr kumimoji="1" sz="2800" b="0" i="0" kern="1200">
          <a:solidFill>
            <a:schemeClr val="tx1"/>
          </a:solidFill>
          <a:latin typeface="Hiragino Kaku Gothic Pro W3" panose="020B0300000000000000" pitchFamily="34" charset="-128"/>
          <a:ea typeface="Hiragino Kaku Gothic Pro W3" panose="020B0300000000000000" pitchFamily="34" charset="-128"/>
          <a:cs typeface="+mn-cs"/>
        </a:defRPr>
      </a:lvl1pPr>
      <a:lvl2pPr marL="722313" indent="-265113" algn="l" defTabSz="914400" rtl="0" eaLnBrk="1" latinLnBrk="0" hangingPunct="1">
        <a:lnSpc>
          <a:spcPct val="90000"/>
        </a:lnSpc>
        <a:spcBef>
          <a:spcPts val="500"/>
        </a:spcBef>
        <a:buSzPct val="100000"/>
        <a:buFontTx/>
        <a:buBlip>
          <a:blip r:embed="rId17"/>
        </a:buBlip>
        <a:tabLst/>
        <a:defRPr kumimoji="1" sz="2400" b="0" i="0" kern="1200">
          <a:solidFill>
            <a:schemeClr val="tx1"/>
          </a:solidFill>
          <a:latin typeface="Hiragino Kaku Gothic Pro W3" panose="020B0300000000000000" pitchFamily="34" charset="-128"/>
          <a:ea typeface="Hiragino Kaku Gothic Pro W3" panose="020B0300000000000000" pitchFamily="34" charset="-128"/>
          <a:cs typeface="+mn-cs"/>
        </a:defRPr>
      </a:lvl2pPr>
      <a:lvl3pPr marL="1246188" indent="-331788" algn="l" defTabSz="914400" rtl="0" eaLnBrk="1" latinLnBrk="0" hangingPunct="1">
        <a:lnSpc>
          <a:spcPct val="90000"/>
        </a:lnSpc>
        <a:spcBef>
          <a:spcPts val="500"/>
        </a:spcBef>
        <a:buSzPct val="100000"/>
        <a:buFontTx/>
        <a:buBlip>
          <a:blip r:embed="rId18"/>
        </a:buBlip>
        <a:tabLst/>
        <a:defRPr kumimoji="1" sz="2000" b="0" i="0" kern="1200">
          <a:solidFill>
            <a:schemeClr val="tx1"/>
          </a:solidFill>
          <a:latin typeface="Hiragino Kaku Gothic Pro W3" panose="020B0300000000000000" pitchFamily="34" charset="-128"/>
          <a:ea typeface="Hiragino Kaku Gothic Pro W3" panose="020B0300000000000000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SzPct val="100000"/>
        <a:buFont typeface="Arial" panose="020B0604020202020204" pitchFamily="34" charset="0"/>
        <a:buChar char="•"/>
        <a:defRPr kumimoji="1" sz="1800" b="0" i="0" kern="1200">
          <a:solidFill>
            <a:schemeClr val="tx1"/>
          </a:solidFill>
          <a:latin typeface="Hiragino Sans W4" panose="020B0400000000000000" pitchFamily="34" charset="-128"/>
          <a:ea typeface="Hiragino Sans W4" panose="020B0400000000000000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SzPct val="100000"/>
        <a:buFont typeface="Arial" panose="020B0604020202020204" pitchFamily="34" charset="0"/>
        <a:buChar char="•"/>
        <a:defRPr kumimoji="1" sz="1800" b="0" i="0" kern="1200">
          <a:solidFill>
            <a:schemeClr val="tx1"/>
          </a:solidFill>
          <a:latin typeface="Hiragino Sans W4" panose="020B0400000000000000" pitchFamily="34" charset="-128"/>
          <a:ea typeface="Hiragino Sans W4" panose="020B0400000000000000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48396D-C709-8246-8286-094B8839C3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4C8C94E-7F42-E549-B498-1831334F57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/>
              <a:t>松下昌悟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39C715-D20B-D647-B48B-59A4FF41D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55CFD-0C13-B64F-8475-2B9C4937D230}" type="datetime1">
              <a:rPr kumimoji="1" lang="ja-JP" altLang="en-US" smtClean="0"/>
              <a:t>2020/6/7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C3DFF42-E302-8446-A693-A684C0738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B3A790D-E0F0-AA4D-9672-14F1BBCAA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7363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22F177-332F-5F41-A229-B64AAEC4D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BIG5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7CD37B2B-E32E-2D43-8143-0B7A29E79B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4898" y="1884383"/>
                <a:ext cx="8859709" cy="3949791"/>
              </a:xfrm>
            </p:spPr>
            <p:txBody>
              <a:bodyPr/>
              <a:lstStyle/>
              <a:p>
                <a:r>
                  <a:rPr lang="en-US" altLang="ja-JP" dirty="0"/>
                  <a:t>BIG5</a:t>
                </a:r>
                <a:r>
                  <a:rPr lang="ja-JP" altLang="en-US"/>
                  <a:t>は</a:t>
                </a:r>
                <a:r>
                  <a:rPr lang="en-US" altLang="ja-JP" dirty="0"/>
                  <a:t>Offer</a:t>
                </a:r>
                <a:r>
                  <a:rPr lang="ja-JP" altLang="en-US"/>
                  <a:t>とそれ以外の行動</a:t>
                </a:r>
                <a:br>
                  <a:rPr lang="en-US" altLang="ja-JP" dirty="0"/>
                </a:br>
                <a:r>
                  <a:rPr lang="ja-JP" altLang="en-US"/>
                  <a:t>どちらも考慮しようと思う</a:t>
                </a:r>
                <a:endParaRPr lang="en-US" altLang="ja-JP" dirty="0"/>
              </a:p>
              <a:p>
                <a:r>
                  <a:rPr lang="ja-JP" altLang="en-US"/>
                  <a:t>こっちの協調性は行動に対する</a:t>
                </a:r>
                <a:br>
                  <a:rPr lang="en-US" altLang="ja-JP" dirty="0"/>
                </a:br>
                <a:r>
                  <a:rPr lang="ja-JP" altLang="en-US"/>
                  <a:t>感受性を用いても面白そう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𝐵𝑒h𝑎𝑣𝑠𝑒𝑛𝑠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%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𝐹𝑜𝑟𝑡𝑢𝑛𝑎𝑡𝑒</m:t>
                              </m:r>
                            </m:sub>
                          </m:s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%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𝑁𝑖𝑐𝑒</m:t>
                              </m:r>
                            </m:sub>
                          </m:s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%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𝐶𝑜𝑛𝑐𝑒𝑠𝑠𝑖𝑜𝑛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%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𝑆𝑒𝑙𝑓𝑖𝑠h</m:t>
                              </m:r>
                            </m:sub>
                          </m:s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%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𝑈𝑛𝑓𝑜𝑟𝑡𝑢𝑛𝑎𝑡𝑒</m:t>
                              </m:r>
                            </m:sub>
                          </m:s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%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𝑆𝑖𝑙𝑒𝑛𝑡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ja-JP" dirty="0"/>
              </a:p>
              <a:p>
                <a:endParaRPr lang="en-US" altLang="ja-JP" dirty="0"/>
              </a:p>
              <a:p>
                <a:endParaRPr lang="en-US" altLang="ja-JP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7CD37B2B-E32E-2D43-8143-0B7A29E79B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4898" y="1884383"/>
                <a:ext cx="8859709" cy="3949791"/>
              </a:xfrm>
              <a:blipFill>
                <a:blip r:embed="rId2"/>
                <a:stretch>
                  <a:fillRect t="-224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EF7AA8-53FB-7E4A-A9B0-6DF5A6524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1971C-747C-6D4C-9C5C-692C46840815}" type="datetime1">
              <a:rPr kumimoji="1" lang="ja-JP" altLang="en-US" smtClean="0"/>
              <a:t>2020/6/7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DCEAA7-DB51-9D4A-A5D9-EA182BCDE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FF0470-4ED4-8840-B291-82487CD4C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E658A242-3CAD-F343-813E-CAC67C2504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1</a:t>
            </a:r>
            <a:endParaRPr kumimoji="1" lang="ja-JP" altLang="en-US"/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813CA7AA-D605-594B-ADF0-6CF8BCF67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9056" y="1052532"/>
            <a:ext cx="3673279" cy="2316536"/>
          </a:xfrm>
          <a:prstGeom prst="rect">
            <a:avLst/>
          </a:prstGeom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9D0AA023-77FD-8E45-A2FE-9E13FDF597F6}"/>
              </a:ext>
            </a:extLst>
          </p:cNvPr>
          <p:cNvGrpSpPr/>
          <p:nvPr/>
        </p:nvGrpSpPr>
        <p:grpSpPr>
          <a:xfrm>
            <a:off x="163626" y="1160115"/>
            <a:ext cx="2753194" cy="680876"/>
            <a:chOff x="163626" y="1160115"/>
            <a:chExt cx="2753194" cy="680876"/>
          </a:xfrm>
        </p:grpSpPr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53032A18-BA45-7B4C-A12B-71F28C34CB5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3626" y="1699846"/>
              <a:ext cx="2753194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6EA7F5F3-06B2-DF42-86C2-191A3B5C05B1}"/>
                </a:ext>
              </a:extLst>
            </p:cNvPr>
            <p:cNvSpPr/>
            <p:nvPr userDrawn="1"/>
          </p:nvSpPr>
          <p:spPr>
            <a:xfrm>
              <a:off x="281354" y="1160115"/>
              <a:ext cx="117231" cy="68087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4" name="テキスト プレースホルダー 12">
            <a:extLst>
              <a:ext uri="{FF2B5EF4-FFF2-40B4-BE49-F238E27FC236}">
                <a16:creationId xmlns:a16="http://schemas.microsoft.com/office/drawing/2014/main" id="{7B0D261D-000C-D849-BECE-7D4525F2E1AA}"/>
              </a:ext>
            </a:extLst>
          </p:cNvPr>
          <p:cNvSpPr txBox="1">
            <a:spLocks/>
          </p:cNvSpPr>
          <p:nvPr/>
        </p:nvSpPr>
        <p:spPr>
          <a:xfrm>
            <a:off x="404691" y="1192726"/>
            <a:ext cx="8147050" cy="68087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Tx/>
              <a:buNone/>
              <a:tabLst/>
              <a:defRPr kumimoji="1" sz="32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1pPr>
            <a:lvl2pPr marL="722313" indent="-2651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4"/>
              </a:buBlip>
              <a:tabLst/>
              <a:defRPr kumimoji="1" sz="24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2pPr>
            <a:lvl3pPr marL="1246188" indent="-3317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5"/>
              </a:buBlip>
              <a:tabLst/>
              <a:defRPr kumimoji="1" sz="20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各尺度の計算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表 24">
                <a:extLst>
                  <a:ext uri="{FF2B5EF4-FFF2-40B4-BE49-F238E27FC236}">
                    <a16:creationId xmlns:a16="http://schemas.microsoft.com/office/drawing/2014/main" id="{1AD62150-4DF1-334A-A918-2D74DD1323E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103298" y="4472465"/>
              <a:ext cx="4932000" cy="20880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88000">
                      <a:extLst>
                        <a:ext uri="{9D8B030D-6E8A-4147-A177-3AD203B41FA5}">
                          <a16:colId xmlns:a16="http://schemas.microsoft.com/office/drawing/2014/main" val="3127193385"/>
                        </a:ext>
                      </a:extLst>
                    </a:gridCol>
                    <a:gridCol w="1872000">
                      <a:extLst>
                        <a:ext uri="{9D8B030D-6E8A-4147-A177-3AD203B41FA5}">
                          <a16:colId xmlns:a16="http://schemas.microsoft.com/office/drawing/2014/main" val="3037334881"/>
                        </a:ext>
                      </a:extLst>
                    </a:gridCol>
                    <a:gridCol w="1872000">
                      <a:extLst>
                        <a:ext uri="{9D8B030D-6E8A-4147-A177-3AD203B41FA5}">
                          <a16:colId xmlns:a16="http://schemas.microsoft.com/office/drawing/2014/main" val="1646647457"/>
                        </a:ext>
                      </a:extLst>
                    </a:gridCol>
                  </a:tblGrid>
                  <a:tr h="298286">
                    <a:tc>
                      <a:txBody>
                        <a:bodyPr/>
                        <a:lstStyle/>
                        <a:p>
                          <a:endParaRPr kumimoji="1" lang="ja-JP" altLang="en-US" sz="12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75570" marR="7557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1200" dirty="0">
                              <a:solidFill>
                                <a:schemeClr val="bg1"/>
                              </a:solidFill>
                            </a:rPr>
                            <a:t>Self Difference</a:t>
                          </a:r>
                          <a:endParaRPr kumimoji="1" lang="ja-JP" altLang="en-US" sz="12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75570" marR="7557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1200" dirty="0">
                              <a:solidFill>
                                <a:schemeClr val="bg1"/>
                              </a:solidFill>
                            </a:rPr>
                            <a:t>Opponent Difference</a:t>
                          </a:r>
                          <a:endParaRPr kumimoji="1" lang="ja-JP" altLang="en-US" sz="12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75570" marR="75570"/>
                    </a:tc>
                    <a:extLst>
                      <a:ext uri="{0D108BD9-81ED-4DB2-BD59-A6C34878D82A}">
                        <a16:rowId xmlns:a16="http://schemas.microsoft.com/office/drawing/2014/main" val="1106798283"/>
                      </a:ext>
                    </a:extLst>
                  </a:tr>
                  <a:tr h="298286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1200" dirty="0">
                              <a:solidFill>
                                <a:schemeClr val="tx1"/>
                              </a:solidFill>
                            </a:rPr>
                            <a:t>Silent</a:t>
                          </a:r>
                          <a:endParaRPr kumimoji="1" lang="ja-JP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5570" marR="7557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kumimoji="1" lang="en-US" altLang="ja-JP" sz="1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kumimoji="1" lang="en-US" altLang="ja-JP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kumimoji="1" lang="en-US" altLang="ja-JP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sub>
                                </m:sSub>
                                <m:r>
                                  <a:rPr kumimoji="1" lang="en-US" altLang="ja-JP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kumimoji="1" lang="ja-JP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5570" marR="7557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kumimoji="1" lang="en-US" altLang="ja-JP" sz="1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kumimoji="1" lang="en-US" altLang="ja-JP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kumimoji="1" lang="en-US" altLang="ja-JP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sub>
                                </m:sSub>
                                <m:r>
                                  <a:rPr kumimoji="1" lang="en-US" altLang="ja-JP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kumimoji="1" lang="ja-JP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5570" marR="75570"/>
                    </a:tc>
                    <a:extLst>
                      <a:ext uri="{0D108BD9-81ED-4DB2-BD59-A6C34878D82A}">
                        <a16:rowId xmlns:a16="http://schemas.microsoft.com/office/drawing/2014/main" val="575256707"/>
                      </a:ext>
                    </a:extLst>
                  </a:tr>
                  <a:tr h="298286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1200" dirty="0">
                              <a:solidFill>
                                <a:schemeClr val="tx1"/>
                              </a:solidFill>
                            </a:rPr>
                            <a:t>Nice</a:t>
                          </a:r>
                          <a:endParaRPr kumimoji="1" lang="ja-JP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5570" marR="7557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kumimoji="1" lang="en-US" altLang="ja-JP" sz="1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kumimoji="1" lang="en-US" altLang="ja-JP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kumimoji="1" lang="en-US" altLang="ja-JP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sub>
                                </m:sSub>
                                <m:r>
                                  <a:rPr kumimoji="1" lang="en-US" altLang="ja-JP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kumimoji="1" lang="ja-JP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5570" marR="7557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kumimoji="1" lang="en-US" altLang="ja-JP" sz="1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kumimoji="1" lang="en-US" altLang="ja-JP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kumimoji="1" lang="en-US" altLang="ja-JP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sub>
                                </m:sSub>
                                <m:r>
                                  <a:rPr kumimoji="1" lang="en-US" altLang="ja-JP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oMath>
                            </m:oMathPara>
                          </a14:m>
                          <a:endParaRPr kumimoji="1" lang="ja-JP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5570" marR="75570"/>
                    </a:tc>
                    <a:extLst>
                      <a:ext uri="{0D108BD9-81ED-4DB2-BD59-A6C34878D82A}">
                        <a16:rowId xmlns:a16="http://schemas.microsoft.com/office/drawing/2014/main" val="1183317016"/>
                      </a:ext>
                    </a:extLst>
                  </a:tr>
                  <a:tr h="298286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1200" dirty="0">
                              <a:solidFill>
                                <a:schemeClr val="tx1"/>
                              </a:solidFill>
                            </a:rPr>
                            <a:t>Fortunate</a:t>
                          </a:r>
                          <a:endParaRPr kumimoji="1" lang="ja-JP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5570" marR="7557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kumimoji="1" lang="en-US" altLang="ja-JP" sz="1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kumimoji="1" lang="en-US" altLang="ja-JP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kumimoji="1" lang="en-US" altLang="ja-JP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sub>
                                </m:sSub>
                                <m:r>
                                  <a:rPr kumimoji="1" lang="en-US" altLang="ja-JP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oMath>
                            </m:oMathPara>
                          </a14:m>
                          <a:endParaRPr kumimoji="1" lang="ja-JP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5570" marR="7557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kumimoji="1" lang="en-US" altLang="ja-JP" sz="1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kumimoji="1" lang="en-US" altLang="ja-JP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kumimoji="1" lang="en-US" altLang="ja-JP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sub>
                                </m:sSub>
                                <m:r>
                                  <a:rPr kumimoji="1" lang="en-US" altLang="ja-JP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oMath>
                            </m:oMathPara>
                          </a14:m>
                          <a:endParaRPr kumimoji="1" lang="ja-JP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5570" marR="75570"/>
                    </a:tc>
                    <a:extLst>
                      <a:ext uri="{0D108BD9-81ED-4DB2-BD59-A6C34878D82A}">
                        <a16:rowId xmlns:a16="http://schemas.microsoft.com/office/drawing/2014/main" val="895325157"/>
                      </a:ext>
                    </a:extLst>
                  </a:tr>
                  <a:tr h="298286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1200" dirty="0">
                              <a:solidFill>
                                <a:schemeClr val="tx1"/>
                              </a:solidFill>
                            </a:rPr>
                            <a:t>Selfish</a:t>
                          </a:r>
                          <a:endParaRPr kumimoji="1" lang="ja-JP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5570" marR="7557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kumimoji="1" lang="en-US" altLang="ja-JP" sz="1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kumimoji="1" lang="en-US" altLang="ja-JP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kumimoji="1" lang="en-US" altLang="ja-JP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sub>
                                </m:sSub>
                                <m:r>
                                  <a:rPr kumimoji="1" lang="en-US" altLang="ja-JP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oMath>
                            </m:oMathPara>
                          </a14:m>
                          <a:endParaRPr kumimoji="1" lang="ja-JP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5570" marR="7557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kumimoji="1" lang="en-US" altLang="ja-JP" sz="1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kumimoji="1" lang="en-US" altLang="ja-JP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kumimoji="1" lang="en-US" altLang="ja-JP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sub>
                                </m:sSub>
                                <m:r>
                                  <a:rPr kumimoji="1" lang="en-US" altLang="ja-JP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&lt;0</m:t>
                                </m:r>
                              </m:oMath>
                            </m:oMathPara>
                          </a14:m>
                          <a:endParaRPr kumimoji="1" lang="ja-JP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5570" marR="75570"/>
                    </a:tc>
                    <a:extLst>
                      <a:ext uri="{0D108BD9-81ED-4DB2-BD59-A6C34878D82A}">
                        <a16:rowId xmlns:a16="http://schemas.microsoft.com/office/drawing/2014/main" val="2591775076"/>
                      </a:ext>
                    </a:extLst>
                  </a:tr>
                  <a:tr h="298286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1200" dirty="0">
                              <a:solidFill>
                                <a:schemeClr val="tx1"/>
                              </a:solidFill>
                            </a:rPr>
                            <a:t>Concession</a:t>
                          </a:r>
                          <a:endParaRPr kumimoji="1" lang="ja-JP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5570" marR="7557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kumimoji="1" lang="en-US" altLang="ja-JP" sz="1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kumimoji="1" lang="en-US" altLang="ja-JP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kumimoji="1" lang="en-US" altLang="ja-JP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sub>
                                </m:sSub>
                                <m:r>
                                  <a:rPr kumimoji="1" lang="en-US" altLang="ja-JP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&lt;0</m:t>
                                </m:r>
                              </m:oMath>
                            </m:oMathPara>
                          </a14:m>
                          <a:endParaRPr kumimoji="1" lang="ja-JP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5570" marR="7557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kumimoji="1" lang="en-US" altLang="ja-JP" sz="1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kumimoji="1" lang="en-US" altLang="ja-JP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kumimoji="1" lang="en-US" altLang="ja-JP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sub>
                                </m:sSub>
                                <m:r>
                                  <a:rPr kumimoji="1" lang="en-US" altLang="ja-JP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oMath>
                            </m:oMathPara>
                          </a14:m>
                          <a:endParaRPr kumimoji="1" lang="ja-JP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5570" marR="75570"/>
                    </a:tc>
                    <a:extLst>
                      <a:ext uri="{0D108BD9-81ED-4DB2-BD59-A6C34878D82A}">
                        <a16:rowId xmlns:a16="http://schemas.microsoft.com/office/drawing/2014/main" val="2841830330"/>
                      </a:ext>
                    </a:extLst>
                  </a:tr>
                  <a:tr h="298286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1200" dirty="0">
                              <a:solidFill>
                                <a:schemeClr val="tx1"/>
                              </a:solidFill>
                            </a:rPr>
                            <a:t>Unfortunate</a:t>
                          </a:r>
                          <a:endParaRPr kumimoji="1" lang="ja-JP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5570" marR="7557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kumimoji="1" lang="en-US" altLang="ja-JP" sz="1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kumimoji="1" lang="en-US" altLang="ja-JP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kumimoji="1" lang="en-US" altLang="ja-JP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sub>
                                </m:sSub>
                                <m:r>
                                  <a:rPr kumimoji="1" lang="en-US" altLang="ja-JP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&lt;0</m:t>
                                </m:r>
                              </m:oMath>
                            </m:oMathPara>
                          </a14:m>
                          <a:endParaRPr kumimoji="1" lang="ja-JP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5570" marR="7557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kumimoji="1" lang="en-US" altLang="ja-JP" sz="1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kumimoji="1" lang="en-US" altLang="ja-JP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kumimoji="1" lang="en-US" altLang="ja-JP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sub>
                                </m:sSub>
                                <m:r>
                                  <a:rPr kumimoji="1" lang="en-US" altLang="ja-JP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&lt;0</m:t>
                                </m:r>
                              </m:oMath>
                            </m:oMathPara>
                          </a14:m>
                          <a:endParaRPr kumimoji="1" lang="ja-JP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5570" marR="75570"/>
                    </a:tc>
                    <a:extLst>
                      <a:ext uri="{0D108BD9-81ED-4DB2-BD59-A6C34878D82A}">
                        <a16:rowId xmlns:a16="http://schemas.microsoft.com/office/drawing/2014/main" val="26856325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表 24">
                <a:extLst>
                  <a:ext uri="{FF2B5EF4-FFF2-40B4-BE49-F238E27FC236}">
                    <a16:creationId xmlns:a16="http://schemas.microsoft.com/office/drawing/2014/main" id="{1AD62150-4DF1-334A-A918-2D74DD1323E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103298" y="4472465"/>
              <a:ext cx="4932000" cy="20880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88000">
                      <a:extLst>
                        <a:ext uri="{9D8B030D-6E8A-4147-A177-3AD203B41FA5}">
                          <a16:colId xmlns:a16="http://schemas.microsoft.com/office/drawing/2014/main" val="3127193385"/>
                        </a:ext>
                      </a:extLst>
                    </a:gridCol>
                    <a:gridCol w="1872000">
                      <a:extLst>
                        <a:ext uri="{9D8B030D-6E8A-4147-A177-3AD203B41FA5}">
                          <a16:colId xmlns:a16="http://schemas.microsoft.com/office/drawing/2014/main" val="3037334881"/>
                        </a:ext>
                      </a:extLst>
                    </a:gridCol>
                    <a:gridCol w="1872000">
                      <a:extLst>
                        <a:ext uri="{9D8B030D-6E8A-4147-A177-3AD203B41FA5}">
                          <a16:colId xmlns:a16="http://schemas.microsoft.com/office/drawing/2014/main" val="1646647457"/>
                        </a:ext>
                      </a:extLst>
                    </a:gridCol>
                  </a:tblGrid>
                  <a:tr h="298286">
                    <a:tc>
                      <a:txBody>
                        <a:bodyPr/>
                        <a:lstStyle/>
                        <a:p>
                          <a:endParaRPr kumimoji="1" lang="ja-JP" altLang="en-US" sz="12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75570" marR="7557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1200" dirty="0">
                              <a:solidFill>
                                <a:schemeClr val="bg1"/>
                              </a:solidFill>
                            </a:rPr>
                            <a:t>Self Difference</a:t>
                          </a:r>
                          <a:endParaRPr kumimoji="1" lang="ja-JP" altLang="en-US" sz="12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75570" marR="7557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1200" dirty="0">
                              <a:solidFill>
                                <a:schemeClr val="bg1"/>
                              </a:solidFill>
                            </a:rPr>
                            <a:t>Opponent Difference</a:t>
                          </a:r>
                          <a:endParaRPr kumimoji="1" lang="ja-JP" altLang="en-US" sz="12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75570" marR="75570"/>
                    </a:tc>
                    <a:extLst>
                      <a:ext uri="{0D108BD9-81ED-4DB2-BD59-A6C34878D82A}">
                        <a16:rowId xmlns:a16="http://schemas.microsoft.com/office/drawing/2014/main" val="1106798283"/>
                      </a:ext>
                    </a:extLst>
                  </a:tr>
                  <a:tr h="298286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1200" dirty="0">
                              <a:solidFill>
                                <a:schemeClr val="tx1"/>
                              </a:solidFill>
                            </a:rPr>
                            <a:t>Silent</a:t>
                          </a:r>
                          <a:endParaRPr kumimoji="1" lang="ja-JP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5570" marR="75570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75570" marR="75570">
                        <a:blipFill>
                          <a:blip r:embed="rId6"/>
                          <a:stretch>
                            <a:fillRect l="-64626" t="-108696" r="-102041" b="-517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75570" marR="75570">
                        <a:blipFill>
                          <a:blip r:embed="rId6"/>
                          <a:stretch>
                            <a:fillRect l="-163514" t="-108696" r="-1351" b="-5173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5256707"/>
                      </a:ext>
                    </a:extLst>
                  </a:tr>
                  <a:tr h="298286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1200" dirty="0">
                              <a:solidFill>
                                <a:schemeClr val="tx1"/>
                              </a:solidFill>
                            </a:rPr>
                            <a:t>Nice</a:t>
                          </a:r>
                          <a:endParaRPr kumimoji="1" lang="ja-JP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5570" marR="75570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75570" marR="75570">
                        <a:blipFill>
                          <a:blip r:embed="rId6"/>
                          <a:stretch>
                            <a:fillRect l="-64626" t="-200000" r="-102041" b="-39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75570" marR="75570">
                        <a:blipFill>
                          <a:blip r:embed="rId6"/>
                          <a:stretch>
                            <a:fillRect l="-163514" t="-200000" r="-1351" b="-3958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3317016"/>
                      </a:ext>
                    </a:extLst>
                  </a:tr>
                  <a:tr h="298286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1200" dirty="0">
                              <a:solidFill>
                                <a:schemeClr val="tx1"/>
                              </a:solidFill>
                            </a:rPr>
                            <a:t>Fortunate</a:t>
                          </a:r>
                          <a:endParaRPr kumimoji="1" lang="ja-JP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5570" marR="75570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75570" marR="75570">
                        <a:blipFill>
                          <a:blip r:embed="rId6"/>
                          <a:stretch>
                            <a:fillRect l="-64626" t="-313043" r="-102041" b="-3130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75570" marR="75570">
                        <a:blipFill>
                          <a:blip r:embed="rId6"/>
                          <a:stretch>
                            <a:fillRect l="-163514" t="-313043" r="-1351" b="-3130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95325157"/>
                      </a:ext>
                    </a:extLst>
                  </a:tr>
                  <a:tr h="298286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1200" dirty="0">
                              <a:solidFill>
                                <a:schemeClr val="tx1"/>
                              </a:solidFill>
                            </a:rPr>
                            <a:t>Selfish</a:t>
                          </a:r>
                          <a:endParaRPr kumimoji="1" lang="ja-JP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5570" marR="75570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75570" marR="75570">
                        <a:blipFill>
                          <a:blip r:embed="rId6"/>
                          <a:stretch>
                            <a:fillRect l="-64626" t="-395833" r="-10204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75570" marR="75570">
                        <a:blipFill>
                          <a:blip r:embed="rId6"/>
                          <a:stretch>
                            <a:fillRect l="-163514" t="-395833" r="-1351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1775076"/>
                      </a:ext>
                    </a:extLst>
                  </a:tr>
                  <a:tr h="298286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1200" dirty="0">
                              <a:solidFill>
                                <a:schemeClr val="tx1"/>
                              </a:solidFill>
                            </a:rPr>
                            <a:t>Concession</a:t>
                          </a:r>
                          <a:endParaRPr kumimoji="1" lang="ja-JP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5570" marR="75570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75570" marR="75570">
                        <a:blipFill>
                          <a:blip r:embed="rId6"/>
                          <a:stretch>
                            <a:fillRect l="-64626" t="-517391" r="-102041" b="-1086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75570" marR="75570">
                        <a:blipFill>
                          <a:blip r:embed="rId6"/>
                          <a:stretch>
                            <a:fillRect l="-163514" t="-517391" r="-1351" b="-1086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1830330"/>
                      </a:ext>
                    </a:extLst>
                  </a:tr>
                  <a:tr h="298286">
                    <a:tc>
                      <a:txBody>
                        <a:bodyPr/>
                        <a:lstStyle/>
                        <a:p>
                          <a:r>
                            <a:rPr kumimoji="1" lang="en-US" altLang="ja-JP" sz="1200" dirty="0">
                              <a:solidFill>
                                <a:schemeClr val="tx1"/>
                              </a:solidFill>
                            </a:rPr>
                            <a:t>Unfortunate</a:t>
                          </a:r>
                          <a:endParaRPr kumimoji="1" lang="ja-JP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5570" marR="75570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75570" marR="75570">
                        <a:blipFill>
                          <a:blip r:embed="rId6"/>
                          <a:stretch>
                            <a:fillRect l="-64626" t="-591667" r="-102041" b="-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75570" marR="75570">
                        <a:blipFill>
                          <a:blip r:embed="rId6"/>
                          <a:stretch>
                            <a:fillRect l="-163514" t="-591667" r="-1351" b="-4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56325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79730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22F177-332F-5F41-A229-B64AAEC4D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研究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CD37B2B-E32E-2D43-8143-0B7A29E79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98" y="1884383"/>
            <a:ext cx="8859709" cy="3947779"/>
          </a:xfrm>
        </p:spPr>
        <p:txBody>
          <a:bodyPr/>
          <a:lstStyle/>
          <a:p>
            <a:r>
              <a:rPr lang="ja-JP" altLang="en-US"/>
              <a:t>神経症的傾向</a:t>
            </a:r>
            <a:endParaRPr lang="en-US" altLang="ja-JP" dirty="0"/>
          </a:p>
          <a:p>
            <a:pPr lvl="1"/>
            <a:r>
              <a:rPr lang="ja-JP" altLang="en-US"/>
              <a:t>ストレス耐性の高さ</a:t>
            </a:r>
          </a:p>
          <a:p>
            <a:r>
              <a:rPr lang="ja-JP" altLang="en-US"/>
              <a:t>外向性</a:t>
            </a:r>
            <a:endParaRPr lang="en-US" altLang="ja-JP" dirty="0"/>
          </a:p>
          <a:p>
            <a:pPr lvl="1"/>
            <a:r>
              <a:rPr lang="ja-JP" altLang="en-US"/>
              <a:t>社交性，積極性の高さ</a:t>
            </a:r>
          </a:p>
          <a:p>
            <a:r>
              <a:rPr lang="ja-JP" altLang="en-US"/>
              <a:t>経験への開放性</a:t>
            </a:r>
            <a:endParaRPr lang="en-US" altLang="ja-JP" dirty="0"/>
          </a:p>
          <a:p>
            <a:pPr lvl="1"/>
            <a:r>
              <a:rPr lang="ja-JP" altLang="en-US"/>
              <a:t>知的好奇心の強さ</a:t>
            </a:r>
          </a:p>
          <a:p>
            <a:r>
              <a:rPr lang="ja-JP" altLang="en-US"/>
              <a:t>誠実性</a:t>
            </a:r>
            <a:endParaRPr lang="en-US" altLang="ja-JP" dirty="0"/>
          </a:p>
          <a:p>
            <a:pPr lvl="1"/>
            <a:r>
              <a:rPr lang="ja-JP" altLang="en-US"/>
              <a:t>計画性の高さ・真面目さ</a:t>
            </a:r>
          </a:p>
          <a:p>
            <a:endParaRPr lang="ja-JP" altLang="en-US"/>
          </a:p>
          <a:p>
            <a:endParaRPr lang="ja-JP" altLang="en-US"/>
          </a:p>
          <a:p>
            <a:endParaRPr lang="en-US" altLang="ja-JP" dirty="0"/>
          </a:p>
          <a:p>
            <a:endParaRPr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EF7AA8-53FB-7E4A-A9B0-6DF5A6524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1971C-747C-6D4C-9C5C-692C46840815}" type="datetime1">
              <a:rPr kumimoji="1" lang="ja-JP" altLang="en-US" smtClean="0"/>
              <a:t>2020/6/7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DCEAA7-DB51-9D4A-A5D9-EA182BCDE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FF0470-4ED4-8840-B291-82487CD4C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3</a:t>
            </a:fld>
            <a:endParaRPr kumimoji="1"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E658A242-3CAD-F343-813E-CAC67C2504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1</a:t>
            </a:r>
            <a:endParaRPr kumimoji="1" lang="ja-JP" altLang="en-US"/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813CA7AA-D605-594B-ADF0-6CF8BCF67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056" y="1052532"/>
            <a:ext cx="3673279" cy="2316536"/>
          </a:xfrm>
          <a:prstGeom prst="rect">
            <a:avLst/>
          </a:prstGeom>
        </p:spPr>
      </p:pic>
      <p:sp>
        <p:nvSpPr>
          <p:cNvPr id="18" name="テキスト プレースホルダー 12">
            <a:extLst>
              <a:ext uri="{FF2B5EF4-FFF2-40B4-BE49-F238E27FC236}">
                <a16:creationId xmlns:a16="http://schemas.microsoft.com/office/drawing/2014/main" id="{B1673F2D-B405-CB4D-8F59-80842B8ACB15}"/>
              </a:ext>
            </a:extLst>
          </p:cNvPr>
          <p:cNvSpPr txBox="1">
            <a:spLocks/>
          </p:cNvSpPr>
          <p:nvPr/>
        </p:nvSpPr>
        <p:spPr>
          <a:xfrm>
            <a:off x="404691" y="2876210"/>
            <a:ext cx="8147050" cy="68087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Tx/>
              <a:buNone/>
              <a:tabLst/>
              <a:defRPr kumimoji="1" sz="32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1pPr>
            <a:lvl2pPr marL="722313" indent="-2651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3"/>
              </a:buBlip>
              <a:tabLst/>
              <a:defRPr kumimoji="1" sz="24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2pPr>
            <a:lvl3pPr marL="1246188" indent="-3317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4"/>
              </a:buBlip>
              <a:tabLst/>
              <a:defRPr kumimoji="1" sz="20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/>
          </a:p>
        </p:txBody>
      </p:sp>
      <p:sp>
        <p:nvSpPr>
          <p:cNvPr id="32" name="角丸四角形吹き出し 31">
            <a:extLst>
              <a:ext uri="{FF2B5EF4-FFF2-40B4-BE49-F238E27FC236}">
                <a16:creationId xmlns:a16="http://schemas.microsoft.com/office/drawing/2014/main" id="{F27DA7FE-B30A-5944-8380-F455330215A8}"/>
              </a:ext>
            </a:extLst>
          </p:cNvPr>
          <p:cNvSpPr/>
          <p:nvPr/>
        </p:nvSpPr>
        <p:spPr>
          <a:xfrm>
            <a:off x="1542599" y="5394770"/>
            <a:ext cx="4572451" cy="896345"/>
          </a:xfrm>
          <a:prstGeom prst="wedgeRoundRectCallout">
            <a:avLst>
              <a:gd name="adj1" fmla="val -55108"/>
              <a:gd name="adj2" fmla="val -39015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dirty="0">
                <a:solidFill>
                  <a:schemeClr val="bg2"/>
                </a:solidFill>
              </a:rPr>
              <a:t>bid</a:t>
            </a:r>
            <a:r>
              <a:rPr kumimoji="1" lang="ja-JP" altLang="en-US">
                <a:solidFill>
                  <a:schemeClr val="bg2"/>
                </a:solidFill>
              </a:rPr>
              <a:t>の分散</a:t>
            </a:r>
            <a:r>
              <a:rPr kumimoji="1" lang="en-US" altLang="ja-JP" dirty="0">
                <a:solidFill>
                  <a:schemeClr val="bg2"/>
                </a:solidFill>
              </a:rPr>
              <a:t>(</a:t>
            </a:r>
            <a:r>
              <a:rPr kumimoji="1" lang="ja-JP" altLang="en-US">
                <a:solidFill>
                  <a:schemeClr val="bg2"/>
                </a:solidFill>
              </a:rPr>
              <a:t>計画性の高さ</a:t>
            </a:r>
            <a:r>
              <a:rPr kumimoji="1" lang="en-US" altLang="ja-JP" dirty="0">
                <a:solidFill>
                  <a:schemeClr val="bg2"/>
                </a:solidFill>
              </a:rPr>
              <a:t>)</a:t>
            </a:r>
          </a:p>
          <a:p>
            <a:r>
              <a:rPr kumimoji="1" lang="en-US" altLang="ja-JP" dirty="0">
                <a:solidFill>
                  <a:schemeClr val="bg2"/>
                </a:solidFill>
              </a:rPr>
              <a:t>- </a:t>
            </a:r>
            <a:r>
              <a:rPr kumimoji="1" lang="ja-JP" altLang="en-US">
                <a:solidFill>
                  <a:schemeClr val="bg2"/>
                </a:solidFill>
              </a:rPr>
              <a:t>選好に関して嘘をついた回数</a:t>
            </a:r>
            <a:r>
              <a:rPr kumimoji="1" lang="en-US" altLang="ja-JP" dirty="0">
                <a:solidFill>
                  <a:schemeClr val="bg2"/>
                </a:solidFill>
              </a:rPr>
              <a:t>(</a:t>
            </a:r>
            <a:r>
              <a:rPr kumimoji="1" lang="ja-JP" altLang="en-US">
                <a:solidFill>
                  <a:schemeClr val="bg2"/>
                </a:solidFill>
              </a:rPr>
              <a:t>真面目さ</a:t>
            </a:r>
            <a:r>
              <a:rPr kumimoji="1" lang="en-US" altLang="ja-JP" dirty="0">
                <a:solidFill>
                  <a:schemeClr val="bg2"/>
                </a:solidFill>
              </a:rPr>
              <a:t>)</a:t>
            </a:r>
            <a:endParaRPr kumimoji="1" lang="ja-JP" altLang="en-US">
              <a:solidFill>
                <a:schemeClr val="bg2"/>
              </a:solidFill>
            </a:endParaRPr>
          </a:p>
        </p:txBody>
      </p:sp>
      <p:sp>
        <p:nvSpPr>
          <p:cNvPr id="33" name="角丸四角形吹き出し 32">
            <a:extLst>
              <a:ext uri="{FF2B5EF4-FFF2-40B4-BE49-F238E27FC236}">
                <a16:creationId xmlns:a16="http://schemas.microsoft.com/office/drawing/2014/main" id="{ED39F5FF-EC58-6E4E-84CB-97EC3A835CDA}"/>
              </a:ext>
            </a:extLst>
          </p:cNvPr>
          <p:cNvSpPr/>
          <p:nvPr/>
        </p:nvSpPr>
        <p:spPr>
          <a:xfrm>
            <a:off x="4202611" y="3000841"/>
            <a:ext cx="2592890" cy="740781"/>
          </a:xfrm>
          <a:prstGeom prst="wedgeRoundRectCallout">
            <a:avLst>
              <a:gd name="adj1" fmla="val -56681"/>
              <a:gd name="adj2" fmla="val 12445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>
                <a:solidFill>
                  <a:schemeClr val="bg2"/>
                </a:solidFill>
              </a:rPr>
              <a:t>行動の頻度</a:t>
            </a:r>
            <a:r>
              <a:rPr kumimoji="1" lang="en-US" altLang="ja-JP" dirty="0">
                <a:solidFill>
                  <a:schemeClr val="bg2"/>
                </a:solidFill>
              </a:rPr>
              <a:t>(</a:t>
            </a:r>
            <a:r>
              <a:rPr kumimoji="1" lang="ja-JP" altLang="en-US">
                <a:solidFill>
                  <a:schemeClr val="bg2"/>
                </a:solidFill>
              </a:rPr>
              <a:t>社交性</a:t>
            </a:r>
            <a:r>
              <a:rPr kumimoji="1" lang="en-US" altLang="ja-JP" dirty="0">
                <a:solidFill>
                  <a:schemeClr val="bg2"/>
                </a:solidFill>
              </a:rPr>
              <a:t>)</a:t>
            </a:r>
            <a:br>
              <a:rPr kumimoji="1" lang="en-US" altLang="ja-JP" dirty="0">
                <a:solidFill>
                  <a:schemeClr val="bg2"/>
                </a:solidFill>
              </a:rPr>
            </a:br>
            <a:r>
              <a:rPr kumimoji="1" lang="en-US" altLang="ja-JP" dirty="0">
                <a:solidFill>
                  <a:schemeClr val="bg2"/>
                </a:solidFill>
              </a:rPr>
              <a:t>+Selfish</a:t>
            </a:r>
            <a:r>
              <a:rPr kumimoji="1" lang="ja-JP" altLang="en-US">
                <a:solidFill>
                  <a:schemeClr val="bg2"/>
                </a:solidFill>
              </a:rPr>
              <a:t>の値</a:t>
            </a:r>
            <a:r>
              <a:rPr kumimoji="1" lang="en-US" altLang="ja-JP" dirty="0">
                <a:solidFill>
                  <a:schemeClr val="bg2"/>
                </a:solidFill>
              </a:rPr>
              <a:t>(</a:t>
            </a:r>
            <a:r>
              <a:rPr kumimoji="1" lang="ja-JP" altLang="en-US">
                <a:solidFill>
                  <a:schemeClr val="bg2"/>
                </a:solidFill>
              </a:rPr>
              <a:t>積極性</a:t>
            </a:r>
            <a:r>
              <a:rPr kumimoji="1" lang="en-US" altLang="ja-JP" dirty="0">
                <a:solidFill>
                  <a:schemeClr val="bg2"/>
                </a:solidFill>
              </a:rPr>
              <a:t>)</a:t>
            </a:r>
            <a:endParaRPr kumimoji="1" lang="ja-JP" altLang="en-US">
              <a:solidFill>
                <a:schemeClr val="bg2"/>
              </a:solidFill>
            </a:endParaRPr>
          </a:p>
        </p:txBody>
      </p:sp>
      <p:sp>
        <p:nvSpPr>
          <p:cNvPr id="34" name="角丸四角形吹き出し 33">
            <a:extLst>
              <a:ext uri="{FF2B5EF4-FFF2-40B4-BE49-F238E27FC236}">
                <a16:creationId xmlns:a16="http://schemas.microsoft.com/office/drawing/2014/main" id="{8DE2AEC0-38A1-2148-9CF5-A38F7A433182}"/>
              </a:ext>
            </a:extLst>
          </p:cNvPr>
          <p:cNvSpPr/>
          <p:nvPr/>
        </p:nvSpPr>
        <p:spPr>
          <a:xfrm>
            <a:off x="3980454" y="1997304"/>
            <a:ext cx="3508365" cy="740781"/>
          </a:xfrm>
          <a:prstGeom prst="wedgeRoundRectCallout">
            <a:avLst>
              <a:gd name="adj1" fmla="val -56111"/>
              <a:gd name="adj2" fmla="val 20257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>
                <a:solidFill>
                  <a:schemeClr val="bg2"/>
                </a:solidFill>
              </a:rPr>
              <a:t>行動</a:t>
            </a:r>
            <a:r>
              <a:rPr kumimoji="1" lang="en-US" altLang="ja-JP" dirty="0">
                <a:solidFill>
                  <a:schemeClr val="bg2"/>
                </a:solidFill>
              </a:rPr>
              <a:t>(</a:t>
            </a:r>
            <a:r>
              <a:rPr kumimoji="1" lang="ja-JP" altLang="en-US">
                <a:solidFill>
                  <a:schemeClr val="bg2"/>
                </a:solidFill>
              </a:rPr>
              <a:t>主に感情</a:t>
            </a:r>
            <a:r>
              <a:rPr kumimoji="1" lang="en-US" altLang="ja-JP" dirty="0">
                <a:solidFill>
                  <a:schemeClr val="bg2"/>
                </a:solidFill>
              </a:rPr>
              <a:t>)</a:t>
            </a:r>
            <a:r>
              <a:rPr kumimoji="1" lang="ja-JP" altLang="en-US">
                <a:solidFill>
                  <a:schemeClr val="bg2"/>
                </a:solidFill>
              </a:rPr>
              <a:t>の分散の逆数</a:t>
            </a:r>
            <a:br>
              <a:rPr kumimoji="1" lang="en-US" altLang="ja-JP" dirty="0">
                <a:solidFill>
                  <a:schemeClr val="bg2"/>
                </a:solidFill>
              </a:rPr>
            </a:br>
            <a:r>
              <a:rPr kumimoji="1" lang="en-US" altLang="ja-JP" dirty="0">
                <a:solidFill>
                  <a:schemeClr val="bg2"/>
                </a:solidFill>
              </a:rPr>
              <a:t>+Selfish</a:t>
            </a:r>
            <a:r>
              <a:rPr kumimoji="1" lang="ja-JP" altLang="en-US">
                <a:solidFill>
                  <a:schemeClr val="bg2"/>
                </a:solidFill>
              </a:rPr>
              <a:t>な</a:t>
            </a:r>
            <a:r>
              <a:rPr kumimoji="1" lang="en-US" altLang="ja-JP" dirty="0">
                <a:solidFill>
                  <a:schemeClr val="bg2"/>
                </a:solidFill>
              </a:rPr>
              <a:t>Offer</a:t>
            </a:r>
            <a:r>
              <a:rPr kumimoji="1" lang="ja-JP" altLang="en-US">
                <a:solidFill>
                  <a:schemeClr val="bg2"/>
                </a:solidFill>
              </a:rPr>
              <a:t>に対する反応</a:t>
            </a:r>
          </a:p>
        </p:txBody>
      </p:sp>
      <p:sp>
        <p:nvSpPr>
          <p:cNvPr id="36" name="角丸四角形吹き出し 35">
            <a:extLst>
              <a:ext uri="{FF2B5EF4-FFF2-40B4-BE49-F238E27FC236}">
                <a16:creationId xmlns:a16="http://schemas.microsoft.com/office/drawing/2014/main" id="{FB75BBCD-2363-EF47-8BA3-B4253D5A03CC}"/>
              </a:ext>
            </a:extLst>
          </p:cNvPr>
          <p:cNvSpPr/>
          <p:nvPr/>
        </p:nvSpPr>
        <p:spPr>
          <a:xfrm>
            <a:off x="3622929" y="3952450"/>
            <a:ext cx="3553376" cy="896345"/>
          </a:xfrm>
          <a:prstGeom prst="wedgeRoundRectCallout">
            <a:avLst>
              <a:gd name="adj1" fmla="val -54851"/>
              <a:gd name="adj2" fmla="val -18354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>
                <a:solidFill>
                  <a:schemeClr val="bg2"/>
                </a:solidFill>
              </a:rPr>
              <a:t>選好に関して質問してきた回数</a:t>
            </a:r>
            <a:endParaRPr kumimoji="1" lang="en-US" altLang="ja-JP" dirty="0">
              <a:solidFill>
                <a:schemeClr val="bg2"/>
              </a:solidFill>
            </a:endParaRPr>
          </a:p>
          <a:p>
            <a:r>
              <a:rPr kumimoji="1" lang="en-US" altLang="ja-JP" dirty="0">
                <a:solidFill>
                  <a:schemeClr val="bg2"/>
                </a:solidFill>
              </a:rPr>
              <a:t>+ bid</a:t>
            </a:r>
            <a:r>
              <a:rPr kumimoji="1" lang="ja-JP" altLang="en-US">
                <a:solidFill>
                  <a:schemeClr val="bg2"/>
                </a:solidFill>
              </a:rPr>
              <a:t>の動き</a:t>
            </a:r>
          </a:p>
        </p:txBody>
      </p: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5B570E13-591A-0C46-A125-DB9B991BFA39}"/>
              </a:ext>
            </a:extLst>
          </p:cNvPr>
          <p:cNvGrpSpPr/>
          <p:nvPr/>
        </p:nvGrpSpPr>
        <p:grpSpPr>
          <a:xfrm>
            <a:off x="163626" y="1160115"/>
            <a:ext cx="2961539" cy="680876"/>
            <a:chOff x="163626" y="1160115"/>
            <a:chExt cx="2961539" cy="680876"/>
          </a:xfrm>
        </p:grpSpPr>
        <p:cxnSp>
          <p:nvCxnSpPr>
            <p:cNvPr id="22" name="直線コネクタ 21">
              <a:extLst>
                <a:ext uri="{FF2B5EF4-FFF2-40B4-BE49-F238E27FC236}">
                  <a16:creationId xmlns:a16="http://schemas.microsoft.com/office/drawing/2014/main" id="{472F047A-45BB-DF4A-93BA-6CB593900DC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3626" y="1699846"/>
              <a:ext cx="2961539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570C4BA7-7A2C-CC48-B012-410C523B0587}"/>
                </a:ext>
              </a:extLst>
            </p:cNvPr>
            <p:cNvSpPr/>
            <p:nvPr userDrawn="1"/>
          </p:nvSpPr>
          <p:spPr>
            <a:xfrm>
              <a:off x="281354" y="1160115"/>
              <a:ext cx="117231" cy="68087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6" name="テキスト プレースホルダー 12">
            <a:extLst>
              <a:ext uri="{FF2B5EF4-FFF2-40B4-BE49-F238E27FC236}">
                <a16:creationId xmlns:a16="http://schemas.microsoft.com/office/drawing/2014/main" id="{7B7F527F-C47B-3643-889D-282D604F7CCD}"/>
              </a:ext>
            </a:extLst>
          </p:cNvPr>
          <p:cNvSpPr txBox="1">
            <a:spLocks/>
          </p:cNvSpPr>
          <p:nvPr/>
        </p:nvSpPr>
        <p:spPr>
          <a:xfrm>
            <a:off x="404691" y="1192726"/>
            <a:ext cx="8147050" cy="68087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Tx/>
              <a:buNone/>
              <a:tabLst/>
              <a:defRPr kumimoji="1" sz="32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1pPr>
            <a:lvl2pPr marL="722313" indent="-2651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3"/>
              </a:buBlip>
              <a:tabLst/>
              <a:defRPr kumimoji="1" sz="24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2pPr>
            <a:lvl3pPr marL="1246188" indent="-3317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4"/>
              </a:buBlip>
              <a:tabLst/>
              <a:defRPr kumimoji="1" sz="20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BIG5</a:t>
            </a:r>
            <a:r>
              <a:rPr lang="ja-JP" altLang="en-US"/>
              <a:t>について</a:t>
            </a:r>
          </a:p>
        </p:txBody>
      </p:sp>
    </p:spTree>
    <p:extLst>
      <p:ext uri="{BB962C8B-B14F-4D97-AF65-F5344CB8AC3E}">
        <p14:creationId xmlns:p14="http://schemas.microsoft.com/office/powerpoint/2010/main" val="1599079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22F177-332F-5F41-A229-B64AAEC4D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BIG5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CD37B2B-E32E-2D43-8143-0B7A29E79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98" y="1884383"/>
            <a:ext cx="8859709" cy="4507316"/>
          </a:xfrm>
        </p:spPr>
        <p:txBody>
          <a:bodyPr/>
          <a:lstStyle/>
          <a:p>
            <a:r>
              <a:rPr lang="ja-JP" altLang="en-US"/>
              <a:t>わがままな人に対する戦略</a:t>
            </a:r>
            <a:endParaRPr lang="en-US" altLang="ja-JP" dirty="0"/>
          </a:p>
          <a:p>
            <a:pPr lvl="1"/>
            <a:r>
              <a:rPr lang="ja-JP" altLang="en-US"/>
              <a:t>外向性が高い</a:t>
            </a:r>
            <a:endParaRPr lang="en-US" altLang="ja-JP" dirty="0"/>
          </a:p>
          <a:p>
            <a:pPr lvl="2"/>
            <a:r>
              <a:rPr lang="en-US" altLang="ja-JP" dirty="0"/>
              <a:t>Offer</a:t>
            </a:r>
            <a:r>
              <a:rPr lang="ja-JP" altLang="en-US"/>
              <a:t>や行動を積極的に行う</a:t>
            </a:r>
            <a:endParaRPr lang="en-US" altLang="ja-JP" dirty="0"/>
          </a:p>
          <a:p>
            <a:pPr lvl="2"/>
            <a:r>
              <a:rPr lang="ja-JP" altLang="en-US"/>
              <a:t>自分の効用を最優先に考える</a:t>
            </a:r>
            <a:endParaRPr lang="en-US" altLang="ja-JP" dirty="0"/>
          </a:p>
          <a:p>
            <a:pPr lvl="1"/>
            <a:r>
              <a:rPr lang="ja-JP" altLang="en-US"/>
              <a:t>開放性が低い</a:t>
            </a:r>
            <a:endParaRPr lang="en-US" altLang="ja-JP" dirty="0"/>
          </a:p>
          <a:p>
            <a:pPr lvl="2"/>
            <a:r>
              <a:rPr lang="ja-JP" altLang="en-US"/>
              <a:t>知的好奇心が低い</a:t>
            </a:r>
            <a:endParaRPr lang="en-US" altLang="ja-JP" dirty="0"/>
          </a:p>
          <a:p>
            <a:pPr lvl="1"/>
            <a:r>
              <a:rPr lang="ja-JP" altLang="en-US"/>
              <a:t>協調性が低い</a:t>
            </a:r>
            <a:endParaRPr lang="en-US" altLang="ja-JP" dirty="0"/>
          </a:p>
          <a:p>
            <a:pPr lvl="2"/>
            <a:r>
              <a:rPr lang="ja-JP" altLang="en-US"/>
              <a:t>合意に至らない可能性がある</a:t>
            </a:r>
            <a:endParaRPr lang="en-US" altLang="ja-JP" dirty="0"/>
          </a:p>
          <a:p>
            <a:pPr lvl="1"/>
            <a:r>
              <a:rPr lang="ja-JP" altLang="en-US"/>
              <a:t>誠実性が低い</a:t>
            </a:r>
            <a:endParaRPr lang="en-US" altLang="ja-JP" dirty="0"/>
          </a:p>
          <a:p>
            <a:pPr lvl="2"/>
            <a:r>
              <a:rPr lang="en-US" altLang="ja-JP" dirty="0"/>
              <a:t>Offer</a:t>
            </a:r>
            <a:r>
              <a:rPr lang="ja-JP" altLang="en-US"/>
              <a:t>や行動に計画性がない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EF7AA8-53FB-7E4A-A9B0-6DF5A6524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1971C-747C-6D4C-9C5C-692C46840815}" type="datetime1">
              <a:rPr kumimoji="1" lang="ja-JP" altLang="en-US" smtClean="0"/>
              <a:t>2020/6/7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DCEAA7-DB51-9D4A-A5D9-EA182BCDE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FF0470-4ED4-8840-B291-82487CD4C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E658A242-3CAD-F343-813E-CAC67C2504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1</a:t>
            </a:r>
            <a:endParaRPr kumimoji="1" lang="ja-JP" altLang="en-US"/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813CA7AA-D605-594B-ADF0-6CF8BCF67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056" y="1052532"/>
            <a:ext cx="3673279" cy="2316536"/>
          </a:xfrm>
          <a:prstGeom prst="rect">
            <a:avLst/>
          </a:prstGeom>
        </p:spPr>
      </p:pic>
      <p:sp>
        <p:nvSpPr>
          <p:cNvPr id="24" name="テキスト プレースホルダー 12">
            <a:extLst>
              <a:ext uri="{FF2B5EF4-FFF2-40B4-BE49-F238E27FC236}">
                <a16:creationId xmlns:a16="http://schemas.microsoft.com/office/drawing/2014/main" id="{7B0D261D-000C-D849-BECE-7D4525F2E1AA}"/>
              </a:ext>
            </a:extLst>
          </p:cNvPr>
          <p:cNvSpPr txBox="1">
            <a:spLocks/>
          </p:cNvSpPr>
          <p:nvPr/>
        </p:nvSpPr>
        <p:spPr>
          <a:xfrm>
            <a:off x="404691" y="1192726"/>
            <a:ext cx="8147050" cy="68087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Tx/>
              <a:buNone/>
              <a:tabLst/>
              <a:defRPr kumimoji="1" sz="32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1pPr>
            <a:lvl2pPr marL="722313" indent="-2651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3"/>
              </a:buBlip>
              <a:tabLst/>
              <a:defRPr kumimoji="1" sz="24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2pPr>
            <a:lvl3pPr marL="1246188" indent="-3317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4"/>
              </a:buBlip>
              <a:tabLst/>
              <a:defRPr kumimoji="1" sz="20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各カテゴリに対する戦略</a:t>
            </a: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A0D7E5D2-296A-F74B-9E1C-115376EB7F96}"/>
              </a:ext>
            </a:extLst>
          </p:cNvPr>
          <p:cNvGrpSpPr/>
          <p:nvPr/>
        </p:nvGrpSpPr>
        <p:grpSpPr>
          <a:xfrm>
            <a:off x="163626" y="1160115"/>
            <a:ext cx="4836637" cy="680876"/>
            <a:chOff x="163626" y="1160115"/>
            <a:chExt cx="4836637" cy="680876"/>
          </a:xfrm>
        </p:grpSpPr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7B620559-B2E3-6446-BA67-0D1E69D97B7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3626" y="1699846"/>
              <a:ext cx="4836637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371A87CF-1732-654F-B785-E13DAC26FC91}"/>
                </a:ext>
              </a:extLst>
            </p:cNvPr>
            <p:cNvSpPr/>
            <p:nvPr userDrawn="1"/>
          </p:nvSpPr>
          <p:spPr>
            <a:xfrm>
              <a:off x="281354" y="1160115"/>
              <a:ext cx="117231" cy="68087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93809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22F177-332F-5F41-A229-B64AAEC4D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BIG5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CD37B2B-E32E-2D43-8143-0B7A29E79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98" y="1884383"/>
            <a:ext cx="8859709" cy="4507316"/>
          </a:xfrm>
        </p:spPr>
        <p:txBody>
          <a:bodyPr/>
          <a:lstStyle/>
          <a:p>
            <a:r>
              <a:rPr lang="ja-JP" altLang="en-US"/>
              <a:t>わがままな人に対する戦略</a:t>
            </a:r>
            <a:endParaRPr lang="en-US" altLang="ja-JP" dirty="0"/>
          </a:p>
          <a:p>
            <a:pPr lvl="1"/>
            <a:r>
              <a:rPr lang="ja-JP" altLang="en-US"/>
              <a:t>外向性が高い</a:t>
            </a:r>
            <a:endParaRPr lang="en-US" altLang="ja-JP" dirty="0"/>
          </a:p>
          <a:p>
            <a:pPr lvl="2"/>
            <a:r>
              <a:rPr lang="en-US" altLang="ja-JP" dirty="0"/>
              <a:t>Offer</a:t>
            </a:r>
            <a:r>
              <a:rPr lang="ja-JP" altLang="en-US"/>
              <a:t>や行動を積極的に行う</a:t>
            </a:r>
            <a:endParaRPr lang="en-US" altLang="ja-JP" dirty="0"/>
          </a:p>
          <a:p>
            <a:pPr lvl="2"/>
            <a:r>
              <a:rPr lang="ja-JP" altLang="en-US"/>
              <a:t>自分の効用を最優先に考える</a:t>
            </a:r>
            <a:endParaRPr lang="en-US" altLang="ja-JP" dirty="0"/>
          </a:p>
          <a:p>
            <a:pPr lvl="1"/>
            <a:r>
              <a:rPr lang="ja-JP" altLang="en-US"/>
              <a:t>開放性が低い</a:t>
            </a:r>
            <a:endParaRPr lang="en-US" altLang="ja-JP" dirty="0"/>
          </a:p>
          <a:p>
            <a:pPr lvl="2"/>
            <a:r>
              <a:rPr lang="ja-JP" altLang="en-US"/>
              <a:t>知的好奇心が低い</a:t>
            </a:r>
            <a:endParaRPr lang="en-US" altLang="ja-JP" dirty="0"/>
          </a:p>
          <a:p>
            <a:pPr lvl="1"/>
            <a:r>
              <a:rPr lang="ja-JP" altLang="en-US"/>
              <a:t>協調性が低い</a:t>
            </a:r>
            <a:endParaRPr lang="en-US" altLang="ja-JP" dirty="0"/>
          </a:p>
          <a:p>
            <a:pPr lvl="2"/>
            <a:r>
              <a:rPr lang="ja-JP" altLang="en-US"/>
              <a:t>合意に至らない可能性がある</a:t>
            </a:r>
            <a:endParaRPr lang="en-US" altLang="ja-JP" dirty="0"/>
          </a:p>
          <a:p>
            <a:pPr lvl="1"/>
            <a:r>
              <a:rPr lang="ja-JP" altLang="en-US"/>
              <a:t>誠実性が低い</a:t>
            </a:r>
            <a:endParaRPr lang="en-US" altLang="ja-JP" dirty="0"/>
          </a:p>
          <a:p>
            <a:pPr lvl="2"/>
            <a:r>
              <a:rPr lang="ja-JP" altLang="en-US"/>
              <a:t>欲求がコントロールできない</a:t>
            </a:r>
            <a:endParaRPr lang="en-US" altLang="ja-JP" dirty="0"/>
          </a:p>
          <a:p>
            <a:pPr lvl="2"/>
            <a:r>
              <a:rPr lang="en-US" altLang="ja-JP" dirty="0"/>
              <a:t>Offer</a:t>
            </a:r>
            <a:r>
              <a:rPr lang="ja-JP" altLang="en-US"/>
              <a:t>や行動に計画性がない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EF7AA8-53FB-7E4A-A9B0-6DF5A6524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1971C-747C-6D4C-9C5C-692C46840815}" type="datetime1">
              <a:rPr kumimoji="1" lang="ja-JP" altLang="en-US" smtClean="0"/>
              <a:t>2020/6/7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DCEAA7-DB51-9D4A-A5D9-EA182BCDE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FF0470-4ED4-8840-B291-82487CD4C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E658A242-3CAD-F343-813E-CAC67C2504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1</a:t>
            </a:r>
            <a:endParaRPr kumimoji="1" lang="ja-JP" altLang="en-US"/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813CA7AA-D605-594B-ADF0-6CF8BCF67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056" y="1052532"/>
            <a:ext cx="3673279" cy="2316536"/>
          </a:xfrm>
          <a:prstGeom prst="rect">
            <a:avLst/>
          </a:prstGeom>
        </p:spPr>
      </p:pic>
      <p:sp>
        <p:nvSpPr>
          <p:cNvPr id="24" name="テキスト プレースホルダー 12">
            <a:extLst>
              <a:ext uri="{FF2B5EF4-FFF2-40B4-BE49-F238E27FC236}">
                <a16:creationId xmlns:a16="http://schemas.microsoft.com/office/drawing/2014/main" id="{7B0D261D-000C-D849-BECE-7D4525F2E1AA}"/>
              </a:ext>
            </a:extLst>
          </p:cNvPr>
          <p:cNvSpPr txBox="1">
            <a:spLocks/>
          </p:cNvSpPr>
          <p:nvPr/>
        </p:nvSpPr>
        <p:spPr>
          <a:xfrm>
            <a:off x="404691" y="1192726"/>
            <a:ext cx="8147050" cy="68087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Tx/>
              <a:buNone/>
              <a:tabLst/>
              <a:defRPr kumimoji="1" sz="32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1pPr>
            <a:lvl2pPr marL="722313" indent="-2651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3"/>
              </a:buBlip>
              <a:tabLst/>
              <a:defRPr kumimoji="1" sz="24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2pPr>
            <a:lvl3pPr marL="1246188" indent="-3317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4"/>
              </a:buBlip>
              <a:tabLst/>
              <a:defRPr kumimoji="1" sz="20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各カテゴリに対する戦略</a:t>
            </a: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A0D7E5D2-296A-F74B-9E1C-115376EB7F96}"/>
              </a:ext>
            </a:extLst>
          </p:cNvPr>
          <p:cNvGrpSpPr/>
          <p:nvPr/>
        </p:nvGrpSpPr>
        <p:grpSpPr>
          <a:xfrm>
            <a:off x="163626" y="1160115"/>
            <a:ext cx="4836637" cy="680876"/>
            <a:chOff x="163626" y="1160115"/>
            <a:chExt cx="4836637" cy="680876"/>
          </a:xfrm>
        </p:grpSpPr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7B620559-B2E3-6446-BA67-0D1E69D97B7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3626" y="1699846"/>
              <a:ext cx="4836637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371A87CF-1732-654F-B785-E13DAC26FC91}"/>
                </a:ext>
              </a:extLst>
            </p:cNvPr>
            <p:cNvSpPr/>
            <p:nvPr userDrawn="1"/>
          </p:nvSpPr>
          <p:spPr>
            <a:xfrm>
              <a:off x="281354" y="1160115"/>
              <a:ext cx="117231" cy="68087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8" name="角丸四角形吹き出し 17">
            <a:extLst>
              <a:ext uri="{FF2B5EF4-FFF2-40B4-BE49-F238E27FC236}">
                <a16:creationId xmlns:a16="http://schemas.microsoft.com/office/drawing/2014/main" id="{AC52E126-CA8D-D84A-B34D-652913ADACFD}"/>
              </a:ext>
            </a:extLst>
          </p:cNvPr>
          <p:cNvSpPr/>
          <p:nvPr/>
        </p:nvSpPr>
        <p:spPr>
          <a:xfrm>
            <a:off x="3850924" y="3538408"/>
            <a:ext cx="4945835" cy="740781"/>
          </a:xfrm>
          <a:prstGeom prst="wedgeRoundRectCallout">
            <a:avLst>
              <a:gd name="adj1" fmla="val -56111"/>
              <a:gd name="adj2" fmla="val 20257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>
                <a:solidFill>
                  <a:schemeClr val="bg2"/>
                </a:solidFill>
              </a:rPr>
              <a:t>・こちらが様々なパターンの</a:t>
            </a:r>
            <a:r>
              <a:rPr kumimoji="1" lang="en-US" altLang="ja-JP" dirty="0">
                <a:solidFill>
                  <a:schemeClr val="bg2"/>
                </a:solidFill>
              </a:rPr>
              <a:t>Offer</a:t>
            </a:r>
            <a:r>
              <a:rPr kumimoji="1" lang="ja-JP" altLang="en-US">
                <a:solidFill>
                  <a:schemeClr val="bg2"/>
                </a:solidFill>
              </a:rPr>
              <a:t>を送る</a:t>
            </a:r>
            <a:endParaRPr kumimoji="1" lang="en-US" altLang="ja-JP" dirty="0">
              <a:solidFill>
                <a:schemeClr val="bg2"/>
              </a:solidFill>
            </a:endParaRPr>
          </a:p>
          <a:p>
            <a:r>
              <a:rPr kumimoji="1" lang="ja-JP" altLang="en-US">
                <a:solidFill>
                  <a:schemeClr val="bg2"/>
                </a:solidFill>
              </a:rPr>
              <a:t>・最初に提案する</a:t>
            </a:r>
            <a:r>
              <a:rPr kumimoji="1" lang="en-US" altLang="ja-JP" dirty="0">
                <a:solidFill>
                  <a:schemeClr val="bg2"/>
                </a:solidFill>
              </a:rPr>
              <a:t>Offer</a:t>
            </a:r>
            <a:r>
              <a:rPr kumimoji="1" lang="ja-JP" altLang="en-US">
                <a:solidFill>
                  <a:schemeClr val="bg2"/>
                </a:solidFill>
              </a:rPr>
              <a:t>が重要になりそう</a:t>
            </a:r>
          </a:p>
        </p:txBody>
      </p:sp>
      <p:sp>
        <p:nvSpPr>
          <p:cNvPr id="19" name="角丸四角形吹き出し 18">
            <a:extLst>
              <a:ext uri="{FF2B5EF4-FFF2-40B4-BE49-F238E27FC236}">
                <a16:creationId xmlns:a16="http://schemas.microsoft.com/office/drawing/2014/main" id="{0DFF16E5-8CC8-B94E-85AC-FFAA69D38E1E}"/>
              </a:ext>
            </a:extLst>
          </p:cNvPr>
          <p:cNvSpPr/>
          <p:nvPr/>
        </p:nvSpPr>
        <p:spPr>
          <a:xfrm>
            <a:off x="5137643" y="4448529"/>
            <a:ext cx="3414098" cy="556559"/>
          </a:xfrm>
          <a:prstGeom prst="wedgeRoundRectCallout">
            <a:avLst>
              <a:gd name="adj1" fmla="val -56111"/>
              <a:gd name="adj2" fmla="val 20257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>
                <a:solidFill>
                  <a:schemeClr val="bg2"/>
                </a:solidFill>
              </a:rPr>
              <a:t>早めに譲歩する必要がある</a:t>
            </a:r>
          </a:p>
        </p:txBody>
      </p:sp>
    </p:spTree>
    <p:extLst>
      <p:ext uri="{BB962C8B-B14F-4D97-AF65-F5344CB8AC3E}">
        <p14:creationId xmlns:p14="http://schemas.microsoft.com/office/powerpoint/2010/main" val="3167909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22F177-332F-5F41-A229-B64AAEC4D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BIG5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CD37B2B-E32E-2D43-8143-0B7A29E79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98" y="1884383"/>
            <a:ext cx="8859709" cy="4507316"/>
          </a:xfrm>
        </p:spPr>
        <p:txBody>
          <a:bodyPr/>
          <a:lstStyle/>
          <a:p>
            <a:r>
              <a:rPr lang="ja-JP" altLang="en-US"/>
              <a:t>つつましい人の特徴</a:t>
            </a:r>
            <a:endParaRPr lang="en-US" altLang="ja-JP" dirty="0"/>
          </a:p>
          <a:p>
            <a:pPr lvl="1"/>
            <a:r>
              <a:rPr lang="ja-JP" altLang="en-US"/>
              <a:t>神経症的傾向が低い</a:t>
            </a:r>
            <a:endParaRPr lang="en-US" altLang="ja-JP" dirty="0"/>
          </a:p>
          <a:p>
            <a:pPr lvl="2"/>
            <a:r>
              <a:rPr lang="ja-JP" altLang="en-US"/>
              <a:t>感情が安定している</a:t>
            </a:r>
            <a:endParaRPr lang="en-US" altLang="ja-JP" dirty="0"/>
          </a:p>
          <a:p>
            <a:pPr lvl="2"/>
            <a:r>
              <a:rPr lang="ja-JP" altLang="en-US"/>
              <a:t>ストレスへの対処に慣れている</a:t>
            </a:r>
            <a:endParaRPr lang="en-US" altLang="ja-JP" dirty="0"/>
          </a:p>
          <a:p>
            <a:pPr lvl="1"/>
            <a:r>
              <a:rPr lang="ja-JP" altLang="en-US"/>
              <a:t>開放性が低い</a:t>
            </a:r>
            <a:endParaRPr lang="en-US" altLang="ja-JP" dirty="0"/>
          </a:p>
          <a:p>
            <a:pPr lvl="2"/>
            <a:r>
              <a:rPr lang="ja-JP" altLang="en-US"/>
              <a:t>知的好奇心が低い</a:t>
            </a:r>
            <a:endParaRPr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EF7AA8-53FB-7E4A-A9B0-6DF5A6524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1971C-747C-6D4C-9C5C-692C46840815}" type="datetime1">
              <a:rPr kumimoji="1" lang="ja-JP" altLang="en-US" smtClean="0"/>
              <a:t>2020/6/7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DCEAA7-DB51-9D4A-A5D9-EA182BCDE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FF0470-4ED4-8840-B291-82487CD4C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E658A242-3CAD-F343-813E-CAC67C2504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1</a:t>
            </a:r>
            <a:endParaRPr kumimoji="1" lang="ja-JP" altLang="en-US"/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813CA7AA-D605-594B-ADF0-6CF8BCF67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056" y="1052532"/>
            <a:ext cx="3673279" cy="2316536"/>
          </a:xfrm>
          <a:prstGeom prst="rect">
            <a:avLst/>
          </a:prstGeom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9D0AA023-77FD-8E45-A2FE-9E13FDF597F6}"/>
              </a:ext>
            </a:extLst>
          </p:cNvPr>
          <p:cNvGrpSpPr/>
          <p:nvPr/>
        </p:nvGrpSpPr>
        <p:grpSpPr>
          <a:xfrm>
            <a:off x="163626" y="1160115"/>
            <a:ext cx="4836637" cy="680876"/>
            <a:chOff x="163626" y="1160115"/>
            <a:chExt cx="4836637" cy="680876"/>
          </a:xfrm>
        </p:grpSpPr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53032A18-BA45-7B4C-A12B-71F28C34CB5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3626" y="1699846"/>
              <a:ext cx="4836637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6EA7F5F3-06B2-DF42-86C2-191A3B5C05B1}"/>
                </a:ext>
              </a:extLst>
            </p:cNvPr>
            <p:cNvSpPr/>
            <p:nvPr userDrawn="1"/>
          </p:nvSpPr>
          <p:spPr>
            <a:xfrm>
              <a:off x="281354" y="1160115"/>
              <a:ext cx="117231" cy="68087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4" name="テキスト プレースホルダー 12">
            <a:extLst>
              <a:ext uri="{FF2B5EF4-FFF2-40B4-BE49-F238E27FC236}">
                <a16:creationId xmlns:a16="http://schemas.microsoft.com/office/drawing/2014/main" id="{7B0D261D-000C-D849-BECE-7D4525F2E1AA}"/>
              </a:ext>
            </a:extLst>
          </p:cNvPr>
          <p:cNvSpPr txBox="1">
            <a:spLocks/>
          </p:cNvSpPr>
          <p:nvPr/>
        </p:nvSpPr>
        <p:spPr>
          <a:xfrm>
            <a:off x="404691" y="1192726"/>
            <a:ext cx="8147050" cy="68087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Tx/>
              <a:buNone/>
              <a:tabLst/>
              <a:defRPr kumimoji="1" sz="32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1pPr>
            <a:lvl2pPr marL="722313" indent="-2651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3"/>
              </a:buBlip>
              <a:tabLst/>
              <a:defRPr kumimoji="1" sz="24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2pPr>
            <a:lvl3pPr marL="1246188" indent="-3317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4"/>
              </a:buBlip>
              <a:tabLst/>
              <a:defRPr kumimoji="1" sz="20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各カテゴリに対する戦略</a:t>
            </a:r>
          </a:p>
        </p:txBody>
      </p:sp>
    </p:spTree>
    <p:extLst>
      <p:ext uri="{BB962C8B-B14F-4D97-AF65-F5344CB8AC3E}">
        <p14:creationId xmlns:p14="http://schemas.microsoft.com/office/powerpoint/2010/main" val="1665827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22F177-332F-5F41-A229-B64AAEC4D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BIG5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CD37B2B-E32E-2D43-8143-0B7A29E79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98" y="1884383"/>
            <a:ext cx="8859709" cy="4507316"/>
          </a:xfrm>
        </p:spPr>
        <p:txBody>
          <a:bodyPr/>
          <a:lstStyle/>
          <a:p>
            <a:r>
              <a:rPr lang="ja-JP" altLang="en-US"/>
              <a:t>つつましい人の特徴</a:t>
            </a:r>
            <a:endParaRPr lang="en-US" altLang="ja-JP" dirty="0"/>
          </a:p>
          <a:p>
            <a:pPr lvl="1"/>
            <a:r>
              <a:rPr lang="ja-JP" altLang="en-US"/>
              <a:t>神経症的傾向が低い</a:t>
            </a:r>
            <a:endParaRPr lang="en-US" altLang="ja-JP" dirty="0"/>
          </a:p>
          <a:p>
            <a:pPr lvl="2"/>
            <a:r>
              <a:rPr lang="ja-JP" altLang="en-US"/>
              <a:t>感情が安定している</a:t>
            </a:r>
            <a:endParaRPr lang="en-US" altLang="ja-JP" dirty="0"/>
          </a:p>
          <a:p>
            <a:pPr lvl="2"/>
            <a:r>
              <a:rPr lang="ja-JP" altLang="en-US"/>
              <a:t>ストレスへの対処に慣れている</a:t>
            </a:r>
            <a:endParaRPr lang="en-US" altLang="ja-JP" dirty="0"/>
          </a:p>
          <a:p>
            <a:pPr lvl="1"/>
            <a:r>
              <a:rPr lang="ja-JP" altLang="en-US"/>
              <a:t>開放性が低い</a:t>
            </a:r>
            <a:endParaRPr lang="en-US" altLang="ja-JP" dirty="0"/>
          </a:p>
          <a:p>
            <a:pPr lvl="2"/>
            <a:r>
              <a:rPr lang="ja-JP" altLang="en-US"/>
              <a:t>知的好奇心が低い</a:t>
            </a:r>
            <a:endParaRPr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EF7AA8-53FB-7E4A-A9B0-6DF5A6524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1971C-747C-6D4C-9C5C-692C46840815}" type="datetime1">
              <a:rPr kumimoji="1" lang="ja-JP" altLang="en-US" smtClean="0"/>
              <a:t>2020/6/7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DCEAA7-DB51-9D4A-A5D9-EA182BCDE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FF0470-4ED4-8840-B291-82487CD4C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E658A242-3CAD-F343-813E-CAC67C2504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1</a:t>
            </a:r>
            <a:endParaRPr kumimoji="1" lang="ja-JP" altLang="en-US"/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813CA7AA-D605-594B-ADF0-6CF8BCF67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056" y="1052532"/>
            <a:ext cx="3673279" cy="2316536"/>
          </a:xfrm>
          <a:prstGeom prst="rect">
            <a:avLst/>
          </a:prstGeom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9D0AA023-77FD-8E45-A2FE-9E13FDF597F6}"/>
              </a:ext>
            </a:extLst>
          </p:cNvPr>
          <p:cNvGrpSpPr/>
          <p:nvPr/>
        </p:nvGrpSpPr>
        <p:grpSpPr>
          <a:xfrm>
            <a:off x="163626" y="1160115"/>
            <a:ext cx="4836637" cy="680876"/>
            <a:chOff x="163626" y="1160115"/>
            <a:chExt cx="4836637" cy="680876"/>
          </a:xfrm>
        </p:grpSpPr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53032A18-BA45-7B4C-A12B-71F28C34CB5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3626" y="1699846"/>
              <a:ext cx="4836637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6EA7F5F3-06B2-DF42-86C2-191A3B5C05B1}"/>
                </a:ext>
              </a:extLst>
            </p:cNvPr>
            <p:cNvSpPr/>
            <p:nvPr userDrawn="1"/>
          </p:nvSpPr>
          <p:spPr>
            <a:xfrm>
              <a:off x="281354" y="1160115"/>
              <a:ext cx="117231" cy="68087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4" name="テキスト プレースホルダー 12">
            <a:extLst>
              <a:ext uri="{FF2B5EF4-FFF2-40B4-BE49-F238E27FC236}">
                <a16:creationId xmlns:a16="http://schemas.microsoft.com/office/drawing/2014/main" id="{7B0D261D-000C-D849-BECE-7D4525F2E1AA}"/>
              </a:ext>
            </a:extLst>
          </p:cNvPr>
          <p:cNvSpPr txBox="1">
            <a:spLocks/>
          </p:cNvSpPr>
          <p:nvPr/>
        </p:nvSpPr>
        <p:spPr>
          <a:xfrm>
            <a:off x="404691" y="1192726"/>
            <a:ext cx="8147050" cy="68087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Tx/>
              <a:buNone/>
              <a:tabLst/>
              <a:defRPr kumimoji="1" sz="32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1pPr>
            <a:lvl2pPr marL="722313" indent="-2651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3"/>
              </a:buBlip>
              <a:tabLst/>
              <a:defRPr kumimoji="1" sz="24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2pPr>
            <a:lvl3pPr marL="1246188" indent="-3317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4"/>
              </a:buBlip>
              <a:tabLst/>
              <a:defRPr kumimoji="1" sz="20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各カテゴリに対する戦略</a:t>
            </a:r>
          </a:p>
        </p:txBody>
      </p:sp>
      <p:sp>
        <p:nvSpPr>
          <p:cNvPr id="13" name="角丸四角形吹き出し 12">
            <a:extLst>
              <a:ext uri="{FF2B5EF4-FFF2-40B4-BE49-F238E27FC236}">
                <a16:creationId xmlns:a16="http://schemas.microsoft.com/office/drawing/2014/main" id="{8AA609D6-2B57-CB47-8A35-6C927FF23EC9}"/>
              </a:ext>
            </a:extLst>
          </p:cNvPr>
          <p:cNvSpPr/>
          <p:nvPr/>
        </p:nvSpPr>
        <p:spPr>
          <a:xfrm>
            <a:off x="3850924" y="3736761"/>
            <a:ext cx="4401825" cy="542428"/>
          </a:xfrm>
          <a:prstGeom prst="wedgeRoundRectCallout">
            <a:avLst>
              <a:gd name="adj1" fmla="val -56111"/>
              <a:gd name="adj2" fmla="val 20257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>
                <a:solidFill>
                  <a:schemeClr val="bg2"/>
                </a:solidFill>
              </a:rPr>
              <a:t>こちらが様々なパターンの</a:t>
            </a:r>
            <a:r>
              <a:rPr kumimoji="1" lang="en-US" altLang="ja-JP" dirty="0">
                <a:solidFill>
                  <a:schemeClr val="bg2"/>
                </a:solidFill>
              </a:rPr>
              <a:t>Offer</a:t>
            </a:r>
            <a:r>
              <a:rPr kumimoji="1" lang="ja-JP" altLang="en-US">
                <a:solidFill>
                  <a:schemeClr val="bg2"/>
                </a:solidFill>
              </a:rPr>
              <a:t>を送る</a:t>
            </a:r>
          </a:p>
        </p:txBody>
      </p:sp>
      <p:sp>
        <p:nvSpPr>
          <p:cNvPr id="15" name="角丸四角形吹き出し 14">
            <a:extLst>
              <a:ext uri="{FF2B5EF4-FFF2-40B4-BE49-F238E27FC236}">
                <a16:creationId xmlns:a16="http://schemas.microsoft.com/office/drawing/2014/main" id="{AD4494F8-D2FA-F448-9128-BFCE04B0FF67}"/>
              </a:ext>
            </a:extLst>
          </p:cNvPr>
          <p:cNvSpPr/>
          <p:nvPr/>
        </p:nvSpPr>
        <p:spPr>
          <a:xfrm>
            <a:off x="4663741" y="2099774"/>
            <a:ext cx="3888000" cy="1021466"/>
          </a:xfrm>
          <a:prstGeom prst="wedgeRoundRectCallout">
            <a:avLst>
              <a:gd name="adj1" fmla="val -56111"/>
              <a:gd name="adj2" fmla="val 44793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>
                <a:solidFill>
                  <a:schemeClr val="bg2"/>
                </a:solidFill>
              </a:rPr>
              <a:t>多少はストレスを与えるような</a:t>
            </a:r>
            <a:r>
              <a:rPr kumimoji="1" lang="en-US" altLang="ja-JP" dirty="0">
                <a:solidFill>
                  <a:schemeClr val="bg2"/>
                </a:solidFill>
              </a:rPr>
              <a:t>Offer</a:t>
            </a:r>
            <a:r>
              <a:rPr kumimoji="1" lang="ja-JP" altLang="en-US">
                <a:solidFill>
                  <a:schemeClr val="bg2"/>
                </a:solidFill>
              </a:rPr>
              <a:t>を行っても</a:t>
            </a:r>
            <a:r>
              <a:rPr kumimoji="1" lang="en-US" altLang="ja-JP" dirty="0">
                <a:solidFill>
                  <a:schemeClr val="bg2"/>
                </a:solidFill>
              </a:rPr>
              <a:t>(</a:t>
            </a:r>
            <a:r>
              <a:rPr kumimoji="1" lang="ja-JP" altLang="en-US">
                <a:solidFill>
                  <a:schemeClr val="bg2"/>
                </a:solidFill>
              </a:rPr>
              <a:t>譲歩速度が遅くても</a:t>
            </a:r>
            <a:r>
              <a:rPr kumimoji="1" lang="en-US" altLang="ja-JP" dirty="0">
                <a:solidFill>
                  <a:schemeClr val="bg2"/>
                </a:solidFill>
              </a:rPr>
              <a:t>)</a:t>
            </a:r>
            <a:r>
              <a:rPr kumimoji="1" lang="ja-JP" altLang="en-US">
                <a:solidFill>
                  <a:schemeClr val="bg2"/>
                </a:solidFill>
              </a:rPr>
              <a:t>良さそう</a:t>
            </a:r>
          </a:p>
        </p:txBody>
      </p:sp>
    </p:spTree>
    <p:extLst>
      <p:ext uri="{BB962C8B-B14F-4D97-AF65-F5344CB8AC3E}">
        <p14:creationId xmlns:p14="http://schemas.microsoft.com/office/powerpoint/2010/main" val="2987048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22F177-332F-5F41-A229-B64AAEC4D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BIG5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CD37B2B-E32E-2D43-8143-0B7A29E79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98" y="1884383"/>
            <a:ext cx="8859709" cy="4507316"/>
          </a:xfrm>
        </p:spPr>
        <p:txBody>
          <a:bodyPr/>
          <a:lstStyle/>
          <a:p>
            <a:r>
              <a:rPr lang="ja-JP" altLang="en-US"/>
              <a:t>模範的な人の特徴</a:t>
            </a:r>
            <a:endParaRPr lang="en-US" altLang="ja-JP" dirty="0"/>
          </a:p>
          <a:p>
            <a:pPr lvl="1"/>
            <a:r>
              <a:rPr lang="ja-JP" altLang="en-US"/>
              <a:t>神経症的傾向が低い</a:t>
            </a:r>
            <a:endParaRPr lang="en-US" altLang="ja-JP" dirty="0"/>
          </a:p>
          <a:p>
            <a:pPr lvl="2"/>
            <a:r>
              <a:rPr lang="ja-JP" altLang="en-US"/>
              <a:t>感情が安定している</a:t>
            </a:r>
            <a:endParaRPr lang="en-US" altLang="ja-JP" dirty="0"/>
          </a:p>
          <a:p>
            <a:pPr lvl="2"/>
            <a:r>
              <a:rPr lang="ja-JP" altLang="en-US"/>
              <a:t>ストレスへの対処に慣れている</a:t>
            </a:r>
            <a:endParaRPr lang="en-US" altLang="ja-JP" dirty="0"/>
          </a:p>
          <a:p>
            <a:pPr lvl="1"/>
            <a:r>
              <a:rPr lang="ja-JP" altLang="en-US"/>
              <a:t>外向性が高い</a:t>
            </a:r>
            <a:endParaRPr lang="en-US" altLang="ja-JP" dirty="0"/>
          </a:p>
          <a:p>
            <a:pPr lvl="2"/>
            <a:r>
              <a:rPr lang="en-US" altLang="ja-JP" dirty="0"/>
              <a:t>Offer</a:t>
            </a:r>
            <a:r>
              <a:rPr lang="ja-JP" altLang="en-US"/>
              <a:t>や行動を積極的に行う</a:t>
            </a:r>
            <a:endParaRPr lang="en-US" altLang="ja-JP" dirty="0"/>
          </a:p>
          <a:p>
            <a:pPr lvl="1"/>
            <a:r>
              <a:rPr lang="ja-JP" altLang="en-US"/>
              <a:t>開放性が高い</a:t>
            </a:r>
            <a:endParaRPr lang="en-US" altLang="ja-JP" dirty="0"/>
          </a:p>
          <a:p>
            <a:pPr lvl="2"/>
            <a:r>
              <a:rPr lang="ja-JP" altLang="en-US"/>
              <a:t>知的好奇心が高い</a:t>
            </a:r>
            <a:endParaRPr lang="en-US" altLang="ja-JP" dirty="0"/>
          </a:p>
          <a:p>
            <a:pPr lvl="1"/>
            <a:r>
              <a:rPr lang="ja-JP" altLang="en-US"/>
              <a:t>協調性が高い</a:t>
            </a:r>
            <a:endParaRPr lang="en-US" altLang="ja-JP" dirty="0"/>
          </a:p>
          <a:p>
            <a:pPr lvl="1"/>
            <a:r>
              <a:rPr lang="ja-JP" altLang="en-US"/>
              <a:t>誠実性が高い</a:t>
            </a:r>
            <a:endParaRPr lang="en-US" altLang="ja-JP" dirty="0"/>
          </a:p>
          <a:p>
            <a:pPr lvl="2"/>
            <a:r>
              <a:rPr lang="en-US" altLang="ja-JP" dirty="0"/>
              <a:t>Offer</a:t>
            </a:r>
            <a:r>
              <a:rPr lang="ja-JP" altLang="en-US"/>
              <a:t>や行動に計画性がある</a:t>
            </a:r>
            <a:endParaRPr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EF7AA8-53FB-7E4A-A9B0-6DF5A6524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1971C-747C-6D4C-9C5C-692C46840815}" type="datetime1">
              <a:rPr kumimoji="1" lang="ja-JP" altLang="en-US" smtClean="0"/>
              <a:t>2020/6/7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DCEAA7-DB51-9D4A-A5D9-EA182BCDE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FF0470-4ED4-8840-B291-82487CD4C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8</a:t>
            </a:fld>
            <a:endParaRPr kumimoji="1"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E658A242-3CAD-F343-813E-CAC67C2504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1</a:t>
            </a:r>
            <a:endParaRPr kumimoji="1" lang="ja-JP" altLang="en-US"/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813CA7AA-D605-594B-ADF0-6CF8BCF67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056" y="1052532"/>
            <a:ext cx="3673279" cy="2316536"/>
          </a:xfrm>
          <a:prstGeom prst="rect">
            <a:avLst/>
          </a:prstGeom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9D0AA023-77FD-8E45-A2FE-9E13FDF597F6}"/>
              </a:ext>
            </a:extLst>
          </p:cNvPr>
          <p:cNvGrpSpPr/>
          <p:nvPr/>
        </p:nvGrpSpPr>
        <p:grpSpPr>
          <a:xfrm>
            <a:off x="163626" y="1160115"/>
            <a:ext cx="4836637" cy="680876"/>
            <a:chOff x="163626" y="1160115"/>
            <a:chExt cx="4836637" cy="680876"/>
          </a:xfrm>
        </p:grpSpPr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53032A18-BA45-7B4C-A12B-71F28C34CB5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3626" y="1699846"/>
              <a:ext cx="4836637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6EA7F5F3-06B2-DF42-86C2-191A3B5C05B1}"/>
                </a:ext>
              </a:extLst>
            </p:cNvPr>
            <p:cNvSpPr/>
            <p:nvPr userDrawn="1"/>
          </p:nvSpPr>
          <p:spPr>
            <a:xfrm>
              <a:off x="281354" y="1160115"/>
              <a:ext cx="117231" cy="68087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4" name="テキスト プレースホルダー 12">
            <a:extLst>
              <a:ext uri="{FF2B5EF4-FFF2-40B4-BE49-F238E27FC236}">
                <a16:creationId xmlns:a16="http://schemas.microsoft.com/office/drawing/2014/main" id="{7B0D261D-000C-D849-BECE-7D4525F2E1AA}"/>
              </a:ext>
            </a:extLst>
          </p:cNvPr>
          <p:cNvSpPr txBox="1">
            <a:spLocks/>
          </p:cNvSpPr>
          <p:nvPr/>
        </p:nvSpPr>
        <p:spPr>
          <a:xfrm>
            <a:off x="404691" y="1192726"/>
            <a:ext cx="8147050" cy="68087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Tx/>
              <a:buNone/>
              <a:tabLst/>
              <a:defRPr kumimoji="1" sz="32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1pPr>
            <a:lvl2pPr marL="722313" indent="-2651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3"/>
              </a:buBlip>
              <a:tabLst/>
              <a:defRPr kumimoji="1" sz="24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2pPr>
            <a:lvl3pPr marL="1246188" indent="-3317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4"/>
              </a:buBlip>
              <a:tabLst/>
              <a:defRPr kumimoji="1" sz="20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各カテゴリに対する戦略</a:t>
            </a:r>
          </a:p>
        </p:txBody>
      </p:sp>
    </p:spTree>
    <p:extLst>
      <p:ext uri="{BB962C8B-B14F-4D97-AF65-F5344CB8AC3E}">
        <p14:creationId xmlns:p14="http://schemas.microsoft.com/office/powerpoint/2010/main" val="2487425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22F177-332F-5F41-A229-B64AAEC4D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BIG5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CD37B2B-E32E-2D43-8143-0B7A29E79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98" y="1884383"/>
            <a:ext cx="8859709" cy="4507316"/>
          </a:xfrm>
        </p:spPr>
        <p:txBody>
          <a:bodyPr/>
          <a:lstStyle/>
          <a:p>
            <a:r>
              <a:rPr lang="ja-JP" altLang="en-US"/>
              <a:t>模範的な人の特徴</a:t>
            </a:r>
            <a:endParaRPr lang="en-US" altLang="ja-JP" dirty="0"/>
          </a:p>
          <a:p>
            <a:pPr lvl="1"/>
            <a:r>
              <a:rPr lang="ja-JP" altLang="en-US"/>
              <a:t>神経症的傾向が低い</a:t>
            </a:r>
            <a:endParaRPr lang="en-US" altLang="ja-JP" dirty="0"/>
          </a:p>
          <a:p>
            <a:pPr lvl="2"/>
            <a:r>
              <a:rPr lang="ja-JP" altLang="en-US"/>
              <a:t>感情が安定している</a:t>
            </a:r>
            <a:endParaRPr lang="en-US" altLang="ja-JP" dirty="0"/>
          </a:p>
          <a:p>
            <a:pPr lvl="2"/>
            <a:r>
              <a:rPr lang="ja-JP" altLang="en-US"/>
              <a:t>ストレスへの対処に慣れている</a:t>
            </a:r>
            <a:endParaRPr lang="en-US" altLang="ja-JP" dirty="0"/>
          </a:p>
          <a:p>
            <a:pPr lvl="1"/>
            <a:r>
              <a:rPr lang="ja-JP" altLang="en-US"/>
              <a:t>外向性が高い</a:t>
            </a:r>
            <a:endParaRPr lang="en-US" altLang="ja-JP" dirty="0"/>
          </a:p>
          <a:p>
            <a:pPr lvl="2"/>
            <a:r>
              <a:rPr lang="en-US" altLang="ja-JP" dirty="0"/>
              <a:t>Offer</a:t>
            </a:r>
            <a:r>
              <a:rPr lang="ja-JP" altLang="en-US"/>
              <a:t>や行動を積極的に行う</a:t>
            </a:r>
            <a:endParaRPr lang="en-US" altLang="ja-JP" dirty="0"/>
          </a:p>
          <a:p>
            <a:pPr lvl="1"/>
            <a:r>
              <a:rPr lang="ja-JP" altLang="en-US"/>
              <a:t>開放性が高い</a:t>
            </a:r>
            <a:endParaRPr lang="en-US" altLang="ja-JP" dirty="0"/>
          </a:p>
          <a:p>
            <a:pPr lvl="2"/>
            <a:r>
              <a:rPr lang="ja-JP" altLang="en-US"/>
              <a:t>知的好奇心が高い</a:t>
            </a:r>
            <a:endParaRPr lang="en-US" altLang="ja-JP" dirty="0"/>
          </a:p>
          <a:p>
            <a:pPr lvl="1"/>
            <a:r>
              <a:rPr lang="ja-JP" altLang="en-US"/>
              <a:t>協調性が高い</a:t>
            </a:r>
            <a:endParaRPr lang="en-US" altLang="ja-JP" dirty="0"/>
          </a:p>
          <a:p>
            <a:pPr lvl="1"/>
            <a:r>
              <a:rPr lang="ja-JP" altLang="en-US"/>
              <a:t>誠実性が高い</a:t>
            </a:r>
            <a:endParaRPr lang="en-US" altLang="ja-JP" dirty="0"/>
          </a:p>
          <a:p>
            <a:pPr lvl="2"/>
            <a:r>
              <a:rPr lang="en-US" altLang="ja-JP" dirty="0"/>
              <a:t>Offer</a:t>
            </a:r>
            <a:r>
              <a:rPr lang="ja-JP" altLang="en-US"/>
              <a:t>や行動に計画性がある</a:t>
            </a:r>
            <a:endParaRPr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EF7AA8-53FB-7E4A-A9B0-6DF5A6524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1971C-747C-6D4C-9C5C-692C46840815}" type="datetime1">
              <a:rPr kumimoji="1" lang="ja-JP" altLang="en-US" smtClean="0"/>
              <a:t>2020/6/7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DCEAA7-DB51-9D4A-A5D9-EA182BCDE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FF0470-4ED4-8840-B291-82487CD4C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E658A242-3CAD-F343-813E-CAC67C2504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1</a:t>
            </a:r>
            <a:endParaRPr kumimoji="1" lang="ja-JP" altLang="en-US"/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813CA7AA-D605-594B-ADF0-6CF8BCF67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056" y="1052532"/>
            <a:ext cx="3673279" cy="2316536"/>
          </a:xfrm>
          <a:prstGeom prst="rect">
            <a:avLst/>
          </a:prstGeom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9D0AA023-77FD-8E45-A2FE-9E13FDF597F6}"/>
              </a:ext>
            </a:extLst>
          </p:cNvPr>
          <p:cNvGrpSpPr/>
          <p:nvPr/>
        </p:nvGrpSpPr>
        <p:grpSpPr>
          <a:xfrm>
            <a:off x="163626" y="1160115"/>
            <a:ext cx="4836637" cy="680876"/>
            <a:chOff x="163626" y="1160115"/>
            <a:chExt cx="4836637" cy="680876"/>
          </a:xfrm>
        </p:grpSpPr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53032A18-BA45-7B4C-A12B-71F28C34CB5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3626" y="1699846"/>
              <a:ext cx="4836637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6EA7F5F3-06B2-DF42-86C2-191A3B5C05B1}"/>
                </a:ext>
              </a:extLst>
            </p:cNvPr>
            <p:cNvSpPr/>
            <p:nvPr userDrawn="1"/>
          </p:nvSpPr>
          <p:spPr>
            <a:xfrm>
              <a:off x="281354" y="1160115"/>
              <a:ext cx="117231" cy="68087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4" name="テキスト プレースホルダー 12">
            <a:extLst>
              <a:ext uri="{FF2B5EF4-FFF2-40B4-BE49-F238E27FC236}">
                <a16:creationId xmlns:a16="http://schemas.microsoft.com/office/drawing/2014/main" id="{7B0D261D-000C-D849-BECE-7D4525F2E1AA}"/>
              </a:ext>
            </a:extLst>
          </p:cNvPr>
          <p:cNvSpPr txBox="1">
            <a:spLocks/>
          </p:cNvSpPr>
          <p:nvPr/>
        </p:nvSpPr>
        <p:spPr>
          <a:xfrm>
            <a:off x="404691" y="1192726"/>
            <a:ext cx="8147050" cy="68087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Tx/>
              <a:buNone/>
              <a:tabLst/>
              <a:defRPr kumimoji="1" sz="32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1pPr>
            <a:lvl2pPr marL="722313" indent="-2651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3"/>
              </a:buBlip>
              <a:tabLst/>
              <a:defRPr kumimoji="1" sz="24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2pPr>
            <a:lvl3pPr marL="1246188" indent="-3317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4"/>
              </a:buBlip>
              <a:tabLst/>
              <a:defRPr kumimoji="1" sz="20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各カテゴリに対する戦略</a:t>
            </a:r>
          </a:p>
        </p:txBody>
      </p:sp>
      <p:sp>
        <p:nvSpPr>
          <p:cNvPr id="13" name="角丸四角形吹き出し 12">
            <a:extLst>
              <a:ext uri="{FF2B5EF4-FFF2-40B4-BE49-F238E27FC236}">
                <a16:creationId xmlns:a16="http://schemas.microsoft.com/office/drawing/2014/main" id="{8AA609D6-2B57-CB47-8A35-6C927FF23EC9}"/>
              </a:ext>
            </a:extLst>
          </p:cNvPr>
          <p:cNvSpPr/>
          <p:nvPr/>
        </p:nvSpPr>
        <p:spPr>
          <a:xfrm>
            <a:off x="3253478" y="4726018"/>
            <a:ext cx="3332517" cy="556559"/>
          </a:xfrm>
          <a:prstGeom prst="wedgeRoundRectCallout">
            <a:avLst>
              <a:gd name="adj1" fmla="val -56111"/>
              <a:gd name="adj2" fmla="val 20257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>
                <a:solidFill>
                  <a:schemeClr val="bg2"/>
                </a:solidFill>
              </a:rPr>
              <a:t>譲歩速度が遅くても良さそう</a:t>
            </a:r>
          </a:p>
        </p:txBody>
      </p:sp>
      <p:sp>
        <p:nvSpPr>
          <p:cNvPr id="16" name="角丸四角形吹き出し 15">
            <a:extLst>
              <a:ext uri="{FF2B5EF4-FFF2-40B4-BE49-F238E27FC236}">
                <a16:creationId xmlns:a16="http://schemas.microsoft.com/office/drawing/2014/main" id="{8D473FCB-2D5D-F749-929D-07C69422DEDF}"/>
              </a:ext>
            </a:extLst>
          </p:cNvPr>
          <p:cNvSpPr/>
          <p:nvPr/>
        </p:nvSpPr>
        <p:spPr>
          <a:xfrm>
            <a:off x="4663741" y="2099774"/>
            <a:ext cx="3888000" cy="1021466"/>
          </a:xfrm>
          <a:prstGeom prst="wedgeRoundRectCallout">
            <a:avLst>
              <a:gd name="adj1" fmla="val -56111"/>
              <a:gd name="adj2" fmla="val 44793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>
                <a:solidFill>
                  <a:schemeClr val="bg2"/>
                </a:solidFill>
              </a:rPr>
              <a:t>多少はストレスを与えるような</a:t>
            </a:r>
            <a:r>
              <a:rPr kumimoji="1" lang="en-US" altLang="ja-JP" dirty="0">
                <a:solidFill>
                  <a:schemeClr val="bg2"/>
                </a:solidFill>
              </a:rPr>
              <a:t>Offer</a:t>
            </a:r>
            <a:r>
              <a:rPr kumimoji="1" lang="ja-JP" altLang="en-US">
                <a:solidFill>
                  <a:schemeClr val="bg2"/>
                </a:solidFill>
              </a:rPr>
              <a:t>を行っても</a:t>
            </a:r>
            <a:r>
              <a:rPr kumimoji="1" lang="en-US" altLang="ja-JP" dirty="0">
                <a:solidFill>
                  <a:schemeClr val="bg2"/>
                </a:solidFill>
              </a:rPr>
              <a:t>(</a:t>
            </a:r>
            <a:r>
              <a:rPr kumimoji="1" lang="ja-JP" altLang="en-US">
                <a:solidFill>
                  <a:schemeClr val="bg2"/>
                </a:solidFill>
              </a:rPr>
              <a:t>譲歩速度が遅くても</a:t>
            </a:r>
            <a:r>
              <a:rPr kumimoji="1" lang="en-US" altLang="ja-JP" dirty="0">
                <a:solidFill>
                  <a:schemeClr val="bg2"/>
                </a:solidFill>
              </a:rPr>
              <a:t>)</a:t>
            </a:r>
            <a:r>
              <a:rPr kumimoji="1" lang="ja-JP" altLang="en-US">
                <a:solidFill>
                  <a:schemeClr val="bg2"/>
                </a:solidFill>
              </a:rPr>
              <a:t>良さそう</a:t>
            </a:r>
          </a:p>
        </p:txBody>
      </p:sp>
    </p:spTree>
    <p:extLst>
      <p:ext uri="{BB962C8B-B14F-4D97-AF65-F5344CB8AC3E}">
        <p14:creationId xmlns:p14="http://schemas.microsoft.com/office/powerpoint/2010/main" val="1102834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22F177-332F-5F41-A229-B64AAEC4D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BIG5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CD37B2B-E32E-2D43-8143-0B7A29E79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98" y="1884383"/>
            <a:ext cx="8859709" cy="4507316"/>
          </a:xfrm>
        </p:spPr>
        <p:txBody>
          <a:bodyPr/>
          <a:lstStyle/>
          <a:p>
            <a:r>
              <a:rPr lang="ja-JP" altLang="en-US"/>
              <a:t>普通な人の特徴</a:t>
            </a:r>
            <a:endParaRPr lang="en-US" altLang="ja-JP" dirty="0"/>
          </a:p>
          <a:p>
            <a:pPr lvl="1"/>
            <a:r>
              <a:rPr lang="ja-JP" altLang="en-US"/>
              <a:t>神経症的傾向が高い</a:t>
            </a:r>
            <a:endParaRPr lang="en-US" altLang="ja-JP" dirty="0"/>
          </a:p>
          <a:p>
            <a:pPr lvl="2"/>
            <a:r>
              <a:rPr lang="ja-JP" altLang="en-US"/>
              <a:t>感情が不安定</a:t>
            </a:r>
            <a:endParaRPr lang="en-US" altLang="ja-JP" dirty="0"/>
          </a:p>
          <a:p>
            <a:pPr lvl="2"/>
            <a:r>
              <a:rPr lang="ja-JP" altLang="en-US"/>
              <a:t>ストレスへの対処が苦手</a:t>
            </a:r>
            <a:endParaRPr lang="en-US" altLang="ja-JP" dirty="0"/>
          </a:p>
          <a:p>
            <a:pPr lvl="1"/>
            <a:r>
              <a:rPr lang="ja-JP" altLang="en-US"/>
              <a:t>開放性が低い</a:t>
            </a:r>
            <a:endParaRPr lang="en-US" altLang="ja-JP" dirty="0"/>
          </a:p>
          <a:p>
            <a:pPr lvl="2"/>
            <a:r>
              <a:rPr lang="ja-JP" altLang="en-US"/>
              <a:t>知的好奇心が低い</a:t>
            </a:r>
            <a:endParaRPr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EF7AA8-53FB-7E4A-A9B0-6DF5A6524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1971C-747C-6D4C-9C5C-692C46840815}" type="datetime1">
              <a:rPr kumimoji="1" lang="ja-JP" altLang="en-US" smtClean="0"/>
              <a:t>2020/6/7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DCEAA7-DB51-9D4A-A5D9-EA182BCDE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FF0470-4ED4-8840-B291-82487CD4C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10</a:t>
            </a:fld>
            <a:endParaRPr kumimoji="1"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E658A242-3CAD-F343-813E-CAC67C2504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1</a:t>
            </a:r>
            <a:endParaRPr kumimoji="1" lang="ja-JP" altLang="en-US"/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813CA7AA-D605-594B-ADF0-6CF8BCF67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056" y="1052532"/>
            <a:ext cx="3673279" cy="2316536"/>
          </a:xfrm>
          <a:prstGeom prst="rect">
            <a:avLst/>
          </a:prstGeom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9D0AA023-77FD-8E45-A2FE-9E13FDF597F6}"/>
              </a:ext>
            </a:extLst>
          </p:cNvPr>
          <p:cNvGrpSpPr/>
          <p:nvPr/>
        </p:nvGrpSpPr>
        <p:grpSpPr>
          <a:xfrm>
            <a:off x="163626" y="1160115"/>
            <a:ext cx="4836637" cy="680876"/>
            <a:chOff x="163626" y="1160115"/>
            <a:chExt cx="4836637" cy="680876"/>
          </a:xfrm>
        </p:grpSpPr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53032A18-BA45-7B4C-A12B-71F28C34CB5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3626" y="1699846"/>
              <a:ext cx="4836637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6EA7F5F3-06B2-DF42-86C2-191A3B5C05B1}"/>
                </a:ext>
              </a:extLst>
            </p:cNvPr>
            <p:cNvSpPr/>
            <p:nvPr userDrawn="1"/>
          </p:nvSpPr>
          <p:spPr>
            <a:xfrm>
              <a:off x="281354" y="1160115"/>
              <a:ext cx="117231" cy="68087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4" name="テキスト プレースホルダー 12">
            <a:extLst>
              <a:ext uri="{FF2B5EF4-FFF2-40B4-BE49-F238E27FC236}">
                <a16:creationId xmlns:a16="http://schemas.microsoft.com/office/drawing/2014/main" id="{7B0D261D-000C-D849-BECE-7D4525F2E1AA}"/>
              </a:ext>
            </a:extLst>
          </p:cNvPr>
          <p:cNvSpPr txBox="1">
            <a:spLocks/>
          </p:cNvSpPr>
          <p:nvPr/>
        </p:nvSpPr>
        <p:spPr>
          <a:xfrm>
            <a:off x="404691" y="1192726"/>
            <a:ext cx="8147050" cy="68087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Tx/>
              <a:buNone/>
              <a:tabLst/>
              <a:defRPr kumimoji="1" sz="32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1pPr>
            <a:lvl2pPr marL="722313" indent="-2651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3"/>
              </a:buBlip>
              <a:tabLst/>
              <a:defRPr kumimoji="1" sz="24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2pPr>
            <a:lvl3pPr marL="1246188" indent="-3317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4"/>
              </a:buBlip>
              <a:tabLst/>
              <a:defRPr kumimoji="1" sz="20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各カテゴリに対する戦略</a:t>
            </a:r>
          </a:p>
        </p:txBody>
      </p:sp>
      <p:sp>
        <p:nvSpPr>
          <p:cNvPr id="13" name="角丸四角形吹き出し 12">
            <a:extLst>
              <a:ext uri="{FF2B5EF4-FFF2-40B4-BE49-F238E27FC236}">
                <a16:creationId xmlns:a16="http://schemas.microsoft.com/office/drawing/2014/main" id="{B61F7FC8-8B3B-9140-ADED-E523D8BFCCC5}"/>
              </a:ext>
            </a:extLst>
          </p:cNvPr>
          <p:cNvSpPr/>
          <p:nvPr/>
        </p:nvSpPr>
        <p:spPr>
          <a:xfrm>
            <a:off x="4624752" y="2883081"/>
            <a:ext cx="3558549" cy="556559"/>
          </a:xfrm>
          <a:prstGeom prst="wedgeRoundRectCallout">
            <a:avLst>
              <a:gd name="adj1" fmla="val -56111"/>
              <a:gd name="adj2" fmla="val 20257"/>
              <a:gd name="adj3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>
                <a:solidFill>
                  <a:schemeClr val="bg2"/>
                </a:solidFill>
              </a:rPr>
              <a:t>譲歩速度が速いほうが良さそう</a:t>
            </a:r>
          </a:p>
        </p:txBody>
      </p:sp>
    </p:spTree>
    <p:extLst>
      <p:ext uri="{BB962C8B-B14F-4D97-AF65-F5344CB8AC3E}">
        <p14:creationId xmlns:p14="http://schemas.microsoft.com/office/powerpoint/2010/main" val="4076850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22F177-332F-5F41-A229-B64AAEC4D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BIG5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7CD37B2B-E32E-2D43-8143-0B7A29E79B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4898" y="1884383"/>
                <a:ext cx="8859709" cy="4507316"/>
              </a:xfrm>
            </p:spPr>
            <p:txBody>
              <a:bodyPr/>
              <a:lstStyle/>
              <a:p>
                <a:r>
                  <a:rPr lang="ja-JP" altLang="en-US"/>
                  <a:t>譲歩速度</a:t>
                </a:r>
                <a:endParaRPr lang="en-US" altLang="ja-JP" dirty="0"/>
              </a:p>
              <a:p>
                <a:pPr lvl="1"/>
                <a:r>
                  <a:rPr lang="ja-JP" altLang="en-US"/>
                  <a:t>わがまま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ja-JP" altLang="en-US"/>
                  <a:t>普通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ja-JP" altLang="en-US"/>
                  <a:t>つつましい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ja-JP" altLang="en-US"/>
                  <a:t>模範</a:t>
                </a:r>
                <a:endParaRPr lang="en-US" altLang="ja-JP" dirty="0"/>
              </a:p>
              <a:p>
                <a:r>
                  <a:rPr lang="en-US" altLang="ja-JP" dirty="0"/>
                  <a:t>Offer</a:t>
                </a:r>
                <a:r>
                  <a:rPr lang="ja-JP" altLang="en-US"/>
                  <a:t>のパターン</a:t>
                </a:r>
                <a:endParaRPr lang="en-US" altLang="ja-JP" dirty="0"/>
              </a:p>
              <a:p>
                <a:pPr lvl="1"/>
                <a:r>
                  <a:rPr lang="ja-JP" altLang="en-US"/>
                  <a:t>つつましい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ja-JP" altLang="en-US"/>
                  <a:t>わがまま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ja-JP" altLang="en-US"/>
                  <a:t>普通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ja-JP" altLang="en-US"/>
                  <a:t>模範</a:t>
                </a:r>
                <a:endParaRPr lang="en-US" altLang="ja-JP" dirty="0"/>
              </a:p>
              <a:p>
                <a:r>
                  <a:rPr lang="en-US" altLang="ja-JP" dirty="0"/>
                  <a:t>Offer</a:t>
                </a:r>
                <a:r>
                  <a:rPr lang="ja-JP" altLang="en-US"/>
                  <a:t>・行動頻度</a:t>
                </a:r>
                <a:endParaRPr lang="en-US" altLang="ja-JP" dirty="0"/>
              </a:p>
              <a:p>
                <a:pPr lvl="1"/>
                <a:r>
                  <a:rPr lang="ja-JP" altLang="en-US"/>
                  <a:t>つつましい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ja-JP" altLang="en-US"/>
                  <a:t>普通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ja-JP" altLang="en-US"/>
                  <a:t>模範</a:t>
                </a:r>
                <a14:m>
                  <m:oMath xmlns:m="http://schemas.openxmlformats.org/officeDocument/2006/math">
                    <m:r>
                      <a:rPr lang="en-US" altLang="ja-JP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ja-JP" altLang="en-US"/>
                  <a:t>わがまま</a:t>
                </a:r>
                <a:endParaRPr lang="en-US" altLang="ja-JP" dirty="0"/>
              </a:p>
              <a:p>
                <a:pPr lvl="1"/>
                <a:endParaRPr lang="en-US" altLang="ja-JP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7CD37B2B-E32E-2D43-8143-0B7A29E79B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4898" y="1884383"/>
                <a:ext cx="8859709" cy="4507316"/>
              </a:xfrm>
              <a:blipFill>
                <a:blip r:embed="rId2"/>
                <a:stretch>
                  <a:fillRect t="-196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EF7AA8-53FB-7E4A-A9B0-6DF5A6524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1971C-747C-6D4C-9C5C-692C46840815}" type="datetime1">
              <a:rPr kumimoji="1" lang="ja-JP" altLang="en-US" smtClean="0"/>
              <a:t>2020/6/7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DCEAA7-DB51-9D4A-A5D9-EA182BCDE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FF0470-4ED4-8840-B291-82487CD4C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11</a:t>
            </a:fld>
            <a:endParaRPr kumimoji="1"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E658A242-3CAD-F343-813E-CAC67C2504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1</a:t>
            </a:r>
            <a:endParaRPr kumimoji="1" lang="ja-JP" altLang="en-US"/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813CA7AA-D605-594B-ADF0-6CF8BCF67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9056" y="1052532"/>
            <a:ext cx="3673279" cy="2316536"/>
          </a:xfrm>
          <a:prstGeom prst="rect">
            <a:avLst/>
          </a:prstGeom>
        </p:spPr>
      </p:pic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9D0AA023-77FD-8E45-A2FE-9E13FDF597F6}"/>
              </a:ext>
            </a:extLst>
          </p:cNvPr>
          <p:cNvGrpSpPr/>
          <p:nvPr/>
        </p:nvGrpSpPr>
        <p:grpSpPr>
          <a:xfrm>
            <a:off x="163626" y="1160115"/>
            <a:ext cx="4836637" cy="680876"/>
            <a:chOff x="163626" y="1160115"/>
            <a:chExt cx="4836637" cy="680876"/>
          </a:xfrm>
        </p:grpSpPr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53032A18-BA45-7B4C-A12B-71F28C34CB5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3626" y="1699846"/>
              <a:ext cx="4836637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6EA7F5F3-06B2-DF42-86C2-191A3B5C05B1}"/>
                </a:ext>
              </a:extLst>
            </p:cNvPr>
            <p:cNvSpPr/>
            <p:nvPr userDrawn="1"/>
          </p:nvSpPr>
          <p:spPr>
            <a:xfrm>
              <a:off x="281354" y="1160115"/>
              <a:ext cx="117231" cy="68087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4" name="テキスト プレースホルダー 12">
            <a:extLst>
              <a:ext uri="{FF2B5EF4-FFF2-40B4-BE49-F238E27FC236}">
                <a16:creationId xmlns:a16="http://schemas.microsoft.com/office/drawing/2014/main" id="{7B0D261D-000C-D849-BECE-7D4525F2E1AA}"/>
              </a:ext>
            </a:extLst>
          </p:cNvPr>
          <p:cNvSpPr txBox="1">
            <a:spLocks/>
          </p:cNvSpPr>
          <p:nvPr/>
        </p:nvSpPr>
        <p:spPr>
          <a:xfrm>
            <a:off x="404691" y="1192726"/>
            <a:ext cx="8147050" cy="68087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Tx/>
              <a:buNone/>
              <a:tabLst/>
              <a:defRPr kumimoji="1" sz="32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1pPr>
            <a:lvl2pPr marL="722313" indent="-2651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4"/>
              </a:buBlip>
              <a:tabLst/>
              <a:defRPr kumimoji="1" sz="24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2pPr>
            <a:lvl3pPr marL="1246188" indent="-3317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5"/>
              </a:buBlip>
              <a:tabLst/>
              <a:defRPr kumimoji="1" sz="20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各カテゴリに対する戦略</a:t>
            </a:r>
          </a:p>
        </p:txBody>
      </p:sp>
    </p:spTree>
    <p:extLst>
      <p:ext uri="{BB962C8B-B14F-4D97-AF65-F5344CB8AC3E}">
        <p14:creationId xmlns:p14="http://schemas.microsoft.com/office/powerpoint/2010/main" val="3494119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22F177-332F-5F41-A229-B64AAEC4D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TKI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CD37B2B-E32E-2D43-8143-0B7A29E79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TKI</a:t>
            </a:r>
            <a:r>
              <a:rPr lang="ja-JP" altLang="en-US"/>
              <a:t>は</a:t>
            </a:r>
            <a:r>
              <a:rPr lang="en-US" altLang="ja-JP" dirty="0"/>
              <a:t>Offer</a:t>
            </a:r>
            <a:r>
              <a:rPr lang="ja-JP" altLang="en-US"/>
              <a:t>のみを見て計算しようかな</a:t>
            </a:r>
            <a:br>
              <a:rPr lang="en-US" altLang="ja-JP" dirty="0"/>
            </a:br>
            <a:r>
              <a:rPr lang="ja-JP" altLang="en-US"/>
              <a:t>と思っている（仮）</a:t>
            </a:r>
            <a:endParaRPr lang="en-US" altLang="ja-JP" dirty="0"/>
          </a:p>
          <a:p>
            <a:r>
              <a:rPr lang="ja-JP" altLang="en-US"/>
              <a:t>既存研究に倣うなら積極性は</a:t>
            </a:r>
            <a:r>
              <a:rPr lang="en-US" altLang="ja-JP" dirty="0"/>
              <a:t>bid</a:t>
            </a:r>
            <a:r>
              <a:rPr lang="ja-JP" altLang="en-US"/>
              <a:t>の分散，</a:t>
            </a:r>
            <a:br>
              <a:rPr lang="en-US" altLang="ja-JP" dirty="0"/>
            </a:br>
            <a:r>
              <a:rPr lang="ja-JP" altLang="en-US"/>
              <a:t>協調性は</a:t>
            </a:r>
            <a:r>
              <a:rPr lang="en-US" altLang="ja-JP" dirty="0"/>
              <a:t>bid</a:t>
            </a:r>
            <a:r>
              <a:rPr lang="ja-JP" altLang="en-US"/>
              <a:t>の平均で計算</a:t>
            </a:r>
            <a:endParaRPr lang="en-US" altLang="ja-JP" dirty="0"/>
          </a:p>
          <a:p>
            <a:pPr lvl="1"/>
            <a:r>
              <a:rPr lang="ja-JP" altLang="en-US"/>
              <a:t>もう少し考える余地がありそう</a:t>
            </a:r>
            <a:endParaRPr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EF7AA8-53FB-7E4A-A9B0-6DF5A6524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60AC5-1500-5F46-BA22-957002E89723}" type="datetime1">
              <a:rPr kumimoji="1" lang="ja-JP" altLang="en-US" smtClean="0"/>
              <a:t>2020/6/7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DCEAA7-DB51-9D4A-A5D9-EA182BCDE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FF0470-4ED4-8840-B291-82487CD4C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12</a:t>
            </a:fld>
            <a:endParaRPr kumimoji="1"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E658A242-3CAD-F343-813E-CAC67C2504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2</a:t>
            </a:r>
            <a:endParaRPr kumimoji="1" lang="ja-JP" altLang="en-US"/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D8D9E392-8CAF-1248-AC4C-BFBFDE691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144" y="1030556"/>
            <a:ext cx="2222334" cy="2750219"/>
          </a:xfrm>
          <a:prstGeom prst="rect">
            <a:avLst/>
          </a:prstGeom>
        </p:spPr>
      </p:pic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DB06526F-F23C-BA41-9B0E-AB988845095F}"/>
              </a:ext>
            </a:extLst>
          </p:cNvPr>
          <p:cNvGrpSpPr/>
          <p:nvPr/>
        </p:nvGrpSpPr>
        <p:grpSpPr>
          <a:xfrm>
            <a:off x="163626" y="1160115"/>
            <a:ext cx="2753194" cy="680876"/>
            <a:chOff x="163626" y="1160115"/>
            <a:chExt cx="2753194" cy="680876"/>
          </a:xfrm>
        </p:grpSpPr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ECBE760E-BBDC-014B-966D-F74E11AEE30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3626" y="1699846"/>
              <a:ext cx="2753194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572BC2EB-1306-9541-AC4B-42FBACEFB9A1}"/>
                </a:ext>
              </a:extLst>
            </p:cNvPr>
            <p:cNvSpPr/>
            <p:nvPr userDrawn="1"/>
          </p:nvSpPr>
          <p:spPr>
            <a:xfrm>
              <a:off x="281354" y="1160115"/>
              <a:ext cx="117231" cy="68087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1" name="テキスト プレースホルダー 12">
            <a:extLst>
              <a:ext uri="{FF2B5EF4-FFF2-40B4-BE49-F238E27FC236}">
                <a16:creationId xmlns:a16="http://schemas.microsoft.com/office/drawing/2014/main" id="{67C6B88C-5AB3-2842-86B2-570E76EF5956}"/>
              </a:ext>
            </a:extLst>
          </p:cNvPr>
          <p:cNvSpPr txBox="1">
            <a:spLocks/>
          </p:cNvSpPr>
          <p:nvPr/>
        </p:nvSpPr>
        <p:spPr>
          <a:xfrm>
            <a:off x="404691" y="1192726"/>
            <a:ext cx="8147050" cy="68087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Tx/>
              <a:buNone/>
              <a:tabLst/>
              <a:defRPr kumimoji="1" sz="32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1pPr>
            <a:lvl2pPr marL="722313" indent="-2651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3"/>
              </a:buBlip>
              <a:tabLst/>
              <a:defRPr kumimoji="1" sz="24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2pPr>
            <a:lvl3pPr marL="1246188" indent="-3317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4"/>
              </a:buBlip>
              <a:tabLst/>
              <a:defRPr kumimoji="1" sz="20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各尺度の計算</a:t>
            </a:r>
          </a:p>
        </p:txBody>
      </p:sp>
    </p:spTree>
    <p:extLst>
      <p:ext uri="{BB962C8B-B14F-4D97-AF65-F5344CB8AC3E}">
        <p14:creationId xmlns:p14="http://schemas.microsoft.com/office/powerpoint/2010/main" val="3271237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22F177-332F-5F41-A229-B64AAEC4D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TKI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7CD37B2B-E32E-2D43-8143-0B7A29E79B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ja-JP" altLang="en-US"/>
                  <a:t>譲歩速度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ja-JP" altLang="en-US" b="0" i="1" dirty="0">
                        <a:latin typeface="Cambria Math" panose="02040503050406030204" pitchFamily="18" charset="0"/>
                      </a:rPr>
                      <m:t>競争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回避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共存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妥協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適応</m:t>
                    </m:r>
                  </m:oMath>
                </a14:m>
                <a:endParaRPr lang="en-US" altLang="ja-JP" dirty="0"/>
              </a:p>
              <a:p>
                <a:r>
                  <a:rPr lang="en-US" altLang="ja-JP" dirty="0"/>
                  <a:t>Offer</a:t>
                </a:r>
                <a:r>
                  <a:rPr lang="ja-JP" altLang="en-US"/>
                  <a:t>のパターン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ja-JP" altLang="en-US" i="1" smtClean="0">
                        <a:latin typeface="Cambria Math" panose="02040503050406030204" pitchFamily="18" charset="0"/>
                      </a:rPr>
                      <m:t>回避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適応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妥協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競争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共存</m:t>
                    </m:r>
                  </m:oMath>
                </a14:m>
                <a:endParaRPr lang="en-US" altLang="ja-JP" dirty="0"/>
              </a:p>
              <a:p>
                <a:r>
                  <a:rPr lang="en-US" altLang="ja-JP" dirty="0"/>
                  <a:t>Offer</a:t>
                </a:r>
                <a:r>
                  <a:rPr lang="ja-JP" altLang="en-US"/>
                  <a:t>・行動頻度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ja-JP" altLang="en-US" b="0" i="1" dirty="0">
                        <a:latin typeface="Cambria Math" panose="02040503050406030204" pitchFamily="18" charset="0"/>
                      </a:rPr>
                      <m:t>回避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適応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ja-JP" altLang="en-US" i="1" smtClean="0">
                        <a:latin typeface="Cambria Math" panose="02040503050406030204" pitchFamily="18" charset="0"/>
                      </a:rPr>
                      <m:t>妥協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ja-JP" altLang="en-US" i="1" smtClean="0">
                        <a:latin typeface="Cambria Math" panose="02040503050406030204" pitchFamily="18" charset="0"/>
                      </a:rPr>
                      <m:t>競争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共存</m:t>
                    </m:r>
                  </m:oMath>
                </a14:m>
                <a:endParaRPr lang="en-US" altLang="ja-JP" dirty="0"/>
              </a:p>
              <a:p>
                <a:endParaRPr lang="en-US" altLang="ja-JP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7CD37B2B-E32E-2D43-8143-0B7A29E79B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88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EF7AA8-53FB-7E4A-A9B0-6DF5A6524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60AC5-1500-5F46-BA22-957002E89723}" type="datetime1">
              <a:rPr kumimoji="1" lang="ja-JP" altLang="en-US" smtClean="0"/>
              <a:t>2020/6/7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DCEAA7-DB51-9D4A-A5D9-EA182BCDE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FF0470-4ED4-8840-B291-82487CD4C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13</a:t>
            </a:fld>
            <a:endParaRPr kumimoji="1"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E658A242-3CAD-F343-813E-CAC67C2504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2</a:t>
            </a:r>
            <a:endParaRPr kumimoji="1" lang="ja-JP" altLang="en-US"/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D8D9E392-8CAF-1248-AC4C-BFBFDE691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144" y="1030556"/>
            <a:ext cx="2222334" cy="2750219"/>
          </a:xfrm>
          <a:prstGeom prst="rect">
            <a:avLst/>
          </a:prstGeom>
        </p:spPr>
      </p:pic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C5C466F6-7EB0-2B4C-8B9F-5F351C14C7EF}"/>
              </a:ext>
            </a:extLst>
          </p:cNvPr>
          <p:cNvGrpSpPr/>
          <p:nvPr/>
        </p:nvGrpSpPr>
        <p:grpSpPr>
          <a:xfrm>
            <a:off x="163626" y="1160115"/>
            <a:ext cx="4836637" cy="680876"/>
            <a:chOff x="163626" y="1160115"/>
            <a:chExt cx="4836637" cy="680876"/>
          </a:xfrm>
        </p:grpSpPr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5C6C6833-EA00-AB40-8A4B-3EC05B9F5CF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3626" y="1699846"/>
              <a:ext cx="4836637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869924E9-9C77-4D4D-BB8F-6AC927DE52B4}"/>
                </a:ext>
              </a:extLst>
            </p:cNvPr>
            <p:cNvSpPr/>
            <p:nvPr userDrawn="1"/>
          </p:nvSpPr>
          <p:spPr>
            <a:xfrm>
              <a:off x="281354" y="1160115"/>
              <a:ext cx="117231" cy="68087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9" name="テキスト プレースホルダー 12">
            <a:extLst>
              <a:ext uri="{FF2B5EF4-FFF2-40B4-BE49-F238E27FC236}">
                <a16:creationId xmlns:a16="http://schemas.microsoft.com/office/drawing/2014/main" id="{EB0876A5-390F-D744-AF2F-7706ACC6B6B7}"/>
              </a:ext>
            </a:extLst>
          </p:cNvPr>
          <p:cNvSpPr txBox="1">
            <a:spLocks/>
          </p:cNvSpPr>
          <p:nvPr/>
        </p:nvSpPr>
        <p:spPr>
          <a:xfrm>
            <a:off x="404691" y="1192726"/>
            <a:ext cx="8147050" cy="68087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Tx/>
              <a:buNone/>
              <a:tabLst/>
              <a:defRPr kumimoji="1" sz="32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1pPr>
            <a:lvl2pPr marL="722313" indent="-2651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4"/>
              </a:buBlip>
              <a:tabLst/>
              <a:defRPr kumimoji="1" sz="24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2pPr>
            <a:lvl3pPr marL="1246188" indent="-3317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5"/>
              </a:buBlip>
              <a:tabLst/>
              <a:defRPr kumimoji="1" sz="20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各カテゴリに対する戦略</a:t>
            </a:r>
          </a:p>
        </p:txBody>
      </p:sp>
    </p:spTree>
    <p:extLst>
      <p:ext uri="{BB962C8B-B14F-4D97-AF65-F5344CB8AC3E}">
        <p14:creationId xmlns:p14="http://schemas.microsoft.com/office/powerpoint/2010/main" val="1463895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3BB963-1B76-4E44-9F6F-44B6F068A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7F9CA9F-EF66-F648-A38A-F9C42ADC3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1EA7C-D461-6041-8E0E-F656A44343A5}" type="datetime1">
              <a:rPr kumimoji="1" lang="ja-JP" altLang="en-US" smtClean="0"/>
              <a:t>2020/6/7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50E35C6-CDAF-164F-A217-3A80030B0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DC7A173-3A23-3240-A54F-0FBA70C82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1C279-7323-A845-8A27-BB5908B2F04D}" type="slidenum">
              <a:rPr kumimoji="1" lang="ja-JP" altLang="en-US" smtClean="0"/>
              <a:t>14</a:t>
            </a:fld>
            <a:endParaRPr kumimoji="1" lang="ja-JP" altLang="en-US"/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90D18F01-2BBF-C84B-8485-C7E7243E88D8}"/>
              </a:ext>
            </a:extLst>
          </p:cNvPr>
          <p:cNvGrpSpPr/>
          <p:nvPr/>
        </p:nvGrpSpPr>
        <p:grpSpPr>
          <a:xfrm>
            <a:off x="163626" y="1160115"/>
            <a:ext cx="4103574" cy="680876"/>
            <a:chOff x="163626" y="1160115"/>
            <a:chExt cx="4103574" cy="680876"/>
          </a:xfrm>
        </p:grpSpPr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E7C6A173-0964-134D-947E-15DC34060103}"/>
                </a:ext>
              </a:extLst>
            </p:cNvPr>
            <p:cNvCxnSpPr/>
            <p:nvPr userDrawn="1"/>
          </p:nvCxnSpPr>
          <p:spPr>
            <a:xfrm>
              <a:off x="163626" y="1699846"/>
              <a:ext cx="4103574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FB915536-105B-5D47-8AEA-1D668ACAEC65}"/>
                </a:ext>
              </a:extLst>
            </p:cNvPr>
            <p:cNvSpPr/>
            <p:nvPr userDrawn="1"/>
          </p:nvSpPr>
          <p:spPr>
            <a:xfrm>
              <a:off x="281354" y="1160115"/>
              <a:ext cx="117231" cy="68087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9" name="テキスト プレースホルダー 12">
            <a:extLst>
              <a:ext uri="{FF2B5EF4-FFF2-40B4-BE49-F238E27FC236}">
                <a16:creationId xmlns:a16="http://schemas.microsoft.com/office/drawing/2014/main" id="{B9E78AD1-3EAD-ED4C-A870-F775161359ED}"/>
              </a:ext>
            </a:extLst>
          </p:cNvPr>
          <p:cNvSpPr txBox="1">
            <a:spLocks/>
          </p:cNvSpPr>
          <p:nvPr/>
        </p:nvSpPr>
        <p:spPr>
          <a:xfrm>
            <a:off x="404691" y="1192726"/>
            <a:ext cx="8147050" cy="68087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Tx/>
              <a:buNone/>
              <a:tabLst/>
              <a:defRPr kumimoji="1" sz="32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1pPr>
            <a:lvl2pPr marL="722313" indent="-2651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2"/>
              </a:buBlip>
              <a:tabLst/>
              <a:defRPr kumimoji="1" sz="24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2pPr>
            <a:lvl3pPr marL="1246188" indent="-3317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Tx/>
              <a:buBlip>
                <a:blip r:embed="rId3"/>
              </a:buBlip>
              <a:tabLst/>
              <a:defRPr kumimoji="1" sz="2000" b="0" i="0" kern="12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kumimoji="1" sz="1800" b="0" i="0" kern="12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テキスト</a:t>
            </a:r>
          </a:p>
        </p:txBody>
      </p:sp>
    </p:spTree>
    <p:extLst>
      <p:ext uri="{BB962C8B-B14F-4D97-AF65-F5344CB8AC3E}">
        <p14:creationId xmlns:p14="http://schemas.microsoft.com/office/powerpoint/2010/main" val="2314095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1D1D1D"/>
      </a:dk1>
      <a:lt1>
        <a:srgbClr val="E4E4E4"/>
      </a:lt1>
      <a:dk2>
        <a:srgbClr val="44546A"/>
      </a:dk2>
      <a:lt2>
        <a:srgbClr val="E7E6E6"/>
      </a:lt2>
      <a:accent1>
        <a:srgbClr val="3090C4"/>
      </a:accent1>
      <a:accent2>
        <a:srgbClr val="D68126"/>
      </a:accent2>
      <a:accent3>
        <a:srgbClr val="42A544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ヒラギノ角ゴシック Pro W3">
      <a:majorFont>
        <a:latin typeface="Hiragino Kaku Gothic ProN W3"/>
        <a:ea typeface="Hiragino Kaku Gothic ProN W3"/>
        <a:cs typeface=""/>
      </a:majorFont>
      <a:minorFont>
        <a:latin typeface="Hiragino Kaku Gothic ProN W3"/>
        <a:ea typeface="Hiragino Kaku Gothic ProN W3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2" id="{9EB16A4D-D7F9-2340-A8EA-104836EA809B}" vid="{4F111AF7-2BB2-9640-B3FE-4B3A89EAF971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テーマ</Template>
  <TotalTime>979</TotalTime>
  <Words>789</Words>
  <Application>Microsoft Macintosh PowerPoint</Application>
  <PresentationFormat>画面に合わせる (4:3)</PresentationFormat>
  <Paragraphs>204</Paragraphs>
  <Slides>14</Slides>
  <Notes>0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21" baseType="lpstr">
      <vt:lpstr>Hiragino Kaku Gothic Pro W3</vt:lpstr>
      <vt:lpstr>Hiragino Kaku Gothic ProN W3</vt:lpstr>
      <vt:lpstr>Hiragino Sans W4</vt:lpstr>
      <vt:lpstr>游ゴシック</vt:lpstr>
      <vt:lpstr>Arial</vt:lpstr>
      <vt:lpstr>Cambria Math</vt:lpstr>
      <vt:lpstr>Office テーマ</vt:lpstr>
      <vt:lpstr>進捗報告</vt:lpstr>
      <vt:lpstr>BIG5</vt:lpstr>
      <vt:lpstr>研究</vt:lpstr>
      <vt:lpstr>BIG5</vt:lpstr>
      <vt:lpstr>BIG5</vt:lpstr>
      <vt:lpstr>BIG5</vt:lpstr>
      <vt:lpstr>BIG5</vt:lpstr>
      <vt:lpstr>BIG5</vt:lpstr>
      <vt:lpstr>BIG5</vt:lpstr>
      <vt:lpstr>BIG5</vt:lpstr>
      <vt:lpstr>BIG5</vt:lpstr>
      <vt:lpstr>TKI</vt:lpstr>
      <vt:lpstr>TKI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進捗報告</dc:title>
  <dc:creator>昌悟 松下</dc:creator>
  <cp:lastModifiedBy>昌悟 松下</cp:lastModifiedBy>
  <cp:revision>61</cp:revision>
  <dcterms:created xsi:type="dcterms:W3CDTF">2020-04-19T09:33:40Z</dcterms:created>
  <dcterms:modified xsi:type="dcterms:W3CDTF">2020-06-07T14:41:39Z</dcterms:modified>
</cp:coreProperties>
</file>