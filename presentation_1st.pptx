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14"/>
  </p:notesMasterIdLst>
  <p:sldIdLst>
    <p:sldId id="256" r:id="rId2"/>
    <p:sldId id="268" r:id="rId3"/>
    <p:sldId id="272" r:id="rId4"/>
    <p:sldId id="269" r:id="rId5"/>
    <p:sldId id="278" r:id="rId6"/>
    <p:sldId id="273" r:id="rId7"/>
    <p:sldId id="274" r:id="rId8"/>
    <p:sldId id="275" r:id="rId9"/>
    <p:sldId id="276" r:id="rId10"/>
    <p:sldId id="277" r:id="rId11"/>
    <p:sldId id="270" r:id="rId12"/>
    <p:sldId id="267" r:id="rId13"/>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504" userDrawn="1">
          <p15:clr>
            <a:srgbClr val="A4A3A4"/>
          </p15:clr>
        </p15:guide>
        <p15:guide id="2" pos="181" userDrawn="1">
          <p15:clr>
            <a:srgbClr val="A4A3A4"/>
          </p15:clr>
        </p15:guide>
        <p15:guide id="3" pos="2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47"/>
    <p:restoredTop sz="94577"/>
  </p:normalViewPr>
  <p:slideViewPr>
    <p:cSldViewPr snapToGrid="0" snapToObjects="1">
      <p:cViewPr varScale="1">
        <p:scale>
          <a:sx n="74" d="100"/>
          <a:sy n="74" d="100"/>
        </p:scale>
        <p:origin x="1296" y="216"/>
      </p:cViewPr>
      <p:guideLst>
        <p:guide orient="horz" pos="3504"/>
        <p:guide pos="181"/>
        <p:guide pos="272"/>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2018/4/30</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948515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434293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870123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3043899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691279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803088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18740664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55815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46C4969-FCF6-9A4B-A014-2759BD8276AA}" type="datetime1">
              <a:rPr lang="ja-JP" altLang="en-US" smtClean="0"/>
              <a:t>2018/4/30</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7AA989-C6B8-3949-9280-88DA60BA6993}" type="datetime1">
              <a:rPr lang="ja-JP" altLang="en-US" smtClean="0"/>
              <a:t>2018/4/30</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53228"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F1F6298-E70F-6E41-95A4-202B038AE5AD}" type="datetime1">
              <a:rPr lang="ja-JP" altLang="en-US" smtClean="0"/>
              <a:t>2018/4/30</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407E6D9-35D5-3345-B114-7ABEB4B75DB7}" type="datetime1">
              <a:rPr kumimoji="1" lang="ja-JP" altLang="en-US" smtClean="0"/>
              <a:t>2018/4/30</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81C6AF7C-E2A8-CC4E-BEDD-195A92C7E78A}" type="datetime1">
              <a:rPr kumimoji="1" lang="ja-JP" altLang="en-US" smtClean="0"/>
              <a:t>2018/4/30</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FDFA01E-E751-9841-8567-37F3714B0EC9}" type="datetime1">
              <a:rPr kumimoji="1" lang="ja-JP" altLang="en-US" smtClean="0"/>
              <a:t>2018/4/30</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FE5F467-EA1E-D94C-8F22-55DE350C1503}" type="datetime1">
              <a:rPr kumimoji="1" lang="ja-JP" altLang="en-US" smtClean="0"/>
              <a:t>2018/4/30</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B52674B-24C5-DF4D-AB73-4F3AFCA25A4F}" type="datetime1">
              <a:rPr kumimoji="1" lang="ja-JP" altLang="en-US" smtClean="0"/>
              <a:t>2018/4/30</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150F9DA-753E-254A-B6B9-BE70954A2BBF}" type="datetime1">
              <a:rPr kumimoji="1" lang="ja-JP" altLang="en-US" smtClean="0"/>
              <a:t>2018/4/30</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C873D902-A6A2-3E4F-84E4-DAFA7714B07D}" type="datetime1">
              <a:rPr kumimoji="1" lang="ja-JP" altLang="en-US" smtClean="0"/>
              <a:t>2018/4/30</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4CDECCDF-310C-374D-BB94-D136190EAB42}" type="datetime1">
              <a:rPr kumimoji="1" lang="ja-JP" altLang="en-US" smtClean="0"/>
              <a:t>2018/4/30</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AA985E-1DBC-D74B-BF22-84B5E59DA9AB}" type="datetime1">
              <a:rPr kumimoji="1" lang="ja-JP" altLang="en-US" smtClean="0"/>
              <a:t>2018/4/30</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F72E23FF-C487-5547-8AED-A8A9B893E0C0}" type="datetime1">
              <a:rPr lang="ja-JP" altLang="en-US" smtClean="0"/>
              <a:t>2018/4/30</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1371600" y="3159135"/>
            <a:ext cx="15544800" cy="4775200"/>
          </a:xfrm>
        </p:spPr>
        <p:txBody>
          <a:bodyPr/>
          <a:lstStyle/>
          <a:p>
            <a:r>
              <a:rPr kumimoji="1" lang="ja-JP" altLang="en-US"/>
              <a:t>文献購読</a:t>
            </a:r>
            <a:br>
              <a:rPr kumimoji="1" lang="en-US" altLang="ja-JP" dirty="0"/>
            </a:br>
            <a:endParaRPr kumimoji="1" lang="ja-JP" altLang="en-US"/>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6C1C55C2-9AF4-654D-9969-8A67901B3DA3}" type="datetime1">
              <a:rPr lang="ja-JP" altLang="en-US" smtClean="0"/>
              <a:t>2018/4/30</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2716A096-282C-054E-93D6-6FCA6F3CFD24}"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はじめに</a:t>
            </a:r>
            <a:endParaRPr kumimoji="1" lang="ja-JP" altLang="en-US"/>
          </a:p>
        </p:txBody>
      </p:sp>
      <p:grpSp>
        <p:nvGrpSpPr>
          <p:cNvPr id="7" name="グループ化 6">
            <a:extLst>
              <a:ext uri="{FF2B5EF4-FFF2-40B4-BE49-F238E27FC236}">
                <a16:creationId xmlns:a16="http://schemas.microsoft.com/office/drawing/2014/main" id="{574E7AC4-0E50-8D4A-8968-2C2A9D916ADE}"/>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2B3F120B-64CB-EB47-B9A8-9A8AFBA36AC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5105ED84-5CDD-FF47-B6D4-96E29099F21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2E76881-65E2-5241-B689-FEE316A34AA0}"/>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6494B89-A6B9-3341-BB17-E86727ADCC2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9F14F16-B830-5844-836E-439A243BF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0948973-0136-5542-BB52-6B4EB28156FB}"/>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EDB96F-C6A2-A640-8292-2C80CBAFD729}"/>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CB58614A-1654-914F-BCB1-634026832709}"/>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B7CFE0E6-F6B1-374A-9C53-2093FC43F6E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Tree>
    <p:extLst>
      <p:ext uri="{BB962C8B-B14F-4D97-AF65-F5344CB8AC3E}">
        <p14:creationId xmlns:p14="http://schemas.microsoft.com/office/powerpoint/2010/main" val="1467729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参加者は携帯の委託販売者として交渉を実施</a:t>
            </a:r>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金額・保証期間・契約サービスの継続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17" name="グループ化 16">
            <a:extLst>
              <a:ext uri="{FF2B5EF4-FFF2-40B4-BE49-F238E27FC236}">
                <a16:creationId xmlns:a16="http://schemas.microsoft.com/office/drawing/2014/main" id="{0D9F7940-8D1A-7442-8202-59FA04673BC1}"/>
              </a:ext>
            </a:extLst>
          </p:cNvPr>
          <p:cNvGrpSpPr/>
          <p:nvPr/>
        </p:nvGrpSpPr>
        <p:grpSpPr>
          <a:xfrm>
            <a:off x="617232" y="4090838"/>
            <a:ext cx="539448" cy="487368"/>
            <a:chOff x="400056" y="1061560"/>
            <a:chExt cx="269724" cy="243684"/>
          </a:xfrm>
        </p:grpSpPr>
        <p:sp>
          <p:nvSpPr>
            <p:cNvPr id="18" name="三角形 17">
              <a:extLst>
                <a:ext uri="{FF2B5EF4-FFF2-40B4-BE49-F238E27FC236}">
                  <a16:creationId xmlns:a16="http://schemas.microsoft.com/office/drawing/2014/main" id="{30129A96-4E6F-C846-918A-3A7EC6350E7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8">
              <a:extLst>
                <a:ext uri="{FF2B5EF4-FFF2-40B4-BE49-F238E27FC236}">
                  <a16:creationId xmlns:a16="http://schemas.microsoft.com/office/drawing/2014/main" id="{AC84945F-0458-1848-B13E-71B95C56D6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A684D9A0-DC94-FB4F-A70E-B1A8B3E8B725}"/>
              </a:ext>
            </a:extLst>
          </p:cNvPr>
          <p:cNvSpPr txBox="1">
            <a:spLocks/>
          </p:cNvSpPr>
          <p:nvPr/>
        </p:nvSpPr>
        <p:spPr>
          <a:xfrm>
            <a:off x="1254486" y="401821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各タスクには</a:t>
            </a:r>
            <a:r>
              <a:rPr lang="en-US" altLang="ja-JP" dirty="0"/>
              <a:t>9</a:t>
            </a:r>
            <a:r>
              <a:rPr lang="ja-JP" altLang="en-US"/>
              <a:t>段階のレベルが存在</a:t>
            </a:r>
          </a:p>
        </p:txBody>
      </p:sp>
      <p:sp>
        <p:nvSpPr>
          <p:cNvPr id="22" name="三角形 21">
            <a:extLst>
              <a:ext uri="{FF2B5EF4-FFF2-40B4-BE49-F238E27FC236}">
                <a16:creationId xmlns:a16="http://schemas.microsoft.com/office/drawing/2014/main" id="{D0FD14B2-2333-834D-8239-201197772A82}"/>
              </a:ext>
            </a:extLst>
          </p:cNvPr>
          <p:cNvSpPr/>
          <p:nvPr/>
        </p:nvSpPr>
        <p:spPr>
          <a:xfrm rot="5400000">
            <a:off x="1076238" y="493008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8B4260A0-5B8E-3841-9581-C59F8BADDF19}"/>
              </a:ext>
            </a:extLst>
          </p:cNvPr>
          <p:cNvSpPr txBox="1">
            <a:spLocks/>
          </p:cNvSpPr>
          <p:nvPr/>
        </p:nvSpPr>
        <p:spPr>
          <a:xfrm>
            <a:off x="1568600" y="481481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レベルが上がるにつれ参加者にとっての価値が上昇</a:t>
            </a:r>
          </a:p>
        </p:txBody>
      </p:sp>
      <p:graphicFrame>
        <p:nvGraphicFramePr>
          <p:cNvPr id="24" name="表 23">
            <a:extLst>
              <a:ext uri="{FF2B5EF4-FFF2-40B4-BE49-F238E27FC236}">
                <a16:creationId xmlns:a16="http://schemas.microsoft.com/office/drawing/2014/main" id="{A120239A-C322-DB4B-84FA-1F70CAEBF07F}"/>
              </a:ext>
            </a:extLst>
          </p:cNvPr>
          <p:cNvGraphicFramePr>
            <a:graphicFrameLocks noGrp="1"/>
          </p:cNvGraphicFramePr>
          <p:nvPr>
            <p:extLst>
              <p:ext uri="{D42A27DB-BD31-4B8C-83A1-F6EECF244321}">
                <p14:modId xmlns:p14="http://schemas.microsoft.com/office/powerpoint/2010/main" val="2457382052"/>
              </p:ext>
            </p:extLst>
          </p:nvPr>
        </p:nvGraphicFramePr>
        <p:xfrm>
          <a:off x="2863684" y="8380284"/>
          <a:ext cx="12560632" cy="2804160"/>
        </p:xfrm>
        <a:graphic>
          <a:graphicData uri="http://schemas.openxmlformats.org/drawingml/2006/table">
            <a:tbl>
              <a:tblPr fir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レベル</a:t>
                      </a:r>
                      <a:r>
                        <a:rPr kumimoji="1" lang="en-US" altLang="ja-JP" sz="4000" dirty="0"/>
                        <a:t>1</a:t>
                      </a:r>
                      <a:r>
                        <a:rPr kumimoji="1" lang="ja-JP" altLang="en-US" sz="4000"/>
                        <a:t>の価値</a:t>
                      </a:r>
                    </a:p>
                  </a:txBody>
                  <a:tcPr/>
                </a:tc>
                <a:tc>
                  <a:txBody>
                    <a:bodyPr/>
                    <a:lstStyle/>
                    <a:p>
                      <a:pPr algn="ctr"/>
                      <a:r>
                        <a:rPr kumimoji="1" lang="ja-JP" altLang="en-US" sz="4000"/>
                        <a:t>レベル</a:t>
                      </a:r>
                      <a:r>
                        <a:rPr kumimoji="1" lang="en-US" altLang="ja-JP" sz="4000" dirty="0"/>
                        <a:t>9</a:t>
                      </a:r>
                      <a:r>
                        <a:rPr kumimoji="1" lang="ja-JP" altLang="en-US" sz="4000"/>
                        <a:t>の価値</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400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120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240</a:t>
                      </a:r>
                      <a:endParaRPr kumimoji="1" lang="ja-JP" altLang="en-US" sz="4000"/>
                    </a:p>
                  </a:txBody>
                  <a:tcPr/>
                </a:tc>
                <a:extLst>
                  <a:ext uri="{0D108BD9-81ED-4DB2-BD59-A6C34878D82A}">
                    <a16:rowId xmlns:a16="http://schemas.microsoft.com/office/drawing/2014/main" val="85150135"/>
                  </a:ext>
                </a:extLst>
              </a:tr>
            </a:tbl>
          </a:graphicData>
        </a:graphic>
      </p:graphicFrame>
      <p:sp>
        <p:nvSpPr>
          <p:cNvPr id="25" name="三角形 24">
            <a:extLst>
              <a:ext uri="{FF2B5EF4-FFF2-40B4-BE49-F238E27FC236}">
                <a16:creationId xmlns:a16="http://schemas.microsoft.com/office/drawing/2014/main" id="{144F3F6D-3F2B-7242-B670-5F030B692E19}"/>
              </a:ext>
            </a:extLst>
          </p:cNvPr>
          <p:cNvSpPr/>
          <p:nvPr/>
        </p:nvSpPr>
        <p:spPr>
          <a:xfrm rot="5400000">
            <a:off x="1076238" y="570508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D77E9EF6-DEBA-3747-828D-15F39EB5B38F}"/>
              </a:ext>
            </a:extLst>
          </p:cNvPr>
          <p:cNvSpPr txBox="1">
            <a:spLocks/>
          </p:cNvSpPr>
          <p:nvPr/>
        </p:nvSpPr>
        <p:spPr>
          <a:xfrm>
            <a:off x="1568600" y="558981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全ての項目がレベル</a:t>
            </a:r>
            <a:r>
              <a:rPr lang="en-US" altLang="ja-JP" dirty="0"/>
              <a:t>9</a:t>
            </a:r>
            <a:r>
              <a:rPr lang="ja-JP" altLang="en-US"/>
              <a:t>である場合が最良の取引</a:t>
            </a:r>
          </a:p>
        </p:txBody>
      </p:sp>
    </p:spTree>
    <p:extLst>
      <p:ext uri="{BB962C8B-B14F-4D97-AF65-F5344CB8AC3E}">
        <p14:creationId xmlns:p14="http://schemas.microsoft.com/office/powerpoint/2010/main" val="677998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a:t>
            </a:r>
            <a:r>
              <a:rPr lang="en-US" altLang="ja-JP" dirty="0"/>
              <a:t>alternating offers protocol</a:t>
            </a:r>
            <a:r>
              <a:rPr lang="ja-JP" altLang="en-US"/>
              <a:t>に従って行う</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参加者が交互に</a:t>
            </a:r>
            <a:r>
              <a:rPr lang="en-US" altLang="ja-JP" dirty="0"/>
              <a:t>offer</a:t>
            </a:r>
            <a:r>
              <a:rPr lang="ja-JP" altLang="en-US"/>
              <a:t>を行う</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59" name="グループ化 58">
            <a:extLst>
              <a:ext uri="{FF2B5EF4-FFF2-40B4-BE49-F238E27FC236}">
                <a16:creationId xmlns:a16="http://schemas.microsoft.com/office/drawing/2014/main" id="{624E4961-27DE-A447-B772-245797E050F6}"/>
              </a:ext>
            </a:extLst>
          </p:cNvPr>
          <p:cNvGrpSpPr/>
          <p:nvPr/>
        </p:nvGrpSpPr>
        <p:grpSpPr>
          <a:xfrm>
            <a:off x="2388785" y="5593615"/>
            <a:ext cx="14048933" cy="6648520"/>
            <a:chOff x="2388785" y="5593615"/>
            <a:chExt cx="14048933" cy="6648520"/>
          </a:xfrm>
        </p:grpSpPr>
        <p:grpSp>
          <p:nvGrpSpPr>
            <p:cNvPr id="56" name="グループ化 55">
              <a:extLst>
                <a:ext uri="{FF2B5EF4-FFF2-40B4-BE49-F238E27FC236}">
                  <a16:creationId xmlns:a16="http://schemas.microsoft.com/office/drawing/2014/main" id="{0357ECAE-4255-E445-8BF4-2A8DF5ACB2D8}"/>
                </a:ext>
              </a:extLst>
            </p:cNvPr>
            <p:cNvGrpSpPr/>
            <p:nvPr/>
          </p:nvGrpSpPr>
          <p:grpSpPr>
            <a:xfrm>
              <a:off x="2388785" y="6451496"/>
              <a:ext cx="14048933" cy="5790639"/>
              <a:chOff x="2169353" y="5242486"/>
              <a:chExt cx="14048933" cy="5790639"/>
            </a:xfrm>
          </p:grpSpPr>
          <p:cxnSp>
            <p:nvCxnSpPr>
              <p:cNvPr id="53" name="直線コネクタ 52">
                <a:extLst>
                  <a:ext uri="{FF2B5EF4-FFF2-40B4-BE49-F238E27FC236}">
                    <a16:creationId xmlns:a16="http://schemas.microsoft.com/office/drawing/2014/main" id="{FDC08198-C75C-1E4B-8F55-6B7AA283107C}"/>
                  </a:ext>
                </a:extLst>
              </p:cNvPr>
              <p:cNvCxnSpPr>
                <a:cxnSpLocks/>
              </p:cNvCxnSpPr>
              <p:nvPr/>
            </p:nvCxnSpPr>
            <p:spPr>
              <a:xfrm flipV="1">
                <a:off x="3898567" y="10513166"/>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16D7953C-F20B-F648-97B9-FB72671F0A2C}"/>
                  </a:ext>
                </a:extLst>
              </p:cNvPr>
              <p:cNvCxnSpPr>
                <a:cxnSpLocks/>
              </p:cNvCxnSpPr>
              <p:nvPr/>
            </p:nvCxnSpPr>
            <p:spPr>
              <a:xfrm flipV="1">
                <a:off x="3898567" y="8358404"/>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7" name="スマイル 36">
                <a:extLst>
                  <a:ext uri="{FF2B5EF4-FFF2-40B4-BE49-F238E27FC236}">
                    <a16:creationId xmlns:a16="http://schemas.microsoft.com/office/drawing/2014/main" id="{9CF4B8AF-2E80-B74E-9689-81954181E3E2}"/>
                  </a:ext>
                </a:extLst>
              </p:cNvPr>
              <p:cNvSpPr/>
              <p:nvPr/>
            </p:nvSpPr>
            <p:spPr>
              <a:xfrm>
                <a:off x="6627244" y="5242487"/>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スマイル 37">
                <a:extLst>
                  <a:ext uri="{FF2B5EF4-FFF2-40B4-BE49-F238E27FC236}">
                    <a16:creationId xmlns:a16="http://schemas.microsoft.com/office/drawing/2014/main" id="{6DC2511F-6662-1E49-905F-DD3BE3C4A0EF}"/>
                  </a:ext>
                </a:extLst>
              </p:cNvPr>
              <p:cNvSpPr/>
              <p:nvPr/>
            </p:nvSpPr>
            <p:spPr>
              <a:xfrm>
                <a:off x="11834723" y="5242486"/>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9" name="角丸四角形 38">
                <a:extLst>
                  <a:ext uri="{FF2B5EF4-FFF2-40B4-BE49-F238E27FC236}">
                    <a16:creationId xmlns:a16="http://schemas.microsoft.com/office/drawing/2014/main" id="{E09C4C9C-1428-3248-A1B6-150365D74B5A}"/>
                  </a:ext>
                </a:extLst>
              </p:cNvPr>
              <p:cNvSpPr/>
              <p:nvPr/>
            </p:nvSpPr>
            <p:spPr>
              <a:xfrm>
                <a:off x="5997516" y="6948129"/>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1" name="テキスト ボックス 40">
                <a:extLst>
                  <a:ext uri="{FF2B5EF4-FFF2-40B4-BE49-F238E27FC236}">
                    <a16:creationId xmlns:a16="http://schemas.microsoft.com/office/drawing/2014/main" id="{FBE073DD-A991-1C43-B2B7-BE007D6A4F8C}"/>
                  </a:ext>
                </a:extLst>
              </p:cNvPr>
              <p:cNvSpPr txBox="1"/>
              <p:nvPr/>
            </p:nvSpPr>
            <p:spPr>
              <a:xfrm>
                <a:off x="10679862" y="7071835"/>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4" name="右矢印 43">
                <a:extLst>
                  <a:ext uri="{FF2B5EF4-FFF2-40B4-BE49-F238E27FC236}">
                    <a16:creationId xmlns:a16="http://schemas.microsoft.com/office/drawing/2014/main" id="{11B97553-391D-4847-943B-17718411A7AE}"/>
                  </a:ext>
                </a:extLst>
              </p:cNvPr>
              <p:cNvSpPr/>
              <p:nvPr/>
            </p:nvSpPr>
            <p:spPr>
              <a:xfrm>
                <a:off x="9109854" y="7284253"/>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5" name="角丸四角形 44">
                <a:extLst>
                  <a:ext uri="{FF2B5EF4-FFF2-40B4-BE49-F238E27FC236}">
                    <a16:creationId xmlns:a16="http://schemas.microsoft.com/office/drawing/2014/main" id="{1252E8D3-35D9-BD40-A048-F80F78E5FD1E}"/>
                  </a:ext>
                </a:extLst>
              </p:cNvPr>
              <p:cNvSpPr/>
              <p:nvPr/>
            </p:nvSpPr>
            <p:spPr>
              <a:xfrm>
                <a:off x="11204995" y="9103036"/>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6" name="右矢印 45">
                <a:extLst>
                  <a:ext uri="{FF2B5EF4-FFF2-40B4-BE49-F238E27FC236}">
                    <a16:creationId xmlns:a16="http://schemas.microsoft.com/office/drawing/2014/main" id="{13E13E97-CA93-4847-A5DA-3CA17C7D3804}"/>
                  </a:ext>
                </a:extLst>
              </p:cNvPr>
              <p:cNvSpPr/>
              <p:nvPr/>
            </p:nvSpPr>
            <p:spPr>
              <a:xfrm rot="5400000">
                <a:off x="11943599" y="8226893"/>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7" name="テキスト ボックス 46">
                <a:extLst>
                  <a:ext uri="{FF2B5EF4-FFF2-40B4-BE49-F238E27FC236}">
                    <a16:creationId xmlns:a16="http://schemas.microsoft.com/office/drawing/2014/main" id="{B3A90CC4-0059-EC48-8D6E-E8B229E12046}"/>
                  </a:ext>
                </a:extLst>
              </p:cNvPr>
              <p:cNvSpPr txBox="1"/>
              <p:nvPr/>
            </p:nvSpPr>
            <p:spPr>
              <a:xfrm>
                <a:off x="5497183" y="9183499"/>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8" name="右矢印 47">
                <a:extLst>
                  <a:ext uri="{FF2B5EF4-FFF2-40B4-BE49-F238E27FC236}">
                    <a16:creationId xmlns:a16="http://schemas.microsoft.com/office/drawing/2014/main" id="{BC223DC2-9CD1-0C4C-8D7A-FBC496089A6B}"/>
                  </a:ext>
                </a:extLst>
              </p:cNvPr>
              <p:cNvSpPr/>
              <p:nvPr/>
            </p:nvSpPr>
            <p:spPr>
              <a:xfrm flipH="1">
                <a:off x="9109854" y="9388326"/>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右矢印 48">
                <a:extLst>
                  <a:ext uri="{FF2B5EF4-FFF2-40B4-BE49-F238E27FC236}">
                    <a16:creationId xmlns:a16="http://schemas.microsoft.com/office/drawing/2014/main" id="{E2A01DCA-2AFF-2041-B8CD-5D8E892B3A2D}"/>
                  </a:ext>
                </a:extLst>
              </p:cNvPr>
              <p:cNvSpPr/>
              <p:nvPr/>
            </p:nvSpPr>
            <p:spPr>
              <a:xfrm rot="5400000">
                <a:off x="6760919" y="10384117"/>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4" name="テキスト ボックス 53">
                <a:extLst>
                  <a:ext uri="{FF2B5EF4-FFF2-40B4-BE49-F238E27FC236}">
                    <a16:creationId xmlns:a16="http://schemas.microsoft.com/office/drawing/2014/main" id="{4859D2BE-E535-2D41-971F-8FFE54AB3657}"/>
                  </a:ext>
                </a:extLst>
              </p:cNvPr>
              <p:cNvSpPr txBox="1"/>
              <p:nvPr/>
            </p:nvSpPr>
            <p:spPr>
              <a:xfrm>
                <a:off x="2169353" y="8035238"/>
                <a:ext cx="1797246" cy="646331"/>
              </a:xfrm>
              <a:prstGeom prst="rect">
                <a:avLst/>
              </a:prstGeom>
              <a:noFill/>
            </p:spPr>
            <p:txBody>
              <a:bodyPr wrap="square" rtlCol="0">
                <a:spAutoFit/>
              </a:bodyPr>
              <a:lstStyle/>
              <a:p>
                <a:pPr algn="ctr"/>
                <a:r>
                  <a:rPr lang="en-US" altLang="ja-JP" dirty="0"/>
                  <a:t>turn1</a:t>
                </a:r>
                <a:endParaRPr kumimoji="1" lang="ja-JP" altLang="en-US"/>
              </a:p>
            </p:txBody>
          </p:sp>
          <p:sp>
            <p:nvSpPr>
              <p:cNvPr id="55" name="テキスト ボックス 54">
                <a:extLst>
                  <a:ext uri="{FF2B5EF4-FFF2-40B4-BE49-F238E27FC236}">
                    <a16:creationId xmlns:a16="http://schemas.microsoft.com/office/drawing/2014/main" id="{9315D72E-0419-9A41-97CF-F197D1FAFC7C}"/>
                  </a:ext>
                </a:extLst>
              </p:cNvPr>
              <p:cNvSpPr txBox="1"/>
              <p:nvPr/>
            </p:nvSpPr>
            <p:spPr>
              <a:xfrm>
                <a:off x="2169353" y="10190000"/>
                <a:ext cx="1797246" cy="646331"/>
              </a:xfrm>
              <a:prstGeom prst="rect">
                <a:avLst/>
              </a:prstGeom>
              <a:noFill/>
            </p:spPr>
            <p:txBody>
              <a:bodyPr wrap="square" rtlCol="0">
                <a:spAutoFit/>
              </a:bodyPr>
              <a:lstStyle/>
              <a:p>
                <a:pPr algn="ctr"/>
                <a:r>
                  <a:rPr lang="en-US" altLang="ja-JP" dirty="0"/>
                  <a:t>turn2</a:t>
                </a:r>
                <a:endParaRPr kumimoji="1" lang="ja-JP" altLang="en-US"/>
              </a:p>
            </p:txBody>
          </p:sp>
        </p:grpSp>
        <p:sp>
          <p:nvSpPr>
            <p:cNvPr id="57" name="テキスト ボックス 56">
              <a:extLst>
                <a:ext uri="{FF2B5EF4-FFF2-40B4-BE49-F238E27FC236}">
                  <a16:creationId xmlns:a16="http://schemas.microsoft.com/office/drawing/2014/main" id="{ABBE6729-4F1E-844B-8626-9D8A4C742F21}"/>
                </a:ext>
              </a:extLst>
            </p:cNvPr>
            <p:cNvSpPr txBox="1"/>
            <p:nvPr/>
          </p:nvSpPr>
          <p:spPr>
            <a:xfrm>
              <a:off x="6569153" y="5617598"/>
              <a:ext cx="1797246" cy="646331"/>
            </a:xfrm>
            <a:prstGeom prst="rect">
              <a:avLst/>
            </a:prstGeom>
            <a:noFill/>
          </p:spPr>
          <p:txBody>
            <a:bodyPr wrap="square" rtlCol="0">
              <a:spAutoFit/>
            </a:bodyPr>
            <a:lstStyle/>
            <a:p>
              <a:pPr algn="ctr"/>
              <a:r>
                <a:rPr kumimoji="1" lang="en-US" altLang="ja-JP" dirty="0"/>
                <a:t>A</a:t>
              </a:r>
              <a:endParaRPr kumimoji="1" lang="ja-JP" altLang="en-US"/>
            </a:p>
          </p:txBody>
        </p:sp>
        <p:sp>
          <p:nvSpPr>
            <p:cNvPr id="58" name="テキスト ボックス 57">
              <a:extLst>
                <a:ext uri="{FF2B5EF4-FFF2-40B4-BE49-F238E27FC236}">
                  <a16:creationId xmlns:a16="http://schemas.microsoft.com/office/drawing/2014/main" id="{9CE7A1FE-D08D-FA4C-8BC0-8BAE53E4808F}"/>
                </a:ext>
              </a:extLst>
            </p:cNvPr>
            <p:cNvSpPr txBox="1"/>
            <p:nvPr/>
          </p:nvSpPr>
          <p:spPr>
            <a:xfrm>
              <a:off x="11751833" y="5593615"/>
              <a:ext cx="1797246" cy="646331"/>
            </a:xfrm>
            <a:prstGeom prst="rect">
              <a:avLst/>
            </a:prstGeom>
            <a:noFill/>
          </p:spPr>
          <p:txBody>
            <a:bodyPr wrap="square" rtlCol="0">
              <a:spAutoFit/>
            </a:bodyPr>
            <a:lstStyle/>
            <a:p>
              <a:pPr algn="ctr"/>
              <a:r>
                <a:rPr lang="en-US" altLang="ja-JP" dirty="0"/>
                <a:t>B</a:t>
              </a:r>
              <a:endParaRPr kumimoji="1" lang="ja-JP" altLang="en-US"/>
            </a:p>
          </p:txBody>
        </p:sp>
      </p:gr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6</a:t>
            </a:r>
            <a:r>
              <a:rPr lang="ja-JP" altLang="en-US"/>
              <a:t>ターン終了時までに合意が得られなかった場合は交渉終了</a:t>
            </a:r>
          </a:p>
        </p:txBody>
      </p:sp>
    </p:spTree>
    <p:extLst>
      <p:ext uri="{BB962C8B-B14F-4D97-AF65-F5344CB8AC3E}">
        <p14:creationId xmlns:p14="http://schemas.microsoft.com/office/powerpoint/2010/main" val="2592753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a:t>
            </a:r>
            <a:r>
              <a:rPr lang="en-US" altLang="ja-JP" dirty="0"/>
              <a:t>offer</a:t>
            </a:r>
            <a:r>
              <a:rPr lang="ja-JP" altLang="en-US"/>
              <a:t>は以下のレベルで行なわれる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ターンが経過するにつれて譲歩する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aphicFrame>
        <p:nvGraphicFramePr>
          <p:cNvPr id="40" name="表 39">
            <a:extLst>
              <a:ext uri="{FF2B5EF4-FFF2-40B4-BE49-F238E27FC236}">
                <a16:creationId xmlns:a16="http://schemas.microsoft.com/office/drawing/2014/main" id="{E9372689-BF67-5547-B96B-CA9774DC3ACD}"/>
              </a:ext>
            </a:extLst>
          </p:cNvPr>
          <p:cNvGraphicFramePr>
            <a:graphicFrameLocks noGrp="1"/>
          </p:cNvGraphicFramePr>
          <p:nvPr>
            <p:extLst>
              <p:ext uri="{D42A27DB-BD31-4B8C-83A1-F6EECF244321}">
                <p14:modId xmlns:p14="http://schemas.microsoft.com/office/powerpoint/2010/main" val="4222583399"/>
              </p:ext>
            </p:extLst>
          </p:nvPr>
        </p:nvGraphicFramePr>
        <p:xfrm>
          <a:off x="481153" y="4657122"/>
          <a:ext cx="17325694" cy="2804160"/>
        </p:xfrm>
        <a:graphic>
          <a:graphicData uri="http://schemas.openxmlformats.org/drawingml/2006/table">
            <a:tbl>
              <a:tblPr firstRow="1" bandRow="1">
                <a:tableStyleId>{5C22544A-7EE6-4342-B048-85BDC9FD1C3A}</a:tableStyleId>
              </a:tblPr>
              <a:tblGrid>
                <a:gridCol w="4797694">
                  <a:extLst>
                    <a:ext uri="{9D8B030D-6E8A-4147-A177-3AD203B41FA5}">
                      <a16:colId xmlns:a16="http://schemas.microsoft.com/office/drawing/2014/main" val="3132472836"/>
                    </a:ext>
                  </a:extLst>
                </a:gridCol>
                <a:gridCol w="2088000">
                  <a:extLst>
                    <a:ext uri="{9D8B030D-6E8A-4147-A177-3AD203B41FA5}">
                      <a16:colId xmlns:a16="http://schemas.microsoft.com/office/drawing/2014/main" val="1411076331"/>
                    </a:ext>
                  </a:extLst>
                </a:gridCol>
                <a:gridCol w="2088000">
                  <a:extLst>
                    <a:ext uri="{9D8B030D-6E8A-4147-A177-3AD203B41FA5}">
                      <a16:colId xmlns:a16="http://schemas.microsoft.com/office/drawing/2014/main" val="3639288741"/>
                    </a:ext>
                  </a:extLst>
                </a:gridCol>
                <a:gridCol w="2088000">
                  <a:extLst>
                    <a:ext uri="{9D8B030D-6E8A-4147-A177-3AD203B41FA5}">
                      <a16:colId xmlns:a16="http://schemas.microsoft.com/office/drawing/2014/main" val="2618031870"/>
                    </a:ext>
                  </a:extLst>
                </a:gridCol>
                <a:gridCol w="2088000">
                  <a:extLst>
                    <a:ext uri="{9D8B030D-6E8A-4147-A177-3AD203B41FA5}">
                      <a16:colId xmlns:a16="http://schemas.microsoft.com/office/drawing/2014/main" val="2275254161"/>
                    </a:ext>
                  </a:extLst>
                </a:gridCol>
                <a:gridCol w="2088000">
                  <a:extLst>
                    <a:ext uri="{9D8B030D-6E8A-4147-A177-3AD203B41FA5}">
                      <a16:colId xmlns:a16="http://schemas.microsoft.com/office/drawing/2014/main" val="232774055"/>
                    </a:ext>
                  </a:extLst>
                </a:gridCol>
                <a:gridCol w="2088000">
                  <a:extLst>
                    <a:ext uri="{9D8B030D-6E8A-4147-A177-3AD203B41FA5}">
                      <a16:colId xmlns:a16="http://schemas.microsoft.com/office/drawing/2014/main" val="959137927"/>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endParaRPr kumimoji="1" lang="ja-JP" altLang="en-US" sz="4000"/>
                    </a:p>
                  </a:txBody>
                  <a:tcPr/>
                </a:tc>
                <a:tc>
                  <a:txBody>
                    <a:bodyPr/>
                    <a:lstStyle/>
                    <a:p>
                      <a:pPr algn="ctr"/>
                      <a:r>
                        <a:rPr kumimoji="1" lang="ja-JP" altLang="en-US" sz="4000"/>
                        <a:t>ターン</a:t>
                      </a:r>
                      <a:r>
                        <a:rPr kumimoji="1" lang="en-US" altLang="ja-JP" sz="4000" dirty="0"/>
                        <a:t>2</a:t>
                      </a:r>
                      <a:endParaRPr kumimoji="1" lang="ja-JP" altLang="en-US" sz="4000"/>
                    </a:p>
                  </a:txBody>
                  <a:tcPr/>
                </a:tc>
                <a:tc>
                  <a:txBody>
                    <a:bodyPr/>
                    <a:lstStyle/>
                    <a:p>
                      <a:pPr algn="ctr"/>
                      <a:r>
                        <a:rPr kumimoji="1" lang="ja-JP" altLang="en-US" sz="4000"/>
                        <a:t>ターン</a:t>
                      </a:r>
                      <a:r>
                        <a:rPr kumimoji="1" lang="en-US" altLang="ja-JP" sz="4000" dirty="0"/>
                        <a:t>3</a:t>
                      </a:r>
                      <a:endParaRPr kumimoji="1" lang="ja-JP" altLang="en-US" sz="4000"/>
                    </a:p>
                  </a:txBody>
                  <a:tcPr/>
                </a:tc>
                <a:tc>
                  <a:txBody>
                    <a:bodyPr/>
                    <a:lstStyle/>
                    <a:p>
                      <a:pPr algn="ctr"/>
                      <a:r>
                        <a:rPr kumimoji="1" lang="ja-JP" altLang="en-US" sz="4000"/>
                        <a:t>ターン</a:t>
                      </a:r>
                      <a:r>
                        <a:rPr kumimoji="1" lang="en-US" altLang="ja-JP" sz="4000" dirty="0"/>
                        <a:t>4</a:t>
                      </a:r>
                      <a:endParaRPr kumimoji="1" lang="ja-JP" altLang="en-US" sz="4000"/>
                    </a:p>
                  </a:txBody>
                  <a:tcPr/>
                </a:tc>
                <a:tc>
                  <a:txBody>
                    <a:bodyPr/>
                    <a:lstStyle/>
                    <a:p>
                      <a:pPr algn="ctr"/>
                      <a:r>
                        <a:rPr kumimoji="1" lang="ja-JP" altLang="en-US" sz="4000"/>
                        <a:t>ターン</a:t>
                      </a:r>
                      <a:r>
                        <a:rPr kumimoji="1" lang="en-US" altLang="ja-JP" sz="4000" dirty="0"/>
                        <a:t>5</a:t>
                      </a:r>
                      <a:endParaRPr kumimoji="1" lang="ja-JP" altLang="en-US" sz="4000"/>
                    </a:p>
                  </a:txBody>
                  <a:tcPr/>
                </a:tc>
                <a:tc>
                  <a:txBody>
                    <a:bodyPr/>
                    <a:lstStyle/>
                    <a:p>
                      <a:pPr algn="ctr"/>
                      <a:r>
                        <a:rPr kumimoji="1" lang="ja-JP" altLang="en-US" sz="4000"/>
                        <a:t>ターン</a:t>
                      </a:r>
                      <a:r>
                        <a:rPr kumimoji="1" lang="en-US" altLang="ja-JP" sz="4000" dirty="0"/>
                        <a:t>6</a:t>
                      </a:r>
                      <a:endParaRPr kumimoji="1" lang="ja-JP" altLang="en-US" sz="4000"/>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85150135"/>
                  </a:ext>
                </a:extLst>
              </a:tr>
            </a:tbl>
          </a:graphicData>
        </a:graphic>
      </p:graphicFrame>
      <p:grpSp>
        <p:nvGrpSpPr>
          <p:cNvPr id="67" name="グループ化 66">
            <a:extLst>
              <a:ext uri="{FF2B5EF4-FFF2-40B4-BE49-F238E27FC236}">
                <a16:creationId xmlns:a16="http://schemas.microsoft.com/office/drawing/2014/main" id="{AF43A8DD-E204-6D4F-8D7E-6389A3B63A35}"/>
              </a:ext>
            </a:extLst>
          </p:cNvPr>
          <p:cNvGrpSpPr/>
          <p:nvPr/>
        </p:nvGrpSpPr>
        <p:grpSpPr>
          <a:xfrm>
            <a:off x="306583" y="8372114"/>
            <a:ext cx="2160000" cy="934436"/>
            <a:chOff x="144665" y="525617"/>
            <a:chExt cx="1080000" cy="467218"/>
          </a:xfrm>
        </p:grpSpPr>
        <p:sp>
          <p:nvSpPr>
            <p:cNvPr id="68" name="正方形/長方形 67">
              <a:extLst>
                <a:ext uri="{FF2B5EF4-FFF2-40B4-BE49-F238E27FC236}">
                  <a16:creationId xmlns:a16="http://schemas.microsoft.com/office/drawing/2014/main" id="{D3784741-4980-5E48-8B2F-9D05B7A1D4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1" name="正方形/長方形 70">
              <a:extLst>
                <a:ext uri="{FF2B5EF4-FFF2-40B4-BE49-F238E27FC236}">
                  <a16:creationId xmlns:a16="http://schemas.microsoft.com/office/drawing/2014/main" id="{2B012E12-8EDA-3C45-A6D9-515B8234B8A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2" name="グループ化 71">
            <a:extLst>
              <a:ext uri="{FF2B5EF4-FFF2-40B4-BE49-F238E27FC236}">
                <a16:creationId xmlns:a16="http://schemas.microsoft.com/office/drawing/2014/main" id="{CC62BD74-0397-CF46-900B-2D064C928F73}"/>
              </a:ext>
            </a:extLst>
          </p:cNvPr>
          <p:cNvGrpSpPr/>
          <p:nvPr/>
        </p:nvGrpSpPr>
        <p:grpSpPr>
          <a:xfrm>
            <a:off x="634485" y="9516174"/>
            <a:ext cx="539448" cy="487368"/>
            <a:chOff x="400056" y="1061560"/>
            <a:chExt cx="269724" cy="243684"/>
          </a:xfrm>
        </p:grpSpPr>
        <p:sp>
          <p:nvSpPr>
            <p:cNvPr id="73" name="三角形 72">
              <a:extLst>
                <a:ext uri="{FF2B5EF4-FFF2-40B4-BE49-F238E27FC236}">
                  <a16:creationId xmlns:a16="http://schemas.microsoft.com/office/drawing/2014/main" id="{FA9A05CB-7BF6-104E-A8B9-1DA4289FABD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CBD3F5DB-87B5-E041-B871-83C11126950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6" name="テキスト プレースホルダー 27">
            <a:extLst>
              <a:ext uri="{FF2B5EF4-FFF2-40B4-BE49-F238E27FC236}">
                <a16:creationId xmlns:a16="http://schemas.microsoft.com/office/drawing/2014/main" id="{0805C932-52A3-F14E-8C0D-1188AD945D02}"/>
              </a:ext>
            </a:extLst>
          </p:cNvPr>
          <p:cNvSpPr txBox="1">
            <a:spLocks/>
          </p:cNvSpPr>
          <p:nvPr/>
        </p:nvSpPr>
        <p:spPr>
          <a:xfrm>
            <a:off x="1271739" y="944354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履修単位</a:t>
            </a:r>
            <a:endParaRPr lang="en-US" altLang="ja-JP" dirty="0"/>
          </a:p>
        </p:txBody>
      </p:sp>
      <p:sp>
        <p:nvSpPr>
          <p:cNvPr id="78" name="テキスト プレースホルダー 30">
            <a:extLst>
              <a:ext uri="{FF2B5EF4-FFF2-40B4-BE49-F238E27FC236}">
                <a16:creationId xmlns:a16="http://schemas.microsoft.com/office/drawing/2014/main" id="{BDCF4158-63FA-6B46-A592-469329D525B9}"/>
              </a:ext>
            </a:extLst>
          </p:cNvPr>
          <p:cNvSpPr txBox="1">
            <a:spLocks/>
          </p:cNvSpPr>
          <p:nvPr/>
        </p:nvSpPr>
        <p:spPr>
          <a:xfrm>
            <a:off x="588302" y="8542687"/>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参加者へのインセンティブ</a:t>
            </a:r>
          </a:p>
        </p:txBody>
      </p:sp>
      <p:grpSp>
        <p:nvGrpSpPr>
          <p:cNvPr id="80" name="グループ化 79">
            <a:extLst>
              <a:ext uri="{FF2B5EF4-FFF2-40B4-BE49-F238E27FC236}">
                <a16:creationId xmlns:a16="http://schemas.microsoft.com/office/drawing/2014/main" id="{A4225CB9-8CD3-D441-8968-23641E87F48F}"/>
              </a:ext>
            </a:extLst>
          </p:cNvPr>
          <p:cNvGrpSpPr/>
          <p:nvPr/>
        </p:nvGrpSpPr>
        <p:grpSpPr>
          <a:xfrm>
            <a:off x="617232" y="10323591"/>
            <a:ext cx="539448" cy="487368"/>
            <a:chOff x="400056" y="1061560"/>
            <a:chExt cx="269724" cy="243684"/>
          </a:xfrm>
        </p:grpSpPr>
        <p:sp>
          <p:nvSpPr>
            <p:cNvPr id="81" name="三角形 80">
              <a:extLst>
                <a:ext uri="{FF2B5EF4-FFF2-40B4-BE49-F238E27FC236}">
                  <a16:creationId xmlns:a16="http://schemas.microsoft.com/office/drawing/2014/main" id="{592BBE17-45AB-E646-99AF-F47D0DE445F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C8C3ABEF-62F8-8549-A46E-3996937CFB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ABB35284-5CCF-1248-9717-0F4B86749863}"/>
              </a:ext>
            </a:extLst>
          </p:cNvPr>
          <p:cNvSpPr txBox="1">
            <a:spLocks/>
          </p:cNvSpPr>
          <p:nvPr/>
        </p:nvSpPr>
        <p:spPr>
          <a:xfrm>
            <a:off x="1254486" y="1025096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抽選で</a:t>
            </a:r>
            <a:r>
              <a:rPr lang="en-US" altLang="ja-JP" dirty="0"/>
              <a:t>100</a:t>
            </a:r>
            <a:r>
              <a:rPr lang="ja-JP" altLang="en-US"/>
              <a:t>ドル</a:t>
            </a:r>
            <a:endParaRPr lang="en-US" altLang="ja-JP" dirty="0"/>
          </a:p>
        </p:txBody>
      </p:sp>
      <p:sp>
        <p:nvSpPr>
          <p:cNvPr id="84" name="三角形 83">
            <a:extLst>
              <a:ext uri="{FF2B5EF4-FFF2-40B4-BE49-F238E27FC236}">
                <a16:creationId xmlns:a16="http://schemas.microsoft.com/office/drawing/2014/main" id="{A76CC6A0-E54B-5541-82F2-BA4414A87EC0}"/>
              </a:ext>
            </a:extLst>
          </p:cNvPr>
          <p:cNvSpPr/>
          <p:nvPr/>
        </p:nvSpPr>
        <p:spPr>
          <a:xfrm rot="5400000">
            <a:off x="1076238" y="1111966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9AB38C3B-BE07-594E-B470-D89EA82DDD29}"/>
              </a:ext>
            </a:extLst>
          </p:cNvPr>
          <p:cNvSpPr txBox="1">
            <a:spLocks/>
          </p:cNvSpPr>
          <p:nvPr/>
        </p:nvSpPr>
        <p:spPr>
          <a:xfrm>
            <a:off x="1568600" y="1100439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価値の合計が多いほど当選確率が上昇</a:t>
            </a:r>
          </a:p>
        </p:txBody>
      </p:sp>
      <p:sp>
        <p:nvSpPr>
          <p:cNvPr id="86" name="三角形 85">
            <a:extLst>
              <a:ext uri="{FF2B5EF4-FFF2-40B4-BE49-F238E27FC236}">
                <a16:creationId xmlns:a16="http://schemas.microsoft.com/office/drawing/2014/main" id="{1091AC50-804F-8B40-9EDD-A753647D8FEF}"/>
              </a:ext>
            </a:extLst>
          </p:cNvPr>
          <p:cNvSpPr/>
          <p:nvPr/>
        </p:nvSpPr>
        <p:spPr>
          <a:xfrm rot="5400000">
            <a:off x="1076238" y="119123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79C37548-A7D8-164E-8745-7669F6F7B283}"/>
              </a:ext>
            </a:extLst>
          </p:cNvPr>
          <p:cNvSpPr txBox="1">
            <a:spLocks/>
          </p:cNvSpPr>
          <p:nvPr/>
        </p:nvSpPr>
        <p:spPr>
          <a:xfrm>
            <a:off x="1568600" y="117970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交渉が合意至らなかった場合は価値が得られない</a:t>
            </a:r>
          </a:p>
        </p:txBody>
      </p:sp>
    </p:spTree>
    <p:extLst>
      <p:ext uri="{BB962C8B-B14F-4D97-AF65-F5344CB8AC3E}">
        <p14:creationId xmlns:p14="http://schemas.microsoft.com/office/powerpoint/2010/main" val="32451517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感情の伝達は以下の手順に従う</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a:t>
            </a:r>
          </a:p>
        </p:txBody>
      </p:sp>
      <p:sp>
        <p:nvSpPr>
          <p:cNvPr id="17" name="テキスト ボックス 16">
            <a:extLst>
              <a:ext uri="{FF2B5EF4-FFF2-40B4-BE49-F238E27FC236}">
                <a16:creationId xmlns:a16="http://schemas.microsoft.com/office/drawing/2014/main" id="{5629DD65-D953-EC4C-B0BB-463A18B57C1A}"/>
              </a:ext>
            </a:extLst>
          </p:cNvPr>
          <p:cNvSpPr txBox="1"/>
          <p:nvPr/>
        </p:nvSpPr>
        <p:spPr>
          <a:xfrm>
            <a:off x="1173933" y="6887325"/>
            <a:ext cx="15176134" cy="3170099"/>
          </a:xfrm>
          <a:prstGeom prst="rect">
            <a:avLst/>
          </a:prstGeom>
          <a:noFill/>
        </p:spPr>
        <p:txBody>
          <a:bodyPr wrap="square" rtlCol="0">
            <a:spAutoFit/>
          </a:bodyPr>
          <a:lstStyle/>
          <a:p>
            <a:pPr marL="742950" indent="-742950">
              <a:buFont typeface="+mj-lt"/>
              <a:buAutoNum type="arabicPeriod"/>
            </a:pPr>
            <a:r>
              <a:rPr kumimoji="1" lang="ja-JP" altLang="en-US" sz="4000"/>
              <a:t>参加者がオファーを行う</a:t>
            </a:r>
            <a:endParaRPr kumimoji="1" lang="en-US" altLang="ja-JP" sz="4000" dirty="0"/>
          </a:p>
          <a:p>
            <a:pPr marL="742950" indent="-742950">
              <a:buFont typeface="+mj-lt"/>
              <a:buAutoNum type="arabicPeriod"/>
            </a:pPr>
            <a:r>
              <a:rPr lang="ja-JP" altLang="en-US" sz="4000"/>
              <a:t>エージェントが感情を伝達</a:t>
            </a:r>
            <a:endParaRPr lang="en-US" altLang="ja-JP" sz="4000" dirty="0"/>
          </a:p>
          <a:p>
            <a:pPr marL="742950" indent="-742950">
              <a:buFont typeface="+mj-lt"/>
              <a:buAutoNum type="arabicPeriod"/>
            </a:pPr>
            <a:r>
              <a:rPr kumimoji="1" lang="ja-JP" altLang="en-US" sz="4000"/>
              <a:t>エージェントが</a:t>
            </a:r>
            <a:r>
              <a:rPr kumimoji="1" lang="en-US" altLang="ja-JP" sz="4000" dirty="0"/>
              <a:t>offer</a:t>
            </a:r>
            <a:r>
              <a:rPr kumimoji="1" lang="ja-JP" altLang="en-US" sz="4000"/>
              <a:t>へ返答</a:t>
            </a:r>
            <a:endParaRPr kumimoji="1" lang="en-US" altLang="ja-JP" sz="4000" dirty="0"/>
          </a:p>
          <a:p>
            <a:pPr marL="742950" indent="-742950">
              <a:buFont typeface="+mj-lt"/>
              <a:buAutoNum type="arabicPeriod"/>
            </a:pPr>
            <a:r>
              <a:rPr kumimoji="1" lang="ja-JP" altLang="en-US" sz="4000"/>
              <a:t>参加者はエージェントの</a:t>
            </a:r>
            <a:r>
              <a:rPr kumimoji="1" lang="en-US" altLang="ja-JP" sz="4000" dirty="0"/>
              <a:t>offer</a:t>
            </a:r>
            <a:r>
              <a:rPr kumimoji="1" lang="ja-JP" altLang="en-US" sz="4000"/>
              <a:t>を</a:t>
            </a:r>
            <a:r>
              <a:rPr kumimoji="1" lang="en-US" altLang="ja-JP" sz="4000" dirty="0"/>
              <a:t>reject/accept</a:t>
            </a:r>
            <a:r>
              <a:rPr kumimoji="1" lang="ja-JP" altLang="en-US" sz="4000"/>
              <a:t>する</a:t>
            </a:r>
            <a:endParaRPr kumimoji="1" lang="en-US" altLang="ja-JP" sz="4000" dirty="0"/>
          </a:p>
          <a:p>
            <a:pPr marL="742950" indent="-742950">
              <a:buFont typeface="+mj-lt"/>
              <a:buAutoNum type="arabicPeriod"/>
            </a:pPr>
            <a:r>
              <a:rPr lang="ja-JP" altLang="en-US" sz="4000"/>
              <a:t>感情の伝達を終了</a:t>
            </a:r>
            <a:endParaRPr kumimoji="1" lang="en-US" altLang="ja-JP" sz="4000" dirty="0"/>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103145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101993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感情のターゲットは</a:t>
            </a:r>
            <a:r>
              <a:rPr lang="en-US" altLang="ja-JP" dirty="0"/>
              <a:t>offer</a:t>
            </a:r>
            <a:r>
              <a:rPr lang="ja-JP" altLang="en-US"/>
              <a:t>であり人間ではないことを理解させる</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110866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109714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offer</a:t>
            </a:r>
            <a:r>
              <a:rPr lang="ja-JP" altLang="en-US"/>
              <a:t>の作成前に感情が伝達されたことを理解させる</a:t>
            </a:r>
          </a:p>
        </p:txBody>
      </p:sp>
    </p:spTree>
    <p:extLst>
      <p:ext uri="{BB962C8B-B14F-4D97-AF65-F5344CB8AC3E}">
        <p14:creationId xmlns:p14="http://schemas.microsoft.com/office/powerpoint/2010/main" val="3181034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言語の場合はテキストで伝達</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感情の伝達方法</a:t>
            </a:r>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697106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685578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怒り：「この</a:t>
            </a:r>
            <a:r>
              <a:rPr lang="en-US" altLang="ja-JP" dirty="0"/>
              <a:t>offer</a:t>
            </a:r>
            <a:r>
              <a:rPr lang="ja-JP" altLang="en-US"/>
              <a:t>は合理的じゃない！」</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77431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762790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喜び：「この</a:t>
            </a:r>
            <a:r>
              <a:rPr lang="en-US" altLang="ja-JP" dirty="0"/>
              <a:t>offer</a:t>
            </a:r>
            <a:r>
              <a:rPr lang="ja-JP" altLang="en-US"/>
              <a:t>は素晴らしい！」</a:t>
            </a:r>
          </a:p>
        </p:txBody>
      </p:sp>
      <p:sp>
        <p:nvSpPr>
          <p:cNvPr id="32" name="三角形 31">
            <a:extLst>
              <a:ext uri="{FF2B5EF4-FFF2-40B4-BE49-F238E27FC236}">
                <a16:creationId xmlns:a16="http://schemas.microsoft.com/office/drawing/2014/main" id="{1E60B673-E0C8-BD44-B281-431128DB609E}"/>
              </a:ext>
            </a:extLst>
          </p:cNvPr>
          <p:cNvSpPr/>
          <p:nvPr/>
        </p:nvSpPr>
        <p:spPr>
          <a:xfrm rot="5400000">
            <a:off x="1076238" y="85524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BBD7163B-FD03-FE47-9FBE-EA56FF8B1AE0}"/>
              </a:ext>
            </a:extLst>
          </p:cNvPr>
          <p:cNvSpPr txBox="1">
            <a:spLocks/>
          </p:cNvSpPr>
          <p:nvPr/>
        </p:nvSpPr>
        <p:spPr>
          <a:xfrm>
            <a:off x="1568600" y="84372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中立：「私の</a:t>
            </a:r>
            <a:r>
              <a:rPr lang="en-US" altLang="ja-JP" dirty="0"/>
              <a:t>offer</a:t>
            </a:r>
            <a:r>
              <a:rPr lang="ja-JP" altLang="en-US"/>
              <a:t>はこれです」</a:t>
            </a:r>
          </a:p>
        </p:txBody>
      </p:sp>
      <p:grpSp>
        <p:nvGrpSpPr>
          <p:cNvPr id="34" name="グループ化 33">
            <a:extLst>
              <a:ext uri="{FF2B5EF4-FFF2-40B4-BE49-F238E27FC236}">
                <a16:creationId xmlns:a16="http://schemas.microsoft.com/office/drawing/2014/main" id="{9EEBE3BA-BEEF-FF46-8F61-F9527B4389BE}"/>
              </a:ext>
            </a:extLst>
          </p:cNvPr>
          <p:cNvGrpSpPr/>
          <p:nvPr/>
        </p:nvGrpSpPr>
        <p:grpSpPr>
          <a:xfrm>
            <a:off x="634485" y="9278659"/>
            <a:ext cx="539448" cy="487368"/>
            <a:chOff x="400056" y="1061560"/>
            <a:chExt cx="269724" cy="243684"/>
          </a:xfrm>
        </p:grpSpPr>
        <p:sp>
          <p:nvSpPr>
            <p:cNvPr id="35" name="三角形 34">
              <a:extLst>
                <a:ext uri="{FF2B5EF4-FFF2-40B4-BE49-F238E27FC236}">
                  <a16:creationId xmlns:a16="http://schemas.microsoft.com/office/drawing/2014/main" id="{A2FEE9AB-0656-D149-BB3D-E27E1B99C5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1CE79900-5DA8-2F4A-ACA0-BAF9ABE9214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27">
            <a:extLst>
              <a:ext uri="{FF2B5EF4-FFF2-40B4-BE49-F238E27FC236}">
                <a16:creationId xmlns:a16="http://schemas.microsoft.com/office/drawing/2014/main" id="{634BB085-61D7-004A-A67A-BBE569B063BB}"/>
              </a:ext>
            </a:extLst>
          </p:cNvPr>
          <p:cNvSpPr txBox="1">
            <a:spLocks/>
          </p:cNvSpPr>
          <p:nvPr/>
        </p:nvSpPr>
        <p:spPr>
          <a:xfrm>
            <a:off x="1271739" y="920603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非言語の場合は顔の表情で伝達</a:t>
            </a:r>
            <a:endParaRPr lang="en-US" altLang="ja-JP" dirty="0"/>
          </a:p>
        </p:txBody>
      </p:sp>
      <p:pic>
        <p:nvPicPr>
          <p:cNvPr id="19" name="図 18">
            <a:extLst>
              <a:ext uri="{FF2B5EF4-FFF2-40B4-BE49-F238E27FC236}">
                <a16:creationId xmlns:a16="http://schemas.microsoft.com/office/drawing/2014/main" id="{4899CB92-662C-304D-8D66-881AFB97E7D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0314602" y="8830617"/>
            <a:ext cx="7389962" cy="4178764"/>
          </a:xfrm>
          <a:prstGeom prst="rect">
            <a:avLst/>
          </a:prstGeom>
        </p:spPr>
      </p:pic>
    </p:spTree>
    <p:extLst>
      <p:ext uri="{BB962C8B-B14F-4D97-AF65-F5344CB8AC3E}">
        <p14:creationId xmlns:p14="http://schemas.microsoft.com/office/powerpoint/2010/main" val="10256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r>
              <a:rPr lang="ja-JP" altLang="en-US"/>
              <a:t>を使用</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最初と最後のオファーの要求レベルの差</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評価方法</a:t>
            </a:r>
          </a:p>
        </p:txBody>
      </p:sp>
      <p:graphicFrame>
        <p:nvGraphicFramePr>
          <p:cNvPr id="38" name="表 37">
            <a:extLst>
              <a:ext uri="{FF2B5EF4-FFF2-40B4-BE49-F238E27FC236}">
                <a16:creationId xmlns:a16="http://schemas.microsoft.com/office/drawing/2014/main" id="{A1B773A4-6B9A-E140-9A40-E7C8BF27CBC0}"/>
              </a:ext>
            </a:extLst>
          </p:cNvPr>
          <p:cNvGraphicFramePr>
            <a:graphicFrameLocks noGrp="1"/>
          </p:cNvGraphicFramePr>
          <p:nvPr>
            <p:extLst>
              <p:ext uri="{D42A27DB-BD31-4B8C-83A1-F6EECF244321}">
                <p14:modId xmlns:p14="http://schemas.microsoft.com/office/powerpoint/2010/main" val="96966859"/>
              </p:ext>
            </p:extLst>
          </p:nvPr>
        </p:nvGraphicFramePr>
        <p:xfrm>
          <a:off x="2890055" y="4152741"/>
          <a:ext cx="12560632" cy="3505200"/>
        </p:xfrm>
        <a:graphic>
          <a:graphicData uri="http://schemas.openxmlformats.org/drawingml/2006/table">
            <a:tbl>
              <a:tblPr firstRow="1" la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r>
                        <a:rPr kumimoji="1" lang="ja-JP" altLang="en-US" sz="4000"/>
                        <a:t>の要求</a:t>
                      </a:r>
                    </a:p>
                  </a:txBody>
                  <a:tcPr/>
                </a:tc>
                <a:tc>
                  <a:txBody>
                    <a:bodyPr/>
                    <a:lstStyle/>
                    <a:p>
                      <a:pPr algn="ctr"/>
                      <a:r>
                        <a:rPr kumimoji="1" lang="ja-JP" altLang="en-US" sz="4000"/>
                        <a:t>ターン</a:t>
                      </a:r>
                      <a:r>
                        <a:rPr kumimoji="1" lang="en-US" altLang="ja-JP" sz="4000" dirty="0"/>
                        <a:t>6</a:t>
                      </a:r>
                      <a:r>
                        <a:rPr kumimoji="1" lang="ja-JP" altLang="en-US" sz="4000"/>
                        <a:t>の要求</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400</a:t>
                      </a:r>
                      <a:endParaRPr kumimoji="1" lang="ja-JP" altLang="en-US" sz="4000"/>
                    </a:p>
                  </a:txBody>
                  <a:tcPr/>
                </a:tc>
                <a:tc>
                  <a:txBody>
                    <a:bodyPr/>
                    <a:lstStyle/>
                    <a:p>
                      <a:pPr algn="r"/>
                      <a:r>
                        <a:rPr kumimoji="1" lang="en-US" altLang="ja-JP" sz="4000" dirty="0"/>
                        <a:t>300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120</a:t>
                      </a:r>
                      <a:endParaRPr kumimoji="1" lang="ja-JP" altLang="en-US" sz="4000"/>
                    </a:p>
                  </a:txBody>
                  <a:tcPr/>
                </a:tc>
                <a:tc>
                  <a:txBody>
                    <a:bodyPr/>
                    <a:lstStyle/>
                    <a:p>
                      <a:pPr algn="r"/>
                      <a:r>
                        <a:rPr kumimoji="1" lang="en-US" altLang="ja-JP" sz="4000" dirty="0"/>
                        <a:t>90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240</a:t>
                      </a:r>
                      <a:endParaRPr kumimoji="1" lang="ja-JP" altLang="en-US" sz="4000"/>
                    </a:p>
                  </a:txBody>
                  <a:tcPr/>
                </a:tc>
                <a:tc>
                  <a:txBody>
                    <a:bodyPr/>
                    <a:lstStyle/>
                    <a:p>
                      <a:pPr algn="r"/>
                      <a:r>
                        <a:rPr kumimoji="1" lang="en-US" altLang="ja-JP" sz="4000" dirty="0"/>
                        <a:t>210</a:t>
                      </a:r>
                      <a:endParaRPr kumimoji="1" lang="ja-JP" altLang="en-US" sz="4000"/>
                    </a:p>
                  </a:txBody>
                  <a:tcPr/>
                </a:tc>
                <a:extLst>
                  <a:ext uri="{0D108BD9-81ED-4DB2-BD59-A6C34878D82A}">
                    <a16:rowId xmlns:a16="http://schemas.microsoft.com/office/drawing/2014/main" val="85150135"/>
                  </a:ext>
                </a:extLst>
              </a:tr>
              <a:tr h="370840">
                <a:tc>
                  <a:txBody>
                    <a:bodyPr/>
                    <a:lstStyle/>
                    <a:p>
                      <a:pPr algn="ctr"/>
                      <a:r>
                        <a:rPr kumimoji="1" lang="ja-JP" altLang="en-US" sz="4000"/>
                        <a:t>合計</a:t>
                      </a:r>
                    </a:p>
                  </a:txBody>
                  <a:tcPr/>
                </a:tc>
                <a:tc>
                  <a:txBody>
                    <a:bodyPr/>
                    <a:lstStyle/>
                    <a:p>
                      <a:pPr algn="r"/>
                      <a:r>
                        <a:rPr kumimoji="1" lang="en-US" altLang="ja-JP" sz="4000" dirty="0"/>
                        <a:t>760</a:t>
                      </a:r>
                      <a:endParaRPr kumimoji="1" lang="ja-JP" altLang="en-US" sz="4000"/>
                    </a:p>
                  </a:txBody>
                  <a:tcPr/>
                </a:tc>
                <a:tc>
                  <a:txBody>
                    <a:bodyPr/>
                    <a:lstStyle/>
                    <a:p>
                      <a:pPr algn="r"/>
                      <a:r>
                        <a:rPr kumimoji="1" lang="en-US" altLang="ja-JP" sz="4000" dirty="0"/>
                        <a:t>600</a:t>
                      </a:r>
                      <a:endParaRPr kumimoji="1" lang="ja-JP" altLang="en-US" sz="4000"/>
                    </a:p>
                  </a:txBody>
                  <a:tcPr/>
                </a:tc>
                <a:extLst>
                  <a:ext uri="{0D108BD9-81ED-4DB2-BD59-A6C34878D82A}">
                    <a16:rowId xmlns:a16="http://schemas.microsoft.com/office/drawing/2014/main" val="4084480244"/>
                  </a:ext>
                </a:extLst>
              </a:tr>
            </a:tbl>
          </a:graphicData>
        </a:graphic>
      </p:graphicFrame>
      <p:sp>
        <p:nvSpPr>
          <p:cNvPr id="39" name="右矢印 38">
            <a:extLst>
              <a:ext uri="{FF2B5EF4-FFF2-40B4-BE49-F238E27FC236}">
                <a16:creationId xmlns:a16="http://schemas.microsoft.com/office/drawing/2014/main" id="{4207D214-8E9A-594B-9E89-8A22E5303364}"/>
              </a:ext>
            </a:extLst>
          </p:cNvPr>
          <p:cNvSpPr/>
          <p:nvPr/>
        </p:nvSpPr>
        <p:spPr>
          <a:xfrm rot="5400000">
            <a:off x="8806580" y="7447561"/>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0" name="テキスト ボックス 39">
            <a:extLst>
              <a:ext uri="{FF2B5EF4-FFF2-40B4-BE49-F238E27FC236}">
                <a16:creationId xmlns:a16="http://schemas.microsoft.com/office/drawing/2014/main" id="{CBD121DE-E1D2-9943-A82A-AF1CE10BE171}"/>
              </a:ext>
            </a:extLst>
          </p:cNvPr>
          <p:cNvSpPr txBox="1"/>
          <p:nvPr/>
        </p:nvSpPr>
        <p:spPr>
          <a:xfrm>
            <a:off x="6218471" y="8768761"/>
            <a:ext cx="5851056" cy="707886"/>
          </a:xfrm>
          <a:prstGeom prst="rect">
            <a:avLst/>
          </a:prstGeom>
          <a:noFill/>
        </p:spPr>
        <p:txBody>
          <a:bodyPr wrap="square" rtlCol="0">
            <a:spAutoFit/>
          </a:bodyPr>
          <a:lstStyle/>
          <a:p>
            <a:pPr algn="ctr"/>
            <a:r>
              <a:rPr lang="en-US" altLang="ja-JP" sz="4000" dirty="0">
                <a:solidFill>
                  <a:schemeClr val="accent2"/>
                </a:solidFill>
              </a:rPr>
              <a:t>d</a:t>
            </a:r>
            <a:r>
              <a:rPr kumimoji="1" lang="en-US" altLang="ja-JP" sz="4000" dirty="0">
                <a:solidFill>
                  <a:schemeClr val="accent2"/>
                </a:solidFill>
              </a:rPr>
              <a:t>emand difference</a:t>
            </a:r>
            <a:r>
              <a:rPr kumimoji="1" lang="ja-JP" altLang="en-US" sz="4000">
                <a:solidFill>
                  <a:schemeClr val="accent2"/>
                </a:solidFill>
              </a:rPr>
              <a:t>は</a:t>
            </a:r>
            <a:r>
              <a:rPr kumimoji="1" lang="en-US" altLang="ja-JP" sz="4000" dirty="0">
                <a:solidFill>
                  <a:schemeClr val="accent2"/>
                </a:solidFill>
              </a:rPr>
              <a:t>160</a:t>
            </a:r>
          </a:p>
        </p:txBody>
      </p:sp>
      <p:grpSp>
        <p:nvGrpSpPr>
          <p:cNvPr id="41" name="グループ化 40">
            <a:extLst>
              <a:ext uri="{FF2B5EF4-FFF2-40B4-BE49-F238E27FC236}">
                <a16:creationId xmlns:a16="http://schemas.microsoft.com/office/drawing/2014/main" id="{E33CB3C6-5AFE-2943-BC74-2B55DF9337DB}"/>
              </a:ext>
            </a:extLst>
          </p:cNvPr>
          <p:cNvGrpSpPr/>
          <p:nvPr/>
        </p:nvGrpSpPr>
        <p:grpSpPr>
          <a:xfrm>
            <a:off x="617232" y="10014055"/>
            <a:ext cx="539448" cy="487368"/>
            <a:chOff x="400056" y="1061560"/>
            <a:chExt cx="269724" cy="243684"/>
          </a:xfrm>
        </p:grpSpPr>
        <p:sp>
          <p:nvSpPr>
            <p:cNvPr id="42" name="三角形 41">
              <a:extLst>
                <a:ext uri="{FF2B5EF4-FFF2-40B4-BE49-F238E27FC236}">
                  <a16:creationId xmlns:a16="http://schemas.microsoft.com/office/drawing/2014/main" id="{8BA6D69F-80DD-E142-979F-C678EB39558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3" name="三角形 42">
              <a:extLst>
                <a:ext uri="{FF2B5EF4-FFF2-40B4-BE49-F238E27FC236}">
                  <a16:creationId xmlns:a16="http://schemas.microsoft.com/office/drawing/2014/main" id="{AFCDCAE3-F649-A142-BB0F-4BFA0667DBC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27">
            <a:extLst>
              <a:ext uri="{FF2B5EF4-FFF2-40B4-BE49-F238E27FC236}">
                <a16:creationId xmlns:a16="http://schemas.microsoft.com/office/drawing/2014/main" id="{7AB42BC7-EC0E-9240-A5DC-53018BF846CB}"/>
              </a:ext>
            </a:extLst>
          </p:cNvPr>
          <p:cNvSpPr txBox="1">
            <a:spLocks/>
          </p:cNvSpPr>
          <p:nvPr/>
        </p:nvSpPr>
        <p:spPr>
          <a:xfrm>
            <a:off x="1254486" y="99414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交渉終了後にアンケートを実施</a:t>
            </a:r>
            <a:endParaRPr lang="en-US" altLang="ja-JP" dirty="0"/>
          </a:p>
        </p:txBody>
      </p:sp>
      <p:sp>
        <p:nvSpPr>
          <p:cNvPr id="45" name="三角形 44">
            <a:extLst>
              <a:ext uri="{FF2B5EF4-FFF2-40B4-BE49-F238E27FC236}">
                <a16:creationId xmlns:a16="http://schemas.microsoft.com/office/drawing/2014/main" id="{3C2EE7CD-76B2-8C48-A578-861C95739615}"/>
              </a:ext>
            </a:extLst>
          </p:cNvPr>
          <p:cNvSpPr/>
          <p:nvPr/>
        </p:nvSpPr>
        <p:spPr>
          <a:xfrm rot="5400000">
            <a:off x="1076238" y="1081847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0D3257F-FE4D-F345-8CF1-D801AAEFF094}"/>
              </a:ext>
            </a:extLst>
          </p:cNvPr>
          <p:cNvSpPr txBox="1">
            <a:spLocks/>
          </p:cNvSpPr>
          <p:nvPr/>
        </p:nvSpPr>
        <p:spPr>
          <a:xfrm>
            <a:off x="1568600" y="1070319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a:t>全く当てはまらない</a:t>
            </a:r>
            <a:r>
              <a:rPr lang="en-US" altLang="ja-JP" dirty="0"/>
              <a:t>)</a:t>
            </a:r>
            <a:r>
              <a:rPr lang="ja-JP" altLang="en-US"/>
              <a:t>から</a:t>
            </a:r>
            <a:r>
              <a:rPr lang="en-US" altLang="ja-JP" dirty="0"/>
              <a:t>7(</a:t>
            </a:r>
            <a:r>
              <a:rPr lang="ja-JP" altLang="en-US"/>
              <a:t>よく当てはまる</a:t>
            </a:r>
            <a:r>
              <a:rPr lang="en-US" altLang="ja-JP" dirty="0"/>
              <a:t>)</a:t>
            </a:r>
            <a:r>
              <a:rPr lang="ja-JP" altLang="en-US"/>
              <a:t>の</a:t>
            </a:r>
            <a:r>
              <a:rPr lang="en-US" altLang="ja-JP" dirty="0"/>
              <a:t>7</a:t>
            </a:r>
            <a:r>
              <a:rPr lang="ja-JP" altLang="en-US"/>
              <a:t>段階で解答</a:t>
            </a:r>
          </a:p>
        </p:txBody>
      </p:sp>
      <p:sp>
        <p:nvSpPr>
          <p:cNvPr id="47" name="三角形 46">
            <a:extLst>
              <a:ext uri="{FF2B5EF4-FFF2-40B4-BE49-F238E27FC236}">
                <a16:creationId xmlns:a16="http://schemas.microsoft.com/office/drawing/2014/main" id="{220E6BB5-C4BE-D148-B860-63AA30C3AFF2}"/>
              </a:ext>
            </a:extLst>
          </p:cNvPr>
          <p:cNvSpPr/>
          <p:nvPr/>
        </p:nvSpPr>
        <p:spPr>
          <a:xfrm rot="5400000">
            <a:off x="1076238" y="115905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E6CAEE68-978C-1D4C-B452-69A426BA788B}"/>
              </a:ext>
            </a:extLst>
          </p:cNvPr>
          <p:cNvSpPr txBox="1">
            <a:spLocks/>
          </p:cNvSpPr>
          <p:nvPr/>
        </p:nvSpPr>
        <p:spPr>
          <a:xfrm>
            <a:off x="1568600" y="114753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エージェントの感情を参加者が知覚したか確認</a:t>
            </a:r>
          </a:p>
        </p:txBody>
      </p:sp>
      <p:sp>
        <p:nvSpPr>
          <p:cNvPr id="49" name="三角形 48">
            <a:extLst>
              <a:ext uri="{FF2B5EF4-FFF2-40B4-BE49-F238E27FC236}">
                <a16:creationId xmlns:a16="http://schemas.microsoft.com/office/drawing/2014/main" id="{7D3F83F0-451C-BA44-BAD2-7F00C1A787A8}"/>
              </a:ext>
            </a:extLst>
          </p:cNvPr>
          <p:cNvSpPr/>
          <p:nvPr/>
        </p:nvSpPr>
        <p:spPr>
          <a:xfrm rot="5400000">
            <a:off x="1076238" y="123975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テキスト プレースホルダー 29">
            <a:extLst>
              <a:ext uri="{FF2B5EF4-FFF2-40B4-BE49-F238E27FC236}">
                <a16:creationId xmlns:a16="http://schemas.microsoft.com/office/drawing/2014/main" id="{ED0890A4-E23D-024B-BC77-9D5003297EDF}"/>
              </a:ext>
            </a:extLst>
          </p:cNvPr>
          <p:cNvSpPr txBox="1">
            <a:spLocks/>
          </p:cNvSpPr>
          <p:nvPr/>
        </p:nvSpPr>
        <p:spPr>
          <a:xfrm>
            <a:off x="1568600" y="122822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エージェントの感情が</a:t>
            </a:r>
            <a:r>
              <a:rPr lang="en-US" altLang="ja-JP" dirty="0"/>
              <a:t>offer</a:t>
            </a:r>
            <a:r>
              <a:rPr lang="ja-JP" altLang="en-US"/>
              <a:t>に対するものだと理解しているか確認</a:t>
            </a:r>
          </a:p>
        </p:txBody>
      </p:sp>
    </p:spTree>
    <p:extLst>
      <p:ext uri="{BB962C8B-B14F-4D97-AF65-F5344CB8AC3E}">
        <p14:creationId xmlns:p14="http://schemas.microsoft.com/office/powerpoint/2010/main" val="3319089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以下の図に示すソフトウェアを使用</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言語で伝達する場合は顔の上部にテキストを表示</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ソフトウェア</a:t>
            </a:r>
          </a:p>
        </p:txBody>
      </p:sp>
      <p:pic>
        <p:nvPicPr>
          <p:cNvPr id="18" name="図 17">
            <a:extLst>
              <a:ext uri="{FF2B5EF4-FFF2-40B4-BE49-F238E27FC236}">
                <a16:creationId xmlns:a16="http://schemas.microsoft.com/office/drawing/2014/main" id="{77EBA392-BC07-9A43-9D61-7E372A2DD5F1}"/>
              </a:ext>
            </a:extLst>
          </p:cNvPr>
          <p:cNvPicPr>
            <a:picLocks noChangeAspect="1"/>
          </p:cNvPicPr>
          <p:nvPr/>
        </p:nvPicPr>
        <p:blipFill>
          <a:blip r:embed="rId3"/>
          <a:stretch>
            <a:fillRect/>
          </a:stretch>
        </p:blipFill>
        <p:spPr>
          <a:xfrm>
            <a:off x="4891803" y="4906993"/>
            <a:ext cx="8504394" cy="7408125"/>
          </a:xfrm>
          <a:prstGeom prst="rect">
            <a:avLst/>
          </a:prstGeom>
        </p:spPr>
      </p:pic>
    </p:spTree>
    <p:extLst>
      <p:ext uri="{BB962C8B-B14F-4D97-AF65-F5344CB8AC3E}">
        <p14:creationId xmlns:p14="http://schemas.microsoft.com/office/powerpoint/2010/main" val="30848171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質問によって実験の内容を理解しているか確認</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質問に対する正解を選択すると次の質問が行なわれる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a:t>
            </a:r>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質問が終了すると実験のチュートリアルが開始</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4863023"/>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479039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チュートリアル終了後に実際の交渉が開始</a:t>
            </a:r>
            <a:endParaRPr lang="en-US" altLang="ja-JP" dirty="0"/>
          </a:p>
        </p:txBody>
      </p:sp>
      <p:grpSp>
        <p:nvGrpSpPr>
          <p:cNvPr id="30" name="グループ化 29">
            <a:extLst>
              <a:ext uri="{FF2B5EF4-FFF2-40B4-BE49-F238E27FC236}">
                <a16:creationId xmlns:a16="http://schemas.microsoft.com/office/drawing/2014/main" id="{EDF8330A-FC5A-D84B-B3A0-21227348F692}"/>
              </a:ext>
            </a:extLst>
          </p:cNvPr>
          <p:cNvGrpSpPr/>
          <p:nvPr/>
        </p:nvGrpSpPr>
        <p:grpSpPr>
          <a:xfrm>
            <a:off x="306583" y="6034517"/>
            <a:ext cx="2160000" cy="934436"/>
            <a:chOff x="144665" y="525617"/>
            <a:chExt cx="1080000" cy="467218"/>
          </a:xfrm>
        </p:grpSpPr>
        <p:sp>
          <p:nvSpPr>
            <p:cNvPr id="31" name="正方形/長方形 30">
              <a:extLst>
                <a:ext uri="{FF2B5EF4-FFF2-40B4-BE49-F238E27FC236}">
                  <a16:creationId xmlns:a16="http://schemas.microsoft.com/office/drawing/2014/main" id="{9BA1FC1A-8EAA-074D-AAC0-09547963EA4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2" name="正方形/長方形 31">
              <a:extLst>
                <a:ext uri="{FF2B5EF4-FFF2-40B4-BE49-F238E27FC236}">
                  <a16:creationId xmlns:a16="http://schemas.microsoft.com/office/drawing/2014/main" id="{D3778EA0-4FEA-2B4D-A340-8CDD8027A8A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3" name="グループ化 32">
            <a:extLst>
              <a:ext uri="{FF2B5EF4-FFF2-40B4-BE49-F238E27FC236}">
                <a16:creationId xmlns:a16="http://schemas.microsoft.com/office/drawing/2014/main" id="{BA9616ED-F131-0241-826E-6B26404D3F60}"/>
              </a:ext>
            </a:extLst>
          </p:cNvPr>
          <p:cNvGrpSpPr/>
          <p:nvPr/>
        </p:nvGrpSpPr>
        <p:grpSpPr>
          <a:xfrm>
            <a:off x="634485" y="7178577"/>
            <a:ext cx="539448" cy="487368"/>
            <a:chOff x="400056" y="1061560"/>
            <a:chExt cx="269724" cy="243684"/>
          </a:xfrm>
        </p:grpSpPr>
        <p:sp>
          <p:nvSpPr>
            <p:cNvPr id="34" name="三角形 33">
              <a:extLst>
                <a:ext uri="{FF2B5EF4-FFF2-40B4-BE49-F238E27FC236}">
                  <a16:creationId xmlns:a16="http://schemas.microsoft.com/office/drawing/2014/main" id="{387E5C49-9997-DF42-9851-A58F6143DA5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C7C0A3CC-C23F-C148-BC4C-87412A48969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6" name="三角形 35">
            <a:extLst>
              <a:ext uri="{FF2B5EF4-FFF2-40B4-BE49-F238E27FC236}">
                <a16:creationId xmlns:a16="http://schemas.microsoft.com/office/drawing/2014/main" id="{B9E3996F-BFAE-764B-83AA-5AC51A48697A}"/>
              </a:ext>
            </a:extLst>
          </p:cNvPr>
          <p:cNvSpPr/>
          <p:nvPr/>
        </p:nvSpPr>
        <p:spPr>
          <a:xfrm rot="5400000">
            <a:off x="1093491" y="79829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7">
            <a:extLst>
              <a:ext uri="{FF2B5EF4-FFF2-40B4-BE49-F238E27FC236}">
                <a16:creationId xmlns:a16="http://schemas.microsoft.com/office/drawing/2014/main" id="{6E6385C6-5571-1149-A18A-13B7616AED2D}"/>
              </a:ext>
            </a:extLst>
          </p:cNvPr>
          <p:cNvSpPr txBox="1">
            <a:spLocks/>
          </p:cNvSpPr>
          <p:nvPr/>
        </p:nvSpPr>
        <p:spPr>
          <a:xfrm>
            <a:off x="1271739" y="710595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150</a:t>
            </a:r>
            <a:r>
              <a:rPr lang="ja-JP" altLang="en-US"/>
              <a:t>人のカリフォルニア大学の学部生・大学院生</a:t>
            </a:r>
            <a:endParaRPr lang="en-US" altLang="ja-JP" dirty="0"/>
          </a:p>
        </p:txBody>
      </p:sp>
      <p:sp>
        <p:nvSpPr>
          <p:cNvPr id="38" name="テキスト プレースホルダー 29">
            <a:extLst>
              <a:ext uri="{FF2B5EF4-FFF2-40B4-BE49-F238E27FC236}">
                <a16:creationId xmlns:a16="http://schemas.microsoft.com/office/drawing/2014/main" id="{C0D63343-E1B3-2642-BA04-2A367142A63E}"/>
              </a:ext>
            </a:extLst>
          </p:cNvPr>
          <p:cNvSpPr txBox="1">
            <a:spLocks/>
          </p:cNvSpPr>
          <p:nvPr/>
        </p:nvSpPr>
        <p:spPr>
          <a:xfrm>
            <a:off x="1585853" y="78677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a:t>
            </a:r>
            <a:r>
              <a:rPr lang="en-US" altLang="ja-JP" dirty="0"/>
              <a:t>13</a:t>
            </a:r>
            <a:r>
              <a:rPr lang="ja-JP" altLang="en-US"/>
              <a:t>人のグループに分かれて並列に実験を実施</a:t>
            </a:r>
          </a:p>
        </p:txBody>
      </p:sp>
      <p:sp>
        <p:nvSpPr>
          <p:cNvPr id="39" name="テキスト プレースホルダー 30">
            <a:extLst>
              <a:ext uri="{FF2B5EF4-FFF2-40B4-BE49-F238E27FC236}">
                <a16:creationId xmlns:a16="http://schemas.microsoft.com/office/drawing/2014/main" id="{C906D77A-AAF2-2047-A5D3-E0766A0F7B1B}"/>
              </a:ext>
            </a:extLst>
          </p:cNvPr>
          <p:cNvSpPr txBox="1">
            <a:spLocks/>
          </p:cNvSpPr>
          <p:nvPr/>
        </p:nvSpPr>
        <p:spPr>
          <a:xfrm>
            <a:off x="588302" y="6205090"/>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実験の被験者</a:t>
            </a:r>
          </a:p>
        </p:txBody>
      </p:sp>
    </p:spTree>
    <p:extLst>
      <p:ext uri="{BB962C8B-B14F-4D97-AF65-F5344CB8AC3E}">
        <p14:creationId xmlns:p14="http://schemas.microsoft.com/office/powerpoint/2010/main" val="26544254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D28F015-1019-8346-8D0C-51203339476B}"/>
              </a:ext>
            </a:extLst>
          </p:cNvPr>
          <p:cNvSpPr>
            <a:spLocks noGrp="1"/>
          </p:cNvSpPr>
          <p:nvPr>
            <p:ph type="dt" sz="half" idx="10"/>
          </p:nvPr>
        </p:nvSpPr>
        <p:spPr/>
        <p:txBody>
          <a:bodyPr/>
          <a:lstStyle/>
          <a:p>
            <a:fld id="{BA7AA989-C6B8-3949-9280-88DA60BA6993}" type="datetime1">
              <a:rPr lang="ja-JP" altLang="en-US" smtClean="0"/>
              <a:t>2018/4/30</a:t>
            </a:fld>
            <a:endParaRPr lang="ja-JP" altLang="en-US"/>
          </a:p>
        </p:txBody>
      </p:sp>
      <p:sp>
        <p:nvSpPr>
          <p:cNvPr id="3" name="フッター プレースホルダー 2">
            <a:extLst>
              <a:ext uri="{FF2B5EF4-FFF2-40B4-BE49-F238E27FC236}">
                <a16:creationId xmlns:a16="http://schemas.microsoft.com/office/drawing/2014/main" id="{F1234204-2796-CE4D-835C-01802E28F08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A7CB099E-D01C-124B-BB91-17ED16E2211A}"/>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C6CF3DBA-F416-C94D-A109-3A1E690191A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2F642E06-7106-074A-A67D-8FD1D7D4C840}"/>
              </a:ext>
            </a:extLst>
          </p:cNvPr>
          <p:cNvSpPr>
            <a:spLocks noGrp="1"/>
          </p:cNvSpPr>
          <p:nvPr>
            <p:ph type="body" sz="quarter" idx="14"/>
          </p:nvPr>
        </p:nvSpPr>
        <p:spPr/>
        <p:txBody>
          <a:bodyPr/>
          <a:lstStyle/>
          <a:p>
            <a:r>
              <a:rPr lang="ja-JP" altLang="en-US"/>
              <a:t>おわりに</a:t>
            </a:r>
            <a:endParaRPr kumimoji="1" lang="ja-JP" altLang="en-US"/>
          </a:p>
        </p:txBody>
      </p:sp>
      <p:grpSp>
        <p:nvGrpSpPr>
          <p:cNvPr id="7" name="グループ化 6">
            <a:extLst>
              <a:ext uri="{FF2B5EF4-FFF2-40B4-BE49-F238E27FC236}">
                <a16:creationId xmlns:a16="http://schemas.microsoft.com/office/drawing/2014/main" id="{5A6AC9E6-7F70-CF44-8712-6F47C0A918DA}"/>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8041C8F7-C3FC-B542-A05A-B7F48A73B8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2E8D722-9493-F64B-A7F7-8F91CB2FEDF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6DB5DBE-4BC5-C74A-B12C-8D5AE81664DB}"/>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A5744BD-1EFB-454B-A1B2-9E77E4F4CDE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BD25148-E0BB-134D-8D2F-AB5CC18E02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55B815A-2A67-7543-B104-B915E4AE757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324645-7AF6-D147-9F2D-3582DE531431}"/>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0D28A911-1484-0D4C-84FF-8098B1841C7C}"/>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40403F41-47F8-454B-8521-19DA2EA3719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1</a:t>
            </a:r>
            <a:endParaRPr lang="ja-JP" altLang="en-US"/>
          </a:p>
        </p:txBody>
      </p:sp>
    </p:spTree>
    <p:extLst>
      <p:ext uri="{BB962C8B-B14F-4D97-AF65-F5344CB8AC3E}">
        <p14:creationId xmlns:p14="http://schemas.microsoft.com/office/powerpoint/2010/main" val="27612840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2639</TotalTime>
  <Words>1101</Words>
  <Application>Microsoft Macintosh PowerPoint</Application>
  <PresentationFormat>ユーザー設定</PresentationFormat>
  <Paragraphs>212</Paragraphs>
  <Slides>12</Slides>
  <Notes>8</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12</vt:i4>
      </vt:variant>
    </vt:vector>
  </HeadingPairs>
  <TitlesOfParts>
    <vt:vector size="17" baseType="lpstr">
      <vt:lpstr>メイリオ</vt:lpstr>
      <vt:lpstr>游ゴシック</vt:lpstr>
      <vt:lpstr>Arial</vt:lpstr>
      <vt:lpstr>Calibri</vt:lpstr>
      <vt:lpstr>Office テーマ</vt:lpstr>
      <vt:lpstr>文献購読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16.0012</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164</cp:revision>
  <cp:lastPrinted>2018-04-18T08:51:19Z</cp:lastPrinted>
  <dcterms:created xsi:type="dcterms:W3CDTF">2018-04-18T07:57:09Z</dcterms:created>
  <dcterms:modified xsi:type="dcterms:W3CDTF">2018-04-30T12:07:13Z</dcterms:modified>
</cp:coreProperties>
</file>