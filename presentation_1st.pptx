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23"/>
  </p:notesMasterIdLst>
  <p:sldIdLst>
    <p:sldId id="256" r:id="rId2"/>
    <p:sldId id="268" r:id="rId3"/>
    <p:sldId id="272" r:id="rId4"/>
    <p:sldId id="269" r:id="rId5"/>
    <p:sldId id="278" r:id="rId6"/>
    <p:sldId id="273" r:id="rId7"/>
    <p:sldId id="274" r:id="rId8"/>
    <p:sldId id="275" r:id="rId9"/>
    <p:sldId id="282" r:id="rId10"/>
    <p:sldId id="276" r:id="rId11"/>
    <p:sldId id="277" r:id="rId12"/>
    <p:sldId id="281" r:id="rId13"/>
    <p:sldId id="285" r:id="rId14"/>
    <p:sldId id="284" r:id="rId15"/>
    <p:sldId id="279" r:id="rId16"/>
    <p:sldId id="280" r:id="rId17"/>
    <p:sldId id="287" r:id="rId18"/>
    <p:sldId id="286" r:id="rId19"/>
    <p:sldId id="288" r:id="rId20"/>
    <p:sldId id="270" r:id="rId21"/>
    <p:sldId id="267" r:id="rId22"/>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635" userDrawn="1">
          <p15:clr>
            <a:srgbClr val="A4A3A4"/>
          </p15:clr>
        </p15:guide>
        <p15:guide id="2" pos="8890" userDrawn="1">
          <p15:clr>
            <a:srgbClr val="A4A3A4"/>
          </p15:clr>
        </p15:guide>
        <p15:guide id="3" pos="261" userDrawn="1">
          <p15:clr>
            <a:srgbClr val="A4A3A4"/>
          </p15:clr>
        </p15:guide>
        <p15:guide id="4" pos="503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03"/>
    <p:restoredTop sz="94577"/>
  </p:normalViewPr>
  <p:slideViewPr>
    <p:cSldViewPr snapToGrid="0" snapToObjects="1">
      <p:cViewPr>
        <p:scale>
          <a:sx n="60" d="100"/>
          <a:sy n="60" d="100"/>
        </p:scale>
        <p:origin x="720" y="816"/>
      </p:cViewPr>
      <p:guideLst>
        <p:guide orient="horz" pos="5635"/>
        <p:guide pos="8890"/>
        <p:guide pos="261"/>
        <p:guide pos="5034"/>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2018/5/2</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948515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434293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8701231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3043899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691279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803088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23747977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8740664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16558151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36726809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13</a:t>
            </a:fld>
            <a:endParaRPr kumimoji="1" lang="ja-JP" altLang="en-US"/>
          </a:p>
        </p:txBody>
      </p:sp>
    </p:spTree>
    <p:extLst>
      <p:ext uri="{BB962C8B-B14F-4D97-AF65-F5344CB8AC3E}">
        <p14:creationId xmlns:p14="http://schemas.microsoft.com/office/powerpoint/2010/main" val="82410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14</a:t>
            </a:fld>
            <a:endParaRPr kumimoji="1" lang="ja-JP" altLang="en-US"/>
          </a:p>
        </p:txBody>
      </p:sp>
    </p:spTree>
    <p:extLst>
      <p:ext uri="{BB962C8B-B14F-4D97-AF65-F5344CB8AC3E}">
        <p14:creationId xmlns:p14="http://schemas.microsoft.com/office/powerpoint/2010/main" val="171614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15</a:t>
            </a:fld>
            <a:endParaRPr kumimoji="1" lang="ja-JP" altLang="en-US"/>
          </a:p>
        </p:txBody>
      </p:sp>
    </p:spTree>
    <p:extLst>
      <p:ext uri="{BB962C8B-B14F-4D97-AF65-F5344CB8AC3E}">
        <p14:creationId xmlns:p14="http://schemas.microsoft.com/office/powerpoint/2010/main" val="370196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16</a:t>
            </a:fld>
            <a:endParaRPr kumimoji="1" lang="ja-JP" altLang="en-US"/>
          </a:p>
        </p:txBody>
      </p:sp>
    </p:spTree>
    <p:extLst>
      <p:ext uri="{BB962C8B-B14F-4D97-AF65-F5344CB8AC3E}">
        <p14:creationId xmlns:p14="http://schemas.microsoft.com/office/powerpoint/2010/main" val="11528495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17</a:t>
            </a:fld>
            <a:endParaRPr kumimoji="1" lang="ja-JP" altLang="en-US"/>
          </a:p>
        </p:txBody>
      </p:sp>
    </p:spTree>
    <p:extLst>
      <p:ext uri="{BB962C8B-B14F-4D97-AF65-F5344CB8AC3E}">
        <p14:creationId xmlns:p14="http://schemas.microsoft.com/office/powerpoint/2010/main" val="38009753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18</a:t>
            </a:fld>
            <a:endParaRPr kumimoji="1" lang="ja-JP" altLang="en-US"/>
          </a:p>
        </p:txBody>
      </p:sp>
    </p:spTree>
    <p:extLst>
      <p:ext uri="{BB962C8B-B14F-4D97-AF65-F5344CB8AC3E}">
        <p14:creationId xmlns:p14="http://schemas.microsoft.com/office/powerpoint/2010/main" val="12581764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19</a:t>
            </a:fld>
            <a:endParaRPr kumimoji="1" lang="ja-JP" altLang="en-US"/>
          </a:p>
        </p:txBody>
      </p:sp>
    </p:spTree>
    <p:extLst>
      <p:ext uri="{BB962C8B-B14F-4D97-AF65-F5344CB8AC3E}">
        <p14:creationId xmlns:p14="http://schemas.microsoft.com/office/powerpoint/2010/main" val="7315443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46C4969-FCF6-9A4B-A014-2759BD8276AA}" type="datetime1">
              <a:rPr lang="ja-JP" altLang="en-US" smtClean="0"/>
              <a:t>2018/5/2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7AA989-C6B8-3949-9280-88DA60BA6993}" type="datetime1">
              <a:rPr lang="ja-JP" altLang="en-US" smtClean="0"/>
              <a:t>2018/5/2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53228"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F1F6298-E70F-6E41-95A4-202B038AE5AD}" type="datetime1">
              <a:rPr lang="ja-JP" altLang="en-US" smtClean="0"/>
              <a:t>2018/5/2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407E6D9-35D5-3345-B114-7ABEB4B75DB7}" type="datetime1">
              <a:rPr kumimoji="1" lang="ja-JP" altLang="en-US" smtClean="0"/>
              <a:t>2018/5/2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81C6AF7C-E2A8-CC4E-BEDD-195A92C7E78A}" type="datetime1">
              <a:rPr kumimoji="1" lang="ja-JP" altLang="en-US" smtClean="0"/>
              <a:t>2018/5/2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FFDFA01E-E751-9841-8567-37F3714B0EC9}" type="datetime1">
              <a:rPr kumimoji="1" lang="ja-JP" altLang="en-US" smtClean="0"/>
              <a:t>2018/5/2</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FFE5F467-EA1E-D94C-8F22-55DE350C1503}" type="datetime1">
              <a:rPr kumimoji="1" lang="ja-JP" altLang="en-US" smtClean="0"/>
              <a:t>2018/5/2</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B52674B-24C5-DF4D-AB73-4F3AFCA25A4F}" type="datetime1">
              <a:rPr kumimoji="1" lang="ja-JP" altLang="en-US" smtClean="0"/>
              <a:t>2018/5/2</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150F9DA-753E-254A-B6B9-BE70954A2BBF}" type="datetime1">
              <a:rPr kumimoji="1" lang="ja-JP" altLang="en-US" smtClean="0"/>
              <a:t>2018/5/2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C873D902-A6A2-3E4F-84E4-DAFA7714B07D}" type="datetime1">
              <a:rPr kumimoji="1" lang="ja-JP" altLang="en-US" smtClean="0"/>
              <a:t>2018/5/2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4CDECCDF-310C-374D-BB94-D136190EAB42}" type="datetime1">
              <a:rPr kumimoji="1" lang="ja-JP" altLang="en-US" smtClean="0"/>
              <a:t>2018/5/2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4AA985E-1DBC-D74B-BF22-84B5E59DA9AB}" type="datetime1">
              <a:rPr kumimoji="1" lang="ja-JP" altLang="en-US" smtClean="0"/>
              <a:t>2018/5/2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F72E23FF-C487-5547-8AED-A8A9B893E0C0}" type="datetime1">
              <a:rPr lang="ja-JP" altLang="en-US" smtClean="0"/>
              <a:t>2018/5/2</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1371600" y="3159135"/>
            <a:ext cx="15544800" cy="4775200"/>
          </a:xfrm>
        </p:spPr>
        <p:txBody>
          <a:bodyPr/>
          <a:lstStyle/>
          <a:p>
            <a:r>
              <a:rPr kumimoji="1" lang="ja-JP" altLang="en-US"/>
              <a:t>文献購読</a:t>
            </a:r>
            <a:br>
              <a:rPr kumimoji="1" lang="en-US" altLang="ja-JP" dirty="0"/>
            </a:br>
            <a:endParaRPr kumimoji="1" lang="ja-JP" altLang="en-US"/>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6C1C55C2-9AF4-654D-9969-8A67901B3DA3}" type="datetime1">
              <a:rPr lang="ja-JP" altLang="en-US" smtClean="0"/>
              <a:t>2018/5/2</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2716A096-282C-054E-93D6-6FCA6F3CFD24}"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はじめに</a:t>
            </a:r>
            <a:endParaRPr kumimoji="1" lang="ja-JP" altLang="en-US"/>
          </a:p>
        </p:txBody>
      </p:sp>
      <p:grpSp>
        <p:nvGrpSpPr>
          <p:cNvPr id="7" name="グループ化 6">
            <a:extLst>
              <a:ext uri="{FF2B5EF4-FFF2-40B4-BE49-F238E27FC236}">
                <a16:creationId xmlns:a16="http://schemas.microsoft.com/office/drawing/2014/main" id="{574E7AC4-0E50-8D4A-8968-2C2A9D916ADE}"/>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2B3F120B-64CB-EB47-B9A8-9A8AFBA36AC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5105ED84-5CDD-FF47-B6D4-96E29099F21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2E76881-65E2-5241-B689-FEE316A34AA0}"/>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6494B89-A6B9-3341-BB17-E86727ADCC2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9F14F16-B830-5844-836E-439A243BF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0948973-0136-5542-BB52-6B4EB28156FB}"/>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EDB96F-C6A2-A640-8292-2C80CBAFD729}"/>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CB58614A-1654-914F-BCB1-634026832709}"/>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B7CFE0E6-F6B1-374A-9C53-2093FC43F6E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Tree>
    <p:extLst>
      <p:ext uri="{BB962C8B-B14F-4D97-AF65-F5344CB8AC3E}">
        <p14:creationId xmlns:p14="http://schemas.microsoft.com/office/powerpoint/2010/main" val="1467729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参加者は携帯の委託販売者として交渉を実施</a:t>
            </a:r>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金額・保証期間・契約サービスの継続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17" name="グループ化 16">
            <a:extLst>
              <a:ext uri="{FF2B5EF4-FFF2-40B4-BE49-F238E27FC236}">
                <a16:creationId xmlns:a16="http://schemas.microsoft.com/office/drawing/2014/main" id="{0D9F7940-8D1A-7442-8202-59FA04673BC1}"/>
              </a:ext>
            </a:extLst>
          </p:cNvPr>
          <p:cNvGrpSpPr/>
          <p:nvPr/>
        </p:nvGrpSpPr>
        <p:grpSpPr>
          <a:xfrm>
            <a:off x="617232" y="4090838"/>
            <a:ext cx="539448" cy="487368"/>
            <a:chOff x="400056" y="1061560"/>
            <a:chExt cx="269724" cy="243684"/>
          </a:xfrm>
        </p:grpSpPr>
        <p:sp>
          <p:nvSpPr>
            <p:cNvPr id="18" name="三角形 17">
              <a:extLst>
                <a:ext uri="{FF2B5EF4-FFF2-40B4-BE49-F238E27FC236}">
                  <a16:creationId xmlns:a16="http://schemas.microsoft.com/office/drawing/2014/main" id="{30129A96-4E6F-C846-918A-3A7EC6350E7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8">
              <a:extLst>
                <a:ext uri="{FF2B5EF4-FFF2-40B4-BE49-F238E27FC236}">
                  <a16:creationId xmlns:a16="http://schemas.microsoft.com/office/drawing/2014/main" id="{AC84945F-0458-1848-B13E-71B95C56D6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A684D9A0-DC94-FB4F-A70E-B1A8B3E8B725}"/>
              </a:ext>
            </a:extLst>
          </p:cNvPr>
          <p:cNvSpPr txBox="1">
            <a:spLocks/>
          </p:cNvSpPr>
          <p:nvPr/>
        </p:nvSpPr>
        <p:spPr>
          <a:xfrm>
            <a:off x="1254486" y="401821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各タスクには</a:t>
            </a:r>
            <a:r>
              <a:rPr lang="en-US" altLang="ja-JP" dirty="0"/>
              <a:t>9</a:t>
            </a:r>
            <a:r>
              <a:rPr lang="ja-JP" altLang="en-US"/>
              <a:t>段階のレベルが存在</a:t>
            </a:r>
          </a:p>
        </p:txBody>
      </p:sp>
      <p:sp>
        <p:nvSpPr>
          <p:cNvPr id="22" name="三角形 21">
            <a:extLst>
              <a:ext uri="{FF2B5EF4-FFF2-40B4-BE49-F238E27FC236}">
                <a16:creationId xmlns:a16="http://schemas.microsoft.com/office/drawing/2014/main" id="{D0FD14B2-2333-834D-8239-201197772A82}"/>
              </a:ext>
            </a:extLst>
          </p:cNvPr>
          <p:cNvSpPr/>
          <p:nvPr/>
        </p:nvSpPr>
        <p:spPr>
          <a:xfrm rot="5400000">
            <a:off x="1076238" y="493008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8B4260A0-5B8E-3841-9581-C59F8BADDF19}"/>
              </a:ext>
            </a:extLst>
          </p:cNvPr>
          <p:cNvSpPr txBox="1">
            <a:spLocks/>
          </p:cNvSpPr>
          <p:nvPr/>
        </p:nvSpPr>
        <p:spPr>
          <a:xfrm>
            <a:off x="1568600" y="481481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レベルが上がるにつれ参加者にとっての価値が上昇</a:t>
            </a:r>
          </a:p>
        </p:txBody>
      </p:sp>
      <p:graphicFrame>
        <p:nvGraphicFramePr>
          <p:cNvPr id="24" name="表 23">
            <a:extLst>
              <a:ext uri="{FF2B5EF4-FFF2-40B4-BE49-F238E27FC236}">
                <a16:creationId xmlns:a16="http://schemas.microsoft.com/office/drawing/2014/main" id="{A120239A-C322-DB4B-84FA-1F70CAEBF07F}"/>
              </a:ext>
            </a:extLst>
          </p:cNvPr>
          <p:cNvGraphicFramePr>
            <a:graphicFrameLocks noGrp="1"/>
          </p:cNvGraphicFramePr>
          <p:nvPr>
            <p:extLst>
              <p:ext uri="{D42A27DB-BD31-4B8C-83A1-F6EECF244321}">
                <p14:modId xmlns:p14="http://schemas.microsoft.com/office/powerpoint/2010/main" val="2457382052"/>
              </p:ext>
            </p:extLst>
          </p:nvPr>
        </p:nvGraphicFramePr>
        <p:xfrm>
          <a:off x="2863684" y="8380284"/>
          <a:ext cx="12560632" cy="2804160"/>
        </p:xfrm>
        <a:graphic>
          <a:graphicData uri="http://schemas.openxmlformats.org/drawingml/2006/table">
            <a:tbl>
              <a:tblPr fir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レベル</a:t>
                      </a:r>
                      <a:r>
                        <a:rPr kumimoji="1" lang="en-US" altLang="ja-JP" sz="4000" dirty="0"/>
                        <a:t>1</a:t>
                      </a:r>
                      <a:r>
                        <a:rPr kumimoji="1" lang="ja-JP" altLang="en-US" sz="4000"/>
                        <a:t>の価値</a:t>
                      </a:r>
                    </a:p>
                  </a:txBody>
                  <a:tcPr/>
                </a:tc>
                <a:tc>
                  <a:txBody>
                    <a:bodyPr/>
                    <a:lstStyle/>
                    <a:p>
                      <a:pPr algn="ctr"/>
                      <a:r>
                        <a:rPr kumimoji="1" lang="ja-JP" altLang="en-US" sz="4000"/>
                        <a:t>レベル</a:t>
                      </a:r>
                      <a:r>
                        <a:rPr kumimoji="1" lang="en-US" altLang="ja-JP" sz="4000" dirty="0"/>
                        <a:t>9</a:t>
                      </a:r>
                      <a:r>
                        <a:rPr kumimoji="1" lang="ja-JP" altLang="en-US" sz="4000"/>
                        <a:t>の価値</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400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120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240</a:t>
                      </a:r>
                      <a:endParaRPr kumimoji="1" lang="ja-JP" altLang="en-US" sz="4000"/>
                    </a:p>
                  </a:txBody>
                  <a:tcPr/>
                </a:tc>
                <a:extLst>
                  <a:ext uri="{0D108BD9-81ED-4DB2-BD59-A6C34878D82A}">
                    <a16:rowId xmlns:a16="http://schemas.microsoft.com/office/drawing/2014/main" val="85150135"/>
                  </a:ext>
                </a:extLst>
              </a:tr>
            </a:tbl>
          </a:graphicData>
        </a:graphic>
      </p:graphicFrame>
      <p:sp>
        <p:nvSpPr>
          <p:cNvPr id="25" name="三角形 24">
            <a:extLst>
              <a:ext uri="{FF2B5EF4-FFF2-40B4-BE49-F238E27FC236}">
                <a16:creationId xmlns:a16="http://schemas.microsoft.com/office/drawing/2014/main" id="{144F3F6D-3F2B-7242-B670-5F030B692E19}"/>
              </a:ext>
            </a:extLst>
          </p:cNvPr>
          <p:cNvSpPr/>
          <p:nvPr/>
        </p:nvSpPr>
        <p:spPr>
          <a:xfrm rot="5400000">
            <a:off x="1076238" y="570508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D77E9EF6-DEBA-3747-828D-15F39EB5B38F}"/>
              </a:ext>
            </a:extLst>
          </p:cNvPr>
          <p:cNvSpPr txBox="1">
            <a:spLocks/>
          </p:cNvSpPr>
          <p:nvPr/>
        </p:nvSpPr>
        <p:spPr>
          <a:xfrm>
            <a:off x="1568600" y="558981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全ての項目がレベル</a:t>
            </a:r>
            <a:r>
              <a:rPr lang="en-US" altLang="ja-JP" dirty="0"/>
              <a:t>9</a:t>
            </a:r>
            <a:r>
              <a:rPr lang="ja-JP" altLang="en-US"/>
              <a:t>である場合が最良の取引</a:t>
            </a:r>
          </a:p>
        </p:txBody>
      </p:sp>
    </p:spTree>
    <p:extLst>
      <p:ext uri="{BB962C8B-B14F-4D97-AF65-F5344CB8AC3E}">
        <p14:creationId xmlns:p14="http://schemas.microsoft.com/office/powerpoint/2010/main" val="677998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a:t>
            </a:r>
            <a:r>
              <a:rPr lang="en-US" altLang="ja-JP" dirty="0"/>
              <a:t>alternating offers protocol</a:t>
            </a:r>
            <a:r>
              <a:rPr lang="ja-JP" altLang="en-US"/>
              <a:t>に従って行う</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参加者が交互に</a:t>
            </a:r>
            <a:r>
              <a:rPr lang="en-US" altLang="ja-JP" dirty="0"/>
              <a:t>offer</a:t>
            </a:r>
            <a:r>
              <a:rPr lang="ja-JP" altLang="en-US"/>
              <a:t>を行う</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59" name="グループ化 58">
            <a:extLst>
              <a:ext uri="{FF2B5EF4-FFF2-40B4-BE49-F238E27FC236}">
                <a16:creationId xmlns:a16="http://schemas.microsoft.com/office/drawing/2014/main" id="{624E4961-27DE-A447-B772-245797E050F6}"/>
              </a:ext>
            </a:extLst>
          </p:cNvPr>
          <p:cNvGrpSpPr/>
          <p:nvPr/>
        </p:nvGrpSpPr>
        <p:grpSpPr>
          <a:xfrm>
            <a:off x="2388785" y="5593615"/>
            <a:ext cx="14048933" cy="6648520"/>
            <a:chOff x="2388785" y="5593615"/>
            <a:chExt cx="14048933" cy="6648520"/>
          </a:xfrm>
        </p:grpSpPr>
        <p:grpSp>
          <p:nvGrpSpPr>
            <p:cNvPr id="56" name="グループ化 55">
              <a:extLst>
                <a:ext uri="{FF2B5EF4-FFF2-40B4-BE49-F238E27FC236}">
                  <a16:creationId xmlns:a16="http://schemas.microsoft.com/office/drawing/2014/main" id="{0357ECAE-4255-E445-8BF4-2A8DF5ACB2D8}"/>
                </a:ext>
              </a:extLst>
            </p:cNvPr>
            <p:cNvGrpSpPr/>
            <p:nvPr/>
          </p:nvGrpSpPr>
          <p:grpSpPr>
            <a:xfrm>
              <a:off x="2388785" y="6451496"/>
              <a:ext cx="14048933" cy="5790639"/>
              <a:chOff x="2169353" y="5242486"/>
              <a:chExt cx="14048933" cy="5790639"/>
            </a:xfrm>
          </p:grpSpPr>
          <p:cxnSp>
            <p:nvCxnSpPr>
              <p:cNvPr id="53" name="直線コネクタ 52">
                <a:extLst>
                  <a:ext uri="{FF2B5EF4-FFF2-40B4-BE49-F238E27FC236}">
                    <a16:creationId xmlns:a16="http://schemas.microsoft.com/office/drawing/2014/main" id="{FDC08198-C75C-1E4B-8F55-6B7AA283107C}"/>
                  </a:ext>
                </a:extLst>
              </p:cNvPr>
              <p:cNvCxnSpPr>
                <a:cxnSpLocks/>
              </p:cNvCxnSpPr>
              <p:nvPr/>
            </p:nvCxnSpPr>
            <p:spPr>
              <a:xfrm flipV="1">
                <a:off x="3898567" y="10513166"/>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16D7953C-F20B-F648-97B9-FB72671F0A2C}"/>
                  </a:ext>
                </a:extLst>
              </p:cNvPr>
              <p:cNvCxnSpPr>
                <a:cxnSpLocks/>
              </p:cNvCxnSpPr>
              <p:nvPr/>
            </p:nvCxnSpPr>
            <p:spPr>
              <a:xfrm flipV="1">
                <a:off x="3898567" y="8358404"/>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7" name="スマイル 36">
                <a:extLst>
                  <a:ext uri="{FF2B5EF4-FFF2-40B4-BE49-F238E27FC236}">
                    <a16:creationId xmlns:a16="http://schemas.microsoft.com/office/drawing/2014/main" id="{9CF4B8AF-2E80-B74E-9689-81954181E3E2}"/>
                  </a:ext>
                </a:extLst>
              </p:cNvPr>
              <p:cNvSpPr/>
              <p:nvPr/>
            </p:nvSpPr>
            <p:spPr>
              <a:xfrm>
                <a:off x="6627244" y="5242487"/>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スマイル 37">
                <a:extLst>
                  <a:ext uri="{FF2B5EF4-FFF2-40B4-BE49-F238E27FC236}">
                    <a16:creationId xmlns:a16="http://schemas.microsoft.com/office/drawing/2014/main" id="{6DC2511F-6662-1E49-905F-DD3BE3C4A0EF}"/>
                  </a:ext>
                </a:extLst>
              </p:cNvPr>
              <p:cNvSpPr/>
              <p:nvPr/>
            </p:nvSpPr>
            <p:spPr>
              <a:xfrm>
                <a:off x="11834723" y="5242486"/>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9" name="角丸四角形 38">
                <a:extLst>
                  <a:ext uri="{FF2B5EF4-FFF2-40B4-BE49-F238E27FC236}">
                    <a16:creationId xmlns:a16="http://schemas.microsoft.com/office/drawing/2014/main" id="{E09C4C9C-1428-3248-A1B6-150365D74B5A}"/>
                  </a:ext>
                </a:extLst>
              </p:cNvPr>
              <p:cNvSpPr/>
              <p:nvPr/>
            </p:nvSpPr>
            <p:spPr>
              <a:xfrm>
                <a:off x="5997516" y="6948129"/>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1" name="テキスト ボックス 40">
                <a:extLst>
                  <a:ext uri="{FF2B5EF4-FFF2-40B4-BE49-F238E27FC236}">
                    <a16:creationId xmlns:a16="http://schemas.microsoft.com/office/drawing/2014/main" id="{FBE073DD-A991-1C43-B2B7-BE007D6A4F8C}"/>
                  </a:ext>
                </a:extLst>
              </p:cNvPr>
              <p:cNvSpPr txBox="1"/>
              <p:nvPr/>
            </p:nvSpPr>
            <p:spPr>
              <a:xfrm>
                <a:off x="10679862" y="7071835"/>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4" name="右矢印 43">
                <a:extLst>
                  <a:ext uri="{FF2B5EF4-FFF2-40B4-BE49-F238E27FC236}">
                    <a16:creationId xmlns:a16="http://schemas.microsoft.com/office/drawing/2014/main" id="{11B97553-391D-4847-943B-17718411A7AE}"/>
                  </a:ext>
                </a:extLst>
              </p:cNvPr>
              <p:cNvSpPr/>
              <p:nvPr/>
            </p:nvSpPr>
            <p:spPr>
              <a:xfrm>
                <a:off x="9109854" y="7284253"/>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5" name="角丸四角形 44">
                <a:extLst>
                  <a:ext uri="{FF2B5EF4-FFF2-40B4-BE49-F238E27FC236}">
                    <a16:creationId xmlns:a16="http://schemas.microsoft.com/office/drawing/2014/main" id="{1252E8D3-35D9-BD40-A048-F80F78E5FD1E}"/>
                  </a:ext>
                </a:extLst>
              </p:cNvPr>
              <p:cNvSpPr/>
              <p:nvPr/>
            </p:nvSpPr>
            <p:spPr>
              <a:xfrm>
                <a:off x="11204995" y="9103036"/>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6" name="右矢印 45">
                <a:extLst>
                  <a:ext uri="{FF2B5EF4-FFF2-40B4-BE49-F238E27FC236}">
                    <a16:creationId xmlns:a16="http://schemas.microsoft.com/office/drawing/2014/main" id="{13E13E97-CA93-4847-A5DA-3CA17C7D3804}"/>
                  </a:ext>
                </a:extLst>
              </p:cNvPr>
              <p:cNvSpPr/>
              <p:nvPr/>
            </p:nvSpPr>
            <p:spPr>
              <a:xfrm rot="5400000">
                <a:off x="11943599" y="8226893"/>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7" name="テキスト ボックス 46">
                <a:extLst>
                  <a:ext uri="{FF2B5EF4-FFF2-40B4-BE49-F238E27FC236}">
                    <a16:creationId xmlns:a16="http://schemas.microsoft.com/office/drawing/2014/main" id="{B3A90CC4-0059-EC48-8D6E-E8B229E12046}"/>
                  </a:ext>
                </a:extLst>
              </p:cNvPr>
              <p:cNvSpPr txBox="1"/>
              <p:nvPr/>
            </p:nvSpPr>
            <p:spPr>
              <a:xfrm>
                <a:off x="5497183" y="9183499"/>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8" name="右矢印 47">
                <a:extLst>
                  <a:ext uri="{FF2B5EF4-FFF2-40B4-BE49-F238E27FC236}">
                    <a16:creationId xmlns:a16="http://schemas.microsoft.com/office/drawing/2014/main" id="{BC223DC2-9CD1-0C4C-8D7A-FBC496089A6B}"/>
                  </a:ext>
                </a:extLst>
              </p:cNvPr>
              <p:cNvSpPr/>
              <p:nvPr/>
            </p:nvSpPr>
            <p:spPr>
              <a:xfrm flipH="1">
                <a:off x="9109854" y="9388326"/>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9" name="右矢印 48">
                <a:extLst>
                  <a:ext uri="{FF2B5EF4-FFF2-40B4-BE49-F238E27FC236}">
                    <a16:creationId xmlns:a16="http://schemas.microsoft.com/office/drawing/2014/main" id="{E2A01DCA-2AFF-2041-B8CD-5D8E892B3A2D}"/>
                  </a:ext>
                </a:extLst>
              </p:cNvPr>
              <p:cNvSpPr/>
              <p:nvPr/>
            </p:nvSpPr>
            <p:spPr>
              <a:xfrm rot="5400000">
                <a:off x="6760919" y="10384117"/>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4" name="テキスト ボックス 53">
                <a:extLst>
                  <a:ext uri="{FF2B5EF4-FFF2-40B4-BE49-F238E27FC236}">
                    <a16:creationId xmlns:a16="http://schemas.microsoft.com/office/drawing/2014/main" id="{4859D2BE-E535-2D41-971F-8FFE54AB3657}"/>
                  </a:ext>
                </a:extLst>
              </p:cNvPr>
              <p:cNvSpPr txBox="1"/>
              <p:nvPr/>
            </p:nvSpPr>
            <p:spPr>
              <a:xfrm>
                <a:off x="2169353" y="8035238"/>
                <a:ext cx="1797246" cy="646331"/>
              </a:xfrm>
              <a:prstGeom prst="rect">
                <a:avLst/>
              </a:prstGeom>
              <a:noFill/>
            </p:spPr>
            <p:txBody>
              <a:bodyPr wrap="square" rtlCol="0">
                <a:spAutoFit/>
              </a:bodyPr>
              <a:lstStyle/>
              <a:p>
                <a:pPr algn="ctr"/>
                <a:r>
                  <a:rPr lang="en-US" altLang="ja-JP" dirty="0"/>
                  <a:t>turn1</a:t>
                </a:r>
                <a:endParaRPr kumimoji="1" lang="ja-JP" altLang="en-US"/>
              </a:p>
            </p:txBody>
          </p:sp>
          <p:sp>
            <p:nvSpPr>
              <p:cNvPr id="55" name="テキスト ボックス 54">
                <a:extLst>
                  <a:ext uri="{FF2B5EF4-FFF2-40B4-BE49-F238E27FC236}">
                    <a16:creationId xmlns:a16="http://schemas.microsoft.com/office/drawing/2014/main" id="{9315D72E-0419-9A41-97CF-F197D1FAFC7C}"/>
                  </a:ext>
                </a:extLst>
              </p:cNvPr>
              <p:cNvSpPr txBox="1"/>
              <p:nvPr/>
            </p:nvSpPr>
            <p:spPr>
              <a:xfrm>
                <a:off x="2169353" y="10190000"/>
                <a:ext cx="1797246" cy="646331"/>
              </a:xfrm>
              <a:prstGeom prst="rect">
                <a:avLst/>
              </a:prstGeom>
              <a:noFill/>
            </p:spPr>
            <p:txBody>
              <a:bodyPr wrap="square" rtlCol="0">
                <a:spAutoFit/>
              </a:bodyPr>
              <a:lstStyle/>
              <a:p>
                <a:pPr algn="ctr"/>
                <a:r>
                  <a:rPr lang="en-US" altLang="ja-JP" dirty="0"/>
                  <a:t>turn2</a:t>
                </a:r>
                <a:endParaRPr kumimoji="1" lang="ja-JP" altLang="en-US"/>
              </a:p>
            </p:txBody>
          </p:sp>
        </p:grpSp>
        <p:sp>
          <p:nvSpPr>
            <p:cNvPr id="57" name="テキスト ボックス 56">
              <a:extLst>
                <a:ext uri="{FF2B5EF4-FFF2-40B4-BE49-F238E27FC236}">
                  <a16:creationId xmlns:a16="http://schemas.microsoft.com/office/drawing/2014/main" id="{ABBE6729-4F1E-844B-8626-9D8A4C742F21}"/>
                </a:ext>
              </a:extLst>
            </p:cNvPr>
            <p:cNvSpPr txBox="1"/>
            <p:nvPr/>
          </p:nvSpPr>
          <p:spPr>
            <a:xfrm>
              <a:off x="6569153" y="5617598"/>
              <a:ext cx="1797246" cy="646331"/>
            </a:xfrm>
            <a:prstGeom prst="rect">
              <a:avLst/>
            </a:prstGeom>
            <a:noFill/>
          </p:spPr>
          <p:txBody>
            <a:bodyPr wrap="square" rtlCol="0">
              <a:spAutoFit/>
            </a:bodyPr>
            <a:lstStyle/>
            <a:p>
              <a:pPr algn="ctr"/>
              <a:r>
                <a:rPr kumimoji="1" lang="en-US" altLang="ja-JP" dirty="0"/>
                <a:t>A</a:t>
              </a:r>
              <a:endParaRPr kumimoji="1" lang="ja-JP" altLang="en-US"/>
            </a:p>
          </p:txBody>
        </p:sp>
        <p:sp>
          <p:nvSpPr>
            <p:cNvPr id="58" name="テキスト ボックス 57">
              <a:extLst>
                <a:ext uri="{FF2B5EF4-FFF2-40B4-BE49-F238E27FC236}">
                  <a16:creationId xmlns:a16="http://schemas.microsoft.com/office/drawing/2014/main" id="{9CE7A1FE-D08D-FA4C-8BC0-8BAE53E4808F}"/>
                </a:ext>
              </a:extLst>
            </p:cNvPr>
            <p:cNvSpPr txBox="1"/>
            <p:nvPr/>
          </p:nvSpPr>
          <p:spPr>
            <a:xfrm>
              <a:off x="11751833" y="5593615"/>
              <a:ext cx="1797246" cy="646331"/>
            </a:xfrm>
            <a:prstGeom prst="rect">
              <a:avLst/>
            </a:prstGeom>
            <a:noFill/>
          </p:spPr>
          <p:txBody>
            <a:bodyPr wrap="square" rtlCol="0">
              <a:spAutoFit/>
            </a:bodyPr>
            <a:lstStyle/>
            <a:p>
              <a:pPr algn="ctr"/>
              <a:r>
                <a:rPr lang="en-US" altLang="ja-JP" dirty="0"/>
                <a:t>B</a:t>
              </a:r>
              <a:endParaRPr kumimoji="1" lang="ja-JP" altLang="en-US"/>
            </a:p>
          </p:txBody>
        </p:sp>
      </p:gr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6</a:t>
            </a:r>
            <a:r>
              <a:rPr lang="ja-JP" altLang="en-US"/>
              <a:t>ターン終了時までに合意が得られなかった場合は交渉終了</a:t>
            </a:r>
          </a:p>
        </p:txBody>
      </p:sp>
    </p:spTree>
    <p:extLst>
      <p:ext uri="{BB962C8B-B14F-4D97-AF65-F5344CB8AC3E}">
        <p14:creationId xmlns:p14="http://schemas.microsoft.com/office/powerpoint/2010/main" val="2592753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a:t>
            </a:r>
            <a:r>
              <a:rPr lang="en-US" altLang="ja-JP" dirty="0"/>
              <a:t>offer</a:t>
            </a:r>
            <a:r>
              <a:rPr lang="ja-JP" altLang="en-US"/>
              <a:t>は以下のレベルで行なわれる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ターンが経過するにつれて譲歩する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aphicFrame>
        <p:nvGraphicFramePr>
          <p:cNvPr id="40" name="表 39">
            <a:extLst>
              <a:ext uri="{FF2B5EF4-FFF2-40B4-BE49-F238E27FC236}">
                <a16:creationId xmlns:a16="http://schemas.microsoft.com/office/drawing/2014/main" id="{E9372689-BF67-5547-B96B-CA9774DC3ACD}"/>
              </a:ext>
            </a:extLst>
          </p:cNvPr>
          <p:cNvGraphicFramePr>
            <a:graphicFrameLocks noGrp="1"/>
          </p:cNvGraphicFramePr>
          <p:nvPr>
            <p:extLst>
              <p:ext uri="{D42A27DB-BD31-4B8C-83A1-F6EECF244321}">
                <p14:modId xmlns:p14="http://schemas.microsoft.com/office/powerpoint/2010/main" val="4222583399"/>
              </p:ext>
            </p:extLst>
          </p:nvPr>
        </p:nvGraphicFramePr>
        <p:xfrm>
          <a:off x="481153" y="4657122"/>
          <a:ext cx="17325694" cy="2804160"/>
        </p:xfrm>
        <a:graphic>
          <a:graphicData uri="http://schemas.openxmlformats.org/drawingml/2006/table">
            <a:tbl>
              <a:tblPr firstRow="1" bandRow="1">
                <a:tableStyleId>{5C22544A-7EE6-4342-B048-85BDC9FD1C3A}</a:tableStyleId>
              </a:tblPr>
              <a:tblGrid>
                <a:gridCol w="4797694">
                  <a:extLst>
                    <a:ext uri="{9D8B030D-6E8A-4147-A177-3AD203B41FA5}">
                      <a16:colId xmlns:a16="http://schemas.microsoft.com/office/drawing/2014/main" val="3132472836"/>
                    </a:ext>
                  </a:extLst>
                </a:gridCol>
                <a:gridCol w="2088000">
                  <a:extLst>
                    <a:ext uri="{9D8B030D-6E8A-4147-A177-3AD203B41FA5}">
                      <a16:colId xmlns:a16="http://schemas.microsoft.com/office/drawing/2014/main" val="1411076331"/>
                    </a:ext>
                  </a:extLst>
                </a:gridCol>
                <a:gridCol w="2088000">
                  <a:extLst>
                    <a:ext uri="{9D8B030D-6E8A-4147-A177-3AD203B41FA5}">
                      <a16:colId xmlns:a16="http://schemas.microsoft.com/office/drawing/2014/main" val="3639288741"/>
                    </a:ext>
                  </a:extLst>
                </a:gridCol>
                <a:gridCol w="2088000">
                  <a:extLst>
                    <a:ext uri="{9D8B030D-6E8A-4147-A177-3AD203B41FA5}">
                      <a16:colId xmlns:a16="http://schemas.microsoft.com/office/drawing/2014/main" val="2618031870"/>
                    </a:ext>
                  </a:extLst>
                </a:gridCol>
                <a:gridCol w="2088000">
                  <a:extLst>
                    <a:ext uri="{9D8B030D-6E8A-4147-A177-3AD203B41FA5}">
                      <a16:colId xmlns:a16="http://schemas.microsoft.com/office/drawing/2014/main" val="2275254161"/>
                    </a:ext>
                  </a:extLst>
                </a:gridCol>
                <a:gridCol w="2088000">
                  <a:extLst>
                    <a:ext uri="{9D8B030D-6E8A-4147-A177-3AD203B41FA5}">
                      <a16:colId xmlns:a16="http://schemas.microsoft.com/office/drawing/2014/main" val="232774055"/>
                    </a:ext>
                  </a:extLst>
                </a:gridCol>
                <a:gridCol w="2088000">
                  <a:extLst>
                    <a:ext uri="{9D8B030D-6E8A-4147-A177-3AD203B41FA5}">
                      <a16:colId xmlns:a16="http://schemas.microsoft.com/office/drawing/2014/main" val="959137927"/>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endParaRPr kumimoji="1" lang="ja-JP" altLang="en-US" sz="4000"/>
                    </a:p>
                  </a:txBody>
                  <a:tcPr/>
                </a:tc>
                <a:tc>
                  <a:txBody>
                    <a:bodyPr/>
                    <a:lstStyle/>
                    <a:p>
                      <a:pPr algn="ctr"/>
                      <a:r>
                        <a:rPr kumimoji="1" lang="ja-JP" altLang="en-US" sz="4000"/>
                        <a:t>ターン</a:t>
                      </a:r>
                      <a:r>
                        <a:rPr kumimoji="1" lang="en-US" altLang="ja-JP" sz="4000" dirty="0"/>
                        <a:t>2</a:t>
                      </a:r>
                      <a:endParaRPr kumimoji="1" lang="ja-JP" altLang="en-US" sz="4000"/>
                    </a:p>
                  </a:txBody>
                  <a:tcPr/>
                </a:tc>
                <a:tc>
                  <a:txBody>
                    <a:bodyPr/>
                    <a:lstStyle/>
                    <a:p>
                      <a:pPr algn="ctr"/>
                      <a:r>
                        <a:rPr kumimoji="1" lang="ja-JP" altLang="en-US" sz="4000"/>
                        <a:t>ターン</a:t>
                      </a:r>
                      <a:r>
                        <a:rPr kumimoji="1" lang="en-US" altLang="ja-JP" sz="4000" dirty="0"/>
                        <a:t>3</a:t>
                      </a:r>
                      <a:endParaRPr kumimoji="1" lang="ja-JP" altLang="en-US" sz="4000"/>
                    </a:p>
                  </a:txBody>
                  <a:tcPr/>
                </a:tc>
                <a:tc>
                  <a:txBody>
                    <a:bodyPr/>
                    <a:lstStyle/>
                    <a:p>
                      <a:pPr algn="ctr"/>
                      <a:r>
                        <a:rPr kumimoji="1" lang="ja-JP" altLang="en-US" sz="4000"/>
                        <a:t>ターン</a:t>
                      </a:r>
                      <a:r>
                        <a:rPr kumimoji="1" lang="en-US" altLang="ja-JP" sz="4000" dirty="0"/>
                        <a:t>4</a:t>
                      </a:r>
                      <a:endParaRPr kumimoji="1" lang="ja-JP" altLang="en-US" sz="4000"/>
                    </a:p>
                  </a:txBody>
                  <a:tcPr/>
                </a:tc>
                <a:tc>
                  <a:txBody>
                    <a:bodyPr/>
                    <a:lstStyle/>
                    <a:p>
                      <a:pPr algn="ctr"/>
                      <a:r>
                        <a:rPr kumimoji="1" lang="ja-JP" altLang="en-US" sz="4000"/>
                        <a:t>ターン</a:t>
                      </a:r>
                      <a:r>
                        <a:rPr kumimoji="1" lang="en-US" altLang="ja-JP" sz="4000" dirty="0"/>
                        <a:t>5</a:t>
                      </a:r>
                      <a:endParaRPr kumimoji="1" lang="ja-JP" altLang="en-US" sz="4000"/>
                    </a:p>
                  </a:txBody>
                  <a:tcPr/>
                </a:tc>
                <a:tc>
                  <a:txBody>
                    <a:bodyPr/>
                    <a:lstStyle/>
                    <a:p>
                      <a:pPr algn="ctr"/>
                      <a:r>
                        <a:rPr kumimoji="1" lang="ja-JP" altLang="en-US" sz="4000"/>
                        <a:t>ターン</a:t>
                      </a:r>
                      <a:r>
                        <a:rPr kumimoji="1" lang="en-US" altLang="ja-JP" sz="4000" dirty="0"/>
                        <a:t>6</a:t>
                      </a:r>
                      <a:endParaRPr kumimoji="1" lang="ja-JP" altLang="en-US" sz="4000"/>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85150135"/>
                  </a:ext>
                </a:extLst>
              </a:tr>
            </a:tbl>
          </a:graphicData>
        </a:graphic>
      </p:graphicFrame>
      <p:grpSp>
        <p:nvGrpSpPr>
          <p:cNvPr id="67" name="グループ化 66">
            <a:extLst>
              <a:ext uri="{FF2B5EF4-FFF2-40B4-BE49-F238E27FC236}">
                <a16:creationId xmlns:a16="http://schemas.microsoft.com/office/drawing/2014/main" id="{AF43A8DD-E204-6D4F-8D7E-6389A3B63A35}"/>
              </a:ext>
            </a:extLst>
          </p:cNvPr>
          <p:cNvGrpSpPr/>
          <p:nvPr/>
        </p:nvGrpSpPr>
        <p:grpSpPr>
          <a:xfrm>
            <a:off x="306583" y="8372114"/>
            <a:ext cx="2160000" cy="934436"/>
            <a:chOff x="144665" y="525617"/>
            <a:chExt cx="1080000" cy="467218"/>
          </a:xfrm>
        </p:grpSpPr>
        <p:sp>
          <p:nvSpPr>
            <p:cNvPr id="68" name="正方形/長方形 67">
              <a:extLst>
                <a:ext uri="{FF2B5EF4-FFF2-40B4-BE49-F238E27FC236}">
                  <a16:creationId xmlns:a16="http://schemas.microsoft.com/office/drawing/2014/main" id="{D3784741-4980-5E48-8B2F-9D05B7A1D4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1" name="正方形/長方形 70">
              <a:extLst>
                <a:ext uri="{FF2B5EF4-FFF2-40B4-BE49-F238E27FC236}">
                  <a16:creationId xmlns:a16="http://schemas.microsoft.com/office/drawing/2014/main" id="{2B012E12-8EDA-3C45-A6D9-515B8234B8A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2" name="グループ化 71">
            <a:extLst>
              <a:ext uri="{FF2B5EF4-FFF2-40B4-BE49-F238E27FC236}">
                <a16:creationId xmlns:a16="http://schemas.microsoft.com/office/drawing/2014/main" id="{CC62BD74-0397-CF46-900B-2D064C928F73}"/>
              </a:ext>
            </a:extLst>
          </p:cNvPr>
          <p:cNvGrpSpPr/>
          <p:nvPr/>
        </p:nvGrpSpPr>
        <p:grpSpPr>
          <a:xfrm>
            <a:off x="634485" y="9516174"/>
            <a:ext cx="539448" cy="487368"/>
            <a:chOff x="400056" y="1061560"/>
            <a:chExt cx="269724" cy="243684"/>
          </a:xfrm>
        </p:grpSpPr>
        <p:sp>
          <p:nvSpPr>
            <p:cNvPr id="73" name="三角形 72">
              <a:extLst>
                <a:ext uri="{FF2B5EF4-FFF2-40B4-BE49-F238E27FC236}">
                  <a16:creationId xmlns:a16="http://schemas.microsoft.com/office/drawing/2014/main" id="{FA9A05CB-7BF6-104E-A8B9-1DA4289FABD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CBD3F5DB-87B5-E041-B871-83C11126950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6" name="テキスト プレースホルダー 27">
            <a:extLst>
              <a:ext uri="{FF2B5EF4-FFF2-40B4-BE49-F238E27FC236}">
                <a16:creationId xmlns:a16="http://schemas.microsoft.com/office/drawing/2014/main" id="{0805C932-52A3-F14E-8C0D-1188AD945D02}"/>
              </a:ext>
            </a:extLst>
          </p:cNvPr>
          <p:cNvSpPr txBox="1">
            <a:spLocks/>
          </p:cNvSpPr>
          <p:nvPr/>
        </p:nvSpPr>
        <p:spPr>
          <a:xfrm>
            <a:off x="1271739" y="944354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履修単位</a:t>
            </a:r>
            <a:endParaRPr lang="en-US" altLang="ja-JP" dirty="0"/>
          </a:p>
        </p:txBody>
      </p:sp>
      <p:sp>
        <p:nvSpPr>
          <p:cNvPr id="78" name="テキスト プレースホルダー 30">
            <a:extLst>
              <a:ext uri="{FF2B5EF4-FFF2-40B4-BE49-F238E27FC236}">
                <a16:creationId xmlns:a16="http://schemas.microsoft.com/office/drawing/2014/main" id="{BDCF4158-63FA-6B46-A592-469329D525B9}"/>
              </a:ext>
            </a:extLst>
          </p:cNvPr>
          <p:cNvSpPr txBox="1">
            <a:spLocks/>
          </p:cNvSpPr>
          <p:nvPr/>
        </p:nvSpPr>
        <p:spPr>
          <a:xfrm>
            <a:off x="588302" y="8542687"/>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参加者へのインセンティブ</a:t>
            </a:r>
          </a:p>
        </p:txBody>
      </p:sp>
      <p:grpSp>
        <p:nvGrpSpPr>
          <p:cNvPr id="80" name="グループ化 79">
            <a:extLst>
              <a:ext uri="{FF2B5EF4-FFF2-40B4-BE49-F238E27FC236}">
                <a16:creationId xmlns:a16="http://schemas.microsoft.com/office/drawing/2014/main" id="{A4225CB9-8CD3-D441-8968-23641E87F48F}"/>
              </a:ext>
            </a:extLst>
          </p:cNvPr>
          <p:cNvGrpSpPr/>
          <p:nvPr/>
        </p:nvGrpSpPr>
        <p:grpSpPr>
          <a:xfrm>
            <a:off x="617232" y="10323591"/>
            <a:ext cx="539448" cy="487368"/>
            <a:chOff x="400056" y="1061560"/>
            <a:chExt cx="269724" cy="243684"/>
          </a:xfrm>
        </p:grpSpPr>
        <p:sp>
          <p:nvSpPr>
            <p:cNvPr id="81" name="三角形 80">
              <a:extLst>
                <a:ext uri="{FF2B5EF4-FFF2-40B4-BE49-F238E27FC236}">
                  <a16:creationId xmlns:a16="http://schemas.microsoft.com/office/drawing/2014/main" id="{592BBE17-45AB-E646-99AF-F47D0DE445F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C8C3ABEF-62F8-8549-A46E-3996937CFB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ABB35284-5CCF-1248-9717-0F4B86749863}"/>
              </a:ext>
            </a:extLst>
          </p:cNvPr>
          <p:cNvSpPr txBox="1">
            <a:spLocks/>
          </p:cNvSpPr>
          <p:nvPr/>
        </p:nvSpPr>
        <p:spPr>
          <a:xfrm>
            <a:off x="1254486" y="1025096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抽選で</a:t>
            </a:r>
            <a:r>
              <a:rPr lang="en-US" altLang="ja-JP" dirty="0"/>
              <a:t>100</a:t>
            </a:r>
            <a:r>
              <a:rPr lang="ja-JP" altLang="en-US"/>
              <a:t>ドル</a:t>
            </a:r>
            <a:endParaRPr lang="en-US" altLang="ja-JP" dirty="0"/>
          </a:p>
        </p:txBody>
      </p:sp>
      <p:sp>
        <p:nvSpPr>
          <p:cNvPr id="84" name="三角形 83">
            <a:extLst>
              <a:ext uri="{FF2B5EF4-FFF2-40B4-BE49-F238E27FC236}">
                <a16:creationId xmlns:a16="http://schemas.microsoft.com/office/drawing/2014/main" id="{A76CC6A0-E54B-5541-82F2-BA4414A87EC0}"/>
              </a:ext>
            </a:extLst>
          </p:cNvPr>
          <p:cNvSpPr/>
          <p:nvPr/>
        </p:nvSpPr>
        <p:spPr>
          <a:xfrm rot="5400000">
            <a:off x="1076238" y="1111966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9AB38C3B-BE07-594E-B470-D89EA82DDD29}"/>
              </a:ext>
            </a:extLst>
          </p:cNvPr>
          <p:cNvSpPr txBox="1">
            <a:spLocks/>
          </p:cNvSpPr>
          <p:nvPr/>
        </p:nvSpPr>
        <p:spPr>
          <a:xfrm>
            <a:off x="1568600" y="1100439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価値の合計が多いほど当選確率が上昇</a:t>
            </a:r>
          </a:p>
        </p:txBody>
      </p:sp>
      <p:sp>
        <p:nvSpPr>
          <p:cNvPr id="86" name="三角形 85">
            <a:extLst>
              <a:ext uri="{FF2B5EF4-FFF2-40B4-BE49-F238E27FC236}">
                <a16:creationId xmlns:a16="http://schemas.microsoft.com/office/drawing/2014/main" id="{1091AC50-804F-8B40-9EDD-A753647D8FEF}"/>
              </a:ext>
            </a:extLst>
          </p:cNvPr>
          <p:cNvSpPr/>
          <p:nvPr/>
        </p:nvSpPr>
        <p:spPr>
          <a:xfrm rot="5400000">
            <a:off x="1076238" y="1191231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79C37548-A7D8-164E-8745-7669F6F7B283}"/>
              </a:ext>
            </a:extLst>
          </p:cNvPr>
          <p:cNvSpPr txBox="1">
            <a:spLocks/>
          </p:cNvSpPr>
          <p:nvPr/>
        </p:nvSpPr>
        <p:spPr>
          <a:xfrm>
            <a:off x="1568600" y="1179703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交渉が合意至らなかった場合は価値が得られない</a:t>
            </a:r>
          </a:p>
        </p:txBody>
      </p:sp>
    </p:spTree>
    <p:extLst>
      <p:ext uri="{BB962C8B-B14F-4D97-AF65-F5344CB8AC3E}">
        <p14:creationId xmlns:p14="http://schemas.microsoft.com/office/powerpoint/2010/main" val="32451517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感情の伝達は以下の手順に従う</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a:t>
            </a:r>
          </a:p>
        </p:txBody>
      </p:sp>
      <p:sp>
        <p:nvSpPr>
          <p:cNvPr id="17" name="テキスト ボックス 16">
            <a:extLst>
              <a:ext uri="{FF2B5EF4-FFF2-40B4-BE49-F238E27FC236}">
                <a16:creationId xmlns:a16="http://schemas.microsoft.com/office/drawing/2014/main" id="{5629DD65-D953-EC4C-B0BB-463A18B57C1A}"/>
              </a:ext>
            </a:extLst>
          </p:cNvPr>
          <p:cNvSpPr txBox="1"/>
          <p:nvPr/>
        </p:nvSpPr>
        <p:spPr>
          <a:xfrm>
            <a:off x="1173933" y="6887325"/>
            <a:ext cx="15176134" cy="3170099"/>
          </a:xfrm>
          <a:prstGeom prst="rect">
            <a:avLst/>
          </a:prstGeom>
          <a:noFill/>
        </p:spPr>
        <p:txBody>
          <a:bodyPr wrap="square" rtlCol="0">
            <a:spAutoFit/>
          </a:bodyPr>
          <a:lstStyle/>
          <a:p>
            <a:pPr marL="742950" indent="-742950">
              <a:buFont typeface="+mj-lt"/>
              <a:buAutoNum type="arabicPeriod"/>
            </a:pPr>
            <a:r>
              <a:rPr kumimoji="1" lang="ja-JP" altLang="en-US" sz="4000"/>
              <a:t>参加者がオファーを行う</a:t>
            </a:r>
            <a:endParaRPr kumimoji="1" lang="en-US" altLang="ja-JP" sz="4000" dirty="0"/>
          </a:p>
          <a:p>
            <a:pPr marL="742950" indent="-742950">
              <a:buFont typeface="+mj-lt"/>
              <a:buAutoNum type="arabicPeriod"/>
            </a:pPr>
            <a:r>
              <a:rPr lang="ja-JP" altLang="en-US" sz="4000"/>
              <a:t>エージェントが感情を伝達</a:t>
            </a:r>
            <a:endParaRPr lang="en-US" altLang="ja-JP" sz="4000" dirty="0"/>
          </a:p>
          <a:p>
            <a:pPr marL="742950" indent="-742950">
              <a:buFont typeface="+mj-lt"/>
              <a:buAutoNum type="arabicPeriod"/>
            </a:pPr>
            <a:r>
              <a:rPr kumimoji="1" lang="ja-JP" altLang="en-US" sz="4000"/>
              <a:t>エージェントが</a:t>
            </a:r>
            <a:r>
              <a:rPr kumimoji="1" lang="en-US" altLang="ja-JP" sz="4000" dirty="0"/>
              <a:t>offer</a:t>
            </a:r>
            <a:r>
              <a:rPr kumimoji="1" lang="ja-JP" altLang="en-US" sz="4000"/>
              <a:t>へ返答</a:t>
            </a:r>
            <a:endParaRPr kumimoji="1" lang="en-US" altLang="ja-JP" sz="4000" dirty="0"/>
          </a:p>
          <a:p>
            <a:pPr marL="742950" indent="-742950">
              <a:buFont typeface="+mj-lt"/>
              <a:buAutoNum type="arabicPeriod"/>
            </a:pPr>
            <a:r>
              <a:rPr kumimoji="1" lang="ja-JP" altLang="en-US" sz="4000"/>
              <a:t>参加者はエージェントの</a:t>
            </a:r>
            <a:r>
              <a:rPr kumimoji="1" lang="en-US" altLang="ja-JP" sz="4000" dirty="0"/>
              <a:t>offer</a:t>
            </a:r>
            <a:r>
              <a:rPr kumimoji="1" lang="ja-JP" altLang="en-US" sz="4000"/>
              <a:t>を</a:t>
            </a:r>
            <a:r>
              <a:rPr kumimoji="1" lang="en-US" altLang="ja-JP" sz="4000" dirty="0"/>
              <a:t>reject/accept</a:t>
            </a:r>
            <a:r>
              <a:rPr kumimoji="1" lang="ja-JP" altLang="en-US" sz="4000"/>
              <a:t>する</a:t>
            </a:r>
            <a:endParaRPr kumimoji="1" lang="en-US" altLang="ja-JP" sz="4000" dirty="0"/>
          </a:p>
          <a:p>
            <a:pPr marL="742950" indent="-742950">
              <a:buFont typeface="+mj-lt"/>
              <a:buAutoNum type="arabicPeriod"/>
            </a:pPr>
            <a:r>
              <a:rPr lang="ja-JP" altLang="en-US" sz="4000"/>
              <a:t>感情の伝達を終了</a:t>
            </a:r>
            <a:endParaRPr kumimoji="1" lang="en-US" altLang="ja-JP" sz="4000" dirty="0"/>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103145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101993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感情のターゲットは</a:t>
            </a:r>
            <a:r>
              <a:rPr lang="en-US" altLang="ja-JP" dirty="0"/>
              <a:t>offer</a:t>
            </a:r>
            <a:r>
              <a:rPr lang="ja-JP" altLang="en-US"/>
              <a:t>であり人間ではないことを理解させる</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110866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109714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offer</a:t>
            </a:r>
            <a:r>
              <a:rPr lang="ja-JP" altLang="en-US"/>
              <a:t>の作成前に感情が伝達されたことを理解させる</a:t>
            </a:r>
          </a:p>
        </p:txBody>
      </p:sp>
    </p:spTree>
    <p:extLst>
      <p:ext uri="{BB962C8B-B14F-4D97-AF65-F5344CB8AC3E}">
        <p14:creationId xmlns:p14="http://schemas.microsoft.com/office/powerpoint/2010/main" val="3181034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言語の場合はテキストで伝達</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感情の伝達方法</a:t>
            </a:r>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697106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685578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怒り：「この</a:t>
            </a:r>
            <a:r>
              <a:rPr lang="en-US" altLang="ja-JP" dirty="0"/>
              <a:t>offer</a:t>
            </a:r>
            <a:r>
              <a:rPr lang="ja-JP" altLang="en-US"/>
              <a:t>は合理的じゃない！」</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77431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762790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喜び：「この</a:t>
            </a:r>
            <a:r>
              <a:rPr lang="en-US" altLang="ja-JP" dirty="0"/>
              <a:t>offer</a:t>
            </a:r>
            <a:r>
              <a:rPr lang="ja-JP" altLang="en-US"/>
              <a:t>は素晴らしい！」</a:t>
            </a:r>
          </a:p>
        </p:txBody>
      </p:sp>
      <p:sp>
        <p:nvSpPr>
          <p:cNvPr id="32" name="三角形 31">
            <a:extLst>
              <a:ext uri="{FF2B5EF4-FFF2-40B4-BE49-F238E27FC236}">
                <a16:creationId xmlns:a16="http://schemas.microsoft.com/office/drawing/2014/main" id="{1E60B673-E0C8-BD44-B281-431128DB609E}"/>
              </a:ext>
            </a:extLst>
          </p:cNvPr>
          <p:cNvSpPr/>
          <p:nvPr/>
        </p:nvSpPr>
        <p:spPr>
          <a:xfrm rot="5400000">
            <a:off x="1076238" y="85524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BBD7163B-FD03-FE47-9FBE-EA56FF8B1AE0}"/>
              </a:ext>
            </a:extLst>
          </p:cNvPr>
          <p:cNvSpPr txBox="1">
            <a:spLocks/>
          </p:cNvSpPr>
          <p:nvPr/>
        </p:nvSpPr>
        <p:spPr>
          <a:xfrm>
            <a:off x="1568600" y="84372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中立：「私の</a:t>
            </a:r>
            <a:r>
              <a:rPr lang="en-US" altLang="ja-JP" dirty="0"/>
              <a:t>offer</a:t>
            </a:r>
            <a:r>
              <a:rPr lang="ja-JP" altLang="en-US"/>
              <a:t>はこれです」</a:t>
            </a:r>
          </a:p>
        </p:txBody>
      </p:sp>
      <p:grpSp>
        <p:nvGrpSpPr>
          <p:cNvPr id="34" name="グループ化 33">
            <a:extLst>
              <a:ext uri="{FF2B5EF4-FFF2-40B4-BE49-F238E27FC236}">
                <a16:creationId xmlns:a16="http://schemas.microsoft.com/office/drawing/2014/main" id="{9EEBE3BA-BEEF-FF46-8F61-F9527B4389BE}"/>
              </a:ext>
            </a:extLst>
          </p:cNvPr>
          <p:cNvGrpSpPr/>
          <p:nvPr/>
        </p:nvGrpSpPr>
        <p:grpSpPr>
          <a:xfrm>
            <a:off x="634485" y="9278659"/>
            <a:ext cx="539448" cy="487368"/>
            <a:chOff x="400056" y="1061560"/>
            <a:chExt cx="269724" cy="243684"/>
          </a:xfrm>
        </p:grpSpPr>
        <p:sp>
          <p:nvSpPr>
            <p:cNvPr id="35" name="三角形 34">
              <a:extLst>
                <a:ext uri="{FF2B5EF4-FFF2-40B4-BE49-F238E27FC236}">
                  <a16:creationId xmlns:a16="http://schemas.microsoft.com/office/drawing/2014/main" id="{A2FEE9AB-0656-D149-BB3D-E27E1B99C5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1CE79900-5DA8-2F4A-ACA0-BAF9ABE9214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27">
            <a:extLst>
              <a:ext uri="{FF2B5EF4-FFF2-40B4-BE49-F238E27FC236}">
                <a16:creationId xmlns:a16="http://schemas.microsoft.com/office/drawing/2014/main" id="{634BB085-61D7-004A-A67A-BBE569B063BB}"/>
              </a:ext>
            </a:extLst>
          </p:cNvPr>
          <p:cNvSpPr txBox="1">
            <a:spLocks/>
          </p:cNvSpPr>
          <p:nvPr/>
        </p:nvSpPr>
        <p:spPr>
          <a:xfrm>
            <a:off x="1271739" y="920603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非言語の場合は顔の表情で伝達</a:t>
            </a:r>
            <a:endParaRPr lang="en-US" altLang="ja-JP" dirty="0"/>
          </a:p>
        </p:txBody>
      </p:sp>
      <p:pic>
        <p:nvPicPr>
          <p:cNvPr id="19" name="図 18">
            <a:extLst>
              <a:ext uri="{FF2B5EF4-FFF2-40B4-BE49-F238E27FC236}">
                <a16:creationId xmlns:a16="http://schemas.microsoft.com/office/drawing/2014/main" id="{4899CB92-662C-304D-8D66-881AFB97E7D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0314602" y="8830617"/>
            <a:ext cx="7389962" cy="4178764"/>
          </a:xfrm>
          <a:prstGeom prst="rect">
            <a:avLst/>
          </a:prstGeom>
        </p:spPr>
      </p:pic>
    </p:spTree>
    <p:extLst>
      <p:ext uri="{BB962C8B-B14F-4D97-AF65-F5344CB8AC3E}">
        <p14:creationId xmlns:p14="http://schemas.microsoft.com/office/powerpoint/2010/main" val="10256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a:t>全く当てはまらない</a:t>
            </a:r>
            <a:r>
              <a:rPr lang="en-US" altLang="ja-JP" dirty="0"/>
              <a:t>)</a:t>
            </a:r>
            <a:r>
              <a:rPr lang="ja-JP" altLang="en-US"/>
              <a:t>から</a:t>
            </a:r>
            <a:r>
              <a:rPr lang="en-US" altLang="ja-JP" dirty="0"/>
              <a:t>7(</a:t>
            </a:r>
            <a:r>
              <a:rPr lang="ja-JP" altLang="en-US"/>
              <a:t>よく当てはまる</a:t>
            </a:r>
            <a:r>
              <a:rPr lang="en-US" altLang="ja-JP" dirty="0"/>
              <a:t>)</a:t>
            </a:r>
            <a:r>
              <a:rPr lang="ja-JP" altLang="en-US"/>
              <a:t>の</a:t>
            </a:r>
            <a:r>
              <a:rPr lang="en-US" altLang="ja-JP" dirty="0"/>
              <a:t>7</a:t>
            </a:r>
            <a:r>
              <a:rPr lang="ja-JP" altLang="en-US"/>
              <a:t>段階で解答</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評価方法</a:t>
            </a:r>
          </a:p>
        </p:txBody>
      </p:sp>
      <p:sp>
        <p:nvSpPr>
          <p:cNvPr id="49" name="三角形 48">
            <a:extLst>
              <a:ext uri="{FF2B5EF4-FFF2-40B4-BE49-F238E27FC236}">
                <a16:creationId xmlns:a16="http://schemas.microsoft.com/office/drawing/2014/main" id="{7D3F83F0-451C-BA44-BAD2-7F00C1A787A8}"/>
              </a:ext>
            </a:extLst>
          </p:cNvPr>
          <p:cNvSpPr/>
          <p:nvPr/>
        </p:nvSpPr>
        <p:spPr>
          <a:xfrm rot="5400000">
            <a:off x="1076238" y="494085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テキスト プレースホルダー 29">
            <a:extLst>
              <a:ext uri="{FF2B5EF4-FFF2-40B4-BE49-F238E27FC236}">
                <a16:creationId xmlns:a16="http://schemas.microsoft.com/office/drawing/2014/main" id="{ED0890A4-E23D-024B-BC77-9D5003297EDF}"/>
              </a:ext>
            </a:extLst>
          </p:cNvPr>
          <p:cNvSpPr txBox="1">
            <a:spLocks/>
          </p:cNvSpPr>
          <p:nvPr/>
        </p:nvSpPr>
        <p:spPr>
          <a:xfrm>
            <a:off x="1568600" y="482557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エージェントの感情が</a:t>
            </a:r>
            <a:r>
              <a:rPr lang="en-US" altLang="ja-JP" dirty="0"/>
              <a:t>offer</a:t>
            </a:r>
            <a:r>
              <a:rPr lang="ja-JP" altLang="en-US"/>
              <a:t>に対するものだと理解しているか確認</a:t>
            </a:r>
          </a:p>
        </p:txBody>
      </p:sp>
      <p:sp>
        <p:nvSpPr>
          <p:cNvPr id="31" name="三角形 30">
            <a:extLst>
              <a:ext uri="{FF2B5EF4-FFF2-40B4-BE49-F238E27FC236}">
                <a16:creationId xmlns:a16="http://schemas.microsoft.com/office/drawing/2014/main" id="{3B4A0892-4D2E-A94F-B2C3-1CDD07BC663E}"/>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24A897F1-4315-E346-9A39-4C4C18DC990F}"/>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エージェントの感情を参加者が知覚したか確認</a:t>
            </a:r>
          </a:p>
        </p:txBody>
      </p:sp>
      <p:grpSp>
        <p:nvGrpSpPr>
          <p:cNvPr id="19" name="グループ化 18">
            <a:extLst>
              <a:ext uri="{FF2B5EF4-FFF2-40B4-BE49-F238E27FC236}">
                <a16:creationId xmlns:a16="http://schemas.microsoft.com/office/drawing/2014/main" id="{A6AE002C-BAB8-6C4C-AED9-EA56B3B700C5}"/>
              </a:ext>
            </a:extLst>
          </p:cNvPr>
          <p:cNvGrpSpPr/>
          <p:nvPr/>
        </p:nvGrpSpPr>
        <p:grpSpPr>
          <a:xfrm>
            <a:off x="4629208" y="6142714"/>
            <a:ext cx="9029583" cy="5882411"/>
            <a:chOff x="4398224" y="6108209"/>
            <a:chExt cx="9029583" cy="5882411"/>
          </a:xfrm>
        </p:grpSpPr>
        <p:sp>
          <p:nvSpPr>
            <p:cNvPr id="18" name="六角形 17">
              <a:extLst>
                <a:ext uri="{FF2B5EF4-FFF2-40B4-BE49-F238E27FC236}">
                  <a16:creationId xmlns:a16="http://schemas.microsoft.com/office/drawing/2014/main" id="{B3EEB6DF-9557-5547-84AE-AE3EEB99C250}"/>
                </a:ext>
              </a:extLst>
            </p:cNvPr>
            <p:cNvSpPr/>
            <p:nvPr/>
          </p:nvSpPr>
          <p:spPr>
            <a:xfrm>
              <a:off x="5450194" y="6468577"/>
              <a:ext cx="7026871" cy="5138586"/>
            </a:xfrm>
            <a:prstGeom prst="hexagon">
              <a:avLst>
                <a:gd name="adj" fmla="val 31614"/>
                <a:gd name="vf" fmla="val 115470"/>
              </a:avLst>
            </a:prstGeom>
            <a:solidFill>
              <a:schemeClr val="bg1">
                <a:lumMod val="95000"/>
              </a:scheme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3" name="テキスト ボックス 32">
              <a:extLst>
                <a:ext uri="{FF2B5EF4-FFF2-40B4-BE49-F238E27FC236}">
                  <a16:creationId xmlns:a16="http://schemas.microsoft.com/office/drawing/2014/main" id="{D4A6E991-DA46-464A-8897-F783440C23B6}"/>
                </a:ext>
              </a:extLst>
            </p:cNvPr>
            <p:cNvSpPr txBox="1"/>
            <p:nvPr/>
          </p:nvSpPr>
          <p:spPr>
            <a:xfrm>
              <a:off x="4398224" y="8659833"/>
              <a:ext cx="2418799" cy="707886"/>
            </a:xfrm>
            <a:prstGeom prst="rect">
              <a:avLst/>
            </a:prstGeom>
            <a:solidFill>
              <a:schemeClr val="bg1">
                <a:lumMod val="95000"/>
              </a:schemeClr>
            </a:solidFill>
          </p:spPr>
          <p:txBody>
            <a:bodyPr wrap="square" rtlCol="0">
              <a:spAutoFit/>
            </a:bodyPr>
            <a:lstStyle/>
            <a:p>
              <a:pPr algn="ctr"/>
              <a:r>
                <a:rPr lang="en-US" altLang="ja-JP" sz="4000" dirty="0"/>
                <a:t>happy</a:t>
              </a:r>
              <a:endParaRPr kumimoji="1" lang="ja-JP" altLang="en-US" sz="4000"/>
            </a:p>
          </p:txBody>
        </p:sp>
        <p:sp>
          <p:nvSpPr>
            <p:cNvPr id="34" name="テキスト ボックス 33">
              <a:extLst>
                <a:ext uri="{FF2B5EF4-FFF2-40B4-BE49-F238E27FC236}">
                  <a16:creationId xmlns:a16="http://schemas.microsoft.com/office/drawing/2014/main" id="{E79015A6-B864-7943-95F1-3FEEB10673AC}"/>
                </a:ext>
              </a:extLst>
            </p:cNvPr>
            <p:cNvSpPr txBox="1"/>
            <p:nvPr/>
          </p:nvSpPr>
          <p:spPr>
            <a:xfrm>
              <a:off x="11009008" y="8659157"/>
              <a:ext cx="2418799" cy="707886"/>
            </a:xfrm>
            <a:prstGeom prst="rect">
              <a:avLst/>
            </a:prstGeom>
            <a:solidFill>
              <a:schemeClr val="bg1">
                <a:lumMod val="95000"/>
              </a:schemeClr>
            </a:solidFill>
          </p:spPr>
          <p:txBody>
            <a:bodyPr wrap="square" rtlCol="0">
              <a:spAutoFit/>
            </a:bodyPr>
            <a:lstStyle/>
            <a:p>
              <a:pPr algn="ctr"/>
              <a:r>
                <a:rPr lang="en-US" altLang="ja-JP" sz="4000" dirty="0"/>
                <a:t>anger</a:t>
              </a:r>
              <a:endParaRPr kumimoji="1" lang="ja-JP" altLang="en-US" sz="4000"/>
            </a:p>
          </p:txBody>
        </p:sp>
        <p:sp>
          <p:nvSpPr>
            <p:cNvPr id="35" name="テキスト ボックス 34">
              <a:extLst>
                <a:ext uri="{FF2B5EF4-FFF2-40B4-BE49-F238E27FC236}">
                  <a16:creationId xmlns:a16="http://schemas.microsoft.com/office/drawing/2014/main" id="{74870610-CDC4-1C4E-A323-28AD382841F7}"/>
                </a:ext>
              </a:extLst>
            </p:cNvPr>
            <p:cNvSpPr txBox="1"/>
            <p:nvPr/>
          </p:nvSpPr>
          <p:spPr>
            <a:xfrm>
              <a:off x="5624423" y="6111523"/>
              <a:ext cx="2418799" cy="707886"/>
            </a:xfrm>
            <a:prstGeom prst="rect">
              <a:avLst/>
            </a:prstGeom>
            <a:solidFill>
              <a:schemeClr val="bg1">
                <a:lumMod val="95000"/>
              </a:schemeClr>
            </a:solidFill>
          </p:spPr>
          <p:txBody>
            <a:bodyPr wrap="square" rtlCol="0">
              <a:spAutoFit/>
            </a:bodyPr>
            <a:lstStyle/>
            <a:p>
              <a:pPr algn="ctr"/>
              <a:r>
                <a:rPr lang="en-US" altLang="ja-JP" sz="4000" dirty="0"/>
                <a:t>satisfied</a:t>
              </a:r>
              <a:endParaRPr kumimoji="1" lang="ja-JP" altLang="en-US" sz="4000"/>
            </a:p>
          </p:txBody>
        </p:sp>
        <p:sp>
          <p:nvSpPr>
            <p:cNvPr id="37" name="テキスト ボックス 36">
              <a:extLst>
                <a:ext uri="{FF2B5EF4-FFF2-40B4-BE49-F238E27FC236}">
                  <a16:creationId xmlns:a16="http://schemas.microsoft.com/office/drawing/2014/main" id="{A44EFF6C-4867-D04A-8B5E-5E759DE20D11}"/>
                </a:ext>
              </a:extLst>
            </p:cNvPr>
            <p:cNvSpPr txBox="1"/>
            <p:nvPr/>
          </p:nvSpPr>
          <p:spPr>
            <a:xfrm>
              <a:off x="5624422" y="11282734"/>
              <a:ext cx="2418799" cy="707886"/>
            </a:xfrm>
            <a:prstGeom prst="rect">
              <a:avLst/>
            </a:prstGeom>
            <a:solidFill>
              <a:schemeClr val="bg1">
                <a:lumMod val="95000"/>
              </a:schemeClr>
            </a:solidFill>
          </p:spPr>
          <p:txBody>
            <a:bodyPr wrap="square" rtlCol="0">
              <a:spAutoFit/>
            </a:bodyPr>
            <a:lstStyle/>
            <a:p>
              <a:pPr algn="ctr"/>
              <a:r>
                <a:rPr kumimoji="1" lang="en-US" altLang="ja-JP" sz="4000" dirty="0"/>
                <a:t>pleased</a:t>
              </a:r>
              <a:endParaRPr kumimoji="1" lang="ja-JP" altLang="en-US" sz="4000"/>
            </a:p>
          </p:txBody>
        </p:sp>
        <p:sp>
          <p:nvSpPr>
            <p:cNvPr id="51" name="テキスト ボックス 50">
              <a:extLst>
                <a:ext uri="{FF2B5EF4-FFF2-40B4-BE49-F238E27FC236}">
                  <a16:creationId xmlns:a16="http://schemas.microsoft.com/office/drawing/2014/main" id="{680C48BD-ABD1-574D-A320-6CC523ECCE39}"/>
                </a:ext>
              </a:extLst>
            </p:cNvPr>
            <p:cNvSpPr txBox="1"/>
            <p:nvPr/>
          </p:nvSpPr>
          <p:spPr>
            <a:xfrm>
              <a:off x="9657955" y="6108209"/>
              <a:ext cx="2418799" cy="707886"/>
            </a:xfrm>
            <a:prstGeom prst="rect">
              <a:avLst/>
            </a:prstGeom>
            <a:solidFill>
              <a:schemeClr val="bg1">
                <a:lumMod val="95000"/>
              </a:schemeClr>
            </a:solidFill>
          </p:spPr>
          <p:txBody>
            <a:bodyPr wrap="square" rtlCol="0">
              <a:spAutoFit/>
            </a:bodyPr>
            <a:lstStyle/>
            <a:p>
              <a:pPr algn="ctr"/>
              <a:r>
                <a:rPr lang="en-US" altLang="ja-JP" sz="4000" dirty="0"/>
                <a:t>irritated</a:t>
              </a:r>
              <a:endParaRPr kumimoji="1" lang="ja-JP" altLang="en-US" sz="4000"/>
            </a:p>
          </p:txBody>
        </p:sp>
        <p:sp>
          <p:nvSpPr>
            <p:cNvPr id="52" name="テキスト ボックス 51">
              <a:extLst>
                <a:ext uri="{FF2B5EF4-FFF2-40B4-BE49-F238E27FC236}">
                  <a16:creationId xmlns:a16="http://schemas.microsoft.com/office/drawing/2014/main" id="{4C4DFD14-3EC9-DC4C-818D-1320BEFCA06A}"/>
                </a:ext>
              </a:extLst>
            </p:cNvPr>
            <p:cNvSpPr txBox="1"/>
            <p:nvPr/>
          </p:nvSpPr>
          <p:spPr>
            <a:xfrm>
              <a:off x="9654462" y="11216562"/>
              <a:ext cx="3218400" cy="756000"/>
            </a:xfrm>
            <a:prstGeom prst="rect">
              <a:avLst/>
            </a:prstGeom>
            <a:solidFill>
              <a:schemeClr val="bg1">
                <a:lumMod val="95000"/>
              </a:schemeClr>
            </a:solidFill>
          </p:spPr>
          <p:txBody>
            <a:bodyPr wrap="square" rtlCol="0">
              <a:spAutoFit/>
            </a:bodyPr>
            <a:lstStyle/>
            <a:p>
              <a:pPr algn="ctr"/>
              <a:r>
                <a:rPr lang="en-US" altLang="ja-JP" sz="4000" dirty="0"/>
                <a:t>bad-tempered</a:t>
              </a:r>
              <a:endParaRPr kumimoji="1" lang="ja-JP" altLang="en-US" sz="4000"/>
            </a:p>
          </p:txBody>
        </p:sp>
      </p:grpSp>
    </p:spTree>
    <p:extLst>
      <p:ext uri="{BB962C8B-B14F-4D97-AF65-F5344CB8AC3E}">
        <p14:creationId xmlns:p14="http://schemas.microsoft.com/office/powerpoint/2010/main" val="3319089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最初と最後のオファーの要求レベルの差</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評価方法</a:t>
            </a:r>
          </a:p>
        </p:txBody>
      </p:sp>
      <p:graphicFrame>
        <p:nvGraphicFramePr>
          <p:cNvPr id="38" name="表 37">
            <a:extLst>
              <a:ext uri="{FF2B5EF4-FFF2-40B4-BE49-F238E27FC236}">
                <a16:creationId xmlns:a16="http://schemas.microsoft.com/office/drawing/2014/main" id="{A1B773A4-6B9A-E140-9A40-E7C8BF27CBC0}"/>
              </a:ext>
            </a:extLst>
          </p:cNvPr>
          <p:cNvGraphicFramePr>
            <a:graphicFrameLocks noGrp="1"/>
          </p:cNvGraphicFramePr>
          <p:nvPr>
            <p:extLst>
              <p:ext uri="{D42A27DB-BD31-4B8C-83A1-F6EECF244321}">
                <p14:modId xmlns:p14="http://schemas.microsoft.com/office/powerpoint/2010/main" val="4046558604"/>
              </p:ext>
            </p:extLst>
          </p:nvPr>
        </p:nvGraphicFramePr>
        <p:xfrm>
          <a:off x="2890055" y="5118906"/>
          <a:ext cx="12560632" cy="3505200"/>
        </p:xfrm>
        <a:graphic>
          <a:graphicData uri="http://schemas.openxmlformats.org/drawingml/2006/table">
            <a:tbl>
              <a:tblPr firstRow="1" la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r>
                        <a:rPr kumimoji="1" lang="ja-JP" altLang="en-US" sz="4000"/>
                        <a:t>の要求</a:t>
                      </a:r>
                    </a:p>
                  </a:txBody>
                  <a:tcPr/>
                </a:tc>
                <a:tc>
                  <a:txBody>
                    <a:bodyPr/>
                    <a:lstStyle/>
                    <a:p>
                      <a:pPr algn="ctr"/>
                      <a:r>
                        <a:rPr kumimoji="1" lang="ja-JP" altLang="en-US" sz="4000"/>
                        <a:t>ターン</a:t>
                      </a:r>
                      <a:r>
                        <a:rPr kumimoji="1" lang="en-US" altLang="ja-JP" sz="4000" dirty="0"/>
                        <a:t>6</a:t>
                      </a:r>
                      <a:r>
                        <a:rPr kumimoji="1" lang="ja-JP" altLang="en-US" sz="4000"/>
                        <a:t>の要求</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400</a:t>
                      </a:r>
                      <a:endParaRPr kumimoji="1" lang="ja-JP" altLang="en-US" sz="4000"/>
                    </a:p>
                  </a:txBody>
                  <a:tcPr/>
                </a:tc>
                <a:tc>
                  <a:txBody>
                    <a:bodyPr/>
                    <a:lstStyle/>
                    <a:p>
                      <a:pPr algn="r"/>
                      <a:r>
                        <a:rPr kumimoji="1" lang="en-US" altLang="ja-JP" sz="4000" dirty="0"/>
                        <a:t>300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120</a:t>
                      </a:r>
                      <a:endParaRPr kumimoji="1" lang="ja-JP" altLang="en-US" sz="4000"/>
                    </a:p>
                  </a:txBody>
                  <a:tcPr/>
                </a:tc>
                <a:tc>
                  <a:txBody>
                    <a:bodyPr/>
                    <a:lstStyle/>
                    <a:p>
                      <a:pPr algn="r"/>
                      <a:r>
                        <a:rPr kumimoji="1" lang="en-US" altLang="ja-JP" sz="4000" dirty="0"/>
                        <a:t>90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240</a:t>
                      </a:r>
                      <a:endParaRPr kumimoji="1" lang="ja-JP" altLang="en-US" sz="4000"/>
                    </a:p>
                  </a:txBody>
                  <a:tcPr/>
                </a:tc>
                <a:tc>
                  <a:txBody>
                    <a:bodyPr/>
                    <a:lstStyle/>
                    <a:p>
                      <a:pPr algn="r"/>
                      <a:r>
                        <a:rPr kumimoji="1" lang="en-US" altLang="ja-JP" sz="4000" dirty="0"/>
                        <a:t>210</a:t>
                      </a:r>
                      <a:endParaRPr kumimoji="1" lang="ja-JP" altLang="en-US" sz="4000"/>
                    </a:p>
                  </a:txBody>
                  <a:tcPr/>
                </a:tc>
                <a:extLst>
                  <a:ext uri="{0D108BD9-81ED-4DB2-BD59-A6C34878D82A}">
                    <a16:rowId xmlns:a16="http://schemas.microsoft.com/office/drawing/2014/main" val="85150135"/>
                  </a:ext>
                </a:extLst>
              </a:tr>
              <a:tr h="370840">
                <a:tc>
                  <a:txBody>
                    <a:bodyPr/>
                    <a:lstStyle/>
                    <a:p>
                      <a:pPr algn="ctr"/>
                      <a:r>
                        <a:rPr kumimoji="1" lang="ja-JP" altLang="en-US" sz="4000"/>
                        <a:t>合計</a:t>
                      </a:r>
                    </a:p>
                  </a:txBody>
                  <a:tcPr/>
                </a:tc>
                <a:tc>
                  <a:txBody>
                    <a:bodyPr/>
                    <a:lstStyle/>
                    <a:p>
                      <a:pPr algn="r"/>
                      <a:r>
                        <a:rPr kumimoji="1" lang="en-US" altLang="ja-JP" sz="4000" dirty="0"/>
                        <a:t>760</a:t>
                      </a:r>
                      <a:endParaRPr kumimoji="1" lang="ja-JP" altLang="en-US" sz="4000"/>
                    </a:p>
                  </a:txBody>
                  <a:tcPr/>
                </a:tc>
                <a:tc>
                  <a:txBody>
                    <a:bodyPr/>
                    <a:lstStyle/>
                    <a:p>
                      <a:pPr algn="r"/>
                      <a:r>
                        <a:rPr kumimoji="1" lang="en-US" altLang="ja-JP" sz="4000" dirty="0"/>
                        <a:t>600</a:t>
                      </a:r>
                      <a:endParaRPr kumimoji="1" lang="ja-JP" altLang="en-US" sz="4000"/>
                    </a:p>
                  </a:txBody>
                  <a:tcPr/>
                </a:tc>
                <a:extLst>
                  <a:ext uri="{0D108BD9-81ED-4DB2-BD59-A6C34878D82A}">
                    <a16:rowId xmlns:a16="http://schemas.microsoft.com/office/drawing/2014/main" val="4084480244"/>
                  </a:ext>
                </a:extLst>
              </a:tr>
            </a:tbl>
          </a:graphicData>
        </a:graphic>
      </p:graphicFrame>
      <p:sp>
        <p:nvSpPr>
          <p:cNvPr id="39" name="右矢印 38">
            <a:extLst>
              <a:ext uri="{FF2B5EF4-FFF2-40B4-BE49-F238E27FC236}">
                <a16:creationId xmlns:a16="http://schemas.microsoft.com/office/drawing/2014/main" id="{4207D214-8E9A-594B-9E89-8A22E5303364}"/>
              </a:ext>
            </a:extLst>
          </p:cNvPr>
          <p:cNvSpPr/>
          <p:nvPr/>
        </p:nvSpPr>
        <p:spPr>
          <a:xfrm rot="5400000">
            <a:off x="8806580" y="8655268"/>
            <a:ext cx="674837" cy="173477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0" name="テキスト ボックス 39">
            <a:extLst>
              <a:ext uri="{FF2B5EF4-FFF2-40B4-BE49-F238E27FC236}">
                <a16:creationId xmlns:a16="http://schemas.microsoft.com/office/drawing/2014/main" id="{CBD121DE-E1D2-9943-A82A-AF1CE10BE171}"/>
              </a:ext>
            </a:extLst>
          </p:cNvPr>
          <p:cNvSpPr txBox="1"/>
          <p:nvPr/>
        </p:nvSpPr>
        <p:spPr>
          <a:xfrm>
            <a:off x="6218471" y="10200757"/>
            <a:ext cx="5851056" cy="707886"/>
          </a:xfrm>
          <a:prstGeom prst="rect">
            <a:avLst/>
          </a:prstGeom>
          <a:noFill/>
        </p:spPr>
        <p:txBody>
          <a:bodyPr wrap="square" rtlCol="0">
            <a:spAutoFit/>
          </a:bodyPr>
          <a:lstStyle/>
          <a:p>
            <a:pPr algn="ctr"/>
            <a:r>
              <a:rPr lang="en-US" altLang="ja-JP" sz="4000" dirty="0">
                <a:solidFill>
                  <a:schemeClr val="accent2"/>
                </a:solidFill>
              </a:rPr>
              <a:t>d</a:t>
            </a:r>
            <a:r>
              <a:rPr kumimoji="1" lang="en-US" altLang="ja-JP" sz="4000" dirty="0">
                <a:solidFill>
                  <a:schemeClr val="accent2"/>
                </a:solidFill>
              </a:rPr>
              <a:t>emand difference</a:t>
            </a:r>
            <a:r>
              <a:rPr kumimoji="1" lang="ja-JP" altLang="en-US" sz="4000">
                <a:solidFill>
                  <a:schemeClr val="accent2"/>
                </a:solidFill>
              </a:rPr>
              <a:t>は</a:t>
            </a:r>
            <a:r>
              <a:rPr kumimoji="1" lang="en-US" altLang="ja-JP" sz="4000" dirty="0">
                <a:solidFill>
                  <a:schemeClr val="accent2"/>
                </a:solidFill>
              </a:rPr>
              <a:t>160</a:t>
            </a:r>
          </a:p>
        </p:txBody>
      </p:sp>
      <p:sp>
        <p:nvSpPr>
          <p:cNvPr id="32" name="三角形 31">
            <a:extLst>
              <a:ext uri="{FF2B5EF4-FFF2-40B4-BE49-F238E27FC236}">
                <a16:creationId xmlns:a16="http://schemas.microsoft.com/office/drawing/2014/main" id="{674ECDB4-5BBA-2745-9126-6C022E31FF86}"/>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47B2340D-B97A-3143-B07E-21F1F9DB8F78}"/>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参加者が譲歩した度合い</a:t>
            </a:r>
          </a:p>
        </p:txBody>
      </p:sp>
    </p:spTree>
    <p:extLst>
      <p:ext uri="{BB962C8B-B14F-4D97-AF65-F5344CB8AC3E}">
        <p14:creationId xmlns:p14="http://schemas.microsoft.com/office/powerpoint/2010/main" val="38412849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以下の図に示すソフトウェアを使用</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言語で伝達する場合は顔の上部にテキストを表示</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ソフトウェア</a:t>
            </a:r>
          </a:p>
        </p:txBody>
      </p:sp>
      <p:pic>
        <p:nvPicPr>
          <p:cNvPr id="18" name="図 17">
            <a:extLst>
              <a:ext uri="{FF2B5EF4-FFF2-40B4-BE49-F238E27FC236}">
                <a16:creationId xmlns:a16="http://schemas.microsoft.com/office/drawing/2014/main" id="{77EBA392-BC07-9A43-9D61-7E372A2DD5F1}"/>
              </a:ext>
            </a:extLst>
          </p:cNvPr>
          <p:cNvPicPr>
            <a:picLocks noChangeAspect="1"/>
          </p:cNvPicPr>
          <p:nvPr/>
        </p:nvPicPr>
        <p:blipFill>
          <a:blip r:embed="rId3"/>
          <a:stretch>
            <a:fillRect/>
          </a:stretch>
        </p:blipFill>
        <p:spPr>
          <a:xfrm>
            <a:off x="4891803" y="4906993"/>
            <a:ext cx="8504394" cy="7408125"/>
          </a:xfrm>
          <a:prstGeom prst="rect">
            <a:avLst/>
          </a:prstGeom>
        </p:spPr>
      </p:pic>
    </p:spTree>
    <p:extLst>
      <p:ext uri="{BB962C8B-B14F-4D97-AF65-F5344CB8AC3E}">
        <p14:creationId xmlns:p14="http://schemas.microsoft.com/office/powerpoint/2010/main" val="30848171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質問によって実験の内容を理解しているか確認</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質問に対する正解を選択すると次の質問が行なわれる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a:t>
            </a:r>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質問が終了すると実験のチュートリアルが開始</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4863023"/>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479039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チュートリアル終了後に実際の交渉が開始</a:t>
            </a:r>
            <a:endParaRPr lang="en-US" altLang="ja-JP" dirty="0"/>
          </a:p>
        </p:txBody>
      </p:sp>
      <p:grpSp>
        <p:nvGrpSpPr>
          <p:cNvPr id="30" name="グループ化 29">
            <a:extLst>
              <a:ext uri="{FF2B5EF4-FFF2-40B4-BE49-F238E27FC236}">
                <a16:creationId xmlns:a16="http://schemas.microsoft.com/office/drawing/2014/main" id="{EDF8330A-FC5A-D84B-B3A0-21227348F692}"/>
              </a:ext>
            </a:extLst>
          </p:cNvPr>
          <p:cNvGrpSpPr/>
          <p:nvPr/>
        </p:nvGrpSpPr>
        <p:grpSpPr>
          <a:xfrm>
            <a:off x="306583" y="6034517"/>
            <a:ext cx="2160000" cy="934436"/>
            <a:chOff x="144665" y="525617"/>
            <a:chExt cx="1080000" cy="467218"/>
          </a:xfrm>
        </p:grpSpPr>
        <p:sp>
          <p:nvSpPr>
            <p:cNvPr id="31" name="正方形/長方形 30">
              <a:extLst>
                <a:ext uri="{FF2B5EF4-FFF2-40B4-BE49-F238E27FC236}">
                  <a16:creationId xmlns:a16="http://schemas.microsoft.com/office/drawing/2014/main" id="{9BA1FC1A-8EAA-074D-AAC0-09547963EA4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2" name="正方形/長方形 31">
              <a:extLst>
                <a:ext uri="{FF2B5EF4-FFF2-40B4-BE49-F238E27FC236}">
                  <a16:creationId xmlns:a16="http://schemas.microsoft.com/office/drawing/2014/main" id="{D3778EA0-4FEA-2B4D-A340-8CDD8027A8A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3" name="グループ化 32">
            <a:extLst>
              <a:ext uri="{FF2B5EF4-FFF2-40B4-BE49-F238E27FC236}">
                <a16:creationId xmlns:a16="http://schemas.microsoft.com/office/drawing/2014/main" id="{BA9616ED-F131-0241-826E-6B26404D3F60}"/>
              </a:ext>
            </a:extLst>
          </p:cNvPr>
          <p:cNvGrpSpPr/>
          <p:nvPr/>
        </p:nvGrpSpPr>
        <p:grpSpPr>
          <a:xfrm>
            <a:off x="634485" y="7178577"/>
            <a:ext cx="539448" cy="487368"/>
            <a:chOff x="400056" y="1061560"/>
            <a:chExt cx="269724" cy="243684"/>
          </a:xfrm>
        </p:grpSpPr>
        <p:sp>
          <p:nvSpPr>
            <p:cNvPr id="34" name="三角形 33">
              <a:extLst>
                <a:ext uri="{FF2B5EF4-FFF2-40B4-BE49-F238E27FC236}">
                  <a16:creationId xmlns:a16="http://schemas.microsoft.com/office/drawing/2014/main" id="{387E5C49-9997-DF42-9851-A58F6143DA5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C7C0A3CC-C23F-C148-BC4C-87412A48969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6" name="三角形 35">
            <a:extLst>
              <a:ext uri="{FF2B5EF4-FFF2-40B4-BE49-F238E27FC236}">
                <a16:creationId xmlns:a16="http://schemas.microsoft.com/office/drawing/2014/main" id="{B9E3996F-BFAE-764B-83AA-5AC51A48697A}"/>
              </a:ext>
            </a:extLst>
          </p:cNvPr>
          <p:cNvSpPr/>
          <p:nvPr/>
        </p:nvSpPr>
        <p:spPr>
          <a:xfrm rot="5400000">
            <a:off x="1093491" y="79829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7">
            <a:extLst>
              <a:ext uri="{FF2B5EF4-FFF2-40B4-BE49-F238E27FC236}">
                <a16:creationId xmlns:a16="http://schemas.microsoft.com/office/drawing/2014/main" id="{6E6385C6-5571-1149-A18A-13B7616AED2D}"/>
              </a:ext>
            </a:extLst>
          </p:cNvPr>
          <p:cNvSpPr txBox="1">
            <a:spLocks/>
          </p:cNvSpPr>
          <p:nvPr/>
        </p:nvSpPr>
        <p:spPr>
          <a:xfrm>
            <a:off x="1271739" y="710595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150</a:t>
            </a:r>
            <a:r>
              <a:rPr lang="ja-JP" altLang="en-US"/>
              <a:t>人のカリフォルニア大学の学部生・大学院生</a:t>
            </a:r>
            <a:endParaRPr lang="en-US" altLang="ja-JP" dirty="0"/>
          </a:p>
        </p:txBody>
      </p:sp>
      <p:sp>
        <p:nvSpPr>
          <p:cNvPr id="38" name="テキスト プレースホルダー 29">
            <a:extLst>
              <a:ext uri="{FF2B5EF4-FFF2-40B4-BE49-F238E27FC236}">
                <a16:creationId xmlns:a16="http://schemas.microsoft.com/office/drawing/2014/main" id="{C0D63343-E1B3-2642-BA04-2A367142A63E}"/>
              </a:ext>
            </a:extLst>
          </p:cNvPr>
          <p:cNvSpPr txBox="1">
            <a:spLocks/>
          </p:cNvSpPr>
          <p:nvPr/>
        </p:nvSpPr>
        <p:spPr>
          <a:xfrm>
            <a:off x="1585853" y="78677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a:t>
            </a:r>
            <a:r>
              <a:rPr lang="en-US" altLang="ja-JP" dirty="0"/>
              <a:t>13</a:t>
            </a:r>
            <a:r>
              <a:rPr lang="ja-JP" altLang="en-US"/>
              <a:t>人のグループに分かれて並列に実験を実施</a:t>
            </a:r>
          </a:p>
        </p:txBody>
      </p:sp>
      <p:sp>
        <p:nvSpPr>
          <p:cNvPr id="39" name="テキスト プレースホルダー 30">
            <a:extLst>
              <a:ext uri="{FF2B5EF4-FFF2-40B4-BE49-F238E27FC236}">
                <a16:creationId xmlns:a16="http://schemas.microsoft.com/office/drawing/2014/main" id="{C906D77A-AAF2-2047-A5D3-E0766A0F7B1B}"/>
              </a:ext>
            </a:extLst>
          </p:cNvPr>
          <p:cNvSpPr txBox="1">
            <a:spLocks/>
          </p:cNvSpPr>
          <p:nvPr/>
        </p:nvSpPr>
        <p:spPr>
          <a:xfrm>
            <a:off x="588302" y="6205090"/>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実験の被験者</a:t>
            </a:r>
          </a:p>
        </p:txBody>
      </p:sp>
    </p:spTree>
    <p:extLst>
      <p:ext uri="{BB962C8B-B14F-4D97-AF65-F5344CB8AC3E}">
        <p14:creationId xmlns:p14="http://schemas.microsoft.com/office/powerpoint/2010/main" val="2654425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dirty="0"/>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786165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を使用してエージェントの</a:t>
            </a:r>
            <a:r>
              <a:rPr lang="ja-JP" altLang="en-US">
                <a:solidFill>
                  <a:schemeClr val="accent3">
                    <a:lumMod val="75000"/>
                  </a:schemeClr>
                </a:solidFill>
              </a:rPr>
              <a:t>怒り</a:t>
            </a:r>
            <a:r>
              <a:rPr lang="ja-JP" altLang="en-US"/>
              <a:t>の度合いを分析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6765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5237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
        <p:nvSpPr>
          <p:cNvPr id="52" name="三角形 51">
            <a:extLst>
              <a:ext uri="{FF2B5EF4-FFF2-40B4-BE49-F238E27FC236}">
                <a16:creationId xmlns:a16="http://schemas.microsoft.com/office/drawing/2014/main" id="{CB3C9424-8638-2A4A-85C7-2BECA08E32EA}"/>
              </a:ext>
            </a:extLst>
          </p:cNvPr>
          <p:cNvSpPr/>
          <p:nvPr/>
        </p:nvSpPr>
        <p:spPr>
          <a:xfrm rot="5400000">
            <a:off x="1076238" y="577462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テキスト プレースホルダー 29">
            <a:extLst>
              <a:ext uri="{FF2B5EF4-FFF2-40B4-BE49-F238E27FC236}">
                <a16:creationId xmlns:a16="http://schemas.microsoft.com/office/drawing/2014/main" id="{E77EF648-44A2-0248-AC9A-5FF56B8D5CEC}"/>
              </a:ext>
            </a:extLst>
          </p:cNvPr>
          <p:cNvSpPr txBox="1">
            <a:spLocks/>
          </p:cNvSpPr>
          <p:nvPr/>
        </p:nvSpPr>
        <p:spPr>
          <a:xfrm>
            <a:off x="1568600" y="565935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エージェントの感情は正しく伝達されていた</a:t>
            </a:r>
          </a:p>
        </p:txBody>
      </p:sp>
      <p:grpSp>
        <p:nvGrpSpPr>
          <p:cNvPr id="54" name="グループ化 53">
            <a:extLst>
              <a:ext uri="{FF2B5EF4-FFF2-40B4-BE49-F238E27FC236}">
                <a16:creationId xmlns:a16="http://schemas.microsoft.com/office/drawing/2014/main" id="{8A122C2C-7092-FB4B-8155-51F35439A4E4}"/>
              </a:ext>
            </a:extLst>
          </p:cNvPr>
          <p:cNvGrpSpPr/>
          <p:nvPr/>
        </p:nvGrpSpPr>
        <p:grpSpPr>
          <a:xfrm>
            <a:off x="617232" y="4073585"/>
            <a:ext cx="539448" cy="487368"/>
            <a:chOff x="400056" y="1061560"/>
            <a:chExt cx="269724" cy="243684"/>
          </a:xfrm>
        </p:grpSpPr>
        <p:sp>
          <p:nvSpPr>
            <p:cNvPr id="61" name="三角形 60">
              <a:extLst>
                <a:ext uri="{FF2B5EF4-FFF2-40B4-BE49-F238E27FC236}">
                  <a16:creationId xmlns:a16="http://schemas.microsoft.com/office/drawing/2014/main" id="{A5D8FB3F-5A89-6647-B505-E8FA98BF47C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85736605-F877-AA40-97A0-E73AA3CCB1B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D44776D-048A-0F4B-A469-E0DA1264A98A}"/>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統計的有意差がみれらた</a:t>
            </a:r>
            <a:endParaRPr lang="en-US" altLang="ja-JP" dirty="0"/>
          </a:p>
        </p:txBody>
      </p:sp>
      <p:grpSp>
        <p:nvGrpSpPr>
          <p:cNvPr id="86" name="グループ化 85">
            <a:extLst>
              <a:ext uri="{FF2B5EF4-FFF2-40B4-BE49-F238E27FC236}">
                <a16:creationId xmlns:a16="http://schemas.microsoft.com/office/drawing/2014/main" id="{49CBF0F9-914E-4E43-8BE3-8C863DE17CB7}"/>
              </a:ext>
            </a:extLst>
          </p:cNvPr>
          <p:cNvGrpSpPr/>
          <p:nvPr/>
        </p:nvGrpSpPr>
        <p:grpSpPr>
          <a:xfrm>
            <a:off x="4787192" y="6505895"/>
            <a:ext cx="8460234" cy="6473313"/>
            <a:chOff x="5198557" y="5506015"/>
            <a:chExt cx="8460234" cy="6473313"/>
          </a:xfrm>
        </p:grpSpPr>
        <p:grpSp>
          <p:nvGrpSpPr>
            <p:cNvPr id="87" name="グループ化 86">
              <a:extLst>
                <a:ext uri="{FF2B5EF4-FFF2-40B4-BE49-F238E27FC236}">
                  <a16:creationId xmlns:a16="http://schemas.microsoft.com/office/drawing/2014/main" id="{B6992FA8-43EC-0045-83C2-4A009F1ED4F4}"/>
                </a:ext>
              </a:extLst>
            </p:cNvPr>
            <p:cNvGrpSpPr/>
            <p:nvPr/>
          </p:nvGrpSpPr>
          <p:grpSpPr>
            <a:xfrm>
              <a:off x="5198557" y="6487774"/>
              <a:ext cx="8460234" cy="5192291"/>
              <a:chOff x="4967573" y="6453269"/>
              <a:chExt cx="8460234" cy="5192291"/>
            </a:xfrm>
          </p:grpSpPr>
          <p:sp>
            <p:nvSpPr>
              <p:cNvPr id="90" name="六角形 89">
                <a:extLst>
                  <a:ext uri="{FF2B5EF4-FFF2-40B4-BE49-F238E27FC236}">
                    <a16:creationId xmlns:a16="http://schemas.microsoft.com/office/drawing/2014/main" id="{B5D0EA5D-BA56-2741-A0F0-01A167458936}"/>
                  </a:ext>
                </a:extLst>
              </p:cNvPr>
              <p:cNvSpPr/>
              <p:nvPr/>
            </p:nvSpPr>
            <p:spPr>
              <a:xfrm>
                <a:off x="6056221" y="6794001"/>
                <a:ext cx="6420844" cy="4448937"/>
              </a:xfrm>
              <a:prstGeom prst="hexagon">
                <a:avLst>
                  <a:gd name="adj" fmla="val 31614"/>
                  <a:gd name="vf" fmla="val 115470"/>
                </a:avLst>
              </a:prstGeom>
              <a:solidFill>
                <a:schemeClr val="bg1">
                  <a:lumMod val="95000"/>
                </a:scheme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91" name="テキスト ボックス 90">
                <a:extLst>
                  <a:ext uri="{FF2B5EF4-FFF2-40B4-BE49-F238E27FC236}">
                    <a16:creationId xmlns:a16="http://schemas.microsoft.com/office/drawing/2014/main" id="{A9FF7952-72CC-F449-915E-44C430D5A3AE}"/>
                  </a:ext>
                </a:extLst>
              </p:cNvPr>
              <p:cNvSpPr txBox="1"/>
              <p:nvPr/>
            </p:nvSpPr>
            <p:spPr>
              <a:xfrm>
                <a:off x="4967573" y="8659833"/>
                <a:ext cx="2418799" cy="707886"/>
              </a:xfrm>
              <a:prstGeom prst="rect">
                <a:avLst/>
              </a:prstGeom>
              <a:solidFill>
                <a:schemeClr val="bg1">
                  <a:lumMod val="95000"/>
                </a:schemeClr>
              </a:solidFill>
            </p:spPr>
            <p:txBody>
              <a:bodyPr wrap="square" rtlCol="0">
                <a:spAutoFit/>
              </a:bodyPr>
              <a:lstStyle/>
              <a:p>
                <a:pPr algn="ctr"/>
                <a:r>
                  <a:rPr lang="en-US" altLang="ja-JP" sz="4000" dirty="0"/>
                  <a:t>happy</a:t>
                </a:r>
                <a:endParaRPr kumimoji="1" lang="ja-JP" altLang="en-US" sz="4000"/>
              </a:p>
            </p:txBody>
          </p:sp>
          <p:sp>
            <p:nvSpPr>
              <p:cNvPr id="92" name="テキスト ボックス 91">
                <a:extLst>
                  <a:ext uri="{FF2B5EF4-FFF2-40B4-BE49-F238E27FC236}">
                    <a16:creationId xmlns:a16="http://schemas.microsoft.com/office/drawing/2014/main" id="{D254AC3F-DAE5-9845-97B3-C3219289A187}"/>
                  </a:ext>
                </a:extLst>
              </p:cNvPr>
              <p:cNvSpPr txBox="1"/>
              <p:nvPr/>
            </p:nvSpPr>
            <p:spPr>
              <a:xfrm>
                <a:off x="11009008" y="8659157"/>
                <a:ext cx="2418799" cy="707886"/>
              </a:xfrm>
              <a:prstGeom prst="rect">
                <a:avLst/>
              </a:prstGeom>
              <a:solidFill>
                <a:schemeClr val="bg1">
                  <a:lumMod val="95000"/>
                </a:schemeClr>
              </a:solidFill>
            </p:spPr>
            <p:txBody>
              <a:bodyPr wrap="square" rtlCol="0">
                <a:spAutoFit/>
              </a:bodyPr>
              <a:lstStyle/>
              <a:p>
                <a:pPr algn="ctr"/>
                <a:r>
                  <a:rPr lang="en-US" altLang="ja-JP" sz="4000" dirty="0"/>
                  <a:t>anger</a:t>
                </a:r>
                <a:endParaRPr kumimoji="1" lang="ja-JP" altLang="en-US" sz="4000"/>
              </a:p>
            </p:txBody>
          </p:sp>
          <p:sp>
            <p:nvSpPr>
              <p:cNvPr id="93" name="テキスト ボックス 92">
                <a:extLst>
                  <a:ext uri="{FF2B5EF4-FFF2-40B4-BE49-F238E27FC236}">
                    <a16:creationId xmlns:a16="http://schemas.microsoft.com/office/drawing/2014/main" id="{364E7CFC-8BDF-5549-969E-B146FC9E47AB}"/>
                  </a:ext>
                </a:extLst>
              </p:cNvPr>
              <p:cNvSpPr txBox="1"/>
              <p:nvPr/>
            </p:nvSpPr>
            <p:spPr>
              <a:xfrm>
                <a:off x="6193772" y="6456583"/>
                <a:ext cx="2418799" cy="707886"/>
              </a:xfrm>
              <a:prstGeom prst="rect">
                <a:avLst/>
              </a:prstGeom>
              <a:solidFill>
                <a:schemeClr val="bg1">
                  <a:lumMod val="95000"/>
                </a:schemeClr>
              </a:solidFill>
            </p:spPr>
            <p:txBody>
              <a:bodyPr wrap="square" rtlCol="0">
                <a:spAutoFit/>
              </a:bodyPr>
              <a:lstStyle/>
              <a:p>
                <a:pPr algn="ctr"/>
                <a:r>
                  <a:rPr lang="en-US" altLang="ja-JP" sz="4000" dirty="0"/>
                  <a:t>satisfied</a:t>
                </a:r>
                <a:endParaRPr kumimoji="1" lang="ja-JP" altLang="en-US" sz="4000"/>
              </a:p>
            </p:txBody>
          </p:sp>
          <p:sp>
            <p:nvSpPr>
              <p:cNvPr id="94" name="テキスト ボックス 93">
                <a:extLst>
                  <a:ext uri="{FF2B5EF4-FFF2-40B4-BE49-F238E27FC236}">
                    <a16:creationId xmlns:a16="http://schemas.microsoft.com/office/drawing/2014/main" id="{5583E2B4-22C8-E149-80FE-1F9298269059}"/>
                  </a:ext>
                </a:extLst>
              </p:cNvPr>
              <p:cNvSpPr txBox="1"/>
              <p:nvPr/>
            </p:nvSpPr>
            <p:spPr>
              <a:xfrm>
                <a:off x="6193771" y="10937674"/>
                <a:ext cx="2418799" cy="707886"/>
              </a:xfrm>
              <a:prstGeom prst="rect">
                <a:avLst/>
              </a:prstGeom>
              <a:solidFill>
                <a:schemeClr val="bg1">
                  <a:lumMod val="95000"/>
                </a:schemeClr>
              </a:solidFill>
            </p:spPr>
            <p:txBody>
              <a:bodyPr wrap="square" rtlCol="0">
                <a:spAutoFit/>
              </a:bodyPr>
              <a:lstStyle/>
              <a:p>
                <a:pPr algn="ctr"/>
                <a:r>
                  <a:rPr kumimoji="1" lang="en-US" altLang="ja-JP" sz="4000" dirty="0"/>
                  <a:t>pleased</a:t>
                </a:r>
                <a:endParaRPr kumimoji="1" lang="ja-JP" altLang="en-US" sz="4000"/>
              </a:p>
            </p:txBody>
          </p:sp>
          <p:sp>
            <p:nvSpPr>
              <p:cNvPr id="95" name="テキスト ボックス 94">
                <a:extLst>
                  <a:ext uri="{FF2B5EF4-FFF2-40B4-BE49-F238E27FC236}">
                    <a16:creationId xmlns:a16="http://schemas.microsoft.com/office/drawing/2014/main" id="{E816F9AF-505F-AB48-AFBE-A5D488D493D5}"/>
                  </a:ext>
                </a:extLst>
              </p:cNvPr>
              <p:cNvSpPr txBox="1"/>
              <p:nvPr/>
            </p:nvSpPr>
            <p:spPr>
              <a:xfrm>
                <a:off x="9657955" y="6453269"/>
                <a:ext cx="2418799" cy="707886"/>
              </a:xfrm>
              <a:prstGeom prst="rect">
                <a:avLst/>
              </a:prstGeom>
              <a:solidFill>
                <a:schemeClr val="bg1">
                  <a:lumMod val="95000"/>
                </a:schemeClr>
              </a:solidFill>
            </p:spPr>
            <p:txBody>
              <a:bodyPr wrap="square" rtlCol="0">
                <a:spAutoFit/>
              </a:bodyPr>
              <a:lstStyle/>
              <a:p>
                <a:pPr algn="ctr"/>
                <a:r>
                  <a:rPr lang="en-US" altLang="ja-JP" sz="4000" dirty="0"/>
                  <a:t>irritated</a:t>
                </a:r>
                <a:endParaRPr kumimoji="1" lang="ja-JP" altLang="en-US" sz="4000"/>
              </a:p>
            </p:txBody>
          </p:sp>
          <p:sp>
            <p:nvSpPr>
              <p:cNvPr id="96" name="テキスト ボックス 95">
                <a:extLst>
                  <a:ext uri="{FF2B5EF4-FFF2-40B4-BE49-F238E27FC236}">
                    <a16:creationId xmlns:a16="http://schemas.microsoft.com/office/drawing/2014/main" id="{0CF4C5B9-624C-1346-BB94-9A49EC09285E}"/>
                  </a:ext>
                </a:extLst>
              </p:cNvPr>
              <p:cNvSpPr txBox="1"/>
              <p:nvPr/>
            </p:nvSpPr>
            <p:spPr>
              <a:xfrm>
                <a:off x="9654462" y="10871502"/>
                <a:ext cx="3218400" cy="756000"/>
              </a:xfrm>
              <a:prstGeom prst="rect">
                <a:avLst/>
              </a:prstGeom>
              <a:solidFill>
                <a:schemeClr val="bg1">
                  <a:lumMod val="95000"/>
                </a:schemeClr>
              </a:solidFill>
            </p:spPr>
            <p:txBody>
              <a:bodyPr wrap="square" rtlCol="0">
                <a:spAutoFit/>
              </a:bodyPr>
              <a:lstStyle/>
              <a:p>
                <a:pPr algn="ctr"/>
                <a:r>
                  <a:rPr lang="en-US" altLang="ja-JP" sz="4000" dirty="0"/>
                  <a:t>bad-tempered</a:t>
                </a:r>
                <a:endParaRPr kumimoji="1" lang="ja-JP" altLang="en-US" sz="4000"/>
              </a:p>
            </p:txBody>
          </p:sp>
        </p:grpSp>
        <p:sp>
          <p:nvSpPr>
            <p:cNvPr id="88" name="角丸四角形 87">
              <a:extLst>
                <a:ext uri="{FF2B5EF4-FFF2-40B4-BE49-F238E27FC236}">
                  <a16:creationId xmlns:a16="http://schemas.microsoft.com/office/drawing/2014/main" id="{D9B8FD49-BBE6-BA47-9F5C-1B29329EF26A}"/>
                </a:ext>
              </a:extLst>
            </p:cNvPr>
            <p:cNvSpPr/>
            <p:nvPr/>
          </p:nvSpPr>
          <p:spPr>
            <a:xfrm>
              <a:off x="9407495" y="6244522"/>
              <a:ext cx="4088921" cy="5734806"/>
            </a:xfrm>
            <a:prstGeom prst="roundRect">
              <a:avLst>
                <a:gd name="adj" fmla="val 40295"/>
              </a:avLst>
            </a:prstGeom>
            <a:noFill/>
            <a:ln w="57150">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89" name="テキスト ボックス 88">
              <a:extLst>
                <a:ext uri="{FF2B5EF4-FFF2-40B4-BE49-F238E27FC236}">
                  <a16:creationId xmlns:a16="http://schemas.microsoft.com/office/drawing/2014/main" id="{28ACC02B-462E-C447-8564-56ADACA832BA}"/>
                </a:ext>
              </a:extLst>
            </p:cNvPr>
            <p:cNvSpPr txBox="1"/>
            <p:nvPr/>
          </p:nvSpPr>
          <p:spPr>
            <a:xfrm>
              <a:off x="9453780" y="5506015"/>
              <a:ext cx="3996350" cy="707886"/>
            </a:xfrm>
            <a:prstGeom prst="rect">
              <a:avLst/>
            </a:prstGeom>
            <a:noFill/>
          </p:spPr>
          <p:txBody>
            <a:bodyPr wrap="square" rtlCol="0">
              <a:spAutoFit/>
            </a:bodyPr>
            <a:lstStyle/>
            <a:p>
              <a:pPr algn="ctr"/>
              <a:r>
                <a:rPr kumimoji="1" lang="ja-JP" altLang="en-US" sz="4000">
                  <a:solidFill>
                    <a:schemeClr val="accent3">
                      <a:lumMod val="75000"/>
                    </a:schemeClr>
                  </a:solidFill>
                </a:rPr>
                <a:t>関連あり</a:t>
              </a:r>
              <a:endParaRPr kumimoji="1" lang="en-US" altLang="ja-JP" sz="4000" dirty="0">
                <a:solidFill>
                  <a:schemeClr val="accent3">
                    <a:lumMod val="75000"/>
                  </a:schemeClr>
                </a:solidFill>
              </a:endParaRPr>
            </a:p>
          </p:txBody>
        </p:sp>
      </p:grpSp>
    </p:spTree>
    <p:extLst>
      <p:ext uri="{BB962C8B-B14F-4D97-AF65-F5344CB8AC3E}">
        <p14:creationId xmlns:p14="http://schemas.microsoft.com/office/powerpoint/2010/main" val="4235041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dirty="0"/>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786165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を使用してエージェントの</a:t>
            </a:r>
            <a:r>
              <a:rPr lang="ja-JP" altLang="en-US">
                <a:solidFill>
                  <a:schemeClr val="accent2"/>
                </a:solidFill>
              </a:rPr>
              <a:t>喜び</a:t>
            </a:r>
            <a:r>
              <a:rPr lang="ja-JP" altLang="en-US"/>
              <a:t>の度合いを分析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6765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5237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
        <p:nvSpPr>
          <p:cNvPr id="52" name="三角形 51">
            <a:extLst>
              <a:ext uri="{FF2B5EF4-FFF2-40B4-BE49-F238E27FC236}">
                <a16:creationId xmlns:a16="http://schemas.microsoft.com/office/drawing/2014/main" id="{CB3C9424-8638-2A4A-85C7-2BECA08E32EA}"/>
              </a:ext>
            </a:extLst>
          </p:cNvPr>
          <p:cNvSpPr/>
          <p:nvPr/>
        </p:nvSpPr>
        <p:spPr>
          <a:xfrm rot="5400000">
            <a:off x="1076238" y="577462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テキスト プレースホルダー 29">
            <a:extLst>
              <a:ext uri="{FF2B5EF4-FFF2-40B4-BE49-F238E27FC236}">
                <a16:creationId xmlns:a16="http://schemas.microsoft.com/office/drawing/2014/main" id="{E77EF648-44A2-0248-AC9A-5FF56B8D5CEC}"/>
              </a:ext>
            </a:extLst>
          </p:cNvPr>
          <p:cNvSpPr txBox="1">
            <a:spLocks/>
          </p:cNvSpPr>
          <p:nvPr/>
        </p:nvSpPr>
        <p:spPr>
          <a:xfrm>
            <a:off x="1568600" y="565935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エージェントの感情は正しく伝達されていた</a:t>
            </a:r>
          </a:p>
        </p:txBody>
      </p:sp>
      <p:grpSp>
        <p:nvGrpSpPr>
          <p:cNvPr id="54" name="グループ化 53">
            <a:extLst>
              <a:ext uri="{FF2B5EF4-FFF2-40B4-BE49-F238E27FC236}">
                <a16:creationId xmlns:a16="http://schemas.microsoft.com/office/drawing/2014/main" id="{8A122C2C-7092-FB4B-8155-51F35439A4E4}"/>
              </a:ext>
            </a:extLst>
          </p:cNvPr>
          <p:cNvGrpSpPr/>
          <p:nvPr/>
        </p:nvGrpSpPr>
        <p:grpSpPr>
          <a:xfrm>
            <a:off x="617232" y="4073585"/>
            <a:ext cx="539448" cy="487368"/>
            <a:chOff x="400056" y="1061560"/>
            <a:chExt cx="269724" cy="243684"/>
          </a:xfrm>
        </p:grpSpPr>
        <p:sp>
          <p:nvSpPr>
            <p:cNvPr id="61" name="三角形 60">
              <a:extLst>
                <a:ext uri="{FF2B5EF4-FFF2-40B4-BE49-F238E27FC236}">
                  <a16:creationId xmlns:a16="http://schemas.microsoft.com/office/drawing/2014/main" id="{A5D8FB3F-5A89-6647-B505-E8FA98BF47C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85736605-F877-AA40-97A0-E73AA3CCB1B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D44776D-048A-0F4B-A469-E0DA1264A98A}"/>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統計的有意差がみれらた</a:t>
            </a:r>
            <a:endParaRPr lang="en-US" altLang="ja-JP" dirty="0"/>
          </a:p>
        </p:txBody>
      </p:sp>
      <p:grpSp>
        <p:nvGrpSpPr>
          <p:cNvPr id="17" name="グループ化 16">
            <a:extLst>
              <a:ext uri="{FF2B5EF4-FFF2-40B4-BE49-F238E27FC236}">
                <a16:creationId xmlns:a16="http://schemas.microsoft.com/office/drawing/2014/main" id="{B11C00D1-3957-ED4F-9A0A-D461F33AB40E}"/>
              </a:ext>
            </a:extLst>
          </p:cNvPr>
          <p:cNvGrpSpPr/>
          <p:nvPr/>
        </p:nvGrpSpPr>
        <p:grpSpPr>
          <a:xfrm>
            <a:off x="4787192" y="6518484"/>
            <a:ext cx="8460234" cy="6477971"/>
            <a:chOff x="4787192" y="6518484"/>
            <a:chExt cx="8460234" cy="6477971"/>
          </a:xfrm>
        </p:grpSpPr>
        <p:grpSp>
          <p:nvGrpSpPr>
            <p:cNvPr id="35" name="グループ化 34">
              <a:extLst>
                <a:ext uri="{FF2B5EF4-FFF2-40B4-BE49-F238E27FC236}">
                  <a16:creationId xmlns:a16="http://schemas.microsoft.com/office/drawing/2014/main" id="{CAF9ED7C-2C99-6846-8F38-239C88915493}"/>
                </a:ext>
              </a:extLst>
            </p:cNvPr>
            <p:cNvGrpSpPr/>
            <p:nvPr/>
          </p:nvGrpSpPr>
          <p:grpSpPr>
            <a:xfrm>
              <a:off x="4787192" y="7487654"/>
              <a:ext cx="8460234" cy="5192291"/>
              <a:chOff x="4967573" y="6453269"/>
              <a:chExt cx="8460234" cy="5192291"/>
            </a:xfrm>
          </p:grpSpPr>
          <p:sp>
            <p:nvSpPr>
              <p:cNvPr id="36" name="六角形 35">
                <a:extLst>
                  <a:ext uri="{FF2B5EF4-FFF2-40B4-BE49-F238E27FC236}">
                    <a16:creationId xmlns:a16="http://schemas.microsoft.com/office/drawing/2014/main" id="{6D8CE0B4-8C93-A44B-8002-BEEC4DD28D59}"/>
                  </a:ext>
                </a:extLst>
              </p:cNvPr>
              <p:cNvSpPr/>
              <p:nvPr/>
            </p:nvSpPr>
            <p:spPr>
              <a:xfrm>
                <a:off x="6056221" y="6794001"/>
                <a:ext cx="6420844" cy="4448937"/>
              </a:xfrm>
              <a:prstGeom prst="hexagon">
                <a:avLst>
                  <a:gd name="adj" fmla="val 31614"/>
                  <a:gd name="vf" fmla="val 115470"/>
                </a:avLst>
              </a:prstGeom>
              <a:solidFill>
                <a:schemeClr val="bg1">
                  <a:lumMod val="95000"/>
                </a:scheme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7" name="テキスト ボックス 36">
                <a:extLst>
                  <a:ext uri="{FF2B5EF4-FFF2-40B4-BE49-F238E27FC236}">
                    <a16:creationId xmlns:a16="http://schemas.microsoft.com/office/drawing/2014/main" id="{44438B88-3E23-3948-8773-B1B1F47072F2}"/>
                  </a:ext>
                </a:extLst>
              </p:cNvPr>
              <p:cNvSpPr txBox="1"/>
              <p:nvPr/>
            </p:nvSpPr>
            <p:spPr>
              <a:xfrm>
                <a:off x="4967573" y="8659833"/>
                <a:ext cx="2418799" cy="707886"/>
              </a:xfrm>
              <a:prstGeom prst="rect">
                <a:avLst/>
              </a:prstGeom>
              <a:solidFill>
                <a:schemeClr val="bg1">
                  <a:lumMod val="95000"/>
                </a:schemeClr>
              </a:solidFill>
            </p:spPr>
            <p:txBody>
              <a:bodyPr wrap="square" rtlCol="0">
                <a:spAutoFit/>
              </a:bodyPr>
              <a:lstStyle/>
              <a:p>
                <a:pPr algn="ctr"/>
                <a:r>
                  <a:rPr lang="en-US" altLang="ja-JP" sz="4000" dirty="0"/>
                  <a:t>happy</a:t>
                </a:r>
                <a:endParaRPr kumimoji="1" lang="ja-JP" altLang="en-US" sz="4000"/>
              </a:p>
            </p:txBody>
          </p:sp>
          <p:sp>
            <p:nvSpPr>
              <p:cNvPr id="38" name="テキスト ボックス 37">
                <a:extLst>
                  <a:ext uri="{FF2B5EF4-FFF2-40B4-BE49-F238E27FC236}">
                    <a16:creationId xmlns:a16="http://schemas.microsoft.com/office/drawing/2014/main" id="{CAA5EFAE-9198-F544-839E-C27D89E12EE0}"/>
                  </a:ext>
                </a:extLst>
              </p:cNvPr>
              <p:cNvSpPr txBox="1"/>
              <p:nvPr/>
            </p:nvSpPr>
            <p:spPr>
              <a:xfrm>
                <a:off x="11009008" y="8659157"/>
                <a:ext cx="2418799" cy="707886"/>
              </a:xfrm>
              <a:prstGeom prst="rect">
                <a:avLst/>
              </a:prstGeom>
              <a:solidFill>
                <a:schemeClr val="bg1">
                  <a:lumMod val="95000"/>
                </a:schemeClr>
              </a:solidFill>
            </p:spPr>
            <p:txBody>
              <a:bodyPr wrap="square" rtlCol="0">
                <a:spAutoFit/>
              </a:bodyPr>
              <a:lstStyle/>
              <a:p>
                <a:pPr algn="ctr"/>
                <a:r>
                  <a:rPr lang="en-US" altLang="ja-JP" sz="4000" dirty="0"/>
                  <a:t>anger</a:t>
                </a:r>
                <a:endParaRPr kumimoji="1" lang="ja-JP" altLang="en-US" sz="4000"/>
              </a:p>
            </p:txBody>
          </p:sp>
          <p:sp>
            <p:nvSpPr>
              <p:cNvPr id="39" name="テキスト ボックス 38">
                <a:extLst>
                  <a:ext uri="{FF2B5EF4-FFF2-40B4-BE49-F238E27FC236}">
                    <a16:creationId xmlns:a16="http://schemas.microsoft.com/office/drawing/2014/main" id="{BEC558EB-0463-A44B-9152-DACF2762AF8E}"/>
                  </a:ext>
                </a:extLst>
              </p:cNvPr>
              <p:cNvSpPr txBox="1"/>
              <p:nvPr/>
            </p:nvSpPr>
            <p:spPr>
              <a:xfrm>
                <a:off x="6193772" y="6456583"/>
                <a:ext cx="2418799" cy="707886"/>
              </a:xfrm>
              <a:prstGeom prst="rect">
                <a:avLst/>
              </a:prstGeom>
              <a:solidFill>
                <a:schemeClr val="bg1">
                  <a:lumMod val="95000"/>
                </a:schemeClr>
              </a:solidFill>
            </p:spPr>
            <p:txBody>
              <a:bodyPr wrap="square" rtlCol="0">
                <a:spAutoFit/>
              </a:bodyPr>
              <a:lstStyle/>
              <a:p>
                <a:pPr algn="ctr"/>
                <a:r>
                  <a:rPr lang="en-US" altLang="ja-JP" sz="4000" dirty="0"/>
                  <a:t>satisfied</a:t>
                </a:r>
                <a:endParaRPr kumimoji="1" lang="ja-JP" altLang="en-US" sz="4000"/>
              </a:p>
            </p:txBody>
          </p:sp>
          <p:sp>
            <p:nvSpPr>
              <p:cNvPr id="40" name="テキスト ボックス 39">
                <a:extLst>
                  <a:ext uri="{FF2B5EF4-FFF2-40B4-BE49-F238E27FC236}">
                    <a16:creationId xmlns:a16="http://schemas.microsoft.com/office/drawing/2014/main" id="{3CD9FB25-A76C-9B41-8876-6F75E8FB6196}"/>
                  </a:ext>
                </a:extLst>
              </p:cNvPr>
              <p:cNvSpPr txBox="1"/>
              <p:nvPr/>
            </p:nvSpPr>
            <p:spPr>
              <a:xfrm>
                <a:off x="6193771" y="10937674"/>
                <a:ext cx="2418799" cy="707886"/>
              </a:xfrm>
              <a:prstGeom prst="rect">
                <a:avLst/>
              </a:prstGeom>
              <a:solidFill>
                <a:schemeClr val="bg1">
                  <a:lumMod val="95000"/>
                </a:schemeClr>
              </a:solidFill>
            </p:spPr>
            <p:txBody>
              <a:bodyPr wrap="square" rtlCol="0">
                <a:spAutoFit/>
              </a:bodyPr>
              <a:lstStyle/>
              <a:p>
                <a:pPr algn="ctr"/>
                <a:r>
                  <a:rPr kumimoji="1" lang="en-US" altLang="ja-JP" sz="4000" dirty="0"/>
                  <a:t>pleased</a:t>
                </a:r>
                <a:endParaRPr kumimoji="1" lang="ja-JP" altLang="en-US" sz="4000"/>
              </a:p>
            </p:txBody>
          </p:sp>
          <p:sp>
            <p:nvSpPr>
              <p:cNvPr id="41" name="テキスト ボックス 40">
                <a:extLst>
                  <a:ext uri="{FF2B5EF4-FFF2-40B4-BE49-F238E27FC236}">
                    <a16:creationId xmlns:a16="http://schemas.microsoft.com/office/drawing/2014/main" id="{62E36B82-EA75-EF42-9DE9-268093AE22C3}"/>
                  </a:ext>
                </a:extLst>
              </p:cNvPr>
              <p:cNvSpPr txBox="1"/>
              <p:nvPr/>
            </p:nvSpPr>
            <p:spPr>
              <a:xfrm>
                <a:off x="9657955" y="6453269"/>
                <a:ext cx="2418799" cy="707886"/>
              </a:xfrm>
              <a:prstGeom prst="rect">
                <a:avLst/>
              </a:prstGeom>
              <a:solidFill>
                <a:schemeClr val="bg1">
                  <a:lumMod val="95000"/>
                </a:schemeClr>
              </a:solidFill>
            </p:spPr>
            <p:txBody>
              <a:bodyPr wrap="square" rtlCol="0">
                <a:spAutoFit/>
              </a:bodyPr>
              <a:lstStyle/>
              <a:p>
                <a:pPr algn="ctr"/>
                <a:r>
                  <a:rPr lang="en-US" altLang="ja-JP" sz="4000" dirty="0"/>
                  <a:t>irritated</a:t>
                </a:r>
                <a:endParaRPr kumimoji="1" lang="ja-JP" altLang="en-US" sz="4000"/>
              </a:p>
            </p:txBody>
          </p:sp>
          <p:sp>
            <p:nvSpPr>
              <p:cNvPr id="42" name="テキスト ボックス 41">
                <a:extLst>
                  <a:ext uri="{FF2B5EF4-FFF2-40B4-BE49-F238E27FC236}">
                    <a16:creationId xmlns:a16="http://schemas.microsoft.com/office/drawing/2014/main" id="{2E39C028-7184-C74E-85C1-5BD5132D170A}"/>
                  </a:ext>
                </a:extLst>
              </p:cNvPr>
              <p:cNvSpPr txBox="1"/>
              <p:nvPr/>
            </p:nvSpPr>
            <p:spPr>
              <a:xfrm>
                <a:off x="9654462" y="10871502"/>
                <a:ext cx="3218400" cy="756000"/>
              </a:xfrm>
              <a:prstGeom prst="rect">
                <a:avLst/>
              </a:prstGeom>
              <a:solidFill>
                <a:schemeClr val="bg1">
                  <a:lumMod val="95000"/>
                </a:schemeClr>
              </a:solidFill>
            </p:spPr>
            <p:txBody>
              <a:bodyPr wrap="square" rtlCol="0">
                <a:spAutoFit/>
              </a:bodyPr>
              <a:lstStyle/>
              <a:p>
                <a:pPr algn="ctr"/>
                <a:r>
                  <a:rPr lang="en-US" altLang="ja-JP" sz="4000" dirty="0"/>
                  <a:t>bad-tempered</a:t>
                </a:r>
                <a:endParaRPr kumimoji="1" lang="ja-JP" altLang="en-US" sz="4000"/>
              </a:p>
            </p:txBody>
          </p:sp>
        </p:grpSp>
        <p:sp>
          <p:nvSpPr>
            <p:cNvPr id="76" name="角丸四角形 75">
              <a:extLst>
                <a:ext uri="{FF2B5EF4-FFF2-40B4-BE49-F238E27FC236}">
                  <a16:creationId xmlns:a16="http://schemas.microsoft.com/office/drawing/2014/main" id="{4E05798D-C5C0-0A46-96C2-F3E034A35125}"/>
                </a:ext>
              </a:extLst>
            </p:cNvPr>
            <p:cNvSpPr/>
            <p:nvPr/>
          </p:nvSpPr>
          <p:spPr>
            <a:xfrm>
              <a:off x="5183263" y="7161278"/>
              <a:ext cx="3369698" cy="5835177"/>
            </a:xfrm>
            <a:prstGeom prst="roundRect">
              <a:avLst>
                <a:gd name="adj" fmla="val 40295"/>
              </a:avLst>
            </a:prstGeom>
            <a:noFill/>
            <a:ln w="571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77" name="テキスト ボックス 76">
              <a:extLst>
                <a:ext uri="{FF2B5EF4-FFF2-40B4-BE49-F238E27FC236}">
                  <a16:creationId xmlns:a16="http://schemas.microsoft.com/office/drawing/2014/main" id="{DAB49BDF-6820-F848-8797-BBA558BA68E7}"/>
                </a:ext>
              </a:extLst>
            </p:cNvPr>
            <p:cNvSpPr txBox="1"/>
            <p:nvPr/>
          </p:nvSpPr>
          <p:spPr>
            <a:xfrm>
              <a:off x="4866679" y="6518484"/>
              <a:ext cx="3996350" cy="707886"/>
            </a:xfrm>
            <a:prstGeom prst="rect">
              <a:avLst/>
            </a:prstGeom>
            <a:noFill/>
          </p:spPr>
          <p:txBody>
            <a:bodyPr wrap="square" rtlCol="0">
              <a:spAutoFit/>
            </a:bodyPr>
            <a:lstStyle/>
            <a:p>
              <a:pPr algn="ctr"/>
              <a:r>
                <a:rPr kumimoji="1" lang="ja-JP" altLang="en-US" sz="4000">
                  <a:solidFill>
                    <a:schemeClr val="accent2"/>
                  </a:solidFill>
                </a:rPr>
                <a:t>関連あり</a:t>
              </a:r>
              <a:endParaRPr kumimoji="1" lang="en-US" altLang="ja-JP" sz="4000" dirty="0">
                <a:solidFill>
                  <a:schemeClr val="accent2"/>
                </a:solidFill>
              </a:endParaRPr>
            </a:p>
          </p:txBody>
        </p:sp>
      </p:grpSp>
    </p:spTree>
    <p:extLst>
      <p:ext uri="{BB962C8B-B14F-4D97-AF65-F5344CB8AC3E}">
        <p14:creationId xmlns:p14="http://schemas.microsoft.com/office/powerpoint/2010/main" val="39674238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dirty="0"/>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a:t>検定を使用して感情のターゲットを分析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エージェントの感情は</a:t>
            </a:r>
            <a:r>
              <a:rPr lang="en-US" altLang="ja-JP" dirty="0"/>
              <a:t>offer</a:t>
            </a:r>
            <a:r>
              <a:rPr lang="ja-JP" altLang="en-US"/>
              <a:t>に対してのものだと知覚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p>
        </p:txBody>
      </p:sp>
      <p:grpSp>
        <p:nvGrpSpPr>
          <p:cNvPr id="27" name="グループ化 26">
            <a:extLst>
              <a:ext uri="{FF2B5EF4-FFF2-40B4-BE49-F238E27FC236}">
                <a16:creationId xmlns:a16="http://schemas.microsoft.com/office/drawing/2014/main" id="{4A125233-EF05-5542-AEE6-E9A1DF7FEB83}"/>
              </a:ext>
            </a:extLst>
          </p:cNvPr>
          <p:cNvGrpSpPr/>
          <p:nvPr/>
        </p:nvGrpSpPr>
        <p:grpSpPr>
          <a:xfrm>
            <a:off x="4915200" y="4431558"/>
            <a:ext cx="8457601" cy="4642967"/>
            <a:chOff x="5229791" y="5308189"/>
            <a:chExt cx="8457601" cy="4642967"/>
          </a:xfrm>
        </p:grpSpPr>
        <p:sp>
          <p:nvSpPr>
            <p:cNvPr id="59" name="テキスト ボックス 58">
              <a:extLst>
                <a:ext uri="{FF2B5EF4-FFF2-40B4-BE49-F238E27FC236}">
                  <a16:creationId xmlns:a16="http://schemas.microsoft.com/office/drawing/2014/main" id="{C35E7425-8969-DE4C-8F57-AF7A5D946AF4}"/>
                </a:ext>
              </a:extLst>
            </p:cNvPr>
            <p:cNvSpPr txBox="1"/>
            <p:nvPr/>
          </p:nvSpPr>
          <p:spPr>
            <a:xfrm>
              <a:off x="7737138" y="6532919"/>
              <a:ext cx="2263140" cy="707886"/>
            </a:xfrm>
            <a:prstGeom prst="rect">
              <a:avLst/>
            </a:prstGeom>
            <a:noFill/>
          </p:spPr>
          <p:txBody>
            <a:bodyPr wrap="square" rtlCol="0">
              <a:spAutoFit/>
            </a:bodyPr>
            <a:lstStyle/>
            <a:p>
              <a:pPr algn="ctr"/>
              <a:r>
                <a:rPr kumimoji="1" lang="en-US" altLang="ja-JP" sz="4000" dirty="0"/>
                <a:t>emotion</a:t>
              </a:r>
              <a:endParaRPr kumimoji="1" lang="ja-JP" altLang="en-US" sz="4000"/>
            </a:p>
          </p:txBody>
        </p:sp>
        <p:grpSp>
          <p:nvGrpSpPr>
            <p:cNvPr id="26" name="グループ化 25">
              <a:extLst>
                <a:ext uri="{FF2B5EF4-FFF2-40B4-BE49-F238E27FC236}">
                  <a16:creationId xmlns:a16="http://schemas.microsoft.com/office/drawing/2014/main" id="{7BAC8A59-2205-D549-A6E8-1B32FABD6DF7}"/>
                </a:ext>
              </a:extLst>
            </p:cNvPr>
            <p:cNvGrpSpPr/>
            <p:nvPr/>
          </p:nvGrpSpPr>
          <p:grpSpPr>
            <a:xfrm>
              <a:off x="5229791" y="6864805"/>
              <a:ext cx="2057400" cy="1915845"/>
              <a:chOff x="4201092" y="5558728"/>
              <a:chExt cx="2057400" cy="1915845"/>
            </a:xfrm>
          </p:grpSpPr>
          <p:sp>
            <p:nvSpPr>
              <p:cNvPr id="67" name="スマイル 66">
                <a:extLst>
                  <a:ext uri="{FF2B5EF4-FFF2-40B4-BE49-F238E27FC236}">
                    <a16:creationId xmlns:a16="http://schemas.microsoft.com/office/drawing/2014/main" id="{32BFDA37-A901-3C40-9423-BF9B79F8AE6B}"/>
                  </a:ext>
                </a:extLst>
              </p:cNvPr>
              <p:cNvSpPr/>
              <p:nvPr/>
            </p:nvSpPr>
            <p:spPr>
              <a:xfrm>
                <a:off x="4633490" y="6370392"/>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9" name="テキスト ボックス 68">
                <a:extLst>
                  <a:ext uri="{FF2B5EF4-FFF2-40B4-BE49-F238E27FC236}">
                    <a16:creationId xmlns:a16="http://schemas.microsoft.com/office/drawing/2014/main" id="{051224A4-4281-C243-9598-3464111EE73C}"/>
                  </a:ext>
                </a:extLst>
              </p:cNvPr>
              <p:cNvSpPr txBox="1"/>
              <p:nvPr/>
            </p:nvSpPr>
            <p:spPr>
              <a:xfrm>
                <a:off x="4201092" y="5558728"/>
                <a:ext cx="2057400" cy="64822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25" name="グループ化 24">
              <a:extLst>
                <a:ext uri="{FF2B5EF4-FFF2-40B4-BE49-F238E27FC236}">
                  <a16:creationId xmlns:a16="http://schemas.microsoft.com/office/drawing/2014/main" id="{272F72DE-B2CC-AD40-9BC4-FE441A1A7808}"/>
                </a:ext>
              </a:extLst>
            </p:cNvPr>
            <p:cNvGrpSpPr/>
            <p:nvPr/>
          </p:nvGrpSpPr>
          <p:grpSpPr>
            <a:xfrm>
              <a:off x="11284532" y="5308189"/>
              <a:ext cx="2057400" cy="2762887"/>
              <a:chOff x="9519688" y="4674203"/>
              <a:chExt cx="2057400" cy="2762887"/>
            </a:xfrm>
          </p:grpSpPr>
          <p:grpSp>
            <p:nvGrpSpPr>
              <p:cNvPr id="24" name="グループ化 23">
                <a:extLst>
                  <a:ext uri="{FF2B5EF4-FFF2-40B4-BE49-F238E27FC236}">
                    <a16:creationId xmlns:a16="http://schemas.microsoft.com/office/drawing/2014/main" id="{F111F918-DFC2-EB4B-BF8E-1E2047404A70}"/>
                  </a:ext>
                </a:extLst>
              </p:cNvPr>
              <p:cNvGrpSpPr/>
              <p:nvPr/>
            </p:nvGrpSpPr>
            <p:grpSpPr>
              <a:xfrm>
                <a:off x="10110217" y="5385965"/>
                <a:ext cx="866337" cy="2051125"/>
                <a:chOff x="10802165" y="5666694"/>
                <a:chExt cx="866337" cy="2051125"/>
              </a:xfrm>
            </p:grpSpPr>
            <p:sp>
              <p:nvSpPr>
                <p:cNvPr id="17" name="円/楕円 16">
                  <a:extLst>
                    <a:ext uri="{FF2B5EF4-FFF2-40B4-BE49-F238E27FC236}">
                      <a16:creationId xmlns:a16="http://schemas.microsoft.com/office/drawing/2014/main" id="{573BC831-872E-F14D-A062-FF23D346D5FE}"/>
                    </a:ext>
                  </a:extLst>
                </p:cNvPr>
                <p:cNvSpPr/>
                <p:nvPr/>
              </p:nvSpPr>
              <p:spPr>
                <a:xfrm>
                  <a:off x="10937814" y="5666694"/>
                  <a:ext cx="595041" cy="595041"/>
                </a:xfrm>
                <a:prstGeom prst="ellipse">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18" name="弦 17">
                  <a:extLst>
                    <a:ext uri="{FF2B5EF4-FFF2-40B4-BE49-F238E27FC236}">
                      <a16:creationId xmlns:a16="http://schemas.microsoft.com/office/drawing/2014/main" id="{B3611004-B2EF-D64D-A722-AAB0C6E4D97A}"/>
                    </a:ext>
                  </a:extLst>
                </p:cNvPr>
                <p:cNvSpPr/>
                <p:nvPr/>
              </p:nvSpPr>
              <p:spPr>
                <a:xfrm>
                  <a:off x="10802165" y="6261944"/>
                  <a:ext cx="866337" cy="1455875"/>
                </a:xfrm>
                <a:prstGeom prst="chord">
                  <a:avLst>
                    <a:gd name="adj1" fmla="val 10614901"/>
                    <a:gd name="adj2" fmla="val 194978"/>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grpSp>
          <p:sp>
            <p:nvSpPr>
              <p:cNvPr id="70" name="テキスト ボックス 69">
                <a:extLst>
                  <a:ext uri="{FF2B5EF4-FFF2-40B4-BE49-F238E27FC236}">
                    <a16:creationId xmlns:a16="http://schemas.microsoft.com/office/drawing/2014/main" id="{09263BD1-1179-174A-AE4F-17DA917BA7E3}"/>
                  </a:ext>
                </a:extLst>
              </p:cNvPr>
              <p:cNvSpPr txBox="1"/>
              <p:nvPr/>
            </p:nvSpPr>
            <p:spPr>
              <a:xfrm>
                <a:off x="9519688" y="4674203"/>
                <a:ext cx="2057400" cy="648221"/>
              </a:xfrm>
              <a:prstGeom prst="rect">
                <a:avLst/>
              </a:prstGeom>
              <a:noFill/>
            </p:spPr>
            <p:txBody>
              <a:bodyPr wrap="square" rtlCol="0">
                <a:spAutoFit/>
              </a:bodyPr>
              <a:lstStyle/>
              <a:p>
                <a:pPr algn="ctr"/>
                <a:r>
                  <a:rPr kumimoji="1" lang="en-US" altLang="ja-JP" dirty="0"/>
                  <a:t>human</a:t>
                </a:r>
                <a:endParaRPr kumimoji="1" lang="ja-JP" altLang="en-US"/>
              </a:p>
            </p:txBody>
          </p:sp>
        </p:grpSp>
        <p:sp>
          <p:nvSpPr>
            <p:cNvPr id="80" name="角丸四角形 79">
              <a:extLst>
                <a:ext uri="{FF2B5EF4-FFF2-40B4-BE49-F238E27FC236}">
                  <a16:creationId xmlns:a16="http://schemas.microsoft.com/office/drawing/2014/main" id="{D37ECD90-9430-E548-B780-7B774FCE9974}"/>
                </a:ext>
              </a:extLst>
            </p:cNvPr>
            <p:cNvSpPr/>
            <p:nvPr/>
          </p:nvSpPr>
          <p:spPr>
            <a:xfrm>
              <a:off x="11235334" y="9057409"/>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82" name="右矢印 81">
              <a:extLst>
                <a:ext uri="{FF2B5EF4-FFF2-40B4-BE49-F238E27FC236}">
                  <a16:creationId xmlns:a16="http://schemas.microsoft.com/office/drawing/2014/main" id="{DD6768E0-A6BF-6B4D-834E-5392F86158FF}"/>
                </a:ext>
              </a:extLst>
            </p:cNvPr>
            <p:cNvSpPr/>
            <p:nvPr/>
          </p:nvSpPr>
          <p:spPr>
            <a:xfrm rot="20747369">
              <a:off x="7218663" y="7352181"/>
              <a:ext cx="3701997"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90" name="右矢印 89">
              <a:extLst>
                <a:ext uri="{FF2B5EF4-FFF2-40B4-BE49-F238E27FC236}">
                  <a16:creationId xmlns:a16="http://schemas.microsoft.com/office/drawing/2014/main" id="{384FA947-27D3-5D4A-A4E6-9D5D6734CE4D}"/>
                </a:ext>
              </a:extLst>
            </p:cNvPr>
            <p:cNvSpPr/>
            <p:nvPr/>
          </p:nvSpPr>
          <p:spPr>
            <a:xfrm rot="-20760000">
              <a:off x="7293001" y="8813759"/>
              <a:ext cx="3701997" cy="32316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91" name="テキスト ボックス 90">
              <a:extLst>
                <a:ext uri="{FF2B5EF4-FFF2-40B4-BE49-F238E27FC236}">
                  <a16:creationId xmlns:a16="http://schemas.microsoft.com/office/drawing/2014/main" id="{9F0D7E83-14E7-0C42-A2A7-D6F9F90FFC56}"/>
                </a:ext>
              </a:extLst>
            </p:cNvPr>
            <p:cNvSpPr txBox="1"/>
            <p:nvPr/>
          </p:nvSpPr>
          <p:spPr>
            <a:xfrm>
              <a:off x="7737138" y="9220067"/>
              <a:ext cx="2263140" cy="707886"/>
            </a:xfrm>
            <a:prstGeom prst="rect">
              <a:avLst/>
            </a:prstGeom>
            <a:noFill/>
          </p:spPr>
          <p:txBody>
            <a:bodyPr wrap="square" rtlCol="0">
              <a:spAutoFit/>
            </a:bodyPr>
            <a:lstStyle/>
            <a:p>
              <a:pPr algn="ctr"/>
              <a:r>
                <a:rPr kumimoji="1" lang="en-US" altLang="ja-JP" sz="4000" dirty="0"/>
                <a:t>emotion</a:t>
              </a:r>
              <a:endParaRPr kumimoji="1" lang="ja-JP" altLang="en-US" sz="4000"/>
            </a:p>
          </p:txBody>
        </p:sp>
      </p:grpSp>
      <p:sp>
        <p:nvSpPr>
          <p:cNvPr id="92" name="テキスト ボックス 91">
            <a:extLst>
              <a:ext uri="{FF2B5EF4-FFF2-40B4-BE49-F238E27FC236}">
                <a16:creationId xmlns:a16="http://schemas.microsoft.com/office/drawing/2014/main" id="{5BD052C9-F2FF-B24B-93C0-2AC3A0A27796}"/>
              </a:ext>
            </a:extLst>
          </p:cNvPr>
          <p:cNvSpPr txBox="1"/>
          <p:nvPr/>
        </p:nvSpPr>
        <p:spPr>
          <a:xfrm>
            <a:off x="1476696" y="11116586"/>
            <a:ext cx="15387819" cy="769441"/>
          </a:xfrm>
          <a:prstGeom prst="rect">
            <a:avLst/>
          </a:prstGeom>
          <a:noFill/>
        </p:spPr>
        <p:txBody>
          <a:bodyPr wrap="square" rtlCol="0">
            <a:spAutoFit/>
          </a:bodyPr>
          <a:lstStyle/>
          <a:p>
            <a:pPr algn="ctr"/>
            <a:r>
              <a:rPr kumimoji="1" lang="ja-JP" altLang="en-US" sz="4400">
                <a:solidFill>
                  <a:schemeClr val="accent2"/>
                </a:solidFill>
              </a:rPr>
              <a:t>実験者の意図が被験者に伝わっていたことを確認</a:t>
            </a:r>
          </a:p>
        </p:txBody>
      </p:sp>
    </p:spTree>
    <p:extLst>
      <p:ext uri="{BB962C8B-B14F-4D97-AF65-F5344CB8AC3E}">
        <p14:creationId xmlns:p14="http://schemas.microsoft.com/office/powerpoint/2010/main" val="8646984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伝達方法には統計的有意差はみられなかった</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5712270"/>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感情には統計的有意差がみられた</a:t>
            </a:r>
            <a:endParaRPr lang="en-US" altLang="ja-JP" dirty="0"/>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grpSp>
        <p:nvGrpSpPr>
          <p:cNvPr id="54" name="グループ化 53">
            <a:extLst>
              <a:ext uri="{FF2B5EF4-FFF2-40B4-BE49-F238E27FC236}">
                <a16:creationId xmlns:a16="http://schemas.microsoft.com/office/drawing/2014/main" id="{555B0B40-BF11-3948-AF30-3F5874C6AE62}"/>
              </a:ext>
            </a:extLst>
          </p:cNvPr>
          <p:cNvGrpSpPr/>
          <p:nvPr/>
        </p:nvGrpSpPr>
        <p:grpSpPr>
          <a:xfrm>
            <a:off x="3544736" y="9020201"/>
            <a:ext cx="11198527" cy="3761408"/>
            <a:chOff x="3506678" y="8239275"/>
            <a:chExt cx="11198527" cy="3761408"/>
          </a:xfrm>
        </p:grpSpPr>
        <p:grpSp>
          <p:nvGrpSpPr>
            <p:cNvPr id="25" name="グループ化 24">
              <a:extLst>
                <a:ext uri="{FF2B5EF4-FFF2-40B4-BE49-F238E27FC236}">
                  <a16:creationId xmlns:a16="http://schemas.microsoft.com/office/drawing/2014/main" id="{BEB37E04-D0DB-D245-8E23-15B3F360B148}"/>
                </a:ext>
              </a:extLst>
            </p:cNvPr>
            <p:cNvGrpSpPr/>
            <p:nvPr/>
          </p:nvGrpSpPr>
          <p:grpSpPr>
            <a:xfrm>
              <a:off x="4535379" y="8239275"/>
              <a:ext cx="9217242" cy="1952773"/>
              <a:chOff x="1978725" y="8532573"/>
              <a:chExt cx="9217242" cy="1952773"/>
            </a:xfrm>
          </p:grpSpPr>
          <p:grpSp>
            <p:nvGrpSpPr>
              <p:cNvPr id="24" name="グループ化 23">
                <a:extLst>
                  <a:ext uri="{FF2B5EF4-FFF2-40B4-BE49-F238E27FC236}">
                    <a16:creationId xmlns:a16="http://schemas.microsoft.com/office/drawing/2014/main" id="{2810454D-06DA-5E4B-9E17-C5AED6A5DBD1}"/>
                  </a:ext>
                </a:extLst>
              </p:cNvPr>
              <p:cNvGrpSpPr/>
              <p:nvPr/>
            </p:nvGrpSpPr>
            <p:grpSpPr>
              <a:xfrm>
                <a:off x="1978725" y="8538153"/>
                <a:ext cx="2057400" cy="1947193"/>
                <a:chOff x="2143691" y="8532574"/>
                <a:chExt cx="2057400" cy="1947193"/>
              </a:xfrm>
            </p:grpSpPr>
            <p:sp>
              <p:nvSpPr>
                <p:cNvPr id="47" name="スマイル 46">
                  <a:extLst>
                    <a:ext uri="{FF2B5EF4-FFF2-40B4-BE49-F238E27FC236}">
                      <a16:creationId xmlns:a16="http://schemas.microsoft.com/office/drawing/2014/main" id="{AEFACCEF-7817-9841-8050-031523C6207B}"/>
                    </a:ext>
                  </a:extLst>
                </p:cNvPr>
                <p:cNvSpPr/>
                <p:nvPr/>
              </p:nvSpPr>
              <p:spPr>
                <a:xfrm>
                  <a:off x="2576090" y="8532574"/>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17" name="テキスト ボックス 16">
                  <a:extLst>
                    <a:ext uri="{FF2B5EF4-FFF2-40B4-BE49-F238E27FC236}">
                      <a16:creationId xmlns:a16="http://schemas.microsoft.com/office/drawing/2014/main" id="{476838BC-C816-3749-8625-83AEA9DEFE7A}"/>
                    </a:ext>
                  </a:extLst>
                </p:cNvPr>
                <p:cNvSpPr txBox="1"/>
                <p:nvPr/>
              </p:nvSpPr>
              <p:spPr>
                <a:xfrm>
                  <a:off x="2143691" y="9831546"/>
                  <a:ext cx="2057400" cy="648221"/>
                </a:xfrm>
                <a:prstGeom prst="rect">
                  <a:avLst/>
                </a:prstGeom>
                <a:noFill/>
              </p:spPr>
              <p:txBody>
                <a:bodyPr wrap="square" rtlCol="0">
                  <a:spAutoFit/>
                </a:bodyPr>
                <a:lstStyle/>
                <a:p>
                  <a:pPr algn="ctr"/>
                  <a:r>
                    <a:rPr kumimoji="1" lang="en-US" altLang="ja-JP" dirty="0"/>
                    <a:t>angry</a:t>
                  </a:r>
                  <a:endParaRPr kumimoji="1" lang="ja-JP" altLang="en-US"/>
                </a:p>
              </p:txBody>
            </p:sp>
          </p:grpSp>
          <p:grpSp>
            <p:nvGrpSpPr>
              <p:cNvPr id="19" name="グループ化 18">
                <a:extLst>
                  <a:ext uri="{FF2B5EF4-FFF2-40B4-BE49-F238E27FC236}">
                    <a16:creationId xmlns:a16="http://schemas.microsoft.com/office/drawing/2014/main" id="{ACB0C364-5854-C347-B957-2F7336E9DBFD}"/>
                  </a:ext>
                </a:extLst>
              </p:cNvPr>
              <p:cNvGrpSpPr/>
              <p:nvPr/>
            </p:nvGrpSpPr>
            <p:grpSpPr>
              <a:xfrm>
                <a:off x="5558646" y="8532574"/>
                <a:ext cx="2057400" cy="1947192"/>
                <a:chOff x="5558646" y="8532574"/>
                <a:chExt cx="2057400" cy="1947192"/>
              </a:xfrm>
            </p:grpSpPr>
            <p:sp>
              <p:nvSpPr>
                <p:cNvPr id="46" name="スマイル 45">
                  <a:extLst>
                    <a:ext uri="{FF2B5EF4-FFF2-40B4-BE49-F238E27FC236}">
                      <a16:creationId xmlns:a16="http://schemas.microsoft.com/office/drawing/2014/main" id="{E103E366-E498-434C-8841-CDC48463802B}"/>
                    </a:ext>
                  </a:extLst>
                </p:cNvPr>
                <p:cNvSpPr/>
                <p:nvPr/>
              </p:nvSpPr>
              <p:spPr>
                <a:xfrm>
                  <a:off x="5991045" y="8532574"/>
                  <a:ext cx="1192602" cy="1104181"/>
                </a:xfrm>
                <a:prstGeom prst="smileyFace">
                  <a:avLst>
                    <a:gd name="adj" fmla="val -3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8" name="テキスト ボックス 47">
                  <a:extLst>
                    <a:ext uri="{FF2B5EF4-FFF2-40B4-BE49-F238E27FC236}">
                      <a16:creationId xmlns:a16="http://schemas.microsoft.com/office/drawing/2014/main" id="{FCA38E49-9BB8-2D45-B380-33B323884F39}"/>
                    </a:ext>
                  </a:extLst>
                </p:cNvPr>
                <p:cNvSpPr txBox="1"/>
                <p:nvPr/>
              </p:nvSpPr>
              <p:spPr>
                <a:xfrm>
                  <a:off x="5558646" y="9831545"/>
                  <a:ext cx="2057400" cy="648221"/>
                </a:xfrm>
                <a:prstGeom prst="rect">
                  <a:avLst/>
                </a:prstGeom>
                <a:noFill/>
              </p:spPr>
              <p:txBody>
                <a:bodyPr wrap="square" rtlCol="0">
                  <a:spAutoFit/>
                </a:bodyPr>
                <a:lstStyle/>
                <a:p>
                  <a:pPr algn="ctr"/>
                  <a:r>
                    <a:rPr lang="en-US" altLang="ja-JP" dirty="0"/>
                    <a:t>neutral</a:t>
                  </a:r>
                  <a:endParaRPr kumimoji="1" lang="ja-JP" altLang="en-US"/>
                </a:p>
              </p:txBody>
            </p:sp>
          </p:grpSp>
          <p:grpSp>
            <p:nvGrpSpPr>
              <p:cNvPr id="18" name="グループ化 17">
                <a:extLst>
                  <a:ext uri="{FF2B5EF4-FFF2-40B4-BE49-F238E27FC236}">
                    <a16:creationId xmlns:a16="http://schemas.microsoft.com/office/drawing/2014/main" id="{883ACA35-1FC8-8D4F-A1C7-54871F4454DE}"/>
                  </a:ext>
                </a:extLst>
              </p:cNvPr>
              <p:cNvGrpSpPr/>
              <p:nvPr/>
            </p:nvGrpSpPr>
            <p:grpSpPr>
              <a:xfrm>
                <a:off x="9138567" y="8532573"/>
                <a:ext cx="2057400" cy="1947192"/>
                <a:chOff x="9138567" y="8532573"/>
                <a:chExt cx="2057400" cy="1947192"/>
              </a:xfrm>
            </p:grpSpPr>
            <p:sp>
              <p:nvSpPr>
                <p:cNvPr id="45" name="スマイル 44">
                  <a:extLst>
                    <a:ext uri="{FF2B5EF4-FFF2-40B4-BE49-F238E27FC236}">
                      <a16:creationId xmlns:a16="http://schemas.microsoft.com/office/drawing/2014/main" id="{195514E4-D9A4-2640-9BE7-F90C36AE2811}"/>
                    </a:ext>
                  </a:extLst>
                </p:cNvPr>
                <p:cNvSpPr/>
                <p:nvPr/>
              </p:nvSpPr>
              <p:spPr>
                <a:xfrm>
                  <a:off x="9570966" y="8532573"/>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9" name="テキスト ボックス 48">
                  <a:extLst>
                    <a:ext uri="{FF2B5EF4-FFF2-40B4-BE49-F238E27FC236}">
                      <a16:creationId xmlns:a16="http://schemas.microsoft.com/office/drawing/2014/main" id="{8A03261E-1ED7-BC48-9353-7A4C3272AAF4}"/>
                    </a:ext>
                  </a:extLst>
                </p:cNvPr>
                <p:cNvSpPr txBox="1"/>
                <p:nvPr/>
              </p:nvSpPr>
              <p:spPr>
                <a:xfrm>
                  <a:off x="9138567" y="9831544"/>
                  <a:ext cx="2057400" cy="648221"/>
                </a:xfrm>
                <a:prstGeom prst="rect">
                  <a:avLst/>
                </a:prstGeom>
                <a:noFill/>
              </p:spPr>
              <p:txBody>
                <a:bodyPr wrap="square" rtlCol="0">
                  <a:spAutoFit/>
                </a:bodyPr>
                <a:lstStyle/>
                <a:p>
                  <a:pPr algn="ctr"/>
                  <a:r>
                    <a:rPr kumimoji="1" lang="en-US" altLang="ja-JP" dirty="0"/>
                    <a:t>happy</a:t>
                  </a:r>
                  <a:endParaRPr kumimoji="1" lang="ja-JP" altLang="en-US"/>
                </a:p>
              </p:txBody>
            </p:sp>
          </p:grpSp>
        </p:grpSp>
        <p:sp>
          <p:nvSpPr>
            <p:cNvPr id="50" name="右矢印 49">
              <a:extLst>
                <a:ext uri="{FF2B5EF4-FFF2-40B4-BE49-F238E27FC236}">
                  <a16:creationId xmlns:a16="http://schemas.microsoft.com/office/drawing/2014/main" id="{FB50916D-4509-7846-9C5E-07D0C7C05256}"/>
                </a:ext>
              </a:extLst>
            </p:cNvPr>
            <p:cNvSpPr/>
            <p:nvPr/>
          </p:nvSpPr>
          <p:spPr>
            <a:xfrm flipH="1">
              <a:off x="4535378" y="10563435"/>
              <a:ext cx="9217241" cy="78595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1" name="テキスト ボックス 50">
              <a:extLst>
                <a:ext uri="{FF2B5EF4-FFF2-40B4-BE49-F238E27FC236}">
                  <a16:creationId xmlns:a16="http://schemas.microsoft.com/office/drawing/2014/main" id="{CDFDFB3D-8126-BE48-96B6-0DDFFF6E66F5}"/>
                </a:ext>
              </a:extLst>
            </p:cNvPr>
            <p:cNvSpPr txBox="1"/>
            <p:nvPr/>
          </p:nvSpPr>
          <p:spPr>
            <a:xfrm>
              <a:off x="3506678" y="11332091"/>
              <a:ext cx="2057400" cy="648221"/>
            </a:xfrm>
            <a:prstGeom prst="rect">
              <a:avLst/>
            </a:prstGeom>
            <a:noFill/>
          </p:spPr>
          <p:txBody>
            <a:bodyPr wrap="square" rtlCol="0">
              <a:spAutoFit/>
            </a:bodyPr>
            <a:lstStyle/>
            <a:p>
              <a:pPr algn="ctr"/>
              <a:r>
                <a:rPr lang="ja-JP" altLang="en-US"/>
                <a:t>大</a:t>
              </a:r>
              <a:endParaRPr kumimoji="1" lang="ja-JP" altLang="en-US"/>
            </a:p>
          </p:txBody>
        </p:sp>
        <p:sp>
          <p:nvSpPr>
            <p:cNvPr id="52" name="テキスト ボックス 51">
              <a:extLst>
                <a:ext uri="{FF2B5EF4-FFF2-40B4-BE49-F238E27FC236}">
                  <a16:creationId xmlns:a16="http://schemas.microsoft.com/office/drawing/2014/main" id="{B5496B4B-887C-BE4E-A226-6FF0D538A851}"/>
                </a:ext>
              </a:extLst>
            </p:cNvPr>
            <p:cNvSpPr txBox="1"/>
            <p:nvPr/>
          </p:nvSpPr>
          <p:spPr>
            <a:xfrm>
              <a:off x="12647805" y="11332091"/>
              <a:ext cx="2057400" cy="648221"/>
            </a:xfrm>
            <a:prstGeom prst="rect">
              <a:avLst/>
            </a:prstGeom>
            <a:noFill/>
          </p:spPr>
          <p:txBody>
            <a:bodyPr wrap="square" rtlCol="0">
              <a:spAutoFit/>
            </a:bodyPr>
            <a:lstStyle/>
            <a:p>
              <a:pPr algn="ctr"/>
              <a:r>
                <a:rPr kumimoji="1" lang="ja-JP" altLang="en-US"/>
                <a:t>小</a:t>
              </a:r>
            </a:p>
          </p:txBody>
        </p:sp>
        <p:sp>
          <p:nvSpPr>
            <p:cNvPr id="53" name="テキスト ボックス 52">
              <a:extLst>
                <a:ext uri="{FF2B5EF4-FFF2-40B4-BE49-F238E27FC236}">
                  <a16:creationId xmlns:a16="http://schemas.microsoft.com/office/drawing/2014/main" id="{BE2F8BD5-A17D-A04E-9BA9-7DE9F936EDD6}"/>
                </a:ext>
              </a:extLst>
            </p:cNvPr>
            <p:cNvSpPr txBox="1"/>
            <p:nvPr/>
          </p:nvSpPr>
          <p:spPr>
            <a:xfrm>
              <a:off x="6718380" y="11292797"/>
              <a:ext cx="4851241" cy="707886"/>
            </a:xfrm>
            <a:prstGeom prst="rect">
              <a:avLst/>
            </a:prstGeom>
            <a:noFill/>
          </p:spPr>
          <p:txBody>
            <a:bodyPr wrap="square" rtlCol="0">
              <a:spAutoFit/>
            </a:bodyPr>
            <a:lstStyle/>
            <a:p>
              <a:pPr algn="ctr"/>
              <a:r>
                <a:rPr kumimoji="1" lang="en-US" altLang="ja-JP" sz="4000" dirty="0"/>
                <a:t>demand difference</a:t>
              </a:r>
              <a:endParaRPr kumimoji="1" lang="ja-JP" altLang="en-US" sz="4000"/>
            </a:p>
          </p:txBody>
        </p:sp>
      </p:grpSp>
      <p:grpSp>
        <p:nvGrpSpPr>
          <p:cNvPr id="55" name="グループ化 54">
            <a:extLst>
              <a:ext uri="{FF2B5EF4-FFF2-40B4-BE49-F238E27FC236}">
                <a16:creationId xmlns:a16="http://schemas.microsoft.com/office/drawing/2014/main" id="{99B0A0B3-241E-1943-8100-5C1759CCD494}"/>
              </a:ext>
            </a:extLst>
          </p:cNvPr>
          <p:cNvGrpSpPr/>
          <p:nvPr/>
        </p:nvGrpSpPr>
        <p:grpSpPr>
          <a:xfrm>
            <a:off x="617232" y="7314786"/>
            <a:ext cx="539448" cy="487368"/>
            <a:chOff x="400056" y="1061560"/>
            <a:chExt cx="269724" cy="243684"/>
          </a:xfrm>
        </p:grpSpPr>
        <p:sp>
          <p:nvSpPr>
            <p:cNvPr id="56" name="三角形 55">
              <a:extLst>
                <a:ext uri="{FF2B5EF4-FFF2-40B4-BE49-F238E27FC236}">
                  <a16:creationId xmlns:a16="http://schemas.microsoft.com/office/drawing/2014/main" id="{9A78022D-A10B-914B-BF48-BAA35AD6764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三角形 56">
              <a:extLst>
                <a:ext uri="{FF2B5EF4-FFF2-40B4-BE49-F238E27FC236}">
                  <a16:creationId xmlns:a16="http://schemas.microsoft.com/office/drawing/2014/main" id="{F0260CA7-CF0F-5449-B7E1-34DBD1B435E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8" name="テキスト プレースホルダー 27">
            <a:extLst>
              <a:ext uri="{FF2B5EF4-FFF2-40B4-BE49-F238E27FC236}">
                <a16:creationId xmlns:a16="http://schemas.microsoft.com/office/drawing/2014/main" id="{70C0AC02-4003-5D4D-AB50-40EC61043E87}"/>
              </a:ext>
            </a:extLst>
          </p:cNvPr>
          <p:cNvSpPr txBox="1">
            <a:spLocks/>
          </p:cNvSpPr>
          <p:nvPr/>
        </p:nvSpPr>
        <p:spPr>
          <a:xfrm>
            <a:off x="1254486" y="724216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伝達方法と感情に関連はみられなかった</a:t>
            </a:r>
            <a:endParaRPr lang="en-US" altLang="ja-JP" dirty="0"/>
          </a:p>
        </p:txBody>
      </p:sp>
      <p:sp>
        <p:nvSpPr>
          <p:cNvPr id="59" name="三角形 58">
            <a:extLst>
              <a:ext uri="{FF2B5EF4-FFF2-40B4-BE49-F238E27FC236}">
                <a16:creationId xmlns:a16="http://schemas.microsoft.com/office/drawing/2014/main" id="{721D6AAC-E877-3048-AB9C-6162E522BB7F}"/>
              </a:ext>
            </a:extLst>
          </p:cNvPr>
          <p:cNvSpPr/>
          <p:nvPr/>
        </p:nvSpPr>
        <p:spPr>
          <a:xfrm rot="5400000">
            <a:off x="1076238" y="815551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E7B17F6C-3461-CB4C-827B-29BC7352EBCB}"/>
              </a:ext>
            </a:extLst>
          </p:cNvPr>
          <p:cNvSpPr txBox="1">
            <a:spLocks/>
          </p:cNvSpPr>
          <p:nvPr/>
        </p:nvSpPr>
        <p:spPr>
          <a:xfrm>
            <a:off x="1568600" y="804023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感情は伝達方法とは独立に</a:t>
            </a:r>
            <a:r>
              <a:rPr lang="en-US" altLang="ja-JP" dirty="0"/>
              <a:t>demand difference</a:t>
            </a:r>
            <a:r>
              <a:rPr lang="ja-JP" altLang="en-US"/>
              <a:t>に影響を与える</a:t>
            </a:r>
          </a:p>
        </p:txBody>
      </p:sp>
      <p:sp>
        <p:nvSpPr>
          <p:cNvPr id="61" name="三角形 60">
            <a:extLst>
              <a:ext uri="{FF2B5EF4-FFF2-40B4-BE49-F238E27FC236}">
                <a16:creationId xmlns:a16="http://schemas.microsoft.com/office/drawing/2014/main" id="{A115CBBF-4618-7046-AC4B-EF4A66289544}"/>
              </a:ext>
            </a:extLst>
          </p:cNvPr>
          <p:cNvSpPr/>
          <p:nvPr/>
        </p:nvSpPr>
        <p:spPr>
          <a:xfrm rot="5400000">
            <a:off x="1076238" y="65680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50227810-AFBB-AC4C-A102-CCDA8049EF3B}"/>
              </a:ext>
            </a:extLst>
          </p:cNvPr>
          <p:cNvSpPr txBox="1">
            <a:spLocks/>
          </p:cNvSpPr>
          <p:nvPr/>
        </p:nvSpPr>
        <p:spPr>
          <a:xfrm>
            <a:off x="1568600" y="64527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Tree>
    <p:extLst>
      <p:ext uri="{BB962C8B-B14F-4D97-AF65-F5344CB8AC3E}">
        <p14:creationId xmlns:p14="http://schemas.microsoft.com/office/powerpoint/2010/main" val="37980097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pic>
        <p:nvPicPr>
          <p:cNvPr id="31" name="図 30">
            <a:extLst>
              <a:ext uri="{FF2B5EF4-FFF2-40B4-BE49-F238E27FC236}">
                <a16:creationId xmlns:a16="http://schemas.microsoft.com/office/drawing/2014/main" id="{061B6C64-EB6E-1049-B001-365B402371B9}"/>
              </a:ext>
            </a:extLst>
          </p:cNvPr>
          <p:cNvPicPr>
            <a:picLocks noChangeAspect="1"/>
          </p:cNvPicPr>
          <p:nvPr/>
        </p:nvPicPr>
        <p:blipFill>
          <a:blip r:embed="rId3"/>
          <a:stretch>
            <a:fillRect/>
          </a:stretch>
        </p:blipFill>
        <p:spPr>
          <a:xfrm>
            <a:off x="1254486" y="8677383"/>
            <a:ext cx="7920000" cy="4561520"/>
          </a:xfrm>
          <a:prstGeom prst="rect">
            <a:avLst/>
          </a:prstGeom>
        </p:spPr>
      </p:pic>
      <p:pic>
        <p:nvPicPr>
          <p:cNvPr id="33" name="図 32">
            <a:extLst>
              <a:ext uri="{FF2B5EF4-FFF2-40B4-BE49-F238E27FC236}">
                <a16:creationId xmlns:a16="http://schemas.microsoft.com/office/drawing/2014/main" id="{60AA3D5C-A433-0848-809D-0129548D2476}"/>
              </a:ext>
            </a:extLst>
          </p:cNvPr>
          <p:cNvPicPr>
            <a:picLocks noChangeAspect="1"/>
          </p:cNvPicPr>
          <p:nvPr/>
        </p:nvPicPr>
        <p:blipFill>
          <a:blip r:embed="rId4"/>
          <a:stretch>
            <a:fillRect/>
          </a:stretch>
        </p:blipFill>
        <p:spPr>
          <a:xfrm>
            <a:off x="10461630" y="8673056"/>
            <a:ext cx="6228000" cy="4526053"/>
          </a:xfrm>
          <a:prstGeom prst="rect">
            <a:avLst/>
          </a:prstGeom>
        </p:spPr>
      </p:pic>
      <p:grpSp>
        <p:nvGrpSpPr>
          <p:cNvPr id="35" name="グループ化 34">
            <a:extLst>
              <a:ext uri="{FF2B5EF4-FFF2-40B4-BE49-F238E27FC236}">
                <a16:creationId xmlns:a16="http://schemas.microsoft.com/office/drawing/2014/main" id="{AB16B722-0D46-E24D-A20E-09138FE8C8EC}"/>
              </a:ext>
            </a:extLst>
          </p:cNvPr>
          <p:cNvGrpSpPr/>
          <p:nvPr/>
        </p:nvGrpSpPr>
        <p:grpSpPr>
          <a:xfrm>
            <a:off x="289330" y="1413298"/>
            <a:ext cx="2160000" cy="934436"/>
            <a:chOff x="144665" y="525617"/>
            <a:chExt cx="1080000" cy="467218"/>
          </a:xfrm>
        </p:grpSpPr>
        <p:sp>
          <p:nvSpPr>
            <p:cNvPr id="36" name="正方形/長方形 35">
              <a:extLst>
                <a:ext uri="{FF2B5EF4-FFF2-40B4-BE49-F238E27FC236}">
                  <a16:creationId xmlns:a16="http://schemas.microsoft.com/office/drawing/2014/main" id="{C7BE27B8-E1BF-9849-910A-12ED6A6A722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7" name="正方形/長方形 36">
              <a:extLst>
                <a:ext uri="{FF2B5EF4-FFF2-40B4-BE49-F238E27FC236}">
                  <a16:creationId xmlns:a16="http://schemas.microsoft.com/office/drawing/2014/main" id="{B03DE4C5-552F-0F48-848B-8D93953E79F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8" name="グループ化 37">
            <a:extLst>
              <a:ext uri="{FF2B5EF4-FFF2-40B4-BE49-F238E27FC236}">
                <a16:creationId xmlns:a16="http://schemas.microsoft.com/office/drawing/2014/main" id="{BE56D25C-2BDE-D141-A6FF-3FEFE5C206FA}"/>
              </a:ext>
            </a:extLst>
          </p:cNvPr>
          <p:cNvGrpSpPr/>
          <p:nvPr/>
        </p:nvGrpSpPr>
        <p:grpSpPr>
          <a:xfrm>
            <a:off x="617232" y="2557358"/>
            <a:ext cx="539448" cy="487368"/>
            <a:chOff x="400056" y="1061560"/>
            <a:chExt cx="269724" cy="243684"/>
          </a:xfrm>
        </p:grpSpPr>
        <p:sp>
          <p:nvSpPr>
            <p:cNvPr id="39" name="三角形 38">
              <a:extLst>
                <a:ext uri="{FF2B5EF4-FFF2-40B4-BE49-F238E27FC236}">
                  <a16:creationId xmlns:a16="http://schemas.microsoft.com/office/drawing/2014/main" id="{9DCCDE8C-2311-AC41-ACDE-9EFB630D2F9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三角形 39">
              <a:extLst>
                <a:ext uri="{FF2B5EF4-FFF2-40B4-BE49-F238E27FC236}">
                  <a16:creationId xmlns:a16="http://schemas.microsoft.com/office/drawing/2014/main" id="{D1745660-D13A-3944-B628-BBE9244F345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1" name="三角形 40">
            <a:extLst>
              <a:ext uri="{FF2B5EF4-FFF2-40B4-BE49-F238E27FC236}">
                <a16:creationId xmlns:a16="http://schemas.microsoft.com/office/drawing/2014/main" id="{0DA90E25-2991-EF4A-B966-971D8C6E072F}"/>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7">
            <a:extLst>
              <a:ext uri="{FF2B5EF4-FFF2-40B4-BE49-F238E27FC236}">
                <a16:creationId xmlns:a16="http://schemas.microsoft.com/office/drawing/2014/main" id="{60406625-1823-E442-A2FE-03577DEEB756}"/>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を使用して分析</a:t>
            </a:r>
            <a:endParaRPr lang="en-US" altLang="ja-JP" dirty="0"/>
          </a:p>
        </p:txBody>
      </p:sp>
      <p:sp>
        <p:nvSpPr>
          <p:cNvPr id="45" name="テキスト プレースホルダー 29">
            <a:extLst>
              <a:ext uri="{FF2B5EF4-FFF2-40B4-BE49-F238E27FC236}">
                <a16:creationId xmlns:a16="http://schemas.microsoft.com/office/drawing/2014/main" id="{4FCB5617-0C1F-C54E-829B-E546682AF5E0}"/>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46" name="テキスト プレースホルダー 30">
            <a:extLst>
              <a:ext uri="{FF2B5EF4-FFF2-40B4-BE49-F238E27FC236}">
                <a16:creationId xmlns:a16="http://schemas.microsoft.com/office/drawing/2014/main" id="{D1E20380-EE69-3645-903D-57F695254A5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47" name="グループ化 46">
            <a:extLst>
              <a:ext uri="{FF2B5EF4-FFF2-40B4-BE49-F238E27FC236}">
                <a16:creationId xmlns:a16="http://schemas.microsoft.com/office/drawing/2014/main" id="{78A596D3-83E3-BB41-8333-BA7BF317A908}"/>
              </a:ext>
            </a:extLst>
          </p:cNvPr>
          <p:cNvGrpSpPr/>
          <p:nvPr/>
        </p:nvGrpSpPr>
        <p:grpSpPr>
          <a:xfrm>
            <a:off x="617232" y="4073585"/>
            <a:ext cx="539448" cy="487368"/>
            <a:chOff x="400056" y="1061560"/>
            <a:chExt cx="269724" cy="243684"/>
          </a:xfrm>
        </p:grpSpPr>
        <p:sp>
          <p:nvSpPr>
            <p:cNvPr id="48" name="三角形 47">
              <a:extLst>
                <a:ext uri="{FF2B5EF4-FFF2-40B4-BE49-F238E27FC236}">
                  <a16:creationId xmlns:a16="http://schemas.microsoft.com/office/drawing/2014/main" id="{CFA68BDC-54FD-9144-B77A-C7F1BBA50E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063E9992-2E21-DD49-B346-92BA79701EF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0" name="テキスト プレースホルダー 27">
            <a:extLst>
              <a:ext uri="{FF2B5EF4-FFF2-40B4-BE49-F238E27FC236}">
                <a16:creationId xmlns:a16="http://schemas.microsoft.com/office/drawing/2014/main" id="{9D012A2F-C6FE-3C41-B764-C744DB967018}"/>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伝達方法には統計的有意差はみられなかった</a:t>
            </a:r>
            <a:endParaRPr lang="en-US" altLang="ja-JP" dirty="0"/>
          </a:p>
        </p:txBody>
      </p:sp>
      <p:grpSp>
        <p:nvGrpSpPr>
          <p:cNvPr id="51" name="グループ化 50">
            <a:extLst>
              <a:ext uri="{FF2B5EF4-FFF2-40B4-BE49-F238E27FC236}">
                <a16:creationId xmlns:a16="http://schemas.microsoft.com/office/drawing/2014/main" id="{77D2C6B4-3111-014D-8AB2-C0255F7C4B6D}"/>
              </a:ext>
            </a:extLst>
          </p:cNvPr>
          <p:cNvGrpSpPr/>
          <p:nvPr/>
        </p:nvGrpSpPr>
        <p:grpSpPr>
          <a:xfrm>
            <a:off x="617232" y="5712270"/>
            <a:ext cx="539448" cy="487368"/>
            <a:chOff x="400056" y="1061560"/>
            <a:chExt cx="269724" cy="243684"/>
          </a:xfrm>
        </p:grpSpPr>
        <p:sp>
          <p:nvSpPr>
            <p:cNvPr id="52" name="三角形 51">
              <a:extLst>
                <a:ext uri="{FF2B5EF4-FFF2-40B4-BE49-F238E27FC236}">
                  <a16:creationId xmlns:a16="http://schemas.microsoft.com/office/drawing/2014/main" id="{8DC8DE29-3BF8-9443-8B99-773F5AEA90B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D094062C-EA47-1448-9156-D34D866E0EA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テキスト プレースホルダー 27">
            <a:extLst>
              <a:ext uri="{FF2B5EF4-FFF2-40B4-BE49-F238E27FC236}">
                <a16:creationId xmlns:a16="http://schemas.microsoft.com/office/drawing/2014/main" id="{431EB3C7-61C1-004F-A912-56A5A7984221}"/>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感情には統計的有意差がみられた</a:t>
            </a:r>
            <a:endParaRPr lang="en-US" altLang="ja-JP" dirty="0"/>
          </a:p>
        </p:txBody>
      </p:sp>
      <p:sp>
        <p:nvSpPr>
          <p:cNvPr id="61" name="三角形 60">
            <a:extLst>
              <a:ext uri="{FF2B5EF4-FFF2-40B4-BE49-F238E27FC236}">
                <a16:creationId xmlns:a16="http://schemas.microsoft.com/office/drawing/2014/main" id="{45E85650-C524-714D-BCF4-91E2BA04FBD8}"/>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0259F2F3-2A02-894C-8A4A-414B6B3B8C19}"/>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grpSp>
        <p:nvGrpSpPr>
          <p:cNvPr id="63" name="グループ化 62">
            <a:extLst>
              <a:ext uri="{FF2B5EF4-FFF2-40B4-BE49-F238E27FC236}">
                <a16:creationId xmlns:a16="http://schemas.microsoft.com/office/drawing/2014/main" id="{95D72EB3-F955-8C44-8B67-FDAD1F0BC4B9}"/>
              </a:ext>
            </a:extLst>
          </p:cNvPr>
          <p:cNvGrpSpPr/>
          <p:nvPr/>
        </p:nvGrpSpPr>
        <p:grpSpPr>
          <a:xfrm>
            <a:off x="617232" y="7314786"/>
            <a:ext cx="539448" cy="487368"/>
            <a:chOff x="400056" y="1061560"/>
            <a:chExt cx="269724" cy="243684"/>
          </a:xfrm>
        </p:grpSpPr>
        <p:sp>
          <p:nvSpPr>
            <p:cNvPr id="64" name="三角形 63">
              <a:extLst>
                <a:ext uri="{FF2B5EF4-FFF2-40B4-BE49-F238E27FC236}">
                  <a16:creationId xmlns:a16="http://schemas.microsoft.com/office/drawing/2014/main" id="{E2786557-2E9E-9241-A5DA-B96A617B5C4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三角形 64">
              <a:extLst>
                <a:ext uri="{FF2B5EF4-FFF2-40B4-BE49-F238E27FC236}">
                  <a16:creationId xmlns:a16="http://schemas.microsoft.com/office/drawing/2014/main" id="{E9FB826F-1341-4E4A-8866-DA9401DDD91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6" name="テキスト プレースホルダー 27">
            <a:extLst>
              <a:ext uri="{FF2B5EF4-FFF2-40B4-BE49-F238E27FC236}">
                <a16:creationId xmlns:a16="http://schemas.microsoft.com/office/drawing/2014/main" id="{203FB6D1-B66C-C749-92FC-DEBBB73B9978}"/>
              </a:ext>
            </a:extLst>
          </p:cNvPr>
          <p:cNvSpPr txBox="1">
            <a:spLocks/>
          </p:cNvSpPr>
          <p:nvPr/>
        </p:nvSpPr>
        <p:spPr>
          <a:xfrm>
            <a:off x="1254486" y="724216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伝達方法と感情に関連はみられなかった</a:t>
            </a:r>
            <a:endParaRPr lang="en-US" altLang="ja-JP" dirty="0"/>
          </a:p>
        </p:txBody>
      </p:sp>
      <p:sp>
        <p:nvSpPr>
          <p:cNvPr id="67" name="三角形 66">
            <a:extLst>
              <a:ext uri="{FF2B5EF4-FFF2-40B4-BE49-F238E27FC236}">
                <a16:creationId xmlns:a16="http://schemas.microsoft.com/office/drawing/2014/main" id="{FB7D243B-9422-5545-979C-AF1EB953B202}"/>
              </a:ext>
            </a:extLst>
          </p:cNvPr>
          <p:cNvSpPr/>
          <p:nvPr/>
        </p:nvSpPr>
        <p:spPr>
          <a:xfrm rot="5400000">
            <a:off x="1076238" y="815551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テキスト プレースホルダー 29">
            <a:extLst>
              <a:ext uri="{FF2B5EF4-FFF2-40B4-BE49-F238E27FC236}">
                <a16:creationId xmlns:a16="http://schemas.microsoft.com/office/drawing/2014/main" id="{2A2F38F0-F966-9A46-AB8B-D9E187A0B395}"/>
              </a:ext>
            </a:extLst>
          </p:cNvPr>
          <p:cNvSpPr txBox="1">
            <a:spLocks/>
          </p:cNvSpPr>
          <p:nvPr/>
        </p:nvSpPr>
        <p:spPr>
          <a:xfrm>
            <a:off x="1568600" y="804023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感情は伝達方法とは独立に</a:t>
            </a:r>
            <a:r>
              <a:rPr lang="en-US" altLang="ja-JP" dirty="0"/>
              <a:t>demand difference</a:t>
            </a:r>
            <a:r>
              <a:rPr lang="ja-JP" altLang="en-US"/>
              <a:t>に影響を与える</a:t>
            </a:r>
          </a:p>
        </p:txBody>
      </p:sp>
      <p:sp>
        <p:nvSpPr>
          <p:cNvPr id="69" name="三角形 68">
            <a:extLst>
              <a:ext uri="{FF2B5EF4-FFF2-40B4-BE49-F238E27FC236}">
                <a16:creationId xmlns:a16="http://schemas.microsoft.com/office/drawing/2014/main" id="{0C1444F8-F7C0-294F-A42F-12E996EB22A7}"/>
              </a:ext>
            </a:extLst>
          </p:cNvPr>
          <p:cNvSpPr/>
          <p:nvPr/>
        </p:nvSpPr>
        <p:spPr>
          <a:xfrm rot="5400000">
            <a:off x="1076238" y="65680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5469CECF-1B9C-2C46-BFC9-C96F24C7AB93}"/>
              </a:ext>
            </a:extLst>
          </p:cNvPr>
          <p:cNvSpPr txBox="1">
            <a:spLocks/>
          </p:cNvSpPr>
          <p:nvPr/>
        </p:nvSpPr>
        <p:spPr>
          <a:xfrm>
            <a:off x="1568600" y="64527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Tree>
    <p:extLst>
      <p:ext uri="{BB962C8B-B14F-4D97-AF65-F5344CB8AC3E}">
        <p14:creationId xmlns:p14="http://schemas.microsoft.com/office/powerpoint/2010/main" val="18667181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4</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a:t>考察</a:t>
            </a:r>
          </a:p>
        </p:txBody>
      </p:sp>
      <p:grpSp>
        <p:nvGrpSpPr>
          <p:cNvPr id="35" name="グループ化 34">
            <a:extLst>
              <a:ext uri="{FF2B5EF4-FFF2-40B4-BE49-F238E27FC236}">
                <a16:creationId xmlns:a16="http://schemas.microsoft.com/office/drawing/2014/main" id="{AB16B722-0D46-E24D-A20E-09138FE8C8EC}"/>
              </a:ext>
            </a:extLst>
          </p:cNvPr>
          <p:cNvGrpSpPr/>
          <p:nvPr/>
        </p:nvGrpSpPr>
        <p:grpSpPr>
          <a:xfrm>
            <a:off x="289330" y="1413298"/>
            <a:ext cx="2160000" cy="934436"/>
            <a:chOff x="144665" y="525617"/>
            <a:chExt cx="1080000" cy="467218"/>
          </a:xfrm>
        </p:grpSpPr>
        <p:sp>
          <p:nvSpPr>
            <p:cNvPr id="36" name="正方形/長方形 35">
              <a:extLst>
                <a:ext uri="{FF2B5EF4-FFF2-40B4-BE49-F238E27FC236}">
                  <a16:creationId xmlns:a16="http://schemas.microsoft.com/office/drawing/2014/main" id="{C7BE27B8-E1BF-9849-910A-12ED6A6A722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7" name="正方形/長方形 36">
              <a:extLst>
                <a:ext uri="{FF2B5EF4-FFF2-40B4-BE49-F238E27FC236}">
                  <a16:creationId xmlns:a16="http://schemas.microsoft.com/office/drawing/2014/main" id="{B03DE4C5-552F-0F48-848B-8D93953E79F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8" name="グループ化 37">
            <a:extLst>
              <a:ext uri="{FF2B5EF4-FFF2-40B4-BE49-F238E27FC236}">
                <a16:creationId xmlns:a16="http://schemas.microsoft.com/office/drawing/2014/main" id="{BE56D25C-2BDE-D141-A6FF-3FEFE5C206FA}"/>
              </a:ext>
            </a:extLst>
          </p:cNvPr>
          <p:cNvGrpSpPr/>
          <p:nvPr/>
        </p:nvGrpSpPr>
        <p:grpSpPr>
          <a:xfrm>
            <a:off x="617232" y="2557358"/>
            <a:ext cx="539448" cy="487368"/>
            <a:chOff x="400056" y="1061560"/>
            <a:chExt cx="269724" cy="243684"/>
          </a:xfrm>
        </p:grpSpPr>
        <p:sp>
          <p:nvSpPr>
            <p:cNvPr id="39" name="三角形 38">
              <a:extLst>
                <a:ext uri="{FF2B5EF4-FFF2-40B4-BE49-F238E27FC236}">
                  <a16:creationId xmlns:a16="http://schemas.microsoft.com/office/drawing/2014/main" id="{9DCCDE8C-2311-AC41-ACDE-9EFB630D2F9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三角形 39">
              <a:extLst>
                <a:ext uri="{FF2B5EF4-FFF2-40B4-BE49-F238E27FC236}">
                  <a16:creationId xmlns:a16="http://schemas.microsoft.com/office/drawing/2014/main" id="{D1745660-D13A-3944-B628-BBE9244F345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1" name="三角形 40">
            <a:extLst>
              <a:ext uri="{FF2B5EF4-FFF2-40B4-BE49-F238E27FC236}">
                <a16:creationId xmlns:a16="http://schemas.microsoft.com/office/drawing/2014/main" id="{0DA90E25-2991-EF4A-B966-971D8C6E072F}"/>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7">
            <a:extLst>
              <a:ext uri="{FF2B5EF4-FFF2-40B4-BE49-F238E27FC236}">
                <a16:creationId xmlns:a16="http://schemas.microsoft.com/office/drawing/2014/main" id="{60406625-1823-E442-A2FE-03577DEEB756}"/>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エージェントの感情によって</a:t>
            </a:r>
            <a:r>
              <a:rPr lang="en-US" altLang="ja-JP" dirty="0"/>
              <a:t>demand difference</a:t>
            </a:r>
            <a:r>
              <a:rPr lang="ja-JP" altLang="en-US"/>
              <a:t>が変化</a:t>
            </a:r>
            <a:endParaRPr lang="en-US" altLang="ja-JP" dirty="0"/>
          </a:p>
        </p:txBody>
      </p:sp>
      <p:sp>
        <p:nvSpPr>
          <p:cNvPr id="45" name="テキスト プレースホルダー 29">
            <a:extLst>
              <a:ext uri="{FF2B5EF4-FFF2-40B4-BE49-F238E27FC236}">
                <a16:creationId xmlns:a16="http://schemas.microsoft.com/office/drawing/2014/main" id="{4FCB5617-0C1F-C54E-829B-E546682AF5E0}"/>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感情によって譲歩の度合いが異なる</a:t>
            </a:r>
          </a:p>
        </p:txBody>
      </p:sp>
      <p:sp>
        <p:nvSpPr>
          <p:cNvPr id="46" name="テキスト プレースホルダー 30">
            <a:extLst>
              <a:ext uri="{FF2B5EF4-FFF2-40B4-BE49-F238E27FC236}">
                <a16:creationId xmlns:a16="http://schemas.microsoft.com/office/drawing/2014/main" id="{D1E20380-EE69-3645-903D-57F695254A5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47" name="グループ化 46">
            <a:extLst>
              <a:ext uri="{FF2B5EF4-FFF2-40B4-BE49-F238E27FC236}">
                <a16:creationId xmlns:a16="http://schemas.microsoft.com/office/drawing/2014/main" id="{78A596D3-83E3-BB41-8333-BA7BF317A908}"/>
              </a:ext>
            </a:extLst>
          </p:cNvPr>
          <p:cNvGrpSpPr/>
          <p:nvPr/>
        </p:nvGrpSpPr>
        <p:grpSpPr>
          <a:xfrm>
            <a:off x="617232" y="4073585"/>
            <a:ext cx="539448" cy="487368"/>
            <a:chOff x="400056" y="1061560"/>
            <a:chExt cx="269724" cy="243684"/>
          </a:xfrm>
        </p:grpSpPr>
        <p:sp>
          <p:nvSpPr>
            <p:cNvPr id="48" name="三角形 47">
              <a:extLst>
                <a:ext uri="{FF2B5EF4-FFF2-40B4-BE49-F238E27FC236}">
                  <a16:creationId xmlns:a16="http://schemas.microsoft.com/office/drawing/2014/main" id="{CFA68BDC-54FD-9144-B77A-C7F1BBA50E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063E9992-2E21-DD49-B346-92BA79701EF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0" name="テキスト プレースホルダー 27">
            <a:extLst>
              <a:ext uri="{FF2B5EF4-FFF2-40B4-BE49-F238E27FC236}">
                <a16:creationId xmlns:a16="http://schemas.microsoft.com/office/drawing/2014/main" id="{9D012A2F-C6FE-3C41-B764-C744DB967018}"/>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人間同士の交渉では感情が影響を与える</a:t>
            </a:r>
            <a:endParaRPr lang="en-US" altLang="ja-JP" dirty="0"/>
          </a:p>
        </p:txBody>
      </p:sp>
      <p:sp>
        <p:nvSpPr>
          <p:cNvPr id="61" name="三角形 60">
            <a:extLst>
              <a:ext uri="{FF2B5EF4-FFF2-40B4-BE49-F238E27FC236}">
                <a16:creationId xmlns:a16="http://schemas.microsoft.com/office/drawing/2014/main" id="{45E85650-C524-714D-BCF4-91E2BA04FBD8}"/>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0259F2F3-2A02-894C-8A4A-414B6B3B8C19}"/>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エージェントと人間との交渉でも感情が影響を与えることを確認</a:t>
            </a:r>
          </a:p>
        </p:txBody>
      </p:sp>
      <p:grpSp>
        <p:nvGrpSpPr>
          <p:cNvPr id="9" name="グループ化 8">
            <a:extLst>
              <a:ext uri="{FF2B5EF4-FFF2-40B4-BE49-F238E27FC236}">
                <a16:creationId xmlns:a16="http://schemas.microsoft.com/office/drawing/2014/main" id="{4350BB52-9BEE-E244-BCEE-8D80F929346E}"/>
              </a:ext>
            </a:extLst>
          </p:cNvPr>
          <p:cNvGrpSpPr/>
          <p:nvPr/>
        </p:nvGrpSpPr>
        <p:grpSpPr>
          <a:xfrm>
            <a:off x="571049" y="7433817"/>
            <a:ext cx="17273779" cy="5347792"/>
            <a:chOff x="571049" y="7433817"/>
            <a:chExt cx="17273779" cy="5347792"/>
          </a:xfrm>
        </p:grpSpPr>
        <p:grpSp>
          <p:nvGrpSpPr>
            <p:cNvPr id="43" name="グループ化 42">
              <a:extLst>
                <a:ext uri="{FF2B5EF4-FFF2-40B4-BE49-F238E27FC236}">
                  <a16:creationId xmlns:a16="http://schemas.microsoft.com/office/drawing/2014/main" id="{20A0C924-8D33-B94D-88F7-75B2DF9A8C0F}"/>
                </a:ext>
              </a:extLst>
            </p:cNvPr>
            <p:cNvGrpSpPr/>
            <p:nvPr/>
          </p:nvGrpSpPr>
          <p:grpSpPr>
            <a:xfrm>
              <a:off x="3544736" y="9020201"/>
              <a:ext cx="11198527" cy="3761408"/>
              <a:chOff x="3506678" y="8239275"/>
              <a:chExt cx="11198527" cy="3761408"/>
            </a:xfrm>
          </p:grpSpPr>
          <p:grpSp>
            <p:nvGrpSpPr>
              <p:cNvPr id="44" name="グループ化 43">
                <a:extLst>
                  <a:ext uri="{FF2B5EF4-FFF2-40B4-BE49-F238E27FC236}">
                    <a16:creationId xmlns:a16="http://schemas.microsoft.com/office/drawing/2014/main" id="{CB38C342-DCBA-8E42-A89A-36800460040D}"/>
                  </a:ext>
                </a:extLst>
              </p:cNvPr>
              <p:cNvGrpSpPr/>
              <p:nvPr/>
            </p:nvGrpSpPr>
            <p:grpSpPr>
              <a:xfrm>
                <a:off x="4535379" y="8239275"/>
                <a:ext cx="9217242" cy="1952773"/>
                <a:chOff x="1978725" y="8532573"/>
                <a:chExt cx="9217242" cy="1952773"/>
              </a:xfrm>
            </p:grpSpPr>
            <p:grpSp>
              <p:nvGrpSpPr>
                <p:cNvPr id="59" name="グループ化 58">
                  <a:extLst>
                    <a:ext uri="{FF2B5EF4-FFF2-40B4-BE49-F238E27FC236}">
                      <a16:creationId xmlns:a16="http://schemas.microsoft.com/office/drawing/2014/main" id="{BEDCE5AE-CF8C-6540-BB7A-AD0F66406040}"/>
                    </a:ext>
                  </a:extLst>
                </p:cNvPr>
                <p:cNvGrpSpPr/>
                <p:nvPr/>
              </p:nvGrpSpPr>
              <p:grpSpPr>
                <a:xfrm>
                  <a:off x="1978725" y="8538153"/>
                  <a:ext cx="2057400" cy="1947193"/>
                  <a:chOff x="2143691" y="8532574"/>
                  <a:chExt cx="2057400" cy="1947193"/>
                </a:xfrm>
              </p:grpSpPr>
              <p:sp>
                <p:nvSpPr>
                  <p:cNvPr id="76" name="スマイル 75">
                    <a:extLst>
                      <a:ext uri="{FF2B5EF4-FFF2-40B4-BE49-F238E27FC236}">
                        <a16:creationId xmlns:a16="http://schemas.microsoft.com/office/drawing/2014/main" id="{D59C3766-623B-B64D-8B8F-C289089B0BE8}"/>
                      </a:ext>
                    </a:extLst>
                  </p:cNvPr>
                  <p:cNvSpPr/>
                  <p:nvPr/>
                </p:nvSpPr>
                <p:spPr>
                  <a:xfrm>
                    <a:off x="2576090" y="8532574"/>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77" name="テキスト ボックス 76">
                    <a:extLst>
                      <a:ext uri="{FF2B5EF4-FFF2-40B4-BE49-F238E27FC236}">
                        <a16:creationId xmlns:a16="http://schemas.microsoft.com/office/drawing/2014/main" id="{BAFFE0E9-D138-E743-9337-83D227060B17}"/>
                      </a:ext>
                    </a:extLst>
                  </p:cNvPr>
                  <p:cNvSpPr txBox="1"/>
                  <p:nvPr/>
                </p:nvSpPr>
                <p:spPr>
                  <a:xfrm>
                    <a:off x="2143691" y="9831546"/>
                    <a:ext cx="2057400" cy="648221"/>
                  </a:xfrm>
                  <a:prstGeom prst="rect">
                    <a:avLst/>
                  </a:prstGeom>
                  <a:noFill/>
                </p:spPr>
                <p:txBody>
                  <a:bodyPr wrap="square" rtlCol="0">
                    <a:spAutoFit/>
                  </a:bodyPr>
                  <a:lstStyle/>
                  <a:p>
                    <a:pPr algn="ctr"/>
                    <a:r>
                      <a:rPr kumimoji="1" lang="en-US" altLang="ja-JP" dirty="0"/>
                      <a:t>angry</a:t>
                    </a:r>
                    <a:endParaRPr kumimoji="1" lang="ja-JP" altLang="en-US"/>
                  </a:p>
                </p:txBody>
              </p:sp>
            </p:grpSp>
            <p:grpSp>
              <p:nvGrpSpPr>
                <p:cNvPr id="60" name="グループ化 59">
                  <a:extLst>
                    <a:ext uri="{FF2B5EF4-FFF2-40B4-BE49-F238E27FC236}">
                      <a16:creationId xmlns:a16="http://schemas.microsoft.com/office/drawing/2014/main" id="{226C91A1-C8D1-264F-A587-4321DCCE72B2}"/>
                    </a:ext>
                  </a:extLst>
                </p:cNvPr>
                <p:cNvGrpSpPr/>
                <p:nvPr/>
              </p:nvGrpSpPr>
              <p:grpSpPr>
                <a:xfrm>
                  <a:off x="5558646" y="8532574"/>
                  <a:ext cx="2057400" cy="1947192"/>
                  <a:chOff x="5558646" y="8532574"/>
                  <a:chExt cx="2057400" cy="1947192"/>
                </a:xfrm>
              </p:grpSpPr>
              <p:sp>
                <p:nvSpPr>
                  <p:cNvPr id="74" name="スマイル 73">
                    <a:extLst>
                      <a:ext uri="{FF2B5EF4-FFF2-40B4-BE49-F238E27FC236}">
                        <a16:creationId xmlns:a16="http://schemas.microsoft.com/office/drawing/2014/main" id="{82DF510F-97A7-E944-A3F6-54E4DD89A149}"/>
                      </a:ext>
                    </a:extLst>
                  </p:cNvPr>
                  <p:cNvSpPr/>
                  <p:nvPr/>
                </p:nvSpPr>
                <p:spPr>
                  <a:xfrm>
                    <a:off x="5991045" y="8532574"/>
                    <a:ext cx="1192602" cy="1104181"/>
                  </a:xfrm>
                  <a:prstGeom prst="smileyFace">
                    <a:avLst>
                      <a:gd name="adj" fmla="val -3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75" name="テキスト ボックス 74">
                    <a:extLst>
                      <a:ext uri="{FF2B5EF4-FFF2-40B4-BE49-F238E27FC236}">
                        <a16:creationId xmlns:a16="http://schemas.microsoft.com/office/drawing/2014/main" id="{A4D6CF7C-926F-FE40-A8C3-652567FCFA70}"/>
                      </a:ext>
                    </a:extLst>
                  </p:cNvPr>
                  <p:cNvSpPr txBox="1"/>
                  <p:nvPr/>
                </p:nvSpPr>
                <p:spPr>
                  <a:xfrm>
                    <a:off x="5558646" y="9831545"/>
                    <a:ext cx="2057400" cy="648221"/>
                  </a:xfrm>
                  <a:prstGeom prst="rect">
                    <a:avLst/>
                  </a:prstGeom>
                  <a:noFill/>
                </p:spPr>
                <p:txBody>
                  <a:bodyPr wrap="square" rtlCol="0">
                    <a:spAutoFit/>
                  </a:bodyPr>
                  <a:lstStyle/>
                  <a:p>
                    <a:pPr algn="ctr"/>
                    <a:r>
                      <a:rPr lang="en-US" altLang="ja-JP" dirty="0"/>
                      <a:t>neutral</a:t>
                    </a:r>
                    <a:endParaRPr kumimoji="1" lang="ja-JP" altLang="en-US"/>
                  </a:p>
                </p:txBody>
              </p:sp>
            </p:grpSp>
            <p:grpSp>
              <p:nvGrpSpPr>
                <p:cNvPr id="71" name="グループ化 70">
                  <a:extLst>
                    <a:ext uri="{FF2B5EF4-FFF2-40B4-BE49-F238E27FC236}">
                      <a16:creationId xmlns:a16="http://schemas.microsoft.com/office/drawing/2014/main" id="{3EF42AEF-C143-254A-BB39-AE142D069F95}"/>
                    </a:ext>
                  </a:extLst>
                </p:cNvPr>
                <p:cNvGrpSpPr/>
                <p:nvPr/>
              </p:nvGrpSpPr>
              <p:grpSpPr>
                <a:xfrm>
                  <a:off x="9138567" y="8532573"/>
                  <a:ext cx="2057400" cy="1947192"/>
                  <a:chOff x="9138567" y="8532573"/>
                  <a:chExt cx="2057400" cy="1947192"/>
                </a:xfrm>
              </p:grpSpPr>
              <p:sp>
                <p:nvSpPr>
                  <p:cNvPr id="72" name="スマイル 71">
                    <a:extLst>
                      <a:ext uri="{FF2B5EF4-FFF2-40B4-BE49-F238E27FC236}">
                        <a16:creationId xmlns:a16="http://schemas.microsoft.com/office/drawing/2014/main" id="{8F7030EA-165F-674C-B929-7BB39E8A394F}"/>
                      </a:ext>
                    </a:extLst>
                  </p:cNvPr>
                  <p:cNvSpPr/>
                  <p:nvPr/>
                </p:nvSpPr>
                <p:spPr>
                  <a:xfrm>
                    <a:off x="9570966" y="8532573"/>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73" name="テキスト ボックス 72">
                    <a:extLst>
                      <a:ext uri="{FF2B5EF4-FFF2-40B4-BE49-F238E27FC236}">
                        <a16:creationId xmlns:a16="http://schemas.microsoft.com/office/drawing/2014/main" id="{32D835FA-13BC-0A46-BAFF-501A5BAE03F0}"/>
                      </a:ext>
                    </a:extLst>
                  </p:cNvPr>
                  <p:cNvSpPr txBox="1"/>
                  <p:nvPr/>
                </p:nvSpPr>
                <p:spPr>
                  <a:xfrm>
                    <a:off x="9138567" y="9831544"/>
                    <a:ext cx="2057400" cy="648221"/>
                  </a:xfrm>
                  <a:prstGeom prst="rect">
                    <a:avLst/>
                  </a:prstGeom>
                  <a:noFill/>
                </p:spPr>
                <p:txBody>
                  <a:bodyPr wrap="square" rtlCol="0">
                    <a:spAutoFit/>
                  </a:bodyPr>
                  <a:lstStyle/>
                  <a:p>
                    <a:pPr algn="ctr"/>
                    <a:r>
                      <a:rPr kumimoji="1" lang="en-US" altLang="ja-JP" dirty="0"/>
                      <a:t>happy</a:t>
                    </a:r>
                    <a:endParaRPr kumimoji="1" lang="ja-JP" altLang="en-US"/>
                  </a:p>
                </p:txBody>
              </p:sp>
            </p:grpSp>
          </p:grpSp>
          <p:sp>
            <p:nvSpPr>
              <p:cNvPr id="55" name="右矢印 54">
                <a:extLst>
                  <a:ext uri="{FF2B5EF4-FFF2-40B4-BE49-F238E27FC236}">
                    <a16:creationId xmlns:a16="http://schemas.microsoft.com/office/drawing/2014/main" id="{307B3658-0979-1C4B-A0F9-E586185E5A29}"/>
                  </a:ext>
                </a:extLst>
              </p:cNvPr>
              <p:cNvSpPr/>
              <p:nvPr/>
            </p:nvSpPr>
            <p:spPr>
              <a:xfrm flipH="1">
                <a:off x="4535378" y="10563435"/>
                <a:ext cx="9217241" cy="78595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6" name="テキスト ボックス 55">
                <a:extLst>
                  <a:ext uri="{FF2B5EF4-FFF2-40B4-BE49-F238E27FC236}">
                    <a16:creationId xmlns:a16="http://schemas.microsoft.com/office/drawing/2014/main" id="{644F1DBF-AB40-2344-AD9D-89CEEA11A1C5}"/>
                  </a:ext>
                </a:extLst>
              </p:cNvPr>
              <p:cNvSpPr txBox="1"/>
              <p:nvPr/>
            </p:nvSpPr>
            <p:spPr>
              <a:xfrm>
                <a:off x="3506678" y="11332091"/>
                <a:ext cx="2057400" cy="648221"/>
              </a:xfrm>
              <a:prstGeom prst="rect">
                <a:avLst/>
              </a:prstGeom>
              <a:noFill/>
            </p:spPr>
            <p:txBody>
              <a:bodyPr wrap="square" rtlCol="0">
                <a:spAutoFit/>
              </a:bodyPr>
              <a:lstStyle/>
              <a:p>
                <a:pPr algn="ctr"/>
                <a:r>
                  <a:rPr lang="ja-JP" altLang="en-US"/>
                  <a:t>大</a:t>
                </a:r>
                <a:endParaRPr kumimoji="1" lang="ja-JP" altLang="en-US"/>
              </a:p>
            </p:txBody>
          </p:sp>
          <p:sp>
            <p:nvSpPr>
              <p:cNvPr id="57" name="テキスト ボックス 56">
                <a:extLst>
                  <a:ext uri="{FF2B5EF4-FFF2-40B4-BE49-F238E27FC236}">
                    <a16:creationId xmlns:a16="http://schemas.microsoft.com/office/drawing/2014/main" id="{EB3E4FA0-4887-B74A-A235-E240613E3D89}"/>
                  </a:ext>
                </a:extLst>
              </p:cNvPr>
              <p:cNvSpPr txBox="1"/>
              <p:nvPr/>
            </p:nvSpPr>
            <p:spPr>
              <a:xfrm>
                <a:off x="12647805" y="11332091"/>
                <a:ext cx="2057400" cy="648221"/>
              </a:xfrm>
              <a:prstGeom prst="rect">
                <a:avLst/>
              </a:prstGeom>
              <a:noFill/>
            </p:spPr>
            <p:txBody>
              <a:bodyPr wrap="square" rtlCol="0">
                <a:spAutoFit/>
              </a:bodyPr>
              <a:lstStyle/>
              <a:p>
                <a:pPr algn="ctr"/>
                <a:r>
                  <a:rPr kumimoji="1" lang="ja-JP" altLang="en-US"/>
                  <a:t>小</a:t>
                </a:r>
              </a:p>
            </p:txBody>
          </p:sp>
          <p:sp>
            <p:nvSpPr>
              <p:cNvPr id="58" name="テキスト ボックス 57">
                <a:extLst>
                  <a:ext uri="{FF2B5EF4-FFF2-40B4-BE49-F238E27FC236}">
                    <a16:creationId xmlns:a16="http://schemas.microsoft.com/office/drawing/2014/main" id="{ED129EAA-6074-8140-935A-953A7F53456B}"/>
                  </a:ext>
                </a:extLst>
              </p:cNvPr>
              <p:cNvSpPr txBox="1"/>
              <p:nvPr/>
            </p:nvSpPr>
            <p:spPr>
              <a:xfrm>
                <a:off x="6718380" y="11292797"/>
                <a:ext cx="4851241" cy="707886"/>
              </a:xfrm>
              <a:prstGeom prst="rect">
                <a:avLst/>
              </a:prstGeom>
              <a:noFill/>
            </p:spPr>
            <p:txBody>
              <a:bodyPr wrap="square" rtlCol="0">
                <a:spAutoFit/>
              </a:bodyPr>
              <a:lstStyle/>
              <a:p>
                <a:pPr algn="ctr"/>
                <a:r>
                  <a:rPr kumimoji="1" lang="en-US" altLang="ja-JP" sz="4000" dirty="0"/>
                  <a:t>demand difference</a:t>
                </a:r>
                <a:endParaRPr kumimoji="1" lang="ja-JP" altLang="en-US" sz="4000"/>
              </a:p>
            </p:txBody>
          </p:sp>
        </p:grpSp>
        <p:sp>
          <p:nvSpPr>
            <p:cNvPr id="7" name="角丸四角形吹き出し 6">
              <a:extLst>
                <a:ext uri="{FF2B5EF4-FFF2-40B4-BE49-F238E27FC236}">
                  <a16:creationId xmlns:a16="http://schemas.microsoft.com/office/drawing/2014/main" id="{427C2687-A324-F24E-94F1-399096AC0EF2}"/>
                </a:ext>
              </a:extLst>
            </p:cNvPr>
            <p:cNvSpPr/>
            <p:nvPr/>
          </p:nvSpPr>
          <p:spPr>
            <a:xfrm>
              <a:off x="571049" y="7433818"/>
              <a:ext cx="4294249" cy="1639019"/>
            </a:xfrm>
            <a:prstGeom prst="wedgeRoundRectCallout">
              <a:avLst>
                <a:gd name="adj1" fmla="val 56557"/>
                <a:gd name="adj2" fmla="val 4358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交渉が決裂する</a:t>
              </a:r>
              <a:endParaRPr kumimoji="1" lang="en-US" altLang="ja-JP" dirty="0">
                <a:solidFill>
                  <a:schemeClr val="bg2"/>
                </a:solidFill>
              </a:endParaRPr>
            </a:p>
            <a:p>
              <a:pPr algn="ctr"/>
              <a:r>
                <a:rPr kumimoji="1" lang="ja-JP" altLang="en-US">
                  <a:solidFill>
                    <a:schemeClr val="bg2"/>
                  </a:solidFill>
                </a:rPr>
                <a:t>可能性がある</a:t>
              </a:r>
            </a:p>
          </p:txBody>
        </p:sp>
        <p:sp>
          <p:nvSpPr>
            <p:cNvPr id="78" name="角丸四角形吹き出し 77">
              <a:extLst>
                <a:ext uri="{FF2B5EF4-FFF2-40B4-BE49-F238E27FC236}">
                  <a16:creationId xmlns:a16="http://schemas.microsoft.com/office/drawing/2014/main" id="{AE0A3C38-5E48-EE48-80B2-47760EEE4489}"/>
                </a:ext>
              </a:extLst>
            </p:cNvPr>
            <p:cNvSpPr/>
            <p:nvPr/>
          </p:nvSpPr>
          <p:spPr>
            <a:xfrm>
              <a:off x="13550579" y="7433817"/>
              <a:ext cx="4294249" cy="1639019"/>
            </a:xfrm>
            <a:prstGeom prst="wedgeRoundRectCallout">
              <a:avLst>
                <a:gd name="adj1" fmla="val -56318"/>
                <a:gd name="adj2" fmla="val 45197"/>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譲歩しなくても</a:t>
              </a:r>
              <a:endParaRPr kumimoji="1" lang="en-US" altLang="ja-JP" dirty="0">
                <a:solidFill>
                  <a:schemeClr val="bg2"/>
                </a:solidFill>
              </a:endParaRPr>
            </a:p>
            <a:p>
              <a:pPr algn="ctr"/>
              <a:r>
                <a:rPr kumimoji="1" lang="ja-JP" altLang="en-US">
                  <a:solidFill>
                    <a:schemeClr val="bg2"/>
                  </a:solidFill>
                </a:rPr>
                <a:t>交渉が成立</a:t>
              </a:r>
            </a:p>
          </p:txBody>
        </p:sp>
      </p:grpSp>
      <p:sp>
        <p:nvSpPr>
          <p:cNvPr id="79" name="三角形 78">
            <a:extLst>
              <a:ext uri="{FF2B5EF4-FFF2-40B4-BE49-F238E27FC236}">
                <a16:creationId xmlns:a16="http://schemas.microsoft.com/office/drawing/2014/main" id="{E0F60DAD-5B9C-934E-AF78-47C116E279F3}"/>
              </a:ext>
            </a:extLst>
          </p:cNvPr>
          <p:cNvSpPr/>
          <p:nvPr/>
        </p:nvSpPr>
        <p:spPr>
          <a:xfrm rot="5400000">
            <a:off x="1076238" y="57582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0" name="テキスト プレースホルダー 29">
            <a:extLst>
              <a:ext uri="{FF2B5EF4-FFF2-40B4-BE49-F238E27FC236}">
                <a16:creationId xmlns:a16="http://schemas.microsoft.com/office/drawing/2014/main" id="{98ADA220-722F-9446-9572-CDAD184E2AB1}"/>
              </a:ext>
            </a:extLst>
          </p:cNvPr>
          <p:cNvSpPr txBox="1">
            <a:spLocks/>
          </p:cNvSpPr>
          <p:nvPr/>
        </p:nvSpPr>
        <p:spPr>
          <a:xfrm>
            <a:off x="1568600" y="56429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適切な感情を提示することで協調を促進</a:t>
            </a:r>
          </a:p>
        </p:txBody>
      </p:sp>
    </p:spTree>
    <p:extLst>
      <p:ext uri="{BB962C8B-B14F-4D97-AF65-F5344CB8AC3E}">
        <p14:creationId xmlns:p14="http://schemas.microsoft.com/office/powerpoint/2010/main" val="6122624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4</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a:t>考察</a:t>
            </a:r>
          </a:p>
        </p:txBody>
      </p:sp>
      <p:grpSp>
        <p:nvGrpSpPr>
          <p:cNvPr id="35" name="グループ化 34">
            <a:extLst>
              <a:ext uri="{FF2B5EF4-FFF2-40B4-BE49-F238E27FC236}">
                <a16:creationId xmlns:a16="http://schemas.microsoft.com/office/drawing/2014/main" id="{AB16B722-0D46-E24D-A20E-09138FE8C8EC}"/>
              </a:ext>
            </a:extLst>
          </p:cNvPr>
          <p:cNvGrpSpPr/>
          <p:nvPr/>
        </p:nvGrpSpPr>
        <p:grpSpPr>
          <a:xfrm>
            <a:off x="289330" y="1413298"/>
            <a:ext cx="2160000" cy="934436"/>
            <a:chOff x="144665" y="525617"/>
            <a:chExt cx="1080000" cy="467218"/>
          </a:xfrm>
        </p:grpSpPr>
        <p:sp>
          <p:nvSpPr>
            <p:cNvPr id="36" name="正方形/長方形 35">
              <a:extLst>
                <a:ext uri="{FF2B5EF4-FFF2-40B4-BE49-F238E27FC236}">
                  <a16:creationId xmlns:a16="http://schemas.microsoft.com/office/drawing/2014/main" id="{C7BE27B8-E1BF-9849-910A-12ED6A6A722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7" name="正方形/長方形 36">
              <a:extLst>
                <a:ext uri="{FF2B5EF4-FFF2-40B4-BE49-F238E27FC236}">
                  <a16:creationId xmlns:a16="http://schemas.microsoft.com/office/drawing/2014/main" id="{B03DE4C5-552F-0F48-848B-8D93953E79F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8" name="グループ化 37">
            <a:extLst>
              <a:ext uri="{FF2B5EF4-FFF2-40B4-BE49-F238E27FC236}">
                <a16:creationId xmlns:a16="http://schemas.microsoft.com/office/drawing/2014/main" id="{BE56D25C-2BDE-D141-A6FF-3FEFE5C206FA}"/>
              </a:ext>
            </a:extLst>
          </p:cNvPr>
          <p:cNvGrpSpPr/>
          <p:nvPr/>
        </p:nvGrpSpPr>
        <p:grpSpPr>
          <a:xfrm>
            <a:off x="617232" y="2557358"/>
            <a:ext cx="539448" cy="487368"/>
            <a:chOff x="400056" y="1061560"/>
            <a:chExt cx="269724" cy="243684"/>
          </a:xfrm>
        </p:grpSpPr>
        <p:sp>
          <p:nvSpPr>
            <p:cNvPr id="39" name="三角形 38">
              <a:extLst>
                <a:ext uri="{FF2B5EF4-FFF2-40B4-BE49-F238E27FC236}">
                  <a16:creationId xmlns:a16="http://schemas.microsoft.com/office/drawing/2014/main" id="{9DCCDE8C-2311-AC41-ACDE-9EFB630D2F9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三角形 39">
              <a:extLst>
                <a:ext uri="{FF2B5EF4-FFF2-40B4-BE49-F238E27FC236}">
                  <a16:creationId xmlns:a16="http://schemas.microsoft.com/office/drawing/2014/main" id="{D1745660-D13A-3944-B628-BBE9244F345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2" name="テキスト プレースホルダー 27">
            <a:extLst>
              <a:ext uri="{FF2B5EF4-FFF2-40B4-BE49-F238E27FC236}">
                <a16:creationId xmlns:a16="http://schemas.microsoft.com/office/drawing/2014/main" id="{60406625-1823-E442-A2FE-03577DEEB756}"/>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非言語情報は感情表現を増大・減少させる</a:t>
            </a:r>
            <a:endParaRPr lang="en-US" altLang="ja-JP" dirty="0"/>
          </a:p>
        </p:txBody>
      </p:sp>
      <p:sp>
        <p:nvSpPr>
          <p:cNvPr id="46" name="テキスト プレースホルダー 30">
            <a:extLst>
              <a:ext uri="{FF2B5EF4-FFF2-40B4-BE49-F238E27FC236}">
                <a16:creationId xmlns:a16="http://schemas.microsoft.com/office/drawing/2014/main" id="{D1E20380-EE69-3645-903D-57F695254A5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今後の展望</a:t>
            </a:r>
          </a:p>
        </p:txBody>
      </p:sp>
      <p:grpSp>
        <p:nvGrpSpPr>
          <p:cNvPr id="47" name="グループ化 46">
            <a:extLst>
              <a:ext uri="{FF2B5EF4-FFF2-40B4-BE49-F238E27FC236}">
                <a16:creationId xmlns:a16="http://schemas.microsoft.com/office/drawing/2014/main" id="{78A596D3-83E3-BB41-8333-BA7BF317A908}"/>
              </a:ext>
            </a:extLst>
          </p:cNvPr>
          <p:cNvGrpSpPr/>
          <p:nvPr/>
        </p:nvGrpSpPr>
        <p:grpSpPr>
          <a:xfrm>
            <a:off x="617232" y="3402458"/>
            <a:ext cx="539448" cy="487368"/>
            <a:chOff x="400056" y="1061560"/>
            <a:chExt cx="269724" cy="243684"/>
          </a:xfrm>
        </p:grpSpPr>
        <p:sp>
          <p:nvSpPr>
            <p:cNvPr id="48" name="三角形 47">
              <a:extLst>
                <a:ext uri="{FF2B5EF4-FFF2-40B4-BE49-F238E27FC236}">
                  <a16:creationId xmlns:a16="http://schemas.microsoft.com/office/drawing/2014/main" id="{CFA68BDC-54FD-9144-B77A-C7F1BBA50E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063E9992-2E21-DD49-B346-92BA79701EF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0" name="テキスト プレースホルダー 27">
            <a:extLst>
              <a:ext uri="{FF2B5EF4-FFF2-40B4-BE49-F238E27FC236}">
                <a16:creationId xmlns:a16="http://schemas.microsoft.com/office/drawing/2014/main" id="{9D012A2F-C6FE-3C41-B764-C744DB967018}"/>
              </a:ext>
            </a:extLst>
          </p:cNvPr>
          <p:cNvSpPr txBox="1">
            <a:spLocks/>
          </p:cNvSpPr>
          <p:nvPr/>
        </p:nvSpPr>
        <p:spPr>
          <a:xfrm>
            <a:off x="1254486" y="33298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非言語情報は無意識的に発生する傾向がある</a:t>
            </a:r>
            <a:endParaRPr lang="en-US" altLang="ja-JP" dirty="0"/>
          </a:p>
        </p:txBody>
      </p:sp>
      <p:sp>
        <p:nvSpPr>
          <p:cNvPr id="61" name="三角形 60">
            <a:extLst>
              <a:ext uri="{FF2B5EF4-FFF2-40B4-BE49-F238E27FC236}">
                <a16:creationId xmlns:a16="http://schemas.microsoft.com/office/drawing/2014/main" id="{45E85650-C524-714D-BCF4-91E2BA04FBD8}"/>
              </a:ext>
            </a:extLst>
          </p:cNvPr>
          <p:cNvSpPr/>
          <p:nvPr/>
        </p:nvSpPr>
        <p:spPr>
          <a:xfrm rot="5400000">
            <a:off x="1076238" y="42245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0259F2F3-2A02-894C-8A4A-414B6B3B8C19}"/>
              </a:ext>
            </a:extLst>
          </p:cNvPr>
          <p:cNvSpPr txBox="1">
            <a:spLocks/>
          </p:cNvSpPr>
          <p:nvPr/>
        </p:nvSpPr>
        <p:spPr>
          <a:xfrm>
            <a:off x="1568600" y="41092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言語情報は意識的に発生</a:t>
            </a:r>
          </a:p>
        </p:txBody>
      </p:sp>
      <p:sp>
        <p:nvSpPr>
          <p:cNvPr id="85" name="三角形 84">
            <a:extLst>
              <a:ext uri="{FF2B5EF4-FFF2-40B4-BE49-F238E27FC236}">
                <a16:creationId xmlns:a16="http://schemas.microsoft.com/office/drawing/2014/main" id="{D5372EEC-A12E-9C42-BA47-3FAFAF210858}"/>
              </a:ext>
            </a:extLst>
          </p:cNvPr>
          <p:cNvSpPr/>
          <p:nvPr/>
        </p:nvSpPr>
        <p:spPr>
          <a:xfrm rot="5400000">
            <a:off x="1076238" y="497613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733A6D2A-0A32-6C49-81E4-ABA395E2E4D6}"/>
              </a:ext>
            </a:extLst>
          </p:cNvPr>
          <p:cNvSpPr txBox="1">
            <a:spLocks/>
          </p:cNvSpPr>
          <p:nvPr/>
        </p:nvSpPr>
        <p:spPr>
          <a:xfrm>
            <a:off x="1568600" y="486086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非言語情報は信頼を得るための重要な役割を担う</a:t>
            </a:r>
          </a:p>
        </p:txBody>
      </p:sp>
      <p:sp>
        <p:nvSpPr>
          <p:cNvPr id="88" name="右矢印 87">
            <a:extLst>
              <a:ext uri="{FF2B5EF4-FFF2-40B4-BE49-F238E27FC236}">
                <a16:creationId xmlns:a16="http://schemas.microsoft.com/office/drawing/2014/main" id="{B2726149-731B-4241-8CC2-43028B60AB91}"/>
              </a:ext>
            </a:extLst>
          </p:cNvPr>
          <p:cNvSpPr/>
          <p:nvPr/>
        </p:nvSpPr>
        <p:spPr>
          <a:xfrm rot="5400000">
            <a:off x="8806581" y="5472839"/>
            <a:ext cx="674837" cy="173477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89" name="テキスト ボックス 88">
            <a:extLst>
              <a:ext uri="{FF2B5EF4-FFF2-40B4-BE49-F238E27FC236}">
                <a16:creationId xmlns:a16="http://schemas.microsoft.com/office/drawing/2014/main" id="{DF2C7423-B68F-474A-8821-485C8D836D1F}"/>
              </a:ext>
            </a:extLst>
          </p:cNvPr>
          <p:cNvSpPr txBox="1"/>
          <p:nvPr/>
        </p:nvSpPr>
        <p:spPr>
          <a:xfrm>
            <a:off x="797127" y="7185472"/>
            <a:ext cx="16693747" cy="1446550"/>
          </a:xfrm>
          <a:prstGeom prst="rect">
            <a:avLst/>
          </a:prstGeom>
          <a:noFill/>
        </p:spPr>
        <p:txBody>
          <a:bodyPr wrap="square" rtlCol="0">
            <a:spAutoFit/>
          </a:bodyPr>
          <a:lstStyle/>
          <a:p>
            <a:pPr algn="ctr"/>
            <a:r>
              <a:rPr lang="ja-JP" altLang="en-US" sz="4400">
                <a:solidFill>
                  <a:schemeClr val="accent2"/>
                </a:solidFill>
              </a:rPr>
              <a:t>言語・非言語の感情表現が交渉でどのような効果を及ぼすか</a:t>
            </a:r>
            <a:endParaRPr lang="en-US" altLang="ja-JP" sz="4400" dirty="0">
              <a:solidFill>
                <a:schemeClr val="accent2"/>
              </a:solidFill>
            </a:endParaRPr>
          </a:p>
          <a:p>
            <a:pPr algn="ctr"/>
            <a:r>
              <a:rPr lang="ja-JP" altLang="en-US" sz="4400">
                <a:solidFill>
                  <a:schemeClr val="accent2"/>
                </a:solidFill>
              </a:rPr>
              <a:t>さらなる研究が必要</a:t>
            </a:r>
            <a:endParaRPr kumimoji="1" lang="en-US" altLang="ja-JP" sz="4400" dirty="0">
              <a:solidFill>
                <a:schemeClr val="accent2"/>
              </a:solidFill>
            </a:endParaRPr>
          </a:p>
        </p:txBody>
      </p:sp>
    </p:spTree>
    <p:extLst>
      <p:ext uri="{BB962C8B-B14F-4D97-AF65-F5344CB8AC3E}">
        <p14:creationId xmlns:p14="http://schemas.microsoft.com/office/powerpoint/2010/main" val="16683065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4</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a:t>考察</a:t>
            </a:r>
          </a:p>
        </p:txBody>
      </p:sp>
      <p:grpSp>
        <p:nvGrpSpPr>
          <p:cNvPr id="35" name="グループ化 34">
            <a:extLst>
              <a:ext uri="{FF2B5EF4-FFF2-40B4-BE49-F238E27FC236}">
                <a16:creationId xmlns:a16="http://schemas.microsoft.com/office/drawing/2014/main" id="{AB16B722-0D46-E24D-A20E-09138FE8C8EC}"/>
              </a:ext>
            </a:extLst>
          </p:cNvPr>
          <p:cNvGrpSpPr/>
          <p:nvPr/>
        </p:nvGrpSpPr>
        <p:grpSpPr>
          <a:xfrm>
            <a:off x="289330" y="1413298"/>
            <a:ext cx="2160000" cy="934436"/>
            <a:chOff x="144665" y="525617"/>
            <a:chExt cx="1080000" cy="467218"/>
          </a:xfrm>
        </p:grpSpPr>
        <p:sp>
          <p:nvSpPr>
            <p:cNvPr id="36" name="正方形/長方形 35">
              <a:extLst>
                <a:ext uri="{FF2B5EF4-FFF2-40B4-BE49-F238E27FC236}">
                  <a16:creationId xmlns:a16="http://schemas.microsoft.com/office/drawing/2014/main" id="{C7BE27B8-E1BF-9849-910A-12ED6A6A722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7" name="正方形/長方形 36">
              <a:extLst>
                <a:ext uri="{FF2B5EF4-FFF2-40B4-BE49-F238E27FC236}">
                  <a16:creationId xmlns:a16="http://schemas.microsoft.com/office/drawing/2014/main" id="{B03DE4C5-552F-0F48-848B-8D93953E79F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46" name="テキスト プレースホルダー 30">
            <a:extLst>
              <a:ext uri="{FF2B5EF4-FFF2-40B4-BE49-F238E27FC236}">
                <a16:creationId xmlns:a16="http://schemas.microsoft.com/office/drawing/2014/main" id="{D1E20380-EE69-3645-903D-57F695254A5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今後の展望</a:t>
            </a:r>
          </a:p>
        </p:txBody>
      </p:sp>
      <p:grpSp>
        <p:nvGrpSpPr>
          <p:cNvPr id="44" name="グループ化 43">
            <a:extLst>
              <a:ext uri="{FF2B5EF4-FFF2-40B4-BE49-F238E27FC236}">
                <a16:creationId xmlns:a16="http://schemas.microsoft.com/office/drawing/2014/main" id="{B340531D-7A0A-AF44-9528-8ABE96A661D4}"/>
              </a:ext>
            </a:extLst>
          </p:cNvPr>
          <p:cNvGrpSpPr/>
          <p:nvPr/>
        </p:nvGrpSpPr>
        <p:grpSpPr>
          <a:xfrm>
            <a:off x="617232" y="2557358"/>
            <a:ext cx="539448" cy="487368"/>
            <a:chOff x="400056" y="1061560"/>
            <a:chExt cx="269724" cy="243684"/>
          </a:xfrm>
        </p:grpSpPr>
        <p:sp>
          <p:nvSpPr>
            <p:cNvPr id="45" name="三角形 44">
              <a:extLst>
                <a:ext uri="{FF2B5EF4-FFF2-40B4-BE49-F238E27FC236}">
                  <a16:creationId xmlns:a16="http://schemas.microsoft.com/office/drawing/2014/main" id="{E89A58E3-C66F-9C42-BD08-EF42D216C74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三角形 50">
              <a:extLst>
                <a:ext uri="{FF2B5EF4-FFF2-40B4-BE49-F238E27FC236}">
                  <a16:creationId xmlns:a16="http://schemas.microsoft.com/office/drawing/2014/main" id="{98334894-80B2-FD43-9907-8497AD77678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2" name="テキスト プレースホルダー 27">
            <a:extLst>
              <a:ext uri="{FF2B5EF4-FFF2-40B4-BE49-F238E27FC236}">
                <a16:creationId xmlns:a16="http://schemas.microsoft.com/office/drawing/2014/main" id="{B8C15C33-5A32-714E-9A9F-F3D3D67A2AAE}"/>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怒り・喜び以外の感情が交渉に影響を及ぼすか</a:t>
            </a:r>
            <a:endParaRPr lang="en-US" altLang="ja-JP" dirty="0"/>
          </a:p>
        </p:txBody>
      </p:sp>
      <p:sp>
        <p:nvSpPr>
          <p:cNvPr id="53" name="右矢印 52">
            <a:extLst>
              <a:ext uri="{FF2B5EF4-FFF2-40B4-BE49-F238E27FC236}">
                <a16:creationId xmlns:a16="http://schemas.microsoft.com/office/drawing/2014/main" id="{859D4D0E-9111-D847-8CF8-AB67C5A4970E}"/>
              </a:ext>
            </a:extLst>
          </p:cNvPr>
          <p:cNvSpPr/>
          <p:nvPr/>
        </p:nvSpPr>
        <p:spPr>
          <a:xfrm rot="5400000">
            <a:off x="8806581" y="3909992"/>
            <a:ext cx="674837" cy="173477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4" name="テキスト ボックス 53">
            <a:extLst>
              <a:ext uri="{FF2B5EF4-FFF2-40B4-BE49-F238E27FC236}">
                <a16:creationId xmlns:a16="http://schemas.microsoft.com/office/drawing/2014/main" id="{795976B5-5051-C44E-8E91-697D3D382244}"/>
              </a:ext>
            </a:extLst>
          </p:cNvPr>
          <p:cNvSpPr txBox="1"/>
          <p:nvPr/>
        </p:nvSpPr>
        <p:spPr>
          <a:xfrm>
            <a:off x="797127" y="5622625"/>
            <a:ext cx="16693747" cy="769441"/>
          </a:xfrm>
          <a:prstGeom prst="rect">
            <a:avLst/>
          </a:prstGeom>
          <a:noFill/>
        </p:spPr>
        <p:txBody>
          <a:bodyPr wrap="square" rtlCol="0">
            <a:spAutoFit/>
          </a:bodyPr>
          <a:lstStyle/>
          <a:p>
            <a:pPr algn="ctr"/>
            <a:r>
              <a:rPr lang="ja-JP" altLang="en-US" sz="4400">
                <a:solidFill>
                  <a:schemeClr val="accent2"/>
                </a:solidFill>
              </a:rPr>
              <a:t>様々な感情が交渉にどのような効果を与えるか研究が必要</a:t>
            </a:r>
            <a:endParaRPr kumimoji="1" lang="en-US" altLang="ja-JP" sz="4400" dirty="0">
              <a:solidFill>
                <a:schemeClr val="accent2"/>
              </a:solidFill>
            </a:endParaRPr>
          </a:p>
        </p:txBody>
      </p:sp>
      <p:sp>
        <p:nvSpPr>
          <p:cNvPr id="55" name="三角形 54">
            <a:extLst>
              <a:ext uri="{FF2B5EF4-FFF2-40B4-BE49-F238E27FC236}">
                <a16:creationId xmlns:a16="http://schemas.microsoft.com/office/drawing/2014/main" id="{22CE9083-1DFF-2347-B055-F6C57DBED4C4}"/>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09C4CF51-2CEC-1745-8885-78294B54F550}"/>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嘆願・妥協を行う相手では譲歩する度合いが異なる</a:t>
            </a:r>
          </a:p>
        </p:txBody>
      </p:sp>
      <p:grpSp>
        <p:nvGrpSpPr>
          <p:cNvPr id="57" name="グループ化 56">
            <a:extLst>
              <a:ext uri="{FF2B5EF4-FFF2-40B4-BE49-F238E27FC236}">
                <a16:creationId xmlns:a16="http://schemas.microsoft.com/office/drawing/2014/main" id="{462714CF-CC58-0F43-A9E4-9D8BDFFE1C74}"/>
              </a:ext>
            </a:extLst>
          </p:cNvPr>
          <p:cNvGrpSpPr/>
          <p:nvPr/>
        </p:nvGrpSpPr>
        <p:grpSpPr>
          <a:xfrm>
            <a:off x="617232" y="7099657"/>
            <a:ext cx="539448" cy="487368"/>
            <a:chOff x="400056" y="1061560"/>
            <a:chExt cx="269724" cy="243684"/>
          </a:xfrm>
        </p:grpSpPr>
        <p:sp>
          <p:nvSpPr>
            <p:cNvPr id="58" name="三角形 57">
              <a:extLst>
                <a:ext uri="{FF2B5EF4-FFF2-40B4-BE49-F238E27FC236}">
                  <a16:creationId xmlns:a16="http://schemas.microsoft.com/office/drawing/2014/main" id="{424D98D7-DE20-A44D-91D1-DE8F8B1A1C2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三角形 58">
              <a:extLst>
                <a:ext uri="{FF2B5EF4-FFF2-40B4-BE49-F238E27FC236}">
                  <a16:creationId xmlns:a16="http://schemas.microsoft.com/office/drawing/2014/main" id="{476528A0-14F5-CF42-BEC5-90BC4B6365F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0" name="テキスト プレースホルダー 27">
            <a:extLst>
              <a:ext uri="{FF2B5EF4-FFF2-40B4-BE49-F238E27FC236}">
                <a16:creationId xmlns:a16="http://schemas.microsoft.com/office/drawing/2014/main" id="{74ABE184-2C2D-1B47-A1DE-C0B0D1BD6A5F}"/>
              </a:ext>
            </a:extLst>
          </p:cNvPr>
          <p:cNvSpPr txBox="1">
            <a:spLocks/>
          </p:cNvSpPr>
          <p:nvPr/>
        </p:nvSpPr>
        <p:spPr>
          <a:xfrm>
            <a:off x="1254486" y="702703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再度同じ相手と交渉を行う場合の考慮</a:t>
            </a:r>
            <a:endParaRPr lang="en-US" altLang="ja-JP" dirty="0"/>
          </a:p>
        </p:txBody>
      </p:sp>
      <p:sp>
        <p:nvSpPr>
          <p:cNvPr id="63" name="三角形 62">
            <a:extLst>
              <a:ext uri="{FF2B5EF4-FFF2-40B4-BE49-F238E27FC236}">
                <a16:creationId xmlns:a16="http://schemas.microsoft.com/office/drawing/2014/main" id="{AFFE6A0D-382D-4940-9ED1-A3B3A1EE784B}"/>
              </a:ext>
            </a:extLst>
          </p:cNvPr>
          <p:cNvSpPr/>
          <p:nvPr/>
        </p:nvSpPr>
        <p:spPr>
          <a:xfrm rot="5400000">
            <a:off x="1076238" y="793301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テキスト プレースホルダー 29">
            <a:extLst>
              <a:ext uri="{FF2B5EF4-FFF2-40B4-BE49-F238E27FC236}">
                <a16:creationId xmlns:a16="http://schemas.microsoft.com/office/drawing/2014/main" id="{A46024A8-CA3E-4A46-B940-90AD8824DE7D}"/>
              </a:ext>
            </a:extLst>
          </p:cNvPr>
          <p:cNvSpPr txBox="1">
            <a:spLocks/>
          </p:cNvSpPr>
          <p:nvPr/>
        </p:nvSpPr>
        <p:spPr>
          <a:xfrm>
            <a:off x="1568600" y="781773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実際には同じ相手と再び交渉を行うことがある</a:t>
            </a:r>
          </a:p>
        </p:txBody>
      </p:sp>
      <p:sp>
        <p:nvSpPr>
          <p:cNvPr id="65" name="三角形 64">
            <a:extLst>
              <a:ext uri="{FF2B5EF4-FFF2-40B4-BE49-F238E27FC236}">
                <a16:creationId xmlns:a16="http://schemas.microsoft.com/office/drawing/2014/main" id="{451D053D-1234-B748-AE65-8B58A031A11A}"/>
              </a:ext>
            </a:extLst>
          </p:cNvPr>
          <p:cNvSpPr/>
          <p:nvPr/>
        </p:nvSpPr>
        <p:spPr>
          <a:xfrm rot="5400000">
            <a:off x="1076238" y="872469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6" name="テキスト プレースホルダー 29">
            <a:extLst>
              <a:ext uri="{FF2B5EF4-FFF2-40B4-BE49-F238E27FC236}">
                <a16:creationId xmlns:a16="http://schemas.microsoft.com/office/drawing/2014/main" id="{FFF11173-4F2A-8F4C-92E9-CF93222EF158}"/>
              </a:ext>
            </a:extLst>
          </p:cNvPr>
          <p:cNvSpPr txBox="1">
            <a:spLocks/>
          </p:cNvSpPr>
          <p:nvPr/>
        </p:nvSpPr>
        <p:spPr>
          <a:xfrm>
            <a:off x="1568600" y="860941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良い関係を築くことは交渉を円滑に行うために必要</a:t>
            </a:r>
          </a:p>
        </p:txBody>
      </p:sp>
      <p:sp>
        <p:nvSpPr>
          <p:cNvPr id="67" name="右矢印 66">
            <a:extLst>
              <a:ext uri="{FF2B5EF4-FFF2-40B4-BE49-F238E27FC236}">
                <a16:creationId xmlns:a16="http://schemas.microsoft.com/office/drawing/2014/main" id="{2F9FB26D-9A34-3647-9999-C0D244730948}"/>
              </a:ext>
            </a:extLst>
          </p:cNvPr>
          <p:cNvSpPr/>
          <p:nvPr/>
        </p:nvSpPr>
        <p:spPr>
          <a:xfrm rot="5400000">
            <a:off x="8806580" y="10224271"/>
            <a:ext cx="674837" cy="173477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8" name="テキスト ボックス 67">
            <a:extLst>
              <a:ext uri="{FF2B5EF4-FFF2-40B4-BE49-F238E27FC236}">
                <a16:creationId xmlns:a16="http://schemas.microsoft.com/office/drawing/2014/main" id="{C7CA7237-7E70-7443-8251-0681CB438858}"/>
              </a:ext>
            </a:extLst>
          </p:cNvPr>
          <p:cNvSpPr txBox="1"/>
          <p:nvPr/>
        </p:nvSpPr>
        <p:spPr>
          <a:xfrm>
            <a:off x="797126" y="11936904"/>
            <a:ext cx="16693747" cy="769441"/>
          </a:xfrm>
          <a:prstGeom prst="rect">
            <a:avLst/>
          </a:prstGeom>
          <a:noFill/>
        </p:spPr>
        <p:txBody>
          <a:bodyPr wrap="square" rtlCol="0">
            <a:spAutoFit/>
          </a:bodyPr>
          <a:lstStyle/>
          <a:p>
            <a:pPr algn="ctr"/>
            <a:r>
              <a:rPr lang="ja-JP" altLang="en-US" sz="4400">
                <a:solidFill>
                  <a:schemeClr val="accent2"/>
                </a:solidFill>
              </a:rPr>
              <a:t>感情が長期的に与える影響について研究が必要</a:t>
            </a:r>
            <a:endParaRPr kumimoji="1" lang="en-US" altLang="ja-JP" sz="4400" dirty="0">
              <a:solidFill>
                <a:schemeClr val="accent2"/>
              </a:solidFill>
            </a:endParaRPr>
          </a:p>
        </p:txBody>
      </p:sp>
      <p:sp>
        <p:nvSpPr>
          <p:cNvPr id="69" name="三角形 68">
            <a:extLst>
              <a:ext uri="{FF2B5EF4-FFF2-40B4-BE49-F238E27FC236}">
                <a16:creationId xmlns:a16="http://schemas.microsoft.com/office/drawing/2014/main" id="{F11041A9-1C8E-C84C-809C-1F05F9F1DC52}"/>
              </a:ext>
            </a:extLst>
          </p:cNvPr>
          <p:cNvSpPr/>
          <p:nvPr/>
        </p:nvSpPr>
        <p:spPr>
          <a:xfrm rot="5400000">
            <a:off x="1076238" y="955727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38CE8161-5A2A-2A48-AD03-A444F125651C}"/>
              </a:ext>
            </a:extLst>
          </p:cNvPr>
          <p:cNvSpPr txBox="1">
            <a:spLocks/>
          </p:cNvSpPr>
          <p:nvPr/>
        </p:nvSpPr>
        <p:spPr>
          <a:xfrm>
            <a:off x="1568600" y="944200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前の交渉での印象が次の交渉に影響を与える</a:t>
            </a:r>
          </a:p>
        </p:txBody>
      </p:sp>
    </p:spTree>
    <p:extLst>
      <p:ext uri="{BB962C8B-B14F-4D97-AF65-F5344CB8AC3E}">
        <p14:creationId xmlns:p14="http://schemas.microsoft.com/office/powerpoint/2010/main" val="1148769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D28F015-1019-8346-8D0C-51203339476B}"/>
              </a:ext>
            </a:extLst>
          </p:cNvPr>
          <p:cNvSpPr>
            <a:spLocks noGrp="1"/>
          </p:cNvSpPr>
          <p:nvPr>
            <p:ph type="dt" sz="half" idx="10"/>
          </p:nvPr>
        </p:nvSpPr>
        <p:spPr/>
        <p:txBody>
          <a:bodyPr/>
          <a:lstStyle/>
          <a:p>
            <a:fld id="{BA7AA989-C6B8-3949-9280-88DA60BA6993}"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F1234204-2796-CE4D-835C-01802E28F08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A7CB099E-D01C-124B-BB91-17ED16E2211A}"/>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C6CF3DBA-F416-C94D-A109-3A1E690191A8}"/>
              </a:ext>
            </a:extLst>
          </p:cNvPr>
          <p:cNvSpPr>
            <a:spLocks noGrp="1"/>
          </p:cNvSpPr>
          <p:nvPr>
            <p:ph type="body" sz="quarter" idx="13"/>
          </p:nvPr>
        </p:nvSpPr>
        <p:spPr/>
        <p:txBody>
          <a:bodyPr/>
          <a:lstStyle/>
          <a:p>
            <a:r>
              <a:rPr kumimoji="1" lang="en-US" altLang="ja-JP" dirty="0"/>
              <a:t>5</a:t>
            </a:r>
            <a:endParaRPr kumimoji="1" lang="ja-JP" altLang="en-US"/>
          </a:p>
        </p:txBody>
      </p:sp>
      <p:sp>
        <p:nvSpPr>
          <p:cNvPr id="6" name="テキスト プレースホルダー 5">
            <a:extLst>
              <a:ext uri="{FF2B5EF4-FFF2-40B4-BE49-F238E27FC236}">
                <a16:creationId xmlns:a16="http://schemas.microsoft.com/office/drawing/2014/main" id="{2F642E06-7106-074A-A67D-8FD1D7D4C840}"/>
              </a:ext>
            </a:extLst>
          </p:cNvPr>
          <p:cNvSpPr>
            <a:spLocks noGrp="1"/>
          </p:cNvSpPr>
          <p:nvPr>
            <p:ph type="body" sz="quarter" idx="14"/>
          </p:nvPr>
        </p:nvSpPr>
        <p:spPr/>
        <p:txBody>
          <a:bodyPr/>
          <a:lstStyle/>
          <a:p>
            <a:r>
              <a:rPr lang="ja-JP" altLang="en-US"/>
              <a:t>おわりに</a:t>
            </a:r>
            <a:endParaRPr kumimoji="1" lang="ja-JP" altLang="en-US"/>
          </a:p>
        </p:txBody>
      </p:sp>
      <p:grpSp>
        <p:nvGrpSpPr>
          <p:cNvPr id="7" name="グループ化 6">
            <a:extLst>
              <a:ext uri="{FF2B5EF4-FFF2-40B4-BE49-F238E27FC236}">
                <a16:creationId xmlns:a16="http://schemas.microsoft.com/office/drawing/2014/main" id="{5A6AC9E6-7F70-CF44-8712-6F47C0A918DA}"/>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8041C8F7-C3FC-B542-A05A-B7F48A73B8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2E8D722-9493-F64B-A7F7-8F91CB2FEDF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6DB5DBE-4BC5-C74A-B12C-8D5AE81664DB}"/>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A5744BD-1EFB-454B-A1B2-9E77E4F4CDE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BD25148-E0BB-134D-8D2F-AB5CC18E02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55B815A-2A67-7543-B104-B915E4AE757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324645-7AF6-D147-9F2D-3582DE531431}"/>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0D28A911-1484-0D4C-84FF-8098B1841C7C}"/>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40403F41-47F8-454B-8521-19DA2EA3719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1</a:t>
            </a:r>
            <a:endParaRPr lang="ja-JP" altLang="en-US"/>
          </a:p>
        </p:txBody>
      </p:sp>
    </p:spTree>
    <p:extLst>
      <p:ext uri="{BB962C8B-B14F-4D97-AF65-F5344CB8AC3E}">
        <p14:creationId xmlns:p14="http://schemas.microsoft.com/office/powerpoint/2010/main" val="27612840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Tree>
    <p:extLst>
      <p:ext uri="{BB962C8B-B14F-4D97-AF65-F5344CB8AC3E}">
        <p14:creationId xmlns:p14="http://schemas.microsoft.com/office/powerpoint/2010/main" val="2204332774"/>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3151</TotalTime>
  <Words>2199</Words>
  <Application>Microsoft Macintosh PowerPoint</Application>
  <PresentationFormat>ユーザー設定</PresentationFormat>
  <Paragraphs>383</Paragraphs>
  <Slides>21</Slides>
  <Notes>17</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21</vt:i4>
      </vt:variant>
    </vt:vector>
  </HeadingPairs>
  <TitlesOfParts>
    <vt:vector size="26" baseType="lpstr">
      <vt:lpstr>メイリオ</vt:lpstr>
      <vt:lpstr>游ゴシック</vt:lpstr>
      <vt:lpstr>Arial</vt:lpstr>
      <vt:lpstr>Calibri</vt:lpstr>
      <vt:lpstr>Office テーマ</vt:lpstr>
      <vt:lpstr>文献購読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16.0012</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195</cp:revision>
  <cp:lastPrinted>2018-04-18T08:51:19Z</cp:lastPrinted>
  <dcterms:created xsi:type="dcterms:W3CDTF">2018-04-18T07:57:09Z</dcterms:created>
  <dcterms:modified xsi:type="dcterms:W3CDTF">2018-05-02T10:56:08Z</dcterms:modified>
</cp:coreProperties>
</file>