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21"/>
  </p:notesMasterIdLst>
  <p:sldIdLst>
    <p:sldId id="256" r:id="rId2"/>
    <p:sldId id="268" r:id="rId3"/>
    <p:sldId id="272" r:id="rId4"/>
    <p:sldId id="269" r:id="rId5"/>
    <p:sldId id="278" r:id="rId6"/>
    <p:sldId id="273" r:id="rId7"/>
    <p:sldId id="274" r:id="rId8"/>
    <p:sldId id="275" r:id="rId9"/>
    <p:sldId id="282" r:id="rId10"/>
    <p:sldId id="276" r:id="rId11"/>
    <p:sldId id="277" r:id="rId12"/>
    <p:sldId id="281" r:id="rId13"/>
    <p:sldId id="285" r:id="rId14"/>
    <p:sldId id="284" r:id="rId15"/>
    <p:sldId id="279" r:id="rId16"/>
    <p:sldId id="280" r:id="rId17"/>
    <p:sldId id="286" r:id="rId18"/>
    <p:sldId id="270" r:id="rId19"/>
    <p:sldId id="267" r:id="rId20"/>
  </p:sldIdLst>
  <p:sldSz cx="18288000" cy="13716000"/>
  <p:notesSz cx="6858000" cy="9144000"/>
  <p:defaultTextStyle>
    <a:defPPr>
      <a:defRPr lang="ja-JP"/>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479" userDrawn="1">
          <p15:clr>
            <a:srgbClr val="A4A3A4"/>
          </p15:clr>
        </p15:guide>
        <p15:guide id="2" pos="203" userDrawn="1">
          <p15:clr>
            <a:srgbClr val="A4A3A4"/>
          </p15:clr>
        </p15:guide>
        <p15:guide id="3" pos="261" userDrawn="1">
          <p15:clr>
            <a:srgbClr val="A4A3A4"/>
          </p15:clr>
        </p15:guide>
        <p15:guide id="4" pos="503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424242"/>
    <a:srgbClr val="F3F3F3"/>
    <a:srgbClr val="EDEDED"/>
    <a:srgbClr val="B1B1B1"/>
    <a:srgbClr val="EAEAEA"/>
    <a:srgbClr val="E0E0E0"/>
    <a:srgbClr val="F6F6F6"/>
    <a:srgbClr val="47BEB0"/>
    <a:srgbClr val="45BD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60"/>
    <p:restoredTop sz="94589"/>
  </p:normalViewPr>
  <p:slideViewPr>
    <p:cSldViewPr snapToGrid="0" snapToObjects="1">
      <p:cViewPr varScale="1">
        <p:scale>
          <a:sx n="74" d="100"/>
          <a:sy n="74" d="100"/>
        </p:scale>
        <p:origin x="656" y="216"/>
      </p:cViewPr>
      <p:guideLst>
        <p:guide orient="horz" pos="4479"/>
        <p:guide pos="203"/>
        <p:guide pos="261"/>
        <p:guide pos="5034"/>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B360EB-EED5-E74A-9E1B-64442734BBCE}" type="datetimeFigureOut">
              <a:rPr kumimoji="1" lang="ja-JP" altLang="en-US" smtClean="0"/>
              <a:t>2018/5/2</a:t>
            </a:fld>
            <a:endParaRPr kumimoji="1" lang="ja-JP" altLang="en-US"/>
          </a:p>
        </p:txBody>
      </p:sp>
      <p:sp>
        <p:nvSpPr>
          <p:cNvPr id="4" name="スライド イメージ プレースホルダー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F04AD5B-25DE-AE41-9ACA-EFDE3C4BB9CC}" type="slidenum">
              <a:rPr kumimoji="1" lang="ja-JP" altLang="en-US" smtClean="0"/>
              <a:t>‹#›</a:t>
            </a:fld>
            <a:endParaRPr kumimoji="1" lang="ja-JP" altLang="en-US"/>
          </a:p>
        </p:txBody>
      </p:sp>
    </p:spTree>
    <p:extLst>
      <p:ext uri="{BB962C8B-B14F-4D97-AF65-F5344CB8AC3E}">
        <p14:creationId xmlns:p14="http://schemas.microsoft.com/office/powerpoint/2010/main" val="955236816"/>
      </p:ext>
    </p:extLst>
  </p:cSld>
  <p:clrMap bg1="lt1" tx1="dk1" bg2="lt2" tx2="dk2" accent1="accent1" accent2="accent2" accent3="accent3" accent4="accent4" accent5="accent5" accent6="accent6" hlink="hlink" folHlink="folHlink"/>
  <p:notesStyle>
    <a:lvl1pPr marL="0" algn="l" defTabSz="1828800" rtl="0" eaLnBrk="1" latinLnBrk="0" hangingPunct="1">
      <a:defRPr kumimoji="1" sz="2400" kern="1200">
        <a:solidFill>
          <a:schemeClr val="tx1"/>
        </a:solidFill>
        <a:latin typeface="+mn-lt"/>
        <a:ea typeface="+mn-ea"/>
        <a:cs typeface="+mn-cs"/>
      </a:defRPr>
    </a:lvl1pPr>
    <a:lvl2pPr marL="914400" algn="l" defTabSz="1828800" rtl="0" eaLnBrk="1" latinLnBrk="0" hangingPunct="1">
      <a:defRPr kumimoji="1" sz="2400" kern="1200">
        <a:solidFill>
          <a:schemeClr val="tx1"/>
        </a:solidFill>
        <a:latin typeface="+mn-lt"/>
        <a:ea typeface="+mn-ea"/>
        <a:cs typeface="+mn-cs"/>
      </a:defRPr>
    </a:lvl2pPr>
    <a:lvl3pPr marL="1828800" algn="l" defTabSz="1828800" rtl="0" eaLnBrk="1" latinLnBrk="0" hangingPunct="1">
      <a:defRPr kumimoji="1" sz="2400" kern="1200">
        <a:solidFill>
          <a:schemeClr val="tx1"/>
        </a:solidFill>
        <a:latin typeface="+mn-lt"/>
        <a:ea typeface="+mn-ea"/>
        <a:cs typeface="+mn-cs"/>
      </a:defRPr>
    </a:lvl3pPr>
    <a:lvl4pPr marL="2743200" algn="l" defTabSz="1828800" rtl="0" eaLnBrk="1" latinLnBrk="0" hangingPunct="1">
      <a:defRPr kumimoji="1" sz="2400" kern="1200">
        <a:solidFill>
          <a:schemeClr val="tx1"/>
        </a:solidFill>
        <a:latin typeface="+mn-lt"/>
        <a:ea typeface="+mn-ea"/>
        <a:cs typeface="+mn-cs"/>
      </a:defRPr>
    </a:lvl4pPr>
    <a:lvl5pPr marL="3657600" algn="l" defTabSz="1828800" rtl="0" eaLnBrk="1" latinLnBrk="0" hangingPunct="1">
      <a:defRPr kumimoji="1" sz="2400" kern="1200">
        <a:solidFill>
          <a:schemeClr val="tx1"/>
        </a:solidFill>
        <a:latin typeface="+mn-lt"/>
        <a:ea typeface="+mn-ea"/>
        <a:cs typeface="+mn-cs"/>
      </a:defRPr>
    </a:lvl5pPr>
    <a:lvl6pPr marL="4572000" algn="l" defTabSz="1828800" rtl="0" eaLnBrk="1" latinLnBrk="0" hangingPunct="1">
      <a:defRPr kumimoji="1" sz="2400" kern="1200">
        <a:solidFill>
          <a:schemeClr val="tx1"/>
        </a:solidFill>
        <a:latin typeface="+mn-lt"/>
        <a:ea typeface="+mn-ea"/>
        <a:cs typeface="+mn-cs"/>
      </a:defRPr>
    </a:lvl6pPr>
    <a:lvl7pPr marL="5486400" algn="l" defTabSz="1828800" rtl="0" eaLnBrk="1" latinLnBrk="0" hangingPunct="1">
      <a:defRPr kumimoji="1" sz="2400" kern="1200">
        <a:solidFill>
          <a:schemeClr val="tx1"/>
        </a:solidFill>
        <a:latin typeface="+mn-lt"/>
        <a:ea typeface="+mn-ea"/>
        <a:cs typeface="+mn-cs"/>
      </a:defRPr>
    </a:lvl7pPr>
    <a:lvl8pPr marL="6400800" algn="l" defTabSz="1828800" rtl="0" eaLnBrk="1" latinLnBrk="0" hangingPunct="1">
      <a:defRPr kumimoji="1" sz="2400" kern="1200">
        <a:solidFill>
          <a:schemeClr val="tx1"/>
        </a:solidFill>
        <a:latin typeface="+mn-lt"/>
        <a:ea typeface="+mn-ea"/>
        <a:cs typeface="+mn-cs"/>
      </a:defRPr>
    </a:lvl8pPr>
    <a:lvl9pPr marL="7315200" algn="l" defTabSz="1828800" rtl="0" eaLnBrk="1" latinLnBrk="0" hangingPunct="1">
      <a:defRPr kumimoji="1" sz="2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3</a:t>
            </a:fld>
            <a:endParaRPr kumimoji="1" lang="ja-JP" altLang="en-US"/>
          </a:p>
        </p:txBody>
      </p:sp>
    </p:spTree>
    <p:extLst>
      <p:ext uri="{BB962C8B-B14F-4D97-AF65-F5344CB8AC3E}">
        <p14:creationId xmlns:p14="http://schemas.microsoft.com/office/powerpoint/2010/main" val="948515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4</a:t>
            </a:fld>
            <a:endParaRPr kumimoji="1" lang="ja-JP" altLang="en-US"/>
          </a:p>
        </p:txBody>
      </p:sp>
    </p:spTree>
    <p:extLst>
      <p:ext uri="{BB962C8B-B14F-4D97-AF65-F5344CB8AC3E}">
        <p14:creationId xmlns:p14="http://schemas.microsoft.com/office/powerpoint/2010/main" val="2434293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5</a:t>
            </a:fld>
            <a:endParaRPr kumimoji="1" lang="ja-JP" altLang="en-US"/>
          </a:p>
        </p:txBody>
      </p:sp>
    </p:spTree>
    <p:extLst>
      <p:ext uri="{BB962C8B-B14F-4D97-AF65-F5344CB8AC3E}">
        <p14:creationId xmlns:p14="http://schemas.microsoft.com/office/powerpoint/2010/main" val="8701231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6</a:t>
            </a:fld>
            <a:endParaRPr kumimoji="1" lang="ja-JP" altLang="en-US"/>
          </a:p>
        </p:txBody>
      </p:sp>
    </p:spTree>
    <p:extLst>
      <p:ext uri="{BB962C8B-B14F-4D97-AF65-F5344CB8AC3E}">
        <p14:creationId xmlns:p14="http://schemas.microsoft.com/office/powerpoint/2010/main" val="30438999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7</a:t>
            </a:fld>
            <a:endParaRPr kumimoji="1" lang="ja-JP" altLang="en-US"/>
          </a:p>
        </p:txBody>
      </p:sp>
    </p:spTree>
    <p:extLst>
      <p:ext uri="{BB962C8B-B14F-4D97-AF65-F5344CB8AC3E}">
        <p14:creationId xmlns:p14="http://schemas.microsoft.com/office/powerpoint/2010/main" val="4691279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8</a:t>
            </a:fld>
            <a:endParaRPr kumimoji="1" lang="ja-JP" altLang="en-US"/>
          </a:p>
        </p:txBody>
      </p:sp>
    </p:spTree>
    <p:extLst>
      <p:ext uri="{BB962C8B-B14F-4D97-AF65-F5344CB8AC3E}">
        <p14:creationId xmlns:p14="http://schemas.microsoft.com/office/powerpoint/2010/main" val="38030888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9</a:t>
            </a:fld>
            <a:endParaRPr kumimoji="1" lang="ja-JP" altLang="en-US"/>
          </a:p>
        </p:txBody>
      </p:sp>
    </p:spTree>
    <p:extLst>
      <p:ext uri="{BB962C8B-B14F-4D97-AF65-F5344CB8AC3E}">
        <p14:creationId xmlns:p14="http://schemas.microsoft.com/office/powerpoint/2010/main" val="237479778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10</a:t>
            </a:fld>
            <a:endParaRPr kumimoji="1" lang="ja-JP" altLang="en-US"/>
          </a:p>
        </p:txBody>
      </p:sp>
    </p:spTree>
    <p:extLst>
      <p:ext uri="{BB962C8B-B14F-4D97-AF65-F5344CB8AC3E}">
        <p14:creationId xmlns:p14="http://schemas.microsoft.com/office/powerpoint/2010/main" val="18740664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11</a:t>
            </a:fld>
            <a:endParaRPr kumimoji="1" lang="ja-JP" altLang="en-US"/>
          </a:p>
        </p:txBody>
      </p:sp>
    </p:spTree>
    <p:extLst>
      <p:ext uri="{BB962C8B-B14F-4D97-AF65-F5344CB8AC3E}">
        <p14:creationId xmlns:p14="http://schemas.microsoft.com/office/powerpoint/2010/main" val="16558151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12</a:t>
            </a:fld>
            <a:endParaRPr kumimoji="1" lang="ja-JP" altLang="en-US"/>
          </a:p>
        </p:txBody>
      </p:sp>
    </p:spTree>
    <p:extLst>
      <p:ext uri="{BB962C8B-B14F-4D97-AF65-F5344CB8AC3E}">
        <p14:creationId xmlns:p14="http://schemas.microsoft.com/office/powerpoint/2010/main" val="36726809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13</a:t>
            </a:fld>
            <a:endParaRPr kumimoji="1" lang="ja-JP" altLang="en-US"/>
          </a:p>
        </p:txBody>
      </p:sp>
    </p:spTree>
    <p:extLst>
      <p:ext uri="{BB962C8B-B14F-4D97-AF65-F5344CB8AC3E}">
        <p14:creationId xmlns:p14="http://schemas.microsoft.com/office/powerpoint/2010/main" val="824105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14</a:t>
            </a:fld>
            <a:endParaRPr kumimoji="1" lang="ja-JP" altLang="en-US"/>
          </a:p>
        </p:txBody>
      </p:sp>
    </p:spTree>
    <p:extLst>
      <p:ext uri="{BB962C8B-B14F-4D97-AF65-F5344CB8AC3E}">
        <p14:creationId xmlns:p14="http://schemas.microsoft.com/office/powerpoint/2010/main" val="171614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15</a:t>
            </a:fld>
            <a:endParaRPr kumimoji="1" lang="ja-JP" altLang="en-US"/>
          </a:p>
        </p:txBody>
      </p:sp>
    </p:spTree>
    <p:extLst>
      <p:ext uri="{BB962C8B-B14F-4D97-AF65-F5344CB8AC3E}">
        <p14:creationId xmlns:p14="http://schemas.microsoft.com/office/powerpoint/2010/main" val="370196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16</a:t>
            </a:fld>
            <a:endParaRPr kumimoji="1" lang="ja-JP" altLang="en-US"/>
          </a:p>
        </p:txBody>
      </p:sp>
    </p:spTree>
    <p:extLst>
      <p:ext uri="{BB962C8B-B14F-4D97-AF65-F5344CB8AC3E}">
        <p14:creationId xmlns:p14="http://schemas.microsoft.com/office/powerpoint/2010/main" val="11528495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すなわちレベル１が参加者にとって最も価値が低く，レベル</a:t>
            </a:r>
            <a:r>
              <a:rPr kumimoji="1" lang="en-US" altLang="ja-JP" dirty="0"/>
              <a:t>9</a:t>
            </a:r>
            <a:r>
              <a:rPr kumimoji="1" lang="ja-JP" altLang="en-US"/>
              <a:t>が最も価値が高いということ</a:t>
            </a:r>
            <a:endParaRPr kumimoji="1" lang="en-US" altLang="ja-JP" dirty="0"/>
          </a:p>
          <a:p>
            <a:r>
              <a:rPr kumimoji="1" lang="ja-JP" altLang="en-US"/>
              <a:t>研究によってはレベルが上がるにつれて参加者にとっての価値が減少するとして実験しているものもある</a:t>
            </a:r>
          </a:p>
        </p:txBody>
      </p:sp>
      <p:sp>
        <p:nvSpPr>
          <p:cNvPr id="4" name="スライド番号プレースホルダー 3"/>
          <p:cNvSpPr>
            <a:spLocks noGrp="1"/>
          </p:cNvSpPr>
          <p:nvPr>
            <p:ph type="sldNum" sz="quarter" idx="10"/>
          </p:nvPr>
        </p:nvSpPr>
        <p:spPr/>
        <p:txBody>
          <a:bodyPr/>
          <a:lstStyle/>
          <a:p>
            <a:fld id="{DF04AD5B-25DE-AE41-9ACA-EFDE3C4BB9CC}" type="slidenum">
              <a:rPr kumimoji="1" lang="ja-JP" altLang="en-US" smtClean="0"/>
              <a:t>17</a:t>
            </a:fld>
            <a:endParaRPr kumimoji="1" lang="ja-JP" altLang="en-US"/>
          </a:p>
        </p:txBody>
      </p:sp>
    </p:spTree>
    <p:extLst>
      <p:ext uri="{BB962C8B-B14F-4D97-AF65-F5344CB8AC3E}">
        <p14:creationId xmlns:p14="http://schemas.microsoft.com/office/powerpoint/2010/main" val="12581764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DB48260-19DA-2240-B1D7-219E5D21CDB1}"/>
              </a:ext>
            </a:extLst>
          </p:cNvPr>
          <p:cNvSpPr/>
          <p:nvPr userDrawn="1"/>
        </p:nvSpPr>
        <p:spPr>
          <a:xfrm>
            <a:off x="8984" y="3505120"/>
            <a:ext cx="18288000" cy="6710944"/>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p>
        </p:txBody>
      </p:sp>
      <p:sp>
        <p:nvSpPr>
          <p:cNvPr id="2" name="Title 1"/>
          <p:cNvSpPr>
            <a:spLocks noGrp="1"/>
          </p:cNvSpPr>
          <p:nvPr>
            <p:ph type="ctrTitle"/>
          </p:nvPr>
        </p:nvSpPr>
        <p:spPr>
          <a:xfrm>
            <a:off x="1371600" y="2244726"/>
            <a:ext cx="15544800" cy="4775200"/>
          </a:xfrm>
        </p:spPr>
        <p:txBody>
          <a:bodyPr anchor="b"/>
          <a:lstStyle>
            <a:lvl1pPr algn="ctr">
              <a:defRPr sz="12000">
                <a:solidFill>
                  <a:schemeClr val="bg2"/>
                </a:solidFill>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2286000" y="7204076"/>
            <a:ext cx="13716000" cy="3311524"/>
          </a:xfrm>
        </p:spPr>
        <p:txBody>
          <a:bodyPr/>
          <a:lstStyle>
            <a:lvl1pPr marL="0" indent="0" algn="ctr">
              <a:buNone/>
              <a:defRPr sz="4800">
                <a:solidFill>
                  <a:schemeClr val="bg2"/>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946C4969-FCF6-9A4B-A014-2759BD8276AA}" type="datetime1">
              <a:rPr lang="ja-JP" altLang="en-US" smtClean="0"/>
              <a:t>2018/5/2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751210930"/>
      </p:ext>
    </p:extLst>
  </p:cSld>
  <p:clrMapOvr>
    <a:masterClrMapping/>
  </p:clrMapOvr>
  <p:extLst mod="1">
    <p:ext uri="{DCECCB84-F9BA-43D5-87BE-67443E8EF086}">
      <p15:sldGuideLst xmlns:p15="http://schemas.microsoft.com/office/powerpoint/2012/main">
        <p15:guide id="1" orient="horz" pos="8266" userDrawn="1">
          <p15:clr>
            <a:srgbClr val="FBAE40"/>
          </p15:clr>
        </p15:guide>
        <p15:guide id="2" pos="381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番号付き">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A7AA989-C6B8-3949-9280-88DA60BA6993}" type="datetime1">
              <a:rPr lang="ja-JP" altLang="en-US" smtClean="0"/>
              <a:t>2018/5/2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7" name="円弧 6">
            <a:extLst>
              <a:ext uri="{FF2B5EF4-FFF2-40B4-BE49-F238E27FC236}">
                <a16:creationId xmlns:a16="http://schemas.microsoft.com/office/drawing/2014/main" id="{CBF0D79E-DC97-7244-B970-BA67ACDF9F7B}"/>
              </a:ext>
            </a:extLst>
          </p:cNvPr>
          <p:cNvSpPr/>
          <p:nvPr userDrawn="1"/>
        </p:nvSpPr>
        <p:spPr>
          <a:xfrm rot="5400000">
            <a:off x="-1319547" y="-1502762"/>
            <a:ext cx="2628000" cy="2988000"/>
          </a:xfrm>
          <a:prstGeom prst="arc">
            <a:avLst/>
          </a:prstGeom>
          <a:solidFill>
            <a:schemeClr val="accent1">
              <a:lumMod val="75000"/>
            </a:schemeClr>
          </a:solidFill>
          <a:ln w="38100">
            <a:solidFill>
              <a:schemeClr val="bg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sz="4000"/>
          </a:p>
        </p:txBody>
      </p:sp>
      <p:sp>
        <p:nvSpPr>
          <p:cNvPr id="9" name="テキスト プレースホルダー 8">
            <a:extLst>
              <a:ext uri="{FF2B5EF4-FFF2-40B4-BE49-F238E27FC236}">
                <a16:creationId xmlns:a16="http://schemas.microsoft.com/office/drawing/2014/main" id="{6ADBD5D3-E43E-EB4E-BFAF-EF2E8E601640}"/>
              </a:ext>
            </a:extLst>
          </p:cNvPr>
          <p:cNvSpPr>
            <a:spLocks noGrp="1"/>
          </p:cNvSpPr>
          <p:nvPr>
            <p:ph type="body" sz="quarter" idx="13" hasCustomPrompt="1"/>
          </p:nvPr>
        </p:nvSpPr>
        <p:spPr>
          <a:xfrm>
            <a:off x="-52615" y="-159024"/>
            <a:ext cx="6450012" cy="1420388"/>
          </a:xfrm>
        </p:spPr>
        <p:txBody>
          <a:bodyPr>
            <a:noAutofit/>
          </a:bodyPr>
          <a:lstStyle>
            <a:lvl1pPr marL="0" indent="0">
              <a:buNone/>
              <a:defRPr sz="10500">
                <a:solidFill>
                  <a:schemeClr val="bg2"/>
                </a:solidFill>
              </a:defRPr>
            </a:lvl1pPr>
          </a:lstStyle>
          <a:p>
            <a:pPr lvl="0"/>
            <a:r>
              <a:rPr kumimoji="1" lang="en-US" altLang="ja-JP" dirty="0"/>
              <a:t>No.</a:t>
            </a:r>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445162" y="69062"/>
            <a:ext cx="13323887" cy="796352"/>
          </a:xfrm>
        </p:spPr>
        <p:txBody>
          <a:bodyPr>
            <a:noAutofit/>
          </a:bodyPr>
          <a:lstStyle>
            <a:lvl1pPr marL="0" indent="0">
              <a:buNone/>
              <a:defRPr sz="6600">
                <a:solidFill>
                  <a:schemeClr val="bg2"/>
                </a:solidFill>
              </a:defRPr>
            </a:lvl1pPr>
          </a:lstStyle>
          <a:p>
            <a:pPr lvl="0"/>
            <a:r>
              <a:rPr kumimoji="1" lang="ja-JP" altLang="en-US" dirty="0"/>
              <a:t>タイトル</a:t>
            </a:r>
          </a:p>
        </p:txBody>
      </p:sp>
      <p:sp>
        <p:nvSpPr>
          <p:cNvPr id="44" name="円/楕円 43">
            <a:extLst>
              <a:ext uri="{FF2B5EF4-FFF2-40B4-BE49-F238E27FC236}">
                <a16:creationId xmlns:a16="http://schemas.microsoft.com/office/drawing/2014/main" id="{1EF83EC6-99EF-E94B-ADD7-5D20EA9BC096}"/>
              </a:ext>
            </a:extLst>
          </p:cNvPr>
          <p:cNvSpPr/>
          <p:nvPr userDrawn="1"/>
        </p:nvSpPr>
        <p:spPr>
          <a:xfrm>
            <a:off x="753228" y="866722"/>
            <a:ext cx="126000" cy="1260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14499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番号なし">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3F1F6298-E70F-6E41-95A4-202B038AE5AD}" type="datetime1">
              <a:rPr lang="ja-JP" altLang="en-US" smtClean="0"/>
              <a:t>2018/5/2</a:t>
            </a:fld>
            <a:endParaRPr lang="ja-JP" altLang="en-US"/>
          </a:p>
        </p:txBody>
      </p:sp>
      <p:sp>
        <p:nvSpPr>
          <p:cNvPr id="5" name="Footer Placeholder 4"/>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12"/>
          </p:nvPr>
        </p:nvSpPr>
        <p:spPr/>
        <p:txBody>
          <a:bodyPr/>
          <a:lstStyle/>
          <a:p>
            <a:fld id="{89242BC1-393D-1248-985B-18DA624F2964}"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D62626F9-B0B3-4E40-A3A6-2578E6811C55}"/>
              </a:ext>
            </a:extLst>
          </p:cNvPr>
          <p:cNvSpPr>
            <a:spLocks noGrp="1"/>
          </p:cNvSpPr>
          <p:nvPr>
            <p:ph type="body" sz="quarter" idx="14" hasCustomPrompt="1"/>
          </p:nvPr>
        </p:nvSpPr>
        <p:spPr>
          <a:xfrm>
            <a:off x="-16578" y="69062"/>
            <a:ext cx="13323887" cy="796352"/>
          </a:xfrm>
        </p:spPr>
        <p:txBody>
          <a:bodyPr>
            <a:noAutofit/>
          </a:bodyPr>
          <a:lstStyle>
            <a:lvl1pPr marL="0" indent="0">
              <a:buNone/>
              <a:defRPr sz="6000">
                <a:solidFill>
                  <a:schemeClr val="bg2"/>
                </a:solidFill>
              </a:defRPr>
            </a:lvl1pPr>
          </a:lstStyle>
          <a:p>
            <a:pPr lvl="0"/>
            <a:r>
              <a:rPr kumimoji="1" lang="ja-JP" altLang="en-US"/>
              <a:t>タイトル</a:t>
            </a:r>
          </a:p>
        </p:txBody>
      </p:sp>
    </p:spTree>
    <p:extLst>
      <p:ext uri="{BB962C8B-B14F-4D97-AF65-F5344CB8AC3E}">
        <p14:creationId xmlns:p14="http://schemas.microsoft.com/office/powerpoint/2010/main" val="2619534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コピー用">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F407E6D9-35D5-3345-B114-7ABEB4B75DB7}" type="datetime1">
              <a:rPr kumimoji="1" lang="ja-JP" altLang="en-US" smtClean="0"/>
              <a:t>2018/5/2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grpSp>
        <p:nvGrpSpPr>
          <p:cNvPr id="42" name="グループ化 41">
            <a:extLst>
              <a:ext uri="{FF2B5EF4-FFF2-40B4-BE49-F238E27FC236}">
                <a16:creationId xmlns:a16="http://schemas.microsoft.com/office/drawing/2014/main" id="{7C64DA23-46D9-984B-B610-6E67459B873E}"/>
              </a:ext>
            </a:extLst>
          </p:cNvPr>
          <p:cNvGrpSpPr/>
          <p:nvPr userDrawn="1"/>
        </p:nvGrpSpPr>
        <p:grpSpPr>
          <a:xfrm>
            <a:off x="289330" y="1413298"/>
            <a:ext cx="2160000" cy="934436"/>
            <a:chOff x="144665" y="525617"/>
            <a:chExt cx="1080000" cy="467218"/>
          </a:xfrm>
        </p:grpSpPr>
        <p:sp>
          <p:nvSpPr>
            <p:cNvPr id="43" name="正方形/長方形 42">
              <a:extLst>
                <a:ext uri="{FF2B5EF4-FFF2-40B4-BE49-F238E27FC236}">
                  <a16:creationId xmlns:a16="http://schemas.microsoft.com/office/drawing/2014/main" id="{D665C4E3-299D-DF48-8BFD-9D032E326C5F}"/>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44" name="正方形/長方形 43">
              <a:extLst>
                <a:ext uri="{FF2B5EF4-FFF2-40B4-BE49-F238E27FC236}">
                  <a16:creationId xmlns:a16="http://schemas.microsoft.com/office/drawing/2014/main" id="{036DCA53-79EE-E047-9C3D-D1D6BE4D29A3}"/>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5" name="グループ化 44">
            <a:extLst>
              <a:ext uri="{FF2B5EF4-FFF2-40B4-BE49-F238E27FC236}">
                <a16:creationId xmlns:a16="http://schemas.microsoft.com/office/drawing/2014/main" id="{2B75F477-C889-2943-A2CA-1622C8EA202B}"/>
              </a:ext>
            </a:extLst>
          </p:cNvPr>
          <p:cNvGrpSpPr/>
          <p:nvPr userDrawn="1"/>
        </p:nvGrpSpPr>
        <p:grpSpPr>
          <a:xfrm>
            <a:off x="617232" y="2555510"/>
            <a:ext cx="539448" cy="487368"/>
            <a:chOff x="400056" y="1061560"/>
            <a:chExt cx="269724" cy="243684"/>
          </a:xfrm>
        </p:grpSpPr>
        <p:sp>
          <p:nvSpPr>
            <p:cNvPr id="46" name="三角形 45">
              <a:extLst>
                <a:ext uri="{FF2B5EF4-FFF2-40B4-BE49-F238E27FC236}">
                  <a16:creationId xmlns:a16="http://schemas.microsoft.com/office/drawing/2014/main" id="{2A685D1C-1FAF-1B40-9357-32E276CD76E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7" name="三角形 46">
              <a:extLst>
                <a:ext uri="{FF2B5EF4-FFF2-40B4-BE49-F238E27FC236}">
                  <a16:creationId xmlns:a16="http://schemas.microsoft.com/office/drawing/2014/main" id="{4B27A33D-C837-B14A-83D0-153BF1C23FD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8" name="三角形 47">
            <a:extLst>
              <a:ext uri="{FF2B5EF4-FFF2-40B4-BE49-F238E27FC236}">
                <a16:creationId xmlns:a16="http://schemas.microsoft.com/office/drawing/2014/main" id="{BEA7B9D1-FCCE-824A-BFC7-6A498C977FD4}"/>
              </a:ext>
            </a:extLst>
          </p:cNvPr>
          <p:cNvSpPr/>
          <p:nvPr userDrawn="1"/>
        </p:nvSpPr>
        <p:spPr>
          <a:xfrm rot="5400000">
            <a:off x="1076238" y="335992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テキスト プレースホルダー 27">
            <a:extLst>
              <a:ext uri="{FF2B5EF4-FFF2-40B4-BE49-F238E27FC236}">
                <a16:creationId xmlns:a16="http://schemas.microsoft.com/office/drawing/2014/main" id="{1BC1998B-2FF5-524F-8768-2B4D222F8EB3}"/>
              </a:ext>
            </a:extLst>
          </p:cNvPr>
          <p:cNvSpPr>
            <a:spLocks noGrp="1"/>
          </p:cNvSpPr>
          <p:nvPr>
            <p:ph type="body" sz="quarter" idx="17" hasCustomPrompt="1"/>
          </p:nvPr>
        </p:nvSpPr>
        <p:spPr>
          <a:xfrm>
            <a:off x="1246886" y="2484733"/>
            <a:ext cx="16632960" cy="997834"/>
          </a:xfrm>
        </p:spPr>
        <p:txBody>
          <a:bodyPr>
            <a:normAutofit/>
          </a:bodyPr>
          <a:lstStyle>
            <a:lvl1pPr marL="0" indent="0">
              <a:buNone/>
              <a:defRPr sz="4800">
                <a:solidFill>
                  <a:srgbClr val="424242"/>
                </a:solidFill>
              </a:defRPr>
            </a:lvl1pPr>
          </a:lstStyle>
          <a:p>
            <a:pPr lvl="0"/>
            <a:r>
              <a:rPr kumimoji="1" lang="ja-JP" altLang="en-US"/>
              <a:t>レベル</a:t>
            </a:r>
            <a:r>
              <a:rPr kumimoji="1" lang="en-US" altLang="ja-JP" dirty="0"/>
              <a:t>2</a:t>
            </a:r>
            <a:endParaRPr kumimoji="1" lang="ja-JP" altLang="en-US"/>
          </a:p>
        </p:txBody>
      </p:sp>
      <p:sp>
        <p:nvSpPr>
          <p:cNvPr id="50" name="テキスト プレースホルダー 29">
            <a:extLst>
              <a:ext uri="{FF2B5EF4-FFF2-40B4-BE49-F238E27FC236}">
                <a16:creationId xmlns:a16="http://schemas.microsoft.com/office/drawing/2014/main" id="{8BEB543B-9F21-374C-8C29-418CED1A87B0}"/>
              </a:ext>
            </a:extLst>
          </p:cNvPr>
          <p:cNvSpPr>
            <a:spLocks noGrp="1"/>
          </p:cNvSpPr>
          <p:nvPr>
            <p:ph type="body" sz="quarter" idx="18" hasCustomPrompt="1"/>
          </p:nvPr>
        </p:nvSpPr>
        <p:spPr>
          <a:xfrm>
            <a:off x="1561000" y="3246502"/>
            <a:ext cx="16135964" cy="853994"/>
          </a:xfrm>
        </p:spPr>
        <p:txBody>
          <a:bodyPr>
            <a:normAutofit/>
          </a:bodyPr>
          <a:lstStyle>
            <a:lvl1pPr marL="0" indent="0">
              <a:buNone/>
              <a:defRPr sz="4000">
                <a:solidFill>
                  <a:srgbClr val="424242"/>
                </a:solidFill>
              </a:defRPr>
            </a:lvl1pPr>
          </a:lstStyle>
          <a:p>
            <a:pPr lvl="0"/>
            <a:r>
              <a:rPr kumimoji="1" lang="ja-JP" altLang="en-US"/>
              <a:t>レベル</a:t>
            </a:r>
            <a:r>
              <a:rPr kumimoji="1" lang="en-US" altLang="ja-JP" dirty="0"/>
              <a:t>3</a:t>
            </a:r>
            <a:endParaRPr kumimoji="1" lang="ja-JP" altLang="en-US"/>
          </a:p>
        </p:txBody>
      </p:sp>
      <p:sp>
        <p:nvSpPr>
          <p:cNvPr id="51" name="テキスト プレースホルダー 30">
            <a:extLst>
              <a:ext uri="{FF2B5EF4-FFF2-40B4-BE49-F238E27FC236}">
                <a16:creationId xmlns:a16="http://schemas.microsoft.com/office/drawing/2014/main" id="{02304497-0A2B-5C45-97ED-E58D120C141A}"/>
              </a:ext>
            </a:extLst>
          </p:cNvPr>
          <p:cNvSpPr>
            <a:spLocks noGrp="1"/>
          </p:cNvSpPr>
          <p:nvPr>
            <p:ph type="body" sz="quarter" idx="19" hasCustomPrompt="1"/>
          </p:nvPr>
        </p:nvSpPr>
        <p:spPr>
          <a:xfrm>
            <a:off x="571049" y="1583871"/>
            <a:ext cx="17302163" cy="1403350"/>
          </a:xfrm>
        </p:spPr>
        <p:txBody>
          <a:bodyPr>
            <a:normAutofit/>
          </a:bodyPr>
          <a:lstStyle>
            <a:lvl1pPr marL="0" indent="0">
              <a:buNone/>
              <a:defRPr sz="6000"/>
            </a:lvl1pPr>
          </a:lstStyle>
          <a:p>
            <a:pPr lvl="0"/>
            <a:r>
              <a:rPr kumimoji="1" lang="ja-JP" altLang="en-US"/>
              <a:t>レベル</a:t>
            </a:r>
            <a:r>
              <a:rPr kumimoji="1" lang="en-US" altLang="ja-JP" dirty="0"/>
              <a:t>1</a:t>
            </a:r>
            <a:endParaRPr kumimoji="1" lang="ja-JP" altLang="en-US"/>
          </a:p>
        </p:txBody>
      </p:sp>
    </p:spTree>
    <p:extLst>
      <p:ext uri="{BB962C8B-B14F-4D97-AF65-F5344CB8AC3E}">
        <p14:creationId xmlns:p14="http://schemas.microsoft.com/office/powerpoint/2010/main" val="36281651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257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9258300" y="3651250"/>
            <a:ext cx="7772400" cy="87026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81C6AF7C-E2A8-CC4E-BEDD-195A92C7E78A}" type="datetime1">
              <a:rPr kumimoji="1" lang="ja-JP" altLang="en-US" smtClean="0"/>
              <a:t>2018/5/2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285890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1259682" y="730253"/>
            <a:ext cx="15773400" cy="2651126"/>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9684" y="3362326"/>
            <a:ext cx="7736680"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4" name="Content Placeholder 3"/>
          <p:cNvSpPr>
            <a:spLocks noGrp="1"/>
          </p:cNvSpPr>
          <p:nvPr>
            <p:ph sz="half" idx="2"/>
          </p:nvPr>
        </p:nvSpPr>
        <p:spPr>
          <a:xfrm>
            <a:off x="1259684" y="5010150"/>
            <a:ext cx="7736680"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9258301" y="3362326"/>
            <a:ext cx="7774782"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ja-JP" altLang="en-US"/>
              <a:t>マスター テキストの書式設定</a:t>
            </a:r>
          </a:p>
        </p:txBody>
      </p:sp>
      <p:sp>
        <p:nvSpPr>
          <p:cNvPr id="6" name="Content Placeholder 5"/>
          <p:cNvSpPr>
            <a:spLocks noGrp="1"/>
          </p:cNvSpPr>
          <p:nvPr>
            <p:ph sz="quarter" idx="4"/>
          </p:nvPr>
        </p:nvSpPr>
        <p:spPr>
          <a:xfrm>
            <a:off x="9258301" y="5010150"/>
            <a:ext cx="7774782" cy="7369176"/>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FFDFA01E-E751-9841-8567-37F3714B0EC9}" type="datetime1">
              <a:rPr kumimoji="1" lang="ja-JP" altLang="en-US" smtClean="0"/>
              <a:t>2018/5/2</a:t>
            </a:fld>
            <a:endParaRPr kumimoji="1" lang="ja-JP" altLang="en-US"/>
          </a:p>
        </p:txBody>
      </p:sp>
      <p:sp>
        <p:nvSpPr>
          <p:cNvPr id="8" name="Footer Placeholder 7"/>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9" name="Slide Number Placeholder 8"/>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8730457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FFE5F467-EA1E-D94C-8F22-55DE350C1503}" type="datetime1">
              <a:rPr kumimoji="1" lang="ja-JP" altLang="en-US" smtClean="0"/>
              <a:t>2018/5/2</a:t>
            </a:fld>
            <a:endParaRPr kumimoji="1" lang="ja-JP" altLang="en-US"/>
          </a:p>
        </p:txBody>
      </p:sp>
      <p:sp>
        <p:nvSpPr>
          <p:cNvPr id="4" name="Footer Placeholder 3"/>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5" name="Slide Number Placeholder 4"/>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31449386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B52674B-24C5-DF4D-AB73-4F3AFCA25A4F}" type="datetime1">
              <a:rPr kumimoji="1" lang="ja-JP" altLang="en-US" smtClean="0"/>
              <a:t>2018/5/2</a:t>
            </a:fld>
            <a:endParaRPr kumimoji="1" lang="ja-JP" altLang="en-US"/>
          </a:p>
        </p:txBody>
      </p:sp>
      <p:sp>
        <p:nvSpPr>
          <p:cNvPr id="3" name="Footer Placeholder 2"/>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4" name="Slide Number Placeholder 3"/>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3016459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コンテンツ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Content Placeholder 2"/>
          <p:cNvSpPr>
            <a:spLocks noGrp="1"/>
          </p:cNvSpPr>
          <p:nvPr>
            <p:ph idx="1"/>
          </p:nvPr>
        </p:nvSpPr>
        <p:spPr>
          <a:xfrm>
            <a:off x="7774782" y="1974853"/>
            <a:ext cx="92583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3150F9DA-753E-254A-B6B9-BE70954A2BBF}" type="datetime1">
              <a:rPr kumimoji="1" lang="ja-JP" altLang="en-US" smtClean="0"/>
              <a:t>2018/5/2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228977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図 (キャプション付き)">
    <p:spTree>
      <p:nvGrpSpPr>
        <p:cNvPr id="1" name=""/>
        <p:cNvGrpSpPr/>
        <p:nvPr/>
      </p:nvGrpSpPr>
      <p:grpSpPr>
        <a:xfrm>
          <a:off x="0" y="0"/>
          <a:ext cx="0" cy="0"/>
          <a:chOff x="0" y="0"/>
          <a:chExt cx="0" cy="0"/>
        </a:xfrm>
      </p:grpSpPr>
      <p:sp>
        <p:nvSpPr>
          <p:cNvPr id="2" name="Title 1"/>
          <p:cNvSpPr>
            <a:spLocks noGrp="1"/>
          </p:cNvSpPr>
          <p:nvPr>
            <p:ph type="title"/>
          </p:nvPr>
        </p:nvSpPr>
        <p:spPr>
          <a:xfrm>
            <a:off x="1259682" y="914400"/>
            <a:ext cx="5898356" cy="3200400"/>
          </a:xfrm>
        </p:spPr>
        <p:txBody>
          <a:bodyPr anchor="b"/>
          <a:lstStyle>
            <a:lvl1pPr>
              <a:defRPr sz="6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7774782" y="1974853"/>
            <a:ext cx="92583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1259682" y="4114800"/>
            <a:ext cx="5898356"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C873D902-A6A2-3E4F-84E4-DAFA7714B07D}" type="datetime1">
              <a:rPr kumimoji="1" lang="ja-JP" altLang="en-US" smtClean="0"/>
              <a:t>2018/5/2</a:t>
            </a:fld>
            <a:endParaRPr kumimoji="1" lang="ja-JP" altLang="en-US"/>
          </a:p>
        </p:txBody>
      </p:sp>
      <p:sp>
        <p:nvSpPr>
          <p:cNvPr id="6" name="Footer Placeholder 5"/>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7" name="Slide Number Placeholder 6"/>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2825589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4CDECCDF-310C-374D-BB94-D136190EAB42}" type="datetime1">
              <a:rPr kumimoji="1" lang="ja-JP" altLang="en-US" smtClean="0"/>
              <a:t>2018/5/2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11312116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1" y="730250"/>
            <a:ext cx="3943350" cy="11623676"/>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1257301" y="730250"/>
            <a:ext cx="11601450" cy="11623676"/>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4AA985E-1DBC-D74B-BF22-84B5E59DA9AB}" type="datetime1">
              <a:rPr kumimoji="1" lang="ja-JP" altLang="en-US" smtClean="0"/>
              <a:t>2018/5/2</a:t>
            </a:fld>
            <a:endParaRPr kumimoji="1" lang="ja-JP" altLang="en-US"/>
          </a:p>
        </p:txBody>
      </p:sp>
      <p:sp>
        <p:nvSpPr>
          <p:cNvPr id="5" name="Footer Placeholder 4"/>
          <p:cNvSpPr>
            <a:spLocks noGrp="1"/>
          </p:cNvSpPr>
          <p:nvPr>
            <p:ph type="ftr" sz="quarter" idx="11"/>
          </p:nvPr>
        </p:nvSpPr>
        <p:spPr/>
        <p:txBody>
          <a:bodyPr/>
          <a:lstStyle/>
          <a:p>
            <a:r>
              <a:rPr kumimoji="1" lang="ja-JP" altLang="en-US"/>
              <a:t>文献講読発表</a:t>
            </a:r>
            <a:r>
              <a:rPr kumimoji="1" lang="en-US" altLang="ja-JP"/>
              <a:t>(2018.04.25)</a:t>
            </a:r>
            <a:endParaRPr kumimoji="1" lang="ja-JP" altLang="en-US"/>
          </a:p>
        </p:txBody>
      </p:sp>
      <p:sp>
        <p:nvSpPr>
          <p:cNvPr id="6" name="Slide Number Placeholder 5"/>
          <p:cNvSpPr>
            <a:spLocks noGrp="1"/>
          </p:cNvSpPr>
          <p:nvPr>
            <p:ph type="sldNum" sz="quarter" idx="12"/>
          </p:nvPr>
        </p:nvSpPr>
        <p:spPr/>
        <p:txBody>
          <a:bodyPr/>
          <a:lstStyle/>
          <a:p>
            <a:fld id="{89242BC1-393D-1248-985B-18DA624F2964}" type="slidenum">
              <a:rPr kumimoji="1" lang="ja-JP" altLang="en-US" smtClean="0"/>
              <a:t>‹#›</a:t>
            </a:fld>
            <a:endParaRPr kumimoji="1" lang="ja-JP" altLang="en-US"/>
          </a:p>
        </p:txBody>
      </p:sp>
    </p:spTree>
    <p:extLst>
      <p:ext uri="{BB962C8B-B14F-4D97-AF65-F5344CB8AC3E}">
        <p14:creationId xmlns:p14="http://schemas.microsoft.com/office/powerpoint/2010/main" val="724257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lumMod val="95000"/>
          </a:schemeClr>
        </a:solidFill>
        <a:effectLst/>
      </p:bgPr>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43D2571E-41D4-D848-BB3B-72FBCA05A8F2}"/>
              </a:ext>
            </a:extLst>
          </p:cNvPr>
          <p:cNvSpPr/>
          <p:nvPr userDrawn="1"/>
        </p:nvSpPr>
        <p:spPr>
          <a:xfrm>
            <a:off x="0" y="13349930"/>
            <a:ext cx="18288000" cy="34962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8" name="正方形/長方形 7">
            <a:extLst>
              <a:ext uri="{FF2B5EF4-FFF2-40B4-BE49-F238E27FC236}">
                <a16:creationId xmlns:a16="http://schemas.microsoft.com/office/drawing/2014/main" id="{61B798F2-936C-9A42-9A8A-109E75FBD456}"/>
              </a:ext>
            </a:extLst>
          </p:cNvPr>
          <p:cNvSpPr/>
          <p:nvPr userDrawn="1"/>
        </p:nvSpPr>
        <p:spPr>
          <a:xfrm>
            <a:off x="0" y="-1802"/>
            <a:ext cx="18288000" cy="936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37160" tIns="68580" rIns="137160" bIns="68580" numCol="1" spcCol="0" rtlCol="0" fromWordArt="0" anchor="ctr" anchorCtr="0" forceAA="0" compatLnSpc="1">
            <a:prstTxWarp prst="textNoShape">
              <a:avLst/>
            </a:prstTxWarp>
            <a:noAutofit/>
          </a:bodyPr>
          <a:lstStyle/>
          <a:p>
            <a:pPr algn="ctr"/>
            <a:endParaRPr kumimoji="1" lang="ja-JP" altLang="en-US" sz="2700">
              <a:solidFill>
                <a:schemeClr val="bg2"/>
              </a:solidFill>
            </a:endParaRPr>
          </a:p>
        </p:txBody>
      </p:sp>
      <p:sp>
        <p:nvSpPr>
          <p:cNvPr id="2" name="Title Placeholder 1"/>
          <p:cNvSpPr>
            <a:spLocks noGrp="1"/>
          </p:cNvSpPr>
          <p:nvPr>
            <p:ph type="title"/>
          </p:nvPr>
        </p:nvSpPr>
        <p:spPr>
          <a:xfrm>
            <a:off x="1257300" y="730253"/>
            <a:ext cx="15773400"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257300" y="3651250"/>
            <a:ext cx="15773400"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32658" y="13154933"/>
            <a:ext cx="4114800" cy="730250"/>
          </a:xfrm>
          <a:prstGeom prst="rect">
            <a:avLst/>
          </a:prstGeom>
        </p:spPr>
        <p:txBody>
          <a:bodyPr vert="horz" lIns="91440" tIns="45720" rIns="91440" bIns="45720" rtlCol="0" anchor="ctr"/>
          <a:lstStyle>
            <a:lvl1pPr algn="l">
              <a:defRPr sz="2400">
                <a:solidFill>
                  <a:schemeClr val="bg2"/>
                </a:solidFill>
              </a:defRPr>
            </a:lvl1pPr>
          </a:lstStyle>
          <a:p>
            <a:fld id="{F72E23FF-C487-5547-8AED-A8A9B893E0C0}" type="datetime1">
              <a:rPr lang="ja-JP" altLang="en-US" smtClean="0"/>
              <a:t>2018/5/2</a:t>
            </a:fld>
            <a:endParaRPr lang="ja-JP" altLang="en-US"/>
          </a:p>
        </p:txBody>
      </p:sp>
      <p:sp>
        <p:nvSpPr>
          <p:cNvPr id="5" name="Footer Placeholder 4"/>
          <p:cNvSpPr>
            <a:spLocks noGrp="1"/>
          </p:cNvSpPr>
          <p:nvPr>
            <p:ph type="ftr" sz="quarter" idx="3"/>
          </p:nvPr>
        </p:nvSpPr>
        <p:spPr>
          <a:xfrm>
            <a:off x="6057900" y="13186238"/>
            <a:ext cx="6172200" cy="730250"/>
          </a:xfrm>
          <a:prstGeom prst="rect">
            <a:avLst/>
          </a:prstGeom>
        </p:spPr>
        <p:txBody>
          <a:bodyPr vert="horz" lIns="91440" tIns="45720" rIns="91440" bIns="45720" rtlCol="0" anchor="ctr"/>
          <a:lstStyle>
            <a:lvl1pPr algn="ctr">
              <a:defRPr sz="2400">
                <a:solidFill>
                  <a:schemeClr val="bg2"/>
                </a:solidFill>
                <a:latin typeface="+mn-ea"/>
                <a:ea typeface="+mn-ea"/>
              </a:defRPr>
            </a:lvl1pPr>
          </a:lstStyle>
          <a:p>
            <a:r>
              <a:rPr lang="ja-JP" altLang="en-US"/>
              <a:t>文献講読発表</a:t>
            </a:r>
            <a:r>
              <a:rPr lang="en-US" altLang="ja-JP"/>
              <a:t>(2018.04.25)</a:t>
            </a:r>
            <a:endParaRPr lang="ja-JP" altLang="en-US"/>
          </a:p>
        </p:txBody>
      </p:sp>
      <p:sp>
        <p:nvSpPr>
          <p:cNvPr id="6" name="Slide Number Placeholder 5"/>
          <p:cNvSpPr>
            <a:spLocks noGrp="1"/>
          </p:cNvSpPr>
          <p:nvPr>
            <p:ph type="sldNum" sz="quarter" idx="4"/>
          </p:nvPr>
        </p:nvSpPr>
        <p:spPr>
          <a:xfrm>
            <a:off x="14205862" y="13153581"/>
            <a:ext cx="4114800" cy="730250"/>
          </a:xfrm>
          <a:prstGeom prst="rect">
            <a:avLst/>
          </a:prstGeom>
        </p:spPr>
        <p:txBody>
          <a:bodyPr vert="horz" lIns="91440" tIns="45720" rIns="91440" bIns="45720" rtlCol="0" anchor="ctr"/>
          <a:lstStyle>
            <a:lvl1pPr algn="r">
              <a:defRPr sz="2400">
                <a:solidFill>
                  <a:schemeClr val="bg2"/>
                </a:solidFill>
              </a:defRPr>
            </a:lvl1pPr>
          </a:lstStyle>
          <a:p>
            <a:fld id="{89242BC1-393D-1248-985B-18DA624F2964}" type="slidenum">
              <a:rPr lang="ja-JP" altLang="en-US" smtClean="0"/>
              <a:pPr/>
              <a:t>‹#›</a:t>
            </a:fld>
            <a:endParaRPr lang="ja-JP" altLang="en-US"/>
          </a:p>
        </p:txBody>
      </p:sp>
    </p:spTree>
    <p:extLst>
      <p:ext uri="{BB962C8B-B14F-4D97-AF65-F5344CB8AC3E}">
        <p14:creationId xmlns:p14="http://schemas.microsoft.com/office/powerpoint/2010/main" val="2065557012"/>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88"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p:txStyles>
    <p:titleStyle>
      <a:lvl1pPr algn="l" defTabSz="1828800" rtl="0" eaLnBrk="1" latinLnBrk="0" hangingPunct="1">
        <a:lnSpc>
          <a:spcPct val="90000"/>
        </a:lnSpc>
        <a:spcBef>
          <a:spcPct val="0"/>
        </a:spcBef>
        <a:buNone/>
        <a:defRPr kumimoji="1"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kumimoji="1"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800" rtl="0" eaLnBrk="1" latinLnBrk="0" hangingPunct="1">
        <a:defRPr kumimoji="1" sz="3600" kern="1200">
          <a:solidFill>
            <a:schemeClr val="tx1"/>
          </a:solidFill>
          <a:latin typeface="+mn-lt"/>
          <a:ea typeface="+mn-ea"/>
          <a:cs typeface="+mn-cs"/>
        </a:defRPr>
      </a:lvl1pPr>
      <a:lvl2pPr marL="914400" algn="l" defTabSz="1828800" rtl="0" eaLnBrk="1" latinLnBrk="0" hangingPunct="1">
        <a:defRPr kumimoji="1" sz="3600" kern="1200">
          <a:solidFill>
            <a:schemeClr val="tx1"/>
          </a:solidFill>
          <a:latin typeface="+mn-lt"/>
          <a:ea typeface="+mn-ea"/>
          <a:cs typeface="+mn-cs"/>
        </a:defRPr>
      </a:lvl2pPr>
      <a:lvl3pPr marL="1828800" algn="l" defTabSz="1828800" rtl="0" eaLnBrk="1" latinLnBrk="0" hangingPunct="1">
        <a:defRPr kumimoji="1" sz="3600" kern="1200">
          <a:solidFill>
            <a:schemeClr val="tx1"/>
          </a:solidFill>
          <a:latin typeface="+mn-lt"/>
          <a:ea typeface="+mn-ea"/>
          <a:cs typeface="+mn-cs"/>
        </a:defRPr>
      </a:lvl3pPr>
      <a:lvl4pPr marL="2743200" algn="l" defTabSz="1828800" rtl="0" eaLnBrk="1" latinLnBrk="0" hangingPunct="1">
        <a:defRPr kumimoji="1" sz="3600" kern="1200">
          <a:solidFill>
            <a:schemeClr val="tx1"/>
          </a:solidFill>
          <a:latin typeface="+mn-lt"/>
          <a:ea typeface="+mn-ea"/>
          <a:cs typeface="+mn-cs"/>
        </a:defRPr>
      </a:lvl4pPr>
      <a:lvl5pPr marL="3657600" algn="l" defTabSz="1828800" rtl="0" eaLnBrk="1" latinLnBrk="0" hangingPunct="1">
        <a:defRPr kumimoji="1" sz="3600" kern="1200">
          <a:solidFill>
            <a:schemeClr val="tx1"/>
          </a:solidFill>
          <a:latin typeface="+mn-lt"/>
          <a:ea typeface="+mn-ea"/>
          <a:cs typeface="+mn-cs"/>
        </a:defRPr>
      </a:lvl5pPr>
      <a:lvl6pPr marL="4572000" algn="l" defTabSz="1828800" rtl="0" eaLnBrk="1" latinLnBrk="0" hangingPunct="1">
        <a:defRPr kumimoji="1" sz="3600" kern="1200">
          <a:solidFill>
            <a:schemeClr val="tx1"/>
          </a:solidFill>
          <a:latin typeface="+mn-lt"/>
          <a:ea typeface="+mn-ea"/>
          <a:cs typeface="+mn-cs"/>
        </a:defRPr>
      </a:lvl6pPr>
      <a:lvl7pPr marL="5486400" algn="l" defTabSz="1828800" rtl="0" eaLnBrk="1" latinLnBrk="0" hangingPunct="1">
        <a:defRPr kumimoji="1" sz="3600" kern="1200">
          <a:solidFill>
            <a:schemeClr val="tx1"/>
          </a:solidFill>
          <a:latin typeface="+mn-lt"/>
          <a:ea typeface="+mn-ea"/>
          <a:cs typeface="+mn-cs"/>
        </a:defRPr>
      </a:lvl7pPr>
      <a:lvl8pPr marL="6400800" algn="l" defTabSz="1828800" rtl="0" eaLnBrk="1" latinLnBrk="0" hangingPunct="1">
        <a:defRPr kumimoji="1" sz="3600" kern="1200">
          <a:solidFill>
            <a:schemeClr val="tx1"/>
          </a:solidFill>
          <a:latin typeface="+mn-lt"/>
          <a:ea typeface="+mn-ea"/>
          <a:cs typeface="+mn-cs"/>
        </a:defRPr>
      </a:lvl8pPr>
      <a:lvl9pPr marL="7315200" algn="l" defTabSz="1828800" rtl="0" eaLnBrk="1" latinLnBrk="0" hangingPunct="1">
        <a:defRPr kumimoji="1" sz="36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orient="horz" pos="8289" userDrawn="1">
          <p15:clr>
            <a:srgbClr val="F26B43"/>
          </p15:clr>
        </p15:guide>
        <p15:guide id="2" pos="576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3C8BF32-0C66-1E44-925C-F1A9DBEC01DE}"/>
              </a:ext>
            </a:extLst>
          </p:cNvPr>
          <p:cNvSpPr>
            <a:spLocks noGrp="1"/>
          </p:cNvSpPr>
          <p:nvPr>
            <p:ph type="ctrTitle"/>
          </p:nvPr>
        </p:nvSpPr>
        <p:spPr>
          <a:xfrm>
            <a:off x="1371600" y="3159135"/>
            <a:ext cx="15544800" cy="4775200"/>
          </a:xfrm>
        </p:spPr>
        <p:txBody>
          <a:bodyPr/>
          <a:lstStyle/>
          <a:p>
            <a:r>
              <a:rPr kumimoji="1" lang="ja-JP" altLang="en-US"/>
              <a:t>文献購読</a:t>
            </a:r>
            <a:br>
              <a:rPr kumimoji="1" lang="en-US" altLang="ja-JP" dirty="0"/>
            </a:br>
            <a:endParaRPr kumimoji="1" lang="ja-JP" altLang="en-US"/>
          </a:p>
        </p:txBody>
      </p:sp>
      <p:sp>
        <p:nvSpPr>
          <p:cNvPr id="3" name="サブタイトル 2">
            <a:extLst>
              <a:ext uri="{FF2B5EF4-FFF2-40B4-BE49-F238E27FC236}">
                <a16:creationId xmlns:a16="http://schemas.microsoft.com/office/drawing/2014/main" id="{514C09A7-F9A3-4246-953E-DEDDA0B9D7CB}"/>
              </a:ext>
            </a:extLst>
          </p:cNvPr>
          <p:cNvSpPr>
            <a:spLocks noGrp="1"/>
          </p:cNvSpPr>
          <p:nvPr>
            <p:ph type="subTitle" idx="1"/>
          </p:nvPr>
        </p:nvSpPr>
        <p:spPr>
          <a:xfrm>
            <a:off x="2286000" y="8118485"/>
            <a:ext cx="13716000" cy="3311524"/>
          </a:xfrm>
        </p:spPr>
        <p:txBody>
          <a:bodyPr/>
          <a:lstStyle/>
          <a:p>
            <a:r>
              <a:rPr lang="ja-JP" altLang="en-US"/>
              <a:t>東京農工大学  情報工学科 </a:t>
            </a:r>
            <a:r>
              <a:rPr lang="en-US" altLang="ja-JP" dirty="0"/>
              <a:t> 4</a:t>
            </a:r>
            <a:r>
              <a:rPr lang="ja-JP" altLang="en-US"/>
              <a:t>年  藤田桂英研究室</a:t>
            </a:r>
            <a:endParaRPr lang="en-US" altLang="ja-JP" dirty="0"/>
          </a:p>
          <a:p>
            <a:r>
              <a:rPr lang="en-US" altLang="ja-JP" dirty="0"/>
              <a:t>17268508 </a:t>
            </a:r>
            <a:r>
              <a:rPr lang="ja-JP" altLang="en-US"/>
              <a:t> 松下昌悟</a:t>
            </a:r>
            <a:endParaRPr kumimoji="1" lang="ja-JP" altLang="en-US"/>
          </a:p>
        </p:txBody>
      </p:sp>
      <p:sp>
        <p:nvSpPr>
          <p:cNvPr id="7" name="日付プレースホルダー 6">
            <a:extLst>
              <a:ext uri="{FF2B5EF4-FFF2-40B4-BE49-F238E27FC236}">
                <a16:creationId xmlns:a16="http://schemas.microsoft.com/office/drawing/2014/main" id="{8F711B5A-02FA-904E-8709-C7DBEEC3C601}"/>
              </a:ext>
            </a:extLst>
          </p:cNvPr>
          <p:cNvSpPr>
            <a:spLocks noGrp="1"/>
          </p:cNvSpPr>
          <p:nvPr>
            <p:ph type="dt" sz="half" idx="10"/>
          </p:nvPr>
        </p:nvSpPr>
        <p:spPr/>
        <p:txBody>
          <a:bodyPr/>
          <a:lstStyle/>
          <a:p>
            <a:fld id="{6C1C55C2-9AF4-654D-9969-8A67901B3DA3}" type="datetime1">
              <a:rPr lang="ja-JP" altLang="en-US" smtClean="0"/>
              <a:t>2018/5/2</a:t>
            </a:fld>
            <a:endParaRPr lang="ja-JP" altLang="en-US"/>
          </a:p>
        </p:txBody>
      </p:sp>
      <p:sp>
        <p:nvSpPr>
          <p:cNvPr id="8" name="フッター プレースホルダー 7">
            <a:extLst>
              <a:ext uri="{FF2B5EF4-FFF2-40B4-BE49-F238E27FC236}">
                <a16:creationId xmlns:a16="http://schemas.microsoft.com/office/drawing/2014/main" id="{6702093A-5EED-FE40-9D94-B21C99E12CFF}"/>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9" name="スライド番号プレースホルダー 8">
            <a:extLst>
              <a:ext uri="{FF2B5EF4-FFF2-40B4-BE49-F238E27FC236}">
                <a16:creationId xmlns:a16="http://schemas.microsoft.com/office/drawing/2014/main" id="{202F569F-A4A1-AC4F-AF16-B68230E74BEF}"/>
              </a:ext>
            </a:extLst>
          </p:cNvPr>
          <p:cNvSpPr>
            <a:spLocks noGrp="1"/>
          </p:cNvSpPr>
          <p:nvPr>
            <p:ph type="sldNum" sz="quarter" idx="12"/>
          </p:nvPr>
        </p:nvSpPr>
        <p:spPr/>
        <p:txBody>
          <a:bodyPr/>
          <a:lstStyle/>
          <a:p>
            <a:fld id="{89242BC1-393D-1248-985B-18DA624F2964}" type="slidenum">
              <a:rPr lang="ja-JP" altLang="en-US" smtClean="0"/>
              <a:pPr/>
              <a:t>1</a:t>
            </a:fld>
            <a:endParaRPr lang="ja-JP" altLang="en-US"/>
          </a:p>
        </p:txBody>
      </p:sp>
    </p:spTree>
    <p:extLst>
      <p:ext uri="{BB962C8B-B14F-4D97-AF65-F5344CB8AC3E}">
        <p14:creationId xmlns:p14="http://schemas.microsoft.com/office/powerpoint/2010/main" val="20881560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2716A096-282C-054E-93D6-6FCA6F3CFD24}"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1</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はじめに</a:t>
            </a:r>
            <a:endParaRPr kumimoji="1" lang="ja-JP" altLang="en-US"/>
          </a:p>
        </p:txBody>
      </p:sp>
      <p:grpSp>
        <p:nvGrpSpPr>
          <p:cNvPr id="7" name="グループ化 6">
            <a:extLst>
              <a:ext uri="{FF2B5EF4-FFF2-40B4-BE49-F238E27FC236}">
                <a16:creationId xmlns:a16="http://schemas.microsoft.com/office/drawing/2014/main" id="{574E7AC4-0E50-8D4A-8968-2C2A9D916ADE}"/>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2B3F120B-64CB-EB47-B9A8-9A8AFBA36AC9}"/>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5105ED84-5CDD-FF47-B6D4-96E29099F21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B2E76881-65E2-5241-B689-FEE316A34AA0}"/>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16494B89-A6B9-3341-BB17-E86727ADCC2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E9F14F16-B830-5844-836E-439A243BF05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70948973-0136-5542-BB52-6B4EB28156FB}"/>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EBEDB96F-C6A2-A640-8292-2C80CBAFD729}"/>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15" name="テキスト プレースホルダー 29">
            <a:extLst>
              <a:ext uri="{FF2B5EF4-FFF2-40B4-BE49-F238E27FC236}">
                <a16:creationId xmlns:a16="http://schemas.microsoft.com/office/drawing/2014/main" id="{CB58614A-1654-914F-BCB1-634026832709}"/>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16" name="テキスト プレースホルダー 30">
            <a:extLst>
              <a:ext uri="{FF2B5EF4-FFF2-40B4-BE49-F238E27FC236}">
                <a16:creationId xmlns:a16="http://schemas.microsoft.com/office/drawing/2014/main" id="{B7CFE0E6-F6B1-374A-9C53-2093FC43F6E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背景</a:t>
            </a:r>
          </a:p>
        </p:txBody>
      </p:sp>
    </p:spTree>
    <p:extLst>
      <p:ext uri="{BB962C8B-B14F-4D97-AF65-F5344CB8AC3E}">
        <p14:creationId xmlns:p14="http://schemas.microsoft.com/office/powerpoint/2010/main" val="1467729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参加者は携帯の委託販売者として交渉を実施</a:t>
            </a:r>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金額・保証期間・契約サービスの継続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pSp>
        <p:nvGrpSpPr>
          <p:cNvPr id="17" name="グループ化 16">
            <a:extLst>
              <a:ext uri="{FF2B5EF4-FFF2-40B4-BE49-F238E27FC236}">
                <a16:creationId xmlns:a16="http://schemas.microsoft.com/office/drawing/2014/main" id="{0D9F7940-8D1A-7442-8202-59FA04673BC1}"/>
              </a:ext>
            </a:extLst>
          </p:cNvPr>
          <p:cNvGrpSpPr/>
          <p:nvPr/>
        </p:nvGrpSpPr>
        <p:grpSpPr>
          <a:xfrm>
            <a:off x="617232" y="4090838"/>
            <a:ext cx="539448" cy="487368"/>
            <a:chOff x="400056" y="1061560"/>
            <a:chExt cx="269724" cy="243684"/>
          </a:xfrm>
        </p:grpSpPr>
        <p:sp>
          <p:nvSpPr>
            <p:cNvPr id="18" name="三角形 17">
              <a:extLst>
                <a:ext uri="{FF2B5EF4-FFF2-40B4-BE49-F238E27FC236}">
                  <a16:creationId xmlns:a16="http://schemas.microsoft.com/office/drawing/2014/main" id="{30129A96-4E6F-C846-918A-3A7EC6350E75}"/>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9" name="三角形 18">
              <a:extLst>
                <a:ext uri="{FF2B5EF4-FFF2-40B4-BE49-F238E27FC236}">
                  <a16:creationId xmlns:a16="http://schemas.microsoft.com/office/drawing/2014/main" id="{AC84945F-0458-1848-B13E-71B95C56D67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0" name="テキスト プレースホルダー 27">
            <a:extLst>
              <a:ext uri="{FF2B5EF4-FFF2-40B4-BE49-F238E27FC236}">
                <a16:creationId xmlns:a16="http://schemas.microsoft.com/office/drawing/2014/main" id="{A684D9A0-DC94-FB4F-A70E-B1A8B3E8B725}"/>
              </a:ext>
            </a:extLst>
          </p:cNvPr>
          <p:cNvSpPr txBox="1">
            <a:spLocks/>
          </p:cNvSpPr>
          <p:nvPr/>
        </p:nvSpPr>
        <p:spPr>
          <a:xfrm>
            <a:off x="1254486" y="401821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各タスクには</a:t>
            </a:r>
            <a:r>
              <a:rPr lang="en-US" altLang="ja-JP" dirty="0"/>
              <a:t>9</a:t>
            </a:r>
            <a:r>
              <a:rPr lang="ja-JP" altLang="en-US"/>
              <a:t>段階のレベルが存在</a:t>
            </a:r>
          </a:p>
        </p:txBody>
      </p:sp>
      <p:sp>
        <p:nvSpPr>
          <p:cNvPr id="22" name="三角形 21">
            <a:extLst>
              <a:ext uri="{FF2B5EF4-FFF2-40B4-BE49-F238E27FC236}">
                <a16:creationId xmlns:a16="http://schemas.microsoft.com/office/drawing/2014/main" id="{D0FD14B2-2333-834D-8239-201197772A82}"/>
              </a:ext>
            </a:extLst>
          </p:cNvPr>
          <p:cNvSpPr/>
          <p:nvPr/>
        </p:nvSpPr>
        <p:spPr>
          <a:xfrm rot="5400000">
            <a:off x="1076238" y="493008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3" name="テキスト プレースホルダー 29">
            <a:extLst>
              <a:ext uri="{FF2B5EF4-FFF2-40B4-BE49-F238E27FC236}">
                <a16:creationId xmlns:a16="http://schemas.microsoft.com/office/drawing/2014/main" id="{8B4260A0-5B8E-3841-9581-C59F8BADDF19}"/>
              </a:ext>
            </a:extLst>
          </p:cNvPr>
          <p:cNvSpPr txBox="1">
            <a:spLocks/>
          </p:cNvSpPr>
          <p:nvPr/>
        </p:nvSpPr>
        <p:spPr>
          <a:xfrm>
            <a:off x="1568600" y="481481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レベルが上がるにつれ参加者にとっての価値が上昇</a:t>
            </a:r>
          </a:p>
        </p:txBody>
      </p:sp>
      <p:graphicFrame>
        <p:nvGraphicFramePr>
          <p:cNvPr id="24" name="表 23">
            <a:extLst>
              <a:ext uri="{FF2B5EF4-FFF2-40B4-BE49-F238E27FC236}">
                <a16:creationId xmlns:a16="http://schemas.microsoft.com/office/drawing/2014/main" id="{A120239A-C322-DB4B-84FA-1F70CAEBF07F}"/>
              </a:ext>
            </a:extLst>
          </p:cNvPr>
          <p:cNvGraphicFramePr>
            <a:graphicFrameLocks noGrp="1"/>
          </p:cNvGraphicFramePr>
          <p:nvPr>
            <p:extLst>
              <p:ext uri="{D42A27DB-BD31-4B8C-83A1-F6EECF244321}">
                <p14:modId xmlns:p14="http://schemas.microsoft.com/office/powerpoint/2010/main" val="2457382052"/>
              </p:ext>
            </p:extLst>
          </p:nvPr>
        </p:nvGraphicFramePr>
        <p:xfrm>
          <a:off x="2863684" y="8380284"/>
          <a:ext cx="12560632" cy="2804160"/>
        </p:xfrm>
        <a:graphic>
          <a:graphicData uri="http://schemas.openxmlformats.org/drawingml/2006/table">
            <a:tbl>
              <a:tblPr firstRow="1" bandRow="1">
                <a:tableStyleId>{5C22544A-7EE6-4342-B048-85BDC9FD1C3A}</a:tableStyleId>
              </a:tblPr>
              <a:tblGrid>
                <a:gridCol w="4827965">
                  <a:extLst>
                    <a:ext uri="{9D8B030D-6E8A-4147-A177-3AD203B41FA5}">
                      <a16:colId xmlns:a16="http://schemas.microsoft.com/office/drawing/2014/main" val="3132472836"/>
                    </a:ext>
                  </a:extLst>
                </a:gridCol>
                <a:gridCol w="3847564">
                  <a:extLst>
                    <a:ext uri="{9D8B030D-6E8A-4147-A177-3AD203B41FA5}">
                      <a16:colId xmlns:a16="http://schemas.microsoft.com/office/drawing/2014/main" val="1411076331"/>
                    </a:ext>
                  </a:extLst>
                </a:gridCol>
                <a:gridCol w="3885103">
                  <a:extLst>
                    <a:ext uri="{9D8B030D-6E8A-4147-A177-3AD203B41FA5}">
                      <a16:colId xmlns:a16="http://schemas.microsoft.com/office/drawing/2014/main" val="3639288741"/>
                    </a:ext>
                  </a:extLst>
                </a:gridCol>
              </a:tblGrid>
              <a:tr h="355929">
                <a:tc>
                  <a:txBody>
                    <a:bodyPr/>
                    <a:lstStyle/>
                    <a:p>
                      <a:pPr algn="ctr"/>
                      <a:r>
                        <a:rPr kumimoji="1" lang="ja-JP" altLang="en-US" sz="4000"/>
                        <a:t>交渉内容</a:t>
                      </a:r>
                    </a:p>
                  </a:txBody>
                  <a:tcPr/>
                </a:tc>
                <a:tc>
                  <a:txBody>
                    <a:bodyPr/>
                    <a:lstStyle/>
                    <a:p>
                      <a:pPr algn="ctr"/>
                      <a:r>
                        <a:rPr kumimoji="1" lang="ja-JP" altLang="en-US" sz="4000"/>
                        <a:t>レベル</a:t>
                      </a:r>
                      <a:r>
                        <a:rPr kumimoji="1" lang="en-US" altLang="ja-JP" sz="4000" dirty="0"/>
                        <a:t>1</a:t>
                      </a:r>
                      <a:r>
                        <a:rPr kumimoji="1" lang="ja-JP" altLang="en-US" sz="4000"/>
                        <a:t>の価値</a:t>
                      </a:r>
                    </a:p>
                  </a:txBody>
                  <a:tcPr/>
                </a:tc>
                <a:tc>
                  <a:txBody>
                    <a:bodyPr/>
                    <a:lstStyle/>
                    <a:p>
                      <a:pPr algn="ctr"/>
                      <a:r>
                        <a:rPr kumimoji="1" lang="ja-JP" altLang="en-US" sz="4000"/>
                        <a:t>レベル</a:t>
                      </a:r>
                      <a:r>
                        <a:rPr kumimoji="1" lang="en-US" altLang="ja-JP" sz="4000" dirty="0"/>
                        <a:t>9</a:t>
                      </a:r>
                      <a:r>
                        <a:rPr kumimoji="1" lang="ja-JP" altLang="en-US" sz="4000"/>
                        <a:t>の価値</a:t>
                      </a:r>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400</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120</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0</a:t>
                      </a:r>
                      <a:endParaRPr kumimoji="1" lang="ja-JP" altLang="en-US" sz="4000"/>
                    </a:p>
                  </a:txBody>
                  <a:tcPr/>
                </a:tc>
                <a:tc>
                  <a:txBody>
                    <a:bodyPr/>
                    <a:lstStyle/>
                    <a:p>
                      <a:pPr algn="r"/>
                      <a:r>
                        <a:rPr kumimoji="1" lang="en-US" altLang="ja-JP" sz="4000" dirty="0"/>
                        <a:t>240</a:t>
                      </a:r>
                      <a:endParaRPr kumimoji="1" lang="ja-JP" altLang="en-US" sz="4000"/>
                    </a:p>
                  </a:txBody>
                  <a:tcPr/>
                </a:tc>
                <a:extLst>
                  <a:ext uri="{0D108BD9-81ED-4DB2-BD59-A6C34878D82A}">
                    <a16:rowId xmlns:a16="http://schemas.microsoft.com/office/drawing/2014/main" val="85150135"/>
                  </a:ext>
                </a:extLst>
              </a:tr>
            </a:tbl>
          </a:graphicData>
        </a:graphic>
      </p:graphicFrame>
      <p:sp>
        <p:nvSpPr>
          <p:cNvPr id="25" name="三角形 24">
            <a:extLst>
              <a:ext uri="{FF2B5EF4-FFF2-40B4-BE49-F238E27FC236}">
                <a16:creationId xmlns:a16="http://schemas.microsoft.com/office/drawing/2014/main" id="{144F3F6D-3F2B-7242-B670-5F030B692E19}"/>
              </a:ext>
            </a:extLst>
          </p:cNvPr>
          <p:cNvSpPr/>
          <p:nvPr/>
        </p:nvSpPr>
        <p:spPr>
          <a:xfrm rot="5400000">
            <a:off x="1076238" y="570508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6" name="テキスト プレースホルダー 29">
            <a:extLst>
              <a:ext uri="{FF2B5EF4-FFF2-40B4-BE49-F238E27FC236}">
                <a16:creationId xmlns:a16="http://schemas.microsoft.com/office/drawing/2014/main" id="{D77E9EF6-DEBA-3747-828D-15F39EB5B38F}"/>
              </a:ext>
            </a:extLst>
          </p:cNvPr>
          <p:cNvSpPr txBox="1">
            <a:spLocks/>
          </p:cNvSpPr>
          <p:nvPr/>
        </p:nvSpPr>
        <p:spPr>
          <a:xfrm>
            <a:off x="1568600" y="558981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全ての項目がレベル</a:t>
            </a:r>
            <a:r>
              <a:rPr lang="en-US" altLang="ja-JP" dirty="0"/>
              <a:t>9</a:t>
            </a:r>
            <a:r>
              <a:rPr lang="ja-JP" altLang="en-US"/>
              <a:t>である場合が最良の取引</a:t>
            </a:r>
          </a:p>
        </p:txBody>
      </p:sp>
    </p:spTree>
    <p:extLst>
      <p:ext uri="{BB962C8B-B14F-4D97-AF65-F5344CB8AC3E}">
        <p14:creationId xmlns:p14="http://schemas.microsoft.com/office/powerpoint/2010/main" val="67799896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交渉は</a:t>
            </a:r>
            <a:r>
              <a:rPr lang="en-US" altLang="ja-JP" dirty="0"/>
              <a:t>alternating offers protocol</a:t>
            </a:r>
            <a:r>
              <a:rPr lang="ja-JP" altLang="en-US"/>
              <a:t>に従って行う</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参加者が交互に</a:t>
            </a:r>
            <a:r>
              <a:rPr lang="en-US" altLang="ja-JP" dirty="0"/>
              <a:t>offer</a:t>
            </a:r>
            <a:r>
              <a:rPr lang="ja-JP" altLang="en-US"/>
              <a:t>を行う</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pSp>
        <p:nvGrpSpPr>
          <p:cNvPr id="59" name="グループ化 58">
            <a:extLst>
              <a:ext uri="{FF2B5EF4-FFF2-40B4-BE49-F238E27FC236}">
                <a16:creationId xmlns:a16="http://schemas.microsoft.com/office/drawing/2014/main" id="{624E4961-27DE-A447-B772-245797E050F6}"/>
              </a:ext>
            </a:extLst>
          </p:cNvPr>
          <p:cNvGrpSpPr/>
          <p:nvPr/>
        </p:nvGrpSpPr>
        <p:grpSpPr>
          <a:xfrm>
            <a:off x="2388785" y="5593615"/>
            <a:ext cx="14048933" cy="6648520"/>
            <a:chOff x="2388785" y="5593615"/>
            <a:chExt cx="14048933" cy="6648520"/>
          </a:xfrm>
        </p:grpSpPr>
        <p:grpSp>
          <p:nvGrpSpPr>
            <p:cNvPr id="56" name="グループ化 55">
              <a:extLst>
                <a:ext uri="{FF2B5EF4-FFF2-40B4-BE49-F238E27FC236}">
                  <a16:creationId xmlns:a16="http://schemas.microsoft.com/office/drawing/2014/main" id="{0357ECAE-4255-E445-8BF4-2A8DF5ACB2D8}"/>
                </a:ext>
              </a:extLst>
            </p:cNvPr>
            <p:cNvGrpSpPr/>
            <p:nvPr/>
          </p:nvGrpSpPr>
          <p:grpSpPr>
            <a:xfrm>
              <a:off x="2388785" y="6451496"/>
              <a:ext cx="14048933" cy="5790639"/>
              <a:chOff x="2169353" y="5242486"/>
              <a:chExt cx="14048933" cy="5790639"/>
            </a:xfrm>
          </p:grpSpPr>
          <p:cxnSp>
            <p:nvCxnSpPr>
              <p:cNvPr id="53" name="直線コネクタ 52">
                <a:extLst>
                  <a:ext uri="{FF2B5EF4-FFF2-40B4-BE49-F238E27FC236}">
                    <a16:creationId xmlns:a16="http://schemas.microsoft.com/office/drawing/2014/main" id="{FDC08198-C75C-1E4B-8F55-6B7AA283107C}"/>
                  </a:ext>
                </a:extLst>
              </p:cNvPr>
              <p:cNvCxnSpPr>
                <a:cxnSpLocks/>
              </p:cNvCxnSpPr>
              <p:nvPr/>
            </p:nvCxnSpPr>
            <p:spPr>
              <a:xfrm flipV="1">
                <a:off x="3898567" y="10513166"/>
                <a:ext cx="12319719" cy="1"/>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1" name="直線コネクタ 50">
                <a:extLst>
                  <a:ext uri="{FF2B5EF4-FFF2-40B4-BE49-F238E27FC236}">
                    <a16:creationId xmlns:a16="http://schemas.microsoft.com/office/drawing/2014/main" id="{16D7953C-F20B-F648-97B9-FB72671F0A2C}"/>
                  </a:ext>
                </a:extLst>
              </p:cNvPr>
              <p:cNvCxnSpPr>
                <a:cxnSpLocks/>
              </p:cNvCxnSpPr>
              <p:nvPr/>
            </p:nvCxnSpPr>
            <p:spPr>
              <a:xfrm flipV="1">
                <a:off x="3898567" y="8358404"/>
                <a:ext cx="12319719" cy="1"/>
              </a:xfrm>
              <a:prstGeom prst="line">
                <a:avLst/>
              </a:prstGeom>
              <a:ln w="381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7" name="スマイル 36">
                <a:extLst>
                  <a:ext uri="{FF2B5EF4-FFF2-40B4-BE49-F238E27FC236}">
                    <a16:creationId xmlns:a16="http://schemas.microsoft.com/office/drawing/2014/main" id="{9CF4B8AF-2E80-B74E-9689-81954181E3E2}"/>
                  </a:ext>
                </a:extLst>
              </p:cNvPr>
              <p:cNvSpPr/>
              <p:nvPr/>
            </p:nvSpPr>
            <p:spPr>
              <a:xfrm>
                <a:off x="6627244" y="5242487"/>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8" name="スマイル 37">
                <a:extLst>
                  <a:ext uri="{FF2B5EF4-FFF2-40B4-BE49-F238E27FC236}">
                    <a16:creationId xmlns:a16="http://schemas.microsoft.com/office/drawing/2014/main" id="{6DC2511F-6662-1E49-905F-DD3BE3C4A0EF}"/>
                  </a:ext>
                </a:extLst>
              </p:cNvPr>
              <p:cNvSpPr/>
              <p:nvPr/>
            </p:nvSpPr>
            <p:spPr>
              <a:xfrm>
                <a:off x="11834723" y="5242486"/>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9" name="角丸四角形 38">
                <a:extLst>
                  <a:ext uri="{FF2B5EF4-FFF2-40B4-BE49-F238E27FC236}">
                    <a16:creationId xmlns:a16="http://schemas.microsoft.com/office/drawing/2014/main" id="{E09C4C9C-1428-3248-A1B6-150365D74B5A}"/>
                  </a:ext>
                </a:extLst>
              </p:cNvPr>
              <p:cNvSpPr/>
              <p:nvPr/>
            </p:nvSpPr>
            <p:spPr>
              <a:xfrm>
                <a:off x="5997516" y="6948129"/>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41" name="テキスト ボックス 40">
                <a:extLst>
                  <a:ext uri="{FF2B5EF4-FFF2-40B4-BE49-F238E27FC236}">
                    <a16:creationId xmlns:a16="http://schemas.microsoft.com/office/drawing/2014/main" id="{FBE073DD-A991-1C43-B2B7-BE007D6A4F8C}"/>
                  </a:ext>
                </a:extLst>
              </p:cNvPr>
              <p:cNvSpPr txBox="1"/>
              <p:nvPr/>
            </p:nvSpPr>
            <p:spPr>
              <a:xfrm>
                <a:off x="10679862" y="7071835"/>
                <a:ext cx="3502324" cy="646331"/>
              </a:xfrm>
              <a:prstGeom prst="rect">
                <a:avLst/>
              </a:prstGeom>
              <a:noFill/>
            </p:spPr>
            <p:txBody>
              <a:bodyPr wrap="square" rtlCol="0">
                <a:spAutoFit/>
              </a:bodyPr>
              <a:lstStyle/>
              <a:p>
                <a:pPr algn="ctr"/>
                <a:r>
                  <a:rPr kumimoji="1" lang="en-US" altLang="ja-JP" dirty="0"/>
                  <a:t>reject  /  accept</a:t>
                </a:r>
                <a:endParaRPr kumimoji="1" lang="ja-JP" altLang="en-US"/>
              </a:p>
            </p:txBody>
          </p:sp>
          <p:sp>
            <p:nvSpPr>
              <p:cNvPr id="44" name="右矢印 43">
                <a:extLst>
                  <a:ext uri="{FF2B5EF4-FFF2-40B4-BE49-F238E27FC236}">
                    <a16:creationId xmlns:a16="http://schemas.microsoft.com/office/drawing/2014/main" id="{11B97553-391D-4847-943B-17718411A7AE}"/>
                  </a:ext>
                </a:extLst>
              </p:cNvPr>
              <p:cNvSpPr/>
              <p:nvPr/>
            </p:nvSpPr>
            <p:spPr>
              <a:xfrm>
                <a:off x="9109854" y="7284253"/>
                <a:ext cx="1570008"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5" name="角丸四角形 44">
                <a:extLst>
                  <a:ext uri="{FF2B5EF4-FFF2-40B4-BE49-F238E27FC236}">
                    <a16:creationId xmlns:a16="http://schemas.microsoft.com/office/drawing/2014/main" id="{1252E8D3-35D9-BD40-A048-F80F78E5FD1E}"/>
                  </a:ext>
                </a:extLst>
              </p:cNvPr>
              <p:cNvSpPr/>
              <p:nvPr/>
            </p:nvSpPr>
            <p:spPr>
              <a:xfrm>
                <a:off x="11204995" y="9103036"/>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46" name="右矢印 45">
                <a:extLst>
                  <a:ext uri="{FF2B5EF4-FFF2-40B4-BE49-F238E27FC236}">
                    <a16:creationId xmlns:a16="http://schemas.microsoft.com/office/drawing/2014/main" id="{13E13E97-CA93-4847-A5DA-3CA17C7D3804}"/>
                  </a:ext>
                </a:extLst>
              </p:cNvPr>
              <p:cNvSpPr/>
              <p:nvPr/>
            </p:nvSpPr>
            <p:spPr>
              <a:xfrm rot="5400000">
                <a:off x="11943599" y="8226893"/>
                <a:ext cx="974851"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7" name="テキスト ボックス 46">
                <a:extLst>
                  <a:ext uri="{FF2B5EF4-FFF2-40B4-BE49-F238E27FC236}">
                    <a16:creationId xmlns:a16="http://schemas.microsoft.com/office/drawing/2014/main" id="{B3A90CC4-0059-EC48-8D6E-E8B229E12046}"/>
                  </a:ext>
                </a:extLst>
              </p:cNvPr>
              <p:cNvSpPr txBox="1"/>
              <p:nvPr/>
            </p:nvSpPr>
            <p:spPr>
              <a:xfrm>
                <a:off x="5497183" y="9183499"/>
                <a:ext cx="3502324" cy="646331"/>
              </a:xfrm>
              <a:prstGeom prst="rect">
                <a:avLst/>
              </a:prstGeom>
              <a:noFill/>
            </p:spPr>
            <p:txBody>
              <a:bodyPr wrap="square" rtlCol="0">
                <a:spAutoFit/>
              </a:bodyPr>
              <a:lstStyle/>
              <a:p>
                <a:pPr algn="ctr"/>
                <a:r>
                  <a:rPr kumimoji="1" lang="en-US" altLang="ja-JP" dirty="0"/>
                  <a:t>reject  /  accept</a:t>
                </a:r>
                <a:endParaRPr kumimoji="1" lang="ja-JP" altLang="en-US"/>
              </a:p>
            </p:txBody>
          </p:sp>
          <p:sp>
            <p:nvSpPr>
              <p:cNvPr id="48" name="右矢印 47">
                <a:extLst>
                  <a:ext uri="{FF2B5EF4-FFF2-40B4-BE49-F238E27FC236}">
                    <a16:creationId xmlns:a16="http://schemas.microsoft.com/office/drawing/2014/main" id="{BC223DC2-9CD1-0C4C-8D7A-FBC496089A6B}"/>
                  </a:ext>
                </a:extLst>
              </p:cNvPr>
              <p:cNvSpPr/>
              <p:nvPr/>
            </p:nvSpPr>
            <p:spPr>
              <a:xfrm flipH="1">
                <a:off x="9109854" y="9388326"/>
                <a:ext cx="1570008"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9" name="右矢印 48">
                <a:extLst>
                  <a:ext uri="{FF2B5EF4-FFF2-40B4-BE49-F238E27FC236}">
                    <a16:creationId xmlns:a16="http://schemas.microsoft.com/office/drawing/2014/main" id="{E2A01DCA-2AFF-2041-B8CD-5D8E892B3A2D}"/>
                  </a:ext>
                </a:extLst>
              </p:cNvPr>
              <p:cNvSpPr/>
              <p:nvPr/>
            </p:nvSpPr>
            <p:spPr>
              <a:xfrm rot="5400000">
                <a:off x="6760919" y="10384117"/>
                <a:ext cx="974851"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4" name="テキスト ボックス 53">
                <a:extLst>
                  <a:ext uri="{FF2B5EF4-FFF2-40B4-BE49-F238E27FC236}">
                    <a16:creationId xmlns:a16="http://schemas.microsoft.com/office/drawing/2014/main" id="{4859D2BE-E535-2D41-971F-8FFE54AB3657}"/>
                  </a:ext>
                </a:extLst>
              </p:cNvPr>
              <p:cNvSpPr txBox="1"/>
              <p:nvPr/>
            </p:nvSpPr>
            <p:spPr>
              <a:xfrm>
                <a:off x="2169353" y="8035238"/>
                <a:ext cx="1797246" cy="646331"/>
              </a:xfrm>
              <a:prstGeom prst="rect">
                <a:avLst/>
              </a:prstGeom>
              <a:noFill/>
            </p:spPr>
            <p:txBody>
              <a:bodyPr wrap="square" rtlCol="0">
                <a:spAutoFit/>
              </a:bodyPr>
              <a:lstStyle/>
              <a:p>
                <a:pPr algn="ctr"/>
                <a:r>
                  <a:rPr lang="en-US" altLang="ja-JP" dirty="0"/>
                  <a:t>turn1</a:t>
                </a:r>
                <a:endParaRPr kumimoji="1" lang="ja-JP" altLang="en-US"/>
              </a:p>
            </p:txBody>
          </p:sp>
          <p:sp>
            <p:nvSpPr>
              <p:cNvPr id="55" name="テキスト ボックス 54">
                <a:extLst>
                  <a:ext uri="{FF2B5EF4-FFF2-40B4-BE49-F238E27FC236}">
                    <a16:creationId xmlns:a16="http://schemas.microsoft.com/office/drawing/2014/main" id="{9315D72E-0419-9A41-97CF-F197D1FAFC7C}"/>
                  </a:ext>
                </a:extLst>
              </p:cNvPr>
              <p:cNvSpPr txBox="1"/>
              <p:nvPr/>
            </p:nvSpPr>
            <p:spPr>
              <a:xfrm>
                <a:off x="2169353" y="10190000"/>
                <a:ext cx="1797246" cy="646331"/>
              </a:xfrm>
              <a:prstGeom prst="rect">
                <a:avLst/>
              </a:prstGeom>
              <a:noFill/>
            </p:spPr>
            <p:txBody>
              <a:bodyPr wrap="square" rtlCol="0">
                <a:spAutoFit/>
              </a:bodyPr>
              <a:lstStyle/>
              <a:p>
                <a:pPr algn="ctr"/>
                <a:r>
                  <a:rPr lang="en-US" altLang="ja-JP" dirty="0"/>
                  <a:t>turn2</a:t>
                </a:r>
                <a:endParaRPr kumimoji="1" lang="ja-JP" altLang="en-US"/>
              </a:p>
            </p:txBody>
          </p:sp>
        </p:grpSp>
        <p:sp>
          <p:nvSpPr>
            <p:cNvPr id="57" name="テキスト ボックス 56">
              <a:extLst>
                <a:ext uri="{FF2B5EF4-FFF2-40B4-BE49-F238E27FC236}">
                  <a16:creationId xmlns:a16="http://schemas.microsoft.com/office/drawing/2014/main" id="{ABBE6729-4F1E-844B-8626-9D8A4C742F21}"/>
                </a:ext>
              </a:extLst>
            </p:cNvPr>
            <p:cNvSpPr txBox="1"/>
            <p:nvPr/>
          </p:nvSpPr>
          <p:spPr>
            <a:xfrm>
              <a:off x="6569153" y="5617598"/>
              <a:ext cx="1797246" cy="646331"/>
            </a:xfrm>
            <a:prstGeom prst="rect">
              <a:avLst/>
            </a:prstGeom>
            <a:noFill/>
          </p:spPr>
          <p:txBody>
            <a:bodyPr wrap="square" rtlCol="0">
              <a:spAutoFit/>
            </a:bodyPr>
            <a:lstStyle/>
            <a:p>
              <a:pPr algn="ctr"/>
              <a:r>
                <a:rPr kumimoji="1" lang="en-US" altLang="ja-JP" dirty="0"/>
                <a:t>A</a:t>
              </a:r>
              <a:endParaRPr kumimoji="1" lang="ja-JP" altLang="en-US"/>
            </a:p>
          </p:txBody>
        </p:sp>
        <p:sp>
          <p:nvSpPr>
            <p:cNvPr id="58" name="テキスト ボックス 57">
              <a:extLst>
                <a:ext uri="{FF2B5EF4-FFF2-40B4-BE49-F238E27FC236}">
                  <a16:creationId xmlns:a16="http://schemas.microsoft.com/office/drawing/2014/main" id="{9CE7A1FE-D08D-FA4C-8BC0-8BAE53E4808F}"/>
                </a:ext>
              </a:extLst>
            </p:cNvPr>
            <p:cNvSpPr txBox="1"/>
            <p:nvPr/>
          </p:nvSpPr>
          <p:spPr>
            <a:xfrm>
              <a:off x="11751833" y="5593615"/>
              <a:ext cx="1797246" cy="646331"/>
            </a:xfrm>
            <a:prstGeom prst="rect">
              <a:avLst/>
            </a:prstGeom>
            <a:noFill/>
          </p:spPr>
          <p:txBody>
            <a:bodyPr wrap="square" rtlCol="0">
              <a:spAutoFit/>
            </a:bodyPr>
            <a:lstStyle/>
            <a:p>
              <a:pPr algn="ctr"/>
              <a:r>
                <a:rPr lang="en-US" altLang="ja-JP" dirty="0"/>
                <a:t>B</a:t>
              </a:r>
              <a:endParaRPr kumimoji="1" lang="ja-JP" altLang="en-US"/>
            </a:p>
          </p:txBody>
        </p:sp>
      </p:gr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6</a:t>
            </a:r>
            <a:r>
              <a:rPr lang="ja-JP" altLang="en-US"/>
              <a:t>ターン終了時までに合意が得られなかった場合は交渉終了</a:t>
            </a:r>
          </a:p>
        </p:txBody>
      </p:sp>
    </p:spTree>
    <p:extLst>
      <p:ext uri="{BB962C8B-B14F-4D97-AF65-F5344CB8AC3E}">
        <p14:creationId xmlns:p14="http://schemas.microsoft.com/office/powerpoint/2010/main" val="25927535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a:t>
            </a:r>
            <a:r>
              <a:rPr lang="en-US" altLang="ja-JP" dirty="0"/>
              <a:t>offer</a:t>
            </a:r>
            <a:r>
              <a:rPr lang="ja-JP" altLang="en-US"/>
              <a:t>は以下のレベルで行なわれる</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ターンが経過するにつれて譲歩する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交渉タスク</a:t>
            </a:r>
          </a:p>
        </p:txBody>
      </p:sp>
      <p:graphicFrame>
        <p:nvGraphicFramePr>
          <p:cNvPr id="40" name="表 39">
            <a:extLst>
              <a:ext uri="{FF2B5EF4-FFF2-40B4-BE49-F238E27FC236}">
                <a16:creationId xmlns:a16="http://schemas.microsoft.com/office/drawing/2014/main" id="{E9372689-BF67-5547-B96B-CA9774DC3ACD}"/>
              </a:ext>
            </a:extLst>
          </p:cNvPr>
          <p:cNvGraphicFramePr>
            <a:graphicFrameLocks noGrp="1"/>
          </p:cNvGraphicFramePr>
          <p:nvPr>
            <p:extLst>
              <p:ext uri="{D42A27DB-BD31-4B8C-83A1-F6EECF244321}">
                <p14:modId xmlns:p14="http://schemas.microsoft.com/office/powerpoint/2010/main" val="4222583399"/>
              </p:ext>
            </p:extLst>
          </p:nvPr>
        </p:nvGraphicFramePr>
        <p:xfrm>
          <a:off x="481153" y="4657122"/>
          <a:ext cx="17325694" cy="2804160"/>
        </p:xfrm>
        <a:graphic>
          <a:graphicData uri="http://schemas.openxmlformats.org/drawingml/2006/table">
            <a:tbl>
              <a:tblPr firstRow="1" bandRow="1">
                <a:tableStyleId>{5C22544A-7EE6-4342-B048-85BDC9FD1C3A}</a:tableStyleId>
              </a:tblPr>
              <a:tblGrid>
                <a:gridCol w="4797694">
                  <a:extLst>
                    <a:ext uri="{9D8B030D-6E8A-4147-A177-3AD203B41FA5}">
                      <a16:colId xmlns:a16="http://schemas.microsoft.com/office/drawing/2014/main" val="3132472836"/>
                    </a:ext>
                  </a:extLst>
                </a:gridCol>
                <a:gridCol w="2088000">
                  <a:extLst>
                    <a:ext uri="{9D8B030D-6E8A-4147-A177-3AD203B41FA5}">
                      <a16:colId xmlns:a16="http://schemas.microsoft.com/office/drawing/2014/main" val="1411076331"/>
                    </a:ext>
                  </a:extLst>
                </a:gridCol>
                <a:gridCol w="2088000">
                  <a:extLst>
                    <a:ext uri="{9D8B030D-6E8A-4147-A177-3AD203B41FA5}">
                      <a16:colId xmlns:a16="http://schemas.microsoft.com/office/drawing/2014/main" val="3639288741"/>
                    </a:ext>
                  </a:extLst>
                </a:gridCol>
                <a:gridCol w="2088000">
                  <a:extLst>
                    <a:ext uri="{9D8B030D-6E8A-4147-A177-3AD203B41FA5}">
                      <a16:colId xmlns:a16="http://schemas.microsoft.com/office/drawing/2014/main" val="2618031870"/>
                    </a:ext>
                  </a:extLst>
                </a:gridCol>
                <a:gridCol w="2088000">
                  <a:extLst>
                    <a:ext uri="{9D8B030D-6E8A-4147-A177-3AD203B41FA5}">
                      <a16:colId xmlns:a16="http://schemas.microsoft.com/office/drawing/2014/main" val="2275254161"/>
                    </a:ext>
                  </a:extLst>
                </a:gridCol>
                <a:gridCol w="2088000">
                  <a:extLst>
                    <a:ext uri="{9D8B030D-6E8A-4147-A177-3AD203B41FA5}">
                      <a16:colId xmlns:a16="http://schemas.microsoft.com/office/drawing/2014/main" val="232774055"/>
                    </a:ext>
                  </a:extLst>
                </a:gridCol>
                <a:gridCol w="2088000">
                  <a:extLst>
                    <a:ext uri="{9D8B030D-6E8A-4147-A177-3AD203B41FA5}">
                      <a16:colId xmlns:a16="http://schemas.microsoft.com/office/drawing/2014/main" val="959137927"/>
                    </a:ext>
                  </a:extLst>
                </a:gridCol>
              </a:tblGrid>
              <a:tr h="355929">
                <a:tc>
                  <a:txBody>
                    <a:bodyPr/>
                    <a:lstStyle/>
                    <a:p>
                      <a:pPr algn="ctr"/>
                      <a:r>
                        <a:rPr kumimoji="1" lang="ja-JP" altLang="en-US" sz="4000"/>
                        <a:t>交渉内容</a:t>
                      </a:r>
                    </a:p>
                  </a:txBody>
                  <a:tcPr/>
                </a:tc>
                <a:tc>
                  <a:txBody>
                    <a:bodyPr/>
                    <a:lstStyle/>
                    <a:p>
                      <a:pPr algn="ctr"/>
                      <a:r>
                        <a:rPr kumimoji="1" lang="ja-JP" altLang="en-US" sz="4000"/>
                        <a:t>ターン</a:t>
                      </a:r>
                      <a:r>
                        <a:rPr kumimoji="1" lang="en-US" altLang="ja-JP" sz="4000" dirty="0"/>
                        <a:t>1</a:t>
                      </a:r>
                      <a:endParaRPr kumimoji="1" lang="ja-JP" altLang="en-US" sz="4000"/>
                    </a:p>
                  </a:txBody>
                  <a:tcPr/>
                </a:tc>
                <a:tc>
                  <a:txBody>
                    <a:bodyPr/>
                    <a:lstStyle/>
                    <a:p>
                      <a:pPr algn="ctr"/>
                      <a:r>
                        <a:rPr kumimoji="1" lang="ja-JP" altLang="en-US" sz="4000"/>
                        <a:t>ターン</a:t>
                      </a:r>
                      <a:r>
                        <a:rPr kumimoji="1" lang="en-US" altLang="ja-JP" sz="4000" dirty="0"/>
                        <a:t>2</a:t>
                      </a:r>
                      <a:endParaRPr kumimoji="1" lang="ja-JP" altLang="en-US" sz="4000"/>
                    </a:p>
                  </a:txBody>
                  <a:tcPr/>
                </a:tc>
                <a:tc>
                  <a:txBody>
                    <a:bodyPr/>
                    <a:lstStyle/>
                    <a:p>
                      <a:pPr algn="ctr"/>
                      <a:r>
                        <a:rPr kumimoji="1" lang="ja-JP" altLang="en-US" sz="4000"/>
                        <a:t>ターン</a:t>
                      </a:r>
                      <a:r>
                        <a:rPr kumimoji="1" lang="en-US" altLang="ja-JP" sz="4000" dirty="0"/>
                        <a:t>3</a:t>
                      </a:r>
                      <a:endParaRPr kumimoji="1" lang="ja-JP" altLang="en-US" sz="4000"/>
                    </a:p>
                  </a:txBody>
                  <a:tcPr/>
                </a:tc>
                <a:tc>
                  <a:txBody>
                    <a:bodyPr/>
                    <a:lstStyle/>
                    <a:p>
                      <a:pPr algn="ctr"/>
                      <a:r>
                        <a:rPr kumimoji="1" lang="ja-JP" altLang="en-US" sz="4000"/>
                        <a:t>ターン</a:t>
                      </a:r>
                      <a:r>
                        <a:rPr kumimoji="1" lang="en-US" altLang="ja-JP" sz="4000" dirty="0"/>
                        <a:t>4</a:t>
                      </a:r>
                      <a:endParaRPr kumimoji="1" lang="ja-JP" altLang="en-US" sz="4000"/>
                    </a:p>
                  </a:txBody>
                  <a:tcPr/>
                </a:tc>
                <a:tc>
                  <a:txBody>
                    <a:bodyPr/>
                    <a:lstStyle/>
                    <a:p>
                      <a:pPr algn="ctr"/>
                      <a:r>
                        <a:rPr kumimoji="1" lang="ja-JP" altLang="en-US" sz="4000"/>
                        <a:t>ターン</a:t>
                      </a:r>
                      <a:r>
                        <a:rPr kumimoji="1" lang="en-US" altLang="ja-JP" sz="4000" dirty="0"/>
                        <a:t>5</a:t>
                      </a:r>
                      <a:endParaRPr kumimoji="1" lang="ja-JP" altLang="en-US" sz="4000"/>
                    </a:p>
                  </a:txBody>
                  <a:tcPr/>
                </a:tc>
                <a:tc>
                  <a:txBody>
                    <a:bodyPr/>
                    <a:lstStyle/>
                    <a:p>
                      <a:pPr algn="ctr"/>
                      <a:r>
                        <a:rPr kumimoji="1" lang="ja-JP" altLang="en-US" sz="4000"/>
                        <a:t>ターン</a:t>
                      </a:r>
                      <a:r>
                        <a:rPr kumimoji="1" lang="en-US" altLang="ja-JP" sz="4000" dirty="0"/>
                        <a:t>6</a:t>
                      </a:r>
                      <a:endParaRPr kumimoji="1" lang="ja-JP" altLang="en-US" sz="4000"/>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2</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3</a:t>
                      </a:r>
                      <a:endParaRPr kumimoji="1" lang="ja-JP" altLang="en-US" sz="4000"/>
                    </a:p>
                  </a:txBody>
                  <a:tcPr/>
                </a:tc>
                <a:tc>
                  <a:txBody>
                    <a:bodyPr/>
                    <a:lstStyle/>
                    <a:p>
                      <a:pPr algn="r"/>
                      <a:r>
                        <a:rPr kumimoji="1" lang="en-US" altLang="ja-JP" sz="4000" dirty="0"/>
                        <a:t>4</a:t>
                      </a:r>
                      <a:endParaRPr kumimoji="1" lang="ja-JP" altLang="en-US" sz="4000"/>
                    </a:p>
                  </a:txBody>
                  <a:tcPr/>
                </a:tc>
                <a:tc>
                  <a:txBody>
                    <a:bodyPr/>
                    <a:lstStyle/>
                    <a:p>
                      <a:pPr algn="r"/>
                      <a:r>
                        <a:rPr kumimoji="1" lang="en-US" altLang="ja-JP" sz="4000" dirty="0"/>
                        <a:t>4</a:t>
                      </a:r>
                      <a:endParaRPr kumimoji="1" lang="ja-JP" altLang="en-US" sz="4000"/>
                    </a:p>
                  </a:txBody>
                  <a:tcPr/>
                </a:tc>
                <a:extLst>
                  <a:ext uri="{0D108BD9-81ED-4DB2-BD59-A6C34878D82A}">
                    <a16:rowId xmlns:a16="http://schemas.microsoft.com/office/drawing/2014/main" val="85150135"/>
                  </a:ext>
                </a:extLst>
              </a:tr>
            </a:tbl>
          </a:graphicData>
        </a:graphic>
      </p:graphicFrame>
      <p:grpSp>
        <p:nvGrpSpPr>
          <p:cNvPr id="67" name="グループ化 66">
            <a:extLst>
              <a:ext uri="{FF2B5EF4-FFF2-40B4-BE49-F238E27FC236}">
                <a16:creationId xmlns:a16="http://schemas.microsoft.com/office/drawing/2014/main" id="{AF43A8DD-E204-6D4F-8D7E-6389A3B63A35}"/>
              </a:ext>
            </a:extLst>
          </p:cNvPr>
          <p:cNvGrpSpPr/>
          <p:nvPr/>
        </p:nvGrpSpPr>
        <p:grpSpPr>
          <a:xfrm>
            <a:off x="306583" y="8372114"/>
            <a:ext cx="2160000" cy="934436"/>
            <a:chOff x="144665" y="525617"/>
            <a:chExt cx="1080000" cy="467218"/>
          </a:xfrm>
        </p:grpSpPr>
        <p:sp>
          <p:nvSpPr>
            <p:cNvPr id="68" name="正方形/長方形 67">
              <a:extLst>
                <a:ext uri="{FF2B5EF4-FFF2-40B4-BE49-F238E27FC236}">
                  <a16:creationId xmlns:a16="http://schemas.microsoft.com/office/drawing/2014/main" id="{D3784741-4980-5E48-8B2F-9D05B7A1D42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71" name="正方形/長方形 70">
              <a:extLst>
                <a:ext uri="{FF2B5EF4-FFF2-40B4-BE49-F238E27FC236}">
                  <a16:creationId xmlns:a16="http://schemas.microsoft.com/office/drawing/2014/main" id="{2B012E12-8EDA-3C45-A6D9-515B8234B8A1}"/>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72" name="グループ化 71">
            <a:extLst>
              <a:ext uri="{FF2B5EF4-FFF2-40B4-BE49-F238E27FC236}">
                <a16:creationId xmlns:a16="http://schemas.microsoft.com/office/drawing/2014/main" id="{CC62BD74-0397-CF46-900B-2D064C928F73}"/>
              </a:ext>
            </a:extLst>
          </p:cNvPr>
          <p:cNvGrpSpPr/>
          <p:nvPr/>
        </p:nvGrpSpPr>
        <p:grpSpPr>
          <a:xfrm>
            <a:off x="634485" y="9516174"/>
            <a:ext cx="539448" cy="487368"/>
            <a:chOff x="400056" y="1061560"/>
            <a:chExt cx="269724" cy="243684"/>
          </a:xfrm>
        </p:grpSpPr>
        <p:sp>
          <p:nvSpPr>
            <p:cNvPr id="73" name="三角形 72">
              <a:extLst>
                <a:ext uri="{FF2B5EF4-FFF2-40B4-BE49-F238E27FC236}">
                  <a16:creationId xmlns:a16="http://schemas.microsoft.com/office/drawing/2014/main" id="{FA9A05CB-7BF6-104E-A8B9-1DA4289FABD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三角形 73">
              <a:extLst>
                <a:ext uri="{FF2B5EF4-FFF2-40B4-BE49-F238E27FC236}">
                  <a16:creationId xmlns:a16="http://schemas.microsoft.com/office/drawing/2014/main" id="{CBD3F5DB-87B5-E041-B871-83C111269508}"/>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76" name="テキスト プレースホルダー 27">
            <a:extLst>
              <a:ext uri="{FF2B5EF4-FFF2-40B4-BE49-F238E27FC236}">
                <a16:creationId xmlns:a16="http://schemas.microsoft.com/office/drawing/2014/main" id="{0805C932-52A3-F14E-8C0D-1188AD945D02}"/>
              </a:ext>
            </a:extLst>
          </p:cNvPr>
          <p:cNvSpPr txBox="1">
            <a:spLocks/>
          </p:cNvSpPr>
          <p:nvPr/>
        </p:nvSpPr>
        <p:spPr>
          <a:xfrm>
            <a:off x="1271739" y="9443549"/>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履修単位</a:t>
            </a:r>
            <a:endParaRPr lang="en-US" altLang="ja-JP" dirty="0"/>
          </a:p>
        </p:txBody>
      </p:sp>
      <p:sp>
        <p:nvSpPr>
          <p:cNvPr id="78" name="テキスト プレースホルダー 30">
            <a:extLst>
              <a:ext uri="{FF2B5EF4-FFF2-40B4-BE49-F238E27FC236}">
                <a16:creationId xmlns:a16="http://schemas.microsoft.com/office/drawing/2014/main" id="{BDCF4158-63FA-6B46-A592-469329D525B9}"/>
              </a:ext>
            </a:extLst>
          </p:cNvPr>
          <p:cNvSpPr txBox="1">
            <a:spLocks/>
          </p:cNvSpPr>
          <p:nvPr/>
        </p:nvSpPr>
        <p:spPr>
          <a:xfrm>
            <a:off x="588302" y="8542687"/>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参加者へのインセンティブ</a:t>
            </a:r>
          </a:p>
        </p:txBody>
      </p:sp>
      <p:grpSp>
        <p:nvGrpSpPr>
          <p:cNvPr id="80" name="グループ化 79">
            <a:extLst>
              <a:ext uri="{FF2B5EF4-FFF2-40B4-BE49-F238E27FC236}">
                <a16:creationId xmlns:a16="http://schemas.microsoft.com/office/drawing/2014/main" id="{A4225CB9-8CD3-D441-8968-23641E87F48F}"/>
              </a:ext>
            </a:extLst>
          </p:cNvPr>
          <p:cNvGrpSpPr/>
          <p:nvPr/>
        </p:nvGrpSpPr>
        <p:grpSpPr>
          <a:xfrm>
            <a:off x="617232" y="10323591"/>
            <a:ext cx="539448" cy="487368"/>
            <a:chOff x="400056" y="1061560"/>
            <a:chExt cx="269724" cy="243684"/>
          </a:xfrm>
        </p:grpSpPr>
        <p:sp>
          <p:nvSpPr>
            <p:cNvPr id="81" name="三角形 80">
              <a:extLst>
                <a:ext uri="{FF2B5EF4-FFF2-40B4-BE49-F238E27FC236}">
                  <a16:creationId xmlns:a16="http://schemas.microsoft.com/office/drawing/2014/main" id="{592BBE17-45AB-E646-99AF-F47D0DE445FF}"/>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2" name="三角形 81">
              <a:extLst>
                <a:ext uri="{FF2B5EF4-FFF2-40B4-BE49-F238E27FC236}">
                  <a16:creationId xmlns:a16="http://schemas.microsoft.com/office/drawing/2014/main" id="{C8C3ABEF-62F8-8549-A46E-3996937CFB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83" name="テキスト プレースホルダー 27">
            <a:extLst>
              <a:ext uri="{FF2B5EF4-FFF2-40B4-BE49-F238E27FC236}">
                <a16:creationId xmlns:a16="http://schemas.microsoft.com/office/drawing/2014/main" id="{ABB35284-5CCF-1248-9717-0F4B86749863}"/>
              </a:ext>
            </a:extLst>
          </p:cNvPr>
          <p:cNvSpPr txBox="1">
            <a:spLocks/>
          </p:cNvSpPr>
          <p:nvPr/>
        </p:nvSpPr>
        <p:spPr>
          <a:xfrm>
            <a:off x="1254486" y="10250966"/>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抽選で</a:t>
            </a:r>
            <a:r>
              <a:rPr lang="en-US" altLang="ja-JP" dirty="0"/>
              <a:t>100</a:t>
            </a:r>
            <a:r>
              <a:rPr lang="ja-JP" altLang="en-US"/>
              <a:t>ドル</a:t>
            </a:r>
            <a:endParaRPr lang="en-US" altLang="ja-JP" dirty="0"/>
          </a:p>
        </p:txBody>
      </p:sp>
      <p:sp>
        <p:nvSpPr>
          <p:cNvPr id="84" name="三角形 83">
            <a:extLst>
              <a:ext uri="{FF2B5EF4-FFF2-40B4-BE49-F238E27FC236}">
                <a16:creationId xmlns:a16="http://schemas.microsoft.com/office/drawing/2014/main" id="{A76CC6A0-E54B-5541-82F2-BA4414A87EC0}"/>
              </a:ext>
            </a:extLst>
          </p:cNvPr>
          <p:cNvSpPr/>
          <p:nvPr/>
        </p:nvSpPr>
        <p:spPr>
          <a:xfrm rot="5400000">
            <a:off x="1076238" y="11119669"/>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5" name="テキスト プレースホルダー 29">
            <a:extLst>
              <a:ext uri="{FF2B5EF4-FFF2-40B4-BE49-F238E27FC236}">
                <a16:creationId xmlns:a16="http://schemas.microsoft.com/office/drawing/2014/main" id="{9AB38C3B-BE07-594E-B470-D89EA82DDD29}"/>
              </a:ext>
            </a:extLst>
          </p:cNvPr>
          <p:cNvSpPr txBox="1">
            <a:spLocks/>
          </p:cNvSpPr>
          <p:nvPr/>
        </p:nvSpPr>
        <p:spPr>
          <a:xfrm>
            <a:off x="1568600" y="11004395"/>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価値の合計が多いほど当選確率が上昇</a:t>
            </a:r>
          </a:p>
        </p:txBody>
      </p:sp>
      <p:sp>
        <p:nvSpPr>
          <p:cNvPr id="86" name="三角形 85">
            <a:extLst>
              <a:ext uri="{FF2B5EF4-FFF2-40B4-BE49-F238E27FC236}">
                <a16:creationId xmlns:a16="http://schemas.microsoft.com/office/drawing/2014/main" id="{1091AC50-804F-8B40-9EDD-A753647D8FEF}"/>
              </a:ext>
            </a:extLst>
          </p:cNvPr>
          <p:cNvSpPr/>
          <p:nvPr/>
        </p:nvSpPr>
        <p:spPr>
          <a:xfrm rot="5400000">
            <a:off x="1076238" y="1191231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87" name="テキスト プレースホルダー 29">
            <a:extLst>
              <a:ext uri="{FF2B5EF4-FFF2-40B4-BE49-F238E27FC236}">
                <a16:creationId xmlns:a16="http://schemas.microsoft.com/office/drawing/2014/main" id="{79C37548-A7D8-164E-8745-7669F6F7B283}"/>
              </a:ext>
            </a:extLst>
          </p:cNvPr>
          <p:cNvSpPr txBox="1">
            <a:spLocks/>
          </p:cNvSpPr>
          <p:nvPr/>
        </p:nvSpPr>
        <p:spPr>
          <a:xfrm>
            <a:off x="1568600" y="1179703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交渉が合意至らなかった場合は価値が得られない</a:t>
            </a:r>
          </a:p>
        </p:txBody>
      </p:sp>
    </p:spTree>
    <p:extLst>
      <p:ext uri="{BB962C8B-B14F-4D97-AF65-F5344CB8AC3E}">
        <p14:creationId xmlns:p14="http://schemas.microsoft.com/office/powerpoint/2010/main" val="32451517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感情と伝達方法を変更して実験を実施</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感情は怒り・喜び・中立の</a:t>
            </a:r>
            <a:r>
              <a:rPr lang="en-US" altLang="ja-JP" dirty="0"/>
              <a:t>3</a:t>
            </a:r>
            <a:r>
              <a:rPr lang="ja-JP" altLang="en-US"/>
              <a:t>種類</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条件</a:t>
            </a:r>
          </a:p>
        </p:txBody>
      </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伝達方法は言語・非言語の</a:t>
            </a:r>
            <a:r>
              <a:rPr lang="en-US" altLang="ja-JP" dirty="0"/>
              <a:t>2</a:t>
            </a:r>
            <a:r>
              <a:rPr lang="ja-JP" altLang="en-US"/>
              <a:t>種類</a:t>
            </a:r>
          </a:p>
        </p:txBody>
      </p:sp>
      <p:grpSp>
        <p:nvGrpSpPr>
          <p:cNvPr id="52" name="グループ化 51">
            <a:extLst>
              <a:ext uri="{FF2B5EF4-FFF2-40B4-BE49-F238E27FC236}">
                <a16:creationId xmlns:a16="http://schemas.microsoft.com/office/drawing/2014/main" id="{453F47C7-9529-1846-BD05-1C9891EC4335}"/>
              </a:ext>
            </a:extLst>
          </p:cNvPr>
          <p:cNvGrpSpPr/>
          <p:nvPr/>
        </p:nvGrpSpPr>
        <p:grpSpPr>
          <a:xfrm>
            <a:off x="306583" y="5027895"/>
            <a:ext cx="2160000" cy="934436"/>
            <a:chOff x="144665" y="525617"/>
            <a:chExt cx="1080000" cy="467218"/>
          </a:xfrm>
        </p:grpSpPr>
        <p:sp>
          <p:nvSpPr>
            <p:cNvPr id="60" name="正方形/長方形 59">
              <a:extLst>
                <a:ext uri="{FF2B5EF4-FFF2-40B4-BE49-F238E27FC236}">
                  <a16:creationId xmlns:a16="http://schemas.microsoft.com/office/drawing/2014/main" id="{EB125957-0F29-D84C-9FC4-90448BD0507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1" name="正方形/長方形 60">
              <a:extLst>
                <a:ext uri="{FF2B5EF4-FFF2-40B4-BE49-F238E27FC236}">
                  <a16:creationId xmlns:a16="http://schemas.microsoft.com/office/drawing/2014/main" id="{99431A21-F081-C04E-B285-922BB6535CE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2" name="グループ化 61">
            <a:extLst>
              <a:ext uri="{FF2B5EF4-FFF2-40B4-BE49-F238E27FC236}">
                <a16:creationId xmlns:a16="http://schemas.microsoft.com/office/drawing/2014/main" id="{6BE70324-E2DE-DA4A-8F8A-202247654FAF}"/>
              </a:ext>
            </a:extLst>
          </p:cNvPr>
          <p:cNvGrpSpPr/>
          <p:nvPr/>
        </p:nvGrpSpPr>
        <p:grpSpPr>
          <a:xfrm>
            <a:off x="634485" y="6171955"/>
            <a:ext cx="539448" cy="487368"/>
            <a:chOff x="400056" y="1061560"/>
            <a:chExt cx="269724" cy="243684"/>
          </a:xfrm>
        </p:grpSpPr>
        <p:sp>
          <p:nvSpPr>
            <p:cNvPr id="63" name="三角形 62">
              <a:extLst>
                <a:ext uri="{FF2B5EF4-FFF2-40B4-BE49-F238E27FC236}">
                  <a16:creationId xmlns:a16="http://schemas.microsoft.com/office/drawing/2014/main" id="{9AF992DB-EE2B-CA42-BED9-6E070CD421A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三角形 63">
              <a:extLst>
                <a:ext uri="{FF2B5EF4-FFF2-40B4-BE49-F238E27FC236}">
                  <a16:creationId xmlns:a16="http://schemas.microsoft.com/office/drawing/2014/main" id="{61F0D646-4326-3D4D-B327-FCF8AB3FD8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5" name="テキスト プレースホルダー 27">
            <a:extLst>
              <a:ext uri="{FF2B5EF4-FFF2-40B4-BE49-F238E27FC236}">
                <a16:creationId xmlns:a16="http://schemas.microsoft.com/office/drawing/2014/main" id="{58DA118A-CEE5-6C4B-8413-B1FA2B3B1365}"/>
              </a:ext>
            </a:extLst>
          </p:cNvPr>
          <p:cNvSpPr txBox="1">
            <a:spLocks/>
          </p:cNvSpPr>
          <p:nvPr/>
        </p:nvSpPr>
        <p:spPr>
          <a:xfrm>
            <a:off x="1271739" y="60993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感情の伝達は以下の手順に従う</a:t>
            </a:r>
            <a:endParaRPr lang="en-US" altLang="ja-JP" dirty="0"/>
          </a:p>
        </p:txBody>
      </p:sp>
      <p:sp>
        <p:nvSpPr>
          <p:cNvPr id="66" name="テキスト プレースホルダー 30">
            <a:extLst>
              <a:ext uri="{FF2B5EF4-FFF2-40B4-BE49-F238E27FC236}">
                <a16:creationId xmlns:a16="http://schemas.microsoft.com/office/drawing/2014/main" id="{E67F6477-DB6D-CC4A-A72E-0DE3EB715F59}"/>
              </a:ext>
            </a:extLst>
          </p:cNvPr>
          <p:cNvSpPr txBox="1">
            <a:spLocks/>
          </p:cNvSpPr>
          <p:nvPr/>
        </p:nvSpPr>
        <p:spPr>
          <a:xfrm>
            <a:off x="588302" y="519846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a:t>
            </a:r>
          </a:p>
        </p:txBody>
      </p:sp>
      <p:sp>
        <p:nvSpPr>
          <p:cNvPr id="17" name="テキスト ボックス 16">
            <a:extLst>
              <a:ext uri="{FF2B5EF4-FFF2-40B4-BE49-F238E27FC236}">
                <a16:creationId xmlns:a16="http://schemas.microsoft.com/office/drawing/2014/main" id="{5629DD65-D953-EC4C-B0BB-463A18B57C1A}"/>
              </a:ext>
            </a:extLst>
          </p:cNvPr>
          <p:cNvSpPr txBox="1"/>
          <p:nvPr/>
        </p:nvSpPr>
        <p:spPr>
          <a:xfrm>
            <a:off x="1173933" y="6887325"/>
            <a:ext cx="15176134" cy="3170099"/>
          </a:xfrm>
          <a:prstGeom prst="rect">
            <a:avLst/>
          </a:prstGeom>
          <a:noFill/>
        </p:spPr>
        <p:txBody>
          <a:bodyPr wrap="square" rtlCol="0">
            <a:spAutoFit/>
          </a:bodyPr>
          <a:lstStyle/>
          <a:p>
            <a:pPr marL="742950" indent="-742950">
              <a:buFont typeface="+mj-lt"/>
              <a:buAutoNum type="arabicPeriod"/>
            </a:pPr>
            <a:r>
              <a:rPr kumimoji="1" lang="ja-JP" altLang="en-US" sz="4000"/>
              <a:t>参加者がオファーを行う</a:t>
            </a:r>
            <a:endParaRPr kumimoji="1" lang="en-US" altLang="ja-JP" sz="4000" dirty="0"/>
          </a:p>
          <a:p>
            <a:pPr marL="742950" indent="-742950">
              <a:buFont typeface="+mj-lt"/>
              <a:buAutoNum type="arabicPeriod"/>
            </a:pPr>
            <a:r>
              <a:rPr lang="ja-JP" altLang="en-US" sz="4000"/>
              <a:t>エージェントが感情を伝達</a:t>
            </a:r>
            <a:endParaRPr lang="en-US" altLang="ja-JP" sz="4000" dirty="0"/>
          </a:p>
          <a:p>
            <a:pPr marL="742950" indent="-742950">
              <a:buFont typeface="+mj-lt"/>
              <a:buAutoNum type="arabicPeriod"/>
            </a:pPr>
            <a:r>
              <a:rPr kumimoji="1" lang="ja-JP" altLang="en-US" sz="4000"/>
              <a:t>エージェントが</a:t>
            </a:r>
            <a:r>
              <a:rPr kumimoji="1" lang="en-US" altLang="ja-JP" sz="4000" dirty="0"/>
              <a:t>offer</a:t>
            </a:r>
            <a:r>
              <a:rPr kumimoji="1" lang="ja-JP" altLang="en-US" sz="4000"/>
              <a:t>へ返答</a:t>
            </a:r>
            <a:endParaRPr kumimoji="1" lang="en-US" altLang="ja-JP" sz="4000" dirty="0"/>
          </a:p>
          <a:p>
            <a:pPr marL="742950" indent="-742950">
              <a:buFont typeface="+mj-lt"/>
              <a:buAutoNum type="arabicPeriod"/>
            </a:pPr>
            <a:r>
              <a:rPr kumimoji="1" lang="ja-JP" altLang="en-US" sz="4000"/>
              <a:t>参加者はエージェントの</a:t>
            </a:r>
            <a:r>
              <a:rPr kumimoji="1" lang="en-US" altLang="ja-JP" sz="4000" dirty="0"/>
              <a:t>offer</a:t>
            </a:r>
            <a:r>
              <a:rPr kumimoji="1" lang="ja-JP" altLang="en-US" sz="4000"/>
              <a:t>を</a:t>
            </a:r>
            <a:r>
              <a:rPr kumimoji="1" lang="en-US" altLang="ja-JP" sz="4000" dirty="0"/>
              <a:t>reject/accept</a:t>
            </a:r>
            <a:r>
              <a:rPr kumimoji="1" lang="ja-JP" altLang="en-US" sz="4000"/>
              <a:t>する</a:t>
            </a:r>
            <a:endParaRPr kumimoji="1" lang="en-US" altLang="ja-JP" sz="4000" dirty="0"/>
          </a:p>
          <a:p>
            <a:pPr marL="742950" indent="-742950">
              <a:buFont typeface="+mj-lt"/>
              <a:buAutoNum type="arabicPeriod"/>
            </a:pPr>
            <a:r>
              <a:rPr lang="ja-JP" altLang="en-US" sz="4000"/>
              <a:t>感情の伝達を終了</a:t>
            </a:r>
            <a:endParaRPr kumimoji="1" lang="en-US" altLang="ja-JP" sz="4000" dirty="0"/>
          </a:p>
        </p:txBody>
      </p:sp>
      <p:sp>
        <p:nvSpPr>
          <p:cNvPr id="73" name="三角形 72">
            <a:extLst>
              <a:ext uri="{FF2B5EF4-FFF2-40B4-BE49-F238E27FC236}">
                <a16:creationId xmlns:a16="http://schemas.microsoft.com/office/drawing/2014/main" id="{99CABF94-BC10-D347-8EF2-0AC05BABE4BF}"/>
              </a:ext>
            </a:extLst>
          </p:cNvPr>
          <p:cNvSpPr/>
          <p:nvPr/>
        </p:nvSpPr>
        <p:spPr>
          <a:xfrm rot="5400000">
            <a:off x="1076238" y="103145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テキスト プレースホルダー 29">
            <a:extLst>
              <a:ext uri="{FF2B5EF4-FFF2-40B4-BE49-F238E27FC236}">
                <a16:creationId xmlns:a16="http://schemas.microsoft.com/office/drawing/2014/main" id="{91AFC76E-3E33-4A4D-94EB-08E31A7F50D4}"/>
              </a:ext>
            </a:extLst>
          </p:cNvPr>
          <p:cNvSpPr txBox="1">
            <a:spLocks/>
          </p:cNvSpPr>
          <p:nvPr/>
        </p:nvSpPr>
        <p:spPr>
          <a:xfrm>
            <a:off x="1568600" y="101993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感情のターゲットは</a:t>
            </a:r>
            <a:r>
              <a:rPr lang="en-US" altLang="ja-JP" dirty="0"/>
              <a:t>offer</a:t>
            </a:r>
            <a:r>
              <a:rPr lang="ja-JP" altLang="en-US"/>
              <a:t>であり人間ではないことを理解させる</a:t>
            </a:r>
          </a:p>
        </p:txBody>
      </p:sp>
      <p:sp>
        <p:nvSpPr>
          <p:cNvPr id="75" name="三角形 74">
            <a:extLst>
              <a:ext uri="{FF2B5EF4-FFF2-40B4-BE49-F238E27FC236}">
                <a16:creationId xmlns:a16="http://schemas.microsoft.com/office/drawing/2014/main" id="{BFA70A0B-3039-8044-8689-8CB29755CA58}"/>
              </a:ext>
            </a:extLst>
          </p:cNvPr>
          <p:cNvSpPr/>
          <p:nvPr/>
        </p:nvSpPr>
        <p:spPr>
          <a:xfrm rot="5400000">
            <a:off x="1076238" y="110866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6" name="テキスト プレースホルダー 29">
            <a:extLst>
              <a:ext uri="{FF2B5EF4-FFF2-40B4-BE49-F238E27FC236}">
                <a16:creationId xmlns:a16="http://schemas.microsoft.com/office/drawing/2014/main" id="{5E4FE9DB-E4FE-514B-8659-05A4DEE9B7ED}"/>
              </a:ext>
            </a:extLst>
          </p:cNvPr>
          <p:cNvSpPr txBox="1">
            <a:spLocks/>
          </p:cNvSpPr>
          <p:nvPr/>
        </p:nvSpPr>
        <p:spPr>
          <a:xfrm>
            <a:off x="1568600" y="109714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offer</a:t>
            </a:r>
            <a:r>
              <a:rPr lang="ja-JP" altLang="en-US"/>
              <a:t>の作成前に感情が伝達されたことを理解させる</a:t>
            </a:r>
          </a:p>
        </p:txBody>
      </p:sp>
    </p:spTree>
    <p:extLst>
      <p:ext uri="{BB962C8B-B14F-4D97-AF65-F5344CB8AC3E}">
        <p14:creationId xmlns:p14="http://schemas.microsoft.com/office/powerpoint/2010/main" val="31810348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感情と伝達方法を変更して実験を実施</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感情は怒り・喜び・中立の</a:t>
            </a:r>
            <a:r>
              <a:rPr lang="en-US" altLang="ja-JP" dirty="0"/>
              <a:t>3</a:t>
            </a:r>
            <a:r>
              <a:rPr lang="ja-JP" altLang="en-US"/>
              <a:t>種類</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条件</a:t>
            </a:r>
          </a:p>
        </p:txBody>
      </p:sp>
      <p:sp>
        <p:nvSpPr>
          <p:cNvPr id="69" name="三角形 68">
            <a:extLst>
              <a:ext uri="{FF2B5EF4-FFF2-40B4-BE49-F238E27FC236}">
                <a16:creationId xmlns:a16="http://schemas.microsoft.com/office/drawing/2014/main" id="{3016B392-CD5D-CB48-B2EE-E8C137EE503D}"/>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91E25B6A-F01A-F346-93D2-F441A6D694A5}"/>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伝達方法は言語・非言語の</a:t>
            </a:r>
            <a:r>
              <a:rPr lang="en-US" altLang="ja-JP" dirty="0"/>
              <a:t>2</a:t>
            </a:r>
            <a:r>
              <a:rPr lang="ja-JP" altLang="en-US"/>
              <a:t>種類</a:t>
            </a:r>
          </a:p>
        </p:txBody>
      </p:sp>
      <p:grpSp>
        <p:nvGrpSpPr>
          <p:cNvPr id="52" name="グループ化 51">
            <a:extLst>
              <a:ext uri="{FF2B5EF4-FFF2-40B4-BE49-F238E27FC236}">
                <a16:creationId xmlns:a16="http://schemas.microsoft.com/office/drawing/2014/main" id="{453F47C7-9529-1846-BD05-1C9891EC4335}"/>
              </a:ext>
            </a:extLst>
          </p:cNvPr>
          <p:cNvGrpSpPr/>
          <p:nvPr/>
        </p:nvGrpSpPr>
        <p:grpSpPr>
          <a:xfrm>
            <a:off x="306583" y="5027895"/>
            <a:ext cx="2160000" cy="934436"/>
            <a:chOff x="144665" y="525617"/>
            <a:chExt cx="1080000" cy="467218"/>
          </a:xfrm>
        </p:grpSpPr>
        <p:sp>
          <p:nvSpPr>
            <p:cNvPr id="60" name="正方形/長方形 59">
              <a:extLst>
                <a:ext uri="{FF2B5EF4-FFF2-40B4-BE49-F238E27FC236}">
                  <a16:creationId xmlns:a16="http://schemas.microsoft.com/office/drawing/2014/main" id="{EB125957-0F29-D84C-9FC4-90448BD0507E}"/>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61" name="正方形/長方形 60">
              <a:extLst>
                <a:ext uri="{FF2B5EF4-FFF2-40B4-BE49-F238E27FC236}">
                  <a16:creationId xmlns:a16="http://schemas.microsoft.com/office/drawing/2014/main" id="{99431A21-F081-C04E-B285-922BB6535CED}"/>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62" name="グループ化 61">
            <a:extLst>
              <a:ext uri="{FF2B5EF4-FFF2-40B4-BE49-F238E27FC236}">
                <a16:creationId xmlns:a16="http://schemas.microsoft.com/office/drawing/2014/main" id="{6BE70324-E2DE-DA4A-8F8A-202247654FAF}"/>
              </a:ext>
            </a:extLst>
          </p:cNvPr>
          <p:cNvGrpSpPr/>
          <p:nvPr/>
        </p:nvGrpSpPr>
        <p:grpSpPr>
          <a:xfrm>
            <a:off x="634485" y="6171955"/>
            <a:ext cx="539448" cy="487368"/>
            <a:chOff x="400056" y="1061560"/>
            <a:chExt cx="269724" cy="243684"/>
          </a:xfrm>
        </p:grpSpPr>
        <p:sp>
          <p:nvSpPr>
            <p:cNvPr id="63" name="三角形 62">
              <a:extLst>
                <a:ext uri="{FF2B5EF4-FFF2-40B4-BE49-F238E27FC236}">
                  <a16:creationId xmlns:a16="http://schemas.microsoft.com/office/drawing/2014/main" id="{9AF992DB-EE2B-CA42-BED9-6E070CD421A2}"/>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4" name="三角形 63">
              <a:extLst>
                <a:ext uri="{FF2B5EF4-FFF2-40B4-BE49-F238E27FC236}">
                  <a16:creationId xmlns:a16="http://schemas.microsoft.com/office/drawing/2014/main" id="{61F0D646-4326-3D4D-B327-FCF8AB3FD83D}"/>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5" name="テキスト プレースホルダー 27">
            <a:extLst>
              <a:ext uri="{FF2B5EF4-FFF2-40B4-BE49-F238E27FC236}">
                <a16:creationId xmlns:a16="http://schemas.microsoft.com/office/drawing/2014/main" id="{58DA118A-CEE5-6C4B-8413-B1FA2B3B1365}"/>
              </a:ext>
            </a:extLst>
          </p:cNvPr>
          <p:cNvSpPr txBox="1">
            <a:spLocks/>
          </p:cNvSpPr>
          <p:nvPr/>
        </p:nvSpPr>
        <p:spPr>
          <a:xfrm>
            <a:off x="1271739" y="609933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言語の場合はテキストで伝達</a:t>
            </a:r>
            <a:endParaRPr lang="en-US" altLang="ja-JP" dirty="0"/>
          </a:p>
        </p:txBody>
      </p:sp>
      <p:sp>
        <p:nvSpPr>
          <p:cNvPr id="66" name="テキスト プレースホルダー 30">
            <a:extLst>
              <a:ext uri="{FF2B5EF4-FFF2-40B4-BE49-F238E27FC236}">
                <a16:creationId xmlns:a16="http://schemas.microsoft.com/office/drawing/2014/main" id="{E67F6477-DB6D-CC4A-A72E-0DE3EB715F59}"/>
              </a:ext>
            </a:extLst>
          </p:cNvPr>
          <p:cNvSpPr txBox="1">
            <a:spLocks/>
          </p:cNvSpPr>
          <p:nvPr/>
        </p:nvSpPr>
        <p:spPr>
          <a:xfrm>
            <a:off x="588302" y="5198468"/>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感情の伝達方法</a:t>
            </a:r>
          </a:p>
        </p:txBody>
      </p:sp>
      <p:sp>
        <p:nvSpPr>
          <p:cNvPr id="73" name="三角形 72">
            <a:extLst>
              <a:ext uri="{FF2B5EF4-FFF2-40B4-BE49-F238E27FC236}">
                <a16:creationId xmlns:a16="http://schemas.microsoft.com/office/drawing/2014/main" id="{99CABF94-BC10-D347-8EF2-0AC05BABE4BF}"/>
              </a:ext>
            </a:extLst>
          </p:cNvPr>
          <p:cNvSpPr/>
          <p:nvPr/>
        </p:nvSpPr>
        <p:spPr>
          <a:xfrm rot="5400000">
            <a:off x="1076238" y="697106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4" name="テキスト プレースホルダー 29">
            <a:extLst>
              <a:ext uri="{FF2B5EF4-FFF2-40B4-BE49-F238E27FC236}">
                <a16:creationId xmlns:a16="http://schemas.microsoft.com/office/drawing/2014/main" id="{91AFC76E-3E33-4A4D-94EB-08E31A7F50D4}"/>
              </a:ext>
            </a:extLst>
          </p:cNvPr>
          <p:cNvSpPr txBox="1">
            <a:spLocks/>
          </p:cNvSpPr>
          <p:nvPr/>
        </p:nvSpPr>
        <p:spPr>
          <a:xfrm>
            <a:off x="1568600" y="685578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怒り：「この</a:t>
            </a:r>
            <a:r>
              <a:rPr lang="en-US" altLang="ja-JP" dirty="0"/>
              <a:t>offer</a:t>
            </a:r>
            <a:r>
              <a:rPr lang="ja-JP" altLang="en-US"/>
              <a:t>は合理的じゃない！」</a:t>
            </a:r>
          </a:p>
        </p:txBody>
      </p:sp>
      <p:sp>
        <p:nvSpPr>
          <p:cNvPr id="75" name="三角形 74">
            <a:extLst>
              <a:ext uri="{FF2B5EF4-FFF2-40B4-BE49-F238E27FC236}">
                <a16:creationId xmlns:a16="http://schemas.microsoft.com/office/drawing/2014/main" id="{BFA70A0B-3039-8044-8689-8CB29755CA58}"/>
              </a:ext>
            </a:extLst>
          </p:cNvPr>
          <p:cNvSpPr/>
          <p:nvPr/>
        </p:nvSpPr>
        <p:spPr>
          <a:xfrm rot="5400000">
            <a:off x="1076238" y="7743183"/>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6" name="テキスト プレースホルダー 29">
            <a:extLst>
              <a:ext uri="{FF2B5EF4-FFF2-40B4-BE49-F238E27FC236}">
                <a16:creationId xmlns:a16="http://schemas.microsoft.com/office/drawing/2014/main" id="{5E4FE9DB-E4FE-514B-8659-05A4DEE9B7ED}"/>
              </a:ext>
            </a:extLst>
          </p:cNvPr>
          <p:cNvSpPr txBox="1">
            <a:spLocks/>
          </p:cNvSpPr>
          <p:nvPr/>
        </p:nvSpPr>
        <p:spPr>
          <a:xfrm>
            <a:off x="1568600" y="7627909"/>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喜び：「この</a:t>
            </a:r>
            <a:r>
              <a:rPr lang="en-US" altLang="ja-JP" dirty="0"/>
              <a:t>offer</a:t>
            </a:r>
            <a:r>
              <a:rPr lang="ja-JP" altLang="en-US"/>
              <a:t>は素晴らしい！」</a:t>
            </a:r>
          </a:p>
        </p:txBody>
      </p:sp>
      <p:sp>
        <p:nvSpPr>
          <p:cNvPr id="32" name="三角形 31">
            <a:extLst>
              <a:ext uri="{FF2B5EF4-FFF2-40B4-BE49-F238E27FC236}">
                <a16:creationId xmlns:a16="http://schemas.microsoft.com/office/drawing/2014/main" id="{1E60B673-E0C8-BD44-B281-431128DB609E}"/>
              </a:ext>
            </a:extLst>
          </p:cNvPr>
          <p:cNvSpPr/>
          <p:nvPr/>
        </p:nvSpPr>
        <p:spPr>
          <a:xfrm rot="5400000">
            <a:off x="1076238" y="855247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BBD7163B-FD03-FE47-9FBE-EA56FF8B1AE0}"/>
              </a:ext>
            </a:extLst>
          </p:cNvPr>
          <p:cNvSpPr txBox="1">
            <a:spLocks/>
          </p:cNvSpPr>
          <p:nvPr/>
        </p:nvSpPr>
        <p:spPr>
          <a:xfrm>
            <a:off x="1568600" y="843720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中立：「私の</a:t>
            </a:r>
            <a:r>
              <a:rPr lang="en-US" altLang="ja-JP" dirty="0"/>
              <a:t>offer</a:t>
            </a:r>
            <a:r>
              <a:rPr lang="ja-JP" altLang="en-US"/>
              <a:t>はこれです」</a:t>
            </a:r>
          </a:p>
        </p:txBody>
      </p:sp>
      <p:grpSp>
        <p:nvGrpSpPr>
          <p:cNvPr id="34" name="グループ化 33">
            <a:extLst>
              <a:ext uri="{FF2B5EF4-FFF2-40B4-BE49-F238E27FC236}">
                <a16:creationId xmlns:a16="http://schemas.microsoft.com/office/drawing/2014/main" id="{9EEBE3BA-BEEF-FF46-8F61-F9527B4389BE}"/>
              </a:ext>
            </a:extLst>
          </p:cNvPr>
          <p:cNvGrpSpPr/>
          <p:nvPr/>
        </p:nvGrpSpPr>
        <p:grpSpPr>
          <a:xfrm>
            <a:off x="634485" y="9278659"/>
            <a:ext cx="539448" cy="487368"/>
            <a:chOff x="400056" y="1061560"/>
            <a:chExt cx="269724" cy="243684"/>
          </a:xfrm>
        </p:grpSpPr>
        <p:sp>
          <p:nvSpPr>
            <p:cNvPr id="35" name="三角形 34">
              <a:extLst>
                <a:ext uri="{FF2B5EF4-FFF2-40B4-BE49-F238E27FC236}">
                  <a16:creationId xmlns:a16="http://schemas.microsoft.com/office/drawing/2014/main" id="{A2FEE9AB-0656-D149-BB3D-E27E1B99C56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6" name="三角形 35">
              <a:extLst>
                <a:ext uri="{FF2B5EF4-FFF2-40B4-BE49-F238E27FC236}">
                  <a16:creationId xmlns:a16="http://schemas.microsoft.com/office/drawing/2014/main" id="{1CE79900-5DA8-2F4A-ACA0-BAF9ABE92140}"/>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7" name="テキスト プレースホルダー 27">
            <a:extLst>
              <a:ext uri="{FF2B5EF4-FFF2-40B4-BE49-F238E27FC236}">
                <a16:creationId xmlns:a16="http://schemas.microsoft.com/office/drawing/2014/main" id="{634BB085-61D7-004A-A67A-BBE569B063BB}"/>
              </a:ext>
            </a:extLst>
          </p:cNvPr>
          <p:cNvSpPr txBox="1">
            <a:spLocks/>
          </p:cNvSpPr>
          <p:nvPr/>
        </p:nvSpPr>
        <p:spPr>
          <a:xfrm>
            <a:off x="1271739" y="9206034"/>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非言語の場合は顔の表情で伝達</a:t>
            </a:r>
            <a:endParaRPr lang="en-US" altLang="ja-JP" dirty="0"/>
          </a:p>
        </p:txBody>
      </p:sp>
      <p:pic>
        <p:nvPicPr>
          <p:cNvPr id="19" name="図 18">
            <a:extLst>
              <a:ext uri="{FF2B5EF4-FFF2-40B4-BE49-F238E27FC236}">
                <a16:creationId xmlns:a16="http://schemas.microsoft.com/office/drawing/2014/main" id="{4899CB92-662C-304D-8D66-881AFB97E7D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10314602" y="8830617"/>
            <a:ext cx="7389962" cy="4178764"/>
          </a:xfrm>
          <a:prstGeom prst="rect">
            <a:avLst/>
          </a:prstGeom>
        </p:spPr>
      </p:pic>
    </p:spTree>
    <p:extLst>
      <p:ext uri="{BB962C8B-B14F-4D97-AF65-F5344CB8AC3E}">
        <p14:creationId xmlns:p14="http://schemas.microsoft.com/office/powerpoint/2010/main" val="10256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8</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マニピュレーションチェック</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a:t>
            </a:r>
            <a:r>
              <a:rPr lang="ja-JP" altLang="en-US"/>
              <a:t>全く当てはまらない</a:t>
            </a:r>
            <a:r>
              <a:rPr lang="en-US" altLang="ja-JP" dirty="0"/>
              <a:t>)</a:t>
            </a:r>
            <a:r>
              <a:rPr lang="ja-JP" altLang="en-US"/>
              <a:t>から</a:t>
            </a:r>
            <a:r>
              <a:rPr lang="en-US" altLang="ja-JP" dirty="0"/>
              <a:t>7(</a:t>
            </a:r>
            <a:r>
              <a:rPr lang="ja-JP" altLang="en-US"/>
              <a:t>よく当てはまる</a:t>
            </a:r>
            <a:r>
              <a:rPr lang="en-US" altLang="ja-JP" dirty="0"/>
              <a:t>)</a:t>
            </a:r>
            <a:r>
              <a:rPr lang="ja-JP" altLang="en-US"/>
              <a:t>の</a:t>
            </a:r>
            <a:r>
              <a:rPr lang="en-US" altLang="ja-JP" dirty="0"/>
              <a:t>7</a:t>
            </a:r>
            <a:r>
              <a:rPr lang="ja-JP" altLang="en-US"/>
              <a:t>段階で解答</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評価方法</a:t>
            </a:r>
          </a:p>
        </p:txBody>
      </p:sp>
      <p:sp>
        <p:nvSpPr>
          <p:cNvPr id="49" name="三角形 48">
            <a:extLst>
              <a:ext uri="{FF2B5EF4-FFF2-40B4-BE49-F238E27FC236}">
                <a16:creationId xmlns:a16="http://schemas.microsoft.com/office/drawing/2014/main" id="{7D3F83F0-451C-BA44-BAD2-7F00C1A787A8}"/>
              </a:ext>
            </a:extLst>
          </p:cNvPr>
          <p:cNvSpPr/>
          <p:nvPr/>
        </p:nvSpPr>
        <p:spPr>
          <a:xfrm rot="5400000">
            <a:off x="1076238" y="4940852"/>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0" name="テキスト プレースホルダー 29">
            <a:extLst>
              <a:ext uri="{FF2B5EF4-FFF2-40B4-BE49-F238E27FC236}">
                <a16:creationId xmlns:a16="http://schemas.microsoft.com/office/drawing/2014/main" id="{ED0890A4-E23D-024B-BC77-9D5003297EDF}"/>
              </a:ext>
            </a:extLst>
          </p:cNvPr>
          <p:cNvSpPr txBox="1">
            <a:spLocks/>
          </p:cNvSpPr>
          <p:nvPr/>
        </p:nvSpPr>
        <p:spPr>
          <a:xfrm>
            <a:off x="1568600" y="4825578"/>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エージェントの感情が</a:t>
            </a:r>
            <a:r>
              <a:rPr lang="en-US" altLang="ja-JP" dirty="0"/>
              <a:t>offer</a:t>
            </a:r>
            <a:r>
              <a:rPr lang="ja-JP" altLang="en-US"/>
              <a:t>に対するものだと理解しているか確認</a:t>
            </a:r>
          </a:p>
        </p:txBody>
      </p:sp>
      <p:sp>
        <p:nvSpPr>
          <p:cNvPr id="31" name="三角形 30">
            <a:extLst>
              <a:ext uri="{FF2B5EF4-FFF2-40B4-BE49-F238E27FC236}">
                <a16:creationId xmlns:a16="http://schemas.microsoft.com/office/drawing/2014/main" id="{3B4A0892-4D2E-A94F-B2C3-1CDD07BC663E}"/>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2" name="テキスト プレースホルダー 29">
            <a:extLst>
              <a:ext uri="{FF2B5EF4-FFF2-40B4-BE49-F238E27FC236}">
                <a16:creationId xmlns:a16="http://schemas.microsoft.com/office/drawing/2014/main" id="{24A897F1-4315-E346-9A39-4C4C18DC990F}"/>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エージェントの感情を参加者が知覚したか確認</a:t>
            </a:r>
          </a:p>
        </p:txBody>
      </p:sp>
      <p:grpSp>
        <p:nvGrpSpPr>
          <p:cNvPr id="19" name="グループ化 18">
            <a:extLst>
              <a:ext uri="{FF2B5EF4-FFF2-40B4-BE49-F238E27FC236}">
                <a16:creationId xmlns:a16="http://schemas.microsoft.com/office/drawing/2014/main" id="{A6AE002C-BAB8-6C4C-AED9-EA56B3B700C5}"/>
              </a:ext>
            </a:extLst>
          </p:cNvPr>
          <p:cNvGrpSpPr/>
          <p:nvPr/>
        </p:nvGrpSpPr>
        <p:grpSpPr>
          <a:xfrm>
            <a:off x="4629208" y="6142714"/>
            <a:ext cx="9029583" cy="5882411"/>
            <a:chOff x="4398224" y="6108209"/>
            <a:chExt cx="9029583" cy="5882411"/>
          </a:xfrm>
        </p:grpSpPr>
        <p:sp>
          <p:nvSpPr>
            <p:cNvPr id="18" name="六角形 17">
              <a:extLst>
                <a:ext uri="{FF2B5EF4-FFF2-40B4-BE49-F238E27FC236}">
                  <a16:creationId xmlns:a16="http://schemas.microsoft.com/office/drawing/2014/main" id="{B3EEB6DF-9557-5547-84AE-AE3EEB99C250}"/>
                </a:ext>
              </a:extLst>
            </p:cNvPr>
            <p:cNvSpPr/>
            <p:nvPr/>
          </p:nvSpPr>
          <p:spPr>
            <a:xfrm>
              <a:off x="5450194" y="6468577"/>
              <a:ext cx="7026871" cy="5138586"/>
            </a:xfrm>
            <a:prstGeom prst="hexagon">
              <a:avLst>
                <a:gd name="adj" fmla="val 31614"/>
                <a:gd name="vf" fmla="val 115470"/>
              </a:avLst>
            </a:prstGeom>
            <a:solidFill>
              <a:schemeClr val="bg1">
                <a:lumMod val="95000"/>
              </a:schemeClr>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3" name="テキスト ボックス 32">
              <a:extLst>
                <a:ext uri="{FF2B5EF4-FFF2-40B4-BE49-F238E27FC236}">
                  <a16:creationId xmlns:a16="http://schemas.microsoft.com/office/drawing/2014/main" id="{D4A6E991-DA46-464A-8897-F783440C23B6}"/>
                </a:ext>
              </a:extLst>
            </p:cNvPr>
            <p:cNvSpPr txBox="1"/>
            <p:nvPr/>
          </p:nvSpPr>
          <p:spPr>
            <a:xfrm>
              <a:off x="4398224" y="8659833"/>
              <a:ext cx="2418799" cy="707886"/>
            </a:xfrm>
            <a:prstGeom prst="rect">
              <a:avLst/>
            </a:prstGeom>
            <a:solidFill>
              <a:schemeClr val="bg1">
                <a:lumMod val="95000"/>
              </a:schemeClr>
            </a:solidFill>
          </p:spPr>
          <p:txBody>
            <a:bodyPr wrap="square" rtlCol="0">
              <a:spAutoFit/>
            </a:bodyPr>
            <a:lstStyle/>
            <a:p>
              <a:pPr algn="ctr"/>
              <a:r>
                <a:rPr lang="en-US" altLang="ja-JP" sz="4000" dirty="0"/>
                <a:t>happy</a:t>
              </a:r>
              <a:endParaRPr kumimoji="1" lang="ja-JP" altLang="en-US" sz="4000"/>
            </a:p>
          </p:txBody>
        </p:sp>
        <p:sp>
          <p:nvSpPr>
            <p:cNvPr id="34" name="テキスト ボックス 33">
              <a:extLst>
                <a:ext uri="{FF2B5EF4-FFF2-40B4-BE49-F238E27FC236}">
                  <a16:creationId xmlns:a16="http://schemas.microsoft.com/office/drawing/2014/main" id="{E79015A6-B864-7943-95F1-3FEEB10673AC}"/>
                </a:ext>
              </a:extLst>
            </p:cNvPr>
            <p:cNvSpPr txBox="1"/>
            <p:nvPr/>
          </p:nvSpPr>
          <p:spPr>
            <a:xfrm>
              <a:off x="11009008" y="8659157"/>
              <a:ext cx="2418799" cy="707886"/>
            </a:xfrm>
            <a:prstGeom prst="rect">
              <a:avLst/>
            </a:prstGeom>
            <a:solidFill>
              <a:schemeClr val="bg1">
                <a:lumMod val="95000"/>
              </a:schemeClr>
            </a:solidFill>
          </p:spPr>
          <p:txBody>
            <a:bodyPr wrap="square" rtlCol="0">
              <a:spAutoFit/>
            </a:bodyPr>
            <a:lstStyle/>
            <a:p>
              <a:pPr algn="ctr"/>
              <a:r>
                <a:rPr lang="en-US" altLang="ja-JP" sz="4000" dirty="0"/>
                <a:t>anger</a:t>
              </a:r>
              <a:endParaRPr kumimoji="1" lang="ja-JP" altLang="en-US" sz="4000"/>
            </a:p>
          </p:txBody>
        </p:sp>
        <p:sp>
          <p:nvSpPr>
            <p:cNvPr id="35" name="テキスト ボックス 34">
              <a:extLst>
                <a:ext uri="{FF2B5EF4-FFF2-40B4-BE49-F238E27FC236}">
                  <a16:creationId xmlns:a16="http://schemas.microsoft.com/office/drawing/2014/main" id="{74870610-CDC4-1C4E-A323-28AD382841F7}"/>
                </a:ext>
              </a:extLst>
            </p:cNvPr>
            <p:cNvSpPr txBox="1"/>
            <p:nvPr/>
          </p:nvSpPr>
          <p:spPr>
            <a:xfrm>
              <a:off x="5624423" y="6111523"/>
              <a:ext cx="2418799" cy="707886"/>
            </a:xfrm>
            <a:prstGeom prst="rect">
              <a:avLst/>
            </a:prstGeom>
            <a:solidFill>
              <a:schemeClr val="bg1">
                <a:lumMod val="95000"/>
              </a:schemeClr>
            </a:solidFill>
          </p:spPr>
          <p:txBody>
            <a:bodyPr wrap="square" rtlCol="0">
              <a:spAutoFit/>
            </a:bodyPr>
            <a:lstStyle/>
            <a:p>
              <a:pPr algn="ctr"/>
              <a:r>
                <a:rPr lang="en-US" altLang="ja-JP" sz="4000" dirty="0"/>
                <a:t>satisfied</a:t>
              </a:r>
              <a:endParaRPr kumimoji="1" lang="ja-JP" altLang="en-US" sz="4000"/>
            </a:p>
          </p:txBody>
        </p:sp>
        <p:sp>
          <p:nvSpPr>
            <p:cNvPr id="37" name="テキスト ボックス 36">
              <a:extLst>
                <a:ext uri="{FF2B5EF4-FFF2-40B4-BE49-F238E27FC236}">
                  <a16:creationId xmlns:a16="http://schemas.microsoft.com/office/drawing/2014/main" id="{A44EFF6C-4867-D04A-8B5E-5E759DE20D11}"/>
                </a:ext>
              </a:extLst>
            </p:cNvPr>
            <p:cNvSpPr txBox="1"/>
            <p:nvPr/>
          </p:nvSpPr>
          <p:spPr>
            <a:xfrm>
              <a:off x="5624422" y="11282734"/>
              <a:ext cx="2418799" cy="707886"/>
            </a:xfrm>
            <a:prstGeom prst="rect">
              <a:avLst/>
            </a:prstGeom>
            <a:solidFill>
              <a:schemeClr val="bg1">
                <a:lumMod val="95000"/>
              </a:schemeClr>
            </a:solidFill>
          </p:spPr>
          <p:txBody>
            <a:bodyPr wrap="square" rtlCol="0">
              <a:spAutoFit/>
            </a:bodyPr>
            <a:lstStyle/>
            <a:p>
              <a:pPr algn="ctr"/>
              <a:r>
                <a:rPr kumimoji="1" lang="en-US" altLang="ja-JP" sz="4000" dirty="0"/>
                <a:t>pleased</a:t>
              </a:r>
              <a:endParaRPr kumimoji="1" lang="ja-JP" altLang="en-US" sz="4000"/>
            </a:p>
          </p:txBody>
        </p:sp>
        <p:sp>
          <p:nvSpPr>
            <p:cNvPr id="51" name="テキスト ボックス 50">
              <a:extLst>
                <a:ext uri="{FF2B5EF4-FFF2-40B4-BE49-F238E27FC236}">
                  <a16:creationId xmlns:a16="http://schemas.microsoft.com/office/drawing/2014/main" id="{680C48BD-ABD1-574D-A320-6CC523ECCE39}"/>
                </a:ext>
              </a:extLst>
            </p:cNvPr>
            <p:cNvSpPr txBox="1"/>
            <p:nvPr/>
          </p:nvSpPr>
          <p:spPr>
            <a:xfrm>
              <a:off x="9657955" y="6108209"/>
              <a:ext cx="2418799" cy="707886"/>
            </a:xfrm>
            <a:prstGeom prst="rect">
              <a:avLst/>
            </a:prstGeom>
            <a:solidFill>
              <a:schemeClr val="bg1">
                <a:lumMod val="95000"/>
              </a:schemeClr>
            </a:solidFill>
          </p:spPr>
          <p:txBody>
            <a:bodyPr wrap="square" rtlCol="0">
              <a:spAutoFit/>
            </a:bodyPr>
            <a:lstStyle/>
            <a:p>
              <a:pPr algn="ctr"/>
              <a:r>
                <a:rPr lang="en-US" altLang="ja-JP" sz="4000" dirty="0"/>
                <a:t>irritated</a:t>
              </a:r>
              <a:endParaRPr kumimoji="1" lang="ja-JP" altLang="en-US" sz="4000"/>
            </a:p>
          </p:txBody>
        </p:sp>
        <p:sp>
          <p:nvSpPr>
            <p:cNvPr id="52" name="テキスト ボックス 51">
              <a:extLst>
                <a:ext uri="{FF2B5EF4-FFF2-40B4-BE49-F238E27FC236}">
                  <a16:creationId xmlns:a16="http://schemas.microsoft.com/office/drawing/2014/main" id="{4C4DFD14-3EC9-DC4C-818D-1320BEFCA06A}"/>
                </a:ext>
              </a:extLst>
            </p:cNvPr>
            <p:cNvSpPr txBox="1"/>
            <p:nvPr/>
          </p:nvSpPr>
          <p:spPr>
            <a:xfrm>
              <a:off x="9654462" y="11216562"/>
              <a:ext cx="3218400" cy="756000"/>
            </a:xfrm>
            <a:prstGeom prst="rect">
              <a:avLst/>
            </a:prstGeom>
            <a:solidFill>
              <a:schemeClr val="bg1">
                <a:lumMod val="95000"/>
              </a:schemeClr>
            </a:solidFill>
          </p:spPr>
          <p:txBody>
            <a:bodyPr wrap="square" rtlCol="0">
              <a:spAutoFit/>
            </a:bodyPr>
            <a:lstStyle/>
            <a:p>
              <a:pPr algn="ctr"/>
              <a:r>
                <a:rPr lang="en-US" altLang="ja-JP" sz="4000" dirty="0"/>
                <a:t>bad-tempered</a:t>
              </a:r>
              <a:endParaRPr kumimoji="1" lang="ja-JP" altLang="en-US" sz="4000"/>
            </a:p>
          </p:txBody>
        </p:sp>
      </p:grpSp>
    </p:spTree>
    <p:extLst>
      <p:ext uri="{BB962C8B-B14F-4D97-AF65-F5344CB8AC3E}">
        <p14:creationId xmlns:p14="http://schemas.microsoft.com/office/powerpoint/2010/main" val="33190890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9</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最初と最後のオファーの要求レベルの差</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評価方法</a:t>
            </a:r>
          </a:p>
        </p:txBody>
      </p:sp>
      <p:graphicFrame>
        <p:nvGraphicFramePr>
          <p:cNvPr id="38" name="表 37">
            <a:extLst>
              <a:ext uri="{FF2B5EF4-FFF2-40B4-BE49-F238E27FC236}">
                <a16:creationId xmlns:a16="http://schemas.microsoft.com/office/drawing/2014/main" id="{A1B773A4-6B9A-E140-9A40-E7C8BF27CBC0}"/>
              </a:ext>
            </a:extLst>
          </p:cNvPr>
          <p:cNvGraphicFramePr>
            <a:graphicFrameLocks noGrp="1"/>
          </p:cNvGraphicFramePr>
          <p:nvPr>
            <p:extLst>
              <p:ext uri="{D42A27DB-BD31-4B8C-83A1-F6EECF244321}">
                <p14:modId xmlns:p14="http://schemas.microsoft.com/office/powerpoint/2010/main" val="4046558604"/>
              </p:ext>
            </p:extLst>
          </p:nvPr>
        </p:nvGraphicFramePr>
        <p:xfrm>
          <a:off x="2890055" y="5118906"/>
          <a:ext cx="12560632" cy="3505200"/>
        </p:xfrm>
        <a:graphic>
          <a:graphicData uri="http://schemas.openxmlformats.org/drawingml/2006/table">
            <a:tbl>
              <a:tblPr firstRow="1" lastRow="1" bandRow="1">
                <a:tableStyleId>{5C22544A-7EE6-4342-B048-85BDC9FD1C3A}</a:tableStyleId>
              </a:tblPr>
              <a:tblGrid>
                <a:gridCol w="4827965">
                  <a:extLst>
                    <a:ext uri="{9D8B030D-6E8A-4147-A177-3AD203B41FA5}">
                      <a16:colId xmlns:a16="http://schemas.microsoft.com/office/drawing/2014/main" val="3132472836"/>
                    </a:ext>
                  </a:extLst>
                </a:gridCol>
                <a:gridCol w="3847564">
                  <a:extLst>
                    <a:ext uri="{9D8B030D-6E8A-4147-A177-3AD203B41FA5}">
                      <a16:colId xmlns:a16="http://schemas.microsoft.com/office/drawing/2014/main" val="1411076331"/>
                    </a:ext>
                  </a:extLst>
                </a:gridCol>
                <a:gridCol w="3885103">
                  <a:extLst>
                    <a:ext uri="{9D8B030D-6E8A-4147-A177-3AD203B41FA5}">
                      <a16:colId xmlns:a16="http://schemas.microsoft.com/office/drawing/2014/main" val="3639288741"/>
                    </a:ext>
                  </a:extLst>
                </a:gridCol>
              </a:tblGrid>
              <a:tr h="355929">
                <a:tc>
                  <a:txBody>
                    <a:bodyPr/>
                    <a:lstStyle/>
                    <a:p>
                      <a:pPr algn="ctr"/>
                      <a:r>
                        <a:rPr kumimoji="1" lang="ja-JP" altLang="en-US" sz="4000"/>
                        <a:t>交渉内容</a:t>
                      </a:r>
                    </a:p>
                  </a:txBody>
                  <a:tcPr/>
                </a:tc>
                <a:tc>
                  <a:txBody>
                    <a:bodyPr/>
                    <a:lstStyle/>
                    <a:p>
                      <a:pPr algn="ctr"/>
                      <a:r>
                        <a:rPr kumimoji="1" lang="ja-JP" altLang="en-US" sz="4000"/>
                        <a:t>ターン</a:t>
                      </a:r>
                      <a:r>
                        <a:rPr kumimoji="1" lang="en-US" altLang="ja-JP" sz="4000" dirty="0"/>
                        <a:t>1</a:t>
                      </a:r>
                      <a:r>
                        <a:rPr kumimoji="1" lang="ja-JP" altLang="en-US" sz="4000"/>
                        <a:t>の要求</a:t>
                      </a:r>
                    </a:p>
                  </a:txBody>
                  <a:tcPr/>
                </a:tc>
                <a:tc>
                  <a:txBody>
                    <a:bodyPr/>
                    <a:lstStyle/>
                    <a:p>
                      <a:pPr algn="ctr"/>
                      <a:r>
                        <a:rPr kumimoji="1" lang="ja-JP" altLang="en-US" sz="4000"/>
                        <a:t>ターン</a:t>
                      </a:r>
                      <a:r>
                        <a:rPr kumimoji="1" lang="en-US" altLang="ja-JP" sz="4000" dirty="0"/>
                        <a:t>6</a:t>
                      </a:r>
                      <a:r>
                        <a:rPr kumimoji="1" lang="ja-JP" altLang="en-US" sz="4000"/>
                        <a:t>の要求</a:t>
                      </a:r>
                    </a:p>
                  </a:txBody>
                  <a:tcPr/>
                </a:tc>
                <a:extLst>
                  <a:ext uri="{0D108BD9-81ED-4DB2-BD59-A6C34878D82A}">
                    <a16:rowId xmlns:a16="http://schemas.microsoft.com/office/drawing/2014/main" val="1800212081"/>
                  </a:ext>
                </a:extLst>
              </a:tr>
              <a:tr h="370840">
                <a:tc>
                  <a:txBody>
                    <a:bodyPr/>
                    <a:lstStyle/>
                    <a:p>
                      <a:pPr algn="l"/>
                      <a:r>
                        <a:rPr kumimoji="1" lang="ja-JP" altLang="en-US" sz="4000"/>
                        <a:t>金額</a:t>
                      </a:r>
                    </a:p>
                  </a:txBody>
                  <a:tcPr/>
                </a:tc>
                <a:tc>
                  <a:txBody>
                    <a:bodyPr/>
                    <a:lstStyle/>
                    <a:p>
                      <a:pPr algn="r"/>
                      <a:r>
                        <a:rPr kumimoji="1" lang="en-US" altLang="ja-JP" sz="4000" dirty="0"/>
                        <a:t>400</a:t>
                      </a:r>
                      <a:endParaRPr kumimoji="1" lang="ja-JP" altLang="en-US" sz="4000"/>
                    </a:p>
                  </a:txBody>
                  <a:tcPr/>
                </a:tc>
                <a:tc>
                  <a:txBody>
                    <a:bodyPr/>
                    <a:lstStyle/>
                    <a:p>
                      <a:pPr algn="r"/>
                      <a:r>
                        <a:rPr kumimoji="1" lang="en-US" altLang="ja-JP" sz="4000" dirty="0"/>
                        <a:t>300</a:t>
                      </a:r>
                      <a:endParaRPr kumimoji="1" lang="ja-JP" altLang="en-US" sz="4000"/>
                    </a:p>
                  </a:txBody>
                  <a:tcPr/>
                </a:tc>
                <a:extLst>
                  <a:ext uri="{0D108BD9-81ED-4DB2-BD59-A6C34878D82A}">
                    <a16:rowId xmlns:a16="http://schemas.microsoft.com/office/drawing/2014/main" val="2677469422"/>
                  </a:ext>
                </a:extLst>
              </a:tr>
              <a:tr h="370840">
                <a:tc>
                  <a:txBody>
                    <a:bodyPr/>
                    <a:lstStyle/>
                    <a:p>
                      <a:pPr algn="l"/>
                      <a:r>
                        <a:rPr kumimoji="1" lang="ja-JP" altLang="en-US" sz="4000"/>
                        <a:t>保証期間</a:t>
                      </a:r>
                    </a:p>
                  </a:txBody>
                  <a:tcPr/>
                </a:tc>
                <a:tc>
                  <a:txBody>
                    <a:bodyPr/>
                    <a:lstStyle/>
                    <a:p>
                      <a:pPr algn="r"/>
                      <a:r>
                        <a:rPr kumimoji="1" lang="en-US" altLang="ja-JP" sz="4000" dirty="0"/>
                        <a:t>120</a:t>
                      </a:r>
                      <a:endParaRPr kumimoji="1" lang="ja-JP" altLang="en-US" sz="4000"/>
                    </a:p>
                  </a:txBody>
                  <a:tcPr/>
                </a:tc>
                <a:tc>
                  <a:txBody>
                    <a:bodyPr/>
                    <a:lstStyle/>
                    <a:p>
                      <a:pPr algn="r"/>
                      <a:r>
                        <a:rPr kumimoji="1" lang="en-US" altLang="ja-JP" sz="4000" dirty="0"/>
                        <a:t>90</a:t>
                      </a:r>
                      <a:endParaRPr kumimoji="1" lang="ja-JP" altLang="en-US" sz="4000"/>
                    </a:p>
                  </a:txBody>
                  <a:tcPr/>
                </a:tc>
                <a:extLst>
                  <a:ext uri="{0D108BD9-81ED-4DB2-BD59-A6C34878D82A}">
                    <a16:rowId xmlns:a16="http://schemas.microsoft.com/office/drawing/2014/main" val="2996469058"/>
                  </a:ext>
                </a:extLst>
              </a:tr>
              <a:tr h="370840">
                <a:tc>
                  <a:txBody>
                    <a:bodyPr/>
                    <a:lstStyle/>
                    <a:p>
                      <a:pPr algn="l"/>
                      <a:r>
                        <a:rPr kumimoji="1" lang="ja-JP" altLang="en-US" sz="4000"/>
                        <a:t>契約サービスの継続</a:t>
                      </a:r>
                    </a:p>
                  </a:txBody>
                  <a:tcPr/>
                </a:tc>
                <a:tc>
                  <a:txBody>
                    <a:bodyPr/>
                    <a:lstStyle/>
                    <a:p>
                      <a:pPr algn="r"/>
                      <a:r>
                        <a:rPr kumimoji="1" lang="en-US" altLang="ja-JP" sz="4000" dirty="0"/>
                        <a:t>240</a:t>
                      </a:r>
                      <a:endParaRPr kumimoji="1" lang="ja-JP" altLang="en-US" sz="4000"/>
                    </a:p>
                  </a:txBody>
                  <a:tcPr/>
                </a:tc>
                <a:tc>
                  <a:txBody>
                    <a:bodyPr/>
                    <a:lstStyle/>
                    <a:p>
                      <a:pPr algn="r"/>
                      <a:r>
                        <a:rPr kumimoji="1" lang="en-US" altLang="ja-JP" sz="4000" dirty="0"/>
                        <a:t>210</a:t>
                      </a:r>
                      <a:endParaRPr kumimoji="1" lang="ja-JP" altLang="en-US" sz="4000"/>
                    </a:p>
                  </a:txBody>
                  <a:tcPr/>
                </a:tc>
                <a:extLst>
                  <a:ext uri="{0D108BD9-81ED-4DB2-BD59-A6C34878D82A}">
                    <a16:rowId xmlns:a16="http://schemas.microsoft.com/office/drawing/2014/main" val="85150135"/>
                  </a:ext>
                </a:extLst>
              </a:tr>
              <a:tr h="370840">
                <a:tc>
                  <a:txBody>
                    <a:bodyPr/>
                    <a:lstStyle/>
                    <a:p>
                      <a:pPr algn="ctr"/>
                      <a:r>
                        <a:rPr kumimoji="1" lang="ja-JP" altLang="en-US" sz="4000"/>
                        <a:t>合計</a:t>
                      </a:r>
                    </a:p>
                  </a:txBody>
                  <a:tcPr/>
                </a:tc>
                <a:tc>
                  <a:txBody>
                    <a:bodyPr/>
                    <a:lstStyle/>
                    <a:p>
                      <a:pPr algn="r"/>
                      <a:r>
                        <a:rPr kumimoji="1" lang="en-US" altLang="ja-JP" sz="4000" dirty="0"/>
                        <a:t>760</a:t>
                      </a:r>
                      <a:endParaRPr kumimoji="1" lang="ja-JP" altLang="en-US" sz="4000"/>
                    </a:p>
                  </a:txBody>
                  <a:tcPr/>
                </a:tc>
                <a:tc>
                  <a:txBody>
                    <a:bodyPr/>
                    <a:lstStyle/>
                    <a:p>
                      <a:pPr algn="r"/>
                      <a:r>
                        <a:rPr kumimoji="1" lang="en-US" altLang="ja-JP" sz="4000" dirty="0"/>
                        <a:t>600</a:t>
                      </a:r>
                      <a:endParaRPr kumimoji="1" lang="ja-JP" altLang="en-US" sz="4000"/>
                    </a:p>
                  </a:txBody>
                  <a:tcPr/>
                </a:tc>
                <a:extLst>
                  <a:ext uri="{0D108BD9-81ED-4DB2-BD59-A6C34878D82A}">
                    <a16:rowId xmlns:a16="http://schemas.microsoft.com/office/drawing/2014/main" val="4084480244"/>
                  </a:ext>
                </a:extLst>
              </a:tr>
            </a:tbl>
          </a:graphicData>
        </a:graphic>
      </p:graphicFrame>
      <p:sp>
        <p:nvSpPr>
          <p:cNvPr id="39" name="右矢印 38">
            <a:extLst>
              <a:ext uri="{FF2B5EF4-FFF2-40B4-BE49-F238E27FC236}">
                <a16:creationId xmlns:a16="http://schemas.microsoft.com/office/drawing/2014/main" id="{4207D214-8E9A-594B-9E89-8A22E5303364}"/>
              </a:ext>
            </a:extLst>
          </p:cNvPr>
          <p:cNvSpPr/>
          <p:nvPr/>
        </p:nvSpPr>
        <p:spPr>
          <a:xfrm rot="5400000">
            <a:off x="8806580" y="8655268"/>
            <a:ext cx="674837" cy="173477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0" name="テキスト ボックス 39">
            <a:extLst>
              <a:ext uri="{FF2B5EF4-FFF2-40B4-BE49-F238E27FC236}">
                <a16:creationId xmlns:a16="http://schemas.microsoft.com/office/drawing/2014/main" id="{CBD121DE-E1D2-9943-A82A-AF1CE10BE171}"/>
              </a:ext>
            </a:extLst>
          </p:cNvPr>
          <p:cNvSpPr txBox="1"/>
          <p:nvPr/>
        </p:nvSpPr>
        <p:spPr>
          <a:xfrm>
            <a:off x="6218471" y="10200757"/>
            <a:ext cx="5851056" cy="707886"/>
          </a:xfrm>
          <a:prstGeom prst="rect">
            <a:avLst/>
          </a:prstGeom>
          <a:noFill/>
        </p:spPr>
        <p:txBody>
          <a:bodyPr wrap="square" rtlCol="0">
            <a:spAutoFit/>
          </a:bodyPr>
          <a:lstStyle/>
          <a:p>
            <a:pPr algn="ctr"/>
            <a:r>
              <a:rPr lang="en-US" altLang="ja-JP" sz="4000" dirty="0">
                <a:solidFill>
                  <a:schemeClr val="accent2"/>
                </a:solidFill>
              </a:rPr>
              <a:t>d</a:t>
            </a:r>
            <a:r>
              <a:rPr kumimoji="1" lang="en-US" altLang="ja-JP" sz="4000" dirty="0">
                <a:solidFill>
                  <a:schemeClr val="accent2"/>
                </a:solidFill>
              </a:rPr>
              <a:t>emand difference</a:t>
            </a:r>
            <a:r>
              <a:rPr kumimoji="1" lang="ja-JP" altLang="en-US" sz="4000">
                <a:solidFill>
                  <a:schemeClr val="accent2"/>
                </a:solidFill>
              </a:rPr>
              <a:t>は</a:t>
            </a:r>
            <a:r>
              <a:rPr kumimoji="1" lang="en-US" altLang="ja-JP" sz="4000" dirty="0">
                <a:solidFill>
                  <a:schemeClr val="accent2"/>
                </a:solidFill>
              </a:rPr>
              <a:t>160</a:t>
            </a:r>
          </a:p>
        </p:txBody>
      </p:sp>
      <p:sp>
        <p:nvSpPr>
          <p:cNvPr id="32" name="三角形 31">
            <a:extLst>
              <a:ext uri="{FF2B5EF4-FFF2-40B4-BE49-F238E27FC236}">
                <a16:creationId xmlns:a16="http://schemas.microsoft.com/office/drawing/2014/main" id="{674ECDB4-5BBA-2745-9126-6C022E31FF86}"/>
              </a:ext>
            </a:extLst>
          </p:cNvPr>
          <p:cNvSpPr/>
          <p:nvPr/>
        </p:nvSpPr>
        <p:spPr>
          <a:xfrm rot="5400000">
            <a:off x="1076238" y="4133898"/>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3" name="テキスト プレースホルダー 29">
            <a:extLst>
              <a:ext uri="{FF2B5EF4-FFF2-40B4-BE49-F238E27FC236}">
                <a16:creationId xmlns:a16="http://schemas.microsoft.com/office/drawing/2014/main" id="{47B2340D-B97A-3143-B07E-21F1F9DB8F78}"/>
              </a:ext>
            </a:extLst>
          </p:cNvPr>
          <p:cNvSpPr txBox="1">
            <a:spLocks/>
          </p:cNvSpPr>
          <p:nvPr/>
        </p:nvSpPr>
        <p:spPr>
          <a:xfrm>
            <a:off x="1568600" y="4018624"/>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参加者が譲歩した度合い</a:t>
            </a:r>
          </a:p>
        </p:txBody>
      </p:sp>
    </p:spTree>
    <p:extLst>
      <p:ext uri="{BB962C8B-B14F-4D97-AF65-F5344CB8AC3E}">
        <p14:creationId xmlns:p14="http://schemas.microsoft.com/office/powerpoint/2010/main" val="38412849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10</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以下の図に示すソフトウェアを使用</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言語で伝達する場合は顔の上部にテキストを表示</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ソフトウェア</a:t>
            </a:r>
          </a:p>
        </p:txBody>
      </p:sp>
      <p:pic>
        <p:nvPicPr>
          <p:cNvPr id="18" name="図 17">
            <a:extLst>
              <a:ext uri="{FF2B5EF4-FFF2-40B4-BE49-F238E27FC236}">
                <a16:creationId xmlns:a16="http://schemas.microsoft.com/office/drawing/2014/main" id="{77EBA392-BC07-9A43-9D61-7E372A2DD5F1}"/>
              </a:ext>
            </a:extLst>
          </p:cNvPr>
          <p:cNvPicPr>
            <a:picLocks noChangeAspect="1"/>
          </p:cNvPicPr>
          <p:nvPr/>
        </p:nvPicPr>
        <p:blipFill>
          <a:blip r:embed="rId3"/>
          <a:stretch>
            <a:fillRect/>
          </a:stretch>
        </p:blipFill>
        <p:spPr>
          <a:xfrm>
            <a:off x="4891803" y="4906993"/>
            <a:ext cx="8504394" cy="7408125"/>
          </a:xfrm>
          <a:prstGeom prst="rect">
            <a:avLst/>
          </a:prstGeom>
        </p:spPr>
      </p:pic>
    </p:spTree>
    <p:extLst>
      <p:ext uri="{BB962C8B-B14F-4D97-AF65-F5344CB8AC3E}">
        <p14:creationId xmlns:p14="http://schemas.microsoft.com/office/powerpoint/2010/main" val="30848171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11</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a:t>2</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実験概要</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質問によって実験の内容を理解しているか確認</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質問に対する正解を選択すると次の質問が行なわれる</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チュートリアル</a:t>
            </a:r>
          </a:p>
        </p:txBody>
      </p:sp>
      <p:grpSp>
        <p:nvGrpSpPr>
          <p:cNvPr id="20" name="グループ化 19">
            <a:extLst>
              <a:ext uri="{FF2B5EF4-FFF2-40B4-BE49-F238E27FC236}">
                <a16:creationId xmlns:a16="http://schemas.microsoft.com/office/drawing/2014/main" id="{8B577410-CFFD-AA40-87AF-8AFB44C69106}"/>
              </a:ext>
            </a:extLst>
          </p:cNvPr>
          <p:cNvGrpSpPr/>
          <p:nvPr/>
        </p:nvGrpSpPr>
        <p:grpSpPr>
          <a:xfrm>
            <a:off x="617232" y="4073585"/>
            <a:ext cx="539448" cy="487368"/>
            <a:chOff x="400056" y="1061560"/>
            <a:chExt cx="269724" cy="243684"/>
          </a:xfrm>
        </p:grpSpPr>
        <p:sp>
          <p:nvSpPr>
            <p:cNvPr id="21" name="三角形 20">
              <a:extLst>
                <a:ext uri="{FF2B5EF4-FFF2-40B4-BE49-F238E27FC236}">
                  <a16:creationId xmlns:a16="http://schemas.microsoft.com/office/drawing/2014/main" id="{3F4001F2-477F-BE45-84DA-6D4DC9CE33D7}"/>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9277A881-7735-4E49-B6F7-E617DF05A3F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3" name="テキスト プレースホルダー 27">
            <a:extLst>
              <a:ext uri="{FF2B5EF4-FFF2-40B4-BE49-F238E27FC236}">
                <a16:creationId xmlns:a16="http://schemas.microsoft.com/office/drawing/2014/main" id="{D197E5AE-BBE5-3441-B175-E80E25D4D303}"/>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質問が終了すると実験のチュートリアルが開始</a:t>
            </a:r>
            <a:endParaRPr lang="en-US" altLang="ja-JP" dirty="0"/>
          </a:p>
        </p:txBody>
      </p:sp>
      <p:grpSp>
        <p:nvGrpSpPr>
          <p:cNvPr id="26" name="グループ化 25">
            <a:extLst>
              <a:ext uri="{FF2B5EF4-FFF2-40B4-BE49-F238E27FC236}">
                <a16:creationId xmlns:a16="http://schemas.microsoft.com/office/drawing/2014/main" id="{E5211391-4ED3-514B-B728-3772F3C8DE14}"/>
              </a:ext>
            </a:extLst>
          </p:cNvPr>
          <p:cNvGrpSpPr/>
          <p:nvPr/>
        </p:nvGrpSpPr>
        <p:grpSpPr>
          <a:xfrm>
            <a:off x="617232" y="4863023"/>
            <a:ext cx="539448" cy="487368"/>
            <a:chOff x="400056" y="1061560"/>
            <a:chExt cx="269724" cy="243684"/>
          </a:xfrm>
        </p:grpSpPr>
        <p:sp>
          <p:nvSpPr>
            <p:cNvPr id="27" name="三角形 26">
              <a:extLst>
                <a:ext uri="{FF2B5EF4-FFF2-40B4-BE49-F238E27FC236}">
                  <a16:creationId xmlns:a16="http://schemas.microsoft.com/office/drawing/2014/main" id="{45806479-2959-D241-9FB0-C89F2A5684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C344DF75-3A11-7E42-A950-4F4395FECF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27">
            <a:extLst>
              <a:ext uri="{FF2B5EF4-FFF2-40B4-BE49-F238E27FC236}">
                <a16:creationId xmlns:a16="http://schemas.microsoft.com/office/drawing/2014/main" id="{794F9DE3-B099-9E42-80A9-585E73780BB8}"/>
              </a:ext>
            </a:extLst>
          </p:cNvPr>
          <p:cNvSpPr txBox="1">
            <a:spLocks/>
          </p:cNvSpPr>
          <p:nvPr/>
        </p:nvSpPr>
        <p:spPr>
          <a:xfrm>
            <a:off x="1254486" y="4790398"/>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チュートリアル終了後に実際の交渉が開始</a:t>
            </a:r>
            <a:endParaRPr lang="en-US" altLang="ja-JP" dirty="0"/>
          </a:p>
        </p:txBody>
      </p:sp>
      <p:grpSp>
        <p:nvGrpSpPr>
          <p:cNvPr id="30" name="グループ化 29">
            <a:extLst>
              <a:ext uri="{FF2B5EF4-FFF2-40B4-BE49-F238E27FC236}">
                <a16:creationId xmlns:a16="http://schemas.microsoft.com/office/drawing/2014/main" id="{EDF8330A-FC5A-D84B-B3A0-21227348F692}"/>
              </a:ext>
            </a:extLst>
          </p:cNvPr>
          <p:cNvGrpSpPr/>
          <p:nvPr/>
        </p:nvGrpSpPr>
        <p:grpSpPr>
          <a:xfrm>
            <a:off x="306583" y="6034517"/>
            <a:ext cx="2160000" cy="934436"/>
            <a:chOff x="144665" y="525617"/>
            <a:chExt cx="1080000" cy="467218"/>
          </a:xfrm>
        </p:grpSpPr>
        <p:sp>
          <p:nvSpPr>
            <p:cNvPr id="31" name="正方形/長方形 30">
              <a:extLst>
                <a:ext uri="{FF2B5EF4-FFF2-40B4-BE49-F238E27FC236}">
                  <a16:creationId xmlns:a16="http://schemas.microsoft.com/office/drawing/2014/main" id="{9BA1FC1A-8EAA-074D-AAC0-09547963EA4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2" name="正方形/長方形 31">
              <a:extLst>
                <a:ext uri="{FF2B5EF4-FFF2-40B4-BE49-F238E27FC236}">
                  <a16:creationId xmlns:a16="http://schemas.microsoft.com/office/drawing/2014/main" id="{D3778EA0-4FEA-2B4D-A340-8CDD8027A8A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3" name="グループ化 32">
            <a:extLst>
              <a:ext uri="{FF2B5EF4-FFF2-40B4-BE49-F238E27FC236}">
                <a16:creationId xmlns:a16="http://schemas.microsoft.com/office/drawing/2014/main" id="{BA9616ED-F131-0241-826E-6B26404D3F60}"/>
              </a:ext>
            </a:extLst>
          </p:cNvPr>
          <p:cNvGrpSpPr/>
          <p:nvPr/>
        </p:nvGrpSpPr>
        <p:grpSpPr>
          <a:xfrm>
            <a:off x="634485" y="7178577"/>
            <a:ext cx="539448" cy="487368"/>
            <a:chOff x="400056" y="1061560"/>
            <a:chExt cx="269724" cy="243684"/>
          </a:xfrm>
        </p:grpSpPr>
        <p:sp>
          <p:nvSpPr>
            <p:cNvPr id="34" name="三角形 33">
              <a:extLst>
                <a:ext uri="{FF2B5EF4-FFF2-40B4-BE49-F238E27FC236}">
                  <a16:creationId xmlns:a16="http://schemas.microsoft.com/office/drawing/2014/main" id="{387E5C49-9997-DF42-9851-A58F6143DA5D}"/>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5" name="三角形 34">
              <a:extLst>
                <a:ext uri="{FF2B5EF4-FFF2-40B4-BE49-F238E27FC236}">
                  <a16:creationId xmlns:a16="http://schemas.microsoft.com/office/drawing/2014/main" id="{C7C0A3CC-C23F-C148-BC4C-87412A489692}"/>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36" name="三角形 35">
            <a:extLst>
              <a:ext uri="{FF2B5EF4-FFF2-40B4-BE49-F238E27FC236}">
                <a16:creationId xmlns:a16="http://schemas.microsoft.com/office/drawing/2014/main" id="{B9E3996F-BFAE-764B-83AA-5AC51A48697A}"/>
              </a:ext>
            </a:extLst>
          </p:cNvPr>
          <p:cNvSpPr/>
          <p:nvPr/>
        </p:nvSpPr>
        <p:spPr>
          <a:xfrm rot="5400000">
            <a:off x="1093491" y="7982995"/>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37" name="テキスト プレースホルダー 27">
            <a:extLst>
              <a:ext uri="{FF2B5EF4-FFF2-40B4-BE49-F238E27FC236}">
                <a16:creationId xmlns:a16="http://schemas.microsoft.com/office/drawing/2014/main" id="{6E6385C6-5571-1149-A18A-13B7616AED2D}"/>
              </a:ext>
            </a:extLst>
          </p:cNvPr>
          <p:cNvSpPr txBox="1">
            <a:spLocks/>
          </p:cNvSpPr>
          <p:nvPr/>
        </p:nvSpPr>
        <p:spPr>
          <a:xfrm>
            <a:off x="1271739" y="7105952"/>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150</a:t>
            </a:r>
            <a:r>
              <a:rPr lang="ja-JP" altLang="en-US"/>
              <a:t>人のカリフォルニア大学の学部生・大学院生</a:t>
            </a:r>
            <a:endParaRPr lang="en-US" altLang="ja-JP" dirty="0"/>
          </a:p>
        </p:txBody>
      </p:sp>
      <p:sp>
        <p:nvSpPr>
          <p:cNvPr id="38" name="テキスト プレースホルダー 29">
            <a:extLst>
              <a:ext uri="{FF2B5EF4-FFF2-40B4-BE49-F238E27FC236}">
                <a16:creationId xmlns:a16="http://schemas.microsoft.com/office/drawing/2014/main" id="{C0D63343-E1B3-2642-BA04-2A367142A63E}"/>
              </a:ext>
            </a:extLst>
          </p:cNvPr>
          <p:cNvSpPr txBox="1">
            <a:spLocks/>
          </p:cNvSpPr>
          <p:nvPr/>
        </p:nvSpPr>
        <p:spPr>
          <a:xfrm>
            <a:off x="1585853" y="7867721"/>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参加者は</a:t>
            </a:r>
            <a:r>
              <a:rPr lang="en-US" altLang="ja-JP" dirty="0"/>
              <a:t>13</a:t>
            </a:r>
            <a:r>
              <a:rPr lang="ja-JP" altLang="en-US"/>
              <a:t>人のグループに分かれて並列に実験を実施</a:t>
            </a:r>
          </a:p>
        </p:txBody>
      </p:sp>
      <p:sp>
        <p:nvSpPr>
          <p:cNvPr id="39" name="テキスト プレースホルダー 30">
            <a:extLst>
              <a:ext uri="{FF2B5EF4-FFF2-40B4-BE49-F238E27FC236}">
                <a16:creationId xmlns:a16="http://schemas.microsoft.com/office/drawing/2014/main" id="{C906D77A-AAF2-2047-A5D3-E0766A0F7B1B}"/>
              </a:ext>
            </a:extLst>
          </p:cNvPr>
          <p:cNvSpPr txBox="1">
            <a:spLocks/>
          </p:cNvSpPr>
          <p:nvPr/>
        </p:nvSpPr>
        <p:spPr>
          <a:xfrm>
            <a:off x="588302" y="6205090"/>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実験の被験者</a:t>
            </a:r>
          </a:p>
        </p:txBody>
      </p:sp>
    </p:spTree>
    <p:extLst>
      <p:ext uri="{BB962C8B-B14F-4D97-AF65-F5344CB8AC3E}">
        <p14:creationId xmlns:p14="http://schemas.microsoft.com/office/powerpoint/2010/main" val="2654425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dirty="0"/>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12</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786165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を使用してエージェントの</a:t>
            </a:r>
            <a:r>
              <a:rPr lang="ja-JP" altLang="en-US">
                <a:solidFill>
                  <a:schemeClr val="accent3">
                    <a:lumMod val="75000"/>
                  </a:schemeClr>
                </a:solidFill>
              </a:rPr>
              <a:t>怒り</a:t>
            </a:r>
            <a:r>
              <a:rPr lang="ja-JP" altLang="en-US"/>
              <a:t>の度合いを分析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マニピュレーションチェック</a:t>
            </a:r>
          </a:p>
        </p:txBody>
      </p:sp>
      <p:sp>
        <p:nvSpPr>
          <p:cNvPr id="43" name="三角形 42">
            <a:extLst>
              <a:ext uri="{FF2B5EF4-FFF2-40B4-BE49-F238E27FC236}">
                <a16:creationId xmlns:a16="http://schemas.microsoft.com/office/drawing/2014/main" id="{29C0B7F1-E9AA-ED45-B54E-E03D666F3FDF}"/>
              </a:ext>
            </a:extLst>
          </p:cNvPr>
          <p:cNvSpPr/>
          <p:nvPr/>
        </p:nvSpPr>
        <p:spPr>
          <a:xfrm rot="5400000">
            <a:off x="1076238" y="496765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9">
            <a:extLst>
              <a:ext uri="{FF2B5EF4-FFF2-40B4-BE49-F238E27FC236}">
                <a16:creationId xmlns:a16="http://schemas.microsoft.com/office/drawing/2014/main" id="{67D7C01F-5E19-2244-885D-41265D24DEBF}"/>
              </a:ext>
            </a:extLst>
          </p:cNvPr>
          <p:cNvSpPr txBox="1">
            <a:spLocks/>
          </p:cNvSpPr>
          <p:nvPr/>
        </p:nvSpPr>
        <p:spPr>
          <a:xfrm>
            <a:off x="1568600" y="485237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
        <p:nvSpPr>
          <p:cNvPr id="52" name="三角形 51">
            <a:extLst>
              <a:ext uri="{FF2B5EF4-FFF2-40B4-BE49-F238E27FC236}">
                <a16:creationId xmlns:a16="http://schemas.microsoft.com/office/drawing/2014/main" id="{CB3C9424-8638-2A4A-85C7-2BECA08E32EA}"/>
              </a:ext>
            </a:extLst>
          </p:cNvPr>
          <p:cNvSpPr/>
          <p:nvPr/>
        </p:nvSpPr>
        <p:spPr>
          <a:xfrm rot="5400000">
            <a:off x="1076238" y="577462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テキスト プレースホルダー 29">
            <a:extLst>
              <a:ext uri="{FF2B5EF4-FFF2-40B4-BE49-F238E27FC236}">
                <a16:creationId xmlns:a16="http://schemas.microsoft.com/office/drawing/2014/main" id="{E77EF648-44A2-0248-AC9A-5FF56B8D5CEC}"/>
              </a:ext>
            </a:extLst>
          </p:cNvPr>
          <p:cNvSpPr txBox="1">
            <a:spLocks/>
          </p:cNvSpPr>
          <p:nvPr/>
        </p:nvSpPr>
        <p:spPr>
          <a:xfrm>
            <a:off x="1568600" y="565935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エージェントの感情は正しく伝達されていた</a:t>
            </a:r>
          </a:p>
        </p:txBody>
      </p:sp>
      <p:grpSp>
        <p:nvGrpSpPr>
          <p:cNvPr id="54" name="グループ化 53">
            <a:extLst>
              <a:ext uri="{FF2B5EF4-FFF2-40B4-BE49-F238E27FC236}">
                <a16:creationId xmlns:a16="http://schemas.microsoft.com/office/drawing/2014/main" id="{8A122C2C-7092-FB4B-8155-51F35439A4E4}"/>
              </a:ext>
            </a:extLst>
          </p:cNvPr>
          <p:cNvGrpSpPr/>
          <p:nvPr/>
        </p:nvGrpSpPr>
        <p:grpSpPr>
          <a:xfrm>
            <a:off x="617232" y="4073585"/>
            <a:ext cx="539448" cy="487368"/>
            <a:chOff x="400056" y="1061560"/>
            <a:chExt cx="269724" cy="243684"/>
          </a:xfrm>
        </p:grpSpPr>
        <p:sp>
          <p:nvSpPr>
            <p:cNvPr id="61" name="三角形 60">
              <a:extLst>
                <a:ext uri="{FF2B5EF4-FFF2-40B4-BE49-F238E27FC236}">
                  <a16:creationId xmlns:a16="http://schemas.microsoft.com/office/drawing/2014/main" id="{A5D8FB3F-5A89-6647-B505-E8FA98BF47C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85736605-F877-AA40-97A0-E73AA3CCB1B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D44776D-048A-0F4B-A469-E0DA1264A98A}"/>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統計的有意差がみれらた</a:t>
            </a:r>
            <a:endParaRPr lang="en-US" altLang="ja-JP" dirty="0"/>
          </a:p>
        </p:txBody>
      </p:sp>
      <p:grpSp>
        <p:nvGrpSpPr>
          <p:cNvPr id="86" name="グループ化 85">
            <a:extLst>
              <a:ext uri="{FF2B5EF4-FFF2-40B4-BE49-F238E27FC236}">
                <a16:creationId xmlns:a16="http://schemas.microsoft.com/office/drawing/2014/main" id="{49CBF0F9-914E-4E43-8BE3-8C863DE17CB7}"/>
              </a:ext>
            </a:extLst>
          </p:cNvPr>
          <p:cNvGrpSpPr/>
          <p:nvPr/>
        </p:nvGrpSpPr>
        <p:grpSpPr>
          <a:xfrm>
            <a:off x="4787192" y="6505895"/>
            <a:ext cx="8460234" cy="6473313"/>
            <a:chOff x="5198557" y="5506015"/>
            <a:chExt cx="8460234" cy="6473313"/>
          </a:xfrm>
        </p:grpSpPr>
        <p:grpSp>
          <p:nvGrpSpPr>
            <p:cNvPr id="87" name="グループ化 86">
              <a:extLst>
                <a:ext uri="{FF2B5EF4-FFF2-40B4-BE49-F238E27FC236}">
                  <a16:creationId xmlns:a16="http://schemas.microsoft.com/office/drawing/2014/main" id="{B6992FA8-43EC-0045-83C2-4A009F1ED4F4}"/>
                </a:ext>
              </a:extLst>
            </p:cNvPr>
            <p:cNvGrpSpPr/>
            <p:nvPr/>
          </p:nvGrpSpPr>
          <p:grpSpPr>
            <a:xfrm>
              <a:off x="5198557" y="6487774"/>
              <a:ext cx="8460234" cy="5192291"/>
              <a:chOff x="4967573" y="6453269"/>
              <a:chExt cx="8460234" cy="5192291"/>
            </a:xfrm>
          </p:grpSpPr>
          <p:sp>
            <p:nvSpPr>
              <p:cNvPr id="90" name="六角形 89">
                <a:extLst>
                  <a:ext uri="{FF2B5EF4-FFF2-40B4-BE49-F238E27FC236}">
                    <a16:creationId xmlns:a16="http://schemas.microsoft.com/office/drawing/2014/main" id="{B5D0EA5D-BA56-2741-A0F0-01A167458936}"/>
                  </a:ext>
                </a:extLst>
              </p:cNvPr>
              <p:cNvSpPr/>
              <p:nvPr/>
            </p:nvSpPr>
            <p:spPr>
              <a:xfrm>
                <a:off x="6056221" y="6794001"/>
                <a:ext cx="6420844" cy="4448937"/>
              </a:xfrm>
              <a:prstGeom prst="hexagon">
                <a:avLst>
                  <a:gd name="adj" fmla="val 31614"/>
                  <a:gd name="vf" fmla="val 115470"/>
                </a:avLst>
              </a:prstGeom>
              <a:solidFill>
                <a:schemeClr val="bg1">
                  <a:lumMod val="95000"/>
                </a:schemeClr>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91" name="テキスト ボックス 90">
                <a:extLst>
                  <a:ext uri="{FF2B5EF4-FFF2-40B4-BE49-F238E27FC236}">
                    <a16:creationId xmlns:a16="http://schemas.microsoft.com/office/drawing/2014/main" id="{A9FF7952-72CC-F449-915E-44C430D5A3AE}"/>
                  </a:ext>
                </a:extLst>
              </p:cNvPr>
              <p:cNvSpPr txBox="1"/>
              <p:nvPr/>
            </p:nvSpPr>
            <p:spPr>
              <a:xfrm>
                <a:off x="4967573" y="8659833"/>
                <a:ext cx="2418799" cy="707886"/>
              </a:xfrm>
              <a:prstGeom prst="rect">
                <a:avLst/>
              </a:prstGeom>
              <a:solidFill>
                <a:schemeClr val="bg1">
                  <a:lumMod val="95000"/>
                </a:schemeClr>
              </a:solidFill>
            </p:spPr>
            <p:txBody>
              <a:bodyPr wrap="square" rtlCol="0">
                <a:spAutoFit/>
              </a:bodyPr>
              <a:lstStyle/>
              <a:p>
                <a:pPr algn="ctr"/>
                <a:r>
                  <a:rPr lang="en-US" altLang="ja-JP" sz="4000" dirty="0"/>
                  <a:t>happy</a:t>
                </a:r>
                <a:endParaRPr kumimoji="1" lang="ja-JP" altLang="en-US" sz="4000"/>
              </a:p>
            </p:txBody>
          </p:sp>
          <p:sp>
            <p:nvSpPr>
              <p:cNvPr id="92" name="テキスト ボックス 91">
                <a:extLst>
                  <a:ext uri="{FF2B5EF4-FFF2-40B4-BE49-F238E27FC236}">
                    <a16:creationId xmlns:a16="http://schemas.microsoft.com/office/drawing/2014/main" id="{D254AC3F-DAE5-9845-97B3-C3219289A187}"/>
                  </a:ext>
                </a:extLst>
              </p:cNvPr>
              <p:cNvSpPr txBox="1"/>
              <p:nvPr/>
            </p:nvSpPr>
            <p:spPr>
              <a:xfrm>
                <a:off x="11009008" y="8659157"/>
                <a:ext cx="2418799" cy="707886"/>
              </a:xfrm>
              <a:prstGeom prst="rect">
                <a:avLst/>
              </a:prstGeom>
              <a:solidFill>
                <a:schemeClr val="bg1">
                  <a:lumMod val="95000"/>
                </a:schemeClr>
              </a:solidFill>
            </p:spPr>
            <p:txBody>
              <a:bodyPr wrap="square" rtlCol="0">
                <a:spAutoFit/>
              </a:bodyPr>
              <a:lstStyle/>
              <a:p>
                <a:pPr algn="ctr"/>
                <a:r>
                  <a:rPr lang="en-US" altLang="ja-JP" sz="4000" dirty="0"/>
                  <a:t>anger</a:t>
                </a:r>
                <a:endParaRPr kumimoji="1" lang="ja-JP" altLang="en-US" sz="4000"/>
              </a:p>
            </p:txBody>
          </p:sp>
          <p:sp>
            <p:nvSpPr>
              <p:cNvPr id="93" name="テキスト ボックス 92">
                <a:extLst>
                  <a:ext uri="{FF2B5EF4-FFF2-40B4-BE49-F238E27FC236}">
                    <a16:creationId xmlns:a16="http://schemas.microsoft.com/office/drawing/2014/main" id="{364E7CFC-8BDF-5549-969E-B146FC9E47AB}"/>
                  </a:ext>
                </a:extLst>
              </p:cNvPr>
              <p:cNvSpPr txBox="1"/>
              <p:nvPr/>
            </p:nvSpPr>
            <p:spPr>
              <a:xfrm>
                <a:off x="6193772" y="6456583"/>
                <a:ext cx="2418799" cy="707886"/>
              </a:xfrm>
              <a:prstGeom prst="rect">
                <a:avLst/>
              </a:prstGeom>
              <a:solidFill>
                <a:schemeClr val="bg1">
                  <a:lumMod val="95000"/>
                </a:schemeClr>
              </a:solidFill>
            </p:spPr>
            <p:txBody>
              <a:bodyPr wrap="square" rtlCol="0">
                <a:spAutoFit/>
              </a:bodyPr>
              <a:lstStyle/>
              <a:p>
                <a:pPr algn="ctr"/>
                <a:r>
                  <a:rPr lang="en-US" altLang="ja-JP" sz="4000" dirty="0"/>
                  <a:t>satisfied</a:t>
                </a:r>
                <a:endParaRPr kumimoji="1" lang="ja-JP" altLang="en-US" sz="4000"/>
              </a:p>
            </p:txBody>
          </p:sp>
          <p:sp>
            <p:nvSpPr>
              <p:cNvPr id="94" name="テキスト ボックス 93">
                <a:extLst>
                  <a:ext uri="{FF2B5EF4-FFF2-40B4-BE49-F238E27FC236}">
                    <a16:creationId xmlns:a16="http://schemas.microsoft.com/office/drawing/2014/main" id="{5583E2B4-22C8-E149-80FE-1F9298269059}"/>
                  </a:ext>
                </a:extLst>
              </p:cNvPr>
              <p:cNvSpPr txBox="1"/>
              <p:nvPr/>
            </p:nvSpPr>
            <p:spPr>
              <a:xfrm>
                <a:off x="6193771" y="10937674"/>
                <a:ext cx="2418799" cy="707886"/>
              </a:xfrm>
              <a:prstGeom prst="rect">
                <a:avLst/>
              </a:prstGeom>
              <a:solidFill>
                <a:schemeClr val="bg1">
                  <a:lumMod val="95000"/>
                </a:schemeClr>
              </a:solidFill>
            </p:spPr>
            <p:txBody>
              <a:bodyPr wrap="square" rtlCol="0">
                <a:spAutoFit/>
              </a:bodyPr>
              <a:lstStyle/>
              <a:p>
                <a:pPr algn="ctr"/>
                <a:r>
                  <a:rPr kumimoji="1" lang="en-US" altLang="ja-JP" sz="4000" dirty="0"/>
                  <a:t>pleased</a:t>
                </a:r>
                <a:endParaRPr kumimoji="1" lang="ja-JP" altLang="en-US" sz="4000"/>
              </a:p>
            </p:txBody>
          </p:sp>
          <p:sp>
            <p:nvSpPr>
              <p:cNvPr id="95" name="テキスト ボックス 94">
                <a:extLst>
                  <a:ext uri="{FF2B5EF4-FFF2-40B4-BE49-F238E27FC236}">
                    <a16:creationId xmlns:a16="http://schemas.microsoft.com/office/drawing/2014/main" id="{E816F9AF-505F-AB48-AFBE-A5D488D493D5}"/>
                  </a:ext>
                </a:extLst>
              </p:cNvPr>
              <p:cNvSpPr txBox="1"/>
              <p:nvPr/>
            </p:nvSpPr>
            <p:spPr>
              <a:xfrm>
                <a:off x="9657955" y="6453269"/>
                <a:ext cx="2418799" cy="707886"/>
              </a:xfrm>
              <a:prstGeom prst="rect">
                <a:avLst/>
              </a:prstGeom>
              <a:solidFill>
                <a:schemeClr val="bg1">
                  <a:lumMod val="95000"/>
                </a:schemeClr>
              </a:solidFill>
            </p:spPr>
            <p:txBody>
              <a:bodyPr wrap="square" rtlCol="0">
                <a:spAutoFit/>
              </a:bodyPr>
              <a:lstStyle/>
              <a:p>
                <a:pPr algn="ctr"/>
                <a:r>
                  <a:rPr lang="en-US" altLang="ja-JP" sz="4000" dirty="0"/>
                  <a:t>irritated</a:t>
                </a:r>
                <a:endParaRPr kumimoji="1" lang="ja-JP" altLang="en-US" sz="4000"/>
              </a:p>
            </p:txBody>
          </p:sp>
          <p:sp>
            <p:nvSpPr>
              <p:cNvPr id="96" name="テキスト ボックス 95">
                <a:extLst>
                  <a:ext uri="{FF2B5EF4-FFF2-40B4-BE49-F238E27FC236}">
                    <a16:creationId xmlns:a16="http://schemas.microsoft.com/office/drawing/2014/main" id="{0CF4C5B9-624C-1346-BB94-9A49EC09285E}"/>
                  </a:ext>
                </a:extLst>
              </p:cNvPr>
              <p:cNvSpPr txBox="1"/>
              <p:nvPr/>
            </p:nvSpPr>
            <p:spPr>
              <a:xfrm>
                <a:off x="9654462" y="10871502"/>
                <a:ext cx="3218400" cy="756000"/>
              </a:xfrm>
              <a:prstGeom prst="rect">
                <a:avLst/>
              </a:prstGeom>
              <a:solidFill>
                <a:schemeClr val="bg1">
                  <a:lumMod val="95000"/>
                </a:schemeClr>
              </a:solidFill>
            </p:spPr>
            <p:txBody>
              <a:bodyPr wrap="square" rtlCol="0">
                <a:spAutoFit/>
              </a:bodyPr>
              <a:lstStyle/>
              <a:p>
                <a:pPr algn="ctr"/>
                <a:r>
                  <a:rPr lang="en-US" altLang="ja-JP" sz="4000" dirty="0"/>
                  <a:t>bad-tempered</a:t>
                </a:r>
                <a:endParaRPr kumimoji="1" lang="ja-JP" altLang="en-US" sz="4000"/>
              </a:p>
            </p:txBody>
          </p:sp>
        </p:grpSp>
        <p:sp>
          <p:nvSpPr>
            <p:cNvPr id="88" name="角丸四角形 87">
              <a:extLst>
                <a:ext uri="{FF2B5EF4-FFF2-40B4-BE49-F238E27FC236}">
                  <a16:creationId xmlns:a16="http://schemas.microsoft.com/office/drawing/2014/main" id="{D9B8FD49-BBE6-BA47-9F5C-1B29329EF26A}"/>
                </a:ext>
              </a:extLst>
            </p:cNvPr>
            <p:cNvSpPr/>
            <p:nvPr/>
          </p:nvSpPr>
          <p:spPr>
            <a:xfrm>
              <a:off x="9407495" y="6244522"/>
              <a:ext cx="4088921" cy="5734806"/>
            </a:xfrm>
            <a:prstGeom prst="roundRect">
              <a:avLst>
                <a:gd name="adj" fmla="val 40295"/>
              </a:avLst>
            </a:prstGeom>
            <a:noFill/>
            <a:ln w="57150">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89" name="テキスト ボックス 88">
              <a:extLst>
                <a:ext uri="{FF2B5EF4-FFF2-40B4-BE49-F238E27FC236}">
                  <a16:creationId xmlns:a16="http://schemas.microsoft.com/office/drawing/2014/main" id="{28ACC02B-462E-C447-8564-56ADACA832BA}"/>
                </a:ext>
              </a:extLst>
            </p:cNvPr>
            <p:cNvSpPr txBox="1"/>
            <p:nvPr/>
          </p:nvSpPr>
          <p:spPr>
            <a:xfrm>
              <a:off x="9453780" y="5506015"/>
              <a:ext cx="3996350" cy="707886"/>
            </a:xfrm>
            <a:prstGeom prst="rect">
              <a:avLst/>
            </a:prstGeom>
            <a:noFill/>
          </p:spPr>
          <p:txBody>
            <a:bodyPr wrap="square" rtlCol="0">
              <a:spAutoFit/>
            </a:bodyPr>
            <a:lstStyle/>
            <a:p>
              <a:pPr algn="ctr"/>
              <a:r>
                <a:rPr kumimoji="1" lang="ja-JP" altLang="en-US" sz="4000">
                  <a:solidFill>
                    <a:schemeClr val="accent3">
                      <a:lumMod val="75000"/>
                    </a:schemeClr>
                  </a:solidFill>
                </a:rPr>
                <a:t>関連あり</a:t>
              </a:r>
              <a:endParaRPr kumimoji="1" lang="en-US" altLang="ja-JP" sz="4000" dirty="0">
                <a:solidFill>
                  <a:schemeClr val="accent3">
                    <a:lumMod val="75000"/>
                  </a:schemeClr>
                </a:solidFill>
              </a:endParaRPr>
            </a:p>
          </p:txBody>
        </p:sp>
      </p:grpSp>
    </p:spTree>
    <p:extLst>
      <p:ext uri="{BB962C8B-B14F-4D97-AF65-F5344CB8AC3E}">
        <p14:creationId xmlns:p14="http://schemas.microsoft.com/office/powerpoint/2010/main" val="4235041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dirty="0"/>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13</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786165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を使用してエージェントの</a:t>
            </a:r>
            <a:r>
              <a:rPr lang="ja-JP" altLang="en-US">
                <a:solidFill>
                  <a:schemeClr val="accent2"/>
                </a:solidFill>
              </a:rPr>
              <a:t>喜び</a:t>
            </a:r>
            <a:r>
              <a:rPr lang="ja-JP" altLang="en-US"/>
              <a:t>の度合いを分析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マニピュレーションチェック</a:t>
            </a:r>
          </a:p>
        </p:txBody>
      </p:sp>
      <p:sp>
        <p:nvSpPr>
          <p:cNvPr id="43" name="三角形 42">
            <a:extLst>
              <a:ext uri="{FF2B5EF4-FFF2-40B4-BE49-F238E27FC236}">
                <a16:creationId xmlns:a16="http://schemas.microsoft.com/office/drawing/2014/main" id="{29C0B7F1-E9AA-ED45-B54E-E03D666F3FDF}"/>
              </a:ext>
            </a:extLst>
          </p:cNvPr>
          <p:cNvSpPr/>
          <p:nvPr/>
        </p:nvSpPr>
        <p:spPr>
          <a:xfrm rot="5400000">
            <a:off x="1076238" y="4967651"/>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9">
            <a:extLst>
              <a:ext uri="{FF2B5EF4-FFF2-40B4-BE49-F238E27FC236}">
                <a16:creationId xmlns:a16="http://schemas.microsoft.com/office/drawing/2014/main" id="{67D7C01F-5E19-2244-885D-41265D24DEBF}"/>
              </a:ext>
            </a:extLst>
          </p:cNvPr>
          <p:cNvSpPr txBox="1">
            <a:spLocks/>
          </p:cNvSpPr>
          <p:nvPr/>
        </p:nvSpPr>
        <p:spPr>
          <a:xfrm>
            <a:off x="1568600" y="4852377"/>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
        <p:nvSpPr>
          <p:cNvPr id="52" name="三角形 51">
            <a:extLst>
              <a:ext uri="{FF2B5EF4-FFF2-40B4-BE49-F238E27FC236}">
                <a16:creationId xmlns:a16="http://schemas.microsoft.com/office/drawing/2014/main" id="{CB3C9424-8638-2A4A-85C7-2BECA08E32EA}"/>
              </a:ext>
            </a:extLst>
          </p:cNvPr>
          <p:cNvSpPr/>
          <p:nvPr/>
        </p:nvSpPr>
        <p:spPr>
          <a:xfrm rot="5400000">
            <a:off x="1076238" y="577462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テキスト プレースホルダー 29">
            <a:extLst>
              <a:ext uri="{FF2B5EF4-FFF2-40B4-BE49-F238E27FC236}">
                <a16:creationId xmlns:a16="http://schemas.microsoft.com/office/drawing/2014/main" id="{E77EF648-44A2-0248-AC9A-5FF56B8D5CEC}"/>
              </a:ext>
            </a:extLst>
          </p:cNvPr>
          <p:cNvSpPr txBox="1">
            <a:spLocks/>
          </p:cNvSpPr>
          <p:nvPr/>
        </p:nvSpPr>
        <p:spPr>
          <a:xfrm>
            <a:off x="1568600" y="565935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エージェントの感情は正しく伝達されていた</a:t>
            </a:r>
          </a:p>
        </p:txBody>
      </p:sp>
      <p:grpSp>
        <p:nvGrpSpPr>
          <p:cNvPr id="54" name="グループ化 53">
            <a:extLst>
              <a:ext uri="{FF2B5EF4-FFF2-40B4-BE49-F238E27FC236}">
                <a16:creationId xmlns:a16="http://schemas.microsoft.com/office/drawing/2014/main" id="{8A122C2C-7092-FB4B-8155-51F35439A4E4}"/>
              </a:ext>
            </a:extLst>
          </p:cNvPr>
          <p:cNvGrpSpPr/>
          <p:nvPr/>
        </p:nvGrpSpPr>
        <p:grpSpPr>
          <a:xfrm>
            <a:off x="617232" y="4073585"/>
            <a:ext cx="539448" cy="487368"/>
            <a:chOff x="400056" y="1061560"/>
            <a:chExt cx="269724" cy="243684"/>
          </a:xfrm>
        </p:grpSpPr>
        <p:sp>
          <p:nvSpPr>
            <p:cNvPr id="61" name="三角形 60">
              <a:extLst>
                <a:ext uri="{FF2B5EF4-FFF2-40B4-BE49-F238E27FC236}">
                  <a16:creationId xmlns:a16="http://schemas.microsoft.com/office/drawing/2014/main" id="{A5D8FB3F-5A89-6647-B505-E8FA98BF47CC}"/>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三角形 61">
              <a:extLst>
                <a:ext uri="{FF2B5EF4-FFF2-40B4-BE49-F238E27FC236}">
                  <a16:creationId xmlns:a16="http://schemas.microsoft.com/office/drawing/2014/main" id="{85736605-F877-AA40-97A0-E73AA3CCB1B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3" name="テキスト プレースホルダー 27">
            <a:extLst>
              <a:ext uri="{FF2B5EF4-FFF2-40B4-BE49-F238E27FC236}">
                <a16:creationId xmlns:a16="http://schemas.microsoft.com/office/drawing/2014/main" id="{3D44776D-048A-0F4B-A469-E0DA1264A98A}"/>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統計的有意差がみれらた</a:t>
            </a:r>
            <a:endParaRPr lang="en-US" altLang="ja-JP" dirty="0"/>
          </a:p>
        </p:txBody>
      </p:sp>
      <p:grpSp>
        <p:nvGrpSpPr>
          <p:cNvPr id="17" name="グループ化 16">
            <a:extLst>
              <a:ext uri="{FF2B5EF4-FFF2-40B4-BE49-F238E27FC236}">
                <a16:creationId xmlns:a16="http://schemas.microsoft.com/office/drawing/2014/main" id="{B11C00D1-3957-ED4F-9A0A-D461F33AB40E}"/>
              </a:ext>
            </a:extLst>
          </p:cNvPr>
          <p:cNvGrpSpPr/>
          <p:nvPr/>
        </p:nvGrpSpPr>
        <p:grpSpPr>
          <a:xfrm>
            <a:off x="4787192" y="6518484"/>
            <a:ext cx="8460234" cy="6477971"/>
            <a:chOff x="4787192" y="6518484"/>
            <a:chExt cx="8460234" cy="6477971"/>
          </a:xfrm>
        </p:grpSpPr>
        <p:grpSp>
          <p:nvGrpSpPr>
            <p:cNvPr id="35" name="グループ化 34">
              <a:extLst>
                <a:ext uri="{FF2B5EF4-FFF2-40B4-BE49-F238E27FC236}">
                  <a16:creationId xmlns:a16="http://schemas.microsoft.com/office/drawing/2014/main" id="{CAF9ED7C-2C99-6846-8F38-239C88915493}"/>
                </a:ext>
              </a:extLst>
            </p:cNvPr>
            <p:cNvGrpSpPr/>
            <p:nvPr/>
          </p:nvGrpSpPr>
          <p:grpSpPr>
            <a:xfrm>
              <a:off x="4787192" y="7487654"/>
              <a:ext cx="8460234" cy="5192291"/>
              <a:chOff x="4967573" y="6453269"/>
              <a:chExt cx="8460234" cy="5192291"/>
            </a:xfrm>
          </p:grpSpPr>
          <p:sp>
            <p:nvSpPr>
              <p:cNvPr id="36" name="六角形 35">
                <a:extLst>
                  <a:ext uri="{FF2B5EF4-FFF2-40B4-BE49-F238E27FC236}">
                    <a16:creationId xmlns:a16="http://schemas.microsoft.com/office/drawing/2014/main" id="{6D8CE0B4-8C93-A44B-8002-BEEC4DD28D59}"/>
                  </a:ext>
                </a:extLst>
              </p:cNvPr>
              <p:cNvSpPr/>
              <p:nvPr/>
            </p:nvSpPr>
            <p:spPr>
              <a:xfrm>
                <a:off x="6056221" y="6794001"/>
                <a:ext cx="6420844" cy="4448937"/>
              </a:xfrm>
              <a:prstGeom prst="hexagon">
                <a:avLst>
                  <a:gd name="adj" fmla="val 31614"/>
                  <a:gd name="vf" fmla="val 115470"/>
                </a:avLst>
              </a:prstGeom>
              <a:solidFill>
                <a:schemeClr val="bg1">
                  <a:lumMod val="95000"/>
                </a:schemeClr>
              </a:solid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37" name="テキスト ボックス 36">
                <a:extLst>
                  <a:ext uri="{FF2B5EF4-FFF2-40B4-BE49-F238E27FC236}">
                    <a16:creationId xmlns:a16="http://schemas.microsoft.com/office/drawing/2014/main" id="{44438B88-3E23-3948-8773-B1B1F47072F2}"/>
                  </a:ext>
                </a:extLst>
              </p:cNvPr>
              <p:cNvSpPr txBox="1"/>
              <p:nvPr/>
            </p:nvSpPr>
            <p:spPr>
              <a:xfrm>
                <a:off x="4967573" y="8659833"/>
                <a:ext cx="2418799" cy="707886"/>
              </a:xfrm>
              <a:prstGeom prst="rect">
                <a:avLst/>
              </a:prstGeom>
              <a:solidFill>
                <a:schemeClr val="bg1">
                  <a:lumMod val="95000"/>
                </a:schemeClr>
              </a:solidFill>
            </p:spPr>
            <p:txBody>
              <a:bodyPr wrap="square" rtlCol="0">
                <a:spAutoFit/>
              </a:bodyPr>
              <a:lstStyle/>
              <a:p>
                <a:pPr algn="ctr"/>
                <a:r>
                  <a:rPr lang="en-US" altLang="ja-JP" sz="4000" dirty="0"/>
                  <a:t>happy</a:t>
                </a:r>
                <a:endParaRPr kumimoji="1" lang="ja-JP" altLang="en-US" sz="4000"/>
              </a:p>
            </p:txBody>
          </p:sp>
          <p:sp>
            <p:nvSpPr>
              <p:cNvPr id="38" name="テキスト ボックス 37">
                <a:extLst>
                  <a:ext uri="{FF2B5EF4-FFF2-40B4-BE49-F238E27FC236}">
                    <a16:creationId xmlns:a16="http://schemas.microsoft.com/office/drawing/2014/main" id="{CAA5EFAE-9198-F544-839E-C27D89E12EE0}"/>
                  </a:ext>
                </a:extLst>
              </p:cNvPr>
              <p:cNvSpPr txBox="1"/>
              <p:nvPr/>
            </p:nvSpPr>
            <p:spPr>
              <a:xfrm>
                <a:off x="11009008" y="8659157"/>
                <a:ext cx="2418799" cy="707886"/>
              </a:xfrm>
              <a:prstGeom prst="rect">
                <a:avLst/>
              </a:prstGeom>
              <a:solidFill>
                <a:schemeClr val="bg1">
                  <a:lumMod val="95000"/>
                </a:schemeClr>
              </a:solidFill>
            </p:spPr>
            <p:txBody>
              <a:bodyPr wrap="square" rtlCol="0">
                <a:spAutoFit/>
              </a:bodyPr>
              <a:lstStyle/>
              <a:p>
                <a:pPr algn="ctr"/>
                <a:r>
                  <a:rPr lang="en-US" altLang="ja-JP" sz="4000" dirty="0"/>
                  <a:t>anger</a:t>
                </a:r>
                <a:endParaRPr kumimoji="1" lang="ja-JP" altLang="en-US" sz="4000"/>
              </a:p>
            </p:txBody>
          </p:sp>
          <p:sp>
            <p:nvSpPr>
              <p:cNvPr id="39" name="テキスト ボックス 38">
                <a:extLst>
                  <a:ext uri="{FF2B5EF4-FFF2-40B4-BE49-F238E27FC236}">
                    <a16:creationId xmlns:a16="http://schemas.microsoft.com/office/drawing/2014/main" id="{BEC558EB-0463-A44B-9152-DACF2762AF8E}"/>
                  </a:ext>
                </a:extLst>
              </p:cNvPr>
              <p:cNvSpPr txBox="1"/>
              <p:nvPr/>
            </p:nvSpPr>
            <p:spPr>
              <a:xfrm>
                <a:off x="6193772" y="6456583"/>
                <a:ext cx="2418799" cy="707886"/>
              </a:xfrm>
              <a:prstGeom prst="rect">
                <a:avLst/>
              </a:prstGeom>
              <a:solidFill>
                <a:schemeClr val="bg1">
                  <a:lumMod val="95000"/>
                </a:schemeClr>
              </a:solidFill>
            </p:spPr>
            <p:txBody>
              <a:bodyPr wrap="square" rtlCol="0">
                <a:spAutoFit/>
              </a:bodyPr>
              <a:lstStyle/>
              <a:p>
                <a:pPr algn="ctr"/>
                <a:r>
                  <a:rPr lang="en-US" altLang="ja-JP" sz="4000" dirty="0"/>
                  <a:t>satisfied</a:t>
                </a:r>
                <a:endParaRPr kumimoji="1" lang="ja-JP" altLang="en-US" sz="4000"/>
              </a:p>
            </p:txBody>
          </p:sp>
          <p:sp>
            <p:nvSpPr>
              <p:cNvPr id="40" name="テキスト ボックス 39">
                <a:extLst>
                  <a:ext uri="{FF2B5EF4-FFF2-40B4-BE49-F238E27FC236}">
                    <a16:creationId xmlns:a16="http://schemas.microsoft.com/office/drawing/2014/main" id="{3CD9FB25-A76C-9B41-8876-6F75E8FB6196}"/>
                  </a:ext>
                </a:extLst>
              </p:cNvPr>
              <p:cNvSpPr txBox="1"/>
              <p:nvPr/>
            </p:nvSpPr>
            <p:spPr>
              <a:xfrm>
                <a:off x="6193771" y="10937674"/>
                <a:ext cx="2418799" cy="707886"/>
              </a:xfrm>
              <a:prstGeom prst="rect">
                <a:avLst/>
              </a:prstGeom>
              <a:solidFill>
                <a:schemeClr val="bg1">
                  <a:lumMod val="95000"/>
                </a:schemeClr>
              </a:solidFill>
            </p:spPr>
            <p:txBody>
              <a:bodyPr wrap="square" rtlCol="0">
                <a:spAutoFit/>
              </a:bodyPr>
              <a:lstStyle/>
              <a:p>
                <a:pPr algn="ctr"/>
                <a:r>
                  <a:rPr kumimoji="1" lang="en-US" altLang="ja-JP" sz="4000" dirty="0"/>
                  <a:t>pleased</a:t>
                </a:r>
                <a:endParaRPr kumimoji="1" lang="ja-JP" altLang="en-US" sz="4000"/>
              </a:p>
            </p:txBody>
          </p:sp>
          <p:sp>
            <p:nvSpPr>
              <p:cNvPr id="41" name="テキスト ボックス 40">
                <a:extLst>
                  <a:ext uri="{FF2B5EF4-FFF2-40B4-BE49-F238E27FC236}">
                    <a16:creationId xmlns:a16="http://schemas.microsoft.com/office/drawing/2014/main" id="{62E36B82-EA75-EF42-9DE9-268093AE22C3}"/>
                  </a:ext>
                </a:extLst>
              </p:cNvPr>
              <p:cNvSpPr txBox="1"/>
              <p:nvPr/>
            </p:nvSpPr>
            <p:spPr>
              <a:xfrm>
                <a:off x="9657955" y="6453269"/>
                <a:ext cx="2418799" cy="707886"/>
              </a:xfrm>
              <a:prstGeom prst="rect">
                <a:avLst/>
              </a:prstGeom>
              <a:solidFill>
                <a:schemeClr val="bg1">
                  <a:lumMod val="95000"/>
                </a:schemeClr>
              </a:solidFill>
            </p:spPr>
            <p:txBody>
              <a:bodyPr wrap="square" rtlCol="0">
                <a:spAutoFit/>
              </a:bodyPr>
              <a:lstStyle/>
              <a:p>
                <a:pPr algn="ctr"/>
                <a:r>
                  <a:rPr lang="en-US" altLang="ja-JP" sz="4000" dirty="0"/>
                  <a:t>irritated</a:t>
                </a:r>
                <a:endParaRPr kumimoji="1" lang="ja-JP" altLang="en-US" sz="4000"/>
              </a:p>
            </p:txBody>
          </p:sp>
          <p:sp>
            <p:nvSpPr>
              <p:cNvPr id="42" name="テキスト ボックス 41">
                <a:extLst>
                  <a:ext uri="{FF2B5EF4-FFF2-40B4-BE49-F238E27FC236}">
                    <a16:creationId xmlns:a16="http://schemas.microsoft.com/office/drawing/2014/main" id="{2E39C028-7184-C74E-85C1-5BD5132D170A}"/>
                  </a:ext>
                </a:extLst>
              </p:cNvPr>
              <p:cNvSpPr txBox="1"/>
              <p:nvPr/>
            </p:nvSpPr>
            <p:spPr>
              <a:xfrm>
                <a:off x="9654462" y="10871502"/>
                <a:ext cx="3218400" cy="756000"/>
              </a:xfrm>
              <a:prstGeom prst="rect">
                <a:avLst/>
              </a:prstGeom>
              <a:solidFill>
                <a:schemeClr val="bg1">
                  <a:lumMod val="95000"/>
                </a:schemeClr>
              </a:solidFill>
            </p:spPr>
            <p:txBody>
              <a:bodyPr wrap="square" rtlCol="0">
                <a:spAutoFit/>
              </a:bodyPr>
              <a:lstStyle/>
              <a:p>
                <a:pPr algn="ctr"/>
                <a:r>
                  <a:rPr lang="en-US" altLang="ja-JP" sz="4000" dirty="0"/>
                  <a:t>bad-tempered</a:t>
                </a:r>
                <a:endParaRPr kumimoji="1" lang="ja-JP" altLang="en-US" sz="4000"/>
              </a:p>
            </p:txBody>
          </p:sp>
        </p:grpSp>
        <p:sp>
          <p:nvSpPr>
            <p:cNvPr id="76" name="角丸四角形 75">
              <a:extLst>
                <a:ext uri="{FF2B5EF4-FFF2-40B4-BE49-F238E27FC236}">
                  <a16:creationId xmlns:a16="http://schemas.microsoft.com/office/drawing/2014/main" id="{4E05798D-C5C0-0A46-96C2-F3E034A35125}"/>
                </a:ext>
              </a:extLst>
            </p:cNvPr>
            <p:cNvSpPr/>
            <p:nvPr/>
          </p:nvSpPr>
          <p:spPr>
            <a:xfrm>
              <a:off x="5183263" y="7161278"/>
              <a:ext cx="3369698" cy="5835177"/>
            </a:xfrm>
            <a:prstGeom prst="roundRect">
              <a:avLst>
                <a:gd name="adj" fmla="val 40295"/>
              </a:avLst>
            </a:prstGeom>
            <a:noFill/>
            <a:ln w="571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77" name="テキスト ボックス 76">
              <a:extLst>
                <a:ext uri="{FF2B5EF4-FFF2-40B4-BE49-F238E27FC236}">
                  <a16:creationId xmlns:a16="http://schemas.microsoft.com/office/drawing/2014/main" id="{DAB49BDF-6820-F848-8797-BBA558BA68E7}"/>
                </a:ext>
              </a:extLst>
            </p:cNvPr>
            <p:cNvSpPr txBox="1"/>
            <p:nvPr/>
          </p:nvSpPr>
          <p:spPr>
            <a:xfrm>
              <a:off x="4866679" y="6518484"/>
              <a:ext cx="3996350" cy="707886"/>
            </a:xfrm>
            <a:prstGeom prst="rect">
              <a:avLst/>
            </a:prstGeom>
            <a:noFill/>
          </p:spPr>
          <p:txBody>
            <a:bodyPr wrap="square" rtlCol="0">
              <a:spAutoFit/>
            </a:bodyPr>
            <a:lstStyle/>
            <a:p>
              <a:pPr algn="ctr"/>
              <a:r>
                <a:rPr kumimoji="1" lang="ja-JP" altLang="en-US" sz="4000">
                  <a:solidFill>
                    <a:schemeClr val="accent2"/>
                  </a:solidFill>
                </a:rPr>
                <a:t>関連あり</a:t>
              </a:r>
              <a:endParaRPr kumimoji="1" lang="en-US" altLang="ja-JP" sz="4000" dirty="0">
                <a:solidFill>
                  <a:schemeClr val="accent2"/>
                </a:solidFill>
              </a:endParaRPr>
            </a:p>
          </p:txBody>
        </p:sp>
      </p:grpSp>
    </p:spTree>
    <p:extLst>
      <p:ext uri="{BB962C8B-B14F-4D97-AF65-F5344CB8AC3E}">
        <p14:creationId xmlns:p14="http://schemas.microsoft.com/office/powerpoint/2010/main" val="39674238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dirty="0"/>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14</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T</a:t>
            </a:r>
            <a:r>
              <a:rPr lang="ja-JP" altLang="en-US"/>
              <a:t>検定を使用して感情のターゲットを分析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エージェントの感情は</a:t>
            </a:r>
            <a:r>
              <a:rPr lang="en-US" altLang="ja-JP" dirty="0"/>
              <a:t>offer</a:t>
            </a:r>
            <a:r>
              <a:rPr lang="ja-JP" altLang="en-US"/>
              <a:t>に対してのものだと知覚</a:t>
            </a:r>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マニピュレーションチェック</a:t>
            </a:r>
          </a:p>
        </p:txBody>
      </p:sp>
      <p:grpSp>
        <p:nvGrpSpPr>
          <p:cNvPr id="27" name="グループ化 26">
            <a:extLst>
              <a:ext uri="{FF2B5EF4-FFF2-40B4-BE49-F238E27FC236}">
                <a16:creationId xmlns:a16="http://schemas.microsoft.com/office/drawing/2014/main" id="{4A125233-EF05-5542-AEE6-E9A1DF7FEB83}"/>
              </a:ext>
            </a:extLst>
          </p:cNvPr>
          <p:cNvGrpSpPr/>
          <p:nvPr/>
        </p:nvGrpSpPr>
        <p:grpSpPr>
          <a:xfrm>
            <a:off x="4915200" y="4431558"/>
            <a:ext cx="8457601" cy="4642967"/>
            <a:chOff x="5229791" y="5308189"/>
            <a:chExt cx="8457601" cy="4642967"/>
          </a:xfrm>
        </p:grpSpPr>
        <p:sp>
          <p:nvSpPr>
            <p:cNvPr id="59" name="テキスト ボックス 58">
              <a:extLst>
                <a:ext uri="{FF2B5EF4-FFF2-40B4-BE49-F238E27FC236}">
                  <a16:creationId xmlns:a16="http://schemas.microsoft.com/office/drawing/2014/main" id="{C35E7425-8969-DE4C-8F57-AF7A5D946AF4}"/>
                </a:ext>
              </a:extLst>
            </p:cNvPr>
            <p:cNvSpPr txBox="1"/>
            <p:nvPr/>
          </p:nvSpPr>
          <p:spPr>
            <a:xfrm>
              <a:off x="7737138" y="6532919"/>
              <a:ext cx="2263140" cy="707886"/>
            </a:xfrm>
            <a:prstGeom prst="rect">
              <a:avLst/>
            </a:prstGeom>
            <a:noFill/>
          </p:spPr>
          <p:txBody>
            <a:bodyPr wrap="square" rtlCol="0">
              <a:spAutoFit/>
            </a:bodyPr>
            <a:lstStyle/>
            <a:p>
              <a:pPr algn="ctr"/>
              <a:r>
                <a:rPr kumimoji="1" lang="en-US" altLang="ja-JP" sz="4000" dirty="0"/>
                <a:t>emotion</a:t>
              </a:r>
              <a:endParaRPr kumimoji="1" lang="ja-JP" altLang="en-US" sz="4000"/>
            </a:p>
          </p:txBody>
        </p:sp>
        <p:grpSp>
          <p:nvGrpSpPr>
            <p:cNvPr id="26" name="グループ化 25">
              <a:extLst>
                <a:ext uri="{FF2B5EF4-FFF2-40B4-BE49-F238E27FC236}">
                  <a16:creationId xmlns:a16="http://schemas.microsoft.com/office/drawing/2014/main" id="{7BAC8A59-2205-D549-A6E8-1B32FABD6DF7}"/>
                </a:ext>
              </a:extLst>
            </p:cNvPr>
            <p:cNvGrpSpPr/>
            <p:nvPr/>
          </p:nvGrpSpPr>
          <p:grpSpPr>
            <a:xfrm>
              <a:off x="5229791" y="6864805"/>
              <a:ext cx="2057400" cy="1915845"/>
              <a:chOff x="4201092" y="5558728"/>
              <a:chExt cx="2057400" cy="1915845"/>
            </a:xfrm>
          </p:grpSpPr>
          <p:sp>
            <p:nvSpPr>
              <p:cNvPr id="67" name="スマイル 66">
                <a:extLst>
                  <a:ext uri="{FF2B5EF4-FFF2-40B4-BE49-F238E27FC236}">
                    <a16:creationId xmlns:a16="http://schemas.microsoft.com/office/drawing/2014/main" id="{32BFDA37-A901-3C40-9423-BF9B79F8AE6B}"/>
                  </a:ext>
                </a:extLst>
              </p:cNvPr>
              <p:cNvSpPr/>
              <p:nvPr/>
            </p:nvSpPr>
            <p:spPr>
              <a:xfrm>
                <a:off x="4633490" y="6370392"/>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69" name="テキスト ボックス 68">
                <a:extLst>
                  <a:ext uri="{FF2B5EF4-FFF2-40B4-BE49-F238E27FC236}">
                    <a16:creationId xmlns:a16="http://schemas.microsoft.com/office/drawing/2014/main" id="{051224A4-4281-C243-9598-3464111EE73C}"/>
                  </a:ext>
                </a:extLst>
              </p:cNvPr>
              <p:cNvSpPr txBox="1"/>
              <p:nvPr/>
            </p:nvSpPr>
            <p:spPr>
              <a:xfrm>
                <a:off x="4201092" y="5558728"/>
                <a:ext cx="2057400" cy="648221"/>
              </a:xfrm>
              <a:prstGeom prst="rect">
                <a:avLst/>
              </a:prstGeom>
              <a:noFill/>
            </p:spPr>
            <p:txBody>
              <a:bodyPr wrap="square" rtlCol="0">
                <a:spAutoFit/>
              </a:bodyPr>
              <a:lstStyle/>
              <a:p>
                <a:pPr algn="ctr"/>
                <a:r>
                  <a:rPr kumimoji="1" lang="en-US" altLang="ja-JP" dirty="0"/>
                  <a:t>agent</a:t>
                </a:r>
                <a:endParaRPr kumimoji="1" lang="ja-JP" altLang="en-US"/>
              </a:p>
            </p:txBody>
          </p:sp>
        </p:grpSp>
        <p:grpSp>
          <p:nvGrpSpPr>
            <p:cNvPr id="25" name="グループ化 24">
              <a:extLst>
                <a:ext uri="{FF2B5EF4-FFF2-40B4-BE49-F238E27FC236}">
                  <a16:creationId xmlns:a16="http://schemas.microsoft.com/office/drawing/2014/main" id="{272F72DE-B2CC-AD40-9BC4-FE441A1A7808}"/>
                </a:ext>
              </a:extLst>
            </p:cNvPr>
            <p:cNvGrpSpPr/>
            <p:nvPr/>
          </p:nvGrpSpPr>
          <p:grpSpPr>
            <a:xfrm>
              <a:off x="11284532" y="5308189"/>
              <a:ext cx="2057400" cy="2762887"/>
              <a:chOff x="9519688" y="4674203"/>
              <a:chExt cx="2057400" cy="2762887"/>
            </a:xfrm>
          </p:grpSpPr>
          <p:grpSp>
            <p:nvGrpSpPr>
              <p:cNvPr id="24" name="グループ化 23">
                <a:extLst>
                  <a:ext uri="{FF2B5EF4-FFF2-40B4-BE49-F238E27FC236}">
                    <a16:creationId xmlns:a16="http://schemas.microsoft.com/office/drawing/2014/main" id="{F111F918-DFC2-EB4B-BF8E-1E2047404A70}"/>
                  </a:ext>
                </a:extLst>
              </p:cNvPr>
              <p:cNvGrpSpPr/>
              <p:nvPr/>
            </p:nvGrpSpPr>
            <p:grpSpPr>
              <a:xfrm>
                <a:off x="10110217" y="5385965"/>
                <a:ext cx="866337" cy="2051125"/>
                <a:chOff x="10802165" y="5666694"/>
                <a:chExt cx="866337" cy="2051125"/>
              </a:xfrm>
            </p:grpSpPr>
            <p:sp>
              <p:nvSpPr>
                <p:cNvPr id="17" name="円/楕円 16">
                  <a:extLst>
                    <a:ext uri="{FF2B5EF4-FFF2-40B4-BE49-F238E27FC236}">
                      <a16:creationId xmlns:a16="http://schemas.microsoft.com/office/drawing/2014/main" id="{573BC831-872E-F14D-A062-FF23D346D5FE}"/>
                    </a:ext>
                  </a:extLst>
                </p:cNvPr>
                <p:cNvSpPr/>
                <p:nvPr/>
              </p:nvSpPr>
              <p:spPr>
                <a:xfrm>
                  <a:off x="10937814" y="5666694"/>
                  <a:ext cx="595041" cy="595041"/>
                </a:xfrm>
                <a:prstGeom prst="ellipse">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18" name="弦 17">
                  <a:extLst>
                    <a:ext uri="{FF2B5EF4-FFF2-40B4-BE49-F238E27FC236}">
                      <a16:creationId xmlns:a16="http://schemas.microsoft.com/office/drawing/2014/main" id="{B3611004-B2EF-D64D-A722-AAB0C6E4D97A}"/>
                    </a:ext>
                  </a:extLst>
                </p:cNvPr>
                <p:cNvSpPr/>
                <p:nvPr/>
              </p:nvSpPr>
              <p:spPr>
                <a:xfrm>
                  <a:off x="10802165" y="6261944"/>
                  <a:ext cx="866337" cy="1455875"/>
                </a:xfrm>
                <a:prstGeom prst="chord">
                  <a:avLst>
                    <a:gd name="adj1" fmla="val 10614901"/>
                    <a:gd name="adj2" fmla="val 194978"/>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grpSp>
          <p:sp>
            <p:nvSpPr>
              <p:cNvPr id="70" name="テキスト ボックス 69">
                <a:extLst>
                  <a:ext uri="{FF2B5EF4-FFF2-40B4-BE49-F238E27FC236}">
                    <a16:creationId xmlns:a16="http://schemas.microsoft.com/office/drawing/2014/main" id="{09263BD1-1179-174A-AE4F-17DA917BA7E3}"/>
                  </a:ext>
                </a:extLst>
              </p:cNvPr>
              <p:cNvSpPr txBox="1"/>
              <p:nvPr/>
            </p:nvSpPr>
            <p:spPr>
              <a:xfrm>
                <a:off x="9519688" y="4674203"/>
                <a:ext cx="2057400" cy="648221"/>
              </a:xfrm>
              <a:prstGeom prst="rect">
                <a:avLst/>
              </a:prstGeom>
              <a:noFill/>
            </p:spPr>
            <p:txBody>
              <a:bodyPr wrap="square" rtlCol="0">
                <a:spAutoFit/>
              </a:bodyPr>
              <a:lstStyle/>
              <a:p>
                <a:pPr algn="ctr"/>
                <a:r>
                  <a:rPr kumimoji="1" lang="en-US" altLang="ja-JP" dirty="0"/>
                  <a:t>human</a:t>
                </a:r>
                <a:endParaRPr kumimoji="1" lang="ja-JP" altLang="en-US"/>
              </a:p>
            </p:txBody>
          </p:sp>
        </p:grpSp>
        <p:sp>
          <p:nvSpPr>
            <p:cNvPr id="80" name="角丸四角形 79">
              <a:extLst>
                <a:ext uri="{FF2B5EF4-FFF2-40B4-BE49-F238E27FC236}">
                  <a16:creationId xmlns:a16="http://schemas.microsoft.com/office/drawing/2014/main" id="{D37ECD90-9430-E548-B780-7B774FCE9974}"/>
                </a:ext>
              </a:extLst>
            </p:cNvPr>
            <p:cNvSpPr/>
            <p:nvPr/>
          </p:nvSpPr>
          <p:spPr>
            <a:xfrm>
              <a:off x="11235334" y="9057409"/>
              <a:ext cx="2452058" cy="893747"/>
            </a:xfrm>
            <a:prstGeom prst="roundRect">
              <a:avLst/>
            </a:prstGeom>
            <a:solidFill>
              <a:schemeClr val="accent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4000" dirty="0">
                  <a:solidFill>
                    <a:schemeClr val="bg2"/>
                  </a:solidFill>
                </a:rPr>
                <a:t>offer</a:t>
              </a:r>
              <a:endParaRPr kumimoji="1" lang="ja-JP" altLang="en-US" sz="4000">
                <a:solidFill>
                  <a:schemeClr val="bg2"/>
                </a:solidFill>
              </a:endParaRPr>
            </a:p>
          </p:txBody>
        </p:sp>
        <p:sp>
          <p:nvSpPr>
            <p:cNvPr id="82" name="右矢印 81">
              <a:extLst>
                <a:ext uri="{FF2B5EF4-FFF2-40B4-BE49-F238E27FC236}">
                  <a16:creationId xmlns:a16="http://schemas.microsoft.com/office/drawing/2014/main" id="{DD6768E0-A6BF-6B4D-834E-5392F86158FF}"/>
                </a:ext>
              </a:extLst>
            </p:cNvPr>
            <p:cNvSpPr/>
            <p:nvPr/>
          </p:nvSpPr>
          <p:spPr>
            <a:xfrm rot="20747369">
              <a:off x="7218663" y="7352181"/>
              <a:ext cx="3701997" cy="323166"/>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90" name="右矢印 89">
              <a:extLst>
                <a:ext uri="{FF2B5EF4-FFF2-40B4-BE49-F238E27FC236}">
                  <a16:creationId xmlns:a16="http://schemas.microsoft.com/office/drawing/2014/main" id="{384FA947-27D3-5D4A-A4E6-9D5D6734CE4D}"/>
                </a:ext>
              </a:extLst>
            </p:cNvPr>
            <p:cNvSpPr/>
            <p:nvPr/>
          </p:nvSpPr>
          <p:spPr>
            <a:xfrm rot="-20760000">
              <a:off x="7293001" y="8813759"/>
              <a:ext cx="3701997" cy="323166"/>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91" name="テキスト ボックス 90">
              <a:extLst>
                <a:ext uri="{FF2B5EF4-FFF2-40B4-BE49-F238E27FC236}">
                  <a16:creationId xmlns:a16="http://schemas.microsoft.com/office/drawing/2014/main" id="{9F0D7E83-14E7-0C42-A2A7-D6F9F90FFC56}"/>
                </a:ext>
              </a:extLst>
            </p:cNvPr>
            <p:cNvSpPr txBox="1"/>
            <p:nvPr/>
          </p:nvSpPr>
          <p:spPr>
            <a:xfrm>
              <a:off x="7737138" y="9220067"/>
              <a:ext cx="2263140" cy="707886"/>
            </a:xfrm>
            <a:prstGeom prst="rect">
              <a:avLst/>
            </a:prstGeom>
            <a:noFill/>
          </p:spPr>
          <p:txBody>
            <a:bodyPr wrap="square" rtlCol="0">
              <a:spAutoFit/>
            </a:bodyPr>
            <a:lstStyle/>
            <a:p>
              <a:pPr algn="ctr"/>
              <a:r>
                <a:rPr kumimoji="1" lang="en-US" altLang="ja-JP" sz="4000" dirty="0"/>
                <a:t>emotion</a:t>
              </a:r>
              <a:endParaRPr kumimoji="1" lang="ja-JP" altLang="en-US" sz="4000"/>
            </a:p>
          </p:txBody>
        </p:sp>
      </p:grpSp>
      <p:sp>
        <p:nvSpPr>
          <p:cNvPr id="92" name="テキスト ボックス 91">
            <a:extLst>
              <a:ext uri="{FF2B5EF4-FFF2-40B4-BE49-F238E27FC236}">
                <a16:creationId xmlns:a16="http://schemas.microsoft.com/office/drawing/2014/main" id="{5BD052C9-F2FF-B24B-93C0-2AC3A0A27796}"/>
              </a:ext>
            </a:extLst>
          </p:cNvPr>
          <p:cNvSpPr txBox="1"/>
          <p:nvPr/>
        </p:nvSpPr>
        <p:spPr>
          <a:xfrm>
            <a:off x="1476696" y="11116586"/>
            <a:ext cx="15387819" cy="769441"/>
          </a:xfrm>
          <a:prstGeom prst="rect">
            <a:avLst/>
          </a:prstGeom>
          <a:noFill/>
        </p:spPr>
        <p:txBody>
          <a:bodyPr wrap="square" rtlCol="0">
            <a:spAutoFit/>
          </a:bodyPr>
          <a:lstStyle/>
          <a:p>
            <a:pPr algn="ctr"/>
            <a:r>
              <a:rPr kumimoji="1" lang="ja-JP" altLang="en-US" sz="4400">
                <a:solidFill>
                  <a:schemeClr val="accent2"/>
                </a:solidFill>
              </a:rPr>
              <a:t>実験者の意図が被験者に伝わっていたことを確認</a:t>
            </a:r>
          </a:p>
        </p:txBody>
      </p:sp>
    </p:spTree>
    <p:extLst>
      <p:ext uri="{BB962C8B-B14F-4D97-AF65-F5344CB8AC3E}">
        <p14:creationId xmlns:p14="http://schemas.microsoft.com/office/powerpoint/2010/main" val="8646984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15</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grpSp>
        <p:nvGrpSpPr>
          <p:cNvPr id="7" name="グループ化 6">
            <a:extLst>
              <a:ext uri="{FF2B5EF4-FFF2-40B4-BE49-F238E27FC236}">
                <a16:creationId xmlns:a16="http://schemas.microsoft.com/office/drawing/2014/main" id="{F8338825-4221-E148-A389-BAB1DC0ADD53}"/>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0E268681-EBDD-6B46-A968-4A957382FC63}"/>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FAD45B4-C2FE-CA41-B80D-D3EA8853BBC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16BF773A-C7D0-4047-93D7-93F6E4FD7F4C}"/>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B837EC6D-DFF8-7343-B171-EF2CF1C28D4B}"/>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232D445D-4D73-1242-8CD4-8C96A74E87A6}"/>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170F5D20-7DA5-BE40-86C8-63D00B93169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236C3152-D60C-3843-9B3D-307DB2A0E4A4}"/>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分散分析</a:t>
            </a:r>
            <a:r>
              <a:rPr lang="en-US" altLang="ja-JP" dirty="0"/>
              <a:t>)</a:t>
            </a:r>
            <a:r>
              <a:rPr lang="ja-JP" altLang="en-US"/>
              <a:t>を使用して分析</a:t>
            </a:r>
            <a:endParaRPr lang="en-US" altLang="ja-JP" dirty="0"/>
          </a:p>
        </p:txBody>
      </p:sp>
      <p:sp>
        <p:nvSpPr>
          <p:cNvPr id="15" name="テキスト プレースホルダー 29">
            <a:extLst>
              <a:ext uri="{FF2B5EF4-FFF2-40B4-BE49-F238E27FC236}">
                <a16:creationId xmlns:a16="http://schemas.microsoft.com/office/drawing/2014/main" id="{EBDED935-8261-6749-B78E-892B57BDE92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16" name="テキスト プレースホルダー 30">
            <a:extLst>
              <a:ext uri="{FF2B5EF4-FFF2-40B4-BE49-F238E27FC236}">
                <a16:creationId xmlns:a16="http://schemas.microsoft.com/office/drawing/2014/main" id="{CF9CB3BE-4D25-544D-BF6B-6A8CDD76E2D9}"/>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20" name="グループ化 19">
            <a:extLst>
              <a:ext uri="{FF2B5EF4-FFF2-40B4-BE49-F238E27FC236}">
                <a16:creationId xmlns:a16="http://schemas.microsoft.com/office/drawing/2014/main" id="{8B577410-CFFD-AA40-87AF-8AFB44C69106}"/>
              </a:ext>
            </a:extLst>
          </p:cNvPr>
          <p:cNvGrpSpPr/>
          <p:nvPr/>
        </p:nvGrpSpPr>
        <p:grpSpPr>
          <a:xfrm>
            <a:off x="617232" y="4073585"/>
            <a:ext cx="539448" cy="487368"/>
            <a:chOff x="400056" y="1061560"/>
            <a:chExt cx="269724" cy="243684"/>
          </a:xfrm>
        </p:grpSpPr>
        <p:sp>
          <p:nvSpPr>
            <p:cNvPr id="21" name="三角形 20">
              <a:extLst>
                <a:ext uri="{FF2B5EF4-FFF2-40B4-BE49-F238E27FC236}">
                  <a16:creationId xmlns:a16="http://schemas.microsoft.com/office/drawing/2014/main" id="{3F4001F2-477F-BE45-84DA-6D4DC9CE33D7}"/>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2" name="三角形 21">
              <a:extLst>
                <a:ext uri="{FF2B5EF4-FFF2-40B4-BE49-F238E27FC236}">
                  <a16:creationId xmlns:a16="http://schemas.microsoft.com/office/drawing/2014/main" id="{9277A881-7735-4E49-B6F7-E617DF05A3F1}"/>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3" name="テキスト プレースホルダー 27">
            <a:extLst>
              <a:ext uri="{FF2B5EF4-FFF2-40B4-BE49-F238E27FC236}">
                <a16:creationId xmlns:a16="http://schemas.microsoft.com/office/drawing/2014/main" id="{D197E5AE-BBE5-3441-B175-E80E25D4D303}"/>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伝達方法には統計的有意差はみられなかった</a:t>
            </a:r>
            <a:endParaRPr lang="en-US" altLang="ja-JP" dirty="0"/>
          </a:p>
        </p:txBody>
      </p:sp>
      <p:grpSp>
        <p:nvGrpSpPr>
          <p:cNvPr id="26" name="グループ化 25">
            <a:extLst>
              <a:ext uri="{FF2B5EF4-FFF2-40B4-BE49-F238E27FC236}">
                <a16:creationId xmlns:a16="http://schemas.microsoft.com/office/drawing/2014/main" id="{E5211391-4ED3-514B-B728-3772F3C8DE14}"/>
              </a:ext>
            </a:extLst>
          </p:cNvPr>
          <p:cNvGrpSpPr/>
          <p:nvPr/>
        </p:nvGrpSpPr>
        <p:grpSpPr>
          <a:xfrm>
            <a:off x="617232" y="5712270"/>
            <a:ext cx="539448" cy="487368"/>
            <a:chOff x="400056" y="1061560"/>
            <a:chExt cx="269724" cy="243684"/>
          </a:xfrm>
        </p:grpSpPr>
        <p:sp>
          <p:nvSpPr>
            <p:cNvPr id="27" name="三角形 26">
              <a:extLst>
                <a:ext uri="{FF2B5EF4-FFF2-40B4-BE49-F238E27FC236}">
                  <a16:creationId xmlns:a16="http://schemas.microsoft.com/office/drawing/2014/main" id="{45806479-2959-D241-9FB0-C89F2A5684B4}"/>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28" name="三角形 27">
              <a:extLst>
                <a:ext uri="{FF2B5EF4-FFF2-40B4-BE49-F238E27FC236}">
                  <a16:creationId xmlns:a16="http://schemas.microsoft.com/office/drawing/2014/main" id="{C344DF75-3A11-7E42-A950-4F4395FECF24}"/>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29" name="テキスト プレースホルダー 27">
            <a:extLst>
              <a:ext uri="{FF2B5EF4-FFF2-40B4-BE49-F238E27FC236}">
                <a16:creationId xmlns:a16="http://schemas.microsoft.com/office/drawing/2014/main" id="{794F9DE3-B099-9E42-80A9-585E73780BB8}"/>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感情には統計的有意差がみられた</a:t>
            </a:r>
            <a:endParaRPr lang="en-US" altLang="ja-JP" dirty="0"/>
          </a:p>
        </p:txBody>
      </p:sp>
      <p:sp>
        <p:nvSpPr>
          <p:cNvPr id="43" name="三角形 42">
            <a:extLst>
              <a:ext uri="{FF2B5EF4-FFF2-40B4-BE49-F238E27FC236}">
                <a16:creationId xmlns:a16="http://schemas.microsoft.com/office/drawing/2014/main" id="{29C0B7F1-E9AA-ED45-B54E-E03D666F3FDF}"/>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9">
            <a:extLst>
              <a:ext uri="{FF2B5EF4-FFF2-40B4-BE49-F238E27FC236}">
                <a16:creationId xmlns:a16="http://schemas.microsoft.com/office/drawing/2014/main" id="{67D7C01F-5E19-2244-885D-41265D24DEBF}"/>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grpSp>
        <p:nvGrpSpPr>
          <p:cNvPr id="54" name="グループ化 53">
            <a:extLst>
              <a:ext uri="{FF2B5EF4-FFF2-40B4-BE49-F238E27FC236}">
                <a16:creationId xmlns:a16="http://schemas.microsoft.com/office/drawing/2014/main" id="{555B0B40-BF11-3948-AF30-3F5874C6AE62}"/>
              </a:ext>
            </a:extLst>
          </p:cNvPr>
          <p:cNvGrpSpPr/>
          <p:nvPr/>
        </p:nvGrpSpPr>
        <p:grpSpPr>
          <a:xfrm>
            <a:off x="3544736" y="9020201"/>
            <a:ext cx="11198527" cy="3761408"/>
            <a:chOff x="3506678" y="8239275"/>
            <a:chExt cx="11198527" cy="3761408"/>
          </a:xfrm>
        </p:grpSpPr>
        <p:grpSp>
          <p:nvGrpSpPr>
            <p:cNvPr id="25" name="グループ化 24">
              <a:extLst>
                <a:ext uri="{FF2B5EF4-FFF2-40B4-BE49-F238E27FC236}">
                  <a16:creationId xmlns:a16="http://schemas.microsoft.com/office/drawing/2014/main" id="{BEB37E04-D0DB-D245-8E23-15B3F360B148}"/>
                </a:ext>
              </a:extLst>
            </p:cNvPr>
            <p:cNvGrpSpPr/>
            <p:nvPr/>
          </p:nvGrpSpPr>
          <p:grpSpPr>
            <a:xfrm>
              <a:off x="4535379" y="8239275"/>
              <a:ext cx="9217242" cy="1952773"/>
              <a:chOff x="1978725" y="8532573"/>
              <a:chExt cx="9217242" cy="1952773"/>
            </a:xfrm>
          </p:grpSpPr>
          <p:grpSp>
            <p:nvGrpSpPr>
              <p:cNvPr id="24" name="グループ化 23">
                <a:extLst>
                  <a:ext uri="{FF2B5EF4-FFF2-40B4-BE49-F238E27FC236}">
                    <a16:creationId xmlns:a16="http://schemas.microsoft.com/office/drawing/2014/main" id="{2810454D-06DA-5E4B-9E17-C5AED6A5DBD1}"/>
                  </a:ext>
                </a:extLst>
              </p:cNvPr>
              <p:cNvGrpSpPr/>
              <p:nvPr/>
            </p:nvGrpSpPr>
            <p:grpSpPr>
              <a:xfrm>
                <a:off x="1978725" y="8538153"/>
                <a:ext cx="2057400" cy="1947193"/>
                <a:chOff x="2143691" y="8532574"/>
                <a:chExt cx="2057400" cy="1947193"/>
              </a:xfrm>
            </p:grpSpPr>
            <p:sp>
              <p:nvSpPr>
                <p:cNvPr id="47" name="スマイル 46">
                  <a:extLst>
                    <a:ext uri="{FF2B5EF4-FFF2-40B4-BE49-F238E27FC236}">
                      <a16:creationId xmlns:a16="http://schemas.microsoft.com/office/drawing/2014/main" id="{AEFACCEF-7817-9841-8050-031523C6207B}"/>
                    </a:ext>
                  </a:extLst>
                </p:cNvPr>
                <p:cNvSpPr/>
                <p:nvPr/>
              </p:nvSpPr>
              <p:spPr>
                <a:xfrm>
                  <a:off x="2576090" y="8532574"/>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17" name="テキスト ボックス 16">
                  <a:extLst>
                    <a:ext uri="{FF2B5EF4-FFF2-40B4-BE49-F238E27FC236}">
                      <a16:creationId xmlns:a16="http://schemas.microsoft.com/office/drawing/2014/main" id="{476838BC-C816-3749-8625-83AEA9DEFE7A}"/>
                    </a:ext>
                  </a:extLst>
                </p:cNvPr>
                <p:cNvSpPr txBox="1"/>
                <p:nvPr/>
              </p:nvSpPr>
              <p:spPr>
                <a:xfrm>
                  <a:off x="2143691" y="9831546"/>
                  <a:ext cx="2057400" cy="648221"/>
                </a:xfrm>
                <a:prstGeom prst="rect">
                  <a:avLst/>
                </a:prstGeom>
                <a:noFill/>
              </p:spPr>
              <p:txBody>
                <a:bodyPr wrap="square" rtlCol="0">
                  <a:spAutoFit/>
                </a:bodyPr>
                <a:lstStyle/>
                <a:p>
                  <a:pPr algn="ctr"/>
                  <a:r>
                    <a:rPr kumimoji="1" lang="en-US" altLang="ja-JP" dirty="0"/>
                    <a:t>angry</a:t>
                  </a:r>
                  <a:endParaRPr kumimoji="1" lang="ja-JP" altLang="en-US"/>
                </a:p>
              </p:txBody>
            </p:sp>
          </p:grpSp>
          <p:grpSp>
            <p:nvGrpSpPr>
              <p:cNvPr id="19" name="グループ化 18">
                <a:extLst>
                  <a:ext uri="{FF2B5EF4-FFF2-40B4-BE49-F238E27FC236}">
                    <a16:creationId xmlns:a16="http://schemas.microsoft.com/office/drawing/2014/main" id="{ACB0C364-5854-C347-B957-2F7336E9DBFD}"/>
                  </a:ext>
                </a:extLst>
              </p:cNvPr>
              <p:cNvGrpSpPr/>
              <p:nvPr/>
            </p:nvGrpSpPr>
            <p:grpSpPr>
              <a:xfrm>
                <a:off x="5558646" y="8532574"/>
                <a:ext cx="2057400" cy="1947192"/>
                <a:chOff x="5558646" y="8532574"/>
                <a:chExt cx="2057400" cy="1947192"/>
              </a:xfrm>
            </p:grpSpPr>
            <p:sp>
              <p:nvSpPr>
                <p:cNvPr id="46" name="スマイル 45">
                  <a:extLst>
                    <a:ext uri="{FF2B5EF4-FFF2-40B4-BE49-F238E27FC236}">
                      <a16:creationId xmlns:a16="http://schemas.microsoft.com/office/drawing/2014/main" id="{E103E366-E498-434C-8841-CDC48463802B}"/>
                    </a:ext>
                  </a:extLst>
                </p:cNvPr>
                <p:cNvSpPr/>
                <p:nvPr/>
              </p:nvSpPr>
              <p:spPr>
                <a:xfrm>
                  <a:off x="5991045" y="8532574"/>
                  <a:ext cx="1192602" cy="1104181"/>
                </a:xfrm>
                <a:prstGeom prst="smileyFace">
                  <a:avLst>
                    <a:gd name="adj" fmla="val -35"/>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8" name="テキスト ボックス 47">
                  <a:extLst>
                    <a:ext uri="{FF2B5EF4-FFF2-40B4-BE49-F238E27FC236}">
                      <a16:creationId xmlns:a16="http://schemas.microsoft.com/office/drawing/2014/main" id="{FCA38E49-9BB8-2D45-B380-33B323884F39}"/>
                    </a:ext>
                  </a:extLst>
                </p:cNvPr>
                <p:cNvSpPr txBox="1"/>
                <p:nvPr/>
              </p:nvSpPr>
              <p:spPr>
                <a:xfrm>
                  <a:off x="5558646" y="9831545"/>
                  <a:ext cx="2057400" cy="648221"/>
                </a:xfrm>
                <a:prstGeom prst="rect">
                  <a:avLst/>
                </a:prstGeom>
                <a:noFill/>
              </p:spPr>
              <p:txBody>
                <a:bodyPr wrap="square" rtlCol="0">
                  <a:spAutoFit/>
                </a:bodyPr>
                <a:lstStyle/>
                <a:p>
                  <a:pPr algn="ctr"/>
                  <a:r>
                    <a:rPr lang="en-US" altLang="ja-JP" dirty="0"/>
                    <a:t>neutral</a:t>
                  </a:r>
                  <a:endParaRPr kumimoji="1" lang="ja-JP" altLang="en-US"/>
                </a:p>
              </p:txBody>
            </p:sp>
          </p:grpSp>
          <p:grpSp>
            <p:nvGrpSpPr>
              <p:cNvPr id="18" name="グループ化 17">
                <a:extLst>
                  <a:ext uri="{FF2B5EF4-FFF2-40B4-BE49-F238E27FC236}">
                    <a16:creationId xmlns:a16="http://schemas.microsoft.com/office/drawing/2014/main" id="{883ACA35-1FC8-8D4F-A1C7-54871F4454DE}"/>
                  </a:ext>
                </a:extLst>
              </p:cNvPr>
              <p:cNvGrpSpPr/>
              <p:nvPr/>
            </p:nvGrpSpPr>
            <p:grpSpPr>
              <a:xfrm>
                <a:off x="9138567" y="8532573"/>
                <a:ext cx="2057400" cy="1947192"/>
                <a:chOff x="9138567" y="8532573"/>
                <a:chExt cx="2057400" cy="1947192"/>
              </a:xfrm>
            </p:grpSpPr>
            <p:sp>
              <p:nvSpPr>
                <p:cNvPr id="45" name="スマイル 44">
                  <a:extLst>
                    <a:ext uri="{FF2B5EF4-FFF2-40B4-BE49-F238E27FC236}">
                      <a16:creationId xmlns:a16="http://schemas.microsoft.com/office/drawing/2014/main" id="{195514E4-D9A4-2640-9BE7-F90C36AE2811}"/>
                    </a:ext>
                  </a:extLst>
                </p:cNvPr>
                <p:cNvSpPr/>
                <p:nvPr/>
              </p:nvSpPr>
              <p:spPr>
                <a:xfrm>
                  <a:off x="9570966" y="8532573"/>
                  <a:ext cx="1192602" cy="1104181"/>
                </a:xfrm>
                <a:prstGeom prst="smileyFace">
                  <a:avLst>
                    <a:gd name="adj" fmla="val 4653"/>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49" name="テキスト ボックス 48">
                  <a:extLst>
                    <a:ext uri="{FF2B5EF4-FFF2-40B4-BE49-F238E27FC236}">
                      <a16:creationId xmlns:a16="http://schemas.microsoft.com/office/drawing/2014/main" id="{8A03261E-1ED7-BC48-9353-7A4C3272AAF4}"/>
                    </a:ext>
                  </a:extLst>
                </p:cNvPr>
                <p:cNvSpPr txBox="1"/>
                <p:nvPr/>
              </p:nvSpPr>
              <p:spPr>
                <a:xfrm>
                  <a:off x="9138567" y="9831544"/>
                  <a:ext cx="2057400" cy="648221"/>
                </a:xfrm>
                <a:prstGeom prst="rect">
                  <a:avLst/>
                </a:prstGeom>
                <a:noFill/>
              </p:spPr>
              <p:txBody>
                <a:bodyPr wrap="square" rtlCol="0">
                  <a:spAutoFit/>
                </a:bodyPr>
                <a:lstStyle/>
                <a:p>
                  <a:pPr algn="ctr"/>
                  <a:r>
                    <a:rPr kumimoji="1" lang="en-US" altLang="ja-JP" dirty="0"/>
                    <a:t>happy</a:t>
                  </a:r>
                  <a:endParaRPr kumimoji="1" lang="ja-JP" altLang="en-US"/>
                </a:p>
              </p:txBody>
            </p:sp>
          </p:grpSp>
        </p:grpSp>
        <p:sp>
          <p:nvSpPr>
            <p:cNvPr id="50" name="右矢印 49">
              <a:extLst>
                <a:ext uri="{FF2B5EF4-FFF2-40B4-BE49-F238E27FC236}">
                  <a16:creationId xmlns:a16="http://schemas.microsoft.com/office/drawing/2014/main" id="{FB50916D-4509-7846-9C5E-07D0C7C05256}"/>
                </a:ext>
              </a:extLst>
            </p:cNvPr>
            <p:cNvSpPr/>
            <p:nvPr/>
          </p:nvSpPr>
          <p:spPr>
            <a:xfrm flipH="1">
              <a:off x="4535378" y="10563435"/>
              <a:ext cx="9217241" cy="785954"/>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2"/>
                </a:solidFill>
              </a:endParaRPr>
            </a:p>
          </p:txBody>
        </p:sp>
        <p:sp>
          <p:nvSpPr>
            <p:cNvPr id="51" name="テキスト ボックス 50">
              <a:extLst>
                <a:ext uri="{FF2B5EF4-FFF2-40B4-BE49-F238E27FC236}">
                  <a16:creationId xmlns:a16="http://schemas.microsoft.com/office/drawing/2014/main" id="{CDFDFB3D-8126-BE48-96B6-0DDFFF6E66F5}"/>
                </a:ext>
              </a:extLst>
            </p:cNvPr>
            <p:cNvSpPr txBox="1"/>
            <p:nvPr/>
          </p:nvSpPr>
          <p:spPr>
            <a:xfrm>
              <a:off x="3506678" y="11332091"/>
              <a:ext cx="2057400" cy="648221"/>
            </a:xfrm>
            <a:prstGeom prst="rect">
              <a:avLst/>
            </a:prstGeom>
            <a:noFill/>
          </p:spPr>
          <p:txBody>
            <a:bodyPr wrap="square" rtlCol="0">
              <a:spAutoFit/>
            </a:bodyPr>
            <a:lstStyle/>
            <a:p>
              <a:pPr algn="ctr"/>
              <a:r>
                <a:rPr lang="ja-JP" altLang="en-US"/>
                <a:t>大</a:t>
              </a:r>
              <a:endParaRPr kumimoji="1" lang="ja-JP" altLang="en-US"/>
            </a:p>
          </p:txBody>
        </p:sp>
        <p:sp>
          <p:nvSpPr>
            <p:cNvPr id="52" name="テキスト ボックス 51">
              <a:extLst>
                <a:ext uri="{FF2B5EF4-FFF2-40B4-BE49-F238E27FC236}">
                  <a16:creationId xmlns:a16="http://schemas.microsoft.com/office/drawing/2014/main" id="{B5496B4B-887C-BE4E-A226-6FF0D538A851}"/>
                </a:ext>
              </a:extLst>
            </p:cNvPr>
            <p:cNvSpPr txBox="1"/>
            <p:nvPr/>
          </p:nvSpPr>
          <p:spPr>
            <a:xfrm>
              <a:off x="12647805" y="11332091"/>
              <a:ext cx="2057400" cy="648221"/>
            </a:xfrm>
            <a:prstGeom prst="rect">
              <a:avLst/>
            </a:prstGeom>
            <a:noFill/>
          </p:spPr>
          <p:txBody>
            <a:bodyPr wrap="square" rtlCol="0">
              <a:spAutoFit/>
            </a:bodyPr>
            <a:lstStyle/>
            <a:p>
              <a:pPr algn="ctr"/>
              <a:r>
                <a:rPr kumimoji="1" lang="ja-JP" altLang="en-US"/>
                <a:t>小</a:t>
              </a:r>
            </a:p>
          </p:txBody>
        </p:sp>
        <p:sp>
          <p:nvSpPr>
            <p:cNvPr id="53" name="テキスト ボックス 52">
              <a:extLst>
                <a:ext uri="{FF2B5EF4-FFF2-40B4-BE49-F238E27FC236}">
                  <a16:creationId xmlns:a16="http://schemas.microsoft.com/office/drawing/2014/main" id="{BE2F8BD5-A17D-A04E-9BA9-7DE9F936EDD6}"/>
                </a:ext>
              </a:extLst>
            </p:cNvPr>
            <p:cNvSpPr txBox="1"/>
            <p:nvPr/>
          </p:nvSpPr>
          <p:spPr>
            <a:xfrm>
              <a:off x="6718380" y="11292797"/>
              <a:ext cx="4851241" cy="707886"/>
            </a:xfrm>
            <a:prstGeom prst="rect">
              <a:avLst/>
            </a:prstGeom>
            <a:noFill/>
          </p:spPr>
          <p:txBody>
            <a:bodyPr wrap="square" rtlCol="0">
              <a:spAutoFit/>
            </a:bodyPr>
            <a:lstStyle/>
            <a:p>
              <a:pPr algn="ctr"/>
              <a:r>
                <a:rPr kumimoji="1" lang="en-US" altLang="ja-JP" sz="4000" dirty="0"/>
                <a:t>demand difference</a:t>
              </a:r>
              <a:endParaRPr kumimoji="1" lang="ja-JP" altLang="en-US" sz="4000"/>
            </a:p>
          </p:txBody>
        </p:sp>
      </p:grpSp>
      <p:grpSp>
        <p:nvGrpSpPr>
          <p:cNvPr id="55" name="グループ化 54">
            <a:extLst>
              <a:ext uri="{FF2B5EF4-FFF2-40B4-BE49-F238E27FC236}">
                <a16:creationId xmlns:a16="http://schemas.microsoft.com/office/drawing/2014/main" id="{99B0A0B3-241E-1943-8100-5C1759CCD494}"/>
              </a:ext>
            </a:extLst>
          </p:cNvPr>
          <p:cNvGrpSpPr/>
          <p:nvPr/>
        </p:nvGrpSpPr>
        <p:grpSpPr>
          <a:xfrm>
            <a:off x="617232" y="7314786"/>
            <a:ext cx="539448" cy="487368"/>
            <a:chOff x="400056" y="1061560"/>
            <a:chExt cx="269724" cy="243684"/>
          </a:xfrm>
        </p:grpSpPr>
        <p:sp>
          <p:nvSpPr>
            <p:cNvPr id="56" name="三角形 55">
              <a:extLst>
                <a:ext uri="{FF2B5EF4-FFF2-40B4-BE49-F238E27FC236}">
                  <a16:creationId xmlns:a16="http://schemas.microsoft.com/office/drawing/2014/main" id="{9A78022D-A10B-914B-BF48-BAA35AD67649}"/>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7" name="三角形 56">
              <a:extLst>
                <a:ext uri="{FF2B5EF4-FFF2-40B4-BE49-F238E27FC236}">
                  <a16:creationId xmlns:a16="http://schemas.microsoft.com/office/drawing/2014/main" id="{F0260CA7-CF0F-5449-B7E1-34DBD1B435EB}"/>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8" name="テキスト プレースホルダー 27">
            <a:extLst>
              <a:ext uri="{FF2B5EF4-FFF2-40B4-BE49-F238E27FC236}">
                <a16:creationId xmlns:a16="http://schemas.microsoft.com/office/drawing/2014/main" id="{70C0AC02-4003-5D4D-AB50-40EC61043E87}"/>
              </a:ext>
            </a:extLst>
          </p:cNvPr>
          <p:cNvSpPr txBox="1">
            <a:spLocks/>
          </p:cNvSpPr>
          <p:nvPr/>
        </p:nvSpPr>
        <p:spPr>
          <a:xfrm>
            <a:off x="1254486" y="724216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伝達方法と感情に関連はみられなかった</a:t>
            </a:r>
            <a:endParaRPr lang="en-US" altLang="ja-JP" dirty="0"/>
          </a:p>
        </p:txBody>
      </p:sp>
      <p:sp>
        <p:nvSpPr>
          <p:cNvPr id="59" name="三角形 58">
            <a:extLst>
              <a:ext uri="{FF2B5EF4-FFF2-40B4-BE49-F238E27FC236}">
                <a16:creationId xmlns:a16="http://schemas.microsoft.com/office/drawing/2014/main" id="{721D6AAC-E877-3048-AB9C-6162E522BB7F}"/>
              </a:ext>
            </a:extLst>
          </p:cNvPr>
          <p:cNvSpPr/>
          <p:nvPr/>
        </p:nvSpPr>
        <p:spPr>
          <a:xfrm rot="5400000">
            <a:off x="1076238" y="815551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0" name="テキスト プレースホルダー 29">
            <a:extLst>
              <a:ext uri="{FF2B5EF4-FFF2-40B4-BE49-F238E27FC236}">
                <a16:creationId xmlns:a16="http://schemas.microsoft.com/office/drawing/2014/main" id="{E7B17F6C-3461-CB4C-827B-29BC7352EBCB}"/>
              </a:ext>
            </a:extLst>
          </p:cNvPr>
          <p:cNvSpPr txBox="1">
            <a:spLocks/>
          </p:cNvSpPr>
          <p:nvPr/>
        </p:nvSpPr>
        <p:spPr>
          <a:xfrm>
            <a:off x="1568600" y="804023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感情は伝達方法とは独立に</a:t>
            </a:r>
            <a:r>
              <a:rPr lang="en-US" altLang="ja-JP" dirty="0"/>
              <a:t>demand difference</a:t>
            </a:r>
            <a:r>
              <a:rPr lang="ja-JP" altLang="en-US"/>
              <a:t>に影響を与える</a:t>
            </a:r>
          </a:p>
        </p:txBody>
      </p:sp>
      <p:sp>
        <p:nvSpPr>
          <p:cNvPr id="61" name="三角形 60">
            <a:extLst>
              <a:ext uri="{FF2B5EF4-FFF2-40B4-BE49-F238E27FC236}">
                <a16:creationId xmlns:a16="http://schemas.microsoft.com/office/drawing/2014/main" id="{A115CBBF-4618-7046-AC4B-EF4A66289544}"/>
              </a:ext>
            </a:extLst>
          </p:cNvPr>
          <p:cNvSpPr/>
          <p:nvPr/>
        </p:nvSpPr>
        <p:spPr>
          <a:xfrm rot="5400000">
            <a:off x="1076238" y="65680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50227810-AFBB-AC4C-A102-CCDA8049EF3B}"/>
              </a:ext>
            </a:extLst>
          </p:cNvPr>
          <p:cNvSpPr txBox="1">
            <a:spLocks/>
          </p:cNvSpPr>
          <p:nvPr/>
        </p:nvSpPr>
        <p:spPr>
          <a:xfrm>
            <a:off x="1568600" y="64527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Tree>
    <p:extLst>
      <p:ext uri="{BB962C8B-B14F-4D97-AF65-F5344CB8AC3E}">
        <p14:creationId xmlns:p14="http://schemas.microsoft.com/office/powerpoint/2010/main" val="37980097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16</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pic>
        <p:nvPicPr>
          <p:cNvPr id="31" name="図 30">
            <a:extLst>
              <a:ext uri="{FF2B5EF4-FFF2-40B4-BE49-F238E27FC236}">
                <a16:creationId xmlns:a16="http://schemas.microsoft.com/office/drawing/2014/main" id="{061B6C64-EB6E-1049-B001-365B402371B9}"/>
              </a:ext>
            </a:extLst>
          </p:cNvPr>
          <p:cNvPicPr>
            <a:picLocks noChangeAspect="1"/>
          </p:cNvPicPr>
          <p:nvPr/>
        </p:nvPicPr>
        <p:blipFill>
          <a:blip r:embed="rId3"/>
          <a:stretch>
            <a:fillRect/>
          </a:stretch>
        </p:blipFill>
        <p:spPr>
          <a:xfrm>
            <a:off x="1254486" y="8677383"/>
            <a:ext cx="7920000" cy="4561520"/>
          </a:xfrm>
          <a:prstGeom prst="rect">
            <a:avLst/>
          </a:prstGeom>
        </p:spPr>
      </p:pic>
      <p:pic>
        <p:nvPicPr>
          <p:cNvPr id="33" name="図 32">
            <a:extLst>
              <a:ext uri="{FF2B5EF4-FFF2-40B4-BE49-F238E27FC236}">
                <a16:creationId xmlns:a16="http://schemas.microsoft.com/office/drawing/2014/main" id="{60AA3D5C-A433-0848-809D-0129548D2476}"/>
              </a:ext>
            </a:extLst>
          </p:cNvPr>
          <p:cNvPicPr>
            <a:picLocks noChangeAspect="1"/>
          </p:cNvPicPr>
          <p:nvPr/>
        </p:nvPicPr>
        <p:blipFill>
          <a:blip r:embed="rId4"/>
          <a:stretch>
            <a:fillRect/>
          </a:stretch>
        </p:blipFill>
        <p:spPr>
          <a:xfrm>
            <a:off x="10461630" y="8673056"/>
            <a:ext cx="6228000" cy="4526053"/>
          </a:xfrm>
          <a:prstGeom prst="rect">
            <a:avLst/>
          </a:prstGeom>
        </p:spPr>
      </p:pic>
      <p:grpSp>
        <p:nvGrpSpPr>
          <p:cNvPr id="35" name="グループ化 34">
            <a:extLst>
              <a:ext uri="{FF2B5EF4-FFF2-40B4-BE49-F238E27FC236}">
                <a16:creationId xmlns:a16="http://schemas.microsoft.com/office/drawing/2014/main" id="{AB16B722-0D46-E24D-A20E-09138FE8C8EC}"/>
              </a:ext>
            </a:extLst>
          </p:cNvPr>
          <p:cNvGrpSpPr/>
          <p:nvPr/>
        </p:nvGrpSpPr>
        <p:grpSpPr>
          <a:xfrm>
            <a:off x="289330" y="1413298"/>
            <a:ext cx="2160000" cy="934436"/>
            <a:chOff x="144665" y="525617"/>
            <a:chExt cx="1080000" cy="467218"/>
          </a:xfrm>
        </p:grpSpPr>
        <p:sp>
          <p:nvSpPr>
            <p:cNvPr id="36" name="正方形/長方形 35">
              <a:extLst>
                <a:ext uri="{FF2B5EF4-FFF2-40B4-BE49-F238E27FC236}">
                  <a16:creationId xmlns:a16="http://schemas.microsoft.com/office/drawing/2014/main" id="{C7BE27B8-E1BF-9849-910A-12ED6A6A722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7" name="正方形/長方形 36">
              <a:extLst>
                <a:ext uri="{FF2B5EF4-FFF2-40B4-BE49-F238E27FC236}">
                  <a16:creationId xmlns:a16="http://schemas.microsoft.com/office/drawing/2014/main" id="{B03DE4C5-552F-0F48-848B-8D93953E79F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8" name="グループ化 37">
            <a:extLst>
              <a:ext uri="{FF2B5EF4-FFF2-40B4-BE49-F238E27FC236}">
                <a16:creationId xmlns:a16="http://schemas.microsoft.com/office/drawing/2014/main" id="{BE56D25C-2BDE-D141-A6FF-3FEFE5C206FA}"/>
              </a:ext>
            </a:extLst>
          </p:cNvPr>
          <p:cNvGrpSpPr/>
          <p:nvPr/>
        </p:nvGrpSpPr>
        <p:grpSpPr>
          <a:xfrm>
            <a:off x="617232" y="2557358"/>
            <a:ext cx="539448" cy="487368"/>
            <a:chOff x="400056" y="1061560"/>
            <a:chExt cx="269724" cy="243684"/>
          </a:xfrm>
        </p:grpSpPr>
        <p:sp>
          <p:nvSpPr>
            <p:cNvPr id="39" name="三角形 38">
              <a:extLst>
                <a:ext uri="{FF2B5EF4-FFF2-40B4-BE49-F238E27FC236}">
                  <a16:creationId xmlns:a16="http://schemas.microsoft.com/office/drawing/2014/main" id="{9DCCDE8C-2311-AC41-ACDE-9EFB630D2F9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三角形 39">
              <a:extLst>
                <a:ext uri="{FF2B5EF4-FFF2-40B4-BE49-F238E27FC236}">
                  <a16:creationId xmlns:a16="http://schemas.microsoft.com/office/drawing/2014/main" id="{D1745660-D13A-3944-B628-BBE9244F345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1" name="三角形 40">
            <a:extLst>
              <a:ext uri="{FF2B5EF4-FFF2-40B4-BE49-F238E27FC236}">
                <a16:creationId xmlns:a16="http://schemas.microsoft.com/office/drawing/2014/main" id="{0DA90E25-2991-EF4A-B966-971D8C6E072F}"/>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7">
            <a:extLst>
              <a:ext uri="{FF2B5EF4-FFF2-40B4-BE49-F238E27FC236}">
                <a16:creationId xmlns:a16="http://schemas.microsoft.com/office/drawing/2014/main" id="{60406625-1823-E442-A2FE-03577DEEB756}"/>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分散分析</a:t>
            </a:r>
            <a:r>
              <a:rPr lang="en-US" altLang="ja-JP" dirty="0"/>
              <a:t>)</a:t>
            </a:r>
            <a:r>
              <a:rPr lang="ja-JP" altLang="en-US"/>
              <a:t>を使用して分析</a:t>
            </a:r>
            <a:endParaRPr lang="en-US" altLang="ja-JP" dirty="0"/>
          </a:p>
        </p:txBody>
      </p:sp>
      <p:sp>
        <p:nvSpPr>
          <p:cNvPr id="45" name="テキスト プレースホルダー 29">
            <a:extLst>
              <a:ext uri="{FF2B5EF4-FFF2-40B4-BE49-F238E27FC236}">
                <a16:creationId xmlns:a16="http://schemas.microsoft.com/office/drawing/2014/main" id="{4FCB5617-0C1F-C54E-829B-E546682AF5E0}"/>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46" name="テキスト プレースホルダー 30">
            <a:extLst>
              <a:ext uri="{FF2B5EF4-FFF2-40B4-BE49-F238E27FC236}">
                <a16:creationId xmlns:a16="http://schemas.microsoft.com/office/drawing/2014/main" id="{D1E20380-EE69-3645-903D-57F695254A5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47" name="グループ化 46">
            <a:extLst>
              <a:ext uri="{FF2B5EF4-FFF2-40B4-BE49-F238E27FC236}">
                <a16:creationId xmlns:a16="http://schemas.microsoft.com/office/drawing/2014/main" id="{78A596D3-83E3-BB41-8333-BA7BF317A908}"/>
              </a:ext>
            </a:extLst>
          </p:cNvPr>
          <p:cNvGrpSpPr/>
          <p:nvPr/>
        </p:nvGrpSpPr>
        <p:grpSpPr>
          <a:xfrm>
            <a:off x="617232" y="4073585"/>
            <a:ext cx="539448" cy="487368"/>
            <a:chOff x="400056" y="1061560"/>
            <a:chExt cx="269724" cy="243684"/>
          </a:xfrm>
        </p:grpSpPr>
        <p:sp>
          <p:nvSpPr>
            <p:cNvPr id="48" name="三角形 47">
              <a:extLst>
                <a:ext uri="{FF2B5EF4-FFF2-40B4-BE49-F238E27FC236}">
                  <a16:creationId xmlns:a16="http://schemas.microsoft.com/office/drawing/2014/main" id="{CFA68BDC-54FD-9144-B77A-C7F1BBA50E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063E9992-2E21-DD49-B346-92BA79701EF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0" name="テキスト プレースホルダー 27">
            <a:extLst>
              <a:ext uri="{FF2B5EF4-FFF2-40B4-BE49-F238E27FC236}">
                <a16:creationId xmlns:a16="http://schemas.microsoft.com/office/drawing/2014/main" id="{9D012A2F-C6FE-3C41-B764-C744DB967018}"/>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伝達方法には統計的有意差はみられなかった</a:t>
            </a:r>
            <a:endParaRPr lang="en-US" altLang="ja-JP" dirty="0"/>
          </a:p>
        </p:txBody>
      </p:sp>
      <p:grpSp>
        <p:nvGrpSpPr>
          <p:cNvPr id="51" name="グループ化 50">
            <a:extLst>
              <a:ext uri="{FF2B5EF4-FFF2-40B4-BE49-F238E27FC236}">
                <a16:creationId xmlns:a16="http://schemas.microsoft.com/office/drawing/2014/main" id="{77D2C6B4-3111-014D-8AB2-C0255F7C4B6D}"/>
              </a:ext>
            </a:extLst>
          </p:cNvPr>
          <p:cNvGrpSpPr/>
          <p:nvPr/>
        </p:nvGrpSpPr>
        <p:grpSpPr>
          <a:xfrm>
            <a:off x="617232" y="5712270"/>
            <a:ext cx="539448" cy="487368"/>
            <a:chOff x="400056" y="1061560"/>
            <a:chExt cx="269724" cy="243684"/>
          </a:xfrm>
        </p:grpSpPr>
        <p:sp>
          <p:nvSpPr>
            <p:cNvPr id="52" name="三角形 51">
              <a:extLst>
                <a:ext uri="{FF2B5EF4-FFF2-40B4-BE49-F238E27FC236}">
                  <a16:creationId xmlns:a16="http://schemas.microsoft.com/office/drawing/2014/main" id="{8DC8DE29-3BF8-9443-8B99-773F5AEA90B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D094062C-EA47-1448-9156-D34D866E0EA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4" name="テキスト プレースホルダー 27">
            <a:extLst>
              <a:ext uri="{FF2B5EF4-FFF2-40B4-BE49-F238E27FC236}">
                <a16:creationId xmlns:a16="http://schemas.microsoft.com/office/drawing/2014/main" id="{431EB3C7-61C1-004F-A912-56A5A7984221}"/>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感情には統計的有意差がみられた</a:t>
            </a:r>
            <a:endParaRPr lang="en-US" altLang="ja-JP" dirty="0"/>
          </a:p>
        </p:txBody>
      </p:sp>
      <p:sp>
        <p:nvSpPr>
          <p:cNvPr id="61" name="三角形 60">
            <a:extLst>
              <a:ext uri="{FF2B5EF4-FFF2-40B4-BE49-F238E27FC236}">
                <a16:creationId xmlns:a16="http://schemas.microsoft.com/office/drawing/2014/main" id="{45E85650-C524-714D-BCF4-91E2BA04FBD8}"/>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0259F2F3-2A02-894C-8A4A-414B6B3B8C19}"/>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grpSp>
        <p:nvGrpSpPr>
          <p:cNvPr id="63" name="グループ化 62">
            <a:extLst>
              <a:ext uri="{FF2B5EF4-FFF2-40B4-BE49-F238E27FC236}">
                <a16:creationId xmlns:a16="http://schemas.microsoft.com/office/drawing/2014/main" id="{95D72EB3-F955-8C44-8B67-FDAD1F0BC4B9}"/>
              </a:ext>
            </a:extLst>
          </p:cNvPr>
          <p:cNvGrpSpPr/>
          <p:nvPr/>
        </p:nvGrpSpPr>
        <p:grpSpPr>
          <a:xfrm>
            <a:off x="617232" y="7314786"/>
            <a:ext cx="539448" cy="487368"/>
            <a:chOff x="400056" y="1061560"/>
            <a:chExt cx="269724" cy="243684"/>
          </a:xfrm>
        </p:grpSpPr>
        <p:sp>
          <p:nvSpPr>
            <p:cNvPr id="64" name="三角形 63">
              <a:extLst>
                <a:ext uri="{FF2B5EF4-FFF2-40B4-BE49-F238E27FC236}">
                  <a16:creationId xmlns:a16="http://schemas.microsoft.com/office/drawing/2014/main" id="{E2786557-2E9E-9241-A5DA-B96A617B5C4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5" name="三角形 64">
              <a:extLst>
                <a:ext uri="{FF2B5EF4-FFF2-40B4-BE49-F238E27FC236}">
                  <a16:creationId xmlns:a16="http://schemas.microsoft.com/office/drawing/2014/main" id="{E9FB826F-1341-4E4A-8866-DA9401DDD91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6" name="テキスト プレースホルダー 27">
            <a:extLst>
              <a:ext uri="{FF2B5EF4-FFF2-40B4-BE49-F238E27FC236}">
                <a16:creationId xmlns:a16="http://schemas.microsoft.com/office/drawing/2014/main" id="{203FB6D1-B66C-C749-92FC-DEBBB73B9978}"/>
              </a:ext>
            </a:extLst>
          </p:cNvPr>
          <p:cNvSpPr txBox="1">
            <a:spLocks/>
          </p:cNvSpPr>
          <p:nvPr/>
        </p:nvSpPr>
        <p:spPr>
          <a:xfrm>
            <a:off x="1254486" y="724216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伝達方法と感情に関連はみられなかった</a:t>
            </a:r>
            <a:endParaRPr lang="en-US" altLang="ja-JP" dirty="0"/>
          </a:p>
        </p:txBody>
      </p:sp>
      <p:sp>
        <p:nvSpPr>
          <p:cNvPr id="67" name="三角形 66">
            <a:extLst>
              <a:ext uri="{FF2B5EF4-FFF2-40B4-BE49-F238E27FC236}">
                <a16:creationId xmlns:a16="http://schemas.microsoft.com/office/drawing/2014/main" id="{FB7D243B-9422-5545-979C-AF1EB953B202}"/>
              </a:ext>
            </a:extLst>
          </p:cNvPr>
          <p:cNvSpPr/>
          <p:nvPr/>
        </p:nvSpPr>
        <p:spPr>
          <a:xfrm rot="5400000">
            <a:off x="1076238" y="815551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テキスト プレースホルダー 29">
            <a:extLst>
              <a:ext uri="{FF2B5EF4-FFF2-40B4-BE49-F238E27FC236}">
                <a16:creationId xmlns:a16="http://schemas.microsoft.com/office/drawing/2014/main" id="{2A2F38F0-F966-9A46-AB8B-D9E187A0B395}"/>
              </a:ext>
            </a:extLst>
          </p:cNvPr>
          <p:cNvSpPr txBox="1">
            <a:spLocks/>
          </p:cNvSpPr>
          <p:nvPr/>
        </p:nvSpPr>
        <p:spPr>
          <a:xfrm>
            <a:off x="1568600" y="804023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感情は伝達方法とは独立に</a:t>
            </a:r>
            <a:r>
              <a:rPr lang="en-US" altLang="ja-JP" dirty="0"/>
              <a:t>demand difference</a:t>
            </a:r>
            <a:r>
              <a:rPr lang="ja-JP" altLang="en-US"/>
              <a:t>に影響を与える</a:t>
            </a:r>
          </a:p>
        </p:txBody>
      </p:sp>
      <p:sp>
        <p:nvSpPr>
          <p:cNvPr id="69" name="三角形 68">
            <a:extLst>
              <a:ext uri="{FF2B5EF4-FFF2-40B4-BE49-F238E27FC236}">
                <a16:creationId xmlns:a16="http://schemas.microsoft.com/office/drawing/2014/main" id="{0C1444F8-F7C0-294F-A42F-12E996EB22A7}"/>
              </a:ext>
            </a:extLst>
          </p:cNvPr>
          <p:cNvSpPr/>
          <p:nvPr/>
        </p:nvSpPr>
        <p:spPr>
          <a:xfrm rot="5400000">
            <a:off x="1076238" y="65680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5469CECF-1B9C-2C46-BFC9-C96F24C7AB93}"/>
              </a:ext>
            </a:extLst>
          </p:cNvPr>
          <p:cNvSpPr txBox="1">
            <a:spLocks/>
          </p:cNvSpPr>
          <p:nvPr/>
        </p:nvSpPr>
        <p:spPr>
          <a:xfrm>
            <a:off x="1568600" y="64527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Tree>
    <p:extLst>
      <p:ext uri="{BB962C8B-B14F-4D97-AF65-F5344CB8AC3E}">
        <p14:creationId xmlns:p14="http://schemas.microsoft.com/office/powerpoint/2010/main" val="18667181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9A3628AA-5FBA-534C-B3C4-2DB73F7968C2}"/>
              </a:ext>
            </a:extLst>
          </p:cNvPr>
          <p:cNvSpPr>
            <a:spLocks noGrp="1"/>
          </p:cNvSpPr>
          <p:nvPr>
            <p:ph type="dt" sz="half" idx="10"/>
          </p:nvPr>
        </p:nvSpPr>
        <p:spPr/>
        <p:txBody>
          <a:bodyPr/>
          <a:lstStyle/>
          <a:p>
            <a:fld id="{E987203A-5B41-5648-8157-822A487E08FC}"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98D8000A-67DE-B846-8AE0-A91C6FD8ECB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5241896A-DBD1-D845-A5F2-1904C1003E91}"/>
              </a:ext>
            </a:extLst>
          </p:cNvPr>
          <p:cNvSpPr>
            <a:spLocks noGrp="1"/>
          </p:cNvSpPr>
          <p:nvPr>
            <p:ph type="sldNum" sz="quarter" idx="12"/>
          </p:nvPr>
        </p:nvSpPr>
        <p:spPr/>
        <p:txBody>
          <a:bodyPr/>
          <a:lstStyle/>
          <a:p>
            <a:fld id="{89242BC1-393D-1248-985B-18DA624F2964}" type="slidenum">
              <a:rPr lang="ja-JP" altLang="en-US" smtClean="0"/>
              <a:pPr/>
              <a:t>17</a:t>
            </a:fld>
            <a:endParaRPr lang="ja-JP" altLang="en-US"/>
          </a:p>
        </p:txBody>
      </p:sp>
      <p:sp>
        <p:nvSpPr>
          <p:cNvPr id="5" name="テキスト プレースホルダー 4">
            <a:extLst>
              <a:ext uri="{FF2B5EF4-FFF2-40B4-BE49-F238E27FC236}">
                <a16:creationId xmlns:a16="http://schemas.microsoft.com/office/drawing/2014/main" id="{9F22905A-C42A-1845-B4C2-9D8885E8733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A72A944A-0DD6-C246-AA6A-153A95866A6D}"/>
              </a:ext>
            </a:extLst>
          </p:cNvPr>
          <p:cNvSpPr>
            <a:spLocks noGrp="1"/>
          </p:cNvSpPr>
          <p:nvPr>
            <p:ph type="body" sz="quarter" idx="14"/>
          </p:nvPr>
        </p:nvSpPr>
        <p:spPr/>
        <p:txBody>
          <a:bodyPr/>
          <a:lstStyle/>
          <a:p>
            <a:r>
              <a:rPr lang="ja-JP" altLang="en-US"/>
              <a:t>実験結果</a:t>
            </a:r>
            <a:endParaRPr kumimoji="1" lang="ja-JP" altLang="en-US"/>
          </a:p>
        </p:txBody>
      </p:sp>
      <p:pic>
        <p:nvPicPr>
          <p:cNvPr id="31" name="図 30">
            <a:extLst>
              <a:ext uri="{FF2B5EF4-FFF2-40B4-BE49-F238E27FC236}">
                <a16:creationId xmlns:a16="http://schemas.microsoft.com/office/drawing/2014/main" id="{061B6C64-EB6E-1049-B001-365B402371B9}"/>
              </a:ext>
            </a:extLst>
          </p:cNvPr>
          <p:cNvPicPr>
            <a:picLocks noChangeAspect="1"/>
          </p:cNvPicPr>
          <p:nvPr/>
        </p:nvPicPr>
        <p:blipFill>
          <a:blip r:embed="rId3"/>
          <a:stretch>
            <a:fillRect/>
          </a:stretch>
        </p:blipFill>
        <p:spPr>
          <a:xfrm>
            <a:off x="1254486" y="8677383"/>
            <a:ext cx="7920000" cy="4561520"/>
          </a:xfrm>
          <a:prstGeom prst="rect">
            <a:avLst/>
          </a:prstGeom>
        </p:spPr>
      </p:pic>
      <p:pic>
        <p:nvPicPr>
          <p:cNvPr id="33" name="図 32">
            <a:extLst>
              <a:ext uri="{FF2B5EF4-FFF2-40B4-BE49-F238E27FC236}">
                <a16:creationId xmlns:a16="http://schemas.microsoft.com/office/drawing/2014/main" id="{60AA3D5C-A433-0848-809D-0129548D2476}"/>
              </a:ext>
            </a:extLst>
          </p:cNvPr>
          <p:cNvPicPr>
            <a:picLocks noChangeAspect="1"/>
          </p:cNvPicPr>
          <p:nvPr/>
        </p:nvPicPr>
        <p:blipFill>
          <a:blip r:embed="rId4"/>
          <a:stretch>
            <a:fillRect/>
          </a:stretch>
        </p:blipFill>
        <p:spPr>
          <a:xfrm>
            <a:off x="10461630" y="8673056"/>
            <a:ext cx="6228000" cy="4526053"/>
          </a:xfrm>
          <a:prstGeom prst="rect">
            <a:avLst/>
          </a:prstGeom>
        </p:spPr>
      </p:pic>
      <p:grpSp>
        <p:nvGrpSpPr>
          <p:cNvPr id="35" name="グループ化 34">
            <a:extLst>
              <a:ext uri="{FF2B5EF4-FFF2-40B4-BE49-F238E27FC236}">
                <a16:creationId xmlns:a16="http://schemas.microsoft.com/office/drawing/2014/main" id="{AB16B722-0D46-E24D-A20E-09138FE8C8EC}"/>
              </a:ext>
            </a:extLst>
          </p:cNvPr>
          <p:cNvGrpSpPr/>
          <p:nvPr/>
        </p:nvGrpSpPr>
        <p:grpSpPr>
          <a:xfrm>
            <a:off x="289330" y="1413298"/>
            <a:ext cx="2160000" cy="934436"/>
            <a:chOff x="144665" y="525617"/>
            <a:chExt cx="1080000" cy="467218"/>
          </a:xfrm>
        </p:grpSpPr>
        <p:sp>
          <p:nvSpPr>
            <p:cNvPr id="36" name="正方形/長方形 35">
              <a:extLst>
                <a:ext uri="{FF2B5EF4-FFF2-40B4-BE49-F238E27FC236}">
                  <a16:creationId xmlns:a16="http://schemas.microsoft.com/office/drawing/2014/main" id="{C7BE27B8-E1BF-9849-910A-12ED6A6A7226}"/>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7" name="正方形/長方形 36">
              <a:extLst>
                <a:ext uri="{FF2B5EF4-FFF2-40B4-BE49-F238E27FC236}">
                  <a16:creationId xmlns:a16="http://schemas.microsoft.com/office/drawing/2014/main" id="{B03DE4C5-552F-0F48-848B-8D93953E79F9}"/>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38" name="グループ化 37">
            <a:extLst>
              <a:ext uri="{FF2B5EF4-FFF2-40B4-BE49-F238E27FC236}">
                <a16:creationId xmlns:a16="http://schemas.microsoft.com/office/drawing/2014/main" id="{BE56D25C-2BDE-D141-A6FF-3FEFE5C206FA}"/>
              </a:ext>
            </a:extLst>
          </p:cNvPr>
          <p:cNvGrpSpPr/>
          <p:nvPr/>
        </p:nvGrpSpPr>
        <p:grpSpPr>
          <a:xfrm>
            <a:off x="617232" y="2557358"/>
            <a:ext cx="539448" cy="487368"/>
            <a:chOff x="400056" y="1061560"/>
            <a:chExt cx="269724" cy="243684"/>
          </a:xfrm>
        </p:grpSpPr>
        <p:sp>
          <p:nvSpPr>
            <p:cNvPr id="39" name="三角形 38">
              <a:extLst>
                <a:ext uri="{FF2B5EF4-FFF2-40B4-BE49-F238E27FC236}">
                  <a16:creationId xmlns:a16="http://schemas.microsoft.com/office/drawing/2014/main" id="{9DCCDE8C-2311-AC41-ACDE-9EFB630D2F9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0" name="三角形 39">
              <a:extLst>
                <a:ext uri="{FF2B5EF4-FFF2-40B4-BE49-F238E27FC236}">
                  <a16:creationId xmlns:a16="http://schemas.microsoft.com/office/drawing/2014/main" id="{D1745660-D13A-3944-B628-BBE9244F345F}"/>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1" name="三角形 40">
            <a:extLst>
              <a:ext uri="{FF2B5EF4-FFF2-40B4-BE49-F238E27FC236}">
                <a16:creationId xmlns:a16="http://schemas.microsoft.com/office/drawing/2014/main" id="{0DA90E25-2991-EF4A-B966-971D8C6E072F}"/>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テキスト プレースホルダー 27">
            <a:extLst>
              <a:ext uri="{FF2B5EF4-FFF2-40B4-BE49-F238E27FC236}">
                <a16:creationId xmlns:a16="http://schemas.microsoft.com/office/drawing/2014/main" id="{60406625-1823-E442-A2FE-03577DEEB756}"/>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ANOVA(</a:t>
            </a:r>
            <a:r>
              <a:rPr lang="ja-JP" altLang="en-US"/>
              <a:t>分散分析</a:t>
            </a:r>
            <a:r>
              <a:rPr lang="en-US" altLang="ja-JP" dirty="0"/>
              <a:t>)</a:t>
            </a:r>
            <a:r>
              <a:rPr lang="ja-JP" altLang="en-US"/>
              <a:t>を使用して分析</a:t>
            </a:r>
            <a:endParaRPr lang="en-US" altLang="ja-JP" dirty="0"/>
          </a:p>
        </p:txBody>
      </p:sp>
      <p:sp>
        <p:nvSpPr>
          <p:cNvPr id="45" name="テキスト プレースホルダー 29">
            <a:extLst>
              <a:ext uri="{FF2B5EF4-FFF2-40B4-BE49-F238E27FC236}">
                <a16:creationId xmlns:a16="http://schemas.microsoft.com/office/drawing/2014/main" id="{4FCB5617-0C1F-C54E-829B-E546682AF5E0}"/>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要因は感情</a:t>
            </a:r>
            <a:r>
              <a:rPr lang="en-US" altLang="ja-JP" dirty="0"/>
              <a:t>(</a:t>
            </a:r>
            <a:r>
              <a:rPr lang="ja-JP" altLang="en-US"/>
              <a:t>怒り・喜び・中立</a:t>
            </a:r>
            <a:r>
              <a:rPr lang="en-US" altLang="ja-JP" dirty="0"/>
              <a:t>)</a:t>
            </a:r>
            <a:r>
              <a:rPr lang="ja-JP" altLang="en-US"/>
              <a:t>と伝達方法</a:t>
            </a:r>
            <a:r>
              <a:rPr lang="en-US" altLang="ja-JP" dirty="0"/>
              <a:t>(</a:t>
            </a:r>
            <a:r>
              <a:rPr lang="ja-JP" altLang="en-US"/>
              <a:t>言語と非言語</a:t>
            </a:r>
            <a:r>
              <a:rPr lang="en-US" altLang="ja-JP" dirty="0"/>
              <a:t>)</a:t>
            </a:r>
            <a:endParaRPr lang="ja-JP" altLang="en-US"/>
          </a:p>
        </p:txBody>
      </p:sp>
      <p:sp>
        <p:nvSpPr>
          <p:cNvPr id="46" name="テキスト プレースホルダー 30">
            <a:extLst>
              <a:ext uri="{FF2B5EF4-FFF2-40B4-BE49-F238E27FC236}">
                <a16:creationId xmlns:a16="http://schemas.microsoft.com/office/drawing/2014/main" id="{D1E20380-EE69-3645-903D-57F695254A5B}"/>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a:t>demand difference</a:t>
            </a:r>
            <a:endParaRPr lang="ja-JP" altLang="en-US"/>
          </a:p>
        </p:txBody>
      </p:sp>
      <p:grpSp>
        <p:nvGrpSpPr>
          <p:cNvPr id="47" name="グループ化 46">
            <a:extLst>
              <a:ext uri="{FF2B5EF4-FFF2-40B4-BE49-F238E27FC236}">
                <a16:creationId xmlns:a16="http://schemas.microsoft.com/office/drawing/2014/main" id="{78A596D3-83E3-BB41-8333-BA7BF317A908}"/>
              </a:ext>
            </a:extLst>
          </p:cNvPr>
          <p:cNvGrpSpPr/>
          <p:nvPr/>
        </p:nvGrpSpPr>
        <p:grpSpPr>
          <a:xfrm>
            <a:off x="617232" y="4073585"/>
            <a:ext cx="539448" cy="487368"/>
            <a:chOff x="400056" y="1061560"/>
            <a:chExt cx="269724" cy="243684"/>
          </a:xfrm>
        </p:grpSpPr>
        <p:sp>
          <p:nvSpPr>
            <p:cNvPr id="48" name="三角形 47">
              <a:extLst>
                <a:ext uri="{FF2B5EF4-FFF2-40B4-BE49-F238E27FC236}">
                  <a16:creationId xmlns:a16="http://schemas.microsoft.com/office/drawing/2014/main" id="{CFA68BDC-54FD-9144-B77A-C7F1BBA50EF8}"/>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9" name="三角形 48">
              <a:extLst>
                <a:ext uri="{FF2B5EF4-FFF2-40B4-BE49-F238E27FC236}">
                  <a16:creationId xmlns:a16="http://schemas.microsoft.com/office/drawing/2014/main" id="{063E9992-2E21-DD49-B346-92BA79701EF3}"/>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0" name="テキスト プレースホルダー 27">
            <a:extLst>
              <a:ext uri="{FF2B5EF4-FFF2-40B4-BE49-F238E27FC236}">
                <a16:creationId xmlns:a16="http://schemas.microsoft.com/office/drawing/2014/main" id="{9D012A2F-C6FE-3C41-B764-C744DB967018}"/>
              </a:ext>
            </a:extLst>
          </p:cNvPr>
          <p:cNvSpPr txBox="1">
            <a:spLocks/>
          </p:cNvSpPr>
          <p:nvPr/>
        </p:nvSpPr>
        <p:spPr>
          <a:xfrm>
            <a:off x="1254486" y="4000960"/>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伝達方法には統計的有意差はみられなかった</a:t>
            </a:r>
            <a:endParaRPr lang="en-US" altLang="ja-JP" dirty="0"/>
          </a:p>
        </p:txBody>
      </p:sp>
      <p:grpSp>
        <p:nvGrpSpPr>
          <p:cNvPr id="51" name="グループ化 50">
            <a:extLst>
              <a:ext uri="{FF2B5EF4-FFF2-40B4-BE49-F238E27FC236}">
                <a16:creationId xmlns:a16="http://schemas.microsoft.com/office/drawing/2014/main" id="{77D2C6B4-3111-014D-8AB2-C0255F7C4B6D}"/>
              </a:ext>
            </a:extLst>
          </p:cNvPr>
          <p:cNvGrpSpPr/>
          <p:nvPr/>
        </p:nvGrpSpPr>
        <p:grpSpPr>
          <a:xfrm>
            <a:off x="617232" y="5712270"/>
            <a:ext cx="539448" cy="487368"/>
            <a:chOff x="400056" y="1061560"/>
            <a:chExt cx="269724" cy="243684"/>
          </a:xfrm>
        </p:grpSpPr>
        <p:sp>
          <p:nvSpPr>
            <p:cNvPr id="52" name="三角形 51">
              <a:extLst>
                <a:ext uri="{FF2B5EF4-FFF2-40B4-BE49-F238E27FC236}">
                  <a16:creationId xmlns:a16="http://schemas.microsoft.com/office/drawing/2014/main" id="{8DC8DE29-3BF8-9443-8B99-773F5AEA90BA}"/>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53" name="三角形 52">
              <a:extLst>
                <a:ext uri="{FF2B5EF4-FFF2-40B4-BE49-F238E27FC236}">
                  <a16:creationId xmlns:a16="http://schemas.microsoft.com/office/drawing/2014/main" id="{D094062C-EA47-1448-9156-D34D866E0EA7}"/>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54" name="テキスト プレースホルダー 27">
            <a:extLst>
              <a:ext uri="{FF2B5EF4-FFF2-40B4-BE49-F238E27FC236}">
                <a16:creationId xmlns:a16="http://schemas.microsoft.com/office/drawing/2014/main" id="{431EB3C7-61C1-004F-A912-56A5A7984221}"/>
              </a:ext>
            </a:extLst>
          </p:cNvPr>
          <p:cNvSpPr txBox="1">
            <a:spLocks/>
          </p:cNvSpPr>
          <p:nvPr/>
        </p:nvSpPr>
        <p:spPr>
          <a:xfrm>
            <a:off x="1254486" y="5639645"/>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感情には統計的有意差がみられた</a:t>
            </a:r>
            <a:endParaRPr lang="en-US" altLang="ja-JP" dirty="0"/>
          </a:p>
        </p:txBody>
      </p:sp>
      <p:sp>
        <p:nvSpPr>
          <p:cNvPr id="61" name="三角形 60">
            <a:extLst>
              <a:ext uri="{FF2B5EF4-FFF2-40B4-BE49-F238E27FC236}">
                <a16:creationId xmlns:a16="http://schemas.microsoft.com/office/drawing/2014/main" id="{45E85650-C524-714D-BCF4-91E2BA04FBD8}"/>
              </a:ext>
            </a:extLst>
          </p:cNvPr>
          <p:cNvSpPr/>
          <p:nvPr/>
        </p:nvSpPr>
        <p:spPr>
          <a:xfrm rot="5400000">
            <a:off x="1076238" y="4931174"/>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2" name="テキスト プレースホルダー 29">
            <a:extLst>
              <a:ext uri="{FF2B5EF4-FFF2-40B4-BE49-F238E27FC236}">
                <a16:creationId xmlns:a16="http://schemas.microsoft.com/office/drawing/2014/main" id="{0259F2F3-2A02-894C-8A4A-414B6B3B8C19}"/>
              </a:ext>
            </a:extLst>
          </p:cNvPr>
          <p:cNvSpPr txBox="1">
            <a:spLocks/>
          </p:cNvSpPr>
          <p:nvPr/>
        </p:nvSpPr>
        <p:spPr>
          <a:xfrm>
            <a:off x="1568600" y="4815900"/>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テキストであっても表情と同程度感情を伝達する</a:t>
            </a:r>
          </a:p>
        </p:txBody>
      </p:sp>
      <p:grpSp>
        <p:nvGrpSpPr>
          <p:cNvPr id="63" name="グループ化 62">
            <a:extLst>
              <a:ext uri="{FF2B5EF4-FFF2-40B4-BE49-F238E27FC236}">
                <a16:creationId xmlns:a16="http://schemas.microsoft.com/office/drawing/2014/main" id="{95D72EB3-F955-8C44-8B67-FDAD1F0BC4B9}"/>
              </a:ext>
            </a:extLst>
          </p:cNvPr>
          <p:cNvGrpSpPr/>
          <p:nvPr/>
        </p:nvGrpSpPr>
        <p:grpSpPr>
          <a:xfrm>
            <a:off x="617232" y="7314786"/>
            <a:ext cx="539448" cy="487368"/>
            <a:chOff x="400056" y="1061560"/>
            <a:chExt cx="269724" cy="243684"/>
          </a:xfrm>
        </p:grpSpPr>
        <p:sp>
          <p:nvSpPr>
            <p:cNvPr id="64" name="三角形 63">
              <a:extLst>
                <a:ext uri="{FF2B5EF4-FFF2-40B4-BE49-F238E27FC236}">
                  <a16:creationId xmlns:a16="http://schemas.microsoft.com/office/drawing/2014/main" id="{E2786557-2E9E-9241-A5DA-B96A617B5C46}"/>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5" name="三角形 64">
              <a:extLst>
                <a:ext uri="{FF2B5EF4-FFF2-40B4-BE49-F238E27FC236}">
                  <a16:creationId xmlns:a16="http://schemas.microsoft.com/office/drawing/2014/main" id="{E9FB826F-1341-4E4A-8866-DA9401DDD919}"/>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66" name="テキスト プレースホルダー 27">
            <a:extLst>
              <a:ext uri="{FF2B5EF4-FFF2-40B4-BE49-F238E27FC236}">
                <a16:creationId xmlns:a16="http://schemas.microsoft.com/office/drawing/2014/main" id="{203FB6D1-B66C-C749-92FC-DEBBB73B9978}"/>
              </a:ext>
            </a:extLst>
          </p:cNvPr>
          <p:cNvSpPr txBox="1">
            <a:spLocks/>
          </p:cNvSpPr>
          <p:nvPr/>
        </p:nvSpPr>
        <p:spPr>
          <a:xfrm>
            <a:off x="1254486" y="7242161"/>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伝達方法と感情に関連はみられなかった</a:t>
            </a:r>
            <a:endParaRPr lang="en-US" altLang="ja-JP" dirty="0"/>
          </a:p>
        </p:txBody>
      </p:sp>
      <p:sp>
        <p:nvSpPr>
          <p:cNvPr id="67" name="三角形 66">
            <a:extLst>
              <a:ext uri="{FF2B5EF4-FFF2-40B4-BE49-F238E27FC236}">
                <a16:creationId xmlns:a16="http://schemas.microsoft.com/office/drawing/2014/main" id="{FB7D243B-9422-5545-979C-AF1EB953B202}"/>
              </a:ext>
            </a:extLst>
          </p:cNvPr>
          <p:cNvSpPr/>
          <p:nvPr/>
        </p:nvSpPr>
        <p:spPr>
          <a:xfrm rot="5400000">
            <a:off x="1076238" y="8155510"/>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68" name="テキスト プレースホルダー 29">
            <a:extLst>
              <a:ext uri="{FF2B5EF4-FFF2-40B4-BE49-F238E27FC236}">
                <a16:creationId xmlns:a16="http://schemas.microsoft.com/office/drawing/2014/main" id="{2A2F38F0-F966-9A46-AB8B-D9E187A0B395}"/>
              </a:ext>
            </a:extLst>
          </p:cNvPr>
          <p:cNvSpPr txBox="1">
            <a:spLocks/>
          </p:cNvSpPr>
          <p:nvPr/>
        </p:nvSpPr>
        <p:spPr>
          <a:xfrm>
            <a:off x="1568600" y="8040236"/>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感情は伝達方法とは独立に</a:t>
            </a:r>
            <a:r>
              <a:rPr lang="en-US" altLang="ja-JP" dirty="0"/>
              <a:t>demand difference</a:t>
            </a:r>
            <a:r>
              <a:rPr lang="ja-JP" altLang="en-US"/>
              <a:t>に影響を与える</a:t>
            </a:r>
          </a:p>
        </p:txBody>
      </p:sp>
      <p:sp>
        <p:nvSpPr>
          <p:cNvPr id="69" name="三角形 68">
            <a:extLst>
              <a:ext uri="{FF2B5EF4-FFF2-40B4-BE49-F238E27FC236}">
                <a16:creationId xmlns:a16="http://schemas.microsoft.com/office/drawing/2014/main" id="{0C1444F8-F7C0-294F-A42F-12E996EB22A7}"/>
              </a:ext>
            </a:extLst>
          </p:cNvPr>
          <p:cNvSpPr/>
          <p:nvPr/>
        </p:nvSpPr>
        <p:spPr>
          <a:xfrm rot="5400000">
            <a:off x="1076238" y="6568057"/>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70" name="テキスト プレースホルダー 29">
            <a:extLst>
              <a:ext uri="{FF2B5EF4-FFF2-40B4-BE49-F238E27FC236}">
                <a16:creationId xmlns:a16="http://schemas.microsoft.com/office/drawing/2014/main" id="{5469CECF-1B9C-2C46-BFC9-C96F24C7AB93}"/>
              </a:ext>
            </a:extLst>
          </p:cNvPr>
          <p:cNvSpPr txBox="1">
            <a:spLocks/>
          </p:cNvSpPr>
          <p:nvPr/>
        </p:nvSpPr>
        <p:spPr>
          <a:xfrm>
            <a:off x="1568600" y="6452783"/>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en-US" altLang="ja-JP" dirty="0" err="1"/>
              <a:t>Tucky</a:t>
            </a:r>
            <a:r>
              <a:rPr lang="ja-JP" altLang="en-US"/>
              <a:t>の検定を実施</a:t>
            </a:r>
          </a:p>
        </p:txBody>
      </p:sp>
    </p:spTree>
    <p:extLst>
      <p:ext uri="{BB962C8B-B14F-4D97-AF65-F5344CB8AC3E}">
        <p14:creationId xmlns:p14="http://schemas.microsoft.com/office/powerpoint/2010/main" val="16683065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D28F015-1019-8346-8D0C-51203339476B}"/>
              </a:ext>
            </a:extLst>
          </p:cNvPr>
          <p:cNvSpPr>
            <a:spLocks noGrp="1"/>
          </p:cNvSpPr>
          <p:nvPr>
            <p:ph type="dt" sz="half" idx="10"/>
          </p:nvPr>
        </p:nvSpPr>
        <p:spPr/>
        <p:txBody>
          <a:bodyPr/>
          <a:lstStyle/>
          <a:p>
            <a:fld id="{BA7AA989-C6B8-3949-9280-88DA60BA6993}" type="datetime1">
              <a:rPr lang="ja-JP" altLang="en-US" smtClean="0"/>
              <a:t>2018/5/2</a:t>
            </a:fld>
            <a:endParaRPr lang="ja-JP" altLang="en-US"/>
          </a:p>
        </p:txBody>
      </p:sp>
      <p:sp>
        <p:nvSpPr>
          <p:cNvPr id="3" name="フッター プレースホルダー 2">
            <a:extLst>
              <a:ext uri="{FF2B5EF4-FFF2-40B4-BE49-F238E27FC236}">
                <a16:creationId xmlns:a16="http://schemas.microsoft.com/office/drawing/2014/main" id="{F1234204-2796-CE4D-835C-01802E28F08B}"/>
              </a:ext>
            </a:extLst>
          </p:cNvPr>
          <p:cNvSpPr>
            <a:spLocks noGrp="1"/>
          </p:cNvSpPr>
          <p:nvPr>
            <p:ph type="ftr" sz="quarter" idx="11"/>
          </p:nvPr>
        </p:nvSpPr>
        <p:spPr/>
        <p:txBody>
          <a:bodyPr/>
          <a:lstStyle/>
          <a:p>
            <a:r>
              <a:rPr lang="ja-JP" altLang="en-US"/>
              <a:t>文献講読発表</a:t>
            </a:r>
            <a:r>
              <a:rPr lang="en-US" altLang="ja-JP"/>
              <a:t>(2018.04.25)</a:t>
            </a:r>
            <a:endParaRPr lang="ja-JP" altLang="en-US"/>
          </a:p>
        </p:txBody>
      </p:sp>
      <p:sp>
        <p:nvSpPr>
          <p:cNvPr id="4" name="スライド番号プレースホルダー 3">
            <a:extLst>
              <a:ext uri="{FF2B5EF4-FFF2-40B4-BE49-F238E27FC236}">
                <a16:creationId xmlns:a16="http://schemas.microsoft.com/office/drawing/2014/main" id="{A7CB099E-D01C-124B-BB91-17ED16E2211A}"/>
              </a:ext>
            </a:extLst>
          </p:cNvPr>
          <p:cNvSpPr>
            <a:spLocks noGrp="1"/>
          </p:cNvSpPr>
          <p:nvPr>
            <p:ph type="sldNum" sz="quarter" idx="12"/>
          </p:nvPr>
        </p:nvSpPr>
        <p:spPr/>
        <p:txBody>
          <a:bodyPr/>
          <a:lstStyle/>
          <a:p>
            <a:fld id="{89242BC1-393D-1248-985B-18DA624F2964}" type="slidenum">
              <a:rPr lang="ja-JP" altLang="en-US" smtClean="0"/>
              <a:pPr/>
              <a:t>18</a:t>
            </a:fld>
            <a:endParaRPr lang="ja-JP" altLang="en-US"/>
          </a:p>
        </p:txBody>
      </p:sp>
      <p:sp>
        <p:nvSpPr>
          <p:cNvPr id="5" name="テキスト プレースホルダー 4">
            <a:extLst>
              <a:ext uri="{FF2B5EF4-FFF2-40B4-BE49-F238E27FC236}">
                <a16:creationId xmlns:a16="http://schemas.microsoft.com/office/drawing/2014/main" id="{C6CF3DBA-F416-C94D-A109-3A1E690191A8}"/>
              </a:ext>
            </a:extLst>
          </p:cNvPr>
          <p:cNvSpPr>
            <a:spLocks noGrp="1"/>
          </p:cNvSpPr>
          <p:nvPr>
            <p:ph type="body" sz="quarter" idx="13"/>
          </p:nvPr>
        </p:nvSpPr>
        <p:spPr/>
        <p:txBody>
          <a:bodyPr/>
          <a:lstStyle/>
          <a:p>
            <a:r>
              <a:rPr kumimoji="1" lang="en-US" altLang="ja-JP" dirty="0"/>
              <a:t>3</a:t>
            </a:r>
            <a:endParaRPr kumimoji="1" lang="ja-JP" altLang="en-US"/>
          </a:p>
        </p:txBody>
      </p:sp>
      <p:sp>
        <p:nvSpPr>
          <p:cNvPr id="6" name="テキスト プレースホルダー 5">
            <a:extLst>
              <a:ext uri="{FF2B5EF4-FFF2-40B4-BE49-F238E27FC236}">
                <a16:creationId xmlns:a16="http://schemas.microsoft.com/office/drawing/2014/main" id="{2F642E06-7106-074A-A67D-8FD1D7D4C840}"/>
              </a:ext>
            </a:extLst>
          </p:cNvPr>
          <p:cNvSpPr>
            <a:spLocks noGrp="1"/>
          </p:cNvSpPr>
          <p:nvPr>
            <p:ph type="body" sz="quarter" idx="14"/>
          </p:nvPr>
        </p:nvSpPr>
        <p:spPr/>
        <p:txBody>
          <a:bodyPr/>
          <a:lstStyle/>
          <a:p>
            <a:r>
              <a:rPr lang="ja-JP" altLang="en-US"/>
              <a:t>おわりに</a:t>
            </a:r>
            <a:endParaRPr kumimoji="1" lang="ja-JP" altLang="en-US"/>
          </a:p>
        </p:txBody>
      </p:sp>
      <p:grpSp>
        <p:nvGrpSpPr>
          <p:cNvPr id="7" name="グループ化 6">
            <a:extLst>
              <a:ext uri="{FF2B5EF4-FFF2-40B4-BE49-F238E27FC236}">
                <a16:creationId xmlns:a16="http://schemas.microsoft.com/office/drawing/2014/main" id="{5A6AC9E6-7F70-CF44-8712-6F47C0A918DA}"/>
              </a:ext>
            </a:extLst>
          </p:cNvPr>
          <p:cNvGrpSpPr/>
          <p:nvPr/>
        </p:nvGrpSpPr>
        <p:grpSpPr>
          <a:xfrm>
            <a:off x="289330" y="1413298"/>
            <a:ext cx="2160000" cy="934436"/>
            <a:chOff x="144665" y="525617"/>
            <a:chExt cx="1080000" cy="467218"/>
          </a:xfrm>
        </p:grpSpPr>
        <p:sp>
          <p:nvSpPr>
            <p:cNvPr id="8" name="正方形/長方形 7">
              <a:extLst>
                <a:ext uri="{FF2B5EF4-FFF2-40B4-BE49-F238E27FC236}">
                  <a16:creationId xmlns:a16="http://schemas.microsoft.com/office/drawing/2014/main" id="{8041C8F7-C3FC-B542-A05A-B7F48A73B8F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9" name="正方形/長方形 8">
              <a:extLst>
                <a:ext uri="{FF2B5EF4-FFF2-40B4-BE49-F238E27FC236}">
                  <a16:creationId xmlns:a16="http://schemas.microsoft.com/office/drawing/2014/main" id="{32E8D722-9493-F64B-A7F7-8F91CB2FEDFE}"/>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10" name="グループ化 9">
            <a:extLst>
              <a:ext uri="{FF2B5EF4-FFF2-40B4-BE49-F238E27FC236}">
                <a16:creationId xmlns:a16="http://schemas.microsoft.com/office/drawing/2014/main" id="{C6DB5DBE-4BC5-C74A-B12C-8D5AE81664DB}"/>
              </a:ext>
            </a:extLst>
          </p:cNvPr>
          <p:cNvGrpSpPr/>
          <p:nvPr/>
        </p:nvGrpSpPr>
        <p:grpSpPr>
          <a:xfrm>
            <a:off x="617232" y="2557358"/>
            <a:ext cx="539448" cy="487368"/>
            <a:chOff x="400056" y="1061560"/>
            <a:chExt cx="269724" cy="243684"/>
          </a:xfrm>
        </p:grpSpPr>
        <p:sp>
          <p:nvSpPr>
            <p:cNvPr id="11" name="三角形 10">
              <a:extLst>
                <a:ext uri="{FF2B5EF4-FFF2-40B4-BE49-F238E27FC236}">
                  <a16:creationId xmlns:a16="http://schemas.microsoft.com/office/drawing/2014/main" id="{1A5744BD-1EFB-454B-A1B2-9E77E4F4CDE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2" name="三角形 11">
              <a:extLst>
                <a:ext uri="{FF2B5EF4-FFF2-40B4-BE49-F238E27FC236}">
                  <a16:creationId xmlns:a16="http://schemas.microsoft.com/office/drawing/2014/main" id="{EBD25148-E0BB-134D-8D2F-AB5CC18E0275}"/>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13" name="三角形 12">
            <a:extLst>
              <a:ext uri="{FF2B5EF4-FFF2-40B4-BE49-F238E27FC236}">
                <a16:creationId xmlns:a16="http://schemas.microsoft.com/office/drawing/2014/main" id="{755B815A-2A67-7543-B104-B915E4AE7570}"/>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14" name="テキスト プレースホルダー 27">
            <a:extLst>
              <a:ext uri="{FF2B5EF4-FFF2-40B4-BE49-F238E27FC236}">
                <a16:creationId xmlns:a16="http://schemas.microsoft.com/office/drawing/2014/main" id="{EB324645-7AF6-D147-9F2D-3582DE531431}"/>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15" name="テキスト プレースホルダー 29">
            <a:extLst>
              <a:ext uri="{FF2B5EF4-FFF2-40B4-BE49-F238E27FC236}">
                <a16:creationId xmlns:a16="http://schemas.microsoft.com/office/drawing/2014/main" id="{0D28A911-1484-0D4C-84FF-8098B1841C7C}"/>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16" name="テキスト プレースホルダー 30">
            <a:extLst>
              <a:ext uri="{FF2B5EF4-FFF2-40B4-BE49-F238E27FC236}">
                <a16:creationId xmlns:a16="http://schemas.microsoft.com/office/drawing/2014/main" id="{40403F41-47F8-454B-8521-19DA2EA3719D}"/>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1</a:t>
            </a:r>
            <a:endParaRPr lang="ja-JP" altLang="en-US"/>
          </a:p>
        </p:txBody>
      </p:sp>
    </p:spTree>
    <p:extLst>
      <p:ext uri="{BB962C8B-B14F-4D97-AF65-F5344CB8AC3E}">
        <p14:creationId xmlns:p14="http://schemas.microsoft.com/office/powerpoint/2010/main" val="27612840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0F43D92D-1E68-EF4A-8153-4DC9B21D77FE}"/>
              </a:ext>
            </a:extLst>
          </p:cNvPr>
          <p:cNvGrpSpPr/>
          <p:nvPr/>
        </p:nvGrpSpPr>
        <p:grpSpPr>
          <a:xfrm>
            <a:off x="289330" y="1413298"/>
            <a:ext cx="2160000" cy="934436"/>
            <a:chOff x="144665" y="525617"/>
            <a:chExt cx="1080000" cy="467218"/>
          </a:xfrm>
        </p:grpSpPr>
        <p:sp>
          <p:nvSpPr>
            <p:cNvPr id="38" name="正方形/長方形 37">
              <a:extLst>
                <a:ext uri="{FF2B5EF4-FFF2-40B4-BE49-F238E27FC236}">
                  <a16:creationId xmlns:a16="http://schemas.microsoft.com/office/drawing/2014/main" id="{A34D3398-9322-F748-B364-CA3F60D9B540}"/>
                </a:ext>
              </a:extLst>
            </p:cNvPr>
            <p:cNvSpPr/>
            <p:nvPr userDrawn="1"/>
          </p:nvSpPr>
          <p:spPr>
            <a:xfrm>
              <a:off x="145524" y="542424"/>
              <a:ext cx="91081" cy="45041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
          <p:nvSpPr>
            <p:cNvPr id="39" name="正方形/長方形 38">
              <a:extLst>
                <a:ext uri="{FF2B5EF4-FFF2-40B4-BE49-F238E27FC236}">
                  <a16:creationId xmlns:a16="http://schemas.microsoft.com/office/drawing/2014/main" id="{DD43C602-551C-5746-BC9B-C19E492EADDB}"/>
                </a:ext>
              </a:extLst>
            </p:cNvPr>
            <p:cNvSpPr/>
            <p:nvPr userDrawn="1"/>
          </p:nvSpPr>
          <p:spPr>
            <a:xfrm>
              <a:off x="144665" y="525617"/>
              <a:ext cx="1080000" cy="1613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grpSp>
      <p:grpSp>
        <p:nvGrpSpPr>
          <p:cNvPr id="40" name="グループ化 39">
            <a:extLst>
              <a:ext uri="{FF2B5EF4-FFF2-40B4-BE49-F238E27FC236}">
                <a16:creationId xmlns:a16="http://schemas.microsoft.com/office/drawing/2014/main" id="{7D2F3500-005E-9541-81E5-8F781456C6E9}"/>
              </a:ext>
            </a:extLst>
          </p:cNvPr>
          <p:cNvGrpSpPr/>
          <p:nvPr/>
        </p:nvGrpSpPr>
        <p:grpSpPr>
          <a:xfrm>
            <a:off x="617232" y="2557358"/>
            <a:ext cx="539448" cy="487368"/>
            <a:chOff x="400056" y="1061560"/>
            <a:chExt cx="269724" cy="243684"/>
          </a:xfrm>
        </p:grpSpPr>
        <p:sp>
          <p:nvSpPr>
            <p:cNvPr id="41" name="三角形 40">
              <a:extLst>
                <a:ext uri="{FF2B5EF4-FFF2-40B4-BE49-F238E27FC236}">
                  <a16:creationId xmlns:a16="http://schemas.microsoft.com/office/drawing/2014/main" id="{D29DEB6E-A193-0546-B684-3CB43FF9DF41}"/>
                </a:ext>
              </a:extLst>
            </p:cNvPr>
            <p:cNvSpPr/>
            <p:nvPr userDrawn="1"/>
          </p:nvSpPr>
          <p:spPr>
            <a:xfrm rot="5400000">
              <a:off x="359835" y="1105015"/>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2" name="三角形 41">
              <a:extLst>
                <a:ext uri="{FF2B5EF4-FFF2-40B4-BE49-F238E27FC236}">
                  <a16:creationId xmlns:a16="http://schemas.microsoft.com/office/drawing/2014/main" id="{2CEA62FD-E89F-5B40-B5BD-22C36179584A}"/>
                </a:ext>
              </a:extLst>
            </p:cNvPr>
            <p:cNvSpPr/>
            <p:nvPr userDrawn="1"/>
          </p:nvSpPr>
          <p:spPr>
            <a:xfrm rot="5400000">
              <a:off x="469551" y="1101781"/>
              <a:ext cx="240450" cy="160008"/>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grpSp>
      <p:sp>
        <p:nvSpPr>
          <p:cNvPr id="43" name="三角形 42">
            <a:extLst>
              <a:ext uri="{FF2B5EF4-FFF2-40B4-BE49-F238E27FC236}">
                <a16:creationId xmlns:a16="http://schemas.microsoft.com/office/drawing/2014/main" id="{F0E65632-B875-9644-B7BD-5AC77419A68E}"/>
              </a:ext>
            </a:extLst>
          </p:cNvPr>
          <p:cNvSpPr/>
          <p:nvPr/>
        </p:nvSpPr>
        <p:spPr>
          <a:xfrm rot="5400000">
            <a:off x="1076238" y="3361776"/>
            <a:ext cx="480900" cy="320016"/>
          </a:xfrm>
          <a:prstGeom prst="triangle">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7200"/>
          </a:p>
        </p:txBody>
      </p:sp>
      <p:sp>
        <p:nvSpPr>
          <p:cNvPr id="44" name="テキスト プレースホルダー 27">
            <a:extLst>
              <a:ext uri="{FF2B5EF4-FFF2-40B4-BE49-F238E27FC236}">
                <a16:creationId xmlns:a16="http://schemas.microsoft.com/office/drawing/2014/main" id="{3ED0938B-63CA-DD4A-9751-C64A1DA1B535}"/>
              </a:ext>
            </a:extLst>
          </p:cNvPr>
          <p:cNvSpPr txBox="1">
            <a:spLocks/>
          </p:cNvSpPr>
          <p:nvPr/>
        </p:nvSpPr>
        <p:spPr>
          <a:xfrm>
            <a:off x="1254486" y="2484733"/>
            <a:ext cx="16632960" cy="99783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8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2</a:t>
            </a:r>
            <a:endParaRPr lang="ja-JP" altLang="en-US"/>
          </a:p>
        </p:txBody>
      </p:sp>
      <p:sp>
        <p:nvSpPr>
          <p:cNvPr id="45" name="テキスト プレースホルダー 29">
            <a:extLst>
              <a:ext uri="{FF2B5EF4-FFF2-40B4-BE49-F238E27FC236}">
                <a16:creationId xmlns:a16="http://schemas.microsoft.com/office/drawing/2014/main" id="{090E7D85-8568-4F42-952D-8AE547A43A32}"/>
              </a:ext>
            </a:extLst>
          </p:cNvPr>
          <p:cNvSpPr txBox="1">
            <a:spLocks/>
          </p:cNvSpPr>
          <p:nvPr/>
        </p:nvSpPr>
        <p:spPr>
          <a:xfrm>
            <a:off x="1568600" y="3246502"/>
            <a:ext cx="16135964" cy="853994"/>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4000" kern="1200">
                <a:solidFill>
                  <a:srgbClr val="424242"/>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dirty="0"/>
              <a:t>3</a:t>
            </a:r>
            <a:endParaRPr lang="ja-JP" altLang="en-US"/>
          </a:p>
        </p:txBody>
      </p:sp>
      <p:sp>
        <p:nvSpPr>
          <p:cNvPr id="46" name="テキスト プレースホルダー 30">
            <a:extLst>
              <a:ext uri="{FF2B5EF4-FFF2-40B4-BE49-F238E27FC236}">
                <a16:creationId xmlns:a16="http://schemas.microsoft.com/office/drawing/2014/main" id="{8C754852-53DA-F34B-BF94-C8A638634541}"/>
              </a:ext>
            </a:extLst>
          </p:cNvPr>
          <p:cNvSpPr txBox="1">
            <a:spLocks/>
          </p:cNvSpPr>
          <p:nvPr/>
        </p:nvSpPr>
        <p:spPr>
          <a:xfrm>
            <a:off x="571049" y="1583871"/>
            <a:ext cx="17302163" cy="1403350"/>
          </a:xfrm>
          <a:prstGeom prst="rect">
            <a:avLst/>
          </a:prstGeom>
        </p:spPr>
        <p:txBody>
          <a:bodyPr>
            <a:normAutofit/>
          </a:bodyPr>
          <a:lstStyle>
            <a:lvl1pPr marL="0" indent="0" algn="l" defTabSz="1828800" rtl="0" eaLnBrk="1" latinLnBrk="0" hangingPunct="1">
              <a:lnSpc>
                <a:spcPct val="90000"/>
              </a:lnSpc>
              <a:spcBef>
                <a:spcPts val="2000"/>
              </a:spcBef>
              <a:buFont typeface="Arial" panose="020B0604020202020204" pitchFamily="34" charset="0"/>
              <a:buNone/>
              <a:defRPr kumimoji="1" sz="60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kumimoji="1"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kumimoji="1"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a:lstStyle>
          <a:p>
            <a:r>
              <a:rPr lang="ja-JP" altLang="en-US"/>
              <a:t>レベル</a:t>
            </a:r>
            <a:r>
              <a:rPr lang="en-US" altLang="ja-JP"/>
              <a:t>1</a:t>
            </a:r>
            <a:endParaRPr lang="ja-JP" altLang="en-US"/>
          </a:p>
        </p:txBody>
      </p:sp>
      <p:sp>
        <p:nvSpPr>
          <p:cNvPr id="12" name="正方形/長方形 11">
            <a:extLst>
              <a:ext uri="{FF2B5EF4-FFF2-40B4-BE49-F238E27FC236}">
                <a16:creationId xmlns:a16="http://schemas.microsoft.com/office/drawing/2014/main" id="{476B25E6-38D1-DE4E-879D-49178108AB02}"/>
              </a:ext>
            </a:extLst>
          </p:cNvPr>
          <p:cNvSpPr/>
          <p:nvPr/>
        </p:nvSpPr>
        <p:spPr>
          <a:xfrm>
            <a:off x="617232" y="3762234"/>
            <a:ext cx="2160000" cy="32860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kumimoji="1" lang="ja-JP" altLang="en-US" sz="2700"/>
          </a:p>
        </p:txBody>
      </p:sp>
    </p:spTree>
    <p:extLst>
      <p:ext uri="{BB962C8B-B14F-4D97-AF65-F5344CB8AC3E}">
        <p14:creationId xmlns:p14="http://schemas.microsoft.com/office/powerpoint/2010/main" val="2204332774"/>
      </p:ext>
    </p:extLst>
  </p:cSld>
  <p:clrMapOvr>
    <a:masterClrMapping/>
  </p:clrMapOvr>
</p:sld>
</file>

<file path=ppt/theme/theme1.xml><?xml version="1.0" encoding="utf-8"?>
<a:theme xmlns:a="http://schemas.openxmlformats.org/drawingml/2006/main" name="Office テーマ">
  <a:themeElements>
    <a:clrScheme name="エメラルドグリーンメイン">
      <a:dk1>
        <a:srgbClr val="333333"/>
      </a:dk1>
      <a:lt1>
        <a:srgbClr val="FFFFFF"/>
      </a:lt1>
      <a:dk2>
        <a:srgbClr val="153430"/>
      </a:dk2>
      <a:lt2>
        <a:srgbClr val="EEEEEE"/>
      </a:lt2>
      <a:accent1>
        <a:srgbClr val="4DBDB0"/>
      </a:accent1>
      <a:accent2>
        <a:srgbClr val="CE4457"/>
      </a:accent2>
      <a:accent3>
        <a:srgbClr val="4197B8"/>
      </a:accent3>
      <a:accent4>
        <a:srgbClr val="FFC000"/>
      </a:accent4>
      <a:accent5>
        <a:srgbClr val="5B9BD5"/>
      </a:accent5>
      <a:accent6>
        <a:srgbClr val="70AD47"/>
      </a:accent6>
      <a:hlink>
        <a:srgbClr val="0563C1"/>
      </a:hlink>
      <a:folHlink>
        <a:srgbClr val="954F72"/>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kumimoji="1">
            <a:solidFill>
              <a:schemeClr val="bg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2966</TotalTime>
  <Words>1928</Words>
  <Application>Microsoft Macintosh PowerPoint</Application>
  <PresentationFormat>ユーザー設定</PresentationFormat>
  <Paragraphs>344</Paragraphs>
  <Slides>19</Slides>
  <Notes>15</Notes>
  <HiddenSlides>1</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19</vt:i4>
      </vt:variant>
    </vt:vector>
  </HeadingPairs>
  <TitlesOfParts>
    <vt:vector size="24" baseType="lpstr">
      <vt:lpstr>メイリオ</vt:lpstr>
      <vt:lpstr>游ゴシック</vt:lpstr>
      <vt:lpstr>Arial</vt:lpstr>
      <vt:lpstr>Calibri</vt:lpstr>
      <vt:lpstr>Office テーマ</vt:lpstr>
      <vt:lpstr>文献購読 </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16.0012</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Shogo MATSUSHITA</dc:creator>
  <cp:lastModifiedBy>Shogo MATSUSHITA</cp:lastModifiedBy>
  <cp:revision>184</cp:revision>
  <cp:lastPrinted>2018-04-18T08:51:19Z</cp:lastPrinted>
  <dcterms:created xsi:type="dcterms:W3CDTF">2018-04-18T07:57:09Z</dcterms:created>
  <dcterms:modified xsi:type="dcterms:W3CDTF">2018-05-02T07:51:45Z</dcterms:modified>
</cp:coreProperties>
</file>