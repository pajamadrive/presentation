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2"/>
    <p:sldId id="446" r:id="rId3"/>
    <p:sldId id="447" r:id="rId4"/>
    <p:sldId id="449" r:id="rId5"/>
    <p:sldId id="448"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4E4"/>
    <a:srgbClr val="D681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33"/>
    <p:restoredTop sz="94624"/>
  </p:normalViewPr>
  <p:slideViewPr>
    <p:cSldViewPr snapToGrid="0" snapToObjects="1" showGuides="1">
      <p:cViewPr varScale="1">
        <p:scale>
          <a:sx n="110" d="100"/>
          <a:sy n="110" d="100"/>
        </p:scale>
        <p:origin x="1888" y="176"/>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2020/5/22</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EFCC06D-568A-634B-8FFD-8A2DC362A587}" type="datetime1">
              <a:rPr kumimoji="1" lang="ja-JP" altLang="en-US" smtClean="0"/>
              <a:t>2020/5/22</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E4B3A231-C4D4-FA46-98CD-7F05B502646C}" type="datetime1">
              <a:rPr kumimoji="1" lang="ja-JP" altLang="en-US" smtClean="0"/>
              <a:t>2020/5/22</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1426CC31-A0E8-584D-AEBA-C0F62901730F}" type="datetime1">
              <a:rPr kumimoji="1" lang="ja-JP" altLang="en-US" smtClean="0"/>
              <a:t>2020/5/22</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88C455B5-5720-EE47-A6E3-F40E9F54C4EF}" type="datetime1">
              <a:rPr kumimoji="1" lang="ja-JP" altLang="en-US" smtClean="0"/>
              <a:t>2020/5/22</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BF42588-A8CA-5448-984F-87AE5A6FD15C}" type="datetime1">
              <a:rPr kumimoji="1" lang="ja-JP" altLang="en-US" smtClean="0"/>
              <a:t>2020/5/22</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FB26AF5-E1D0-394F-9010-55BD43D136BC}" type="datetime1">
              <a:rPr kumimoji="1" lang="ja-JP" altLang="en-US" smtClean="0"/>
              <a:t>2020/5/22</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7923527-500E-EE45-8D69-02F85DC62814}" type="datetime1">
              <a:rPr kumimoji="1" lang="ja-JP" altLang="en-US" smtClean="0"/>
              <a:t>2020/5/22</a:t>
            </a:fld>
            <a:endParaRPr kumimoji="1" lang="ja-JP" altLang="en-US"/>
          </a:p>
        </p:txBody>
      </p:sp>
      <p:sp>
        <p:nvSpPr>
          <p:cNvPr id="6" name="Footer Placeholder 5"/>
          <p:cNvSpPr>
            <a:spLocks noGrp="1"/>
          </p:cNvSpPr>
          <p:nvPr>
            <p:ph type="ftr" sz="quarter" idx="11"/>
          </p:nvPr>
        </p:nvSpPr>
        <p:spPr/>
        <p:txBody>
          <a:bodyPr/>
          <a:lstStyle/>
          <a:p>
            <a:r>
              <a:rPr kumimoji="1" lang="ja-JP" altLang="en-US"/>
              <a:t>文献講読</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CDCD2BC-7209-394B-867C-29D02CBEFACC}" type="datetime1">
              <a:rPr kumimoji="1" lang="ja-JP" altLang="en-US" smtClean="0"/>
              <a:t>2020/5/22</a:t>
            </a:fld>
            <a:endParaRPr kumimoji="1" lang="ja-JP" altLang="en-US"/>
          </a:p>
        </p:txBody>
      </p:sp>
      <p:sp>
        <p:nvSpPr>
          <p:cNvPr id="8" name="Footer Placeholder 7"/>
          <p:cNvSpPr>
            <a:spLocks noGrp="1"/>
          </p:cNvSpPr>
          <p:nvPr>
            <p:ph type="ftr" sz="quarter" idx="11"/>
          </p:nvPr>
        </p:nvSpPr>
        <p:spPr/>
        <p:txBody>
          <a:bodyPr/>
          <a:lstStyle/>
          <a:p>
            <a:r>
              <a:rPr kumimoji="1" lang="ja-JP" altLang="en-US"/>
              <a:t>文献講読</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9BEAB4D-9383-6240-8130-BB11E89F9507}" type="datetime1">
              <a:rPr kumimoji="1" lang="ja-JP" altLang="en-US" smtClean="0"/>
              <a:t>2020/5/22</a:t>
            </a:fld>
            <a:endParaRPr kumimoji="1" lang="ja-JP" altLang="en-US"/>
          </a:p>
        </p:txBody>
      </p:sp>
      <p:sp>
        <p:nvSpPr>
          <p:cNvPr id="4" name="Footer Placeholder 3"/>
          <p:cNvSpPr>
            <a:spLocks noGrp="1"/>
          </p:cNvSpPr>
          <p:nvPr>
            <p:ph type="ftr" sz="quarter" idx="11"/>
          </p:nvPr>
        </p:nvSpPr>
        <p:spPr/>
        <p:txBody>
          <a:bodyPr/>
          <a:lstStyle/>
          <a:p>
            <a:r>
              <a:rPr kumimoji="1" lang="ja-JP" altLang="en-US"/>
              <a:t>文献講読</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BC4F13-1411-C74B-B99F-52C14C940D37}" type="datetime1">
              <a:rPr kumimoji="1" lang="ja-JP" altLang="en-US" smtClean="0"/>
              <a:t>2020/5/22</a:t>
            </a:fld>
            <a:endParaRPr kumimoji="1" lang="ja-JP" altLang="en-US"/>
          </a:p>
        </p:txBody>
      </p:sp>
      <p:sp>
        <p:nvSpPr>
          <p:cNvPr id="3" name="Footer Placeholder 2"/>
          <p:cNvSpPr>
            <a:spLocks noGrp="1"/>
          </p:cNvSpPr>
          <p:nvPr>
            <p:ph type="ftr" sz="quarter" idx="11"/>
          </p:nvPr>
        </p:nvSpPr>
        <p:spPr/>
        <p:txBody>
          <a:bodyPr/>
          <a:lstStyle/>
          <a:p>
            <a:r>
              <a:rPr kumimoji="1" lang="ja-JP" altLang="en-US"/>
              <a:t>文献講読</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0D9261A-A701-B746-A4C0-A2B632AC5557}" type="datetime1">
              <a:rPr kumimoji="1" lang="ja-JP" altLang="en-US" smtClean="0"/>
              <a:t>2020/5/22</a:t>
            </a:fld>
            <a:endParaRPr kumimoji="1" lang="ja-JP" altLang="en-US"/>
          </a:p>
        </p:txBody>
      </p:sp>
      <p:sp>
        <p:nvSpPr>
          <p:cNvPr id="6" name="Footer Placeholder 5"/>
          <p:cNvSpPr>
            <a:spLocks noGrp="1"/>
          </p:cNvSpPr>
          <p:nvPr>
            <p:ph type="ftr" sz="quarter" idx="11"/>
          </p:nvPr>
        </p:nvSpPr>
        <p:spPr/>
        <p:txBody>
          <a:bodyPr/>
          <a:lstStyle/>
          <a:p>
            <a:r>
              <a:rPr kumimoji="1" lang="ja-JP" altLang="en-US"/>
              <a:t>文献講読</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6639122-66CD-9D4D-928D-21371601B813}" type="datetime1">
              <a:rPr kumimoji="1" lang="ja-JP" altLang="en-US" smtClean="0"/>
              <a:t>2020/5/22</a:t>
            </a:fld>
            <a:endParaRPr kumimoji="1" lang="ja-JP" altLang="en-US"/>
          </a:p>
        </p:txBody>
      </p:sp>
      <p:sp>
        <p:nvSpPr>
          <p:cNvPr id="6" name="Footer Placeholder 5"/>
          <p:cNvSpPr>
            <a:spLocks noGrp="1"/>
          </p:cNvSpPr>
          <p:nvPr>
            <p:ph type="ftr" sz="quarter" idx="11"/>
          </p:nvPr>
        </p:nvSpPr>
        <p:spPr/>
        <p:txBody>
          <a:bodyPr/>
          <a:lstStyle/>
          <a:p>
            <a:r>
              <a:rPr kumimoji="1" lang="ja-JP" altLang="en-US"/>
              <a:t>文献講読</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E643DF9-6133-B348-A467-EB2C71871E31}" type="datetime1">
              <a:rPr kumimoji="1" lang="ja-JP" altLang="en-US" smtClean="0"/>
              <a:t>2020/5/22</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43E79AE-C05B-304C-90FD-BF705003BC31}" type="datetime1">
              <a:rPr kumimoji="1" lang="ja-JP" altLang="en-US" smtClean="0"/>
              <a:t>2020/5/22</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B764421F-C33F-684A-ACAF-367E962EDB43}" type="datetime1">
              <a:rPr lang="ja-JP" altLang="en-US" smtClean="0"/>
              <a:t>2020/5/22</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文献講読</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6.tif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noAutofit/>
          </a:bodyPr>
          <a:lstStyle/>
          <a:p>
            <a:r>
              <a:rPr lang="en" altLang="ja-JP" sz="3200" dirty="0"/>
              <a:t>A Supervised Topic Model Approach to Learning Effective Styles within Human-Agent Negotiation</a:t>
            </a:r>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CA3A17A6-29E1-5C4B-A8C8-624941D6B5D7}" type="datetime1">
              <a:rPr kumimoji="1" lang="ja-JP" altLang="en-US" smtClean="0"/>
              <a:t>2020/5/22</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文献講読</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1EDD9E-3775-DA46-85EB-EB324FA0E18B}"/>
              </a:ext>
            </a:extLst>
          </p:cNvPr>
          <p:cNvSpPr>
            <a:spLocks noGrp="1"/>
          </p:cNvSpPr>
          <p:nvPr>
            <p:ph type="title"/>
          </p:nvPr>
        </p:nvSpPr>
        <p:spPr/>
        <p:txBody>
          <a:bodyPr/>
          <a:lstStyle/>
          <a:p>
            <a:r>
              <a:rPr kumimoji="1" lang="ja-JP" altLang="en-US"/>
              <a:t>文献紹介</a:t>
            </a:r>
          </a:p>
        </p:txBody>
      </p:sp>
      <p:sp>
        <p:nvSpPr>
          <p:cNvPr id="3" name="コンテンツ プレースホルダー 2">
            <a:extLst>
              <a:ext uri="{FF2B5EF4-FFF2-40B4-BE49-F238E27FC236}">
                <a16:creationId xmlns:a16="http://schemas.microsoft.com/office/drawing/2014/main" id="{0D2F620B-3E10-AD46-B6CF-A30DFCA97C27}"/>
              </a:ext>
            </a:extLst>
          </p:cNvPr>
          <p:cNvSpPr>
            <a:spLocks noGrp="1"/>
          </p:cNvSpPr>
          <p:nvPr>
            <p:ph idx="1"/>
          </p:nvPr>
        </p:nvSpPr>
        <p:spPr/>
        <p:txBody>
          <a:bodyPr/>
          <a:lstStyle/>
          <a:p>
            <a:r>
              <a:rPr kumimoji="1" lang="ja-JP" altLang="en-US"/>
              <a:t>タイトル</a:t>
            </a:r>
            <a:endParaRPr kumimoji="1" lang="en-US" altLang="ja-JP" dirty="0"/>
          </a:p>
          <a:p>
            <a:pPr lvl="1"/>
            <a:r>
              <a:rPr kumimoji="1" lang="en-US" altLang="ja-JP" dirty="0"/>
              <a:t>A </a:t>
            </a:r>
            <a:r>
              <a:rPr lang="en" altLang="ja-JP" dirty="0"/>
              <a:t>Supervised Topic Model Approach to Learning Effective Styles within Human-Agent Negotiation</a:t>
            </a:r>
          </a:p>
          <a:p>
            <a:r>
              <a:rPr lang="ja-JP" altLang="en-US"/>
              <a:t>著者</a:t>
            </a:r>
            <a:endParaRPr lang="en-US" altLang="ja-JP" dirty="0"/>
          </a:p>
          <a:p>
            <a:pPr lvl="1"/>
            <a:r>
              <a:rPr lang="en" altLang="ja-JP" dirty="0" err="1"/>
              <a:t>Yuyu</a:t>
            </a:r>
            <a:r>
              <a:rPr lang="en" altLang="ja-JP" dirty="0"/>
              <a:t> Xu</a:t>
            </a:r>
            <a:r>
              <a:rPr lang="en-US" altLang="ja-JP" dirty="0"/>
              <a:t>,</a:t>
            </a:r>
            <a:r>
              <a:rPr lang="en" altLang="ja-JP" dirty="0"/>
              <a:t> David </a:t>
            </a:r>
            <a:r>
              <a:rPr lang="en" altLang="ja-JP" dirty="0" err="1"/>
              <a:t>Jeong</a:t>
            </a:r>
            <a:r>
              <a:rPr lang="en" altLang="ja-JP" dirty="0"/>
              <a:t>, Pedro </a:t>
            </a:r>
            <a:r>
              <a:rPr lang="en" altLang="ja-JP" dirty="0" err="1"/>
              <a:t>Sequeira</a:t>
            </a:r>
            <a:r>
              <a:rPr lang="en" altLang="ja-JP" dirty="0"/>
              <a:t>, Jonathan </a:t>
            </a:r>
            <a:r>
              <a:rPr lang="en" altLang="ja-JP" dirty="0" err="1"/>
              <a:t>Gratch</a:t>
            </a:r>
            <a:r>
              <a:rPr lang="en" altLang="ja-JP" dirty="0"/>
              <a:t>, </a:t>
            </a:r>
            <a:r>
              <a:rPr lang="en" altLang="ja-JP" dirty="0" err="1"/>
              <a:t>Javed</a:t>
            </a:r>
            <a:r>
              <a:rPr lang="en" altLang="ja-JP" dirty="0"/>
              <a:t> Aslam, Stacy </a:t>
            </a:r>
            <a:r>
              <a:rPr lang="en" altLang="ja-JP" dirty="0" err="1"/>
              <a:t>Marsella</a:t>
            </a:r>
            <a:endParaRPr lang="en" altLang="ja-JP" dirty="0"/>
          </a:p>
          <a:p>
            <a:r>
              <a:rPr lang="ja-JP" altLang="en-US"/>
              <a:t>出典</a:t>
            </a:r>
            <a:endParaRPr lang="en-US" altLang="ja-JP" dirty="0"/>
          </a:p>
          <a:p>
            <a:pPr lvl="1"/>
            <a:r>
              <a:rPr lang="en" altLang="ja-JP" dirty="0"/>
              <a:t>19th International Conference on Autonomous Agents and Multiagent Systems (</a:t>
            </a:r>
            <a:r>
              <a:rPr lang="en-US" altLang="ja-JP" dirty="0"/>
              <a:t>AAMAS 2020), page 2047-2049, 2020</a:t>
            </a:r>
          </a:p>
          <a:p>
            <a:pPr marL="457200" lvl="1" indent="0">
              <a:buNone/>
            </a:pPr>
            <a:endParaRPr lang="en" altLang="ja-JP" dirty="0"/>
          </a:p>
        </p:txBody>
      </p:sp>
      <p:sp>
        <p:nvSpPr>
          <p:cNvPr id="4" name="日付プレースホルダー 3">
            <a:extLst>
              <a:ext uri="{FF2B5EF4-FFF2-40B4-BE49-F238E27FC236}">
                <a16:creationId xmlns:a16="http://schemas.microsoft.com/office/drawing/2014/main" id="{8F54575E-3469-8A4E-9CE3-059E60A5C787}"/>
              </a:ext>
            </a:extLst>
          </p:cNvPr>
          <p:cNvSpPr>
            <a:spLocks noGrp="1"/>
          </p:cNvSpPr>
          <p:nvPr>
            <p:ph type="dt" sz="half" idx="10"/>
          </p:nvPr>
        </p:nvSpPr>
        <p:spPr/>
        <p:txBody>
          <a:bodyPr/>
          <a:lstStyle/>
          <a:p>
            <a:fld id="{2AD47AF5-0808-6746-8498-AE8D6EAFB464}" type="datetime1">
              <a:rPr kumimoji="1" lang="ja-JP" altLang="en-US" smtClean="0"/>
              <a:t>2020/5/22</a:t>
            </a:fld>
            <a:endParaRPr kumimoji="1" lang="ja-JP" altLang="en-US"/>
          </a:p>
        </p:txBody>
      </p:sp>
      <p:sp>
        <p:nvSpPr>
          <p:cNvPr id="5" name="フッター プレースホルダー 4">
            <a:extLst>
              <a:ext uri="{FF2B5EF4-FFF2-40B4-BE49-F238E27FC236}">
                <a16:creationId xmlns:a16="http://schemas.microsoft.com/office/drawing/2014/main" id="{E67E791C-67E3-EA40-9EC7-CA0E8F7AF2A1}"/>
              </a:ext>
            </a:extLst>
          </p:cNvPr>
          <p:cNvSpPr>
            <a:spLocks noGrp="1"/>
          </p:cNvSpPr>
          <p:nvPr>
            <p:ph type="ftr" sz="quarter" idx="11"/>
          </p:nvPr>
        </p:nvSpPr>
        <p:spPr/>
        <p:txBody>
          <a:bodyPr/>
          <a:lstStyle/>
          <a:p>
            <a:r>
              <a:rPr kumimoji="1" lang="ja-JP" altLang="en-US"/>
              <a:t>文献講読</a:t>
            </a:r>
          </a:p>
        </p:txBody>
      </p:sp>
      <p:sp>
        <p:nvSpPr>
          <p:cNvPr id="6" name="スライド番号プレースホルダー 5">
            <a:extLst>
              <a:ext uri="{FF2B5EF4-FFF2-40B4-BE49-F238E27FC236}">
                <a16:creationId xmlns:a16="http://schemas.microsoft.com/office/drawing/2014/main" id="{90A7CC4C-56FC-9A46-9AB3-8E35183C11C4}"/>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7" name="テキスト プレースホルダー 6">
            <a:extLst>
              <a:ext uri="{FF2B5EF4-FFF2-40B4-BE49-F238E27FC236}">
                <a16:creationId xmlns:a16="http://schemas.microsoft.com/office/drawing/2014/main" id="{F2154077-5D2B-CE4A-8479-66735FFEB4B8}"/>
              </a:ext>
            </a:extLst>
          </p:cNvPr>
          <p:cNvSpPr>
            <a:spLocks noGrp="1"/>
          </p:cNvSpPr>
          <p:nvPr>
            <p:ph type="body" sz="quarter" idx="13"/>
          </p:nvPr>
        </p:nvSpPr>
        <p:spPr/>
        <p:txBody>
          <a:bodyPr/>
          <a:lstStyle/>
          <a:p>
            <a:r>
              <a:rPr lang="en-US" altLang="ja-JP" dirty="0"/>
              <a:t>1</a:t>
            </a:r>
            <a:endParaRPr kumimoji="1" lang="ja-JP" altLang="en-US"/>
          </a:p>
        </p:txBody>
      </p:sp>
      <p:grpSp>
        <p:nvGrpSpPr>
          <p:cNvPr id="8" name="グループ化 7">
            <a:extLst>
              <a:ext uri="{FF2B5EF4-FFF2-40B4-BE49-F238E27FC236}">
                <a16:creationId xmlns:a16="http://schemas.microsoft.com/office/drawing/2014/main" id="{987516EF-F561-CA40-A8D0-6C25F2C42064}"/>
              </a:ext>
            </a:extLst>
          </p:cNvPr>
          <p:cNvGrpSpPr/>
          <p:nvPr/>
        </p:nvGrpSpPr>
        <p:grpSpPr>
          <a:xfrm>
            <a:off x="163626" y="1160115"/>
            <a:ext cx="2047139" cy="680876"/>
            <a:chOff x="163626" y="1160115"/>
            <a:chExt cx="2047139" cy="680876"/>
          </a:xfrm>
        </p:grpSpPr>
        <p:cxnSp>
          <p:nvCxnSpPr>
            <p:cNvPr id="9" name="直線コネクタ 8">
              <a:extLst>
                <a:ext uri="{FF2B5EF4-FFF2-40B4-BE49-F238E27FC236}">
                  <a16:creationId xmlns:a16="http://schemas.microsoft.com/office/drawing/2014/main" id="{DBCDA9E6-896D-CA44-ACED-B78D9FC447A6}"/>
                </a:ext>
              </a:extLst>
            </p:cNvPr>
            <p:cNvCxnSpPr>
              <a:cxnSpLocks/>
            </p:cNvCxnSpPr>
            <p:nvPr userDrawn="1"/>
          </p:nvCxnSpPr>
          <p:spPr>
            <a:xfrm>
              <a:off x="163626" y="1699846"/>
              <a:ext cx="204713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AA491752-698A-3E49-A220-FDC4C8EA637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08CA7095-CD7D-6A4A-A90B-8F7DEBC3AECE}"/>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文献情報</a:t>
            </a:r>
          </a:p>
        </p:txBody>
      </p:sp>
    </p:spTree>
    <p:extLst>
      <p:ext uri="{BB962C8B-B14F-4D97-AF65-F5344CB8AC3E}">
        <p14:creationId xmlns:p14="http://schemas.microsoft.com/office/powerpoint/2010/main" val="894194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1EDD9E-3775-DA46-85EB-EB324FA0E18B}"/>
              </a:ext>
            </a:extLst>
          </p:cNvPr>
          <p:cNvSpPr>
            <a:spLocks noGrp="1"/>
          </p:cNvSpPr>
          <p:nvPr>
            <p:ph type="title"/>
          </p:nvPr>
        </p:nvSpPr>
        <p:spPr/>
        <p:txBody>
          <a:bodyPr/>
          <a:lstStyle/>
          <a:p>
            <a:r>
              <a:rPr kumimoji="1" lang="ja-JP" altLang="en-US"/>
              <a:t>文献紹介</a:t>
            </a:r>
          </a:p>
        </p:txBody>
      </p:sp>
      <p:sp>
        <p:nvSpPr>
          <p:cNvPr id="3" name="コンテンツ プレースホルダー 2">
            <a:extLst>
              <a:ext uri="{FF2B5EF4-FFF2-40B4-BE49-F238E27FC236}">
                <a16:creationId xmlns:a16="http://schemas.microsoft.com/office/drawing/2014/main" id="{0D2F620B-3E10-AD46-B6CF-A30DFCA97C27}"/>
              </a:ext>
            </a:extLst>
          </p:cNvPr>
          <p:cNvSpPr>
            <a:spLocks noGrp="1"/>
          </p:cNvSpPr>
          <p:nvPr>
            <p:ph idx="1"/>
          </p:nvPr>
        </p:nvSpPr>
        <p:spPr/>
        <p:txBody>
          <a:bodyPr/>
          <a:lstStyle/>
          <a:p>
            <a:r>
              <a:rPr lang="ja-JP" altLang="en-US"/>
              <a:t>人の</a:t>
            </a:r>
            <a:r>
              <a:rPr kumimoji="1" lang="ja-JP" altLang="en-US"/>
              <a:t>交渉行動の分析</a:t>
            </a:r>
            <a:endParaRPr kumimoji="1" lang="en-US" altLang="ja-JP" dirty="0"/>
          </a:p>
          <a:p>
            <a:r>
              <a:rPr lang="ja-JP" altLang="en-US"/>
              <a:t>相手の交渉スタイルの自動検知</a:t>
            </a:r>
            <a:endParaRPr lang="en-US" altLang="ja-JP" dirty="0"/>
          </a:p>
          <a:p>
            <a:pPr lvl="1"/>
            <a:r>
              <a:rPr lang="en-US" altLang="ja-JP" dirty="0"/>
              <a:t>IAGO</a:t>
            </a:r>
            <a:r>
              <a:rPr lang="ja-JP" altLang="en-US"/>
              <a:t>で収集されたデータセットを使用</a:t>
            </a:r>
            <a:endParaRPr lang="en-US" altLang="ja-JP" dirty="0"/>
          </a:p>
          <a:p>
            <a:pPr lvl="1"/>
            <a:r>
              <a:rPr lang="en-US" altLang="ja-JP" dirty="0"/>
              <a:t>①</a:t>
            </a:r>
            <a:r>
              <a:rPr lang="ja-JP" altLang="en-US"/>
              <a:t>戦略の特徴を識別</a:t>
            </a:r>
            <a:endParaRPr lang="en-US" altLang="ja-JP" dirty="0"/>
          </a:p>
          <a:p>
            <a:pPr lvl="2"/>
            <a:r>
              <a:rPr lang="en-US" altLang="ja-JP" dirty="0"/>
              <a:t>Offer</a:t>
            </a:r>
            <a:r>
              <a:rPr lang="ja-JP" altLang="en-US"/>
              <a:t>のユニグラム・トリグラム・感情などを使用した</a:t>
            </a:r>
            <a:br>
              <a:rPr lang="en-US" altLang="ja-JP" dirty="0"/>
            </a:br>
            <a:r>
              <a:rPr lang="ja-JP" altLang="en-US"/>
              <a:t>アノテーションスキーマを作成</a:t>
            </a:r>
            <a:endParaRPr lang="en-US" altLang="ja-JP" dirty="0"/>
          </a:p>
          <a:p>
            <a:pPr lvl="1"/>
            <a:r>
              <a:rPr lang="ja-JP" altLang="en-US"/>
              <a:t>②戦略の特徴を評価</a:t>
            </a:r>
            <a:endParaRPr lang="en-US" altLang="ja-JP" dirty="0"/>
          </a:p>
          <a:p>
            <a:pPr lvl="2"/>
            <a:r>
              <a:rPr lang="ja-JP" altLang="en-US"/>
              <a:t>特徴行列が疎になる→</a:t>
            </a:r>
            <a:r>
              <a:rPr lang="en-US" altLang="ja-JP" dirty="0" err="1"/>
              <a:t>ElasticNet</a:t>
            </a:r>
            <a:r>
              <a:rPr lang="ja-JP" altLang="en-US"/>
              <a:t>を使用</a:t>
            </a:r>
            <a:endParaRPr lang="en-US" altLang="ja-JP" dirty="0"/>
          </a:p>
          <a:p>
            <a:pPr lvl="1"/>
            <a:r>
              <a:rPr lang="en-US" altLang="ja-JP" dirty="0"/>
              <a:t>③</a:t>
            </a:r>
            <a:r>
              <a:rPr lang="ja-JP" altLang="en-US"/>
              <a:t>交渉スタイルの学習</a:t>
            </a:r>
            <a:endParaRPr lang="en-US" altLang="ja-JP" dirty="0"/>
          </a:p>
          <a:p>
            <a:pPr lvl="2"/>
            <a:r>
              <a:rPr lang="en-US" altLang="ja-JP" dirty="0" err="1"/>
              <a:t>sLDA</a:t>
            </a:r>
            <a:r>
              <a:rPr lang="ja-JP" altLang="en-US"/>
              <a:t>を使用</a:t>
            </a:r>
            <a:endParaRPr lang="en-US" altLang="ja-JP" dirty="0"/>
          </a:p>
          <a:p>
            <a:pPr marL="0" indent="0">
              <a:buNone/>
            </a:pPr>
            <a:endParaRPr lang="en" altLang="ja-JP" dirty="0"/>
          </a:p>
        </p:txBody>
      </p:sp>
      <p:sp>
        <p:nvSpPr>
          <p:cNvPr id="4" name="日付プレースホルダー 3">
            <a:extLst>
              <a:ext uri="{FF2B5EF4-FFF2-40B4-BE49-F238E27FC236}">
                <a16:creationId xmlns:a16="http://schemas.microsoft.com/office/drawing/2014/main" id="{8F54575E-3469-8A4E-9CE3-059E60A5C787}"/>
              </a:ext>
            </a:extLst>
          </p:cNvPr>
          <p:cNvSpPr>
            <a:spLocks noGrp="1"/>
          </p:cNvSpPr>
          <p:nvPr>
            <p:ph type="dt" sz="half" idx="10"/>
          </p:nvPr>
        </p:nvSpPr>
        <p:spPr/>
        <p:txBody>
          <a:bodyPr/>
          <a:lstStyle/>
          <a:p>
            <a:fld id="{E88EABA4-24DB-7347-90CB-21F705557746}" type="datetime1">
              <a:rPr kumimoji="1" lang="ja-JP" altLang="en-US" smtClean="0"/>
              <a:t>2020/5/22</a:t>
            </a:fld>
            <a:endParaRPr kumimoji="1" lang="ja-JP" altLang="en-US"/>
          </a:p>
        </p:txBody>
      </p:sp>
      <p:sp>
        <p:nvSpPr>
          <p:cNvPr id="5" name="フッター プレースホルダー 4">
            <a:extLst>
              <a:ext uri="{FF2B5EF4-FFF2-40B4-BE49-F238E27FC236}">
                <a16:creationId xmlns:a16="http://schemas.microsoft.com/office/drawing/2014/main" id="{E67E791C-67E3-EA40-9EC7-CA0E8F7AF2A1}"/>
              </a:ext>
            </a:extLst>
          </p:cNvPr>
          <p:cNvSpPr>
            <a:spLocks noGrp="1"/>
          </p:cNvSpPr>
          <p:nvPr>
            <p:ph type="ftr" sz="quarter" idx="11"/>
          </p:nvPr>
        </p:nvSpPr>
        <p:spPr/>
        <p:txBody>
          <a:bodyPr/>
          <a:lstStyle/>
          <a:p>
            <a:r>
              <a:rPr kumimoji="1" lang="ja-JP" altLang="en-US"/>
              <a:t>文献講読</a:t>
            </a:r>
          </a:p>
        </p:txBody>
      </p:sp>
      <p:sp>
        <p:nvSpPr>
          <p:cNvPr id="6" name="スライド番号プレースホルダー 5">
            <a:extLst>
              <a:ext uri="{FF2B5EF4-FFF2-40B4-BE49-F238E27FC236}">
                <a16:creationId xmlns:a16="http://schemas.microsoft.com/office/drawing/2014/main" id="{90A7CC4C-56FC-9A46-9AB3-8E35183C11C4}"/>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F2154077-5D2B-CE4A-8479-66735FFEB4B8}"/>
              </a:ext>
            </a:extLst>
          </p:cNvPr>
          <p:cNvSpPr>
            <a:spLocks noGrp="1"/>
          </p:cNvSpPr>
          <p:nvPr>
            <p:ph type="body" sz="quarter" idx="13"/>
          </p:nvPr>
        </p:nvSpPr>
        <p:spPr/>
        <p:txBody>
          <a:bodyPr/>
          <a:lstStyle/>
          <a:p>
            <a:r>
              <a:rPr lang="en-US" altLang="ja-JP" dirty="0"/>
              <a:t>1</a:t>
            </a:r>
            <a:endParaRPr kumimoji="1" lang="ja-JP" altLang="en-US"/>
          </a:p>
        </p:txBody>
      </p:sp>
      <p:grpSp>
        <p:nvGrpSpPr>
          <p:cNvPr id="8" name="グループ化 7">
            <a:extLst>
              <a:ext uri="{FF2B5EF4-FFF2-40B4-BE49-F238E27FC236}">
                <a16:creationId xmlns:a16="http://schemas.microsoft.com/office/drawing/2014/main" id="{987516EF-F561-CA40-A8D0-6C25F2C42064}"/>
              </a:ext>
            </a:extLst>
          </p:cNvPr>
          <p:cNvGrpSpPr/>
          <p:nvPr/>
        </p:nvGrpSpPr>
        <p:grpSpPr>
          <a:xfrm>
            <a:off x="163626" y="1160115"/>
            <a:ext cx="1290037" cy="680876"/>
            <a:chOff x="163626" y="1160115"/>
            <a:chExt cx="1290037" cy="680876"/>
          </a:xfrm>
        </p:grpSpPr>
        <p:cxnSp>
          <p:nvCxnSpPr>
            <p:cNvPr id="9" name="直線コネクタ 8">
              <a:extLst>
                <a:ext uri="{FF2B5EF4-FFF2-40B4-BE49-F238E27FC236}">
                  <a16:creationId xmlns:a16="http://schemas.microsoft.com/office/drawing/2014/main" id="{DBCDA9E6-896D-CA44-ACED-B78D9FC447A6}"/>
                </a:ext>
              </a:extLst>
            </p:cNvPr>
            <p:cNvCxnSpPr>
              <a:cxnSpLocks/>
            </p:cNvCxnSpPr>
            <p:nvPr userDrawn="1"/>
          </p:nvCxnSpPr>
          <p:spPr>
            <a:xfrm>
              <a:off x="163626" y="1699846"/>
              <a:ext cx="12900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AA491752-698A-3E49-A220-FDC4C8EA637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08CA7095-CD7D-6A4A-A90B-8F7DEBC3AECE}"/>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概要</a:t>
            </a:r>
          </a:p>
        </p:txBody>
      </p:sp>
      <p:grpSp>
        <p:nvGrpSpPr>
          <p:cNvPr id="13" name="グループ化 12">
            <a:extLst>
              <a:ext uri="{FF2B5EF4-FFF2-40B4-BE49-F238E27FC236}">
                <a16:creationId xmlns:a16="http://schemas.microsoft.com/office/drawing/2014/main" id="{4F77F55F-3E77-AA4D-B2D0-98C91A7AB5AB}"/>
              </a:ext>
            </a:extLst>
          </p:cNvPr>
          <p:cNvGrpSpPr/>
          <p:nvPr/>
        </p:nvGrpSpPr>
        <p:grpSpPr>
          <a:xfrm>
            <a:off x="8136104" y="1208319"/>
            <a:ext cx="1185545" cy="1295983"/>
            <a:chOff x="1777460" y="7716381"/>
            <a:chExt cx="4952308" cy="5413642"/>
          </a:xfrm>
        </p:grpSpPr>
        <p:pic>
          <p:nvPicPr>
            <p:cNvPr id="14" name="図 13">
              <a:extLst>
                <a:ext uri="{FF2B5EF4-FFF2-40B4-BE49-F238E27FC236}">
                  <a16:creationId xmlns:a16="http://schemas.microsoft.com/office/drawing/2014/main" id="{AA632AD6-9B4F-A148-8B94-1AB948D84030}"/>
                </a:ext>
              </a:extLst>
            </p:cNvPr>
            <p:cNvPicPr>
              <a:picLocks noChangeAspect="1"/>
            </p:cNvPicPr>
            <p:nvPr/>
          </p:nvPicPr>
          <p:blipFill>
            <a:blip r:embed="rId4"/>
            <a:stretch>
              <a:fillRect/>
            </a:stretch>
          </p:blipFill>
          <p:spPr>
            <a:xfrm>
              <a:off x="2449331" y="7716381"/>
              <a:ext cx="3608570" cy="3922357"/>
            </a:xfrm>
            <a:prstGeom prst="rect">
              <a:avLst/>
            </a:prstGeom>
          </p:spPr>
        </p:pic>
        <p:sp>
          <p:nvSpPr>
            <p:cNvPr id="15" name="テキスト ボックス 14">
              <a:extLst>
                <a:ext uri="{FF2B5EF4-FFF2-40B4-BE49-F238E27FC236}">
                  <a16:creationId xmlns:a16="http://schemas.microsoft.com/office/drawing/2014/main" id="{89C3DD42-DCCB-5D47-97F6-757D4ED47B02}"/>
                </a:ext>
              </a:extLst>
            </p:cNvPr>
            <p:cNvSpPr txBox="1"/>
            <p:nvPr/>
          </p:nvSpPr>
          <p:spPr>
            <a:xfrm>
              <a:off x="1777460" y="11715796"/>
              <a:ext cx="4952308" cy="1414227"/>
            </a:xfrm>
            <a:prstGeom prst="rect">
              <a:avLst/>
            </a:prstGeom>
            <a:noFill/>
          </p:spPr>
          <p:txBody>
            <a:bodyPr wrap="square" rtlCol="0">
              <a:spAutoFit/>
            </a:bodyPr>
            <a:lstStyle/>
            <a:p>
              <a:pPr algn="ctr"/>
              <a:r>
                <a:rPr lang="en-US" altLang="ja-JP" sz="1400" dirty="0"/>
                <a:t>B</a:t>
              </a:r>
              <a:endParaRPr kumimoji="1" lang="ja-JP" altLang="en-US" sz="1400"/>
            </a:p>
          </p:txBody>
        </p:sp>
      </p:grpSp>
      <p:grpSp>
        <p:nvGrpSpPr>
          <p:cNvPr id="16" name="グループ化 15">
            <a:extLst>
              <a:ext uri="{FF2B5EF4-FFF2-40B4-BE49-F238E27FC236}">
                <a16:creationId xmlns:a16="http://schemas.microsoft.com/office/drawing/2014/main" id="{B4EEACD7-A62A-2B47-AE5B-5B85A6F64A13}"/>
              </a:ext>
            </a:extLst>
          </p:cNvPr>
          <p:cNvGrpSpPr/>
          <p:nvPr/>
        </p:nvGrpSpPr>
        <p:grpSpPr>
          <a:xfrm>
            <a:off x="5070984" y="1232812"/>
            <a:ext cx="1735757" cy="1271932"/>
            <a:chOff x="589000" y="2261041"/>
            <a:chExt cx="2795459" cy="2048460"/>
          </a:xfrm>
        </p:grpSpPr>
        <p:sp>
          <p:nvSpPr>
            <p:cNvPr id="17" name="テキスト ボックス 16">
              <a:extLst>
                <a:ext uri="{FF2B5EF4-FFF2-40B4-BE49-F238E27FC236}">
                  <a16:creationId xmlns:a16="http://schemas.microsoft.com/office/drawing/2014/main" id="{EF70BF7F-ED0D-154D-BDFD-337798C5A2EB}"/>
                </a:ext>
              </a:extLst>
            </p:cNvPr>
            <p:cNvSpPr txBox="1"/>
            <p:nvPr/>
          </p:nvSpPr>
          <p:spPr>
            <a:xfrm>
              <a:off x="589000" y="3764255"/>
              <a:ext cx="2795459" cy="545246"/>
            </a:xfrm>
            <a:prstGeom prst="rect">
              <a:avLst/>
            </a:prstGeom>
            <a:noFill/>
          </p:spPr>
          <p:txBody>
            <a:bodyPr wrap="square" rtlCol="0">
              <a:spAutoFit/>
            </a:bodyPr>
            <a:lstStyle/>
            <a:p>
              <a:pPr algn="ctr"/>
              <a:r>
                <a:rPr lang="en-US" altLang="ja-JP" sz="1400" dirty="0"/>
                <a:t>A</a:t>
              </a:r>
              <a:endParaRPr kumimoji="1" lang="ja-JP" altLang="en-US" sz="1400"/>
            </a:p>
          </p:txBody>
        </p:sp>
        <p:pic>
          <p:nvPicPr>
            <p:cNvPr id="18" name="図 17">
              <a:extLst>
                <a:ext uri="{FF2B5EF4-FFF2-40B4-BE49-F238E27FC236}">
                  <a16:creationId xmlns:a16="http://schemas.microsoft.com/office/drawing/2014/main" id="{6C837FC4-E90F-1244-B70B-8AF60B5F9F1B}"/>
                </a:ext>
              </a:extLst>
            </p:cNvPr>
            <p:cNvPicPr>
              <a:picLocks noChangeAspect="1"/>
            </p:cNvPicPr>
            <p:nvPr/>
          </p:nvPicPr>
          <p:blipFill>
            <a:blip r:embed="rId5"/>
            <a:stretch>
              <a:fillRect/>
            </a:stretch>
          </p:blipFill>
          <p:spPr>
            <a:xfrm>
              <a:off x="1127827" y="2261041"/>
              <a:ext cx="1717802" cy="1494489"/>
            </a:xfrm>
            <a:prstGeom prst="rect">
              <a:avLst/>
            </a:prstGeom>
          </p:spPr>
        </p:pic>
      </p:grpSp>
      <p:grpSp>
        <p:nvGrpSpPr>
          <p:cNvPr id="32" name="グループ化 31">
            <a:extLst>
              <a:ext uri="{FF2B5EF4-FFF2-40B4-BE49-F238E27FC236}">
                <a16:creationId xmlns:a16="http://schemas.microsoft.com/office/drawing/2014/main" id="{36F11B4B-5AC9-0C4C-A8F5-B52685008FBD}"/>
              </a:ext>
            </a:extLst>
          </p:cNvPr>
          <p:cNvGrpSpPr/>
          <p:nvPr/>
        </p:nvGrpSpPr>
        <p:grpSpPr>
          <a:xfrm>
            <a:off x="6581535" y="835746"/>
            <a:ext cx="1669416" cy="1703281"/>
            <a:chOff x="6650983" y="801021"/>
            <a:chExt cx="1669416" cy="1703281"/>
          </a:xfrm>
        </p:grpSpPr>
        <p:grpSp>
          <p:nvGrpSpPr>
            <p:cNvPr id="29" name="グループ化 28">
              <a:extLst>
                <a:ext uri="{FF2B5EF4-FFF2-40B4-BE49-F238E27FC236}">
                  <a16:creationId xmlns:a16="http://schemas.microsoft.com/office/drawing/2014/main" id="{8AE692DE-D965-A643-AABF-678F5C717414}"/>
                </a:ext>
              </a:extLst>
            </p:cNvPr>
            <p:cNvGrpSpPr/>
            <p:nvPr/>
          </p:nvGrpSpPr>
          <p:grpSpPr>
            <a:xfrm>
              <a:off x="6650983" y="801021"/>
              <a:ext cx="1669416" cy="1703281"/>
              <a:chOff x="6650983" y="801021"/>
              <a:chExt cx="1669416" cy="1703281"/>
            </a:xfrm>
          </p:grpSpPr>
          <p:sp>
            <p:nvSpPr>
              <p:cNvPr id="27" name="角丸四角形 26">
                <a:extLst>
                  <a:ext uri="{FF2B5EF4-FFF2-40B4-BE49-F238E27FC236}">
                    <a16:creationId xmlns:a16="http://schemas.microsoft.com/office/drawing/2014/main" id="{91282C63-DBC2-EE47-8E2A-F3C8A4496565}"/>
                  </a:ext>
                </a:extLst>
              </p:cNvPr>
              <p:cNvSpPr/>
              <p:nvPr/>
            </p:nvSpPr>
            <p:spPr>
              <a:xfrm>
                <a:off x="6650983" y="974166"/>
                <a:ext cx="1669416" cy="1530136"/>
              </a:xfrm>
              <a:prstGeom prst="round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253C5B40-9C31-3347-B69E-0BD1491F2409}"/>
                  </a:ext>
                </a:extLst>
              </p:cNvPr>
              <p:cNvGrpSpPr/>
              <p:nvPr/>
            </p:nvGrpSpPr>
            <p:grpSpPr>
              <a:xfrm>
                <a:off x="6699329" y="1040323"/>
                <a:ext cx="1547531" cy="1300460"/>
                <a:chOff x="6780354" y="913002"/>
                <a:chExt cx="1547531" cy="1300460"/>
              </a:xfrm>
            </p:grpSpPr>
            <p:cxnSp>
              <p:nvCxnSpPr>
                <p:cNvPr id="20" name="直線矢印コネクタ 19">
                  <a:extLst>
                    <a:ext uri="{FF2B5EF4-FFF2-40B4-BE49-F238E27FC236}">
                      <a16:creationId xmlns:a16="http://schemas.microsoft.com/office/drawing/2014/main" id="{84138C56-A8CB-4F4A-8961-27E1114A0887}"/>
                    </a:ext>
                  </a:extLst>
                </p:cNvPr>
                <p:cNvCxnSpPr/>
                <p:nvPr/>
              </p:nvCxnSpPr>
              <p:spPr>
                <a:xfrm>
                  <a:off x="7023065" y="1220779"/>
                  <a:ext cx="11343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6292A957-E966-C942-B3E3-023BAF328195}"/>
                    </a:ext>
                  </a:extLst>
                </p:cNvPr>
                <p:cNvCxnSpPr>
                  <a:cxnSpLocks/>
                </p:cNvCxnSpPr>
                <p:nvPr/>
              </p:nvCxnSpPr>
              <p:spPr>
                <a:xfrm flipH="1">
                  <a:off x="7011490" y="1594040"/>
                  <a:ext cx="11343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43D2C8A8-DFDC-464F-A5AC-14953E906EED}"/>
                    </a:ext>
                  </a:extLst>
                </p:cNvPr>
                <p:cNvCxnSpPr>
                  <a:cxnSpLocks/>
                </p:cNvCxnSpPr>
                <p:nvPr/>
              </p:nvCxnSpPr>
              <p:spPr>
                <a:xfrm>
                  <a:off x="7011490" y="1975647"/>
                  <a:ext cx="11343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6CA836EF-BE73-8F41-B9B8-F777B63C9FEC}"/>
                    </a:ext>
                  </a:extLst>
                </p:cNvPr>
                <p:cNvSpPr txBox="1"/>
                <p:nvPr/>
              </p:nvSpPr>
              <p:spPr>
                <a:xfrm>
                  <a:off x="7016638" y="913002"/>
                  <a:ext cx="1077768" cy="307777"/>
                </a:xfrm>
                <a:prstGeom prst="rect">
                  <a:avLst/>
                </a:prstGeom>
                <a:noFill/>
              </p:spPr>
              <p:txBody>
                <a:bodyPr wrap="square" rtlCol="0">
                  <a:spAutoFit/>
                </a:bodyPr>
                <a:lstStyle/>
                <a:p>
                  <a:pPr algn="ctr"/>
                  <a:r>
                    <a:rPr kumimoji="1" lang="en-US" altLang="ja-JP" sz="1400" dirty="0"/>
                    <a:t>Offer</a:t>
                  </a:r>
                  <a:endParaRPr kumimoji="1" lang="ja-JP" altLang="en-US" sz="1400"/>
                </a:p>
              </p:txBody>
            </p:sp>
            <p:sp>
              <p:nvSpPr>
                <p:cNvPr id="24" name="テキスト ボックス 23">
                  <a:extLst>
                    <a:ext uri="{FF2B5EF4-FFF2-40B4-BE49-F238E27FC236}">
                      <a16:creationId xmlns:a16="http://schemas.microsoft.com/office/drawing/2014/main" id="{9E530696-B861-F74C-832F-AD0D95978F51}"/>
                    </a:ext>
                  </a:extLst>
                </p:cNvPr>
                <p:cNvSpPr txBox="1"/>
                <p:nvPr/>
              </p:nvSpPr>
              <p:spPr>
                <a:xfrm>
                  <a:off x="6780354" y="1311725"/>
                  <a:ext cx="1547531" cy="523220"/>
                </a:xfrm>
                <a:prstGeom prst="rect">
                  <a:avLst/>
                </a:prstGeom>
                <a:noFill/>
              </p:spPr>
              <p:txBody>
                <a:bodyPr wrap="square" rtlCol="0">
                  <a:spAutoFit/>
                </a:bodyPr>
                <a:lstStyle/>
                <a:p>
                  <a:pPr algn="ctr"/>
                  <a:r>
                    <a:rPr kumimoji="1" lang="en-US" altLang="ja-JP" sz="1400" dirty="0"/>
                    <a:t>Counter-Offer</a:t>
                  </a:r>
                  <a:endParaRPr kumimoji="1" lang="ja-JP" altLang="en-US" sz="1400"/>
                </a:p>
              </p:txBody>
            </p:sp>
            <p:sp>
              <p:nvSpPr>
                <p:cNvPr id="25" name="テキスト ボックス 24">
                  <a:extLst>
                    <a:ext uri="{FF2B5EF4-FFF2-40B4-BE49-F238E27FC236}">
                      <a16:creationId xmlns:a16="http://schemas.microsoft.com/office/drawing/2014/main" id="{01564DBC-B764-494A-B906-D12C14F7B980}"/>
                    </a:ext>
                  </a:extLst>
                </p:cNvPr>
                <p:cNvSpPr txBox="1"/>
                <p:nvPr/>
              </p:nvSpPr>
              <p:spPr>
                <a:xfrm>
                  <a:off x="6850633" y="1690242"/>
                  <a:ext cx="1434510" cy="523220"/>
                </a:xfrm>
                <a:prstGeom prst="rect">
                  <a:avLst/>
                </a:prstGeom>
                <a:noFill/>
              </p:spPr>
              <p:txBody>
                <a:bodyPr wrap="square" rtlCol="0">
                  <a:spAutoFit/>
                </a:bodyPr>
                <a:lstStyle/>
                <a:p>
                  <a:pPr algn="ctr"/>
                  <a:r>
                    <a:rPr kumimoji="1" lang="en-US" altLang="ja-JP" sz="1400" dirty="0"/>
                    <a:t>Another Offer</a:t>
                  </a:r>
                  <a:endParaRPr kumimoji="1" lang="ja-JP" altLang="en-US" sz="1400"/>
                </a:p>
              </p:txBody>
            </p:sp>
          </p:grpSp>
          <p:sp>
            <p:nvSpPr>
              <p:cNvPr id="28" name="テキスト ボックス 27">
                <a:extLst>
                  <a:ext uri="{FF2B5EF4-FFF2-40B4-BE49-F238E27FC236}">
                    <a16:creationId xmlns:a16="http://schemas.microsoft.com/office/drawing/2014/main" id="{C62CCF51-056C-314C-BF81-562584ED8136}"/>
                  </a:ext>
                </a:extLst>
              </p:cNvPr>
              <p:cNvSpPr txBox="1"/>
              <p:nvPr/>
            </p:nvSpPr>
            <p:spPr>
              <a:xfrm>
                <a:off x="6937937" y="801021"/>
                <a:ext cx="1077768" cy="279797"/>
              </a:xfrm>
              <a:prstGeom prst="rect">
                <a:avLst/>
              </a:prstGeom>
              <a:solidFill>
                <a:srgbClr val="E4E4E4"/>
              </a:solidFill>
            </p:spPr>
            <p:txBody>
              <a:bodyPr wrap="square" rtlCol="0">
                <a:spAutoFit/>
              </a:bodyPr>
              <a:lstStyle/>
              <a:p>
                <a:pPr algn="ctr"/>
                <a:r>
                  <a:rPr kumimoji="1" lang="ja-JP" altLang="en-US" sz="1400"/>
                  <a:t>トリグラム</a:t>
                </a:r>
              </a:p>
            </p:txBody>
          </p:sp>
        </p:grpSp>
        <p:sp>
          <p:nvSpPr>
            <p:cNvPr id="31" name="角丸四角形 30">
              <a:extLst>
                <a:ext uri="{FF2B5EF4-FFF2-40B4-BE49-F238E27FC236}">
                  <a16:creationId xmlns:a16="http://schemas.microsoft.com/office/drawing/2014/main" id="{66539B21-C4D7-6A4B-A0CA-A0876063FE51}"/>
                </a:ext>
              </a:extLst>
            </p:cNvPr>
            <p:cNvSpPr/>
            <p:nvPr/>
          </p:nvSpPr>
          <p:spPr>
            <a:xfrm>
              <a:off x="6809873" y="1815887"/>
              <a:ext cx="1352389" cy="530312"/>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B7C296A5-4484-4145-8160-355DBC5341C6}"/>
                </a:ext>
              </a:extLst>
            </p:cNvPr>
            <p:cNvSpPr txBox="1"/>
            <p:nvPr/>
          </p:nvSpPr>
          <p:spPr>
            <a:xfrm>
              <a:off x="6958759" y="2166993"/>
              <a:ext cx="1077768" cy="307777"/>
            </a:xfrm>
            <a:prstGeom prst="rect">
              <a:avLst/>
            </a:prstGeom>
            <a:solidFill>
              <a:srgbClr val="E4E4E4"/>
            </a:solidFill>
          </p:spPr>
          <p:txBody>
            <a:bodyPr wrap="square" rtlCol="0">
              <a:spAutoFit/>
            </a:bodyPr>
            <a:lstStyle/>
            <a:p>
              <a:pPr algn="ctr"/>
              <a:r>
                <a:rPr kumimoji="1" lang="ja-JP" altLang="en-US" sz="1400"/>
                <a:t>ユニグラム</a:t>
              </a:r>
            </a:p>
          </p:txBody>
        </p:sp>
      </p:grpSp>
    </p:spTree>
    <p:extLst>
      <p:ext uri="{BB962C8B-B14F-4D97-AF65-F5344CB8AC3E}">
        <p14:creationId xmlns:p14="http://schemas.microsoft.com/office/powerpoint/2010/main" val="608431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1EDD9E-3775-DA46-85EB-EB324FA0E18B}"/>
              </a:ext>
            </a:extLst>
          </p:cNvPr>
          <p:cNvSpPr>
            <a:spLocks noGrp="1"/>
          </p:cNvSpPr>
          <p:nvPr>
            <p:ph type="title"/>
          </p:nvPr>
        </p:nvSpPr>
        <p:spPr/>
        <p:txBody>
          <a:bodyPr/>
          <a:lstStyle/>
          <a:p>
            <a:r>
              <a:rPr kumimoji="1" lang="ja-JP" altLang="en-US"/>
              <a:t>文献紹介</a:t>
            </a:r>
          </a:p>
        </p:txBody>
      </p:sp>
      <p:sp>
        <p:nvSpPr>
          <p:cNvPr id="3" name="コンテンツ プレースホルダー 2">
            <a:extLst>
              <a:ext uri="{FF2B5EF4-FFF2-40B4-BE49-F238E27FC236}">
                <a16:creationId xmlns:a16="http://schemas.microsoft.com/office/drawing/2014/main" id="{0D2F620B-3E10-AD46-B6CF-A30DFCA97C27}"/>
              </a:ext>
            </a:extLst>
          </p:cNvPr>
          <p:cNvSpPr>
            <a:spLocks noGrp="1"/>
          </p:cNvSpPr>
          <p:nvPr>
            <p:ph idx="1"/>
          </p:nvPr>
        </p:nvSpPr>
        <p:spPr/>
        <p:txBody>
          <a:bodyPr/>
          <a:lstStyle/>
          <a:p>
            <a:r>
              <a:rPr lang="ja-JP" altLang="en-US"/>
              <a:t>ランダムで相手の戦略を推測する手法と比較してすると推定精度は高くなった</a:t>
            </a:r>
            <a:r>
              <a:rPr lang="en-US" altLang="ja-JP" dirty="0"/>
              <a:t>(</a:t>
            </a:r>
            <a:r>
              <a:rPr lang="ja-JP" altLang="en-US"/>
              <a:t>最大で</a:t>
            </a:r>
            <a:r>
              <a:rPr lang="en-US" altLang="ja-JP" dirty="0"/>
              <a:t>30</a:t>
            </a:r>
            <a:r>
              <a:rPr lang="ja-JP" altLang="en-US"/>
              <a:t>％以上</a:t>
            </a:r>
            <a:r>
              <a:rPr lang="en-US" altLang="ja-JP" dirty="0"/>
              <a:t>)</a:t>
            </a:r>
          </a:p>
          <a:p>
            <a:r>
              <a:rPr lang="en-US" altLang="ja-JP" dirty="0"/>
              <a:t>Aggressive</a:t>
            </a:r>
            <a:r>
              <a:rPr lang="ja-JP" altLang="en-US"/>
              <a:t>な戦略は人間の効用が高くなる</a:t>
            </a:r>
            <a:endParaRPr lang="en-US" altLang="ja-JP" dirty="0"/>
          </a:p>
          <a:p>
            <a:pPr marL="0" indent="0">
              <a:buNone/>
            </a:pPr>
            <a:endParaRPr lang="en" altLang="ja-JP" dirty="0"/>
          </a:p>
        </p:txBody>
      </p:sp>
      <p:sp>
        <p:nvSpPr>
          <p:cNvPr id="4" name="日付プレースホルダー 3">
            <a:extLst>
              <a:ext uri="{FF2B5EF4-FFF2-40B4-BE49-F238E27FC236}">
                <a16:creationId xmlns:a16="http://schemas.microsoft.com/office/drawing/2014/main" id="{8F54575E-3469-8A4E-9CE3-059E60A5C787}"/>
              </a:ext>
            </a:extLst>
          </p:cNvPr>
          <p:cNvSpPr>
            <a:spLocks noGrp="1"/>
          </p:cNvSpPr>
          <p:nvPr>
            <p:ph type="dt" sz="half" idx="10"/>
          </p:nvPr>
        </p:nvSpPr>
        <p:spPr/>
        <p:txBody>
          <a:bodyPr/>
          <a:lstStyle/>
          <a:p>
            <a:fld id="{0E319D21-057F-064D-89CA-320B4D61F19F}" type="datetime1">
              <a:rPr kumimoji="1" lang="ja-JP" altLang="en-US" smtClean="0"/>
              <a:t>2020/5/22</a:t>
            </a:fld>
            <a:endParaRPr kumimoji="1" lang="ja-JP" altLang="en-US"/>
          </a:p>
        </p:txBody>
      </p:sp>
      <p:sp>
        <p:nvSpPr>
          <p:cNvPr id="5" name="フッター プレースホルダー 4">
            <a:extLst>
              <a:ext uri="{FF2B5EF4-FFF2-40B4-BE49-F238E27FC236}">
                <a16:creationId xmlns:a16="http://schemas.microsoft.com/office/drawing/2014/main" id="{E67E791C-67E3-EA40-9EC7-CA0E8F7AF2A1}"/>
              </a:ext>
            </a:extLst>
          </p:cNvPr>
          <p:cNvSpPr>
            <a:spLocks noGrp="1"/>
          </p:cNvSpPr>
          <p:nvPr>
            <p:ph type="ftr" sz="quarter" idx="11"/>
          </p:nvPr>
        </p:nvSpPr>
        <p:spPr/>
        <p:txBody>
          <a:bodyPr/>
          <a:lstStyle/>
          <a:p>
            <a:r>
              <a:rPr kumimoji="1" lang="ja-JP" altLang="en-US"/>
              <a:t>文献講読</a:t>
            </a:r>
          </a:p>
        </p:txBody>
      </p:sp>
      <p:sp>
        <p:nvSpPr>
          <p:cNvPr id="6" name="スライド番号プレースホルダー 5">
            <a:extLst>
              <a:ext uri="{FF2B5EF4-FFF2-40B4-BE49-F238E27FC236}">
                <a16:creationId xmlns:a16="http://schemas.microsoft.com/office/drawing/2014/main" id="{90A7CC4C-56FC-9A46-9AB3-8E35183C11C4}"/>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F2154077-5D2B-CE4A-8479-66735FFEB4B8}"/>
              </a:ext>
            </a:extLst>
          </p:cNvPr>
          <p:cNvSpPr>
            <a:spLocks noGrp="1"/>
          </p:cNvSpPr>
          <p:nvPr>
            <p:ph type="body" sz="quarter" idx="13"/>
          </p:nvPr>
        </p:nvSpPr>
        <p:spPr/>
        <p:txBody>
          <a:bodyPr/>
          <a:lstStyle/>
          <a:p>
            <a:r>
              <a:rPr lang="en-US" altLang="ja-JP" dirty="0"/>
              <a:t>1</a:t>
            </a:r>
            <a:endParaRPr kumimoji="1" lang="ja-JP" altLang="en-US"/>
          </a:p>
        </p:txBody>
      </p:sp>
      <p:grpSp>
        <p:nvGrpSpPr>
          <p:cNvPr id="8" name="グループ化 7">
            <a:extLst>
              <a:ext uri="{FF2B5EF4-FFF2-40B4-BE49-F238E27FC236}">
                <a16:creationId xmlns:a16="http://schemas.microsoft.com/office/drawing/2014/main" id="{987516EF-F561-CA40-A8D0-6C25F2C42064}"/>
              </a:ext>
            </a:extLst>
          </p:cNvPr>
          <p:cNvGrpSpPr/>
          <p:nvPr/>
        </p:nvGrpSpPr>
        <p:grpSpPr>
          <a:xfrm>
            <a:off x="163626" y="1160115"/>
            <a:ext cx="3308779" cy="680876"/>
            <a:chOff x="163626" y="1160115"/>
            <a:chExt cx="3308779" cy="680876"/>
          </a:xfrm>
        </p:grpSpPr>
        <p:cxnSp>
          <p:nvCxnSpPr>
            <p:cNvPr id="9" name="直線コネクタ 8">
              <a:extLst>
                <a:ext uri="{FF2B5EF4-FFF2-40B4-BE49-F238E27FC236}">
                  <a16:creationId xmlns:a16="http://schemas.microsoft.com/office/drawing/2014/main" id="{DBCDA9E6-896D-CA44-ACED-B78D9FC447A6}"/>
                </a:ext>
              </a:extLst>
            </p:cNvPr>
            <p:cNvCxnSpPr>
              <a:cxnSpLocks/>
            </p:cNvCxnSpPr>
            <p:nvPr userDrawn="1"/>
          </p:nvCxnSpPr>
          <p:spPr>
            <a:xfrm>
              <a:off x="163626" y="1699846"/>
              <a:ext cx="330877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AA491752-698A-3E49-A220-FDC4C8EA637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08CA7095-CD7D-6A4A-A90B-8F7DEBC3AECE}"/>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Demonstration</a:t>
            </a:r>
            <a:endParaRPr lang="ja-JP" altLang="en-US"/>
          </a:p>
        </p:txBody>
      </p:sp>
      <p:pic>
        <p:nvPicPr>
          <p:cNvPr id="34" name="図 33" descr="スクリーンショットの画面&#10;&#10;自動的に生成された説明">
            <a:extLst>
              <a:ext uri="{FF2B5EF4-FFF2-40B4-BE49-F238E27FC236}">
                <a16:creationId xmlns:a16="http://schemas.microsoft.com/office/drawing/2014/main" id="{450AAD30-CD58-6147-8E83-DB29C30F733F}"/>
              </a:ext>
            </a:extLst>
          </p:cNvPr>
          <p:cNvPicPr>
            <a:picLocks noChangeAspect="1"/>
          </p:cNvPicPr>
          <p:nvPr/>
        </p:nvPicPr>
        <p:blipFill>
          <a:blip r:embed="rId4"/>
          <a:stretch>
            <a:fillRect/>
          </a:stretch>
        </p:blipFill>
        <p:spPr>
          <a:xfrm>
            <a:off x="560752" y="3568915"/>
            <a:ext cx="8128000" cy="2768600"/>
          </a:xfrm>
          <a:prstGeom prst="rect">
            <a:avLst/>
          </a:prstGeom>
        </p:spPr>
      </p:pic>
    </p:spTree>
    <p:extLst>
      <p:ext uri="{BB962C8B-B14F-4D97-AF65-F5344CB8AC3E}">
        <p14:creationId xmlns:p14="http://schemas.microsoft.com/office/powerpoint/2010/main" val="2461810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1EDD9E-3775-DA46-85EB-EB324FA0E18B}"/>
              </a:ext>
            </a:extLst>
          </p:cNvPr>
          <p:cNvSpPr>
            <a:spLocks noGrp="1"/>
          </p:cNvSpPr>
          <p:nvPr>
            <p:ph type="title"/>
          </p:nvPr>
        </p:nvSpPr>
        <p:spPr/>
        <p:txBody>
          <a:bodyPr/>
          <a:lstStyle/>
          <a:p>
            <a:r>
              <a:rPr kumimoji="1" lang="ja-JP" altLang="en-US"/>
              <a:t>予備スライド</a:t>
            </a:r>
          </a:p>
        </p:txBody>
      </p:sp>
      <p:pic>
        <p:nvPicPr>
          <p:cNvPr id="34" name="コンテンツ プレースホルダー 33" descr="スクリーンショットの画面&#10;&#10;自動的に生成された説明">
            <a:extLst>
              <a:ext uri="{FF2B5EF4-FFF2-40B4-BE49-F238E27FC236}">
                <a16:creationId xmlns:a16="http://schemas.microsoft.com/office/drawing/2014/main" id="{E64C79AD-EE8E-8343-94D0-767F665DFC65}"/>
              </a:ext>
            </a:extLst>
          </p:cNvPr>
          <p:cNvPicPr>
            <a:picLocks noGrp="1" noChangeAspect="1"/>
          </p:cNvPicPr>
          <p:nvPr>
            <p:ph idx="1"/>
          </p:nvPr>
        </p:nvPicPr>
        <p:blipFill>
          <a:blip r:embed="rId2"/>
          <a:stretch>
            <a:fillRect/>
          </a:stretch>
        </p:blipFill>
        <p:spPr>
          <a:xfrm>
            <a:off x="1866223" y="1821616"/>
            <a:ext cx="5432335" cy="4715668"/>
          </a:xfrm>
        </p:spPr>
      </p:pic>
      <p:sp>
        <p:nvSpPr>
          <p:cNvPr id="4" name="日付プレースホルダー 3">
            <a:extLst>
              <a:ext uri="{FF2B5EF4-FFF2-40B4-BE49-F238E27FC236}">
                <a16:creationId xmlns:a16="http://schemas.microsoft.com/office/drawing/2014/main" id="{8F54575E-3469-8A4E-9CE3-059E60A5C787}"/>
              </a:ext>
            </a:extLst>
          </p:cNvPr>
          <p:cNvSpPr>
            <a:spLocks noGrp="1"/>
          </p:cNvSpPr>
          <p:nvPr>
            <p:ph type="dt" sz="half" idx="10"/>
          </p:nvPr>
        </p:nvSpPr>
        <p:spPr/>
        <p:txBody>
          <a:bodyPr/>
          <a:lstStyle/>
          <a:p>
            <a:fld id="{7957E591-437E-1443-BF96-A97220AEAF0C}" type="datetime1">
              <a:rPr kumimoji="1" lang="ja-JP" altLang="en-US" smtClean="0"/>
              <a:t>2020/5/22</a:t>
            </a:fld>
            <a:endParaRPr kumimoji="1" lang="ja-JP" altLang="en-US"/>
          </a:p>
        </p:txBody>
      </p:sp>
      <p:sp>
        <p:nvSpPr>
          <p:cNvPr id="5" name="フッター プレースホルダー 4">
            <a:extLst>
              <a:ext uri="{FF2B5EF4-FFF2-40B4-BE49-F238E27FC236}">
                <a16:creationId xmlns:a16="http://schemas.microsoft.com/office/drawing/2014/main" id="{E67E791C-67E3-EA40-9EC7-CA0E8F7AF2A1}"/>
              </a:ext>
            </a:extLst>
          </p:cNvPr>
          <p:cNvSpPr>
            <a:spLocks noGrp="1"/>
          </p:cNvSpPr>
          <p:nvPr>
            <p:ph type="ftr" sz="quarter" idx="11"/>
          </p:nvPr>
        </p:nvSpPr>
        <p:spPr/>
        <p:txBody>
          <a:bodyPr/>
          <a:lstStyle/>
          <a:p>
            <a:r>
              <a:rPr kumimoji="1" lang="ja-JP" altLang="en-US"/>
              <a:t>文献講読</a:t>
            </a:r>
          </a:p>
        </p:txBody>
      </p:sp>
      <p:sp>
        <p:nvSpPr>
          <p:cNvPr id="6" name="スライド番号プレースホルダー 5">
            <a:extLst>
              <a:ext uri="{FF2B5EF4-FFF2-40B4-BE49-F238E27FC236}">
                <a16:creationId xmlns:a16="http://schemas.microsoft.com/office/drawing/2014/main" id="{90A7CC4C-56FC-9A46-9AB3-8E35183C11C4}"/>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F2154077-5D2B-CE4A-8479-66735FFEB4B8}"/>
              </a:ext>
            </a:extLst>
          </p:cNvPr>
          <p:cNvSpPr>
            <a:spLocks noGrp="1"/>
          </p:cNvSpPr>
          <p:nvPr>
            <p:ph type="body" sz="quarter" idx="13"/>
          </p:nvPr>
        </p:nvSpPr>
        <p:spPr/>
        <p:txBody>
          <a:bodyPr/>
          <a:lstStyle/>
          <a:p>
            <a:r>
              <a:rPr lang="en-US" altLang="ja-JP" dirty="0"/>
              <a:t>0</a:t>
            </a:r>
            <a:endParaRPr kumimoji="1" lang="ja-JP" altLang="en-US"/>
          </a:p>
        </p:txBody>
      </p:sp>
      <p:grpSp>
        <p:nvGrpSpPr>
          <p:cNvPr id="8" name="グループ化 7">
            <a:extLst>
              <a:ext uri="{FF2B5EF4-FFF2-40B4-BE49-F238E27FC236}">
                <a16:creationId xmlns:a16="http://schemas.microsoft.com/office/drawing/2014/main" id="{987516EF-F561-CA40-A8D0-6C25F2C42064}"/>
              </a:ext>
            </a:extLst>
          </p:cNvPr>
          <p:cNvGrpSpPr/>
          <p:nvPr/>
        </p:nvGrpSpPr>
        <p:grpSpPr>
          <a:xfrm>
            <a:off x="163626" y="1160115"/>
            <a:ext cx="3158308" cy="680876"/>
            <a:chOff x="163626" y="1160115"/>
            <a:chExt cx="3158308" cy="680876"/>
          </a:xfrm>
        </p:grpSpPr>
        <p:cxnSp>
          <p:nvCxnSpPr>
            <p:cNvPr id="9" name="直線コネクタ 8">
              <a:extLst>
                <a:ext uri="{FF2B5EF4-FFF2-40B4-BE49-F238E27FC236}">
                  <a16:creationId xmlns:a16="http://schemas.microsoft.com/office/drawing/2014/main" id="{DBCDA9E6-896D-CA44-ACED-B78D9FC447A6}"/>
                </a:ext>
              </a:extLst>
            </p:cNvPr>
            <p:cNvCxnSpPr>
              <a:cxnSpLocks/>
            </p:cNvCxnSpPr>
            <p:nvPr userDrawn="1"/>
          </p:nvCxnSpPr>
          <p:spPr>
            <a:xfrm>
              <a:off x="163626" y="1699846"/>
              <a:ext cx="315830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AA491752-698A-3E49-A220-FDC4C8EA637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08CA7095-CD7D-6A4A-A90B-8F7DEBC3AECE}"/>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データスキーマ</a:t>
            </a:r>
          </a:p>
        </p:txBody>
      </p:sp>
    </p:spTree>
    <p:extLst>
      <p:ext uri="{BB962C8B-B14F-4D97-AF65-F5344CB8AC3E}">
        <p14:creationId xmlns:p14="http://schemas.microsoft.com/office/powerpoint/2010/main" val="3231001027"/>
      </p:ext>
    </p:extLst>
  </p:cSld>
  <p:clrMapOvr>
    <a:masterClrMapping/>
  </p:clrMapOvr>
</p:sld>
</file>

<file path=ppt/theme/theme1.xml><?xml version="1.0" encoding="utf-8"?>
<a:theme xmlns:a="http://schemas.openxmlformats.org/drawingml/2006/main" name="Office テーマ">
  <a:themeElements>
    <a:clrScheme name="ユーザー定義 1">
      <a:dk1>
        <a:srgbClr val="1D1D1D"/>
      </a:dk1>
      <a:lt1>
        <a:srgbClr val="E4E4E4"/>
      </a:lt1>
      <a:dk2>
        <a:srgbClr val="44546A"/>
      </a:dk2>
      <a:lt2>
        <a:srgbClr val="E7E6E6"/>
      </a:lt2>
      <a:accent1>
        <a:srgbClr val="3090C4"/>
      </a:accent1>
      <a:accent2>
        <a:srgbClr val="D68126"/>
      </a:accent2>
      <a:accent3>
        <a:srgbClr val="42A544"/>
      </a:accent3>
      <a:accent4>
        <a:srgbClr val="FFC000"/>
      </a:accent4>
      <a:accent5>
        <a:srgbClr val="5B9B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898</TotalTime>
  <Words>207</Words>
  <Application>Microsoft Macintosh PowerPoint</Application>
  <PresentationFormat>画面に合わせる (4:3)</PresentationFormat>
  <Paragraphs>52</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Hiragino Kaku Gothic Pro W3</vt:lpstr>
      <vt:lpstr>Hiragino Kaku Gothic ProN W3</vt:lpstr>
      <vt:lpstr>Hiragino Sans W4</vt:lpstr>
      <vt:lpstr>游ゴシック</vt:lpstr>
      <vt:lpstr>Arial</vt:lpstr>
      <vt:lpstr>Office テーマ</vt:lpstr>
      <vt:lpstr>A Supervised Topic Model Approach to Learning Effective Styles within Human-Agent Negotiation</vt:lpstr>
      <vt:lpstr>文献紹介</vt:lpstr>
      <vt:lpstr>文献紹介</vt:lpstr>
      <vt:lpstr>文献紹介</vt:lpstr>
      <vt:lpstr>予備スライド</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51</cp:revision>
  <dcterms:created xsi:type="dcterms:W3CDTF">2020-04-19T09:33:40Z</dcterms:created>
  <dcterms:modified xsi:type="dcterms:W3CDTF">2020-05-22T04:49:20Z</dcterms:modified>
</cp:coreProperties>
</file>