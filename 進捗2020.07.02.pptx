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56" r:id="rId2"/>
    <p:sldId id="462" r:id="rId3"/>
    <p:sldId id="463" r:id="rId4"/>
    <p:sldId id="393" r:id="rId5"/>
    <p:sldId id="455" r:id="rId6"/>
    <p:sldId id="464" r:id="rId7"/>
    <p:sldId id="465" r:id="rId8"/>
    <p:sldId id="452" r:id="rId9"/>
    <p:sldId id="456" r:id="rId10"/>
    <p:sldId id="466" r:id="rId11"/>
    <p:sldId id="467" r:id="rId12"/>
    <p:sldId id="468" r:id="rId13"/>
    <p:sldId id="460" r:id="rId14"/>
    <p:sldId id="454" r:id="rId15"/>
    <p:sldId id="451" r:id="rId16"/>
    <p:sldId id="453" r:id="rId17"/>
    <p:sldId id="457" r:id="rId18"/>
    <p:sldId id="25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B37F"/>
    <a:srgbClr val="ABCFDB"/>
    <a:srgbClr val="B2D6E4"/>
    <a:srgbClr val="ECCA5E"/>
    <a:srgbClr val="E4C35B"/>
    <a:srgbClr val="ABD7D1"/>
    <a:srgbClr val="E0AC7B"/>
    <a:srgbClr val="B8E6E0"/>
    <a:srgbClr val="FFDA66"/>
    <a:srgbClr val="FFC6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18"/>
    <p:restoredTop sz="94624"/>
  </p:normalViewPr>
  <p:slideViewPr>
    <p:cSldViewPr snapToGrid="0" snapToObjects="1" showGuides="1">
      <p:cViewPr varScale="1">
        <p:scale>
          <a:sx n="89" d="100"/>
          <a:sy n="89" d="100"/>
        </p:scale>
        <p:origin x="192" y="624"/>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2020/7/2</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DC2C275-3977-4849-BBDE-F9BC93110E65}" type="datetime1">
              <a:rPr kumimoji="1" lang="ja-JP" altLang="en-US" smtClean="0"/>
              <a:t>2020/7/2</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953EA1E6-C3B8-DE4D-A346-09EF080BA12A}" type="datetime1">
              <a:rPr kumimoji="1" lang="ja-JP" altLang="en-US" smtClean="0"/>
              <a:t>2020/7/2</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24B158CC-F5BE-2345-99BA-C49B60654C2B}" type="datetime1">
              <a:rPr kumimoji="1" lang="ja-JP" altLang="en-US" smtClean="0"/>
              <a:t>2020/7/2</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D99470E-4BC5-1945-9506-A510EA67C3DE}" type="datetime1">
              <a:rPr kumimoji="1" lang="ja-JP" altLang="en-US" smtClean="0"/>
              <a:t>2020/7/2</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484468A3-0919-F54E-B59A-E9ED9FABFE93}" type="datetime1">
              <a:rPr kumimoji="1" lang="ja-JP" altLang="en-US" smtClean="0"/>
              <a:t>2020/7/2</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09F3555-E93B-3A4D-AF4E-8776BA7B7879}" type="datetime1">
              <a:rPr kumimoji="1" lang="ja-JP" altLang="en-US" smtClean="0"/>
              <a:t>2020/7/2</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41D34DB-DCA4-3E46-8E9A-438514557B03}" type="datetime1">
              <a:rPr kumimoji="1" lang="ja-JP" altLang="en-US" smtClean="0"/>
              <a:t>2020/7/2</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29C2B0B-3EB1-7D48-BCB2-B34EB8C22E6E}" type="datetime1">
              <a:rPr kumimoji="1" lang="ja-JP" altLang="en-US" smtClean="0"/>
              <a:t>2020/7/2</a:t>
            </a:fld>
            <a:endParaRPr kumimoji="1" lang="ja-JP" altLang="en-US"/>
          </a:p>
        </p:txBody>
      </p:sp>
      <p:sp>
        <p:nvSpPr>
          <p:cNvPr id="8" name="Footer Placeholder 7"/>
          <p:cNvSpPr>
            <a:spLocks noGrp="1"/>
          </p:cNvSpPr>
          <p:nvPr>
            <p:ph type="ftr" sz="quarter" idx="11"/>
          </p:nvPr>
        </p:nvSpPr>
        <p:spPr/>
        <p:txBody>
          <a:bodyPr/>
          <a:lstStyle/>
          <a:p>
            <a:r>
              <a:rPr kumimoji="1" lang="ja-JP" altLang="en-US"/>
              <a:t>進捗報告</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CE9526-C6B6-3C4B-B48C-57A5608CC1DE}" type="datetime1">
              <a:rPr kumimoji="1" lang="ja-JP" altLang="en-US" smtClean="0"/>
              <a:t>2020/7/2</a:t>
            </a:fld>
            <a:endParaRPr kumimoji="1" lang="ja-JP" altLang="en-US"/>
          </a:p>
        </p:txBody>
      </p:sp>
      <p:sp>
        <p:nvSpPr>
          <p:cNvPr id="4" name="Footer Placeholder 3"/>
          <p:cNvSpPr>
            <a:spLocks noGrp="1"/>
          </p:cNvSpPr>
          <p:nvPr>
            <p:ph type="ftr" sz="quarter" idx="11"/>
          </p:nvPr>
        </p:nvSpPr>
        <p:spPr/>
        <p:txBody>
          <a:bodyPr/>
          <a:lstStyle/>
          <a:p>
            <a:r>
              <a:rPr kumimoji="1" lang="ja-JP" altLang="en-US"/>
              <a:t>進捗報告</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E972-7F9F-8545-A12B-9CBEE476963D}" type="datetime1">
              <a:rPr kumimoji="1" lang="ja-JP" altLang="en-US" smtClean="0"/>
              <a:t>2020/7/2</a:t>
            </a:fld>
            <a:endParaRPr kumimoji="1" lang="ja-JP" altLang="en-US"/>
          </a:p>
        </p:txBody>
      </p:sp>
      <p:sp>
        <p:nvSpPr>
          <p:cNvPr id="3" name="Footer Placeholder 2"/>
          <p:cNvSpPr>
            <a:spLocks noGrp="1"/>
          </p:cNvSpPr>
          <p:nvPr>
            <p:ph type="ftr" sz="quarter" idx="11"/>
          </p:nvPr>
        </p:nvSpPr>
        <p:spPr/>
        <p:txBody>
          <a:bodyPr/>
          <a:lstStyle/>
          <a:p>
            <a:r>
              <a:rPr kumimoji="1" lang="ja-JP" altLang="en-US"/>
              <a:t>進捗報告</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215014-30FE-CC43-81CB-CE71B2D66247}" type="datetime1">
              <a:rPr kumimoji="1" lang="ja-JP" altLang="en-US" smtClean="0"/>
              <a:t>2020/7/2</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0862DB-EF94-E646-B694-C43CC85D160D}" type="datetime1">
              <a:rPr kumimoji="1" lang="ja-JP" altLang="en-US" smtClean="0"/>
              <a:t>2020/7/2</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DB0722B-D148-BE44-BF67-6510CE43B9F9}" type="datetime1">
              <a:rPr kumimoji="1" lang="ja-JP" altLang="en-US" smtClean="0"/>
              <a:t>2020/7/2</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608DE0-8C54-1A48-96D9-0CB1F61C3B86}" type="datetime1">
              <a:rPr kumimoji="1" lang="ja-JP" altLang="en-US" smtClean="0"/>
              <a:t>2020/7/2</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848FC433-A65A-5E4B-A542-B4358B331384}" type="datetime1">
              <a:rPr lang="ja-JP" altLang="en-US" smtClean="0"/>
              <a:t>2020/7/2</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進捗報告</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6.emf"/><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6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7.emf"/><Relationship Id="rId1" Type="http://schemas.openxmlformats.org/officeDocument/2006/relationships/slideLayout" Target="../slideLayouts/slideLayout3.xml"/><Relationship Id="rId6" Type="http://schemas.openxmlformats.org/officeDocument/2006/relationships/image" Target="../media/image110.png"/><Relationship Id="rId5"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1.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5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lstStyle/>
          <a:p>
            <a:r>
              <a:rPr kumimoji="1" lang="ja-JP" altLang="en-US"/>
              <a:t>進捗報告</a:t>
            </a:r>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r>
              <a:rPr kumimoji="1" lang="ja-JP" altLang="en-US"/>
              <a:t>松下昌悟</a:t>
            </a:r>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81355CFD-0C13-B64F-8475-2B9C4937D230}"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9791"/>
              </a:xfrm>
            </p:spPr>
            <p:txBody>
              <a:bodyPr/>
              <a:lstStyle/>
              <a:p>
                <a:r>
                  <a:rPr lang="en-US" altLang="ja-JP" dirty="0"/>
                  <a:t>BIG5</a:t>
                </a:r>
                <a:r>
                  <a:rPr lang="ja-JP" altLang="en-US"/>
                  <a:t>は</a:t>
                </a:r>
                <a:r>
                  <a:rPr lang="en-US" altLang="ja-JP" dirty="0"/>
                  <a:t>Offer</a:t>
                </a:r>
                <a:r>
                  <a:rPr lang="ja-JP" altLang="en-US"/>
                  <a:t>とそれ以外の行動</a:t>
                </a:r>
                <a:br>
                  <a:rPr lang="en-US" altLang="ja-JP" dirty="0"/>
                </a:br>
                <a:r>
                  <a:rPr lang="ja-JP" altLang="en-US"/>
                  <a:t>どちらも考慮する</a:t>
                </a:r>
                <a:endParaRPr lang="en-US" altLang="ja-JP" dirty="0"/>
              </a:p>
              <a:p>
                <a:r>
                  <a:rPr lang="ja-JP" altLang="en-US"/>
                  <a:t>こっちの協調性は行動に対する</a:t>
                </a:r>
                <a:br>
                  <a:rPr lang="en-US" altLang="ja-JP" dirty="0"/>
                </a:br>
                <a:r>
                  <a:rPr lang="ja-JP" altLang="en-US"/>
                  <a:t>感受性を用いる</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3949791"/>
              </a:xfrm>
              <a:blipFill>
                <a:blip r:embed="rId2"/>
                <a:stretch>
                  <a:fillRect t="-2244"/>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2753194" cy="680876"/>
            <a:chOff x="163626" y="1160115"/>
            <a:chExt cx="275319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mc:AlternateContent xmlns:mc="http://schemas.openxmlformats.org/markup-compatibility/2006" xmlns:a14="http://schemas.microsoft.com/office/drawing/2010/main">
        <mc:Choice Requires="a14">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108696" r="-102041" b="-517391"/>
                          </a:stretch>
                        </a:blipFill>
                      </a:tcPr>
                    </a:tc>
                    <a:tc>
                      <a:txBody>
                        <a:bodyPr/>
                        <a:lstStyle/>
                        <a:p>
                          <a:endParaRPr lang="ja-JP"/>
                        </a:p>
                      </a:txBody>
                      <a:tcPr marL="75570" marR="75570">
                        <a:blipFill>
                          <a:blip r:embed="rId6"/>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200000" r="-102041" b="-395833"/>
                          </a:stretch>
                        </a:blipFill>
                      </a:tcPr>
                    </a:tc>
                    <a:tc>
                      <a:txBody>
                        <a:bodyPr/>
                        <a:lstStyle/>
                        <a:p>
                          <a:endParaRPr lang="ja-JP"/>
                        </a:p>
                      </a:txBody>
                      <a:tcPr marL="75570" marR="75570">
                        <a:blipFill>
                          <a:blip r:embed="rId6"/>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13043" r="-102041" b="-313043"/>
                          </a:stretch>
                        </a:blipFill>
                      </a:tcPr>
                    </a:tc>
                    <a:tc>
                      <a:txBody>
                        <a:bodyPr/>
                        <a:lstStyle/>
                        <a:p>
                          <a:endParaRPr lang="ja-JP"/>
                        </a:p>
                      </a:txBody>
                      <a:tcPr marL="75570" marR="75570">
                        <a:blipFill>
                          <a:blip r:embed="rId6"/>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95833" r="-102041" b="-200000"/>
                          </a:stretch>
                        </a:blipFill>
                      </a:tcPr>
                    </a:tc>
                    <a:tc>
                      <a:txBody>
                        <a:bodyPr/>
                        <a:lstStyle/>
                        <a:p>
                          <a:endParaRPr lang="ja-JP"/>
                        </a:p>
                      </a:txBody>
                      <a:tcPr marL="75570" marR="75570">
                        <a:blipFill>
                          <a:blip r:embed="rId6"/>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17391" r="-102041" b="-108696"/>
                          </a:stretch>
                        </a:blipFill>
                      </a:tcPr>
                    </a:tc>
                    <a:tc>
                      <a:txBody>
                        <a:bodyPr/>
                        <a:lstStyle/>
                        <a:p>
                          <a:endParaRPr lang="ja-JP"/>
                        </a:p>
                      </a:txBody>
                      <a:tcPr marL="75570" marR="75570">
                        <a:blipFill>
                          <a:blip r:embed="rId6"/>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91667" r="-102041" b="-4167"/>
                          </a:stretch>
                        </a:blipFill>
                      </a:tcPr>
                    </a:tc>
                    <a:tc>
                      <a:txBody>
                        <a:bodyPr/>
                        <a:lstStyle/>
                        <a:p>
                          <a:endParaRPr lang="ja-JP"/>
                        </a:p>
                      </a:txBody>
                      <a:tcPr marL="75570" marR="75570">
                        <a:blipFill>
                          <a:blip r:embed="rId6"/>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spTree>
    <p:extLst>
      <p:ext uri="{BB962C8B-B14F-4D97-AF65-F5344CB8AC3E}">
        <p14:creationId xmlns:p14="http://schemas.microsoft.com/office/powerpoint/2010/main" val="2601621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BIG5</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7779"/>
          </a:xfrm>
        </p:spPr>
        <p:txBody>
          <a:bodyPr/>
          <a:lstStyle/>
          <a:p>
            <a:r>
              <a:rPr lang="ja-JP" altLang="en-US"/>
              <a:t>神経症的傾向</a:t>
            </a:r>
            <a:endParaRPr lang="en-US" altLang="ja-JP" dirty="0"/>
          </a:p>
          <a:p>
            <a:pPr lvl="1"/>
            <a:r>
              <a:rPr lang="ja-JP" altLang="en-US"/>
              <a:t>ストレス耐性の高さ</a:t>
            </a:r>
          </a:p>
          <a:p>
            <a:r>
              <a:rPr lang="ja-JP" altLang="en-US"/>
              <a:t>外向性</a:t>
            </a:r>
            <a:endParaRPr lang="en-US" altLang="ja-JP" dirty="0"/>
          </a:p>
          <a:p>
            <a:pPr lvl="1"/>
            <a:r>
              <a:rPr lang="ja-JP" altLang="en-US"/>
              <a:t>社交性，積極性の高さ</a:t>
            </a:r>
          </a:p>
          <a:p>
            <a:r>
              <a:rPr lang="ja-JP" altLang="en-US"/>
              <a:t>経験への開放性</a:t>
            </a:r>
            <a:endParaRPr lang="en-US" altLang="ja-JP" dirty="0"/>
          </a:p>
          <a:p>
            <a:pPr lvl="1"/>
            <a:r>
              <a:rPr lang="ja-JP" altLang="en-US"/>
              <a:t>知的好奇心の強さ</a:t>
            </a:r>
          </a:p>
          <a:p>
            <a:r>
              <a:rPr lang="ja-JP" altLang="en-US"/>
              <a:t>誠実性</a:t>
            </a:r>
            <a:endParaRPr lang="en-US" altLang="ja-JP" dirty="0"/>
          </a:p>
          <a:p>
            <a:pPr lvl="1"/>
            <a:r>
              <a:rPr lang="ja-JP" altLang="en-US"/>
              <a:t>計画性の高さ・真面目さ</a:t>
            </a:r>
          </a:p>
          <a:p>
            <a:endParaRPr lang="ja-JP" altLang="en-US"/>
          </a:p>
          <a:p>
            <a:endParaRPr lang="ja-JP" altLang="en-US"/>
          </a:p>
          <a:p>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sp>
        <p:nvSpPr>
          <p:cNvPr id="18" name="テキスト プレースホルダー 12">
            <a:extLst>
              <a:ext uri="{FF2B5EF4-FFF2-40B4-BE49-F238E27FC236}">
                <a16:creationId xmlns:a16="http://schemas.microsoft.com/office/drawing/2014/main" id="{B1673F2D-B405-CB4D-8F59-80842B8ACB15}"/>
              </a:ext>
            </a:extLst>
          </p:cNvPr>
          <p:cNvSpPr txBox="1">
            <a:spLocks/>
          </p:cNvSpPr>
          <p:nvPr/>
        </p:nvSpPr>
        <p:spPr>
          <a:xfrm>
            <a:off x="404691" y="2876210"/>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sp>
        <p:nvSpPr>
          <p:cNvPr id="32" name="角丸四角形吹き出し 31">
            <a:extLst>
              <a:ext uri="{FF2B5EF4-FFF2-40B4-BE49-F238E27FC236}">
                <a16:creationId xmlns:a16="http://schemas.microsoft.com/office/drawing/2014/main" id="{F27DA7FE-B30A-5944-8380-F455330215A8}"/>
              </a:ext>
            </a:extLst>
          </p:cNvPr>
          <p:cNvSpPr/>
          <p:nvPr/>
        </p:nvSpPr>
        <p:spPr>
          <a:xfrm>
            <a:off x="1542599" y="5394770"/>
            <a:ext cx="4572451" cy="896345"/>
          </a:xfrm>
          <a:prstGeom prst="wedgeRoundRectCallout">
            <a:avLst>
              <a:gd name="adj1" fmla="val -55108"/>
              <a:gd name="adj2" fmla="val -3901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bg2"/>
                </a:solidFill>
              </a:rPr>
              <a:t>bid</a:t>
            </a:r>
            <a:r>
              <a:rPr kumimoji="1" lang="ja-JP" altLang="en-US">
                <a:solidFill>
                  <a:schemeClr val="bg2"/>
                </a:solidFill>
              </a:rPr>
              <a:t>の分散</a:t>
            </a:r>
            <a:r>
              <a:rPr kumimoji="1" lang="en-US" altLang="ja-JP" dirty="0">
                <a:solidFill>
                  <a:schemeClr val="bg2"/>
                </a:solidFill>
              </a:rPr>
              <a:t>(</a:t>
            </a:r>
            <a:r>
              <a:rPr kumimoji="1" lang="ja-JP" altLang="en-US">
                <a:solidFill>
                  <a:schemeClr val="bg2"/>
                </a:solidFill>
              </a:rPr>
              <a:t>計画性の高さ</a:t>
            </a:r>
            <a:r>
              <a:rPr kumimoji="1" lang="en-US" altLang="ja-JP" dirty="0">
                <a:solidFill>
                  <a:schemeClr val="bg2"/>
                </a:solidFill>
              </a:rPr>
              <a:t>)</a:t>
            </a:r>
          </a:p>
          <a:p>
            <a:r>
              <a:rPr kumimoji="1" lang="en-US" altLang="ja-JP" dirty="0">
                <a:solidFill>
                  <a:schemeClr val="bg2"/>
                </a:solidFill>
              </a:rPr>
              <a:t>- </a:t>
            </a:r>
            <a:r>
              <a:rPr kumimoji="1" lang="ja-JP" altLang="en-US">
                <a:solidFill>
                  <a:schemeClr val="bg2"/>
                </a:solidFill>
              </a:rPr>
              <a:t>選好に関して嘘をついた回数</a:t>
            </a:r>
            <a:r>
              <a:rPr kumimoji="1" lang="en-US" altLang="ja-JP" dirty="0">
                <a:solidFill>
                  <a:schemeClr val="bg2"/>
                </a:solidFill>
              </a:rPr>
              <a:t>(</a:t>
            </a:r>
            <a:r>
              <a:rPr kumimoji="1" lang="ja-JP" altLang="en-US">
                <a:solidFill>
                  <a:schemeClr val="bg2"/>
                </a:solidFill>
              </a:rPr>
              <a:t>真面目さ</a:t>
            </a:r>
            <a:r>
              <a:rPr kumimoji="1" lang="en-US" altLang="ja-JP" dirty="0">
                <a:solidFill>
                  <a:schemeClr val="bg2"/>
                </a:solidFill>
              </a:rPr>
              <a:t>)</a:t>
            </a:r>
            <a:endParaRPr kumimoji="1" lang="ja-JP" altLang="en-US">
              <a:solidFill>
                <a:schemeClr val="bg2"/>
              </a:solidFill>
            </a:endParaRPr>
          </a:p>
        </p:txBody>
      </p:sp>
      <p:sp>
        <p:nvSpPr>
          <p:cNvPr id="33" name="角丸四角形吹き出し 32">
            <a:extLst>
              <a:ext uri="{FF2B5EF4-FFF2-40B4-BE49-F238E27FC236}">
                <a16:creationId xmlns:a16="http://schemas.microsoft.com/office/drawing/2014/main" id="{ED39F5FF-EC58-6E4E-84CB-97EC3A835CDA}"/>
              </a:ext>
            </a:extLst>
          </p:cNvPr>
          <p:cNvSpPr/>
          <p:nvPr/>
        </p:nvSpPr>
        <p:spPr>
          <a:xfrm>
            <a:off x="4202611" y="3000841"/>
            <a:ext cx="2592890" cy="740781"/>
          </a:xfrm>
          <a:prstGeom prst="wedgeRoundRectCallout">
            <a:avLst>
              <a:gd name="adj1" fmla="val -56681"/>
              <a:gd name="adj2" fmla="val 1244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行動の頻度</a:t>
            </a:r>
            <a:r>
              <a:rPr kumimoji="1" lang="en-US" altLang="ja-JP" dirty="0">
                <a:solidFill>
                  <a:schemeClr val="bg2"/>
                </a:solidFill>
              </a:rPr>
              <a:t>(</a:t>
            </a:r>
            <a:r>
              <a:rPr kumimoji="1" lang="ja-JP" altLang="en-US">
                <a:solidFill>
                  <a:schemeClr val="bg2"/>
                </a:solidFill>
              </a:rPr>
              <a:t>社交性</a:t>
            </a:r>
            <a:r>
              <a:rPr kumimoji="1" lang="en-US" altLang="ja-JP" dirty="0">
                <a:solidFill>
                  <a:schemeClr val="bg2"/>
                </a:solidFill>
              </a:rPr>
              <a:t>)</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の値</a:t>
            </a:r>
            <a:r>
              <a:rPr kumimoji="1" lang="en-US" altLang="ja-JP" dirty="0">
                <a:solidFill>
                  <a:schemeClr val="bg2"/>
                </a:solidFill>
              </a:rPr>
              <a:t>(</a:t>
            </a:r>
            <a:r>
              <a:rPr kumimoji="1" lang="ja-JP" altLang="en-US">
                <a:solidFill>
                  <a:schemeClr val="bg2"/>
                </a:solidFill>
              </a:rPr>
              <a:t>積極性</a:t>
            </a:r>
            <a:r>
              <a:rPr kumimoji="1" lang="en-US" altLang="ja-JP" dirty="0">
                <a:solidFill>
                  <a:schemeClr val="bg2"/>
                </a:solidFill>
              </a:rPr>
              <a:t>)</a:t>
            </a:r>
            <a:endParaRPr kumimoji="1" lang="ja-JP" altLang="en-US">
              <a:solidFill>
                <a:schemeClr val="bg2"/>
              </a:solidFill>
            </a:endParaRPr>
          </a:p>
        </p:txBody>
      </p:sp>
      <p:sp>
        <p:nvSpPr>
          <p:cNvPr id="34" name="角丸四角形吹き出し 33">
            <a:extLst>
              <a:ext uri="{FF2B5EF4-FFF2-40B4-BE49-F238E27FC236}">
                <a16:creationId xmlns:a16="http://schemas.microsoft.com/office/drawing/2014/main" id="{8DE2AEC0-38A1-2148-9CF5-A38F7A433182}"/>
              </a:ext>
            </a:extLst>
          </p:cNvPr>
          <p:cNvSpPr/>
          <p:nvPr/>
        </p:nvSpPr>
        <p:spPr>
          <a:xfrm>
            <a:off x="3980454" y="1997304"/>
            <a:ext cx="3508365" cy="740781"/>
          </a:xfrm>
          <a:prstGeom prst="wedgeRoundRectCallout">
            <a:avLst>
              <a:gd name="adj1" fmla="val -56111"/>
              <a:gd name="adj2" fmla="val 20257"/>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a:t>
            </a:r>
            <a:r>
              <a:rPr kumimoji="1" lang="en-US" altLang="ja-JP" dirty="0">
                <a:solidFill>
                  <a:schemeClr val="bg2"/>
                </a:solidFill>
              </a:rPr>
              <a:t>(</a:t>
            </a:r>
            <a:r>
              <a:rPr kumimoji="1" lang="ja-JP" altLang="en-US">
                <a:solidFill>
                  <a:schemeClr val="bg2"/>
                </a:solidFill>
              </a:rPr>
              <a:t>主に感情</a:t>
            </a:r>
            <a:r>
              <a:rPr kumimoji="1" lang="en-US" altLang="ja-JP" dirty="0">
                <a:solidFill>
                  <a:schemeClr val="bg2"/>
                </a:solidFill>
              </a:rPr>
              <a:t>)</a:t>
            </a:r>
            <a:r>
              <a:rPr kumimoji="1" lang="ja-JP" altLang="en-US">
                <a:solidFill>
                  <a:schemeClr val="bg2"/>
                </a:solidFill>
              </a:rPr>
              <a:t>の分散の逆数</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な</a:t>
            </a:r>
            <a:r>
              <a:rPr kumimoji="1" lang="en-US" altLang="ja-JP" dirty="0">
                <a:solidFill>
                  <a:schemeClr val="bg2"/>
                </a:solidFill>
              </a:rPr>
              <a:t>Offer</a:t>
            </a:r>
            <a:r>
              <a:rPr kumimoji="1" lang="ja-JP" altLang="en-US">
                <a:solidFill>
                  <a:schemeClr val="bg2"/>
                </a:solidFill>
              </a:rPr>
              <a:t>に対する反応</a:t>
            </a:r>
          </a:p>
        </p:txBody>
      </p:sp>
      <p:sp>
        <p:nvSpPr>
          <p:cNvPr id="36" name="角丸四角形吹き出し 35">
            <a:extLst>
              <a:ext uri="{FF2B5EF4-FFF2-40B4-BE49-F238E27FC236}">
                <a16:creationId xmlns:a16="http://schemas.microsoft.com/office/drawing/2014/main" id="{FB75BBCD-2363-EF47-8BA3-B4253D5A03CC}"/>
              </a:ext>
            </a:extLst>
          </p:cNvPr>
          <p:cNvSpPr/>
          <p:nvPr/>
        </p:nvSpPr>
        <p:spPr>
          <a:xfrm>
            <a:off x="3622929" y="3952450"/>
            <a:ext cx="3553376" cy="896345"/>
          </a:xfrm>
          <a:prstGeom prst="wedgeRoundRectCallout">
            <a:avLst>
              <a:gd name="adj1" fmla="val -54851"/>
              <a:gd name="adj2" fmla="val -18354"/>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選好に関して質問してきた回数</a:t>
            </a:r>
            <a:endParaRPr kumimoji="1" lang="en-US" altLang="ja-JP" dirty="0">
              <a:solidFill>
                <a:schemeClr val="bg2"/>
              </a:solidFill>
            </a:endParaRPr>
          </a:p>
          <a:p>
            <a:r>
              <a:rPr kumimoji="1" lang="en-US" altLang="ja-JP" dirty="0">
                <a:solidFill>
                  <a:schemeClr val="bg2"/>
                </a:solidFill>
              </a:rPr>
              <a:t>+ bid</a:t>
            </a:r>
            <a:r>
              <a:rPr kumimoji="1" lang="ja-JP" altLang="en-US">
                <a:solidFill>
                  <a:schemeClr val="bg2"/>
                </a:solidFill>
              </a:rPr>
              <a:t>の動き</a:t>
            </a:r>
          </a:p>
        </p:txBody>
      </p:sp>
      <p:sp>
        <p:nvSpPr>
          <p:cNvPr id="26" name="テキスト プレースホルダー 12">
            <a:extLst>
              <a:ext uri="{FF2B5EF4-FFF2-40B4-BE49-F238E27FC236}">
                <a16:creationId xmlns:a16="http://schemas.microsoft.com/office/drawing/2014/main" id="{7B7F527F-C47B-3643-889D-282D604F7CC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p:grpSp>
        <p:nvGrpSpPr>
          <p:cNvPr id="20" name="グループ化 19">
            <a:extLst>
              <a:ext uri="{FF2B5EF4-FFF2-40B4-BE49-F238E27FC236}">
                <a16:creationId xmlns:a16="http://schemas.microsoft.com/office/drawing/2014/main" id="{26AA23F5-BBEE-F544-B142-BE2DCF18C8A3}"/>
              </a:ext>
            </a:extLst>
          </p:cNvPr>
          <p:cNvGrpSpPr/>
          <p:nvPr/>
        </p:nvGrpSpPr>
        <p:grpSpPr>
          <a:xfrm>
            <a:off x="163626" y="1160115"/>
            <a:ext cx="2753194" cy="680876"/>
            <a:chOff x="163626" y="1160115"/>
            <a:chExt cx="2753194" cy="680876"/>
          </a:xfrm>
        </p:grpSpPr>
        <p:cxnSp>
          <p:nvCxnSpPr>
            <p:cNvPr id="21" name="直線コネクタ 20">
              <a:extLst>
                <a:ext uri="{FF2B5EF4-FFF2-40B4-BE49-F238E27FC236}">
                  <a16:creationId xmlns:a16="http://schemas.microsoft.com/office/drawing/2014/main" id="{ED26CD64-B133-CA4D-BAE1-C5DA49DC7F85}"/>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E55432E9-1EBD-694B-AF0E-4BB224854BBE}"/>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597782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026409" cy="680876"/>
            <a:chOff x="163626" y="1160115"/>
            <a:chExt cx="4026409"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0264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普通カテゴリをベースとして</a:t>
            </a:r>
            <a:br>
              <a:rPr lang="en-US" altLang="ja-JP" dirty="0"/>
            </a:br>
            <a:r>
              <a:rPr lang="ja-JP" altLang="en-US"/>
              <a:t>他のカテゴリの度合いを考慮</a:t>
            </a:r>
            <a:endParaRPr lang="en-US" altLang="ja-JP" dirty="0"/>
          </a:p>
          <a:p>
            <a:pPr lvl="1"/>
            <a:r>
              <a:rPr lang="ja-JP" altLang="en-US"/>
              <a:t>各カテゴリを表す</a:t>
            </a:r>
            <a:r>
              <a:rPr lang="ja-JP" altLang="en-US">
                <a:solidFill>
                  <a:schemeClr val="accent2"/>
                </a:solidFill>
              </a:rPr>
              <a:t>ベクトルとの</a:t>
            </a:r>
            <a:br>
              <a:rPr lang="en-US" altLang="ja-JP" dirty="0">
                <a:solidFill>
                  <a:schemeClr val="accent2"/>
                </a:solidFill>
              </a:rPr>
            </a:br>
            <a:r>
              <a:rPr lang="ja-JP" altLang="en-US">
                <a:solidFill>
                  <a:schemeClr val="accent2"/>
                </a:solidFill>
              </a:rPr>
              <a:t>距離</a:t>
            </a:r>
            <a:r>
              <a:rPr lang="ja-JP" altLang="en-US"/>
              <a:t>で譲歩速度などを変更</a:t>
            </a:r>
          </a:p>
        </p:txBody>
      </p:sp>
      <p:grpSp>
        <p:nvGrpSpPr>
          <p:cNvPr id="13" name="グループ化 12">
            <a:extLst>
              <a:ext uri="{FF2B5EF4-FFF2-40B4-BE49-F238E27FC236}">
                <a16:creationId xmlns:a16="http://schemas.microsoft.com/office/drawing/2014/main" id="{4F60C014-F75B-2D42-97F5-CA5AE770834B}"/>
              </a:ext>
            </a:extLst>
          </p:cNvPr>
          <p:cNvGrpSpPr/>
          <p:nvPr/>
        </p:nvGrpSpPr>
        <p:grpSpPr>
          <a:xfrm>
            <a:off x="6221903" y="3913192"/>
            <a:ext cx="2727199" cy="708075"/>
            <a:chOff x="2662580" y="3750198"/>
            <a:chExt cx="2727199" cy="708075"/>
          </a:xfrm>
        </p:grpSpPr>
        <p:cxnSp>
          <p:nvCxnSpPr>
            <p:cNvPr id="11" name="直線矢印コネクタ 10">
              <a:extLst>
                <a:ext uri="{FF2B5EF4-FFF2-40B4-BE49-F238E27FC236}">
                  <a16:creationId xmlns:a16="http://schemas.microsoft.com/office/drawing/2014/main" id="{B7BBCFA0-F342-3040-91B5-A571B2FA5E9F}"/>
                </a:ext>
              </a:extLst>
            </p:cNvPr>
            <p:cNvCxnSpPr/>
            <p:nvPr/>
          </p:nvCxnSpPr>
          <p:spPr>
            <a:xfrm>
              <a:off x="3028950" y="3750198"/>
              <a:ext cx="1994463" cy="0"/>
            </a:xfrm>
            <a:prstGeom prst="straightConnector1">
              <a:avLst/>
            </a:prstGeom>
            <a:ln w="57150">
              <a:solidFill>
                <a:srgbClr val="D7991B"/>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6A91C07F-E09B-6646-8E3C-D8F5F512DE87}"/>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わがまま</a:t>
              </a:r>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B4CB7D27-CD72-4248-9428-C83B4E0F2D07}"/>
                    </a:ext>
                  </a:extLst>
                </p:cNvPr>
                <p:cNvSpPr txBox="1"/>
                <p:nvPr/>
              </p:nvSpPr>
              <p:spPr>
                <a:xfrm>
                  <a:off x="2662580" y="4087659"/>
                  <a:ext cx="2727199"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[−0.2,0.6,−0.6,−0.5,−0.4]</m:t>
                        </m:r>
                      </m:oMath>
                    </m:oMathPara>
                  </a14:m>
                  <a:endParaRPr kumimoji="1" lang="ja-JP" altLang="en-US"/>
                </a:p>
              </p:txBody>
            </p:sp>
          </mc:Choice>
          <mc:Fallback xmlns="">
            <p:sp>
              <p:nvSpPr>
                <p:cNvPr id="22" name="テキスト ボックス 21">
                  <a:extLst>
                    <a:ext uri="{FF2B5EF4-FFF2-40B4-BE49-F238E27FC236}">
                      <a16:creationId xmlns:a16="http://schemas.microsoft.com/office/drawing/2014/main" id="{B4CB7D27-CD72-4248-9428-C83B4E0F2D07}"/>
                    </a:ext>
                  </a:extLst>
                </p:cNvPr>
                <p:cNvSpPr txBox="1">
                  <a:spLocks noRot="1" noChangeAspect="1" noMove="1" noResize="1" noEditPoints="1" noAdjustHandles="1" noChangeArrowheads="1" noChangeShapeType="1" noTextEdit="1"/>
                </p:cNvSpPr>
                <p:nvPr/>
              </p:nvSpPr>
              <p:spPr>
                <a:xfrm>
                  <a:off x="2662580" y="4087659"/>
                  <a:ext cx="2727199" cy="370614"/>
                </a:xfrm>
                <a:prstGeom prst="rect">
                  <a:avLst/>
                </a:prstGeom>
                <a:blipFill>
                  <a:blip r:embed="rId5"/>
                  <a:stretch>
                    <a:fillRect l="-4167" r="-926" b="-16667"/>
                  </a:stretch>
                </a:blipFill>
              </p:spPr>
              <p:txBody>
                <a:bodyPr/>
                <a:lstStyle/>
                <a:p>
                  <a:r>
                    <a:rPr lang="ja-JP" altLang="en-US">
                      <a:noFill/>
                    </a:rPr>
                    <a:t> </a:t>
                  </a:r>
                </a:p>
              </p:txBody>
            </p:sp>
          </mc:Fallback>
        </mc:AlternateContent>
      </p:grpSp>
      <p:grpSp>
        <p:nvGrpSpPr>
          <p:cNvPr id="26" name="グループ化 25">
            <a:extLst>
              <a:ext uri="{FF2B5EF4-FFF2-40B4-BE49-F238E27FC236}">
                <a16:creationId xmlns:a16="http://schemas.microsoft.com/office/drawing/2014/main" id="{E38DC07B-36A3-854B-A9BC-66B0250F37A6}"/>
              </a:ext>
            </a:extLst>
          </p:cNvPr>
          <p:cNvGrpSpPr/>
          <p:nvPr/>
        </p:nvGrpSpPr>
        <p:grpSpPr>
          <a:xfrm>
            <a:off x="3209317" y="3913192"/>
            <a:ext cx="2727199" cy="706793"/>
            <a:chOff x="2662580" y="3750198"/>
            <a:chExt cx="2727199" cy="706793"/>
          </a:xfrm>
        </p:grpSpPr>
        <p:cxnSp>
          <p:nvCxnSpPr>
            <p:cNvPr id="27" name="直線矢印コネクタ 26">
              <a:extLst>
                <a:ext uri="{FF2B5EF4-FFF2-40B4-BE49-F238E27FC236}">
                  <a16:creationId xmlns:a16="http://schemas.microsoft.com/office/drawing/2014/main" id="{7E68F4C0-CDA0-2D49-863F-046E0660CECA}"/>
                </a:ext>
              </a:extLst>
            </p:cNvPr>
            <p:cNvCxnSpPr/>
            <p:nvPr/>
          </p:nvCxnSpPr>
          <p:spPr>
            <a:xfrm>
              <a:off x="3028950" y="3750198"/>
              <a:ext cx="1994463" cy="0"/>
            </a:xfrm>
            <a:prstGeom prst="straightConnector1">
              <a:avLst/>
            </a:prstGeom>
            <a:ln w="57150">
              <a:solidFill>
                <a:srgbClr val="4BC44D"/>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FAE3B4F8-77E2-7E42-A294-59F5CC4A27E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つつましい</a:t>
              </a:r>
            </a:p>
          </p:txBody>
        </p: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54B1649E-17F5-CC40-946A-5A2AF629AFCE}"/>
                    </a:ext>
                  </a:extLst>
                </p:cNvPr>
                <p:cNvSpPr txBox="1"/>
                <p:nvPr/>
              </p:nvSpPr>
              <p:spPr>
                <a:xfrm>
                  <a:off x="2662580" y="4087659"/>
                  <a:ext cx="27271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[−0.5,−0.1,−0.6,0.1,0.2]</m:t>
                        </m:r>
                      </m:oMath>
                    </m:oMathPara>
                  </a14:m>
                  <a:endParaRPr kumimoji="1" lang="ja-JP" altLang="en-US"/>
                </a:p>
              </p:txBody>
            </p:sp>
          </mc:Choice>
          <mc:Fallback xmlns="">
            <p:sp>
              <p:nvSpPr>
                <p:cNvPr id="29" name="テキスト ボックス 28">
                  <a:extLst>
                    <a:ext uri="{FF2B5EF4-FFF2-40B4-BE49-F238E27FC236}">
                      <a16:creationId xmlns:a16="http://schemas.microsoft.com/office/drawing/2014/main" id="{54B1649E-17F5-CC40-946A-5A2AF629AFCE}"/>
                    </a:ext>
                  </a:extLst>
                </p:cNvPr>
                <p:cNvSpPr txBox="1">
                  <a:spLocks noRot="1" noChangeAspect="1" noMove="1" noResize="1" noEditPoints="1" noAdjustHandles="1" noChangeArrowheads="1" noChangeShapeType="1" noTextEdit="1"/>
                </p:cNvSpPr>
                <p:nvPr/>
              </p:nvSpPr>
              <p:spPr>
                <a:xfrm>
                  <a:off x="2662580" y="4087659"/>
                  <a:ext cx="2727199" cy="369332"/>
                </a:xfrm>
                <a:prstGeom prst="rect">
                  <a:avLst/>
                </a:prstGeom>
                <a:blipFill>
                  <a:blip r:embed="rId6"/>
                  <a:stretch>
                    <a:fillRect b="-16667"/>
                  </a:stretch>
                </a:blipFill>
              </p:spPr>
              <p:txBody>
                <a:bodyPr/>
                <a:lstStyle/>
                <a:p>
                  <a:r>
                    <a:rPr lang="ja-JP" altLang="en-US">
                      <a:noFill/>
                    </a:rPr>
                    <a:t> </a:t>
                  </a:r>
                </a:p>
              </p:txBody>
            </p:sp>
          </mc:Fallback>
        </mc:AlternateContent>
      </p:grpSp>
      <p:grpSp>
        <p:nvGrpSpPr>
          <p:cNvPr id="30" name="グループ化 29">
            <a:extLst>
              <a:ext uri="{FF2B5EF4-FFF2-40B4-BE49-F238E27FC236}">
                <a16:creationId xmlns:a16="http://schemas.microsoft.com/office/drawing/2014/main" id="{C107D668-4769-B845-8A0B-82A239B39EE3}"/>
              </a:ext>
            </a:extLst>
          </p:cNvPr>
          <p:cNvGrpSpPr/>
          <p:nvPr/>
        </p:nvGrpSpPr>
        <p:grpSpPr>
          <a:xfrm>
            <a:off x="254606" y="3902926"/>
            <a:ext cx="2727199" cy="706793"/>
            <a:chOff x="2662580" y="3750198"/>
            <a:chExt cx="2727199" cy="706793"/>
          </a:xfrm>
        </p:grpSpPr>
        <p:cxnSp>
          <p:nvCxnSpPr>
            <p:cNvPr id="31" name="直線矢印コネクタ 30">
              <a:extLst>
                <a:ext uri="{FF2B5EF4-FFF2-40B4-BE49-F238E27FC236}">
                  <a16:creationId xmlns:a16="http://schemas.microsoft.com/office/drawing/2014/main" id="{7D02F1D3-E8D6-D748-ADBD-31B0AB3534B8}"/>
                </a:ext>
              </a:extLst>
            </p:cNvPr>
            <p:cNvCxnSpPr/>
            <p:nvPr/>
          </p:nvCxnSpPr>
          <p:spPr>
            <a:xfrm>
              <a:off x="3028950" y="3750198"/>
              <a:ext cx="1994463" cy="0"/>
            </a:xfrm>
            <a:prstGeom prst="straightConnector1">
              <a:avLst/>
            </a:prstGeom>
            <a:ln w="57150">
              <a:solidFill>
                <a:srgbClr val="FF734B"/>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930B05F1-51A1-6749-ABE9-5C3AE86B2500}"/>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模範的</a:t>
              </a:r>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C8E8D5C4-2AAA-E74D-AADD-AE34A6E426D4}"/>
                    </a:ext>
                  </a:extLst>
                </p:cNvPr>
                <p:cNvSpPr txBox="1"/>
                <p:nvPr/>
              </p:nvSpPr>
              <p:spPr>
                <a:xfrm>
                  <a:off x="2662580" y="4087659"/>
                  <a:ext cx="27271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[−0.6,0.5,0.2,0.6,0.7]</m:t>
                        </m:r>
                      </m:oMath>
                    </m:oMathPara>
                  </a14:m>
                  <a:endParaRPr kumimoji="1" lang="ja-JP" altLang="en-US"/>
                </a:p>
              </p:txBody>
            </p:sp>
          </mc:Choice>
          <mc:Fallback xmlns="">
            <p:sp>
              <p:nvSpPr>
                <p:cNvPr id="33" name="テキスト ボックス 32">
                  <a:extLst>
                    <a:ext uri="{FF2B5EF4-FFF2-40B4-BE49-F238E27FC236}">
                      <a16:creationId xmlns:a16="http://schemas.microsoft.com/office/drawing/2014/main" id="{C8E8D5C4-2AAA-E74D-AADD-AE34A6E426D4}"/>
                    </a:ext>
                  </a:extLst>
                </p:cNvPr>
                <p:cNvSpPr txBox="1">
                  <a:spLocks noRot="1" noChangeAspect="1" noMove="1" noResize="1" noEditPoints="1" noAdjustHandles="1" noChangeArrowheads="1" noChangeShapeType="1" noTextEdit="1"/>
                </p:cNvSpPr>
                <p:nvPr/>
              </p:nvSpPr>
              <p:spPr>
                <a:xfrm>
                  <a:off x="2662580" y="4087659"/>
                  <a:ext cx="2727199" cy="369332"/>
                </a:xfrm>
                <a:prstGeom prst="rect">
                  <a:avLst/>
                </a:prstGeom>
                <a:blipFill>
                  <a:blip r:embed="rId7"/>
                  <a:stretch>
                    <a:fillRect b="-16667"/>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379730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218602" cy="680876"/>
            <a:chOff x="163626" y="1160115"/>
            <a:chExt cx="5218602"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2186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エージェントの戦略まとめ</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a:t>
            </a:r>
            <a:br>
              <a:rPr lang="en-US" altLang="ja-JP" dirty="0"/>
            </a:br>
            <a:r>
              <a:rPr lang="ja-JP" altLang="en-US"/>
              <a:t>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solidFill>
                <a:schemeClr val="accent1"/>
              </a:solidFill>
            </a:endParaRPr>
          </a:p>
          <a:p>
            <a:pPr lvl="1"/>
            <a:r>
              <a:rPr lang="ja-JP" altLang="en-US"/>
              <a:t>移動平均を用いる</a:t>
            </a:r>
            <a:endParaRPr lang="en-US" altLang="ja-JP" dirty="0"/>
          </a:p>
          <a:p>
            <a:r>
              <a:rPr lang="ja-JP" altLang="en-US"/>
              <a:t>算出した特性</a:t>
            </a:r>
            <a:r>
              <a:rPr lang="en-US" altLang="ja-JP" dirty="0"/>
              <a:t>5</a:t>
            </a:r>
            <a:r>
              <a:rPr lang="ja-JP" altLang="en-US"/>
              <a:t>因子の値と</a:t>
            </a:r>
            <a:br>
              <a:rPr lang="en-US" altLang="ja-JP" dirty="0"/>
            </a:br>
            <a:r>
              <a:rPr lang="ja-JP" altLang="en-US"/>
              <a:t>各カテゴリの</a:t>
            </a:r>
            <a:r>
              <a:rPr lang="ja-JP" altLang="en-US">
                <a:solidFill>
                  <a:schemeClr val="accent1"/>
                </a:solidFill>
              </a:rPr>
              <a:t>ベクトルの距離を計算</a:t>
            </a:r>
            <a:endParaRPr lang="en-US" altLang="ja-JP" dirty="0">
              <a:solidFill>
                <a:schemeClr val="accent1"/>
              </a:solidFill>
            </a:endParaRPr>
          </a:p>
          <a:p>
            <a:r>
              <a:rPr lang="ja-JP" altLang="en-US"/>
              <a:t>距離を元に</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54" name="グループ化 53">
            <a:extLst>
              <a:ext uri="{FF2B5EF4-FFF2-40B4-BE49-F238E27FC236}">
                <a16:creationId xmlns:a16="http://schemas.microsoft.com/office/drawing/2014/main" id="{2165357C-4927-174B-A170-E6830385DABB}"/>
              </a:ext>
            </a:extLst>
          </p:cNvPr>
          <p:cNvGrpSpPr/>
          <p:nvPr/>
        </p:nvGrpSpPr>
        <p:grpSpPr>
          <a:xfrm>
            <a:off x="521549" y="4444355"/>
            <a:ext cx="7635927" cy="1963886"/>
            <a:chOff x="359501" y="4444355"/>
            <a:chExt cx="7635927" cy="1963886"/>
          </a:xfrm>
        </p:grpSpPr>
        <p:grpSp>
          <p:nvGrpSpPr>
            <p:cNvPr id="8" name="グループ化 7">
              <a:extLst>
                <a:ext uri="{FF2B5EF4-FFF2-40B4-BE49-F238E27FC236}">
                  <a16:creationId xmlns:a16="http://schemas.microsoft.com/office/drawing/2014/main" id="{9065FB69-4CE3-514C-9F03-5515861C1717}"/>
                </a:ext>
              </a:extLst>
            </p:cNvPr>
            <p:cNvGrpSpPr/>
            <p:nvPr/>
          </p:nvGrpSpPr>
          <p:grpSpPr>
            <a:xfrm>
              <a:off x="3504593" y="5114930"/>
              <a:ext cx="1994463" cy="1016312"/>
              <a:chOff x="3369630" y="5195061"/>
              <a:chExt cx="1994463" cy="1016312"/>
            </a:xfrm>
          </p:grpSpPr>
          <p:cxnSp>
            <p:nvCxnSpPr>
              <p:cNvPr id="34" name="直線矢印コネクタ 33">
                <a:extLst>
                  <a:ext uri="{FF2B5EF4-FFF2-40B4-BE49-F238E27FC236}">
                    <a16:creationId xmlns:a16="http://schemas.microsoft.com/office/drawing/2014/main" id="{9E583E9C-DB90-884C-99DF-09A11BC1D48E}"/>
                  </a:ext>
                </a:extLst>
              </p:cNvPr>
              <p:cNvCxnSpPr/>
              <p:nvPr/>
            </p:nvCxnSpPr>
            <p:spPr>
              <a:xfrm>
                <a:off x="3369630" y="5665274"/>
                <a:ext cx="1994463" cy="0"/>
              </a:xfrm>
              <a:prstGeom prst="straightConnector1">
                <a:avLst/>
              </a:prstGeom>
              <a:ln w="57150">
                <a:solidFill>
                  <a:srgbClr val="FF734B"/>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12B7248F-DDEE-FE4A-B38E-EF63F9BF85B3}"/>
                  </a:ext>
                </a:extLst>
              </p:cNvPr>
              <p:cNvCxnSpPr>
                <a:cxnSpLocks/>
              </p:cNvCxnSpPr>
              <p:nvPr/>
            </p:nvCxnSpPr>
            <p:spPr>
              <a:xfrm flipV="1">
                <a:off x="3381205" y="5195061"/>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27BEEDC-207D-C44D-95A9-8A6F91AE249E}"/>
                  </a:ext>
                </a:extLst>
              </p:cNvPr>
              <p:cNvSpPr txBox="1"/>
              <p:nvPr/>
            </p:nvSpPr>
            <p:spPr>
              <a:xfrm>
                <a:off x="3483386" y="5842041"/>
                <a:ext cx="1766949" cy="369332"/>
              </a:xfrm>
              <a:prstGeom prst="rect">
                <a:avLst/>
              </a:prstGeom>
              <a:noFill/>
            </p:spPr>
            <p:txBody>
              <a:bodyPr wrap="square" rtlCol="0">
                <a:spAutoFit/>
              </a:bodyPr>
              <a:lstStyle/>
              <a:p>
                <a:pPr algn="ctr"/>
                <a:r>
                  <a:rPr kumimoji="1" lang="ja-JP" altLang="en-US"/>
                  <a:t>距離を計算</a:t>
                </a:r>
              </a:p>
            </p:txBody>
          </p:sp>
        </p:grpSp>
        <p:grpSp>
          <p:nvGrpSpPr>
            <p:cNvPr id="16" name="グループ化 15">
              <a:extLst>
                <a:ext uri="{FF2B5EF4-FFF2-40B4-BE49-F238E27FC236}">
                  <a16:creationId xmlns:a16="http://schemas.microsoft.com/office/drawing/2014/main" id="{FB165451-849D-2B49-B364-C5F08F4247C9}"/>
                </a:ext>
              </a:extLst>
            </p:cNvPr>
            <p:cNvGrpSpPr/>
            <p:nvPr/>
          </p:nvGrpSpPr>
          <p:grpSpPr>
            <a:xfrm>
              <a:off x="359501" y="4814410"/>
              <a:ext cx="2458762" cy="1316832"/>
              <a:chOff x="339969" y="4814410"/>
              <a:chExt cx="2458762" cy="1316832"/>
            </a:xfrm>
          </p:grpSpPr>
          <p:cxnSp>
            <p:nvCxnSpPr>
              <p:cNvPr id="41" name="直線矢印コネクタ 40">
                <a:extLst>
                  <a:ext uri="{FF2B5EF4-FFF2-40B4-BE49-F238E27FC236}">
                    <a16:creationId xmlns:a16="http://schemas.microsoft.com/office/drawing/2014/main" id="{23D81F44-AB32-3647-92FF-C03E93EBE9F5}"/>
                  </a:ext>
                </a:extLst>
              </p:cNvPr>
              <p:cNvCxnSpPr>
                <a:cxnSpLocks/>
              </p:cNvCxnSpPr>
              <p:nvPr/>
            </p:nvCxnSpPr>
            <p:spPr>
              <a:xfrm flipV="1">
                <a:off x="1884604" y="5101167"/>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2234BD33-AC73-2047-8967-E43F42409BAC}"/>
                  </a:ext>
                </a:extLst>
              </p:cNvPr>
              <p:cNvSpPr txBox="1"/>
              <p:nvPr/>
            </p:nvSpPr>
            <p:spPr>
              <a:xfrm>
                <a:off x="339969" y="5761910"/>
                <a:ext cx="2458762" cy="369332"/>
              </a:xfrm>
              <a:prstGeom prst="rect">
                <a:avLst/>
              </a:prstGeom>
              <a:noFill/>
            </p:spPr>
            <p:txBody>
              <a:bodyPr wrap="square" rtlCol="0">
                <a:spAutoFit/>
              </a:bodyPr>
              <a:lstStyle/>
              <a:p>
                <a:pPr algn="ctr"/>
                <a:r>
                  <a:rPr kumimoji="1" lang="ja-JP" altLang="en-US"/>
                  <a:t>特性</a:t>
                </a:r>
                <a:r>
                  <a:rPr kumimoji="1" lang="en-US" altLang="ja-JP" dirty="0"/>
                  <a:t>5</a:t>
                </a:r>
                <a:r>
                  <a:rPr kumimoji="1" lang="ja-JP" altLang="en-US"/>
                  <a:t>因子の値を推定</a:t>
                </a:r>
              </a:p>
            </p:txBody>
          </p:sp>
          <p:sp>
            <p:nvSpPr>
              <p:cNvPr id="10" name="三角形 9">
                <a:extLst>
                  <a:ext uri="{FF2B5EF4-FFF2-40B4-BE49-F238E27FC236}">
                    <a16:creationId xmlns:a16="http://schemas.microsoft.com/office/drawing/2014/main" id="{18949641-2187-F240-8DAD-8825D7C150CC}"/>
                  </a:ext>
                </a:extLst>
              </p:cNvPr>
              <p:cNvSpPr/>
              <p:nvPr/>
            </p:nvSpPr>
            <p:spPr>
              <a:xfrm rot="5400000">
                <a:off x="1510580" y="5227874"/>
                <a:ext cx="296135" cy="1275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616773" y="4814410"/>
                <a:ext cx="861781" cy="947500"/>
                <a:chOff x="674235" y="4814508"/>
                <a:chExt cx="861781" cy="947500"/>
              </a:xfrm>
            </p:grpSpPr>
            <p:sp>
              <p:nvSpPr>
                <p:cNvPr id="14" name="メモ 13">
                  <a:extLst>
                    <a:ext uri="{FF2B5EF4-FFF2-40B4-BE49-F238E27FC236}">
                      <a16:creationId xmlns:a16="http://schemas.microsoft.com/office/drawing/2014/main" id="{503DC9A0-EF36-AF4F-AF5B-D83DF52730DC}"/>
                    </a:ext>
                  </a:extLst>
                </p:cNvPr>
                <p:cNvSpPr/>
                <p:nvPr/>
              </p:nvSpPr>
              <p:spPr>
                <a:xfrm rot="10800000">
                  <a:off x="763672" y="4814508"/>
                  <a:ext cx="682907" cy="947500"/>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674235" y="5172252"/>
                  <a:ext cx="861781" cy="369332"/>
                </a:xfrm>
                <a:prstGeom prst="rect">
                  <a:avLst/>
                </a:prstGeom>
                <a:noFill/>
              </p:spPr>
              <p:txBody>
                <a:bodyPr wrap="square" rtlCol="0">
                  <a:spAutoFit/>
                </a:bodyPr>
                <a:lstStyle/>
                <a:p>
                  <a:pPr algn="ctr"/>
                  <a:r>
                    <a:rPr kumimoji="1" lang="en-US" altLang="ja-JP" dirty="0"/>
                    <a:t>Offer</a:t>
                  </a:r>
                  <a:endParaRPr kumimoji="1" lang="ja-JP" altLang="en-US"/>
                </a:p>
              </p:txBody>
            </p:sp>
          </p:grpSp>
        </p:grpSp>
        <p:sp>
          <p:nvSpPr>
            <p:cNvPr id="17" name="右矢印 16">
              <a:extLst>
                <a:ext uri="{FF2B5EF4-FFF2-40B4-BE49-F238E27FC236}">
                  <a16:creationId xmlns:a16="http://schemas.microsoft.com/office/drawing/2014/main" id="{B4942326-2527-5F4D-8CFC-5F502952CC8A}"/>
                </a:ext>
              </a:extLst>
            </p:cNvPr>
            <p:cNvSpPr/>
            <p:nvPr/>
          </p:nvSpPr>
          <p:spPr>
            <a:xfrm>
              <a:off x="3082921"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右矢印 44">
              <a:extLst>
                <a:ext uri="{FF2B5EF4-FFF2-40B4-BE49-F238E27FC236}">
                  <a16:creationId xmlns:a16="http://schemas.microsoft.com/office/drawing/2014/main" id="{9FF18A30-A3C7-1E47-B8A4-C9BBA76EB2BB}"/>
                </a:ext>
              </a:extLst>
            </p:cNvPr>
            <p:cNvSpPr/>
            <p:nvPr/>
          </p:nvSpPr>
          <p:spPr>
            <a:xfrm>
              <a:off x="5815896"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BB40CDB-767C-F846-81FC-D50EEBDEDF91}"/>
                </a:ext>
              </a:extLst>
            </p:cNvPr>
            <p:cNvGrpSpPr/>
            <p:nvPr/>
          </p:nvGrpSpPr>
          <p:grpSpPr>
            <a:xfrm>
              <a:off x="6051784" y="4444355"/>
              <a:ext cx="1943644" cy="1963886"/>
              <a:chOff x="6051784" y="4444355"/>
              <a:chExt cx="1943644" cy="1963886"/>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388405" y="4444355"/>
                <a:ext cx="1270404" cy="1270404"/>
                <a:chOff x="6886936" y="4676172"/>
                <a:chExt cx="1270404" cy="1270404"/>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676172"/>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299799"/>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6412375" y="48142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6412375" y="48497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051784" y="5761910"/>
                <a:ext cx="1943644" cy="646331"/>
              </a:xfrm>
              <a:prstGeom prst="rect">
                <a:avLst/>
              </a:prstGeom>
              <a:noFill/>
            </p:spPr>
            <p:txBody>
              <a:bodyPr wrap="square" rtlCol="0">
                <a:spAutoFit/>
              </a:bodyPr>
              <a:lstStyle/>
              <a:p>
                <a:pPr algn="ctr"/>
                <a:r>
                  <a:rPr kumimoji="1" lang="ja-JP" altLang="en-US"/>
                  <a:t>譲歩速度の変更</a:t>
                </a:r>
              </a:p>
            </p:txBody>
          </p:sp>
        </p:grpSp>
      </p:grpSp>
    </p:spTree>
    <p:extLst>
      <p:ext uri="{BB962C8B-B14F-4D97-AF65-F5344CB8AC3E}">
        <p14:creationId xmlns:p14="http://schemas.microsoft.com/office/powerpoint/2010/main" val="1655483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507316"/>
              </a:xfrm>
            </p:spPr>
            <p:txBody>
              <a:bodyPr/>
              <a:lstStyle/>
              <a:p>
                <a:r>
                  <a:rPr lang="ja-JP" altLang="en-US"/>
                  <a:t>譲歩速度</a:t>
                </a:r>
                <a:endParaRPr lang="en-US" altLang="ja-JP" dirty="0"/>
              </a:p>
              <a:p>
                <a:pPr lvl="1"/>
                <a:r>
                  <a:rPr lang="ja-JP" altLang="en-US"/>
                  <a:t>わがまま</a:t>
                </a:r>
                <a14:m>
                  <m:oMath xmlns:m="http://schemas.openxmlformats.org/officeDocument/2006/math">
                    <m:r>
                      <a:rPr lang="en-US" altLang="ja-JP" b="0" i="1" smtClean="0">
                        <a:latin typeface="Cambria Math" panose="02040503050406030204" pitchFamily="18" charset="0"/>
                      </a:rPr>
                      <m:t>&gt;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のパターン</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m:t>
                    </m:r>
                  </m:oMath>
                </a14:m>
                <a:r>
                  <a:rPr lang="ja-JP" altLang="en-US"/>
                  <a:t>わがまま</a:t>
                </a:r>
                <a14:m>
                  <m:oMath xmlns:m="http://schemas.openxmlformats.org/officeDocument/2006/math">
                    <m:r>
                      <a:rPr lang="en-US" altLang="ja-JP" i="1">
                        <a:latin typeface="Cambria Math" panose="02040503050406030204" pitchFamily="18" charset="0"/>
                      </a:rPr>
                      <m: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・行動頻度</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普通</a:t>
                </a:r>
                <a14:m>
                  <m:oMath xmlns:m="http://schemas.openxmlformats.org/officeDocument/2006/math">
                    <m:r>
                      <a:rPr lang="en-US" altLang="ja-JP" b="0" i="1" smtClean="0">
                        <a:latin typeface="Cambria Math" panose="02040503050406030204" pitchFamily="18" charset="0"/>
                      </a:rPr>
                      <m:t>≥</m:t>
                    </m:r>
                  </m:oMath>
                </a14:m>
                <a:r>
                  <a:rPr lang="ja-JP" altLang="en-US"/>
                  <a:t>模範</a:t>
                </a:r>
                <a14:m>
                  <m:oMath xmlns:m="http://schemas.openxmlformats.org/officeDocument/2006/math">
                    <m:r>
                      <a:rPr lang="en-US" altLang="ja-JP" i="1" smtClean="0">
                        <a:latin typeface="Cambria Math" panose="02040503050406030204" pitchFamily="18" charset="0"/>
                      </a:rPr>
                      <m:t>&gt;</m:t>
                    </m:r>
                  </m:oMath>
                </a14:m>
                <a:r>
                  <a:rPr lang="ja-JP" altLang="en-US"/>
                  <a:t>わがまま</a:t>
                </a:r>
                <a:endParaRPr lang="en-US" altLang="ja-JP" dirty="0"/>
              </a:p>
              <a:p>
                <a:pPr lvl="1"/>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4507316"/>
              </a:xfrm>
              <a:blipFill>
                <a:blip r:embed="rId2"/>
                <a:stretch>
                  <a:fillRect t="-196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836637" cy="680876"/>
            <a:chOff x="163626" y="1160115"/>
            <a:chExt cx="4836637"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004226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en-US" altLang="ja-JP" dirty="0"/>
              <a:t>TKI</a:t>
            </a:r>
            <a:r>
              <a:rPr lang="ja-JP" altLang="en-US"/>
              <a:t>は</a:t>
            </a:r>
            <a:r>
              <a:rPr lang="en-US" altLang="ja-JP" dirty="0"/>
              <a:t>Offer</a:t>
            </a:r>
            <a:r>
              <a:rPr lang="ja-JP" altLang="en-US"/>
              <a:t>のみを見て計算する</a:t>
            </a:r>
            <a:endParaRPr lang="en-US" altLang="ja-JP" dirty="0"/>
          </a:p>
          <a:p>
            <a:r>
              <a:rPr lang="ja-JP" altLang="en-US"/>
              <a:t>既存研究に倣って積極性は</a:t>
            </a:r>
            <a:r>
              <a:rPr lang="en-US" altLang="ja-JP" dirty="0"/>
              <a:t>bid</a:t>
            </a:r>
            <a:r>
              <a:rPr lang="ja-JP" altLang="en-US"/>
              <a:t>の分散，</a:t>
            </a:r>
            <a:br>
              <a:rPr lang="en-US" altLang="ja-JP" dirty="0"/>
            </a:br>
            <a:r>
              <a:rPr lang="ja-JP" altLang="en-US"/>
              <a:t>協調性は</a:t>
            </a:r>
            <a:r>
              <a:rPr lang="en-US" altLang="ja-JP" dirty="0"/>
              <a:t>bid</a:t>
            </a:r>
            <a:r>
              <a:rPr lang="ja-JP" altLang="en-US"/>
              <a:t>の平均で計算</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2"/>
          <a:stretch>
            <a:fillRect/>
          </a:stretch>
        </p:blipFill>
        <p:spPr>
          <a:xfrm>
            <a:off x="6847144" y="1030556"/>
            <a:ext cx="2222334" cy="2750219"/>
          </a:xfrm>
          <a:prstGeom prst="rect">
            <a:avLst/>
          </a:prstGeom>
        </p:spPr>
      </p:pic>
      <p:grpSp>
        <p:nvGrpSpPr>
          <p:cNvPr id="13" name="グループ化 12">
            <a:extLst>
              <a:ext uri="{FF2B5EF4-FFF2-40B4-BE49-F238E27FC236}">
                <a16:creationId xmlns:a16="http://schemas.microsoft.com/office/drawing/2014/main" id="{DB06526F-F23C-BA41-9B0E-AB988845095F}"/>
              </a:ext>
            </a:extLst>
          </p:cNvPr>
          <p:cNvGrpSpPr/>
          <p:nvPr/>
        </p:nvGrpSpPr>
        <p:grpSpPr>
          <a:xfrm>
            <a:off x="163626" y="1160115"/>
            <a:ext cx="2753194" cy="680876"/>
            <a:chOff x="163626" y="1160115"/>
            <a:chExt cx="2753194" cy="680876"/>
          </a:xfrm>
        </p:grpSpPr>
        <p:cxnSp>
          <p:nvCxnSpPr>
            <p:cNvPr id="14" name="直線コネクタ 13">
              <a:extLst>
                <a:ext uri="{FF2B5EF4-FFF2-40B4-BE49-F238E27FC236}">
                  <a16:creationId xmlns:a16="http://schemas.microsoft.com/office/drawing/2014/main" id="{ECBE760E-BBDC-014B-966D-F74E11AEE302}"/>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572BC2EB-1306-9541-AC4B-42FBACEFB9A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p:spTree>
    <p:extLst>
      <p:ext uri="{BB962C8B-B14F-4D97-AF65-F5344CB8AC3E}">
        <p14:creationId xmlns:p14="http://schemas.microsoft.com/office/powerpoint/2010/main" val="3251302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妥協カテゴリをベースとして他の</a:t>
            </a:r>
            <a:br>
              <a:rPr lang="en-US" altLang="ja-JP" dirty="0"/>
            </a:br>
            <a:r>
              <a:rPr lang="ja-JP" altLang="en-US"/>
              <a:t>カテゴリの度合いを考慮</a:t>
            </a:r>
            <a:endParaRPr lang="en-US" altLang="ja-JP" dirty="0"/>
          </a:p>
          <a:p>
            <a:pPr lvl="1"/>
            <a:r>
              <a:rPr lang="ja-JP" altLang="en-US"/>
              <a:t>各カテゴリを表す</a:t>
            </a:r>
            <a:r>
              <a:rPr lang="ja-JP" altLang="en-US">
                <a:solidFill>
                  <a:schemeClr val="accent2"/>
                </a:solidFill>
              </a:rPr>
              <a:t>ベクトルとの距離</a:t>
            </a:r>
            <a:r>
              <a:rPr lang="ja-JP" altLang="en-US"/>
              <a:t>で</a:t>
            </a:r>
            <a:br>
              <a:rPr lang="en-US" altLang="ja-JP" dirty="0"/>
            </a:br>
            <a:r>
              <a:rPr lang="ja-JP" altLang="en-US"/>
              <a:t>譲歩速度などを変更</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8</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2"/>
          <a:stretch>
            <a:fillRect/>
          </a:stretch>
        </p:blipFill>
        <p:spPr>
          <a:xfrm>
            <a:off x="6847144" y="1030556"/>
            <a:ext cx="2222334" cy="2750219"/>
          </a:xfrm>
          <a:prstGeom prst="rect">
            <a:avLst/>
          </a:prstGeom>
        </p:spPr>
      </p:pic>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p>
        </p:txBody>
      </p:sp>
      <p:grpSp>
        <p:nvGrpSpPr>
          <p:cNvPr id="15" name="グループ化 14">
            <a:extLst>
              <a:ext uri="{FF2B5EF4-FFF2-40B4-BE49-F238E27FC236}">
                <a16:creationId xmlns:a16="http://schemas.microsoft.com/office/drawing/2014/main" id="{E0CC4C29-4A4E-B34B-8F55-3FA6D3A707FB}"/>
              </a:ext>
            </a:extLst>
          </p:cNvPr>
          <p:cNvGrpSpPr/>
          <p:nvPr/>
        </p:nvGrpSpPr>
        <p:grpSpPr>
          <a:xfrm>
            <a:off x="4865779" y="3902926"/>
            <a:ext cx="1813148" cy="708075"/>
            <a:chOff x="3119607" y="3750198"/>
            <a:chExt cx="1813148" cy="708075"/>
          </a:xfrm>
        </p:grpSpPr>
        <p:cxnSp>
          <p:nvCxnSpPr>
            <p:cNvPr id="16" name="直線矢印コネクタ 15">
              <a:extLst>
                <a:ext uri="{FF2B5EF4-FFF2-40B4-BE49-F238E27FC236}">
                  <a16:creationId xmlns:a16="http://schemas.microsoft.com/office/drawing/2014/main" id="{EF378C48-9E55-A44F-8E67-4460D4C2993C}"/>
                </a:ext>
              </a:extLst>
            </p:cNvPr>
            <p:cNvCxnSpPr/>
            <p:nvPr/>
          </p:nvCxnSpPr>
          <p:spPr>
            <a:xfrm>
              <a:off x="3119607" y="3750198"/>
              <a:ext cx="1813148" cy="0"/>
            </a:xfrm>
            <a:prstGeom prst="straightConnector1">
              <a:avLst/>
            </a:prstGeom>
            <a:ln w="57150">
              <a:solidFill>
                <a:srgbClr val="ABD7D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4389AF56-1B63-874E-9FB2-D23CD155400B}"/>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回避</a:t>
              </a:r>
            </a:p>
          </p:txBody>
        </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91EAAEEF-440A-AA4A-A1EB-3E58B7AF8B2C}"/>
                    </a:ext>
                  </a:extLst>
                </p:cNvPr>
                <p:cNvSpPr txBox="1"/>
                <p:nvPr/>
              </p:nvSpPr>
              <p:spPr>
                <a:xfrm>
                  <a:off x="3326437" y="4087659"/>
                  <a:ext cx="1399485"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[0.0,0.0]</m:t>
                        </m:r>
                      </m:oMath>
                    </m:oMathPara>
                  </a14:m>
                  <a:endParaRPr kumimoji="1" lang="ja-JP" altLang="en-US"/>
                </a:p>
              </p:txBody>
            </p:sp>
          </mc:Choice>
          <mc:Fallback xmlns="">
            <p:sp>
              <p:nvSpPr>
                <p:cNvPr id="19" name="テキスト ボックス 18">
                  <a:extLst>
                    <a:ext uri="{FF2B5EF4-FFF2-40B4-BE49-F238E27FC236}">
                      <a16:creationId xmlns:a16="http://schemas.microsoft.com/office/drawing/2014/main" id="{91EAAEEF-440A-AA4A-A1EB-3E58B7AF8B2C}"/>
                    </a:ext>
                  </a:extLst>
                </p:cNvPr>
                <p:cNvSpPr txBox="1">
                  <a:spLocks noRot="1" noChangeAspect="1" noMove="1" noResize="1" noEditPoints="1" noAdjustHandles="1" noChangeArrowheads="1" noChangeShapeType="1" noTextEdit="1"/>
                </p:cNvSpPr>
                <p:nvPr/>
              </p:nvSpPr>
              <p:spPr>
                <a:xfrm>
                  <a:off x="3326437" y="4087659"/>
                  <a:ext cx="1399485" cy="370614"/>
                </a:xfrm>
                <a:prstGeom prst="rect">
                  <a:avLst/>
                </a:prstGeom>
                <a:blipFill>
                  <a:blip r:embed="rId5"/>
                  <a:stretch>
                    <a:fillRect b="-16667"/>
                  </a:stretch>
                </a:blipFill>
              </p:spPr>
              <p:txBody>
                <a:bodyPr/>
                <a:lstStyle/>
                <a:p>
                  <a:r>
                    <a:rPr lang="ja-JP" altLang="en-US">
                      <a:noFill/>
                    </a:rPr>
                    <a:t> </a:t>
                  </a:r>
                </a:p>
              </p:txBody>
            </p:sp>
          </mc:Fallback>
        </mc:AlternateContent>
      </p:grpSp>
      <p:grpSp>
        <p:nvGrpSpPr>
          <p:cNvPr id="22" name="グループ化 21">
            <a:extLst>
              <a:ext uri="{FF2B5EF4-FFF2-40B4-BE49-F238E27FC236}">
                <a16:creationId xmlns:a16="http://schemas.microsoft.com/office/drawing/2014/main" id="{AB43DF24-E4B9-2A47-8326-5259FDBD2808}"/>
              </a:ext>
            </a:extLst>
          </p:cNvPr>
          <p:cNvGrpSpPr/>
          <p:nvPr/>
        </p:nvGrpSpPr>
        <p:grpSpPr>
          <a:xfrm>
            <a:off x="2609298" y="3902926"/>
            <a:ext cx="1813148" cy="706793"/>
            <a:chOff x="3119607" y="3750198"/>
            <a:chExt cx="1813148" cy="706793"/>
          </a:xfrm>
        </p:grpSpPr>
        <p:cxnSp>
          <p:nvCxnSpPr>
            <p:cNvPr id="23" name="直線矢印コネクタ 22">
              <a:extLst>
                <a:ext uri="{FF2B5EF4-FFF2-40B4-BE49-F238E27FC236}">
                  <a16:creationId xmlns:a16="http://schemas.microsoft.com/office/drawing/2014/main" id="{5A14FC19-A473-6A4B-B124-698A3BA4BC41}"/>
                </a:ext>
              </a:extLst>
            </p:cNvPr>
            <p:cNvCxnSpPr/>
            <p:nvPr/>
          </p:nvCxnSpPr>
          <p:spPr>
            <a:xfrm>
              <a:off x="3119607" y="3750198"/>
              <a:ext cx="1813148" cy="0"/>
            </a:xfrm>
            <a:prstGeom prst="straightConnector1">
              <a:avLst/>
            </a:prstGeom>
            <a:ln w="57150">
              <a:solidFill>
                <a:srgbClr val="ECCA5E"/>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BF0CD999-DA6C-B64E-90B9-E4E21AD432AD}"/>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共存</a:t>
              </a:r>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A3D2BBC0-F2F6-6248-BC09-864CAF4FDC74}"/>
                    </a:ext>
                  </a:extLst>
                </p:cNvPr>
                <p:cNvSpPr txBox="1"/>
                <p:nvPr/>
              </p:nvSpPr>
              <p:spPr>
                <a:xfrm>
                  <a:off x="3326437" y="4087659"/>
                  <a:ext cx="1399485"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[1.0,1.0]</m:t>
                        </m:r>
                      </m:oMath>
                    </m:oMathPara>
                  </a14:m>
                  <a:endParaRPr kumimoji="1" lang="ja-JP" altLang="en-US"/>
                </a:p>
              </p:txBody>
            </p:sp>
          </mc:Choice>
          <mc:Fallback xmlns="">
            <p:sp>
              <p:nvSpPr>
                <p:cNvPr id="25" name="テキスト ボックス 24">
                  <a:extLst>
                    <a:ext uri="{FF2B5EF4-FFF2-40B4-BE49-F238E27FC236}">
                      <a16:creationId xmlns:a16="http://schemas.microsoft.com/office/drawing/2014/main" id="{A3D2BBC0-F2F6-6248-BC09-864CAF4FDC74}"/>
                    </a:ext>
                  </a:extLst>
                </p:cNvPr>
                <p:cNvSpPr txBox="1">
                  <a:spLocks noRot="1" noChangeAspect="1" noMove="1" noResize="1" noEditPoints="1" noAdjustHandles="1" noChangeArrowheads="1" noChangeShapeType="1" noTextEdit="1"/>
                </p:cNvSpPr>
                <p:nvPr/>
              </p:nvSpPr>
              <p:spPr>
                <a:xfrm>
                  <a:off x="3326437" y="4087659"/>
                  <a:ext cx="1399485" cy="369332"/>
                </a:xfrm>
                <a:prstGeom prst="rect">
                  <a:avLst/>
                </a:prstGeom>
                <a:blipFill>
                  <a:blip r:embed="rId6"/>
                  <a:stretch>
                    <a:fillRect b="-16667"/>
                  </a:stretch>
                </a:blipFill>
              </p:spPr>
              <p:txBody>
                <a:bodyPr/>
                <a:lstStyle/>
                <a:p>
                  <a:r>
                    <a:rPr lang="ja-JP" altLang="en-US">
                      <a:noFill/>
                    </a:rPr>
                    <a:t> </a:t>
                  </a:r>
                </a:p>
              </p:txBody>
            </p:sp>
          </mc:Fallback>
        </mc:AlternateContent>
      </p:grpSp>
      <p:grpSp>
        <p:nvGrpSpPr>
          <p:cNvPr id="26" name="グループ化 25">
            <a:extLst>
              <a:ext uri="{FF2B5EF4-FFF2-40B4-BE49-F238E27FC236}">
                <a16:creationId xmlns:a16="http://schemas.microsoft.com/office/drawing/2014/main" id="{07051DCB-E807-2D49-AA0C-D1DC10F3A657}"/>
              </a:ext>
            </a:extLst>
          </p:cNvPr>
          <p:cNvGrpSpPr/>
          <p:nvPr/>
        </p:nvGrpSpPr>
        <p:grpSpPr>
          <a:xfrm>
            <a:off x="352817" y="3902926"/>
            <a:ext cx="1813148" cy="706793"/>
            <a:chOff x="3119607" y="3750198"/>
            <a:chExt cx="1813148" cy="706793"/>
          </a:xfrm>
        </p:grpSpPr>
        <p:cxnSp>
          <p:nvCxnSpPr>
            <p:cNvPr id="27" name="直線矢印コネクタ 26">
              <a:extLst>
                <a:ext uri="{FF2B5EF4-FFF2-40B4-BE49-F238E27FC236}">
                  <a16:creationId xmlns:a16="http://schemas.microsoft.com/office/drawing/2014/main" id="{73679C77-E45E-0A49-9E8B-6B8D038425A2}"/>
                </a:ext>
              </a:extLst>
            </p:cNvPr>
            <p:cNvCxnSpPr/>
            <p:nvPr/>
          </p:nvCxnSpPr>
          <p:spPr>
            <a:xfrm>
              <a:off x="3119607" y="3750198"/>
              <a:ext cx="1813148" cy="0"/>
            </a:xfrm>
            <a:prstGeom prst="straightConnector1">
              <a:avLst/>
            </a:prstGeom>
            <a:ln w="57150">
              <a:solidFill>
                <a:srgbClr val="EAB37F"/>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A18C06EB-59C1-B54E-ABF3-42F7CE3A7842}"/>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競争</a:t>
              </a:r>
            </a:p>
          </p:txBody>
        </p: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34D82CFC-6F72-A04F-A566-42462BB3D4C5}"/>
                    </a:ext>
                  </a:extLst>
                </p:cNvPr>
                <p:cNvSpPr txBox="1"/>
                <p:nvPr/>
              </p:nvSpPr>
              <p:spPr>
                <a:xfrm>
                  <a:off x="3256463" y="4087659"/>
                  <a:ext cx="1539433"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[1.0,0.0]</m:t>
                        </m:r>
                      </m:oMath>
                    </m:oMathPara>
                  </a14:m>
                  <a:endParaRPr kumimoji="1" lang="ja-JP" altLang="en-US"/>
                </a:p>
              </p:txBody>
            </p:sp>
          </mc:Choice>
          <mc:Fallback xmlns="">
            <p:sp>
              <p:nvSpPr>
                <p:cNvPr id="29" name="テキスト ボックス 28">
                  <a:extLst>
                    <a:ext uri="{FF2B5EF4-FFF2-40B4-BE49-F238E27FC236}">
                      <a16:creationId xmlns:a16="http://schemas.microsoft.com/office/drawing/2014/main" id="{34D82CFC-6F72-A04F-A566-42462BB3D4C5}"/>
                    </a:ext>
                  </a:extLst>
                </p:cNvPr>
                <p:cNvSpPr txBox="1">
                  <a:spLocks noRot="1" noChangeAspect="1" noMove="1" noResize="1" noEditPoints="1" noAdjustHandles="1" noChangeArrowheads="1" noChangeShapeType="1" noTextEdit="1"/>
                </p:cNvSpPr>
                <p:nvPr/>
              </p:nvSpPr>
              <p:spPr>
                <a:xfrm>
                  <a:off x="3256463" y="4087659"/>
                  <a:ext cx="1539433" cy="369332"/>
                </a:xfrm>
                <a:prstGeom prst="rect">
                  <a:avLst/>
                </a:prstGeom>
                <a:blipFill>
                  <a:blip r:embed="rId7"/>
                  <a:stretch>
                    <a:fillRect b="-16667"/>
                  </a:stretch>
                </a:blipFill>
              </p:spPr>
              <p:txBody>
                <a:bodyPr/>
                <a:lstStyle/>
                <a:p>
                  <a:r>
                    <a:rPr lang="ja-JP" altLang="en-US">
                      <a:noFill/>
                    </a:rPr>
                    <a:t> </a:t>
                  </a:r>
                </a:p>
              </p:txBody>
            </p:sp>
          </mc:Fallback>
        </mc:AlternateContent>
      </p:grpSp>
      <p:grpSp>
        <p:nvGrpSpPr>
          <p:cNvPr id="30" name="グループ化 29">
            <a:extLst>
              <a:ext uri="{FF2B5EF4-FFF2-40B4-BE49-F238E27FC236}">
                <a16:creationId xmlns:a16="http://schemas.microsoft.com/office/drawing/2014/main" id="{80587428-C239-4245-93E6-BDFCF0C6AA59}"/>
              </a:ext>
            </a:extLst>
          </p:cNvPr>
          <p:cNvGrpSpPr/>
          <p:nvPr/>
        </p:nvGrpSpPr>
        <p:grpSpPr>
          <a:xfrm>
            <a:off x="163626" y="1160115"/>
            <a:ext cx="4026409" cy="680876"/>
            <a:chOff x="163626" y="1160115"/>
            <a:chExt cx="4026409" cy="680876"/>
          </a:xfrm>
        </p:grpSpPr>
        <p:cxnSp>
          <p:nvCxnSpPr>
            <p:cNvPr id="31" name="直線コネクタ 30">
              <a:extLst>
                <a:ext uri="{FF2B5EF4-FFF2-40B4-BE49-F238E27FC236}">
                  <a16:creationId xmlns:a16="http://schemas.microsoft.com/office/drawing/2014/main" id="{88099B39-C473-AA4E-9AA9-437159A36075}"/>
                </a:ext>
              </a:extLst>
            </p:cNvPr>
            <p:cNvCxnSpPr>
              <a:cxnSpLocks/>
            </p:cNvCxnSpPr>
            <p:nvPr userDrawn="1"/>
          </p:nvCxnSpPr>
          <p:spPr>
            <a:xfrm>
              <a:off x="163626" y="1699846"/>
              <a:ext cx="40264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2" name="正方形/長方形 31">
              <a:extLst>
                <a:ext uri="{FF2B5EF4-FFF2-40B4-BE49-F238E27FC236}">
                  <a16:creationId xmlns:a16="http://schemas.microsoft.com/office/drawing/2014/main" id="{32D90C07-887B-EF41-ADD0-379122F86B8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95AB70AD-1A49-EB4C-9063-85DA2EBD6226}"/>
              </a:ext>
            </a:extLst>
          </p:cNvPr>
          <p:cNvGrpSpPr/>
          <p:nvPr/>
        </p:nvGrpSpPr>
        <p:grpSpPr>
          <a:xfrm>
            <a:off x="7122260" y="3903012"/>
            <a:ext cx="1813148" cy="708075"/>
            <a:chOff x="3119607" y="3750198"/>
            <a:chExt cx="1813148" cy="708075"/>
          </a:xfrm>
        </p:grpSpPr>
        <p:cxnSp>
          <p:nvCxnSpPr>
            <p:cNvPr id="34" name="直線矢印コネクタ 33">
              <a:extLst>
                <a:ext uri="{FF2B5EF4-FFF2-40B4-BE49-F238E27FC236}">
                  <a16:creationId xmlns:a16="http://schemas.microsoft.com/office/drawing/2014/main" id="{61DAE481-D94E-7342-AFD1-99152610E7DF}"/>
                </a:ext>
              </a:extLst>
            </p:cNvPr>
            <p:cNvCxnSpPr/>
            <p:nvPr/>
          </p:nvCxnSpPr>
          <p:spPr>
            <a:xfrm>
              <a:off x="3119607" y="3750198"/>
              <a:ext cx="1813148" cy="0"/>
            </a:xfrm>
            <a:prstGeom prst="straightConnector1">
              <a:avLst/>
            </a:prstGeom>
            <a:ln w="57150">
              <a:solidFill>
                <a:srgbClr val="ABCFDB"/>
              </a:solidFill>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4C5CF0EA-7CE8-D849-848E-364EACAC12F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順応</a:t>
              </a:r>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24AA0743-1755-3E4C-AD49-A34430B6BC71}"/>
                    </a:ext>
                  </a:extLst>
                </p:cNvPr>
                <p:cNvSpPr txBox="1"/>
                <p:nvPr/>
              </p:nvSpPr>
              <p:spPr>
                <a:xfrm>
                  <a:off x="3326437" y="4087659"/>
                  <a:ext cx="1399485"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[0.0,1.0]</m:t>
                        </m:r>
                      </m:oMath>
                    </m:oMathPara>
                  </a14:m>
                  <a:endParaRPr kumimoji="1" lang="ja-JP" altLang="en-US"/>
                </a:p>
              </p:txBody>
            </p:sp>
          </mc:Choice>
          <mc:Fallback xmlns="">
            <p:sp>
              <p:nvSpPr>
                <p:cNvPr id="36" name="テキスト ボックス 35">
                  <a:extLst>
                    <a:ext uri="{FF2B5EF4-FFF2-40B4-BE49-F238E27FC236}">
                      <a16:creationId xmlns:a16="http://schemas.microsoft.com/office/drawing/2014/main" id="{24AA0743-1755-3E4C-AD49-A34430B6BC71}"/>
                    </a:ext>
                  </a:extLst>
                </p:cNvPr>
                <p:cNvSpPr txBox="1">
                  <a:spLocks noRot="1" noChangeAspect="1" noMove="1" noResize="1" noEditPoints="1" noAdjustHandles="1" noChangeArrowheads="1" noChangeShapeType="1" noTextEdit="1"/>
                </p:cNvSpPr>
                <p:nvPr/>
              </p:nvSpPr>
              <p:spPr>
                <a:xfrm>
                  <a:off x="3326437" y="4087659"/>
                  <a:ext cx="1399485" cy="370614"/>
                </a:xfrm>
                <a:prstGeom prst="rect">
                  <a:avLst/>
                </a:prstGeom>
                <a:blipFill>
                  <a:blip r:embed="rId8"/>
                  <a:stretch>
                    <a:fillRect b="-16667"/>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271237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TKI</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9</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218602" cy="680876"/>
            <a:chOff x="163626" y="1160115"/>
            <a:chExt cx="5218602"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2186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エージェントの戦略まとめ</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a:t>
            </a:r>
            <a:br>
              <a:rPr lang="en-US" altLang="ja-JP" dirty="0"/>
            </a:br>
            <a:r>
              <a:rPr lang="ja-JP" altLang="en-US"/>
              <a:t>相手の</a:t>
            </a:r>
            <a:r>
              <a:rPr lang="ja-JP" altLang="en-US">
                <a:solidFill>
                  <a:schemeClr val="accent1"/>
                </a:solidFill>
              </a:rPr>
              <a:t>積極性・協調性の値を求める</a:t>
            </a:r>
            <a:endParaRPr lang="en-US" altLang="ja-JP" dirty="0">
              <a:solidFill>
                <a:schemeClr val="accent1"/>
              </a:solidFill>
            </a:endParaRPr>
          </a:p>
          <a:p>
            <a:pPr lvl="1"/>
            <a:r>
              <a:rPr lang="ja-JP" altLang="en-US"/>
              <a:t>移動平均を用いる</a:t>
            </a:r>
            <a:endParaRPr lang="en-US" altLang="ja-JP" dirty="0"/>
          </a:p>
          <a:p>
            <a:r>
              <a:rPr lang="ja-JP" altLang="en-US"/>
              <a:t>算出した</a:t>
            </a:r>
            <a:r>
              <a:rPr lang="en-US" altLang="ja-JP" dirty="0"/>
              <a:t>2</a:t>
            </a:r>
            <a:r>
              <a:rPr lang="ja-JP" altLang="en-US"/>
              <a:t>つの尺度の値と</a:t>
            </a:r>
            <a:br>
              <a:rPr lang="en-US" altLang="ja-JP" dirty="0"/>
            </a:br>
            <a:r>
              <a:rPr lang="ja-JP" altLang="en-US"/>
              <a:t>各カテゴリの</a:t>
            </a:r>
            <a:r>
              <a:rPr lang="ja-JP" altLang="en-US">
                <a:solidFill>
                  <a:schemeClr val="accent1"/>
                </a:solidFill>
              </a:rPr>
              <a:t>ベクトルの距離を計算</a:t>
            </a:r>
            <a:endParaRPr lang="en-US" altLang="ja-JP" dirty="0">
              <a:solidFill>
                <a:schemeClr val="accent1"/>
              </a:solidFill>
            </a:endParaRPr>
          </a:p>
          <a:p>
            <a:r>
              <a:rPr lang="ja-JP" altLang="en-US"/>
              <a:t>距離を元に</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54" name="グループ化 53">
            <a:extLst>
              <a:ext uri="{FF2B5EF4-FFF2-40B4-BE49-F238E27FC236}">
                <a16:creationId xmlns:a16="http://schemas.microsoft.com/office/drawing/2014/main" id="{2165357C-4927-174B-A170-E6830385DABB}"/>
              </a:ext>
            </a:extLst>
          </p:cNvPr>
          <p:cNvGrpSpPr/>
          <p:nvPr/>
        </p:nvGrpSpPr>
        <p:grpSpPr>
          <a:xfrm>
            <a:off x="398611" y="4444355"/>
            <a:ext cx="7758865" cy="1963886"/>
            <a:chOff x="236563" y="4444355"/>
            <a:chExt cx="7758865" cy="1963886"/>
          </a:xfrm>
        </p:grpSpPr>
        <p:grpSp>
          <p:nvGrpSpPr>
            <p:cNvPr id="8" name="グループ化 7">
              <a:extLst>
                <a:ext uri="{FF2B5EF4-FFF2-40B4-BE49-F238E27FC236}">
                  <a16:creationId xmlns:a16="http://schemas.microsoft.com/office/drawing/2014/main" id="{9065FB69-4CE3-514C-9F03-5515861C1717}"/>
                </a:ext>
              </a:extLst>
            </p:cNvPr>
            <p:cNvGrpSpPr/>
            <p:nvPr/>
          </p:nvGrpSpPr>
          <p:grpSpPr>
            <a:xfrm>
              <a:off x="3504593" y="5114930"/>
              <a:ext cx="1994463" cy="1016312"/>
              <a:chOff x="3369630" y="5195061"/>
              <a:chExt cx="1994463" cy="1016312"/>
            </a:xfrm>
          </p:grpSpPr>
          <p:cxnSp>
            <p:nvCxnSpPr>
              <p:cNvPr id="34" name="直線矢印コネクタ 33">
                <a:extLst>
                  <a:ext uri="{FF2B5EF4-FFF2-40B4-BE49-F238E27FC236}">
                    <a16:creationId xmlns:a16="http://schemas.microsoft.com/office/drawing/2014/main" id="{9E583E9C-DB90-884C-99DF-09A11BC1D48E}"/>
                  </a:ext>
                </a:extLst>
              </p:cNvPr>
              <p:cNvCxnSpPr/>
              <p:nvPr/>
            </p:nvCxnSpPr>
            <p:spPr>
              <a:xfrm>
                <a:off x="3369630" y="5665274"/>
                <a:ext cx="1994463" cy="0"/>
              </a:xfrm>
              <a:prstGeom prst="straightConnector1">
                <a:avLst/>
              </a:prstGeom>
              <a:ln w="57150">
                <a:solidFill>
                  <a:srgbClr val="EAB37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12B7248F-DDEE-FE4A-B38E-EF63F9BF85B3}"/>
                  </a:ext>
                </a:extLst>
              </p:cNvPr>
              <p:cNvCxnSpPr>
                <a:cxnSpLocks/>
              </p:cNvCxnSpPr>
              <p:nvPr/>
            </p:nvCxnSpPr>
            <p:spPr>
              <a:xfrm flipV="1">
                <a:off x="3381205" y="5195061"/>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27BEEDC-207D-C44D-95A9-8A6F91AE249E}"/>
                  </a:ext>
                </a:extLst>
              </p:cNvPr>
              <p:cNvSpPr txBox="1"/>
              <p:nvPr/>
            </p:nvSpPr>
            <p:spPr>
              <a:xfrm>
                <a:off x="3483386" y="5842041"/>
                <a:ext cx="1766949" cy="369332"/>
              </a:xfrm>
              <a:prstGeom prst="rect">
                <a:avLst/>
              </a:prstGeom>
              <a:noFill/>
            </p:spPr>
            <p:txBody>
              <a:bodyPr wrap="square" rtlCol="0">
                <a:spAutoFit/>
              </a:bodyPr>
              <a:lstStyle/>
              <a:p>
                <a:pPr algn="ctr"/>
                <a:r>
                  <a:rPr kumimoji="1" lang="ja-JP" altLang="en-US"/>
                  <a:t>距離を計算</a:t>
                </a:r>
              </a:p>
            </p:txBody>
          </p:sp>
        </p:grpSp>
        <p:grpSp>
          <p:nvGrpSpPr>
            <p:cNvPr id="16" name="グループ化 15">
              <a:extLst>
                <a:ext uri="{FF2B5EF4-FFF2-40B4-BE49-F238E27FC236}">
                  <a16:creationId xmlns:a16="http://schemas.microsoft.com/office/drawing/2014/main" id="{FB165451-849D-2B49-B364-C5F08F4247C9}"/>
                </a:ext>
              </a:extLst>
            </p:cNvPr>
            <p:cNvGrpSpPr/>
            <p:nvPr/>
          </p:nvGrpSpPr>
          <p:grpSpPr>
            <a:xfrm>
              <a:off x="236563" y="4814410"/>
              <a:ext cx="2704638" cy="1593831"/>
              <a:chOff x="217031" y="4814410"/>
              <a:chExt cx="2704638" cy="1593831"/>
            </a:xfrm>
          </p:grpSpPr>
          <p:cxnSp>
            <p:nvCxnSpPr>
              <p:cNvPr id="41" name="直線矢印コネクタ 40">
                <a:extLst>
                  <a:ext uri="{FF2B5EF4-FFF2-40B4-BE49-F238E27FC236}">
                    <a16:creationId xmlns:a16="http://schemas.microsoft.com/office/drawing/2014/main" id="{23D81F44-AB32-3647-92FF-C03E93EBE9F5}"/>
                  </a:ext>
                </a:extLst>
              </p:cNvPr>
              <p:cNvCxnSpPr>
                <a:cxnSpLocks/>
              </p:cNvCxnSpPr>
              <p:nvPr/>
            </p:nvCxnSpPr>
            <p:spPr>
              <a:xfrm flipV="1">
                <a:off x="1884604" y="5101167"/>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2234BD33-AC73-2047-8967-E43F42409BAC}"/>
                  </a:ext>
                </a:extLst>
              </p:cNvPr>
              <p:cNvSpPr txBox="1"/>
              <p:nvPr/>
            </p:nvSpPr>
            <p:spPr>
              <a:xfrm>
                <a:off x="217031" y="5761910"/>
                <a:ext cx="2704638" cy="646331"/>
              </a:xfrm>
              <a:prstGeom prst="rect">
                <a:avLst/>
              </a:prstGeom>
              <a:noFill/>
            </p:spPr>
            <p:txBody>
              <a:bodyPr wrap="square" rtlCol="0">
                <a:spAutoFit/>
              </a:bodyPr>
              <a:lstStyle/>
              <a:p>
                <a:pPr algn="ctr"/>
                <a:r>
                  <a:rPr kumimoji="1" lang="ja-JP" altLang="en-US"/>
                  <a:t>積極性・協調性を推定</a:t>
                </a:r>
              </a:p>
            </p:txBody>
          </p:sp>
          <p:sp>
            <p:nvSpPr>
              <p:cNvPr id="10" name="三角形 9">
                <a:extLst>
                  <a:ext uri="{FF2B5EF4-FFF2-40B4-BE49-F238E27FC236}">
                    <a16:creationId xmlns:a16="http://schemas.microsoft.com/office/drawing/2014/main" id="{18949641-2187-F240-8DAD-8825D7C150CC}"/>
                  </a:ext>
                </a:extLst>
              </p:cNvPr>
              <p:cNvSpPr/>
              <p:nvPr/>
            </p:nvSpPr>
            <p:spPr>
              <a:xfrm rot="5400000">
                <a:off x="1510580" y="5227874"/>
                <a:ext cx="296135" cy="1275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616773" y="4814410"/>
                <a:ext cx="861781" cy="947500"/>
                <a:chOff x="674235" y="4814508"/>
                <a:chExt cx="861781" cy="947500"/>
              </a:xfrm>
            </p:grpSpPr>
            <p:sp>
              <p:nvSpPr>
                <p:cNvPr id="14" name="メモ 13">
                  <a:extLst>
                    <a:ext uri="{FF2B5EF4-FFF2-40B4-BE49-F238E27FC236}">
                      <a16:creationId xmlns:a16="http://schemas.microsoft.com/office/drawing/2014/main" id="{503DC9A0-EF36-AF4F-AF5B-D83DF52730DC}"/>
                    </a:ext>
                  </a:extLst>
                </p:cNvPr>
                <p:cNvSpPr/>
                <p:nvPr/>
              </p:nvSpPr>
              <p:spPr>
                <a:xfrm rot="10800000">
                  <a:off x="763672" y="4814508"/>
                  <a:ext cx="682907" cy="947500"/>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674235" y="5172252"/>
                  <a:ext cx="861781" cy="369332"/>
                </a:xfrm>
                <a:prstGeom prst="rect">
                  <a:avLst/>
                </a:prstGeom>
                <a:noFill/>
              </p:spPr>
              <p:txBody>
                <a:bodyPr wrap="square" rtlCol="0">
                  <a:spAutoFit/>
                </a:bodyPr>
                <a:lstStyle/>
                <a:p>
                  <a:pPr algn="ctr"/>
                  <a:r>
                    <a:rPr kumimoji="1" lang="en-US" altLang="ja-JP" dirty="0"/>
                    <a:t>Offer</a:t>
                  </a:r>
                  <a:endParaRPr kumimoji="1" lang="ja-JP" altLang="en-US"/>
                </a:p>
              </p:txBody>
            </p:sp>
          </p:grpSp>
        </p:grpSp>
        <p:sp>
          <p:nvSpPr>
            <p:cNvPr id="17" name="右矢印 16">
              <a:extLst>
                <a:ext uri="{FF2B5EF4-FFF2-40B4-BE49-F238E27FC236}">
                  <a16:creationId xmlns:a16="http://schemas.microsoft.com/office/drawing/2014/main" id="{B4942326-2527-5F4D-8CFC-5F502952CC8A}"/>
                </a:ext>
              </a:extLst>
            </p:cNvPr>
            <p:cNvSpPr/>
            <p:nvPr/>
          </p:nvSpPr>
          <p:spPr>
            <a:xfrm>
              <a:off x="3082921"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右矢印 44">
              <a:extLst>
                <a:ext uri="{FF2B5EF4-FFF2-40B4-BE49-F238E27FC236}">
                  <a16:creationId xmlns:a16="http://schemas.microsoft.com/office/drawing/2014/main" id="{9FF18A30-A3C7-1E47-B8A4-C9BBA76EB2BB}"/>
                </a:ext>
              </a:extLst>
            </p:cNvPr>
            <p:cNvSpPr/>
            <p:nvPr/>
          </p:nvSpPr>
          <p:spPr>
            <a:xfrm>
              <a:off x="5815896"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BB40CDB-767C-F846-81FC-D50EEBDEDF91}"/>
                </a:ext>
              </a:extLst>
            </p:cNvPr>
            <p:cNvGrpSpPr/>
            <p:nvPr/>
          </p:nvGrpSpPr>
          <p:grpSpPr>
            <a:xfrm>
              <a:off x="6051784" y="4444355"/>
              <a:ext cx="1943644" cy="1963886"/>
              <a:chOff x="6051784" y="4444355"/>
              <a:chExt cx="1943644" cy="1963886"/>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388405" y="4444355"/>
                <a:ext cx="1270404" cy="1270404"/>
                <a:chOff x="6886936" y="4676172"/>
                <a:chExt cx="1270404" cy="1270404"/>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676172"/>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299799"/>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6412375" y="48142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6412375" y="48497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051784" y="5761910"/>
                <a:ext cx="1943644" cy="646331"/>
              </a:xfrm>
              <a:prstGeom prst="rect">
                <a:avLst/>
              </a:prstGeom>
              <a:noFill/>
            </p:spPr>
            <p:txBody>
              <a:bodyPr wrap="square" rtlCol="0">
                <a:spAutoFit/>
              </a:bodyPr>
              <a:lstStyle/>
              <a:p>
                <a:pPr algn="ctr"/>
                <a:r>
                  <a:rPr kumimoji="1" lang="ja-JP" altLang="en-US"/>
                  <a:t>譲歩速度の変更</a:t>
                </a:r>
              </a:p>
            </p:txBody>
          </p:sp>
        </p:grpSp>
      </p:grpSp>
      <p:pic>
        <p:nvPicPr>
          <p:cNvPr id="36" name="図 35">
            <a:extLst>
              <a:ext uri="{FF2B5EF4-FFF2-40B4-BE49-F238E27FC236}">
                <a16:creationId xmlns:a16="http://schemas.microsoft.com/office/drawing/2014/main" id="{F19E9765-88FB-7C46-84B8-E05BB0CAFEED}"/>
              </a:ext>
            </a:extLst>
          </p:cNvPr>
          <p:cNvPicPr>
            <a:picLocks noChangeAspect="1"/>
          </p:cNvPicPr>
          <p:nvPr/>
        </p:nvPicPr>
        <p:blipFill>
          <a:blip r:embed="rId4"/>
          <a:stretch>
            <a:fillRect/>
          </a:stretch>
        </p:blipFill>
        <p:spPr>
          <a:xfrm>
            <a:off x="6847144" y="1030556"/>
            <a:ext cx="2222334" cy="2750219"/>
          </a:xfrm>
          <a:prstGeom prst="rect">
            <a:avLst/>
          </a:prstGeom>
        </p:spPr>
      </p:pic>
    </p:spTree>
    <p:extLst>
      <p:ext uri="{BB962C8B-B14F-4D97-AF65-F5344CB8AC3E}">
        <p14:creationId xmlns:p14="http://schemas.microsoft.com/office/powerpoint/2010/main" val="374478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譲歩速度</a:t>
                </a:r>
                <a:endParaRPr lang="en-US" altLang="ja-JP" dirty="0"/>
              </a:p>
              <a:p>
                <a:pPr lvl="1"/>
                <a14:m>
                  <m:oMath xmlns:m="http://schemas.openxmlformats.org/officeDocument/2006/math">
                    <m:r>
                      <a:rPr lang="ja-JP" altLang="en-US" b="0" i="1" dirty="0">
                        <a:latin typeface="Cambria Math" panose="02040503050406030204" pitchFamily="18" charset="0"/>
                      </a:rPr>
                      <m:t>競争</m:t>
                    </m:r>
                    <m:r>
                      <a:rPr lang="en-US" altLang="ja-JP" b="0" i="0" smtClean="0">
                        <a:latin typeface="Cambria Math" panose="02040503050406030204" pitchFamily="18" charset="0"/>
                      </a:rPr>
                      <m:t>&gt;</m:t>
                    </m:r>
                    <m:r>
                      <a:rPr lang="ja-JP" altLang="en-US" i="1">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共存</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b="0" i="1" smtClean="0">
                        <a:latin typeface="Cambria Math" panose="02040503050406030204" pitchFamily="18" charset="0"/>
                      </a:rPr>
                      <m:t>&gt;</m:t>
                    </m:r>
                    <m:r>
                      <a:rPr lang="ja-JP" altLang="en-US" i="1">
                        <a:latin typeface="Cambria Math" panose="02040503050406030204" pitchFamily="18" charset="0"/>
                      </a:rPr>
                      <m:t>適応</m:t>
                    </m:r>
                  </m:oMath>
                </a14:m>
                <a:endParaRPr lang="en-US" altLang="ja-JP" dirty="0"/>
              </a:p>
              <a:p>
                <a:r>
                  <a:rPr lang="en-US" altLang="ja-JP" dirty="0"/>
                  <a:t>Offer</a:t>
                </a:r>
                <a:r>
                  <a:rPr lang="ja-JP" altLang="en-US"/>
                  <a:t>のパターン</a:t>
                </a:r>
                <a:endParaRPr lang="en-US" altLang="ja-JP" dirty="0"/>
              </a:p>
              <a:p>
                <a:pPr lvl="1"/>
                <a14:m>
                  <m:oMath xmlns:m="http://schemas.openxmlformats.org/officeDocument/2006/math">
                    <m:r>
                      <a:rPr lang="ja-JP" altLang="en-US" i="1" smtClean="0">
                        <a:latin typeface="Cambria Math" panose="02040503050406030204" pitchFamily="18" charset="0"/>
                      </a:rPr>
                      <m:t>回避</m:t>
                    </m:r>
                    <m:r>
                      <a:rPr lang="en-US" altLang="ja-JP" i="1">
                        <a:latin typeface="Cambria Math" panose="02040503050406030204" pitchFamily="18" charset="0"/>
                      </a:rPr>
                      <m:t>≥</m:t>
                    </m:r>
                    <m:r>
                      <a:rPr lang="ja-JP" altLang="en-US" i="1">
                        <a:latin typeface="Cambria Math" panose="02040503050406030204" pitchFamily="18" charset="0"/>
                      </a:rPr>
                      <m:t>適応</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i="1">
                        <a:latin typeface="Cambria Math" panose="02040503050406030204" pitchFamily="18" charset="0"/>
                      </a:rPr>
                      <m:t>&gt;</m:t>
                    </m:r>
                    <m:r>
                      <a:rPr lang="ja-JP" altLang="en-US" i="1">
                        <a:latin typeface="Cambria Math" panose="02040503050406030204" pitchFamily="18" charset="0"/>
                      </a:rPr>
                      <m:t>競争</m:t>
                    </m:r>
                    <m:r>
                      <a:rPr lang="en-US" altLang="ja-JP" i="1">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r>
                  <a:rPr lang="en-US" altLang="ja-JP" dirty="0"/>
                  <a:t>Offer</a:t>
                </a:r>
                <a:r>
                  <a:rPr lang="ja-JP" altLang="en-US"/>
                  <a:t>・行動頻度</a:t>
                </a:r>
                <a:endParaRPr lang="en-US" altLang="ja-JP" dirty="0"/>
              </a:p>
              <a:p>
                <a:pPr lvl="1"/>
                <a14:m>
                  <m:oMath xmlns:m="http://schemas.openxmlformats.org/officeDocument/2006/math">
                    <m:r>
                      <a:rPr lang="ja-JP" altLang="en-US" b="0" i="1" dirty="0">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適応</m:t>
                    </m:r>
                    <m:r>
                      <a:rPr lang="en-US" altLang="ja-JP" b="0" i="1" smtClean="0">
                        <a:latin typeface="Cambria Math" panose="02040503050406030204" pitchFamily="18" charset="0"/>
                      </a:rPr>
                      <m:t>&gt;</m:t>
                    </m:r>
                    <m:r>
                      <a:rPr lang="ja-JP" altLang="en-US" i="1" smtClean="0">
                        <a:latin typeface="Cambria Math" panose="02040503050406030204" pitchFamily="18" charset="0"/>
                      </a:rPr>
                      <m:t>妥協</m:t>
                    </m:r>
                    <m:r>
                      <a:rPr lang="en-US" altLang="ja-JP" i="1">
                        <a:latin typeface="Cambria Math" panose="02040503050406030204" pitchFamily="18" charset="0"/>
                      </a:rPr>
                      <m:t>&gt;</m:t>
                    </m:r>
                    <m:r>
                      <a:rPr lang="ja-JP" altLang="en-US" i="1" smtClean="0">
                        <a:latin typeface="Cambria Math" panose="02040503050406030204" pitchFamily="18" charset="0"/>
                      </a:rPr>
                      <m:t>競争</m:t>
                    </m:r>
                    <m:r>
                      <a:rPr lang="en-US" altLang="ja-JP" b="0" i="1" smtClean="0">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blipFill>
                <a:blip r:embed="rId2"/>
                <a:stretch>
                  <a:fillRect t="-1887"/>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10</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3"/>
          <a:stretch>
            <a:fillRect/>
          </a:stretch>
        </p:blipFill>
        <p:spPr>
          <a:xfrm>
            <a:off x="6847144" y="1030556"/>
            <a:ext cx="2222334" cy="2750219"/>
          </a:xfrm>
          <a:prstGeom prst="rect">
            <a:avLst/>
          </a:prstGeom>
        </p:spPr>
      </p:pic>
      <p:grpSp>
        <p:nvGrpSpPr>
          <p:cNvPr id="15" name="グループ化 14">
            <a:extLst>
              <a:ext uri="{FF2B5EF4-FFF2-40B4-BE49-F238E27FC236}">
                <a16:creationId xmlns:a16="http://schemas.microsoft.com/office/drawing/2014/main" id="{C5C466F6-7EB0-2B4C-8B9F-5F351C14C7EF}"/>
              </a:ext>
            </a:extLst>
          </p:cNvPr>
          <p:cNvGrpSpPr/>
          <p:nvPr/>
        </p:nvGrpSpPr>
        <p:grpSpPr>
          <a:xfrm>
            <a:off x="163626" y="1160115"/>
            <a:ext cx="4836637" cy="680876"/>
            <a:chOff x="163626" y="1160115"/>
            <a:chExt cx="4836637" cy="680876"/>
          </a:xfrm>
        </p:grpSpPr>
        <p:cxnSp>
          <p:nvCxnSpPr>
            <p:cNvPr id="16" name="直線コネクタ 15">
              <a:extLst>
                <a:ext uri="{FF2B5EF4-FFF2-40B4-BE49-F238E27FC236}">
                  <a16:creationId xmlns:a16="http://schemas.microsoft.com/office/drawing/2014/main" id="{5C6C6833-EA00-AB40-8A4B-3EC05B9F5CFB}"/>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869924E9-9C77-4D4D-BB8F-6AC927DE52B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B0876A5-390F-D744-AF2F-7706ACC6B6B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390310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r>
              <a:rPr kumimoji="1" lang="en-US" altLang="ja-JP" dirty="0"/>
              <a:t>BIG5</a:t>
            </a:r>
            <a:r>
              <a:rPr lang="ja-JP" altLang="en-US"/>
              <a:t>は各因子の値のバランスを見て性格を推定する</a:t>
            </a:r>
            <a:endParaRPr lang="en-US" altLang="ja-JP" dirty="0"/>
          </a:p>
          <a:p>
            <a:pPr lvl="1"/>
            <a:r>
              <a:rPr kumimoji="1" lang="ja-JP" altLang="en-US"/>
              <a:t>ベクトルの向き</a:t>
            </a:r>
            <a:r>
              <a:rPr lang="ja-JP" altLang="en-US"/>
              <a:t>より大きさのバランスが重要</a:t>
            </a:r>
            <a:endParaRPr lang="en-US" altLang="ja-JP" dirty="0"/>
          </a:p>
          <a:p>
            <a:pPr lvl="1"/>
            <a:r>
              <a:rPr lang="ja-JP" altLang="en-US"/>
              <a:t>ユークリッド距離を計算し距離が近いほどカテゴリに</a:t>
            </a:r>
            <a:br>
              <a:rPr lang="en-US" altLang="ja-JP" dirty="0"/>
            </a:br>
            <a:r>
              <a:rPr lang="ja-JP" altLang="en-US"/>
              <a:t>分類される可能性が高いとみなす</a:t>
            </a:r>
            <a:endParaRPr lang="en-US" altLang="ja-JP" dirty="0"/>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2020/7/3</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11</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6346902" cy="680876"/>
            <a:chOff x="163626" y="1160115"/>
            <a:chExt cx="6346902"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63469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ベクトルの類似度</a:t>
            </a:r>
            <a:r>
              <a:rPr lang="en-US" altLang="ja-JP" dirty="0"/>
              <a:t>(</a:t>
            </a:r>
            <a:r>
              <a:rPr lang="ja-JP" altLang="en-US"/>
              <a:t>距離</a:t>
            </a:r>
            <a:r>
              <a:rPr lang="en-US" altLang="ja-JP" dirty="0"/>
              <a:t>)</a:t>
            </a:r>
            <a:r>
              <a:rPr lang="ja-JP" altLang="en-US"/>
              <a:t>について</a:t>
            </a:r>
          </a:p>
        </p:txBody>
      </p:sp>
      <p:pic>
        <p:nvPicPr>
          <p:cNvPr id="17" name="図 16">
            <a:extLst>
              <a:ext uri="{FF2B5EF4-FFF2-40B4-BE49-F238E27FC236}">
                <a16:creationId xmlns:a16="http://schemas.microsoft.com/office/drawing/2014/main" id="{9A8C005F-4BA9-5F47-944D-65A056DC06D1}"/>
              </a:ext>
            </a:extLst>
          </p:cNvPr>
          <p:cNvPicPr>
            <a:picLocks noChangeAspect="1"/>
          </p:cNvPicPr>
          <p:nvPr/>
        </p:nvPicPr>
        <p:blipFill>
          <a:blip r:embed="rId4"/>
          <a:stretch>
            <a:fillRect/>
          </a:stretch>
        </p:blipFill>
        <p:spPr>
          <a:xfrm>
            <a:off x="3009352" y="3360705"/>
            <a:ext cx="3127768" cy="3358677"/>
          </a:xfrm>
          <a:prstGeom prst="rect">
            <a:avLst/>
          </a:prstGeom>
        </p:spPr>
      </p:pic>
    </p:spTree>
    <p:extLst>
      <p:ext uri="{BB962C8B-B14F-4D97-AF65-F5344CB8AC3E}">
        <p14:creationId xmlns:p14="http://schemas.microsoft.com/office/powerpoint/2010/main" val="2168123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r>
                  <a:rPr kumimoji="1" lang="ja-JP" altLang="en-US"/>
                  <a:t>既存研究を元に決めていこうと思っている</a:t>
                </a:r>
                <a:endParaRPr kumimoji="1" lang="en-US" altLang="ja-JP" dirty="0"/>
              </a:p>
              <a:p>
                <a:pPr lvl="1"/>
                <a:r>
                  <a:rPr kumimoji="1" lang="ja-JP" altLang="en-US"/>
                  <a:t>その論文で用いている譲歩関数</a:t>
                </a:r>
                <a:br>
                  <a:rPr kumimoji="1" lang="en-US" altLang="ja-JP" dirty="0"/>
                </a:br>
                <a:r>
                  <a:rPr kumimoji="1" lang="ja-JP" altLang="en-US"/>
                  <a:t>は以下の通り</a:t>
                </a:r>
                <a:endParaRPr kumimoji="1" lang="en-US" altLang="ja-JP" dirty="0"/>
              </a:p>
              <a:p>
                <a:pPr lvl="2"/>
                <a14:m>
                  <m:oMath xmlns:m="http://schemas.openxmlformats.org/officeDocument/2006/math">
                    <m:r>
                      <a:rPr lang="en-US" altLang="ja-JP" b="0" i="1" smtClean="0">
                        <a:latin typeface="Cambria Math" panose="02040503050406030204" pitchFamily="18" charset="0"/>
                      </a:rPr>
                      <m:t>𝑡𝑎𝑟𝑔𝑒𝑡</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max</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=1−</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𝑈</m:t>
                        </m:r>
                      </m:e>
                      <m:sub>
                        <m:r>
                          <a:rPr lang="en-US" altLang="ja-JP" b="0" i="1" smtClean="0">
                            <a:latin typeface="Cambria Math" panose="02040503050406030204" pitchFamily="18" charset="0"/>
                          </a:rPr>
                          <m:t>𝐴</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𝑏𝑖</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𝑑</m:t>
                            </m:r>
                          </m:e>
                          <m:sub>
                            <m:r>
                              <a:rPr lang="en-US" altLang="ja-JP" b="0" i="1" smtClean="0">
                                <a:latin typeface="Cambria Math" panose="02040503050406030204" pitchFamily="18" charset="0"/>
                              </a:rPr>
                              <m:t>𝑡</m:t>
                            </m:r>
                            <m:r>
                              <a:rPr lang="en-US" altLang="ja-JP" b="0" i="1" smtClean="0">
                                <a:latin typeface="Cambria Math" panose="02040503050406030204" pitchFamily="18" charset="0"/>
                              </a:rPr>
                              <m:t>−1</m:t>
                            </m:r>
                          </m:sub>
                        </m:sSub>
                      </m:e>
                    </m:d>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d>
                          <m:dPr>
                            <m:ctrlPr>
                              <a:rPr lang="en-US" altLang="ja-JP" b="0" i="1" smtClean="0">
                                <a:latin typeface="Cambria Math" panose="02040503050406030204" pitchFamily="18" charset="0"/>
                              </a:rPr>
                            </m:ctrlPr>
                          </m:dPr>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𝑡</m:t>
                                </m:r>
                              </m:num>
                              <m:den>
                                <m:r>
                                  <a:rPr lang="en-US" altLang="ja-JP" b="0" i="1" smtClean="0">
                                    <a:latin typeface="Cambria Math" panose="02040503050406030204" pitchFamily="18" charset="0"/>
                                  </a:rPr>
                                  <m:t>𝑛</m:t>
                                </m:r>
                              </m:den>
                            </m:f>
                          </m:e>
                        </m:d>
                      </m:e>
                      <m:sup>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𝛼</m:t>
                            </m:r>
                          </m:den>
                        </m:f>
                      </m:sup>
                    </m:sSup>
                  </m:oMath>
                </a14:m>
                <a:endParaRPr lang="en-US" altLang="ja-JP" b="0" dirty="0"/>
              </a:p>
            </p:txBody>
          </p:sp>
        </mc:Choice>
        <mc:Fallback>
          <p:sp>
            <p:nvSpPr>
              <p:cNvPr id="3" name="コンテンツ プレースホルダー 2">
                <a:extLst>
                  <a:ext uri="{FF2B5EF4-FFF2-40B4-BE49-F238E27FC236}">
                    <a16:creationId xmlns:a16="http://schemas.microsoft.com/office/drawing/2014/main" id="{6229DDA1-6C79-D941-87FB-D426CD549B15}"/>
                  </a:ext>
                </a:extLst>
              </p:cNvPr>
              <p:cNvSpPr>
                <a:spLocks noGrp="1" noRot="1" noChangeAspect="1" noMove="1" noResize="1" noEditPoints="1" noAdjustHandles="1" noChangeArrowheads="1" noChangeShapeType="1" noTextEdit="1"/>
              </p:cNvSpPr>
              <p:nvPr>
                <p:ph idx="1"/>
              </p:nvPr>
            </p:nvSpPr>
            <p:spPr>
              <a:xfrm>
                <a:off x="194898" y="1884384"/>
                <a:ext cx="8859709" cy="3463117"/>
              </a:xfrm>
              <a:blipFill>
                <a:blip r:embed="rId2"/>
                <a:stretch>
                  <a:fillRect t="-2555"/>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2020/7/3</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12</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3622763" cy="680876"/>
            <a:chOff x="163626" y="1160115"/>
            <a:chExt cx="3622763"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36227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譲歩速度について</a:t>
            </a:r>
          </a:p>
        </p:txBody>
      </p:sp>
      <p:pic>
        <p:nvPicPr>
          <p:cNvPr id="14" name="図 13" descr="テキスト, 地図 が含まれている画像&#10;&#10;自動的に生成された説明">
            <a:extLst>
              <a:ext uri="{FF2B5EF4-FFF2-40B4-BE49-F238E27FC236}">
                <a16:creationId xmlns:a16="http://schemas.microsoft.com/office/drawing/2014/main" id="{7BBBCA6A-D968-9246-8E2E-D89E5B6033A6}"/>
              </a:ext>
            </a:extLst>
          </p:cNvPr>
          <p:cNvPicPr>
            <a:picLocks noChangeAspect="1"/>
          </p:cNvPicPr>
          <p:nvPr/>
        </p:nvPicPr>
        <p:blipFill>
          <a:blip r:embed="rId5"/>
          <a:stretch>
            <a:fillRect/>
          </a:stretch>
        </p:blipFill>
        <p:spPr>
          <a:xfrm>
            <a:off x="5369963" y="2408064"/>
            <a:ext cx="3700660" cy="3463117"/>
          </a:xfrm>
          <a:prstGeom prst="rect">
            <a:avLst/>
          </a:prstGeom>
        </p:spPr>
      </p:pic>
      <p:grpSp>
        <p:nvGrpSpPr>
          <p:cNvPr id="18" name="グループ化 17">
            <a:extLst>
              <a:ext uri="{FF2B5EF4-FFF2-40B4-BE49-F238E27FC236}">
                <a16:creationId xmlns:a16="http://schemas.microsoft.com/office/drawing/2014/main" id="{34ADD1CD-BAD9-824B-953D-3EA3E7286022}"/>
              </a:ext>
            </a:extLst>
          </p:cNvPr>
          <p:cNvGrpSpPr/>
          <p:nvPr/>
        </p:nvGrpSpPr>
        <p:grpSpPr>
          <a:xfrm>
            <a:off x="542923" y="4629150"/>
            <a:ext cx="4585875" cy="1830524"/>
            <a:chOff x="542923" y="4514848"/>
            <a:chExt cx="4585875" cy="1830524"/>
          </a:xfrm>
        </p:grpSpPr>
        <p:sp>
          <p:nvSpPr>
            <p:cNvPr id="15" name="角丸四角形 14">
              <a:extLst>
                <a:ext uri="{FF2B5EF4-FFF2-40B4-BE49-F238E27FC236}">
                  <a16:creationId xmlns:a16="http://schemas.microsoft.com/office/drawing/2014/main" id="{E267E99A-BE26-E94E-AD62-F2132A1EC497}"/>
                </a:ext>
              </a:extLst>
            </p:cNvPr>
            <p:cNvSpPr/>
            <p:nvPr/>
          </p:nvSpPr>
          <p:spPr>
            <a:xfrm>
              <a:off x="542923" y="4514848"/>
              <a:ext cx="4585875" cy="1830524"/>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16" name="テキスト ボックス 15">
                  <a:extLst>
                    <a:ext uri="{FF2B5EF4-FFF2-40B4-BE49-F238E27FC236}">
                      <a16:creationId xmlns:a16="http://schemas.microsoft.com/office/drawing/2014/main" id="{C0128703-E186-C442-8F79-E1B1F3A9B551}"/>
                    </a:ext>
                  </a:extLst>
                </p:cNvPr>
                <p:cNvSpPr txBox="1"/>
                <p:nvPr/>
              </p:nvSpPr>
              <p:spPr>
                <a:xfrm>
                  <a:off x="644490" y="4572001"/>
                  <a:ext cx="4455732" cy="177337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ja-JP" altLang="en-US" i="1">
                            <a:latin typeface="Cambria Math" panose="02040503050406030204" pitchFamily="18" charset="0"/>
                          </a:rPr>
                          <m:t>現在の</m:t>
                        </m:r>
                        <m:r>
                          <a:rPr kumimoji="1" lang="ja-JP" altLang="en-US" i="1" smtClean="0">
                            <a:latin typeface="Cambria Math" panose="02040503050406030204" pitchFamily="18" charset="0"/>
                          </a:rPr>
                          <m:t>ラウンド</m:t>
                        </m:r>
                      </m:oMath>
                    </m:oMathPara>
                  </a14:m>
                  <a:endParaRPr kumimoji="1" lang="en-US" altLang="ja-JP"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ja-JP" altLang="en-US" i="1">
                            <a:latin typeface="Cambria Math" panose="02040503050406030204" pitchFamily="18" charset="0"/>
                          </a:rPr>
                          <m:t>ラウンドの</m:t>
                        </m:r>
                        <m:r>
                          <a:rPr kumimoji="1" lang="ja-JP" altLang="en-US" i="1" smtClean="0">
                            <a:latin typeface="Cambria Math" panose="02040503050406030204" pitchFamily="18" charset="0"/>
                          </a:rPr>
                          <m:t>総数</m:t>
                        </m:r>
                      </m:oMath>
                    </m:oMathPara>
                  </a14:m>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𝛾</m:t>
                          </m:r>
                        </m:e>
                        <m:sub>
                          <m:r>
                            <m:rPr>
                              <m:sty m:val="p"/>
                            </m:rPr>
                            <a:rPr kumimoji="1" lang="en-US" altLang="ja-JP" b="0" i="0" smtClean="0">
                              <a:latin typeface="Cambria Math" panose="02040503050406030204" pitchFamily="18" charset="0"/>
                            </a:rPr>
                            <m:t>min</m:t>
                          </m:r>
                        </m:sub>
                      </m:sSub>
                      <m:r>
                        <a:rPr kumimoji="1" lang="en-US" altLang="ja-JP" b="0" i="1" smtClean="0">
                          <a:latin typeface="Cambria Math" panose="02040503050406030204" pitchFamily="18" charset="0"/>
                        </a:rPr>
                        <m:t>:</m:t>
                      </m:r>
                      <m:r>
                        <a:rPr kumimoji="1" lang="ja-JP" altLang="en-US" i="1">
                          <a:latin typeface="Cambria Math" panose="02040503050406030204" pitchFamily="18" charset="0"/>
                        </a:rPr>
                        <m:t>エージェントの</m:t>
                      </m:r>
                    </m:oMath>
                  </a14:m>
                  <a:r>
                    <a:rPr kumimoji="1" lang="ja-JP" altLang="en-US" dirty="0"/>
                    <a:t>最小</a:t>
                  </a:r>
                  <a:r>
                    <a:rPr kumimoji="1" lang="ja-JP" altLang="en-US"/>
                    <a:t>目標効用</a:t>
                  </a:r>
                  <a:endParaRPr kumimoji="1" lang="en-US" altLang="ja-JP" dirty="0"/>
                </a:p>
                <a:p>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a:latin typeface="Cambria Math" panose="02040503050406030204" pitchFamily="18" charset="0"/>
                            </a:rPr>
                            <m:t>𝛾</m:t>
                          </m:r>
                        </m:e>
                        <m:sub>
                          <m:r>
                            <m:rPr>
                              <m:sty m:val="p"/>
                            </m:rPr>
                            <a:rPr kumimoji="1" lang="en-US" altLang="ja-JP">
                              <a:latin typeface="Cambria Math" panose="02040503050406030204" pitchFamily="18" charset="0"/>
                            </a:rPr>
                            <m:t>m</m:t>
                          </m:r>
                          <m:r>
                            <m:rPr>
                              <m:sty m:val="p"/>
                            </m:rPr>
                            <a:rPr kumimoji="1" lang="en-US" altLang="ja-JP" b="0" i="0" smtClean="0">
                              <a:latin typeface="Cambria Math" panose="02040503050406030204" pitchFamily="18" charset="0"/>
                            </a:rPr>
                            <m:t>ax</m:t>
                          </m:r>
                        </m:sub>
                      </m:sSub>
                      <m:r>
                        <a:rPr kumimoji="1" lang="en-US" altLang="ja-JP" i="1">
                          <a:latin typeface="Cambria Math" panose="02040503050406030204" pitchFamily="18" charset="0"/>
                        </a:rPr>
                        <m:t>:</m:t>
                      </m:r>
                      <m:r>
                        <a:rPr kumimoji="1" lang="ja-JP" altLang="en-US" i="1">
                          <a:latin typeface="Cambria Math" panose="02040503050406030204" pitchFamily="18" charset="0"/>
                        </a:rPr>
                        <m:t>エージェントの</m:t>
                      </m:r>
                      <m:r>
                        <a:rPr kumimoji="1" lang="ja-JP" altLang="en-US" i="1">
                          <a:latin typeface="Cambria Math" panose="02040503050406030204" pitchFamily="18" charset="0"/>
                        </a:rPr>
                        <m:t>最大</m:t>
                      </m:r>
                    </m:oMath>
                  </a14:m>
                  <a:r>
                    <a:rPr kumimoji="1" lang="ja-JP" altLang="en-US"/>
                    <a:t>目標効用</a:t>
                  </a:r>
                  <a:endParaRPr kumimoji="1" lang="en-US" altLang="ja-JP" dirty="0"/>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𝐴</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𝑏𝑖</m:t>
                          </m:r>
                          <m:sSub>
                            <m:sSubPr>
                              <m:ctrlPr>
                                <a:rPr lang="en-US" altLang="ja-JP" i="1">
                                  <a:latin typeface="Cambria Math" panose="02040503050406030204" pitchFamily="18" charset="0"/>
                                </a:rPr>
                              </m:ctrlPr>
                            </m:sSubPr>
                            <m:e>
                              <m:r>
                                <a:rPr lang="en-US" altLang="ja-JP" i="1">
                                  <a:latin typeface="Cambria Math" panose="02040503050406030204" pitchFamily="18" charset="0"/>
                                </a:rPr>
                                <m:t>𝑑</m:t>
                              </m:r>
                            </m:e>
                            <m:sub>
                              <m:r>
                                <a:rPr lang="en-US" altLang="ja-JP" i="1">
                                  <a:latin typeface="Cambria Math" panose="02040503050406030204" pitchFamily="18" charset="0"/>
                                </a:rPr>
                                <m:t>𝑡</m:t>
                              </m:r>
                              <m:r>
                                <a:rPr lang="en-US" altLang="ja-JP" i="1">
                                  <a:latin typeface="Cambria Math" panose="02040503050406030204" pitchFamily="18" charset="0"/>
                                </a:rPr>
                                <m:t>−1</m:t>
                              </m:r>
                            </m:sub>
                          </m:sSub>
                        </m:e>
                      </m:d>
                    </m:oMath>
                  </a14:m>
                  <a:r>
                    <a:rPr kumimoji="1" lang="en-US" altLang="ja-JP" dirty="0"/>
                    <a:t>:</a:t>
                  </a:r>
                  <a:r>
                    <a:rPr kumimoji="1" lang="ja-JP" altLang="en-US"/>
                    <a:t>直前の</a:t>
                  </a:r>
                  <a:r>
                    <a:rPr kumimoji="1" lang="en-US" altLang="ja-JP" dirty="0"/>
                    <a:t>Offer</a:t>
                  </a:r>
                  <a:r>
                    <a:rPr kumimoji="1" lang="ja-JP" altLang="en-US"/>
                    <a:t>でエージェントが</a:t>
                  </a:r>
                  <a:br>
                    <a:rPr kumimoji="1" lang="en-US" altLang="ja-JP" dirty="0"/>
                  </a:br>
                  <a:r>
                    <a:rPr kumimoji="1" lang="ja-JP" altLang="en-US"/>
                    <a:t>　　　　　得られる効用</a:t>
                  </a:r>
                  <a:endParaRPr kumimoji="1" lang="en-US" altLang="ja-JP" dirty="0"/>
                </a:p>
              </p:txBody>
            </p:sp>
          </mc:Choice>
          <mc:Fallback>
            <p:sp>
              <p:nvSpPr>
                <p:cNvPr id="16" name="テキスト ボックス 15">
                  <a:extLst>
                    <a:ext uri="{FF2B5EF4-FFF2-40B4-BE49-F238E27FC236}">
                      <a16:creationId xmlns:a16="http://schemas.microsoft.com/office/drawing/2014/main" id="{C0128703-E186-C442-8F79-E1B1F3A9B551}"/>
                    </a:ext>
                  </a:extLst>
                </p:cNvPr>
                <p:cNvSpPr txBox="1">
                  <a:spLocks noRot="1" noChangeAspect="1" noMove="1" noResize="1" noEditPoints="1" noAdjustHandles="1" noChangeArrowheads="1" noChangeShapeType="1" noTextEdit="1"/>
                </p:cNvSpPr>
                <p:nvPr/>
              </p:nvSpPr>
              <p:spPr>
                <a:xfrm>
                  <a:off x="644490" y="4572001"/>
                  <a:ext cx="4455732" cy="1773371"/>
                </a:xfrm>
                <a:prstGeom prst="rect">
                  <a:avLst/>
                </a:prstGeom>
                <a:blipFill>
                  <a:blip r:embed="rId6"/>
                  <a:stretch>
                    <a:fillRect r="-568" b="-4255"/>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712067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4342794"/>
          </a:xfrm>
        </p:spPr>
        <p:txBody>
          <a:bodyPr/>
          <a:lstStyle/>
          <a:p>
            <a:r>
              <a:rPr lang="ja-JP" altLang="en-US"/>
              <a:t>長期的な交渉ではやはり相手とのコミットメントを築くことが重要</a:t>
            </a:r>
            <a:endParaRPr lang="en-US" altLang="ja-JP" dirty="0"/>
          </a:p>
          <a:p>
            <a:r>
              <a:rPr lang="ja-JP" altLang="en-US"/>
              <a:t>戦略：</a:t>
            </a:r>
            <a:r>
              <a:rPr lang="en-US" altLang="ja-JP" dirty="0"/>
              <a:t>BIG5</a:t>
            </a:r>
            <a:r>
              <a:rPr lang="ja-JP" altLang="en-US"/>
              <a:t>を使った戦略</a:t>
            </a:r>
            <a:endParaRPr lang="en-US" altLang="ja-JP" dirty="0"/>
          </a:p>
          <a:p>
            <a:pPr lvl="1"/>
            <a:r>
              <a:rPr lang="ja-JP" altLang="en-US"/>
              <a:t>特性</a:t>
            </a:r>
            <a:r>
              <a:rPr lang="en-US" altLang="ja-JP" dirty="0"/>
              <a:t>5</a:t>
            </a:r>
            <a:r>
              <a:rPr lang="ja-JP" altLang="en-US"/>
              <a:t>因子の値は測定する期間が空いても変動が少ない</a:t>
            </a:r>
            <a:endParaRPr lang="en-US" altLang="ja-JP" dirty="0"/>
          </a:p>
          <a:p>
            <a:pPr lvl="2"/>
            <a:r>
              <a:rPr lang="ja-JP" altLang="en-US"/>
              <a:t>長期的な交渉に向いているのでは？</a:t>
            </a:r>
            <a:endParaRPr lang="en-US" altLang="ja-JP" dirty="0"/>
          </a:p>
          <a:p>
            <a:pPr lvl="1"/>
            <a:r>
              <a:rPr lang="ja-JP" altLang="en-US"/>
              <a:t>カテゴリ分類とかはせずに単純に相手の特性</a:t>
            </a:r>
            <a:r>
              <a:rPr lang="en-US" altLang="ja-JP" dirty="0"/>
              <a:t>5</a:t>
            </a:r>
            <a:r>
              <a:rPr lang="ja-JP" altLang="en-US"/>
              <a:t>因子の値によって行動を決める</a:t>
            </a:r>
            <a:endParaRPr lang="en-US" altLang="ja-JP" dirty="0"/>
          </a:p>
          <a:p>
            <a:pPr lvl="2"/>
            <a:r>
              <a:rPr lang="ja-JP" altLang="en-US"/>
              <a:t>例</a:t>
            </a:r>
            <a:r>
              <a:rPr lang="en-US" altLang="ja-JP" dirty="0"/>
              <a:t>1</a:t>
            </a:r>
            <a:r>
              <a:rPr lang="ja-JP" altLang="en-US"/>
              <a:t>：外向性が低い相手には</a:t>
            </a:r>
            <a:r>
              <a:rPr lang="en-US" altLang="ja-JP" dirty="0"/>
              <a:t>Offer</a:t>
            </a:r>
            <a:r>
              <a:rPr lang="ja-JP" altLang="en-US"/>
              <a:t>を多く送ってあげる</a:t>
            </a:r>
            <a:endParaRPr lang="en-US" altLang="ja-JP" dirty="0"/>
          </a:p>
          <a:p>
            <a:pPr lvl="2"/>
            <a:r>
              <a:rPr kumimoji="1" lang="ja-JP" altLang="en-US"/>
              <a:t>例</a:t>
            </a:r>
            <a:r>
              <a:rPr kumimoji="1" lang="en-US" altLang="ja-JP" dirty="0"/>
              <a:t>2</a:t>
            </a:r>
            <a:r>
              <a:rPr kumimoji="1" lang="ja-JP" altLang="en-US"/>
              <a:t>：神経症傾向が高い相手には公平な</a:t>
            </a:r>
            <a:r>
              <a:rPr kumimoji="1" lang="en-US" altLang="ja-JP" dirty="0"/>
              <a:t>Offer</a:t>
            </a:r>
            <a:r>
              <a:rPr kumimoji="1" lang="ja-JP" altLang="en-US"/>
              <a:t>を多く送る</a:t>
            </a:r>
            <a:endParaRPr kumimoji="1" lang="en-US" altLang="ja-JP" dirty="0"/>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13</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1630450" cy="680876"/>
            <a:chOff x="163626" y="1160115"/>
            <a:chExt cx="1630450"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163045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ANAC</a:t>
            </a:r>
            <a:endParaRPr lang="ja-JP" altLang="en-US"/>
          </a:p>
        </p:txBody>
      </p:sp>
    </p:spTree>
    <p:extLst>
      <p:ext uri="{BB962C8B-B14F-4D97-AF65-F5344CB8AC3E}">
        <p14:creationId xmlns:p14="http://schemas.microsoft.com/office/powerpoint/2010/main" val="2262094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103724-ACA8-DF4D-A385-1BC4F784F6F2}"/>
              </a:ext>
            </a:extLst>
          </p:cNvPr>
          <p:cNvSpPr>
            <a:spLocks noGrp="1"/>
          </p:cNvSpPr>
          <p:nvPr>
            <p:ph type="title"/>
          </p:nvPr>
        </p:nvSpPr>
        <p:spPr/>
        <p:txBody>
          <a:bodyPr/>
          <a:lstStyle/>
          <a:p>
            <a:r>
              <a:rPr kumimoji="1" lang="ja-JP" altLang="en-US"/>
              <a:t>補足</a:t>
            </a:r>
          </a:p>
        </p:txBody>
      </p:sp>
      <p:sp>
        <p:nvSpPr>
          <p:cNvPr id="3" name="日付プレースホルダー 2">
            <a:extLst>
              <a:ext uri="{FF2B5EF4-FFF2-40B4-BE49-F238E27FC236}">
                <a16:creationId xmlns:a16="http://schemas.microsoft.com/office/drawing/2014/main" id="{FEADFD89-D45F-C942-8216-965C37C5123E}"/>
              </a:ext>
            </a:extLst>
          </p:cNvPr>
          <p:cNvSpPr>
            <a:spLocks noGrp="1"/>
          </p:cNvSpPr>
          <p:nvPr>
            <p:ph type="dt" sz="half" idx="10"/>
          </p:nvPr>
        </p:nvSpPr>
        <p:spPr/>
        <p:txBody>
          <a:bodyPr/>
          <a:lstStyle/>
          <a:p>
            <a:fld id="{484468A3-0919-F54E-B59A-E9ED9FABFE93}" type="datetime1">
              <a:rPr kumimoji="1" lang="ja-JP" altLang="en-US" smtClean="0"/>
              <a:t>2020/7/2</a:t>
            </a:fld>
            <a:endParaRPr kumimoji="1" lang="ja-JP" altLang="en-US"/>
          </a:p>
        </p:txBody>
      </p:sp>
      <p:sp>
        <p:nvSpPr>
          <p:cNvPr id="4" name="フッター プレースホルダー 3">
            <a:extLst>
              <a:ext uri="{FF2B5EF4-FFF2-40B4-BE49-F238E27FC236}">
                <a16:creationId xmlns:a16="http://schemas.microsoft.com/office/drawing/2014/main" id="{CCB8B864-6FF2-414F-B809-58F3F2AAB863}"/>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8CB50CC8-05A9-654B-AEA0-335555BA58A5}"/>
              </a:ext>
            </a:extLst>
          </p:cNvPr>
          <p:cNvSpPr>
            <a:spLocks noGrp="1"/>
          </p:cNvSpPr>
          <p:nvPr>
            <p:ph type="sldNum" sz="quarter" idx="12"/>
          </p:nvPr>
        </p:nvSpPr>
        <p:spPr/>
        <p:txBody>
          <a:bodyPr/>
          <a:lstStyle/>
          <a:p>
            <a:fld id="{2981C279-7323-A845-8A27-BB5908B2F04D}" type="slidenum">
              <a:rPr kumimoji="1" lang="ja-JP" altLang="en-US" smtClean="0"/>
              <a:t>14</a:t>
            </a:fld>
            <a:endParaRPr kumimoji="1" lang="ja-JP" altLang="en-US"/>
          </a:p>
        </p:txBody>
      </p:sp>
      <p:sp>
        <p:nvSpPr>
          <p:cNvPr id="6" name="テキスト プレースホルダー 5">
            <a:extLst>
              <a:ext uri="{FF2B5EF4-FFF2-40B4-BE49-F238E27FC236}">
                <a16:creationId xmlns:a16="http://schemas.microsoft.com/office/drawing/2014/main" id="{3345BB60-32A5-0A47-89A1-B112566F6997}"/>
              </a:ext>
            </a:extLst>
          </p:cNvPr>
          <p:cNvSpPr>
            <a:spLocks noGrp="1"/>
          </p:cNvSpPr>
          <p:nvPr>
            <p:ph type="body" sz="quarter" idx="13"/>
          </p:nvPr>
        </p:nvSpPr>
        <p:spPr/>
        <p:txBody>
          <a:bodyPr/>
          <a:lstStyle/>
          <a:p>
            <a:r>
              <a:rPr kumimoji="1" lang="en-US" altLang="ja-JP" dirty="0"/>
              <a:t>0</a:t>
            </a:r>
            <a:endParaRPr kumimoji="1" lang="ja-JP" altLang="en-US"/>
          </a:p>
        </p:txBody>
      </p:sp>
      <p:pic>
        <p:nvPicPr>
          <p:cNvPr id="8" name="図 7">
            <a:extLst>
              <a:ext uri="{FF2B5EF4-FFF2-40B4-BE49-F238E27FC236}">
                <a16:creationId xmlns:a16="http://schemas.microsoft.com/office/drawing/2014/main" id="{9E33E308-7F92-9F4D-92B7-F943A6AE3C2A}"/>
              </a:ext>
            </a:extLst>
          </p:cNvPr>
          <p:cNvPicPr>
            <a:picLocks noChangeAspect="1"/>
          </p:cNvPicPr>
          <p:nvPr/>
        </p:nvPicPr>
        <p:blipFill>
          <a:blip r:embed="rId2"/>
          <a:stretch>
            <a:fillRect/>
          </a:stretch>
        </p:blipFill>
        <p:spPr>
          <a:xfrm>
            <a:off x="1155700" y="2027604"/>
            <a:ext cx="6832600" cy="4457700"/>
          </a:xfrm>
          <a:prstGeom prst="rect">
            <a:avLst/>
          </a:prstGeom>
        </p:spPr>
      </p:pic>
      <p:grpSp>
        <p:nvGrpSpPr>
          <p:cNvPr id="11" name="グループ化 10">
            <a:extLst>
              <a:ext uri="{FF2B5EF4-FFF2-40B4-BE49-F238E27FC236}">
                <a16:creationId xmlns:a16="http://schemas.microsoft.com/office/drawing/2014/main" id="{B8CFE30F-3219-9146-9460-D520FAF0DE7B}"/>
              </a:ext>
            </a:extLst>
          </p:cNvPr>
          <p:cNvGrpSpPr/>
          <p:nvPr/>
        </p:nvGrpSpPr>
        <p:grpSpPr>
          <a:xfrm>
            <a:off x="163626" y="1160115"/>
            <a:ext cx="4987108" cy="680876"/>
            <a:chOff x="163626" y="1160115"/>
            <a:chExt cx="4987108" cy="680876"/>
          </a:xfrm>
        </p:grpSpPr>
        <p:cxnSp>
          <p:nvCxnSpPr>
            <p:cNvPr id="12" name="直線コネクタ 11">
              <a:extLst>
                <a:ext uri="{FF2B5EF4-FFF2-40B4-BE49-F238E27FC236}">
                  <a16:creationId xmlns:a16="http://schemas.microsoft.com/office/drawing/2014/main" id="{DEB0C066-9DE6-7648-9334-E4615AF10790}"/>
                </a:ext>
              </a:extLst>
            </p:cNvPr>
            <p:cNvCxnSpPr>
              <a:cxnSpLocks/>
            </p:cNvCxnSpPr>
            <p:nvPr userDrawn="1"/>
          </p:nvCxnSpPr>
          <p:spPr>
            <a:xfrm>
              <a:off x="163626" y="1699846"/>
              <a:ext cx="498710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30049B49-0802-B04E-AC36-0E24108CE572}"/>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4" name="テキスト プレースホルダー 12">
            <a:extLst>
              <a:ext uri="{FF2B5EF4-FFF2-40B4-BE49-F238E27FC236}">
                <a16:creationId xmlns:a16="http://schemas.microsoft.com/office/drawing/2014/main" id="{DE351FF0-BB2B-074D-86F2-EF8E3D35EE2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によるカテゴリ分類</a:t>
            </a:r>
          </a:p>
        </p:txBody>
      </p:sp>
    </p:spTree>
    <p:extLst>
      <p:ext uri="{BB962C8B-B14F-4D97-AF65-F5344CB8AC3E}">
        <p14:creationId xmlns:p14="http://schemas.microsoft.com/office/powerpoint/2010/main" val="2792762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507316"/>
              </a:xfrm>
            </p:spPr>
            <p:txBody>
              <a:bodyPr/>
              <a:lstStyle/>
              <a:p>
                <a:r>
                  <a:rPr lang="ja-JP" altLang="en-US"/>
                  <a:t>譲歩速度</a:t>
                </a:r>
                <a:endParaRPr lang="en-US" altLang="ja-JP" dirty="0"/>
              </a:p>
              <a:p>
                <a:pPr lvl="1"/>
                <a:r>
                  <a:rPr lang="ja-JP" altLang="en-US"/>
                  <a:t>わがまま</a:t>
                </a:r>
                <a14:m>
                  <m:oMath xmlns:m="http://schemas.openxmlformats.org/officeDocument/2006/math">
                    <m:r>
                      <a:rPr lang="en-US" altLang="ja-JP" b="0" i="1" smtClean="0">
                        <a:latin typeface="Cambria Math" panose="02040503050406030204" pitchFamily="18" charset="0"/>
                      </a:rPr>
                      <m:t>&gt;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のパターン</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m:t>
                    </m:r>
                  </m:oMath>
                </a14:m>
                <a:r>
                  <a:rPr lang="ja-JP" altLang="en-US"/>
                  <a:t>わがまま</a:t>
                </a:r>
                <a14:m>
                  <m:oMath xmlns:m="http://schemas.openxmlformats.org/officeDocument/2006/math">
                    <m:r>
                      <a:rPr lang="en-US" altLang="ja-JP" i="1">
                        <a:latin typeface="Cambria Math" panose="02040503050406030204" pitchFamily="18" charset="0"/>
                      </a:rPr>
                      <m: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・行動頻度</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普通</a:t>
                </a:r>
                <a14:m>
                  <m:oMath xmlns:m="http://schemas.openxmlformats.org/officeDocument/2006/math">
                    <m:r>
                      <a:rPr lang="en-US" altLang="ja-JP" b="0" i="1" smtClean="0">
                        <a:latin typeface="Cambria Math" panose="02040503050406030204" pitchFamily="18" charset="0"/>
                      </a:rPr>
                      <m:t>≥</m:t>
                    </m:r>
                  </m:oMath>
                </a14:m>
                <a:r>
                  <a:rPr lang="ja-JP" altLang="en-US"/>
                  <a:t>模範</a:t>
                </a:r>
                <a14:m>
                  <m:oMath xmlns:m="http://schemas.openxmlformats.org/officeDocument/2006/math">
                    <m:r>
                      <a:rPr lang="en-US" altLang="ja-JP" i="1" smtClean="0">
                        <a:latin typeface="Cambria Math" panose="02040503050406030204" pitchFamily="18" charset="0"/>
                      </a:rPr>
                      <m:t>&gt;</m:t>
                    </m:r>
                  </m:oMath>
                </a14:m>
                <a:r>
                  <a:rPr lang="ja-JP" altLang="en-US"/>
                  <a:t>わがまま</a:t>
                </a:r>
                <a:endParaRPr lang="en-US" altLang="ja-JP" dirty="0"/>
              </a:p>
              <a:p>
                <a:pPr lvl="1"/>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4507316"/>
              </a:xfrm>
              <a:blipFill>
                <a:blip r:embed="rId2"/>
                <a:stretch>
                  <a:fillRect t="-196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15</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0</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836637" cy="680876"/>
            <a:chOff x="163626" y="1160115"/>
            <a:chExt cx="4836637"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494119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譲歩速度</a:t>
                </a:r>
                <a:endParaRPr lang="en-US" altLang="ja-JP" dirty="0"/>
              </a:p>
              <a:p>
                <a:pPr lvl="1"/>
                <a14:m>
                  <m:oMath xmlns:m="http://schemas.openxmlformats.org/officeDocument/2006/math">
                    <m:r>
                      <a:rPr lang="ja-JP" altLang="en-US" b="0" i="1" dirty="0">
                        <a:latin typeface="Cambria Math" panose="02040503050406030204" pitchFamily="18" charset="0"/>
                      </a:rPr>
                      <m:t>競争</m:t>
                    </m:r>
                    <m:r>
                      <a:rPr lang="en-US" altLang="ja-JP" b="0" i="0" smtClean="0">
                        <a:latin typeface="Cambria Math" panose="02040503050406030204" pitchFamily="18" charset="0"/>
                      </a:rPr>
                      <m:t>&gt;</m:t>
                    </m:r>
                    <m:r>
                      <a:rPr lang="ja-JP" altLang="en-US" i="1">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共存</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b="0" i="1" smtClean="0">
                        <a:latin typeface="Cambria Math" panose="02040503050406030204" pitchFamily="18" charset="0"/>
                      </a:rPr>
                      <m:t>&gt;</m:t>
                    </m:r>
                    <m:r>
                      <a:rPr lang="ja-JP" altLang="en-US" i="1">
                        <a:latin typeface="Cambria Math" panose="02040503050406030204" pitchFamily="18" charset="0"/>
                      </a:rPr>
                      <m:t>適応</m:t>
                    </m:r>
                  </m:oMath>
                </a14:m>
                <a:endParaRPr lang="en-US" altLang="ja-JP" dirty="0"/>
              </a:p>
              <a:p>
                <a:r>
                  <a:rPr lang="en-US" altLang="ja-JP" dirty="0"/>
                  <a:t>Offer</a:t>
                </a:r>
                <a:r>
                  <a:rPr lang="ja-JP" altLang="en-US"/>
                  <a:t>のパターン</a:t>
                </a:r>
                <a:endParaRPr lang="en-US" altLang="ja-JP" dirty="0"/>
              </a:p>
              <a:p>
                <a:pPr lvl="1"/>
                <a14:m>
                  <m:oMath xmlns:m="http://schemas.openxmlformats.org/officeDocument/2006/math">
                    <m:r>
                      <a:rPr lang="ja-JP" altLang="en-US" i="1" smtClean="0">
                        <a:latin typeface="Cambria Math" panose="02040503050406030204" pitchFamily="18" charset="0"/>
                      </a:rPr>
                      <m:t>回避</m:t>
                    </m:r>
                    <m:r>
                      <a:rPr lang="en-US" altLang="ja-JP" i="1">
                        <a:latin typeface="Cambria Math" panose="02040503050406030204" pitchFamily="18" charset="0"/>
                      </a:rPr>
                      <m:t>≥</m:t>
                    </m:r>
                    <m:r>
                      <a:rPr lang="ja-JP" altLang="en-US" i="1">
                        <a:latin typeface="Cambria Math" panose="02040503050406030204" pitchFamily="18" charset="0"/>
                      </a:rPr>
                      <m:t>適応</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i="1">
                        <a:latin typeface="Cambria Math" panose="02040503050406030204" pitchFamily="18" charset="0"/>
                      </a:rPr>
                      <m:t>&gt;</m:t>
                    </m:r>
                    <m:r>
                      <a:rPr lang="ja-JP" altLang="en-US" i="1">
                        <a:latin typeface="Cambria Math" panose="02040503050406030204" pitchFamily="18" charset="0"/>
                      </a:rPr>
                      <m:t>競争</m:t>
                    </m:r>
                    <m:r>
                      <a:rPr lang="en-US" altLang="ja-JP" i="1">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r>
                  <a:rPr lang="en-US" altLang="ja-JP" dirty="0"/>
                  <a:t>Offer</a:t>
                </a:r>
                <a:r>
                  <a:rPr lang="ja-JP" altLang="en-US"/>
                  <a:t>・行動頻度</a:t>
                </a:r>
                <a:endParaRPr lang="en-US" altLang="ja-JP" dirty="0"/>
              </a:p>
              <a:p>
                <a:pPr lvl="1"/>
                <a14:m>
                  <m:oMath xmlns:m="http://schemas.openxmlformats.org/officeDocument/2006/math">
                    <m:r>
                      <a:rPr lang="ja-JP" altLang="en-US" b="0" i="1" dirty="0">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適応</m:t>
                    </m:r>
                    <m:r>
                      <a:rPr lang="en-US" altLang="ja-JP" b="0" i="1" smtClean="0">
                        <a:latin typeface="Cambria Math" panose="02040503050406030204" pitchFamily="18" charset="0"/>
                      </a:rPr>
                      <m:t>&gt;</m:t>
                    </m:r>
                    <m:r>
                      <a:rPr lang="ja-JP" altLang="en-US" i="1" smtClean="0">
                        <a:latin typeface="Cambria Math" panose="02040503050406030204" pitchFamily="18" charset="0"/>
                      </a:rPr>
                      <m:t>妥協</m:t>
                    </m:r>
                    <m:r>
                      <a:rPr lang="en-US" altLang="ja-JP" i="1">
                        <a:latin typeface="Cambria Math" panose="02040503050406030204" pitchFamily="18" charset="0"/>
                      </a:rPr>
                      <m:t>&gt;</m:t>
                    </m:r>
                    <m:r>
                      <a:rPr lang="ja-JP" altLang="en-US" i="1" smtClean="0">
                        <a:latin typeface="Cambria Math" panose="02040503050406030204" pitchFamily="18" charset="0"/>
                      </a:rPr>
                      <m:t>競争</m:t>
                    </m:r>
                    <m:r>
                      <a:rPr lang="en-US" altLang="ja-JP" b="0" i="1" smtClean="0">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blipFill>
                <a:blip r:embed="rId2"/>
                <a:stretch>
                  <a:fillRect t="-1887"/>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2020/7/2</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0</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3"/>
          <a:stretch>
            <a:fillRect/>
          </a:stretch>
        </p:blipFill>
        <p:spPr>
          <a:xfrm>
            <a:off x="6847144" y="1030556"/>
            <a:ext cx="2222334" cy="2750219"/>
          </a:xfrm>
          <a:prstGeom prst="rect">
            <a:avLst/>
          </a:prstGeom>
        </p:spPr>
      </p:pic>
      <p:grpSp>
        <p:nvGrpSpPr>
          <p:cNvPr id="15" name="グループ化 14">
            <a:extLst>
              <a:ext uri="{FF2B5EF4-FFF2-40B4-BE49-F238E27FC236}">
                <a16:creationId xmlns:a16="http://schemas.microsoft.com/office/drawing/2014/main" id="{C5C466F6-7EB0-2B4C-8B9F-5F351C14C7EF}"/>
              </a:ext>
            </a:extLst>
          </p:cNvPr>
          <p:cNvGrpSpPr/>
          <p:nvPr/>
        </p:nvGrpSpPr>
        <p:grpSpPr>
          <a:xfrm>
            <a:off x="163626" y="1160115"/>
            <a:ext cx="4836637" cy="680876"/>
            <a:chOff x="163626" y="1160115"/>
            <a:chExt cx="4836637" cy="680876"/>
          </a:xfrm>
        </p:grpSpPr>
        <p:cxnSp>
          <p:nvCxnSpPr>
            <p:cNvPr id="16" name="直線コネクタ 15">
              <a:extLst>
                <a:ext uri="{FF2B5EF4-FFF2-40B4-BE49-F238E27FC236}">
                  <a16:creationId xmlns:a16="http://schemas.microsoft.com/office/drawing/2014/main" id="{5C6C6833-EA00-AB40-8A4B-3EC05B9F5CFB}"/>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869924E9-9C77-4D4D-BB8F-6AC927DE52B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B0876A5-390F-D744-AF2F-7706ACC6B6B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1463895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endParaRPr lang="en-US" altLang="ja-JP" dirty="0"/>
          </a:p>
          <a:p>
            <a:endParaRPr kumimoji="1" lang="ja-JP" altLang="en-US"/>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2020/7/3</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17</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6346902" cy="680876"/>
            <a:chOff x="163626" y="1160115"/>
            <a:chExt cx="6346902"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63469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ベクトルの類似度</a:t>
            </a:r>
            <a:r>
              <a:rPr lang="en-US" altLang="ja-JP" dirty="0"/>
              <a:t>(</a:t>
            </a:r>
            <a:r>
              <a:rPr lang="ja-JP" altLang="en-US"/>
              <a:t>距離</a:t>
            </a:r>
            <a:r>
              <a:rPr lang="en-US" altLang="ja-JP" dirty="0"/>
              <a:t>)</a:t>
            </a:r>
            <a:r>
              <a:rPr lang="ja-JP" altLang="en-US"/>
              <a:t>について</a:t>
            </a:r>
          </a:p>
        </p:txBody>
      </p:sp>
      <p:grpSp>
        <p:nvGrpSpPr>
          <p:cNvPr id="106" name="グループ化 105">
            <a:extLst>
              <a:ext uri="{FF2B5EF4-FFF2-40B4-BE49-F238E27FC236}">
                <a16:creationId xmlns:a16="http://schemas.microsoft.com/office/drawing/2014/main" id="{59B1AFF8-C98A-F54C-81FE-282B1EA1B318}"/>
              </a:ext>
            </a:extLst>
          </p:cNvPr>
          <p:cNvGrpSpPr/>
          <p:nvPr/>
        </p:nvGrpSpPr>
        <p:grpSpPr>
          <a:xfrm>
            <a:off x="3028950" y="2567280"/>
            <a:ext cx="3744987" cy="3897250"/>
            <a:chOff x="4997905" y="2671946"/>
            <a:chExt cx="3744987" cy="3897250"/>
          </a:xfrm>
        </p:grpSpPr>
        <p:grpSp>
          <p:nvGrpSpPr>
            <p:cNvPr id="107" name="グループ化 106">
              <a:extLst>
                <a:ext uri="{FF2B5EF4-FFF2-40B4-BE49-F238E27FC236}">
                  <a16:creationId xmlns:a16="http://schemas.microsoft.com/office/drawing/2014/main" id="{D730C464-E638-8540-A589-0CAC867368EA}"/>
                </a:ext>
              </a:extLst>
            </p:cNvPr>
            <p:cNvGrpSpPr/>
            <p:nvPr/>
          </p:nvGrpSpPr>
          <p:grpSpPr>
            <a:xfrm>
              <a:off x="6972734" y="4589459"/>
              <a:ext cx="1770158" cy="1979737"/>
              <a:chOff x="3066278" y="3558947"/>
              <a:chExt cx="2141892" cy="2395479"/>
            </a:xfrm>
          </p:grpSpPr>
          <p:grpSp>
            <p:nvGrpSpPr>
              <p:cNvPr id="143" name="グループ化 142">
                <a:extLst>
                  <a:ext uri="{FF2B5EF4-FFF2-40B4-BE49-F238E27FC236}">
                    <a16:creationId xmlns:a16="http://schemas.microsoft.com/office/drawing/2014/main" id="{255412B3-F9C2-CC4F-981C-A4CB0AA0C6BC}"/>
                  </a:ext>
                </a:extLst>
              </p:cNvPr>
              <p:cNvGrpSpPr/>
              <p:nvPr/>
            </p:nvGrpSpPr>
            <p:grpSpPr>
              <a:xfrm>
                <a:off x="3066278" y="3558947"/>
                <a:ext cx="2141892" cy="2092323"/>
                <a:chOff x="2756727" y="4237038"/>
                <a:chExt cx="2141892" cy="2092323"/>
              </a:xfrm>
            </p:grpSpPr>
            <p:sp>
              <p:nvSpPr>
                <p:cNvPr id="145" name="五角形 15">
                  <a:extLst>
                    <a:ext uri="{FF2B5EF4-FFF2-40B4-BE49-F238E27FC236}">
                      <a16:creationId xmlns:a16="http://schemas.microsoft.com/office/drawing/2014/main" id="{0EE74927-3B38-374D-AEB7-642AF3A410F1}"/>
                    </a:ext>
                  </a:extLst>
                </p:cNvPr>
                <p:cNvSpPr/>
                <p:nvPr/>
              </p:nvSpPr>
              <p:spPr>
                <a:xfrm>
                  <a:off x="3096519" y="4591221"/>
                  <a:ext cx="1350939" cy="1325181"/>
                </a:xfrm>
                <a:custGeom>
                  <a:avLst/>
                  <a:gdLst>
                    <a:gd name="connsiteX0" fmla="*/ 2 w 1466853"/>
                    <a:gd name="connsiteY0" fmla="*/ 560287 h 1466853"/>
                    <a:gd name="connsiteX1" fmla="*/ 733427 w 1466853"/>
                    <a:gd name="connsiteY1" fmla="*/ 0 h 1466853"/>
                    <a:gd name="connsiteX2" fmla="*/ 1466851 w 1466853"/>
                    <a:gd name="connsiteY2" fmla="*/ 560287 h 1466853"/>
                    <a:gd name="connsiteX3" fmla="*/ 1186708 w 1466853"/>
                    <a:gd name="connsiteY3" fmla="*/ 1466849 h 1466853"/>
                    <a:gd name="connsiteX4" fmla="*/ 280145 w 1466853"/>
                    <a:gd name="connsiteY4" fmla="*/ 1466849 h 1466853"/>
                    <a:gd name="connsiteX5" fmla="*/ 2 w 1466853"/>
                    <a:gd name="connsiteY5" fmla="*/ 560287 h 1466853"/>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357416 w 1466849"/>
                    <a:gd name="connsiteY4" fmla="*/ 1222150 h 1466849"/>
                    <a:gd name="connsiteX5" fmla="*/ 0 w 1466849"/>
                    <a:gd name="connsiteY5" fmla="*/ 560287 h 1466849"/>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280143 w 1466849"/>
                    <a:gd name="connsiteY4" fmla="*/ 1389575 h 1466849"/>
                    <a:gd name="connsiteX5" fmla="*/ 0 w 1466849"/>
                    <a:gd name="connsiteY5" fmla="*/ 560287 h 1466849"/>
                    <a:gd name="connsiteX0" fmla="*/ 0 w 1466849"/>
                    <a:gd name="connsiteY0" fmla="*/ 418619 h 1325181"/>
                    <a:gd name="connsiteX1" fmla="*/ 733425 w 1466849"/>
                    <a:gd name="connsiteY1" fmla="*/ 0 h 1325181"/>
                    <a:gd name="connsiteX2" fmla="*/ 1466849 w 1466849"/>
                    <a:gd name="connsiteY2" fmla="*/ 418619 h 1325181"/>
                    <a:gd name="connsiteX3" fmla="*/ 1186706 w 1466849"/>
                    <a:gd name="connsiteY3" fmla="*/ 1325181 h 1325181"/>
                    <a:gd name="connsiteX4" fmla="*/ 280143 w 1466849"/>
                    <a:gd name="connsiteY4" fmla="*/ 1247907 h 1325181"/>
                    <a:gd name="connsiteX5" fmla="*/ 0 w 1466849"/>
                    <a:gd name="connsiteY5" fmla="*/ 418619 h 1325181"/>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280143 w 1466849"/>
                    <a:gd name="connsiteY4" fmla="*/ 1170634 h 1247908"/>
                    <a:gd name="connsiteX5" fmla="*/ 0 w 1466849"/>
                    <a:gd name="connsiteY5" fmla="*/ 341346 h 1247908"/>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318780 w 1466849"/>
                    <a:gd name="connsiteY4" fmla="*/ 1119119 h 1247908"/>
                    <a:gd name="connsiteX5" fmla="*/ 0 w 1466849"/>
                    <a:gd name="connsiteY5" fmla="*/ 341346 h 1247908"/>
                    <a:gd name="connsiteX0" fmla="*/ 0 w 1350939"/>
                    <a:gd name="connsiteY0" fmla="*/ 341346 h 1247908"/>
                    <a:gd name="connsiteX1" fmla="*/ 733425 w 1350939"/>
                    <a:gd name="connsiteY1" fmla="*/ 0 h 1247908"/>
                    <a:gd name="connsiteX2" fmla="*/ 1350939 w 1350939"/>
                    <a:gd name="connsiteY2" fmla="*/ 405741 h 1247908"/>
                    <a:gd name="connsiteX3" fmla="*/ 1186706 w 1350939"/>
                    <a:gd name="connsiteY3" fmla="*/ 1247908 h 1247908"/>
                    <a:gd name="connsiteX4" fmla="*/ 318780 w 1350939"/>
                    <a:gd name="connsiteY4" fmla="*/ 1119119 h 1247908"/>
                    <a:gd name="connsiteX5" fmla="*/ 0 w 1350939"/>
                    <a:gd name="connsiteY5" fmla="*/ 341346 h 1247908"/>
                    <a:gd name="connsiteX0" fmla="*/ 0 w 1350939"/>
                    <a:gd name="connsiteY0" fmla="*/ 444377 h 1350939"/>
                    <a:gd name="connsiteX1" fmla="*/ 759183 w 1350939"/>
                    <a:gd name="connsiteY1" fmla="*/ 0 h 1350939"/>
                    <a:gd name="connsiteX2" fmla="*/ 1350939 w 1350939"/>
                    <a:gd name="connsiteY2" fmla="*/ 508772 h 1350939"/>
                    <a:gd name="connsiteX3" fmla="*/ 1186706 w 1350939"/>
                    <a:gd name="connsiteY3" fmla="*/ 1350939 h 1350939"/>
                    <a:gd name="connsiteX4" fmla="*/ 318780 w 1350939"/>
                    <a:gd name="connsiteY4" fmla="*/ 1222150 h 1350939"/>
                    <a:gd name="connsiteX5" fmla="*/ 0 w 1350939"/>
                    <a:gd name="connsiteY5" fmla="*/ 444377 h 1350939"/>
                    <a:gd name="connsiteX0" fmla="*/ 0 w 1350939"/>
                    <a:gd name="connsiteY0" fmla="*/ 431498 h 1338060"/>
                    <a:gd name="connsiteX1" fmla="*/ 694789 w 1350939"/>
                    <a:gd name="connsiteY1" fmla="*/ 0 h 1338060"/>
                    <a:gd name="connsiteX2" fmla="*/ 1350939 w 1350939"/>
                    <a:gd name="connsiteY2" fmla="*/ 495893 h 1338060"/>
                    <a:gd name="connsiteX3" fmla="*/ 1186706 w 1350939"/>
                    <a:gd name="connsiteY3" fmla="*/ 1338060 h 1338060"/>
                    <a:gd name="connsiteX4" fmla="*/ 318780 w 1350939"/>
                    <a:gd name="connsiteY4" fmla="*/ 1209271 h 1338060"/>
                    <a:gd name="connsiteX5" fmla="*/ 0 w 1350939"/>
                    <a:gd name="connsiteY5" fmla="*/ 431498 h 1338060"/>
                    <a:gd name="connsiteX0" fmla="*/ 0 w 1350939"/>
                    <a:gd name="connsiteY0" fmla="*/ 418619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418619 h 1325181"/>
                    <a:gd name="connsiteX0" fmla="*/ 0 w 1350939"/>
                    <a:gd name="connsiteY0" fmla="*/ 508771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508771 h 132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0939" h="1325181">
                      <a:moveTo>
                        <a:pt x="0" y="508771"/>
                      </a:moveTo>
                      <a:lnTo>
                        <a:pt x="746304" y="0"/>
                      </a:lnTo>
                      <a:lnTo>
                        <a:pt x="1350939" y="483014"/>
                      </a:lnTo>
                      <a:lnTo>
                        <a:pt x="1186706" y="1325181"/>
                      </a:lnTo>
                      <a:lnTo>
                        <a:pt x="318780" y="1196392"/>
                      </a:lnTo>
                      <a:lnTo>
                        <a:pt x="0" y="50877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テキスト ボックス 145">
                  <a:extLst>
                    <a:ext uri="{FF2B5EF4-FFF2-40B4-BE49-F238E27FC236}">
                      <a16:creationId xmlns:a16="http://schemas.microsoft.com/office/drawing/2014/main" id="{28391589-C62F-3F43-A92D-BBCAFE07097F}"/>
                    </a:ext>
                  </a:extLst>
                </p:cNvPr>
                <p:cNvSpPr txBox="1"/>
                <p:nvPr/>
              </p:nvSpPr>
              <p:spPr>
                <a:xfrm>
                  <a:off x="3624486" y="4237038"/>
                  <a:ext cx="392195" cy="372410"/>
                </a:xfrm>
                <a:prstGeom prst="rect">
                  <a:avLst/>
                </a:prstGeom>
                <a:noFill/>
              </p:spPr>
              <p:txBody>
                <a:bodyPr wrap="none" rtlCol="0">
                  <a:spAutoFit/>
                </a:bodyPr>
                <a:lstStyle/>
                <a:p>
                  <a:r>
                    <a:rPr kumimoji="1" lang="en-US" altLang="ja-JP" sz="1400" dirty="0"/>
                    <a:t>N</a:t>
                  </a:r>
                  <a:endParaRPr kumimoji="1" lang="ja-JP" altLang="en-US" sz="1400"/>
                </a:p>
              </p:txBody>
            </p:sp>
            <p:sp>
              <p:nvSpPr>
                <p:cNvPr id="147" name="テキスト ボックス 146">
                  <a:extLst>
                    <a:ext uri="{FF2B5EF4-FFF2-40B4-BE49-F238E27FC236}">
                      <a16:creationId xmlns:a16="http://schemas.microsoft.com/office/drawing/2014/main" id="{D33BE5EA-FFA7-3D47-B7CF-3CD1443F56E1}"/>
                    </a:ext>
                  </a:extLst>
                </p:cNvPr>
                <p:cNvSpPr txBox="1"/>
                <p:nvPr/>
              </p:nvSpPr>
              <p:spPr>
                <a:xfrm>
                  <a:off x="4157616" y="5956951"/>
                  <a:ext cx="396074" cy="372410"/>
                </a:xfrm>
                <a:prstGeom prst="rect">
                  <a:avLst/>
                </a:prstGeom>
                <a:noFill/>
              </p:spPr>
              <p:txBody>
                <a:bodyPr wrap="none" rtlCol="0">
                  <a:spAutoFit/>
                </a:bodyPr>
                <a:lstStyle/>
                <a:p>
                  <a:r>
                    <a:rPr kumimoji="1" lang="en-US" altLang="ja-JP" sz="1400" dirty="0"/>
                    <a:t>O</a:t>
                  </a:r>
                  <a:endParaRPr kumimoji="1" lang="ja-JP" altLang="en-US" sz="1400"/>
                </a:p>
              </p:txBody>
            </p:sp>
            <p:sp>
              <p:nvSpPr>
                <p:cNvPr id="148" name="テキスト ボックス 147">
                  <a:extLst>
                    <a:ext uri="{FF2B5EF4-FFF2-40B4-BE49-F238E27FC236}">
                      <a16:creationId xmlns:a16="http://schemas.microsoft.com/office/drawing/2014/main" id="{338CA52E-FA79-614A-ABAD-207514E850A8}"/>
                    </a:ext>
                  </a:extLst>
                </p:cNvPr>
                <p:cNvSpPr txBox="1"/>
                <p:nvPr/>
              </p:nvSpPr>
              <p:spPr>
                <a:xfrm>
                  <a:off x="4535520" y="4888186"/>
                  <a:ext cx="363099" cy="372410"/>
                </a:xfrm>
                <a:prstGeom prst="rect">
                  <a:avLst/>
                </a:prstGeom>
                <a:noFill/>
              </p:spPr>
              <p:txBody>
                <a:bodyPr wrap="none" rtlCol="0">
                  <a:spAutoFit/>
                </a:bodyPr>
                <a:lstStyle/>
                <a:p>
                  <a:r>
                    <a:rPr kumimoji="1" lang="en-US" altLang="ja-JP" sz="1400" dirty="0"/>
                    <a:t>E</a:t>
                  </a:r>
                  <a:endParaRPr kumimoji="1" lang="ja-JP" altLang="en-US" sz="1400"/>
                </a:p>
              </p:txBody>
            </p:sp>
            <p:sp>
              <p:nvSpPr>
                <p:cNvPr id="149" name="テキスト ボックス 148">
                  <a:extLst>
                    <a:ext uri="{FF2B5EF4-FFF2-40B4-BE49-F238E27FC236}">
                      <a16:creationId xmlns:a16="http://schemas.microsoft.com/office/drawing/2014/main" id="{A344A837-1461-E44B-B1C3-F2298E102D7A}"/>
                    </a:ext>
                  </a:extLst>
                </p:cNvPr>
                <p:cNvSpPr txBox="1"/>
                <p:nvPr/>
              </p:nvSpPr>
              <p:spPr>
                <a:xfrm>
                  <a:off x="3156677" y="5956951"/>
                  <a:ext cx="386375" cy="372410"/>
                </a:xfrm>
                <a:prstGeom prst="rect">
                  <a:avLst/>
                </a:prstGeom>
                <a:noFill/>
              </p:spPr>
              <p:txBody>
                <a:bodyPr wrap="none" rtlCol="0">
                  <a:spAutoFit/>
                </a:bodyPr>
                <a:lstStyle/>
                <a:p>
                  <a:r>
                    <a:rPr kumimoji="1" lang="en-US" altLang="ja-JP" sz="1400" dirty="0"/>
                    <a:t>A</a:t>
                  </a:r>
                  <a:endParaRPr kumimoji="1" lang="ja-JP" altLang="en-US" sz="1400"/>
                </a:p>
              </p:txBody>
            </p:sp>
            <p:sp>
              <p:nvSpPr>
                <p:cNvPr id="150" name="テキスト ボックス 149">
                  <a:extLst>
                    <a:ext uri="{FF2B5EF4-FFF2-40B4-BE49-F238E27FC236}">
                      <a16:creationId xmlns:a16="http://schemas.microsoft.com/office/drawing/2014/main" id="{CA968138-EDEE-784A-8A2E-ED3069C494E9}"/>
                    </a:ext>
                  </a:extLst>
                </p:cNvPr>
                <p:cNvSpPr txBox="1"/>
                <p:nvPr/>
              </p:nvSpPr>
              <p:spPr>
                <a:xfrm>
                  <a:off x="2756727" y="4910171"/>
                  <a:ext cx="388316" cy="372410"/>
                </a:xfrm>
                <a:prstGeom prst="rect">
                  <a:avLst/>
                </a:prstGeom>
                <a:noFill/>
              </p:spPr>
              <p:txBody>
                <a:bodyPr wrap="none" rtlCol="0">
                  <a:spAutoFit/>
                </a:bodyPr>
                <a:lstStyle/>
                <a:p>
                  <a:r>
                    <a:rPr kumimoji="1" lang="en-US" altLang="ja-JP" sz="1400" dirty="0"/>
                    <a:t>C</a:t>
                  </a:r>
                  <a:endParaRPr kumimoji="1" lang="ja-JP" altLang="en-US" sz="1400"/>
                </a:p>
              </p:txBody>
            </p:sp>
          </p:grpSp>
          <p:sp>
            <p:nvSpPr>
              <p:cNvPr id="144" name="テキスト ボックス 143">
                <a:extLst>
                  <a:ext uri="{FF2B5EF4-FFF2-40B4-BE49-F238E27FC236}">
                    <a16:creationId xmlns:a16="http://schemas.microsoft.com/office/drawing/2014/main" id="{FB3E954F-4FED-FB4E-8A30-E5D2641F0B3A}"/>
                  </a:ext>
                </a:extLst>
              </p:cNvPr>
              <p:cNvSpPr txBox="1"/>
              <p:nvPr/>
            </p:nvSpPr>
            <p:spPr>
              <a:xfrm>
                <a:off x="3618876" y="5615872"/>
                <a:ext cx="1028358" cy="338554"/>
              </a:xfrm>
              <a:prstGeom prst="rect">
                <a:avLst/>
              </a:prstGeom>
              <a:noFill/>
            </p:spPr>
            <p:txBody>
              <a:bodyPr wrap="none" rtlCol="0">
                <a:spAutoFit/>
              </a:bodyPr>
              <a:lstStyle/>
              <a:p>
                <a:r>
                  <a:rPr kumimoji="1" lang="ja-JP" altLang="en-US" sz="1600"/>
                  <a:t>被験者</a:t>
                </a:r>
                <a:r>
                  <a:rPr kumimoji="1" lang="en-US" altLang="ja-JP" sz="1600" dirty="0"/>
                  <a:t>2</a:t>
                </a:r>
                <a:endParaRPr kumimoji="1" lang="ja-JP" altLang="en-US" sz="1600"/>
              </a:p>
            </p:txBody>
          </p:sp>
        </p:grpSp>
        <p:grpSp>
          <p:nvGrpSpPr>
            <p:cNvPr id="108" name="グループ化 107">
              <a:extLst>
                <a:ext uri="{FF2B5EF4-FFF2-40B4-BE49-F238E27FC236}">
                  <a16:creationId xmlns:a16="http://schemas.microsoft.com/office/drawing/2014/main" id="{5F944B5F-BB2B-3E40-BF7A-20E52892F954}"/>
                </a:ext>
              </a:extLst>
            </p:cNvPr>
            <p:cNvGrpSpPr/>
            <p:nvPr/>
          </p:nvGrpSpPr>
          <p:grpSpPr>
            <a:xfrm>
              <a:off x="7194416" y="2671946"/>
              <a:ext cx="1198665" cy="1519118"/>
              <a:chOff x="5326362" y="4080350"/>
              <a:chExt cx="1318532" cy="1671029"/>
            </a:xfrm>
          </p:grpSpPr>
          <p:grpSp>
            <p:nvGrpSpPr>
              <p:cNvPr id="135" name="グループ化 134">
                <a:extLst>
                  <a:ext uri="{FF2B5EF4-FFF2-40B4-BE49-F238E27FC236}">
                    <a16:creationId xmlns:a16="http://schemas.microsoft.com/office/drawing/2014/main" id="{3DB8DCC6-ABBB-0540-BD49-F1B350BF6681}"/>
                  </a:ext>
                </a:extLst>
              </p:cNvPr>
              <p:cNvGrpSpPr/>
              <p:nvPr/>
            </p:nvGrpSpPr>
            <p:grpSpPr>
              <a:xfrm>
                <a:off x="5326362" y="4080350"/>
                <a:ext cx="1318532" cy="1324496"/>
                <a:chOff x="4954042" y="4976907"/>
                <a:chExt cx="1318532" cy="1324496"/>
              </a:xfrm>
            </p:grpSpPr>
            <p:sp>
              <p:nvSpPr>
                <p:cNvPr id="137" name="五角形 15">
                  <a:extLst>
                    <a:ext uri="{FF2B5EF4-FFF2-40B4-BE49-F238E27FC236}">
                      <a16:creationId xmlns:a16="http://schemas.microsoft.com/office/drawing/2014/main" id="{A7A4AF50-14F4-DB42-B9D1-9C3290A21008}"/>
                    </a:ext>
                  </a:extLst>
                </p:cNvPr>
                <p:cNvSpPr/>
                <p:nvPr/>
              </p:nvSpPr>
              <p:spPr>
                <a:xfrm>
                  <a:off x="5262291" y="5316561"/>
                  <a:ext cx="693245" cy="680027"/>
                </a:xfrm>
                <a:custGeom>
                  <a:avLst/>
                  <a:gdLst>
                    <a:gd name="connsiteX0" fmla="*/ 2 w 1466853"/>
                    <a:gd name="connsiteY0" fmla="*/ 560287 h 1466853"/>
                    <a:gd name="connsiteX1" fmla="*/ 733427 w 1466853"/>
                    <a:gd name="connsiteY1" fmla="*/ 0 h 1466853"/>
                    <a:gd name="connsiteX2" fmla="*/ 1466851 w 1466853"/>
                    <a:gd name="connsiteY2" fmla="*/ 560287 h 1466853"/>
                    <a:gd name="connsiteX3" fmla="*/ 1186708 w 1466853"/>
                    <a:gd name="connsiteY3" fmla="*/ 1466849 h 1466853"/>
                    <a:gd name="connsiteX4" fmla="*/ 280145 w 1466853"/>
                    <a:gd name="connsiteY4" fmla="*/ 1466849 h 1466853"/>
                    <a:gd name="connsiteX5" fmla="*/ 2 w 1466853"/>
                    <a:gd name="connsiteY5" fmla="*/ 560287 h 1466853"/>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357416 w 1466849"/>
                    <a:gd name="connsiteY4" fmla="*/ 1222150 h 1466849"/>
                    <a:gd name="connsiteX5" fmla="*/ 0 w 1466849"/>
                    <a:gd name="connsiteY5" fmla="*/ 560287 h 1466849"/>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280143 w 1466849"/>
                    <a:gd name="connsiteY4" fmla="*/ 1389575 h 1466849"/>
                    <a:gd name="connsiteX5" fmla="*/ 0 w 1466849"/>
                    <a:gd name="connsiteY5" fmla="*/ 560287 h 1466849"/>
                    <a:gd name="connsiteX0" fmla="*/ 0 w 1466849"/>
                    <a:gd name="connsiteY0" fmla="*/ 418619 h 1325181"/>
                    <a:gd name="connsiteX1" fmla="*/ 733425 w 1466849"/>
                    <a:gd name="connsiteY1" fmla="*/ 0 h 1325181"/>
                    <a:gd name="connsiteX2" fmla="*/ 1466849 w 1466849"/>
                    <a:gd name="connsiteY2" fmla="*/ 418619 h 1325181"/>
                    <a:gd name="connsiteX3" fmla="*/ 1186706 w 1466849"/>
                    <a:gd name="connsiteY3" fmla="*/ 1325181 h 1325181"/>
                    <a:gd name="connsiteX4" fmla="*/ 280143 w 1466849"/>
                    <a:gd name="connsiteY4" fmla="*/ 1247907 h 1325181"/>
                    <a:gd name="connsiteX5" fmla="*/ 0 w 1466849"/>
                    <a:gd name="connsiteY5" fmla="*/ 418619 h 1325181"/>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280143 w 1466849"/>
                    <a:gd name="connsiteY4" fmla="*/ 1170634 h 1247908"/>
                    <a:gd name="connsiteX5" fmla="*/ 0 w 1466849"/>
                    <a:gd name="connsiteY5" fmla="*/ 341346 h 1247908"/>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318780 w 1466849"/>
                    <a:gd name="connsiteY4" fmla="*/ 1119119 h 1247908"/>
                    <a:gd name="connsiteX5" fmla="*/ 0 w 1466849"/>
                    <a:gd name="connsiteY5" fmla="*/ 341346 h 1247908"/>
                    <a:gd name="connsiteX0" fmla="*/ 0 w 1350939"/>
                    <a:gd name="connsiteY0" fmla="*/ 341346 h 1247908"/>
                    <a:gd name="connsiteX1" fmla="*/ 733425 w 1350939"/>
                    <a:gd name="connsiteY1" fmla="*/ 0 h 1247908"/>
                    <a:gd name="connsiteX2" fmla="*/ 1350939 w 1350939"/>
                    <a:gd name="connsiteY2" fmla="*/ 405741 h 1247908"/>
                    <a:gd name="connsiteX3" fmla="*/ 1186706 w 1350939"/>
                    <a:gd name="connsiteY3" fmla="*/ 1247908 h 1247908"/>
                    <a:gd name="connsiteX4" fmla="*/ 318780 w 1350939"/>
                    <a:gd name="connsiteY4" fmla="*/ 1119119 h 1247908"/>
                    <a:gd name="connsiteX5" fmla="*/ 0 w 1350939"/>
                    <a:gd name="connsiteY5" fmla="*/ 341346 h 1247908"/>
                    <a:gd name="connsiteX0" fmla="*/ 0 w 1350939"/>
                    <a:gd name="connsiteY0" fmla="*/ 444377 h 1350939"/>
                    <a:gd name="connsiteX1" fmla="*/ 759183 w 1350939"/>
                    <a:gd name="connsiteY1" fmla="*/ 0 h 1350939"/>
                    <a:gd name="connsiteX2" fmla="*/ 1350939 w 1350939"/>
                    <a:gd name="connsiteY2" fmla="*/ 508772 h 1350939"/>
                    <a:gd name="connsiteX3" fmla="*/ 1186706 w 1350939"/>
                    <a:gd name="connsiteY3" fmla="*/ 1350939 h 1350939"/>
                    <a:gd name="connsiteX4" fmla="*/ 318780 w 1350939"/>
                    <a:gd name="connsiteY4" fmla="*/ 1222150 h 1350939"/>
                    <a:gd name="connsiteX5" fmla="*/ 0 w 1350939"/>
                    <a:gd name="connsiteY5" fmla="*/ 444377 h 1350939"/>
                    <a:gd name="connsiteX0" fmla="*/ 0 w 1350939"/>
                    <a:gd name="connsiteY0" fmla="*/ 431498 h 1338060"/>
                    <a:gd name="connsiteX1" fmla="*/ 694789 w 1350939"/>
                    <a:gd name="connsiteY1" fmla="*/ 0 h 1338060"/>
                    <a:gd name="connsiteX2" fmla="*/ 1350939 w 1350939"/>
                    <a:gd name="connsiteY2" fmla="*/ 495893 h 1338060"/>
                    <a:gd name="connsiteX3" fmla="*/ 1186706 w 1350939"/>
                    <a:gd name="connsiteY3" fmla="*/ 1338060 h 1338060"/>
                    <a:gd name="connsiteX4" fmla="*/ 318780 w 1350939"/>
                    <a:gd name="connsiteY4" fmla="*/ 1209271 h 1338060"/>
                    <a:gd name="connsiteX5" fmla="*/ 0 w 1350939"/>
                    <a:gd name="connsiteY5" fmla="*/ 431498 h 1338060"/>
                    <a:gd name="connsiteX0" fmla="*/ 0 w 1350939"/>
                    <a:gd name="connsiteY0" fmla="*/ 418619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418619 h 1325181"/>
                    <a:gd name="connsiteX0" fmla="*/ 0 w 1350939"/>
                    <a:gd name="connsiteY0" fmla="*/ 508771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508771 h 132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0939" h="1325181">
                      <a:moveTo>
                        <a:pt x="0" y="508771"/>
                      </a:moveTo>
                      <a:lnTo>
                        <a:pt x="746304" y="0"/>
                      </a:lnTo>
                      <a:lnTo>
                        <a:pt x="1350939" y="483014"/>
                      </a:lnTo>
                      <a:lnTo>
                        <a:pt x="1186706" y="1325181"/>
                      </a:lnTo>
                      <a:lnTo>
                        <a:pt x="318780" y="1196392"/>
                      </a:lnTo>
                      <a:lnTo>
                        <a:pt x="0" y="50877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テキスト ボックス 137">
                  <a:extLst>
                    <a:ext uri="{FF2B5EF4-FFF2-40B4-BE49-F238E27FC236}">
                      <a16:creationId xmlns:a16="http://schemas.microsoft.com/office/drawing/2014/main" id="{A7175952-8800-FE4F-871D-85CDF3B4B8FF}"/>
                    </a:ext>
                  </a:extLst>
                </p:cNvPr>
                <p:cNvSpPr txBox="1"/>
                <p:nvPr/>
              </p:nvSpPr>
              <p:spPr>
                <a:xfrm>
                  <a:off x="5421851" y="4976907"/>
                  <a:ext cx="356541" cy="338554"/>
                </a:xfrm>
                <a:prstGeom prst="rect">
                  <a:avLst/>
                </a:prstGeom>
                <a:noFill/>
              </p:spPr>
              <p:txBody>
                <a:bodyPr wrap="none" rtlCol="0">
                  <a:spAutoFit/>
                </a:bodyPr>
                <a:lstStyle/>
                <a:p>
                  <a:r>
                    <a:rPr kumimoji="1" lang="en-US" altLang="ja-JP" sz="1400" dirty="0"/>
                    <a:t>N</a:t>
                  </a:r>
                  <a:endParaRPr kumimoji="1" lang="ja-JP" altLang="en-US" sz="1400"/>
                </a:p>
              </p:txBody>
            </p:sp>
            <p:sp>
              <p:nvSpPr>
                <p:cNvPr id="139" name="テキスト ボックス 138">
                  <a:extLst>
                    <a:ext uri="{FF2B5EF4-FFF2-40B4-BE49-F238E27FC236}">
                      <a16:creationId xmlns:a16="http://schemas.microsoft.com/office/drawing/2014/main" id="{186F4D24-D8C3-0A4A-BDF5-2650F9951797}"/>
                    </a:ext>
                  </a:extLst>
                </p:cNvPr>
                <p:cNvSpPr txBox="1"/>
                <p:nvPr/>
              </p:nvSpPr>
              <p:spPr>
                <a:xfrm>
                  <a:off x="5765995" y="5959491"/>
                  <a:ext cx="360068" cy="338554"/>
                </a:xfrm>
                <a:prstGeom prst="rect">
                  <a:avLst/>
                </a:prstGeom>
                <a:noFill/>
              </p:spPr>
              <p:txBody>
                <a:bodyPr wrap="none" rtlCol="0">
                  <a:spAutoFit/>
                </a:bodyPr>
                <a:lstStyle/>
                <a:p>
                  <a:r>
                    <a:rPr kumimoji="1" lang="en-US" altLang="ja-JP" sz="1400" dirty="0"/>
                    <a:t>O</a:t>
                  </a:r>
                  <a:endParaRPr kumimoji="1" lang="ja-JP" altLang="en-US" sz="1400"/>
                </a:p>
              </p:txBody>
            </p:sp>
            <p:sp>
              <p:nvSpPr>
                <p:cNvPr id="140" name="テキスト ボックス 139">
                  <a:extLst>
                    <a:ext uri="{FF2B5EF4-FFF2-40B4-BE49-F238E27FC236}">
                      <a16:creationId xmlns:a16="http://schemas.microsoft.com/office/drawing/2014/main" id="{665B1584-A1CF-9542-A281-64B93FC8D74D}"/>
                    </a:ext>
                  </a:extLst>
                </p:cNvPr>
                <p:cNvSpPr txBox="1"/>
                <p:nvPr/>
              </p:nvSpPr>
              <p:spPr>
                <a:xfrm>
                  <a:off x="5942484" y="5351653"/>
                  <a:ext cx="330090" cy="338554"/>
                </a:xfrm>
                <a:prstGeom prst="rect">
                  <a:avLst/>
                </a:prstGeom>
                <a:noFill/>
              </p:spPr>
              <p:txBody>
                <a:bodyPr wrap="none" rtlCol="0">
                  <a:spAutoFit/>
                </a:bodyPr>
                <a:lstStyle/>
                <a:p>
                  <a:r>
                    <a:rPr kumimoji="1" lang="en-US" altLang="ja-JP" sz="1400" dirty="0"/>
                    <a:t>E</a:t>
                  </a:r>
                  <a:endParaRPr kumimoji="1" lang="ja-JP" altLang="en-US" sz="1400"/>
                </a:p>
              </p:txBody>
            </p:sp>
            <p:sp>
              <p:nvSpPr>
                <p:cNvPr id="141" name="テキスト ボックス 140">
                  <a:extLst>
                    <a:ext uri="{FF2B5EF4-FFF2-40B4-BE49-F238E27FC236}">
                      <a16:creationId xmlns:a16="http://schemas.microsoft.com/office/drawing/2014/main" id="{22BC4A6A-599D-424C-9D23-8F89B1FA9565}"/>
                    </a:ext>
                  </a:extLst>
                </p:cNvPr>
                <p:cNvSpPr txBox="1"/>
                <p:nvPr/>
              </p:nvSpPr>
              <p:spPr>
                <a:xfrm>
                  <a:off x="5134874" y="5962849"/>
                  <a:ext cx="351250" cy="338554"/>
                </a:xfrm>
                <a:prstGeom prst="rect">
                  <a:avLst/>
                </a:prstGeom>
                <a:noFill/>
              </p:spPr>
              <p:txBody>
                <a:bodyPr wrap="none" rtlCol="0">
                  <a:spAutoFit/>
                </a:bodyPr>
                <a:lstStyle/>
                <a:p>
                  <a:r>
                    <a:rPr kumimoji="1" lang="en-US" altLang="ja-JP" sz="1400" dirty="0"/>
                    <a:t>A</a:t>
                  </a:r>
                  <a:endParaRPr kumimoji="1" lang="ja-JP" altLang="en-US" sz="1400"/>
                </a:p>
              </p:txBody>
            </p:sp>
            <p:sp>
              <p:nvSpPr>
                <p:cNvPr id="142" name="テキスト ボックス 141">
                  <a:extLst>
                    <a:ext uri="{FF2B5EF4-FFF2-40B4-BE49-F238E27FC236}">
                      <a16:creationId xmlns:a16="http://schemas.microsoft.com/office/drawing/2014/main" id="{16D8BE9F-3066-3D4F-A69B-624534D163A2}"/>
                    </a:ext>
                  </a:extLst>
                </p:cNvPr>
                <p:cNvSpPr txBox="1"/>
                <p:nvPr/>
              </p:nvSpPr>
              <p:spPr>
                <a:xfrm>
                  <a:off x="4954042" y="5351653"/>
                  <a:ext cx="353014" cy="338554"/>
                </a:xfrm>
                <a:prstGeom prst="rect">
                  <a:avLst/>
                </a:prstGeom>
                <a:noFill/>
              </p:spPr>
              <p:txBody>
                <a:bodyPr wrap="none" rtlCol="0">
                  <a:spAutoFit/>
                </a:bodyPr>
                <a:lstStyle/>
                <a:p>
                  <a:r>
                    <a:rPr kumimoji="1" lang="en-US" altLang="ja-JP" sz="1400" dirty="0"/>
                    <a:t>C</a:t>
                  </a:r>
                  <a:endParaRPr kumimoji="1" lang="ja-JP" altLang="en-US" sz="1400"/>
                </a:p>
              </p:txBody>
            </p:sp>
          </p:grpSp>
          <p:sp>
            <p:nvSpPr>
              <p:cNvPr id="136" name="テキスト ボックス 135">
                <a:extLst>
                  <a:ext uri="{FF2B5EF4-FFF2-40B4-BE49-F238E27FC236}">
                    <a16:creationId xmlns:a16="http://schemas.microsoft.com/office/drawing/2014/main" id="{233EF6B5-F8A2-5140-B952-34C92E8DDA40}"/>
                  </a:ext>
                </a:extLst>
              </p:cNvPr>
              <p:cNvSpPr txBox="1"/>
              <p:nvPr/>
            </p:nvSpPr>
            <p:spPr>
              <a:xfrm>
                <a:off x="5512892" y="5412826"/>
                <a:ext cx="934871" cy="338553"/>
              </a:xfrm>
              <a:prstGeom prst="rect">
                <a:avLst/>
              </a:prstGeom>
              <a:noFill/>
            </p:spPr>
            <p:txBody>
              <a:bodyPr wrap="none" rtlCol="0">
                <a:spAutoFit/>
              </a:bodyPr>
              <a:lstStyle/>
              <a:p>
                <a:r>
                  <a:rPr kumimoji="1" lang="ja-JP" altLang="en-US" sz="1600"/>
                  <a:t>被験者</a:t>
                </a:r>
                <a:r>
                  <a:rPr kumimoji="1" lang="en-US" altLang="ja-JP" sz="1600" dirty="0"/>
                  <a:t>1</a:t>
                </a:r>
                <a:endParaRPr kumimoji="1" lang="ja-JP" altLang="en-US" sz="1600"/>
              </a:p>
            </p:txBody>
          </p:sp>
        </p:grpSp>
        <p:grpSp>
          <p:nvGrpSpPr>
            <p:cNvPr id="109" name="グループ化 108">
              <a:extLst>
                <a:ext uri="{FF2B5EF4-FFF2-40B4-BE49-F238E27FC236}">
                  <a16:creationId xmlns:a16="http://schemas.microsoft.com/office/drawing/2014/main" id="{667EF2D9-E500-AE4E-92E8-E248DA1318E2}"/>
                </a:ext>
              </a:extLst>
            </p:cNvPr>
            <p:cNvGrpSpPr/>
            <p:nvPr/>
          </p:nvGrpSpPr>
          <p:grpSpPr>
            <a:xfrm>
              <a:off x="5334227" y="2684825"/>
              <a:ext cx="1198665" cy="1502024"/>
              <a:chOff x="1089506" y="4249627"/>
              <a:chExt cx="1318532" cy="1652226"/>
            </a:xfrm>
          </p:grpSpPr>
          <p:grpSp>
            <p:nvGrpSpPr>
              <p:cNvPr id="127" name="グループ化 126">
                <a:extLst>
                  <a:ext uri="{FF2B5EF4-FFF2-40B4-BE49-F238E27FC236}">
                    <a16:creationId xmlns:a16="http://schemas.microsoft.com/office/drawing/2014/main" id="{E73BD505-FA87-C04A-B331-3A9CFBCCE5D2}"/>
                  </a:ext>
                </a:extLst>
              </p:cNvPr>
              <p:cNvGrpSpPr/>
              <p:nvPr/>
            </p:nvGrpSpPr>
            <p:grpSpPr>
              <a:xfrm>
                <a:off x="1089506" y="4249627"/>
                <a:ext cx="1318532" cy="1324496"/>
                <a:chOff x="5423734" y="2855336"/>
                <a:chExt cx="1318532" cy="1324496"/>
              </a:xfrm>
            </p:grpSpPr>
            <p:sp>
              <p:nvSpPr>
                <p:cNvPr id="129" name="五角形 128">
                  <a:extLst>
                    <a:ext uri="{FF2B5EF4-FFF2-40B4-BE49-F238E27FC236}">
                      <a16:creationId xmlns:a16="http://schemas.microsoft.com/office/drawing/2014/main" id="{2D244E37-81D4-1641-828C-E27021EB6C6F}"/>
                    </a:ext>
                  </a:extLst>
                </p:cNvPr>
                <p:cNvSpPr/>
                <p:nvPr/>
              </p:nvSpPr>
              <p:spPr>
                <a:xfrm>
                  <a:off x="5713815" y="3173603"/>
                  <a:ext cx="752727" cy="752727"/>
                </a:xfrm>
                <a:prstGeom prst="pentag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テキスト ボックス 129">
                  <a:extLst>
                    <a:ext uri="{FF2B5EF4-FFF2-40B4-BE49-F238E27FC236}">
                      <a16:creationId xmlns:a16="http://schemas.microsoft.com/office/drawing/2014/main" id="{536C0DE8-2698-C14A-8D92-1EDB87D8029F}"/>
                    </a:ext>
                  </a:extLst>
                </p:cNvPr>
                <p:cNvSpPr txBox="1"/>
                <p:nvPr/>
              </p:nvSpPr>
              <p:spPr>
                <a:xfrm>
                  <a:off x="5891543" y="2855336"/>
                  <a:ext cx="356541" cy="338554"/>
                </a:xfrm>
                <a:prstGeom prst="rect">
                  <a:avLst/>
                </a:prstGeom>
                <a:noFill/>
              </p:spPr>
              <p:txBody>
                <a:bodyPr wrap="none" rtlCol="0">
                  <a:spAutoFit/>
                </a:bodyPr>
                <a:lstStyle/>
                <a:p>
                  <a:r>
                    <a:rPr kumimoji="1" lang="en-US" altLang="ja-JP" sz="1400" dirty="0"/>
                    <a:t>N</a:t>
                  </a:r>
                  <a:endParaRPr kumimoji="1" lang="ja-JP" altLang="en-US" sz="1400"/>
                </a:p>
              </p:txBody>
            </p:sp>
            <p:sp>
              <p:nvSpPr>
                <p:cNvPr id="131" name="テキスト ボックス 130">
                  <a:extLst>
                    <a:ext uri="{FF2B5EF4-FFF2-40B4-BE49-F238E27FC236}">
                      <a16:creationId xmlns:a16="http://schemas.microsoft.com/office/drawing/2014/main" id="{5856F4A5-829E-D44E-A21F-71323C63DF1C}"/>
                    </a:ext>
                  </a:extLst>
                </p:cNvPr>
                <p:cNvSpPr txBox="1"/>
                <p:nvPr/>
              </p:nvSpPr>
              <p:spPr>
                <a:xfrm>
                  <a:off x="6235687" y="3837920"/>
                  <a:ext cx="360067" cy="338554"/>
                </a:xfrm>
                <a:prstGeom prst="rect">
                  <a:avLst/>
                </a:prstGeom>
                <a:noFill/>
              </p:spPr>
              <p:txBody>
                <a:bodyPr wrap="none" rtlCol="0">
                  <a:spAutoFit/>
                </a:bodyPr>
                <a:lstStyle/>
                <a:p>
                  <a:r>
                    <a:rPr kumimoji="1" lang="en-US" altLang="ja-JP" sz="1400" dirty="0"/>
                    <a:t>O</a:t>
                  </a:r>
                  <a:endParaRPr kumimoji="1" lang="ja-JP" altLang="en-US" sz="1400"/>
                </a:p>
              </p:txBody>
            </p:sp>
            <p:sp>
              <p:nvSpPr>
                <p:cNvPr id="132" name="テキスト ボックス 131">
                  <a:extLst>
                    <a:ext uri="{FF2B5EF4-FFF2-40B4-BE49-F238E27FC236}">
                      <a16:creationId xmlns:a16="http://schemas.microsoft.com/office/drawing/2014/main" id="{EBBA7BAE-46F6-B14F-85B9-83409C9CF766}"/>
                    </a:ext>
                  </a:extLst>
                </p:cNvPr>
                <p:cNvSpPr txBox="1"/>
                <p:nvPr/>
              </p:nvSpPr>
              <p:spPr>
                <a:xfrm>
                  <a:off x="6412176" y="3230082"/>
                  <a:ext cx="330090" cy="338554"/>
                </a:xfrm>
                <a:prstGeom prst="rect">
                  <a:avLst/>
                </a:prstGeom>
                <a:noFill/>
              </p:spPr>
              <p:txBody>
                <a:bodyPr wrap="none" rtlCol="0">
                  <a:spAutoFit/>
                </a:bodyPr>
                <a:lstStyle/>
                <a:p>
                  <a:r>
                    <a:rPr kumimoji="1" lang="en-US" altLang="ja-JP" sz="1400" dirty="0"/>
                    <a:t>E</a:t>
                  </a:r>
                  <a:endParaRPr kumimoji="1" lang="ja-JP" altLang="en-US" sz="1400"/>
                </a:p>
              </p:txBody>
            </p:sp>
            <p:sp>
              <p:nvSpPr>
                <p:cNvPr id="133" name="テキスト ボックス 132">
                  <a:extLst>
                    <a:ext uri="{FF2B5EF4-FFF2-40B4-BE49-F238E27FC236}">
                      <a16:creationId xmlns:a16="http://schemas.microsoft.com/office/drawing/2014/main" id="{775F13D6-11E7-A54F-A4AF-2E8A9DEB8BFD}"/>
                    </a:ext>
                  </a:extLst>
                </p:cNvPr>
                <p:cNvSpPr txBox="1"/>
                <p:nvPr/>
              </p:nvSpPr>
              <p:spPr>
                <a:xfrm>
                  <a:off x="5604566" y="3841278"/>
                  <a:ext cx="351250" cy="338554"/>
                </a:xfrm>
                <a:prstGeom prst="rect">
                  <a:avLst/>
                </a:prstGeom>
                <a:noFill/>
              </p:spPr>
              <p:txBody>
                <a:bodyPr wrap="none" rtlCol="0">
                  <a:spAutoFit/>
                </a:bodyPr>
                <a:lstStyle/>
                <a:p>
                  <a:r>
                    <a:rPr kumimoji="1" lang="en-US" altLang="ja-JP" sz="1400" dirty="0"/>
                    <a:t>A</a:t>
                  </a:r>
                  <a:endParaRPr kumimoji="1" lang="ja-JP" altLang="en-US" sz="1400"/>
                </a:p>
              </p:txBody>
            </p:sp>
            <p:sp>
              <p:nvSpPr>
                <p:cNvPr id="134" name="テキスト ボックス 133">
                  <a:extLst>
                    <a:ext uri="{FF2B5EF4-FFF2-40B4-BE49-F238E27FC236}">
                      <a16:creationId xmlns:a16="http://schemas.microsoft.com/office/drawing/2014/main" id="{77C85D17-C2F9-E54E-B7BA-AC0192F2E950}"/>
                    </a:ext>
                  </a:extLst>
                </p:cNvPr>
                <p:cNvSpPr txBox="1"/>
                <p:nvPr/>
              </p:nvSpPr>
              <p:spPr>
                <a:xfrm>
                  <a:off x="5423734" y="3230082"/>
                  <a:ext cx="353014" cy="338554"/>
                </a:xfrm>
                <a:prstGeom prst="rect">
                  <a:avLst/>
                </a:prstGeom>
                <a:noFill/>
              </p:spPr>
              <p:txBody>
                <a:bodyPr wrap="none" rtlCol="0">
                  <a:spAutoFit/>
                </a:bodyPr>
                <a:lstStyle/>
                <a:p>
                  <a:r>
                    <a:rPr kumimoji="1" lang="en-US" altLang="ja-JP" sz="1400" dirty="0"/>
                    <a:t>C</a:t>
                  </a:r>
                  <a:endParaRPr kumimoji="1" lang="ja-JP" altLang="en-US" sz="1400"/>
                </a:p>
              </p:txBody>
            </p:sp>
          </p:grpSp>
          <mc:AlternateContent xmlns:mc="http://schemas.openxmlformats.org/markup-compatibility/2006">
            <mc:Choice xmlns:a14="http://schemas.microsoft.com/office/drawing/2010/main" Requires="a14">
              <p:sp>
                <p:nvSpPr>
                  <p:cNvPr id="128" name="テキスト ボックス 127">
                    <a:extLst>
                      <a:ext uri="{FF2B5EF4-FFF2-40B4-BE49-F238E27FC236}">
                        <a16:creationId xmlns:a16="http://schemas.microsoft.com/office/drawing/2014/main" id="{A7BE0E01-EC34-2545-949B-F50321658F16}"/>
                      </a:ext>
                    </a:extLst>
                  </p:cNvPr>
                  <p:cNvSpPr txBox="1"/>
                  <p:nvPr/>
                </p:nvSpPr>
                <p:spPr>
                  <a:xfrm>
                    <a:off x="1379440" y="5563300"/>
                    <a:ext cx="724686" cy="338553"/>
                  </a:xfrm>
                  <a:prstGeom prst="rect">
                    <a:avLst/>
                  </a:prstGeom>
                  <a:noFill/>
                </p:spPr>
                <p:txBody>
                  <a:bodyPr wrap="none" rtlCol="0">
                    <a:spAutoFit/>
                  </a:bodyPr>
                  <a:lstStyle/>
                  <a:p>
                    <a:r>
                      <a:rPr kumimoji="1" lang="ja-JP" altLang="en-US" sz="1600"/>
                      <a:t>性格</a:t>
                    </a:r>
                    <a14:m>
                      <m:oMath xmlns:m="http://schemas.openxmlformats.org/officeDocument/2006/math">
                        <m:r>
                          <a:rPr kumimoji="1" lang="en-US" altLang="ja-JP" sz="1600" b="0" i="1" smtClean="0">
                            <a:latin typeface="Cambria Math" panose="02040503050406030204" pitchFamily="18" charset="0"/>
                          </a:rPr>
                          <m:t>𝛼</m:t>
                        </m:r>
                      </m:oMath>
                    </a14:m>
                    <a:endParaRPr kumimoji="1" lang="ja-JP" altLang="en-US" sz="1600"/>
                  </a:p>
                </p:txBody>
              </p:sp>
            </mc:Choice>
            <mc:Fallback>
              <p:sp>
                <p:nvSpPr>
                  <p:cNvPr id="128" name="テキスト ボックス 127">
                    <a:extLst>
                      <a:ext uri="{FF2B5EF4-FFF2-40B4-BE49-F238E27FC236}">
                        <a16:creationId xmlns:a16="http://schemas.microsoft.com/office/drawing/2014/main" id="{A7BE0E01-EC34-2545-949B-F50321658F16}"/>
                      </a:ext>
                    </a:extLst>
                  </p:cNvPr>
                  <p:cNvSpPr txBox="1">
                    <a:spLocks noRot="1" noChangeAspect="1" noMove="1" noResize="1" noEditPoints="1" noAdjustHandles="1" noChangeArrowheads="1" noChangeShapeType="1" noTextEdit="1"/>
                  </p:cNvSpPr>
                  <p:nvPr/>
                </p:nvSpPr>
                <p:spPr>
                  <a:xfrm>
                    <a:off x="1379440" y="5563300"/>
                    <a:ext cx="724686" cy="338553"/>
                  </a:xfrm>
                  <a:prstGeom prst="rect">
                    <a:avLst/>
                  </a:prstGeom>
                  <a:blipFill>
                    <a:blip r:embed="rId4"/>
                    <a:stretch>
                      <a:fillRect l="-3774" t="-4000" b="-36000"/>
                    </a:stretch>
                  </a:blipFill>
                </p:spPr>
                <p:txBody>
                  <a:bodyPr/>
                  <a:lstStyle/>
                  <a:p>
                    <a:r>
                      <a:rPr lang="ja-JP" altLang="en-US">
                        <a:noFill/>
                      </a:rPr>
                      <a:t> </a:t>
                    </a:r>
                  </a:p>
                </p:txBody>
              </p:sp>
            </mc:Fallback>
          </mc:AlternateContent>
        </p:grpSp>
        <p:grpSp>
          <p:nvGrpSpPr>
            <p:cNvPr id="110" name="グループ化 109">
              <a:extLst>
                <a:ext uri="{FF2B5EF4-FFF2-40B4-BE49-F238E27FC236}">
                  <a16:creationId xmlns:a16="http://schemas.microsoft.com/office/drawing/2014/main" id="{A0C08F29-C377-1843-8469-459F54B1F68E}"/>
                </a:ext>
              </a:extLst>
            </p:cNvPr>
            <p:cNvGrpSpPr/>
            <p:nvPr/>
          </p:nvGrpSpPr>
          <p:grpSpPr>
            <a:xfrm>
              <a:off x="4997905" y="4606628"/>
              <a:ext cx="1770158" cy="1957781"/>
              <a:chOff x="6947629" y="2328837"/>
              <a:chExt cx="2141892" cy="2368914"/>
            </a:xfrm>
          </p:grpSpPr>
          <p:grpSp>
            <p:nvGrpSpPr>
              <p:cNvPr id="119" name="グループ化 118">
                <a:extLst>
                  <a:ext uri="{FF2B5EF4-FFF2-40B4-BE49-F238E27FC236}">
                    <a16:creationId xmlns:a16="http://schemas.microsoft.com/office/drawing/2014/main" id="{9161BD5C-9FD8-974E-9446-90318B00859D}"/>
                  </a:ext>
                </a:extLst>
              </p:cNvPr>
              <p:cNvGrpSpPr/>
              <p:nvPr/>
            </p:nvGrpSpPr>
            <p:grpSpPr>
              <a:xfrm>
                <a:off x="6947629" y="2328837"/>
                <a:ext cx="2141892" cy="2092323"/>
                <a:chOff x="6716594" y="2373464"/>
                <a:chExt cx="2141892" cy="2092323"/>
              </a:xfrm>
            </p:grpSpPr>
            <p:sp>
              <p:nvSpPr>
                <p:cNvPr id="121" name="五角形 120">
                  <a:extLst>
                    <a:ext uri="{FF2B5EF4-FFF2-40B4-BE49-F238E27FC236}">
                      <a16:creationId xmlns:a16="http://schemas.microsoft.com/office/drawing/2014/main" id="{CC6C341E-DD7F-B94E-9251-E520BF124CCC}"/>
                    </a:ext>
                  </a:extLst>
                </p:cNvPr>
                <p:cNvSpPr/>
                <p:nvPr/>
              </p:nvSpPr>
              <p:spPr>
                <a:xfrm>
                  <a:off x="7067634" y="2690229"/>
                  <a:ext cx="1466853" cy="1466853"/>
                </a:xfrm>
                <a:prstGeom prst="pentag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テキスト ボックス 121">
                  <a:extLst>
                    <a:ext uri="{FF2B5EF4-FFF2-40B4-BE49-F238E27FC236}">
                      <a16:creationId xmlns:a16="http://schemas.microsoft.com/office/drawing/2014/main" id="{066AF7D6-9A9A-6E44-A8F6-43731139A375}"/>
                    </a:ext>
                  </a:extLst>
                </p:cNvPr>
                <p:cNvSpPr txBox="1"/>
                <p:nvPr/>
              </p:nvSpPr>
              <p:spPr>
                <a:xfrm>
                  <a:off x="7584353" y="2373464"/>
                  <a:ext cx="392195" cy="372410"/>
                </a:xfrm>
                <a:prstGeom prst="rect">
                  <a:avLst/>
                </a:prstGeom>
                <a:noFill/>
              </p:spPr>
              <p:txBody>
                <a:bodyPr wrap="none" rtlCol="0">
                  <a:spAutoFit/>
                </a:bodyPr>
                <a:lstStyle/>
                <a:p>
                  <a:r>
                    <a:rPr kumimoji="1" lang="en-US" altLang="ja-JP" sz="1400" dirty="0"/>
                    <a:t>N</a:t>
                  </a:r>
                  <a:endParaRPr kumimoji="1" lang="ja-JP" altLang="en-US" sz="1400"/>
                </a:p>
              </p:txBody>
            </p:sp>
            <p:sp>
              <p:nvSpPr>
                <p:cNvPr id="123" name="テキスト ボックス 122">
                  <a:extLst>
                    <a:ext uri="{FF2B5EF4-FFF2-40B4-BE49-F238E27FC236}">
                      <a16:creationId xmlns:a16="http://schemas.microsoft.com/office/drawing/2014/main" id="{5ABF2EDE-B8F4-3045-8A21-08390DAF0C12}"/>
                    </a:ext>
                  </a:extLst>
                </p:cNvPr>
                <p:cNvSpPr txBox="1"/>
                <p:nvPr/>
              </p:nvSpPr>
              <p:spPr>
                <a:xfrm>
                  <a:off x="8117483" y="4093377"/>
                  <a:ext cx="396074" cy="372410"/>
                </a:xfrm>
                <a:prstGeom prst="rect">
                  <a:avLst/>
                </a:prstGeom>
                <a:noFill/>
              </p:spPr>
              <p:txBody>
                <a:bodyPr wrap="none" rtlCol="0">
                  <a:spAutoFit/>
                </a:bodyPr>
                <a:lstStyle/>
                <a:p>
                  <a:r>
                    <a:rPr kumimoji="1" lang="en-US" altLang="ja-JP" sz="1400" dirty="0"/>
                    <a:t>O</a:t>
                  </a:r>
                  <a:endParaRPr kumimoji="1" lang="ja-JP" altLang="en-US" sz="1400"/>
                </a:p>
              </p:txBody>
            </p:sp>
            <p:sp>
              <p:nvSpPr>
                <p:cNvPr id="124" name="テキスト ボックス 123">
                  <a:extLst>
                    <a:ext uri="{FF2B5EF4-FFF2-40B4-BE49-F238E27FC236}">
                      <a16:creationId xmlns:a16="http://schemas.microsoft.com/office/drawing/2014/main" id="{09F8CF18-9E0A-144F-80EE-7E2FC4EAC96C}"/>
                    </a:ext>
                  </a:extLst>
                </p:cNvPr>
                <p:cNvSpPr txBox="1"/>
                <p:nvPr/>
              </p:nvSpPr>
              <p:spPr>
                <a:xfrm>
                  <a:off x="8495387" y="3024613"/>
                  <a:ext cx="363099" cy="372410"/>
                </a:xfrm>
                <a:prstGeom prst="rect">
                  <a:avLst/>
                </a:prstGeom>
                <a:noFill/>
              </p:spPr>
              <p:txBody>
                <a:bodyPr wrap="none" rtlCol="0">
                  <a:spAutoFit/>
                </a:bodyPr>
                <a:lstStyle/>
                <a:p>
                  <a:r>
                    <a:rPr kumimoji="1" lang="en-US" altLang="ja-JP" sz="1400" dirty="0"/>
                    <a:t>E</a:t>
                  </a:r>
                  <a:endParaRPr kumimoji="1" lang="ja-JP" altLang="en-US" sz="1400"/>
                </a:p>
              </p:txBody>
            </p:sp>
            <p:sp>
              <p:nvSpPr>
                <p:cNvPr id="125" name="テキスト ボックス 124">
                  <a:extLst>
                    <a:ext uri="{FF2B5EF4-FFF2-40B4-BE49-F238E27FC236}">
                      <a16:creationId xmlns:a16="http://schemas.microsoft.com/office/drawing/2014/main" id="{4527126A-EFD3-294B-AE24-3D2EEEA3A44E}"/>
                    </a:ext>
                  </a:extLst>
                </p:cNvPr>
                <p:cNvSpPr txBox="1"/>
                <p:nvPr/>
              </p:nvSpPr>
              <p:spPr>
                <a:xfrm>
                  <a:off x="7116544" y="4093377"/>
                  <a:ext cx="386375" cy="372410"/>
                </a:xfrm>
                <a:prstGeom prst="rect">
                  <a:avLst/>
                </a:prstGeom>
                <a:noFill/>
              </p:spPr>
              <p:txBody>
                <a:bodyPr wrap="none" rtlCol="0">
                  <a:spAutoFit/>
                </a:bodyPr>
                <a:lstStyle/>
                <a:p>
                  <a:r>
                    <a:rPr kumimoji="1" lang="en-US" altLang="ja-JP" sz="1400" dirty="0"/>
                    <a:t>A</a:t>
                  </a:r>
                  <a:endParaRPr kumimoji="1" lang="ja-JP" altLang="en-US" sz="1400"/>
                </a:p>
              </p:txBody>
            </p:sp>
            <p:sp>
              <p:nvSpPr>
                <p:cNvPr id="126" name="テキスト ボックス 125">
                  <a:extLst>
                    <a:ext uri="{FF2B5EF4-FFF2-40B4-BE49-F238E27FC236}">
                      <a16:creationId xmlns:a16="http://schemas.microsoft.com/office/drawing/2014/main" id="{EDE3BCE8-9539-A242-B65B-21731C5C32F8}"/>
                    </a:ext>
                  </a:extLst>
                </p:cNvPr>
                <p:cNvSpPr txBox="1"/>
                <p:nvPr/>
              </p:nvSpPr>
              <p:spPr>
                <a:xfrm>
                  <a:off x="6716594" y="3046596"/>
                  <a:ext cx="388316" cy="372410"/>
                </a:xfrm>
                <a:prstGeom prst="rect">
                  <a:avLst/>
                </a:prstGeom>
                <a:noFill/>
              </p:spPr>
              <p:txBody>
                <a:bodyPr wrap="none" rtlCol="0">
                  <a:spAutoFit/>
                </a:bodyPr>
                <a:lstStyle/>
                <a:p>
                  <a:r>
                    <a:rPr kumimoji="1" lang="en-US" altLang="ja-JP" sz="1400" dirty="0"/>
                    <a:t>C</a:t>
                  </a:r>
                  <a:endParaRPr kumimoji="1" lang="ja-JP" altLang="en-US" sz="1400"/>
                </a:p>
              </p:txBody>
            </p:sp>
          </p:grpSp>
          <mc:AlternateContent xmlns:mc="http://schemas.openxmlformats.org/markup-compatibility/2006">
            <mc:Choice xmlns:a14="http://schemas.microsoft.com/office/drawing/2010/main" Requires="a14">
              <p:sp>
                <p:nvSpPr>
                  <p:cNvPr id="120" name="テキスト ボックス 119">
                    <a:extLst>
                      <a:ext uri="{FF2B5EF4-FFF2-40B4-BE49-F238E27FC236}">
                        <a16:creationId xmlns:a16="http://schemas.microsoft.com/office/drawing/2014/main" id="{A79AE03C-6C4E-8043-B325-A8A0C42F2D36}"/>
                      </a:ext>
                    </a:extLst>
                  </p:cNvPr>
                  <p:cNvSpPr txBox="1"/>
                  <p:nvPr/>
                </p:nvSpPr>
                <p:spPr>
                  <a:xfrm>
                    <a:off x="7638168" y="4359197"/>
                    <a:ext cx="726289" cy="338554"/>
                  </a:xfrm>
                  <a:prstGeom prst="rect">
                    <a:avLst/>
                  </a:prstGeom>
                  <a:noFill/>
                </p:spPr>
                <p:txBody>
                  <a:bodyPr wrap="none" rtlCol="0">
                    <a:spAutoFit/>
                  </a:bodyPr>
                  <a:lstStyle/>
                  <a:p>
                    <a:r>
                      <a:rPr kumimoji="1" lang="ja-JP" altLang="en-US" sz="1600"/>
                      <a:t>性格</a:t>
                    </a:r>
                    <a14:m>
                      <m:oMath xmlns:m="http://schemas.openxmlformats.org/officeDocument/2006/math">
                        <m:r>
                          <a:rPr kumimoji="1" lang="en-US" altLang="ja-JP" sz="1600" b="0" i="1" smtClean="0">
                            <a:latin typeface="Cambria Math" panose="02040503050406030204" pitchFamily="18" charset="0"/>
                          </a:rPr>
                          <m:t>𝛽</m:t>
                        </m:r>
                      </m:oMath>
                    </a14:m>
                    <a:endParaRPr kumimoji="1" lang="ja-JP" altLang="en-US" sz="1600"/>
                  </a:p>
                </p:txBody>
              </p:sp>
            </mc:Choice>
            <mc:Fallback>
              <p:sp>
                <p:nvSpPr>
                  <p:cNvPr id="120" name="テキスト ボックス 119">
                    <a:extLst>
                      <a:ext uri="{FF2B5EF4-FFF2-40B4-BE49-F238E27FC236}">
                        <a16:creationId xmlns:a16="http://schemas.microsoft.com/office/drawing/2014/main" id="{A79AE03C-6C4E-8043-B325-A8A0C42F2D36}"/>
                      </a:ext>
                    </a:extLst>
                  </p:cNvPr>
                  <p:cNvSpPr txBox="1">
                    <a:spLocks noRot="1" noChangeAspect="1" noMove="1" noResize="1" noEditPoints="1" noAdjustHandles="1" noChangeArrowheads="1" noChangeShapeType="1" noTextEdit="1"/>
                  </p:cNvSpPr>
                  <p:nvPr/>
                </p:nvSpPr>
                <p:spPr>
                  <a:xfrm>
                    <a:off x="7638168" y="4359197"/>
                    <a:ext cx="726289" cy="338554"/>
                  </a:xfrm>
                  <a:prstGeom prst="rect">
                    <a:avLst/>
                  </a:prstGeom>
                  <a:blipFill>
                    <a:blip r:embed="rId5"/>
                    <a:stretch>
                      <a:fillRect l="-4082" t="-4348" r="-16327" b="-43478"/>
                    </a:stretch>
                  </a:blipFill>
                </p:spPr>
                <p:txBody>
                  <a:bodyPr/>
                  <a:lstStyle/>
                  <a:p>
                    <a:r>
                      <a:rPr lang="ja-JP" altLang="en-US">
                        <a:noFill/>
                      </a:rPr>
                      <a:t> </a:t>
                    </a:r>
                  </a:p>
                </p:txBody>
              </p:sp>
            </mc:Fallback>
          </mc:AlternateContent>
        </p:grpSp>
        <p:sp>
          <p:nvSpPr>
            <p:cNvPr id="111" name="左右矢印 110">
              <a:extLst>
                <a:ext uri="{FF2B5EF4-FFF2-40B4-BE49-F238E27FC236}">
                  <a16:creationId xmlns:a16="http://schemas.microsoft.com/office/drawing/2014/main" id="{B71CB0BA-7B99-9449-8A4E-4CF02E4E9CD8}"/>
                </a:ext>
              </a:extLst>
            </p:cNvPr>
            <p:cNvSpPr/>
            <p:nvPr/>
          </p:nvSpPr>
          <p:spPr>
            <a:xfrm rot="5400000">
              <a:off x="5695772" y="4305064"/>
              <a:ext cx="420298" cy="202246"/>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テキスト ボックス 111">
              <a:extLst>
                <a:ext uri="{FF2B5EF4-FFF2-40B4-BE49-F238E27FC236}">
                  <a16:creationId xmlns:a16="http://schemas.microsoft.com/office/drawing/2014/main" id="{6E8BD1E8-CA33-0C4F-858D-B4FF73A128D6}"/>
                </a:ext>
              </a:extLst>
            </p:cNvPr>
            <p:cNvSpPr txBox="1"/>
            <p:nvPr/>
          </p:nvSpPr>
          <p:spPr>
            <a:xfrm>
              <a:off x="5927205" y="4262382"/>
              <a:ext cx="595035" cy="338554"/>
            </a:xfrm>
            <a:prstGeom prst="rect">
              <a:avLst/>
            </a:prstGeom>
            <a:noFill/>
          </p:spPr>
          <p:txBody>
            <a:bodyPr wrap="none" rtlCol="0">
              <a:spAutoFit/>
            </a:bodyPr>
            <a:lstStyle/>
            <a:p>
              <a:r>
                <a:rPr kumimoji="1" lang="ja-JP" altLang="en-US" sz="1600"/>
                <a:t>相似</a:t>
              </a:r>
            </a:p>
          </p:txBody>
        </p:sp>
        <p:sp>
          <p:nvSpPr>
            <p:cNvPr id="113" name="左右矢印 112">
              <a:extLst>
                <a:ext uri="{FF2B5EF4-FFF2-40B4-BE49-F238E27FC236}">
                  <a16:creationId xmlns:a16="http://schemas.microsoft.com/office/drawing/2014/main" id="{DD9300D9-B410-444C-9154-9AFD843ACD73}"/>
                </a:ext>
              </a:extLst>
            </p:cNvPr>
            <p:cNvSpPr/>
            <p:nvPr/>
          </p:nvSpPr>
          <p:spPr>
            <a:xfrm rot="5400000">
              <a:off x="7647753" y="4304136"/>
              <a:ext cx="420298" cy="202246"/>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テキスト ボックス 113">
              <a:extLst>
                <a:ext uri="{FF2B5EF4-FFF2-40B4-BE49-F238E27FC236}">
                  <a16:creationId xmlns:a16="http://schemas.microsoft.com/office/drawing/2014/main" id="{AEA127BF-B8DC-3145-84DB-8F4D9EDA08BF}"/>
                </a:ext>
              </a:extLst>
            </p:cNvPr>
            <p:cNvSpPr txBox="1"/>
            <p:nvPr/>
          </p:nvSpPr>
          <p:spPr>
            <a:xfrm>
              <a:off x="7879186" y="4261454"/>
              <a:ext cx="595035" cy="338554"/>
            </a:xfrm>
            <a:prstGeom prst="rect">
              <a:avLst/>
            </a:prstGeom>
            <a:noFill/>
          </p:spPr>
          <p:txBody>
            <a:bodyPr wrap="none" rtlCol="0">
              <a:spAutoFit/>
            </a:bodyPr>
            <a:lstStyle/>
            <a:p>
              <a:r>
                <a:rPr kumimoji="1" lang="ja-JP" altLang="en-US" sz="1600"/>
                <a:t>相似</a:t>
              </a:r>
            </a:p>
          </p:txBody>
        </p:sp>
        <p:sp>
          <p:nvSpPr>
            <p:cNvPr id="115" name="左矢印 114">
              <a:extLst>
                <a:ext uri="{FF2B5EF4-FFF2-40B4-BE49-F238E27FC236}">
                  <a16:creationId xmlns:a16="http://schemas.microsoft.com/office/drawing/2014/main" id="{F2494D3B-E225-434D-A330-43A4A00DC62F}"/>
                </a:ext>
              </a:extLst>
            </p:cNvPr>
            <p:cNvSpPr/>
            <p:nvPr/>
          </p:nvSpPr>
          <p:spPr>
            <a:xfrm>
              <a:off x="6675799" y="3289826"/>
              <a:ext cx="420298" cy="20224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左矢印 115">
              <a:extLst>
                <a:ext uri="{FF2B5EF4-FFF2-40B4-BE49-F238E27FC236}">
                  <a16:creationId xmlns:a16="http://schemas.microsoft.com/office/drawing/2014/main" id="{A880BB0C-62F0-7043-AC6A-66485D58F942}"/>
                </a:ext>
              </a:extLst>
            </p:cNvPr>
            <p:cNvSpPr/>
            <p:nvPr/>
          </p:nvSpPr>
          <p:spPr>
            <a:xfrm>
              <a:off x="6674795" y="5506775"/>
              <a:ext cx="420298" cy="20224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テキスト ボックス 116">
              <a:extLst>
                <a:ext uri="{FF2B5EF4-FFF2-40B4-BE49-F238E27FC236}">
                  <a16:creationId xmlns:a16="http://schemas.microsoft.com/office/drawing/2014/main" id="{D7FDCEB9-C133-BD49-B57B-35D9EA1CFE04}"/>
                </a:ext>
              </a:extLst>
            </p:cNvPr>
            <p:cNvSpPr txBox="1"/>
            <p:nvPr/>
          </p:nvSpPr>
          <p:spPr>
            <a:xfrm>
              <a:off x="6601419" y="3461609"/>
              <a:ext cx="595035" cy="338554"/>
            </a:xfrm>
            <a:prstGeom prst="rect">
              <a:avLst/>
            </a:prstGeom>
            <a:noFill/>
          </p:spPr>
          <p:txBody>
            <a:bodyPr wrap="none" rtlCol="0">
              <a:spAutoFit/>
            </a:bodyPr>
            <a:lstStyle/>
            <a:p>
              <a:r>
                <a:rPr kumimoji="1" lang="ja-JP" altLang="en-US" sz="1600"/>
                <a:t>分類</a:t>
              </a:r>
            </a:p>
          </p:txBody>
        </p:sp>
        <p:sp>
          <p:nvSpPr>
            <p:cNvPr id="118" name="テキスト ボックス 117">
              <a:extLst>
                <a:ext uri="{FF2B5EF4-FFF2-40B4-BE49-F238E27FC236}">
                  <a16:creationId xmlns:a16="http://schemas.microsoft.com/office/drawing/2014/main" id="{4A8B99EC-89F1-4C4D-83FD-C612D5483696}"/>
                </a:ext>
              </a:extLst>
            </p:cNvPr>
            <p:cNvSpPr txBox="1"/>
            <p:nvPr/>
          </p:nvSpPr>
          <p:spPr>
            <a:xfrm>
              <a:off x="6599381" y="5689490"/>
              <a:ext cx="595035" cy="338554"/>
            </a:xfrm>
            <a:prstGeom prst="rect">
              <a:avLst/>
            </a:prstGeom>
            <a:noFill/>
          </p:spPr>
          <p:txBody>
            <a:bodyPr wrap="none" rtlCol="0">
              <a:spAutoFit/>
            </a:bodyPr>
            <a:lstStyle/>
            <a:p>
              <a:r>
                <a:rPr kumimoji="1" lang="ja-JP" altLang="en-US" sz="1600"/>
                <a:t>分類</a:t>
              </a:r>
            </a:p>
          </p:txBody>
        </p:sp>
      </p:grpSp>
    </p:spTree>
    <p:extLst>
      <p:ext uri="{BB962C8B-B14F-4D97-AF65-F5344CB8AC3E}">
        <p14:creationId xmlns:p14="http://schemas.microsoft.com/office/powerpoint/2010/main" val="2430591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BB963-1B76-4E44-9F6F-44B6F068ACC2}"/>
              </a:ext>
            </a:extLst>
          </p:cNvPr>
          <p:cNvSpPr>
            <a:spLocks noGrp="1"/>
          </p:cNvSpPr>
          <p:nvPr>
            <p:ph type="title"/>
          </p:nvPr>
        </p:nvSpPr>
        <p:spPr/>
        <p:txBody>
          <a:bodyPr/>
          <a:lstStyle/>
          <a:p>
            <a:endParaRPr kumimoji="1" lang="ja-JP" altLang="en-US"/>
          </a:p>
        </p:txBody>
      </p:sp>
      <p:sp>
        <p:nvSpPr>
          <p:cNvPr id="3" name="日付プレースホルダー 2">
            <a:extLst>
              <a:ext uri="{FF2B5EF4-FFF2-40B4-BE49-F238E27FC236}">
                <a16:creationId xmlns:a16="http://schemas.microsoft.com/office/drawing/2014/main" id="{B7F9CA9F-EF66-F648-A38A-F9C42ADC3D4C}"/>
              </a:ext>
            </a:extLst>
          </p:cNvPr>
          <p:cNvSpPr>
            <a:spLocks noGrp="1"/>
          </p:cNvSpPr>
          <p:nvPr>
            <p:ph type="dt" sz="half" idx="10"/>
          </p:nvPr>
        </p:nvSpPr>
        <p:spPr/>
        <p:txBody>
          <a:bodyPr/>
          <a:lstStyle/>
          <a:p>
            <a:fld id="{4341EA7C-D461-6041-8E0E-F656A44343A5}" type="datetime1">
              <a:rPr kumimoji="1" lang="ja-JP" altLang="en-US" smtClean="0"/>
              <a:t>2020/7/2</a:t>
            </a:fld>
            <a:endParaRPr kumimoji="1" lang="ja-JP" altLang="en-US"/>
          </a:p>
        </p:txBody>
      </p:sp>
      <p:sp>
        <p:nvSpPr>
          <p:cNvPr id="4" name="フッター プレースホルダー 3">
            <a:extLst>
              <a:ext uri="{FF2B5EF4-FFF2-40B4-BE49-F238E27FC236}">
                <a16:creationId xmlns:a16="http://schemas.microsoft.com/office/drawing/2014/main" id="{D50E35C6-CDAF-164F-A217-3A80030B0AC0}"/>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EDC7A173-3A23-3240-A54F-0FBA70C820A4}"/>
              </a:ext>
            </a:extLst>
          </p:cNvPr>
          <p:cNvSpPr>
            <a:spLocks noGrp="1"/>
          </p:cNvSpPr>
          <p:nvPr>
            <p:ph type="sldNum" sz="quarter" idx="12"/>
          </p:nvPr>
        </p:nvSpPr>
        <p:spPr/>
        <p:txBody>
          <a:bodyPr/>
          <a:lstStyle/>
          <a:p>
            <a:fld id="{2981C279-7323-A845-8A27-BB5908B2F04D}" type="slidenum">
              <a:rPr kumimoji="1" lang="ja-JP" altLang="en-US" smtClean="0"/>
              <a:t>18</a:t>
            </a:fld>
            <a:endParaRPr kumimoji="1" lang="ja-JP" altLang="en-US"/>
          </a:p>
        </p:txBody>
      </p:sp>
      <p:grpSp>
        <p:nvGrpSpPr>
          <p:cNvPr id="6" name="グループ化 5">
            <a:extLst>
              <a:ext uri="{FF2B5EF4-FFF2-40B4-BE49-F238E27FC236}">
                <a16:creationId xmlns:a16="http://schemas.microsoft.com/office/drawing/2014/main" id="{90D18F01-2BBF-C84B-8485-C7E7243E88D8}"/>
              </a:ext>
            </a:extLst>
          </p:cNvPr>
          <p:cNvGrpSpPr/>
          <p:nvPr/>
        </p:nvGrpSpPr>
        <p:grpSpPr>
          <a:xfrm>
            <a:off x="163626" y="1160115"/>
            <a:ext cx="4103574" cy="680876"/>
            <a:chOff x="163626" y="1160115"/>
            <a:chExt cx="4103574" cy="680876"/>
          </a:xfrm>
        </p:grpSpPr>
        <p:cxnSp>
          <p:nvCxnSpPr>
            <p:cNvPr id="7" name="直線コネクタ 6">
              <a:extLst>
                <a:ext uri="{FF2B5EF4-FFF2-40B4-BE49-F238E27FC236}">
                  <a16:creationId xmlns:a16="http://schemas.microsoft.com/office/drawing/2014/main" id="{E7C6A173-0964-134D-947E-15DC34060103}"/>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FB915536-105B-5D47-8AEA-1D668ACAEC6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プレースホルダー 12">
            <a:extLst>
              <a:ext uri="{FF2B5EF4-FFF2-40B4-BE49-F238E27FC236}">
                <a16:creationId xmlns:a16="http://schemas.microsoft.com/office/drawing/2014/main" id="{B9E78AD1-3EAD-ED4C-A870-F775161359E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テキスト</a:t>
            </a:r>
          </a:p>
        </p:txBody>
      </p:sp>
    </p:spTree>
    <p:extLst>
      <p:ext uri="{BB962C8B-B14F-4D97-AF65-F5344CB8AC3E}">
        <p14:creationId xmlns:p14="http://schemas.microsoft.com/office/powerpoint/2010/main" val="2314095881"/>
      </p:ext>
    </p:extLst>
  </p:cSld>
  <p:clrMapOvr>
    <a:masterClrMapping/>
  </p:clrMapOvr>
</p:sld>
</file>

<file path=ppt/theme/theme1.xml><?xml version="1.0" encoding="utf-8"?>
<a:theme xmlns:a="http://schemas.openxmlformats.org/drawingml/2006/main" name="Office テーマ">
  <a:themeElements>
    <a:clrScheme name="ユーザー定義 1">
      <a:dk1>
        <a:srgbClr val="1D1D1D"/>
      </a:dk1>
      <a:lt1>
        <a:srgbClr val="E4E4E4"/>
      </a:lt1>
      <a:dk2>
        <a:srgbClr val="44546A"/>
      </a:dk2>
      <a:lt2>
        <a:srgbClr val="E7E6E6"/>
      </a:lt2>
      <a:accent1>
        <a:srgbClr val="3090C4"/>
      </a:accent1>
      <a:accent2>
        <a:srgbClr val="D68126"/>
      </a:accent2>
      <a:accent3>
        <a:srgbClr val="42A544"/>
      </a:accent3>
      <a:accent4>
        <a:srgbClr val="FFC000"/>
      </a:accent4>
      <a:accent5>
        <a:srgbClr val="5B9B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1261</TotalTime>
  <Words>998</Words>
  <Application>Microsoft Macintosh PowerPoint</Application>
  <PresentationFormat>画面に合わせる (4:3)</PresentationFormat>
  <Paragraphs>252</Paragraphs>
  <Slides>18</Slides>
  <Notes>0</Notes>
  <HiddenSlides>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Hiragino Kaku Gothic Pro W3</vt:lpstr>
      <vt:lpstr>Hiragino Kaku Gothic ProN W3</vt:lpstr>
      <vt:lpstr>Hiragino Sans W4</vt:lpstr>
      <vt:lpstr>游ゴシック</vt:lpstr>
      <vt:lpstr>Arial</vt:lpstr>
      <vt:lpstr>Cambria Math</vt:lpstr>
      <vt:lpstr>Office テーマ</vt:lpstr>
      <vt:lpstr>進捗報告</vt:lpstr>
      <vt:lpstr>BIG5</vt:lpstr>
      <vt:lpstr>BIG5</vt:lpstr>
      <vt:lpstr>BIG5</vt:lpstr>
      <vt:lpstr>BIG5</vt:lpstr>
      <vt:lpstr>BIG5</vt:lpstr>
      <vt:lpstr>TKI</vt:lpstr>
      <vt:lpstr>TKI</vt:lpstr>
      <vt:lpstr>TKI</vt:lpstr>
      <vt:lpstr>TKI</vt:lpstr>
      <vt:lpstr>その他研究について</vt:lpstr>
      <vt:lpstr>その他研究について</vt:lpstr>
      <vt:lpstr>その他研究について</vt:lpstr>
      <vt:lpstr>補足</vt:lpstr>
      <vt:lpstr>補足</vt:lpstr>
      <vt:lpstr>補足</vt:lpstr>
      <vt:lpstr>その他研究について</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81</cp:revision>
  <dcterms:created xsi:type="dcterms:W3CDTF">2020-04-19T09:33:40Z</dcterms:created>
  <dcterms:modified xsi:type="dcterms:W3CDTF">2020-07-02T16:25:17Z</dcterms:modified>
</cp:coreProperties>
</file>